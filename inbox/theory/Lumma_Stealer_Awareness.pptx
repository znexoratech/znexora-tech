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4" d="100"/>
          <a:sy n="124"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7445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0:35] Good [morning/afternoon], everyone. I'm [Presenter] from ZNexora Tech. In the next ten minutes, I'll brief you on Lumma Stealer, also called LummaC2. It's one of the most widespread pieces of information-stealing malware today, and it often reaches people through a simple trick: a fake 'prove you're human' page. By the end, you'll know what it steals, how it spreads, how to spot it, how to prevent it, and exactly what to do if it hits 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1:25] So what is Lumma? It's an information stealer: malware designed to quietly collect data from your computer and send it to criminals. It targets browser data, crypto wallets and session cookies, and it's often spread through fake CAPTCHA and ClickFix pages. Lumma is sold as malware-as-a-service, meaning criminals rent it, like a subscription, and run their own campaigns. It's been around since 2022 and targets Windows PCs. In May 2025, Microsoft, Europol and US authorities disrupted it and seized around 2,300 domains. But within weeks it was back, with new infrastructure, and it remains active through new delivery tools. So this is a current threat, not history.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2:15] Once Lumma is running, it goes after four things. First, browser data: saved passwords, autofill entries and stored card details. Second, session cookies. These are the most dangerous, because a stolen session cookie can let an attacker log in as you without your password, and without triggering MFA. Third, crypto wallets: browser wallet extensions and wallet files. And fourth, other valuable data such as authenticator extensions, messaging apps and details about your device. Everything is packaged into what criminals call 'logs' and sold online. Those logs are then used for account takeover, fraud, and as a starting point for ransomware attacks on organisations like ours.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 – 3:00] Lumma doesn't rely on one method. Criminals who rent it spread it in many ways. Fake CAPTCHA pages, which we'll look at next. Malicious ads that appear at the top of search results, for example when you search for popular software. Cracked or 'free' versions of paid software. Game mods, cheats and automation scripts from unofficial sites. Phishing emails, chats and direct messages with malicious links. And fake pop-ups claiming your browser needs an urgent update. They all have one thing in common: you're tricked into downloading or running something yourself. That's why our awareness is such an important defence.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 4:00] Here's the trick that makes Lumma so effective, known as ClickFix or the fake CAPTCHA. It starts with a lure: you visit a compromised website, click a malicious ad, or try to download free software. You then see what looks like a normal 'I'm not a robot' check. But instead of clicking pictures, it gives you strange instructions: press Windows and R, press Control and V, then press Enter. Behind the scenes, the page has already copied a malicious command to your clipboard. When you paste it into the Run box and press Enter, you are the one who installs the malware, which also helps it slip past some security tools. Lumma then starts collecting your data straight away. Remember this line: a real CAPTCHA never asks you to open Run, paste or type commands.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 4:45] Let's zoom out and look at the full attack chain. Step one, the lure: a fake page, ad or download. Step two, execute: the victim runs the command or file. Step three, steal: Lumma collects passwords, cookies and wallet data. Step four, exfiltrate: the data is sent to the attackers' servers. Those first four steps happen on your device, often within minutes. Then step five, sell: the stolen data is packaged as logs and sold on criminal markets. And step six, exploit: buyers use it for account takeover and fraud, and ransomware groups use it as their way into organisations. So one paste on one laptop can become a company-wide incident.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 – 5:40] How can we spot Lumma? Here's what you might notice yourself: a web page asking you to press Windows and R or paste a command, which is the biggest red flag of all. A command or PowerShell window that briefly flashes open. Sudden logouts, or alerts about new sign-ins you don't recognise. MFA prompts or password-reset emails you didn't request. Or missing crypto and unexpected account activity. On the IT and security side, the team can detect PowerShell or mshta launched from the Run dialog, new entries in the Run history containing web commands, unusual processes reading browser password and cookie files, connections to newly registered or known Lumma domains, and sign-ins from new locations that reuse valid sessions.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 – 6:40] Here are six habits that protect you. One: never paste commands. No real website, CAPTCHA or support page will ever ask you to run something. Two: use official sources only. No cracked software, unofficial game mods, or pop-up updates; get updates from the app itself or our IT team. Three: use our approved password manager, and don't save passwords in your browser, which is exactly where Lumma looks first. Four: use MFA and read your alerts, and report any prompt you didn't expect. Five: keep your browser, Windows and security tools updated. And six: keep personal crypto wallets off work devices. If you remember one rule: if a page tells you to press Windows and R, close it and report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 – 7:50] For our IT and security teams, prevention works in layers. On the endpoint: run EDR in block mode with attack surface reduction rules, and restrict the Run dialog, PowerShell and mshta for standard users using Group Policy, AppLocker or WDAC. That alone breaks the ClickFix trick. On identity: phishing-resistant MFA, Conditional Access that requires compliant devices, short session lifetimes and token protection, so stolen cookies are less useful and expire quickly. On the browser: disable built-in password saving by policy, allowlist extensions and keep browsers patched. On the network: DNS and web filtering that blocks newly registered domains, malvertising and known Lumma infrastructure. And for monitoring: subscribe to threat-intelligence feeds, alert on suspicious PowerShell, and monitor stealer-log markets for our company domains, so we can act before stolen credentials are used.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 – 8:30] If you ever run a command like this, or suspect Lumma on your device, act fast. One: disconnect from the network straight away. Two: report it to IT and Security on [contact] immediately; you will never be blamed for reporting. Three: from a different, clean device, change your passwords and sign out of all active sessions, because stolen cookies keep working until those sessions end. Four: if you use crypto wallets on that computer, move your funds to a new wallet and watch your accounts. And five: let IT investigate and rebuild the device. Don't try to clean it yourself.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9:30] For the IT and security team, here's the remediation playbook. One, contain: isolate the device using EDR and block the attacker's domains. Two, scope: use the EDR timeline to understand what ran, what data was accessed, and which accounts and services are affected. Three, revoke: reset passwords, revoke all active sessions and refresh tokens, re-register MFA if needed, and rotate any API keys or secrets stored on the device. Four, eradicate: reimage the device. Don't just delete the files, because loaders can leave other malware behind. Five, recover: monitor affected accounts closely and check for persistence or lateral movement. And six, report and learn: meet any regulatory reporting duties, add new indicators to blocklists, and share what we learned. The most important point: a password reset alone is not enough. Stolen session cookies keep working until the sessions are revoked.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 10:00] To wrap up, four key takeaways. No real website will ever ask you to run commands. Cookies are keys, so after an infection we revoke sessions, not just passwords. Layered controls stop one paste from becoming a breach. And report fast, because minutes matter. Lumma steals what keeps you logged in, so stop before you paste. Thank you.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4F7FB"/>
        </a:solidFill>
        <a:effectLst/>
      </p:bgPr>
    </p:bg>
    <p:spTree>
      <p:nvGrpSpPr>
        <p:cNvPr id="1" name=""/>
        <p:cNvGrpSpPr/>
        <p:nvPr/>
      </p:nvGrpSpPr>
      <p:grpSpPr>
        <a:xfrm>
          <a:off x="0" y="0"/>
          <a:ext cx="0" cy="0"/>
          <a:chOff x="0" y="0"/>
          <a:chExt cx="0" cy="0"/>
        </a:xfrm>
      </p:grpSpPr>
      <p:pic>
        <p:nvPicPr>
          <p:cNvPr id="2" name="Image 0" descr="znexora_logo.png"/>
          <p:cNvPicPr>
            <a:picLocks noChangeAspect="1"/>
          </p:cNvPicPr>
          <p:nvPr/>
        </p:nvPicPr>
        <p:blipFill>
          <a:blip r:embed="rId2"/>
          <a:stretch>
            <a:fillRect/>
          </a:stretch>
        </p:blipFill>
        <p:spPr>
          <a:xfrm>
            <a:off x="10561320" y="137160"/>
            <a:ext cx="1325880" cy="685800"/>
          </a:xfrm>
          <a:prstGeom prst="rect">
            <a:avLst/>
          </a:prstGeom>
        </p:spPr>
      </p:pic>
      <p:sp>
        <p:nvSpPr>
          <p:cNvPr id="3" name="Text 0"/>
          <p:cNvSpPr>
            <a:spLocks noGrp="1"/>
          </p:cNvSpPr>
          <p:nvPr>
            <p:ph type="body" idx="101" hasCustomPrompt="1"/>
          </p:nvPr>
        </p:nvSpPr>
        <p:spPr>
          <a:xfrm>
            <a:off x="548640" y="320040"/>
            <a:ext cx="9601200" cy="292608"/>
          </a:xfrm>
          <a:prstGeom prst="rect">
            <a:avLst/>
          </a:prstGeom>
          <a:noFill/>
          <a:ln/>
        </p:spPr>
        <p:txBody>
          <a:bodyPr wrap="square" rtlCol="0"/>
          <a:lstStyle>
            <a:lvl1pPr marL="0" indent="0" algn="l">
              <a:buNone/>
              <a:defRPr lang="en-US" sz="1200" b="1" kern="0" spc="200" dirty="0">
                <a:solidFill>
                  <a:srgbClr val="0078D4"/>
                </a:solidFill>
                <a:latin typeface="Calibri" pitchFamily="34" charset="0"/>
                <a:ea typeface="Calibri" pitchFamily="34" charset="-122"/>
                <a:cs typeface="Calibri" pitchFamily="34" charset="-120"/>
              </a:defRPr>
            </a:lvl1pPr>
          </a:lstStyle>
          <a:p>
            <a:pPr marL="0" indent="0" algn="l">
              <a:buNone/>
            </a:pPr>
            <a:endParaRPr lang="en-US" sz="1200" dirty="0"/>
          </a:p>
        </p:txBody>
      </p:sp>
      <p:sp>
        <p:nvSpPr>
          <p:cNvPr id="4" name="Text 0"/>
          <p:cNvSpPr>
            <a:spLocks noGrp="1"/>
          </p:cNvSpPr>
          <p:nvPr>
            <p:ph type="title" idx="102" hasCustomPrompt="1"/>
          </p:nvPr>
        </p:nvSpPr>
        <p:spPr>
          <a:xfrm>
            <a:off x="548640" y="640080"/>
            <a:ext cx="9875520" cy="731520"/>
          </a:xfrm>
          <a:prstGeom prst="rect">
            <a:avLst/>
          </a:prstGeom>
          <a:noFill/>
          <a:ln/>
        </p:spPr>
        <p:txBody>
          <a:bodyPr wrap="square" rtlCol="0"/>
          <a:lstStyle>
            <a:lvl1pPr marL="0" indent="0" algn="l">
              <a:buNone/>
              <a:defRPr lang="en-US" sz="3600" b="1" dirty="0">
                <a:solidFill>
                  <a:srgbClr val="0B1F33"/>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5"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4A5A6B"/>
                </a:solidFill>
                <a:latin typeface="Calibri" pitchFamily="34" charset="0"/>
                <a:ea typeface="Calibri" pitchFamily="34" charset="-122"/>
                <a:cs typeface="Calibri" pitchFamily="34" charset="-120"/>
              </a:rPr>
              <a:t>ZNexora Tech  |  Lumma Stealer Threat Briefing</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A1628"/>
        </a:solidFill>
        <a:effectLst/>
      </p:bgPr>
    </p:bg>
    <p:spTree>
      <p:nvGrpSpPr>
        <p:cNvPr id="1" name=""/>
        <p:cNvGrpSpPr/>
        <p:nvPr/>
      </p:nvGrpSpPr>
      <p:grpSpPr>
        <a:xfrm>
          <a:off x="0" y="0"/>
          <a:ext cx="0" cy="0"/>
          <a:chOff x="0" y="0"/>
          <a:chExt cx="0" cy="0"/>
        </a:xfrm>
      </p:grpSpPr>
      <p:pic>
        <p:nvPicPr>
          <p:cNvPr id="2" name="Image 0" descr="znexora_logo.png"/>
          <p:cNvPicPr>
            <a:picLocks noChangeAspect="1"/>
          </p:cNvPicPr>
          <p:nvPr/>
        </p:nvPicPr>
        <p:blipFill>
          <a:blip r:embed="rId2"/>
          <a:stretch>
            <a:fillRect/>
          </a:stretch>
        </p:blipFill>
        <p:spPr>
          <a:xfrm>
            <a:off x="10561320" y="137160"/>
            <a:ext cx="1325880" cy="685800"/>
          </a:xfrm>
          <a:prstGeom prst="rect">
            <a:avLst/>
          </a:prstGeom>
        </p:spPr>
      </p:pic>
      <p:sp>
        <p:nvSpPr>
          <p:cNvPr id="3" name="Text 0"/>
          <p:cNvSpPr>
            <a:spLocks noGrp="1"/>
          </p:cNvSpPr>
          <p:nvPr>
            <p:ph type="body" idx="101" hasCustomPrompt="1"/>
          </p:nvPr>
        </p:nvSpPr>
        <p:spPr>
          <a:xfrm>
            <a:off x="548640" y="320040"/>
            <a:ext cx="9601200" cy="292608"/>
          </a:xfrm>
          <a:prstGeom prst="rect">
            <a:avLst/>
          </a:prstGeom>
          <a:noFill/>
          <a:ln/>
        </p:spPr>
        <p:txBody>
          <a:bodyPr wrap="square" rtlCol="0"/>
          <a:lstStyle>
            <a:lvl1pPr marL="0" indent="0" algn="l">
              <a:buNone/>
              <a:defRPr lang="en-US" sz="1200" b="1" kern="0" spc="200" dirty="0">
                <a:solidFill>
                  <a:srgbClr val="00B7C3"/>
                </a:solidFill>
                <a:latin typeface="Calibri" pitchFamily="34" charset="0"/>
                <a:ea typeface="Calibri" pitchFamily="34" charset="-122"/>
                <a:cs typeface="Calibri" pitchFamily="34" charset="-120"/>
              </a:defRPr>
            </a:lvl1pPr>
          </a:lstStyle>
          <a:p>
            <a:pPr marL="0" indent="0" algn="l">
              <a:buNone/>
            </a:pPr>
            <a:endParaRPr lang="en-US" sz="1200" dirty="0"/>
          </a:p>
        </p:txBody>
      </p:sp>
      <p:sp>
        <p:nvSpPr>
          <p:cNvPr id="4" name="Text 0"/>
          <p:cNvSpPr>
            <a:spLocks noGrp="1"/>
          </p:cNvSpPr>
          <p:nvPr>
            <p:ph type="title" idx="102" hasCustomPrompt="1"/>
          </p:nvPr>
        </p:nvSpPr>
        <p:spPr>
          <a:xfrm>
            <a:off x="548640" y="640080"/>
            <a:ext cx="9875520" cy="731520"/>
          </a:xfrm>
          <a:prstGeom prst="rect">
            <a:avLst/>
          </a:prstGeom>
          <a:noFill/>
          <a:ln/>
        </p:spPr>
        <p:txBody>
          <a:bodyPr wrap="square" rtlCol="0"/>
          <a:lstStyle>
            <a:lvl1pPr marL="0" indent="0" algn="l">
              <a:buNone/>
              <a:defRPr lang="en-US" sz="3600" b="1" dirty="0">
                <a:solidFill>
                  <a:srgbClr val="FFFFFF"/>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5"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9FB3C8"/>
                </a:solidFill>
                <a:latin typeface="Calibri" pitchFamily="34" charset="0"/>
                <a:ea typeface="Calibri" pitchFamily="34" charset="-122"/>
                <a:cs typeface="Calibri" pitchFamily="34" charset="-120"/>
              </a:rPr>
              <a:t>ZNexora Tech  |  Lumma Stealer Threat Briefing</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Dark">
    <p:bg>
      <p:bgPr>
        <a:solidFill>
          <a:srgbClr val="0A1628"/>
        </a:solidFill>
        <a:effectLst/>
      </p:bgPr>
    </p:bg>
    <p:spTree>
      <p:nvGrpSpPr>
        <p:cNvPr id="1" name=""/>
        <p:cNvGrpSpPr/>
        <p:nvPr/>
      </p:nvGrpSpPr>
      <p:grpSpPr>
        <a:xfrm>
          <a:off x="0" y="0"/>
          <a:ext cx="0" cy="0"/>
          <a:chOff x="0" y="0"/>
          <a:chExt cx="0" cy="0"/>
        </a:xfrm>
      </p:grpSpPr>
      <p:pic>
        <p:nvPicPr>
          <p:cNvPr id="2" name="Image 0" descr="znexora_logo.png"/>
          <p:cNvPicPr>
            <a:picLocks noChangeAspect="1"/>
          </p:cNvPicPr>
          <p:nvPr/>
        </p:nvPicPr>
        <p:blipFill>
          <a:blip r:embed="rId2"/>
          <a:stretch>
            <a:fillRect/>
          </a:stretch>
        </p:blipFill>
        <p:spPr>
          <a:xfrm>
            <a:off x="10561320" y="137160"/>
            <a:ext cx="1325880" cy="685800"/>
          </a:xfrm>
          <a:prstGeom prst="rect">
            <a:avLst/>
          </a:prstGeom>
        </p:spPr>
      </p:pic>
      <p:sp>
        <p:nvSpPr>
          <p:cNvPr id="3" name="Text 0"/>
          <p:cNvSpPr>
            <a:spLocks noGrp="1"/>
          </p:cNvSpPr>
          <p:nvPr>
            <p:ph type="title" idx="101" hasCustomPrompt="1"/>
          </p:nvPr>
        </p:nvSpPr>
        <p:spPr>
          <a:xfrm>
            <a:off x="548640" y="1508760"/>
            <a:ext cx="6309360" cy="1463040"/>
          </a:xfrm>
          <a:prstGeom prst="rect">
            <a:avLst/>
          </a:prstGeom>
          <a:noFill/>
          <a:ln/>
        </p:spPr>
        <p:txBody>
          <a:bodyPr wrap="square" rtlCol="0"/>
          <a:lstStyle>
            <a:lvl1pPr marL="0" indent="0" algn="l">
              <a:buNone/>
              <a:defRPr lang="en-US" sz="4400" b="1" dirty="0">
                <a:solidFill>
                  <a:srgbClr val="FFFFFF"/>
                </a:solidFill>
                <a:latin typeface="Arial" pitchFamily="34" charset="0"/>
                <a:ea typeface="Arial" pitchFamily="34" charset="-122"/>
                <a:cs typeface="Arial" pitchFamily="34" charset="-120"/>
              </a:defRPr>
            </a:lvl1pPr>
          </a:lstStyle>
          <a:p>
            <a:pPr marL="0" indent="0" algn="l">
              <a:buNone/>
            </a:pPr>
            <a:endParaRPr lang="en-US" sz="4400" dirty="0"/>
          </a:p>
        </p:txBody>
      </p:sp>
      <p:sp>
        <p:nvSpPr>
          <p:cNvPr id="4" name="Text 0"/>
          <p:cNvSpPr>
            <a:spLocks noGrp="1"/>
          </p:cNvSpPr>
          <p:nvPr>
            <p:ph type="body" idx="102" hasCustomPrompt="1"/>
          </p:nvPr>
        </p:nvSpPr>
        <p:spPr>
          <a:xfrm>
            <a:off x="548640" y="3063240"/>
            <a:ext cx="6035040" cy="822960"/>
          </a:xfrm>
          <a:prstGeom prst="rect">
            <a:avLst/>
          </a:prstGeom>
          <a:noFill/>
          <a:ln/>
        </p:spPr>
        <p:txBody>
          <a:bodyPr wrap="square" rtlCol="0"/>
          <a:lstStyle>
            <a:lvl1pPr marL="0" indent="0" algn="l">
              <a:buNone/>
              <a:defRPr lang="en-US" sz="2000" dirty="0">
                <a:solidFill>
                  <a:srgbClr val="CADCFC"/>
                </a:solidFill>
                <a:latin typeface="Calibri" pitchFamily="34" charset="0"/>
                <a:ea typeface="Calibri" pitchFamily="34" charset="-122"/>
                <a:cs typeface="Calibri" pitchFamily="34" charset="-120"/>
              </a:defRPr>
            </a:lvl1pPr>
          </a:lstStyle>
          <a:p>
            <a:pPr marL="0" indent="0" algn="l">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png"/><Relationship Id="rId11" Type="http://schemas.openxmlformats.org/officeDocument/2006/relationships/image" Target="../media/image27.png"/><Relationship Id="rId5" Type="http://schemas.openxmlformats.org/officeDocument/2006/relationships/image" Target="../media/image23.png"/><Relationship Id="rId10" Type="http://schemas.openxmlformats.org/officeDocument/2006/relationships/image" Target="../media/image26.png"/><Relationship Id="rId4" Type="http://schemas.openxmlformats.org/officeDocument/2006/relationships/image" Target="../media/image22.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34.png"/><Relationship Id="rId4" Type="http://schemas.openxmlformats.org/officeDocument/2006/relationships/image" Target="../media/image45.png"/><Relationship Id="rId9"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6217920" cy="292608"/>
          </a:xfrm>
          <a:prstGeom prst="rect">
            <a:avLst/>
          </a:prstGeom>
          <a:noFill/>
          <a:ln/>
        </p:spPr>
        <p:txBody>
          <a:bodyPr wrap="square" lIns="0" tIns="0" rIns="0" bIns="0" rtlCol="0" anchor="ctr"/>
          <a:lstStyle/>
          <a:p>
            <a:pPr marL="0" indent="0">
              <a:buNone/>
            </a:pPr>
            <a:r>
              <a:rPr lang="en-US" sz="1200" b="1" kern="0" spc="300" dirty="0">
                <a:solidFill>
                  <a:srgbClr val="00B7C3"/>
                </a:solidFill>
                <a:latin typeface="Calibri" pitchFamily="34" charset="0"/>
                <a:ea typeface="Calibri" pitchFamily="34" charset="-122"/>
                <a:cs typeface="Calibri" pitchFamily="34" charset="-120"/>
              </a:rPr>
              <a:t>ZNEXORA TECH  |  THREAT BRIEFING</a:t>
            </a:r>
            <a:endParaRPr lang="en-US" sz="1200" dirty="0"/>
          </a:p>
        </p:txBody>
      </p:sp>
      <p:sp>
        <p:nvSpPr>
          <p:cNvPr id="3" name="Text 0"/>
          <p:cNvSpPr>
            <a:spLocks noGrp="1"/>
          </p:cNvSpPr>
          <p:nvPr>
            <p:ph type="title" idx="101" hasCustomPrompt="1"/>
          </p:nvPr>
        </p:nvSpPr>
        <p:spPr>
          <a:xfrm>
            <a:off x="548640" y="1508760"/>
            <a:ext cx="6309360" cy="1463040"/>
          </a:xfrm>
          <a:prstGeom prst="rect">
            <a:avLst/>
          </a:prstGeom>
          <a:noFill/>
          <a:ln/>
        </p:spPr>
        <p:txBody>
          <a:bodyPr wrap="square" lIns="0" tIns="0" rIns="0" bIns="0" rtlCol="0" anchor="t"/>
          <a:lstStyle/>
          <a:p>
            <a:pPr marL="0" indent="0" algn="l">
              <a:buNone/>
            </a:pPr>
            <a:r>
              <a:rPr lang="en-US" sz="4400" b="1" dirty="0">
                <a:solidFill>
                  <a:srgbClr val="FFFFFF"/>
                </a:solidFill>
                <a:latin typeface="Arial" pitchFamily="34" charset="0"/>
                <a:ea typeface="Arial" pitchFamily="34" charset="-122"/>
                <a:cs typeface="Arial" pitchFamily="34" charset="-120"/>
              </a:rPr>
              <a:t>Lumma Stealer (LummaC2)</a:t>
            </a:r>
            <a:endParaRPr lang="en-US" sz="4400" dirty="0"/>
          </a:p>
        </p:txBody>
      </p:sp>
      <p:sp>
        <p:nvSpPr>
          <p:cNvPr id="4" name="Text 0"/>
          <p:cNvSpPr>
            <a:spLocks noGrp="1"/>
          </p:cNvSpPr>
          <p:nvPr>
            <p:ph type="body" idx="102" hasCustomPrompt="1"/>
          </p:nvPr>
        </p:nvSpPr>
        <p:spPr>
          <a:xfrm>
            <a:off x="548640" y="3063240"/>
            <a:ext cx="6035040" cy="822960"/>
          </a:xfrm>
          <a:prstGeom prst="rect">
            <a:avLst/>
          </a:prstGeom>
          <a:noFill/>
          <a:ln/>
        </p:spPr>
        <p:txBody>
          <a:bodyPr wrap="square" lIns="0" tIns="0" rIns="0" bIns="0" rtlCol="0" anchor="t"/>
          <a:lstStyle/>
          <a:p>
            <a:pPr marL="0" indent="0" algn="l">
              <a:buNone/>
            </a:pPr>
            <a:r>
              <a:rPr lang="en-US" sz="2000" dirty="0">
                <a:solidFill>
                  <a:srgbClr val="CADCFC"/>
                </a:solidFill>
                <a:latin typeface="Calibri" pitchFamily="34" charset="0"/>
                <a:ea typeface="Calibri" pitchFamily="34" charset="-122"/>
                <a:cs typeface="Calibri" pitchFamily="34" charset="-120"/>
              </a:rPr>
              <a:t>The information stealer behind fake CAPTCHA and ClickFix attacks</a:t>
            </a:r>
            <a:endParaRPr lang="en-US" sz="2000" dirty="0"/>
          </a:p>
        </p:txBody>
      </p:sp>
      <p:sp>
        <p:nvSpPr>
          <p:cNvPr id="6" name="Text 4"/>
          <p:cNvSpPr txBox="1"/>
          <p:nvPr/>
        </p:nvSpPr>
        <p:spPr>
          <a:xfrm>
            <a:off x="548640" y="4434840"/>
            <a:ext cx="6035040" cy="365760"/>
          </a:xfrm>
          <a:prstGeom prst="rect">
            <a:avLst/>
          </a:prstGeom>
          <a:noFill/>
          <a:ln/>
        </p:spPr>
        <p:txBody>
          <a:bodyPr wrap="square" lIns="0" tIns="0" rIns="0" bIns="0" rtlCol="0" anchor="ctr"/>
          <a:lstStyle/>
          <a:p>
            <a:pPr marL="0" indent="0">
              <a:buNone/>
            </a:pPr>
            <a:r>
              <a:rPr lang="en-US" sz="1500" dirty="0">
                <a:solidFill>
                  <a:srgbClr val="9FB3C8"/>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ZNexora Tech</a:t>
            </a:r>
            <a:endParaRPr lang="en-US" sz="1500" dirty="0"/>
          </a:p>
        </p:txBody>
      </p:sp>
      <p:sp>
        <p:nvSpPr>
          <p:cNvPr id="7" name="Shape 5"/>
          <p:cNvSpPr/>
          <p:nvPr/>
        </p:nvSpPr>
        <p:spPr>
          <a:xfrm>
            <a:off x="548640" y="5257800"/>
            <a:ext cx="1828800" cy="384048"/>
          </a:xfrm>
          <a:prstGeom prst="roundRect">
            <a:avLst>
              <a:gd name="adj" fmla="val 50000"/>
            </a:avLst>
          </a:prstGeom>
          <a:solidFill>
            <a:srgbClr val="13294B"/>
          </a:solidFill>
          <a:ln w="12700">
            <a:solidFill>
              <a:srgbClr val="F7630C"/>
            </a:solidFill>
            <a:prstDash val="solid"/>
          </a:ln>
        </p:spPr>
        <p:txBody>
          <a:bodyPr/>
          <a:lstStyle/>
          <a:p>
            <a:endParaRPr lang="en-JP"/>
          </a:p>
        </p:txBody>
      </p:sp>
      <p:sp>
        <p:nvSpPr>
          <p:cNvPr id="8" name="Text 6"/>
          <p:cNvSpPr txBox="1"/>
          <p:nvPr/>
        </p:nvSpPr>
        <p:spPr>
          <a:xfrm>
            <a:off x="548640" y="5257800"/>
            <a:ext cx="1828800"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Information stealer</a:t>
            </a:r>
            <a:endParaRPr lang="en-US" sz="1200" dirty="0"/>
          </a:p>
        </p:txBody>
      </p:sp>
      <p:sp>
        <p:nvSpPr>
          <p:cNvPr id="9" name="Shape 7"/>
          <p:cNvSpPr/>
          <p:nvPr/>
        </p:nvSpPr>
        <p:spPr>
          <a:xfrm>
            <a:off x="2514600" y="5257800"/>
            <a:ext cx="2057400" cy="384048"/>
          </a:xfrm>
          <a:prstGeom prst="roundRect">
            <a:avLst>
              <a:gd name="adj" fmla="val 50000"/>
            </a:avLst>
          </a:prstGeom>
          <a:solidFill>
            <a:srgbClr val="13294B"/>
          </a:solidFill>
          <a:ln w="12700">
            <a:solidFill>
              <a:srgbClr val="F7630C"/>
            </a:solidFill>
            <a:prstDash val="solid"/>
          </a:ln>
        </p:spPr>
        <p:txBody>
          <a:bodyPr/>
          <a:lstStyle/>
          <a:p>
            <a:endParaRPr lang="en-JP"/>
          </a:p>
        </p:txBody>
      </p:sp>
      <p:sp>
        <p:nvSpPr>
          <p:cNvPr id="10" name="Text 8"/>
          <p:cNvSpPr txBox="1"/>
          <p:nvPr/>
        </p:nvSpPr>
        <p:spPr>
          <a:xfrm>
            <a:off x="2514600" y="5257800"/>
            <a:ext cx="2057400"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Malware-as-a-Service</a:t>
            </a:r>
            <a:endParaRPr lang="en-US" sz="1200" dirty="0"/>
          </a:p>
        </p:txBody>
      </p:sp>
      <p:sp>
        <p:nvSpPr>
          <p:cNvPr id="11" name="Shape 9"/>
          <p:cNvSpPr/>
          <p:nvPr/>
        </p:nvSpPr>
        <p:spPr>
          <a:xfrm>
            <a:off x="4709160" y="5257800"/>
            <a:ext cx="1691640" cy="384048"/>
          </a:xfrm>
          <a:prstGeom prst="roundRect">
            <a:avLst>
              <a:gd name="adj" fmla="val 50000"/>
            </a:avLst>
          </a:prstGeom>
          <a:solidFill>
            <a:srgbClr val="13294B"/>
          </a:solidFill>
          <a:ln w="12700">
            <a:solidFill>
              <a:srgbClr val="F7630C"/>
            </a:solidFill>
            <a:prstDash val="solid"/>
          </a:ln>
        </p:spPr>
        <p:txBody>
          <a:bodyPr/>
          <a:lstStyle/>
          <a:p>
            <a:endParaRPr lang="en-JP"/>
          </a:p>
        </p:txBody>
      </p:sp>
      <p:sp>
        <p:nvSpPr>
          <p:cNvPr id="12" name="Text 10"/>
          <p:cNvSpPr txBox="1"/>
          <p:nvPr/>
        </p:nvSpPr>
        <p:spPr>
          <a:xfrm>
            <a:off x="4709160" y="5257800"/>
            <a:ext cx="1691640"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Targets Windows</a:t>
            </a:r>
            <a:endParaRPr lang="en-US" sz="1200" dirty="0"/>
          </a:p>
        </p:txBody>
      </p:sp>
      <p:pic>
        <p:nvPicPr>
          <p:cNvPr id="13" name="Image 0" descr="Laptop showing a fake verification box while cookies, keys and crypto coins stream out to an attacker"/>
          <p:cNvPicPr>
            <a:picLocks noChangeAspect="1"/>
          </p:cNvPicPr>
          <p:nvPr/>
        </p:nvPicPr>
        <p:blipFill>
          <a:blip r:embed="rId3"/>
          <a:stretch>
            <a:fillRect/>
          </a:stretch>
        </p:blipFill>
        <p:spPr>
          <a:xfrm>
            <a:off x="6949440" y="1325880"/>
            <a:ext cx="4937760" cy="40599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78D4"/>
                </a:solidFill>
                <a:latin typeface="Calibri" pitchFamily="34" charset="0"/>
                <a:ea typeface="Calibri" pitchFamily="34" charset="-122"/>
                <a:cs typeface="Calibri" pitchFamily="34" charset="-120"/>
              </a:rPr>
              <a:t>01  ·  THREAT PROFILE</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What is Lumma Stealer?</a:t>
            </a:r>
            <a:endParaRPr lang="en-US" sz="3600" dirty="0"/>
          </a:p>
        </p:txBody>
      </p:sp>
      <p:sp>
        <p:nvSpPr>
          <p:cNvPr id="4" name="Shape 2"/>
          <p:cNvSpPr/>
          <p:nvPr/>
        </p:nvSpPr>
        <p:spPr>
          <a:xfrm>
            <a:off x="548640" y="1554480"/>
            <a:ext cx="11091672" cy="914400"/>
          </a:xfrm>
          <a:prstGeom prst="roundRect">
            <a:avLst>
              <a:gd name="adj" fmla="val 12000"/>
            </a:avLst>
          </a:prstGeom>
          <a:solidFill>
            <a:srgbClr val="EAF3FC"/>
          </a:solidFill>
          <a:ln w="12700">
            <a:solidFill>
              <a:srgbClr val="EAF3FC"/>
            </a:solidFill>
            <a:prstDash val="solid"/>
          </a:ln>
        </p:spPr>
        <p:txBody>
          <a:bodyPr/>
          <a:lstStyle/>
          <a:p>
            <a:endParaRPr lang="en-JP"/>
          </a:p>
        </p:txBody>
      </p:sp>
      <p:sp>
        <p:nvSpPr>
          <p:cNvPr id="5" name="Shape 3"/>
          <p:cNvSpPr/>
          <p:nvPr/>
        </p:nvSpPr>
        <p:spPr>
          <a:xfrm>
            <a:off x="777240" y="1719072"/>
            <a:ext cx="585216" cy="585216"/>
          </a:xfrm>
          <a:prstGeom prst="ellipse">
            <a:avLst/>
          </a:prstGeom>
          <a:solidFill>
            <a:srgbClr val="0078D4"/>
          </a:solidFill>
          <a:ln w="12700">
            <a:solidFill>
              <a:srgbClr val="0078D4"/>
            </a:solidFill>
            <a:prstDash val="solid"/>
          </a:ln>
        </p:spPr>
        <p:txBody>
          <a:bodyPr/>
          <a:lstStyle/>
          <a:p>
            <a:endParaRPr lang="en-JP"/>
          </a:p>
        </p:txBody>
      </p:sp>
      <p:pic>
        <p:nvPicPr>
          <p:cNvPr id="6" name="Image 0" descr="preencoded.png"/>
          <p:cNvPicPr>
            <a:picLocks noChangeAspect="1"/>
          </p:cNvPicPr>
          <p:nvPr/>
        </p:nvPicPr>
        <p:blipFill>
          <a:blip r:embed="rId3"/>
          <a:stretch>
            <a:fillRect/>
          </a:stretch>
        </p:blipFill>
        <p:spPr>
          <a:xfrm>
            <a:off x="917692" y="1859524"/>
            <a:ext cx="304312" cy="304312"/>
          </a:xfrm>
          <a:prstGeom prst="rect">
            <a:avLst/>
          </a:prstGeom>
        </p:spPr>
      </p:pic>
      <p:sp>
        <p:nvSpPr>
          <p:cNvPr id="7" name="Text 4"/>
          <p:cNvSpPr txBox="1"/>
          <p:nvPr/>
        </p:nvSpPr>
        <p:spPr>
          <a:xfrm>
            <a:off x="1600200" y="1554480"/>
            <a:ext cx="9829800" cy="914400"/>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A leading information stealer that targets browser data, crypto wallets and session cookies, often distributed via fake CAPTCHA and ClickFix pages.</a:t>
            </a:r>
            <a:endParaRPr lang="en-US" sz="1700" dirty="0"/>
          </a:p>
        </p:txBody>
      </p:sp>
      <p:sp>
        <p:nvSpPr>
          <p:cNvPr id="8" name="Shape 5"/>
          <p:cNvSpPr/>
          <p:nvPr/>
        </p:nvSpPr>
        <p:spPr>
          <a:xfrm>
            <a:off x="548640" y="2697480"/>
            <a:ext cx="3575304" cy="1188720"/>
          </a:xfrm>
          <a:prstGeom prst="roundRect">
            <a:avLst>
              <a:gd name="adj" fmla="val 9231"/>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9" name="Shape 6"/>
          <p:cNvSpPr/>
          <p:nvPr/>
        </p:nvSpPr>
        <p:spPr>
          <a:xfrm>
            <a:off x="749808" y="2999232"/>
            <a:ext cx="585216" cy="585216"/>
          </a:xfrm>
          <a:prstGeom prst="ellipse">
            <a:avLst/>
          </a:prstGeom>
          <a:solidFill>
            <a:srgbClr val="FDEBDD"/>
          </a:solidFill>
          <a:ln w="12700">
            <a:solidFill>
              <a:srgbClr val="FDEBDD"/>
            </a:solidFill>
            <a:prstDash val="solid"/>
          </a:ln>
        </p:spPr>
        <p:txBody>
          <a:bodyPr/>
          <a:lstStyle/>
          <a:p>
            <a:endParaRPr lang="en-JP"/>
          </a:p>
        </p:txBody>
      </p:sp>
      <p:pic>
        <p:nvPicPr>
          <p:cNvPr id="10" name="Image 1" descr="preencoded.png"/>
          <p:cNvPicPr>
            <a:picLocks noChangeAspect="1"/>
          </p:cNvPicPr>
          <p:nvPr/>
        </p:nvPicPr>
        <p:blipFill>
          <a:blip r:embed="rId4"/>
          <a:stretch>
            <a:fillRect/>
          </a:stretch>
        </p:blipFill>
        <p:spPr>
          <a:xfrm>
            <a:off x="890260" y="3139684"/>
            <a:ext cx="304312" cy="304312"/>
          </a:xfrm>
          <a:prstGeom prst="rect">
            <a:avLst/>
          </a:prstGeom>
        </p:spPr>
      </p:pic>
      <p:sp>
        <p:nvSpPr>
          <p:cNvPr id="11" name="Text 7"/>
          <p:cNvSpPr txBox="1"/>
          <p:nvPr/>
        </p:nvSpPr>
        <p:spPr>
          <a:xfrm>
            <a:off x="1508760" y="2816352"/>
            <a:ext cx="2478024" cy="365760"/>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Malware-as-a-Service</a:t>
            </a:r>
            <a:endParaRPr lang="en-US" sz="1700" dirty="0"/>
          </a:p>
        </p:txBody>
      </p:sp>
      <p:sp>
        <p:nvSpPr>
          <p:cNvPr id="12" name="Text 8"/>
          <p:cNvSpPr txBox="1"/>
          <p:nvPr/>
        </p:nvSpPr>
        <p:spPr>
          <a:xfrm>
            <a:off x="1508760" y="3200400"/>
            <a:ext cx="2478024" cy="54864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Rented to criminal affiliates since 2022</a:t>
            </a:r>
            <a:endParaRPr lang="en-US" sz="1400" dirty="0"/>
          </a:p>
        </p:txBody>
      </p:sp>
      <p:sp>
        <p:nvSpPr>
          <p:cNvPr id="13" name="Shape 9"/>
          <p:cNvSpPr/>
          <p:nvPr/>
        </p:nvSpPr>
        <p:spPr>
          <a:xfrm>
            <a:off x="4306824" y="2697480"/>
            <a:ext cx="3575304" cy="1188720"/>
          </a:xfrm>
          <a:prstGeom prst="roundRect">
            <a:avLst>
              <a:gd name="adj" fmla="val 9231"/>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4" name="Shape 10"/>
          <p:cNvSpPr/>
          <p:nvPr/>
        </p:nvSpPr>
        <p:spPr>
          <a:xfrm>
            <a:off x="4507992" y="2999232"/>
            <a:ext cx="585216" cy="585216"/>
          </a:xfrm>
          <a:prstGeom prst="ellipse">
            <a:avLst/>
          </a:prstGeom>
          <a:solidFill>
            <a:srgbClr val="FDEBDD"/>
          </a:solidFill>
          <a:ln w="12700">
            <a:solidFill>
              <a:srgbClr val="FDEBDD"/>
            </a:solidFill>
            <a:prstDash val="solid"/>
          </a:ln>
        </p:spPr>
        <p:txBody>
          <a:bodyPr/>
          <a:lstStyle/>
          <a:p>
            <a:endParaRPr lang="en-JP"/>
          </a:p>
        </p:txBody>
      </p:sp>
      <p:pic>
        <p:nvPicPr>
          <p:cNvPr id="15" name="Image 2" descr="preencoded.png"/>
          <p:cNvPicPr>
            <a:picLocks noChangeAspect="1"/>
          </p:cNvPicPr>
          <p:nvPr/>
        </p:nvPicPr>
        <p:blipFill>
          <a:blip r:embed="rId5"/>
          <a:stretch>
            <a:fillRect/>
          </a:stretch>
        </p:blipFill>
        <p:spPr>
          <a:xfrm>
            <a:off x="4648444" y="3139684"/>
            <a:ext cx="304312" cy="304312"/>
          </a:xfrm>
          <a:prstGeom prst="rect">
            <a:avLst/>
          </a:prstGeom>
        </p:spPr>
      </p:pic>
      <p:sp>
        <p:nvSpPr>
          <p:cNvPr id="16" name="Text 11"/>
          <p:cNvSpPr txBox="1"/>
          <p:nvPr/>
        </p:nvSpPr>
        <p:spPr>
          <a:xfrm>
            <a:off x="5266944" y="2816352"/>
            <a:ext cx="2478024" cy="365760"/>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Targets Windows PCs</a:t>
            </a:r>
            <a:endParaRPr lang="en-US" sz="1700" dirty="0"/>
          </a:p>
        </p:txBody>
      </p:sp>
      <p:sp>
        <p:nvSpPr>
          <p:cNvPr id="17" name="Text 12"/>
          <p:cNvSpPr txBox="1"/>
          <p:nvPr/>
        </p:nvSpPr>
        <p:spPr>
          <a:xfrm>
            <a:off x="5266944" y="3200400"/>
            <a:ext cx="2478024" cy="54864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Built to harvest data from Windows devices</a:t>
            </a:r>
            <a:endParaRPr lang="en-US" sz="1400" dirty="0"/>
          </a:p>
        </p:txBody>
      </p:sp>
      <p:sp>
        <p:nvSpPr>
          <p:cNvPr id="18" name="Shape 13"/>
          <p:cNvSpPr/>
          <p:nvPr/>
        </p:nvSpPr>
        <p:spPr>
          <a:xfrm>
            <a:off x="8065008" y="2697480"/>
            <a:ext cx="3575304" cy="1188720"/>
          </a:xfrm>
          <a:prstGeom prst="roundRect">
            <a:avLst>
              <a:gd name="adj" fmla="val 9231"/>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9" name="Shape 14"/>
          <p:cNvSpPr/>
          <p:nvPr/>
        </p:nvSpPr>
        <p:spPr>
          <a:xfrm>
            <a:off x="8266176" y="2999232"/>
            <a:ext cx="585216" cy="585216"/>
          </a:xfrm>
          <a:prstGeom prst="ellipse">
            <a:avLst/>
          </a:prstGeom>
          <a:solidFill>
            <a:srgbClr val="FDEBDD"/>
          </a:solidFill>
          <a:ln w="12700">
            <a:solidFill>
              <a:srgbClr val="FDEBDD"/>
            </a:solidFill>
            <a:prstDash val="solid"/>
          </a:ln>
        </p:spPr>
        <p:txBody>
          <a:bodyPr/>
          <a:lstStyle/>
          <a:p>
            <a:endParaRPr lang="en-JP"/>
          </a:p>
        </p:txBody>
      </p:sp>
      <p:pic>
        <p:nvPicPr>
          <p:cNvPr id="20" name="Image 3" descr="preencoded.png"/>
          <p:cNvPicPr>
            <a:picLocks noChangeAspect="1"/>
          </p:cNvPicPr>
          <p:nvPr/>
        </p:nvPicPr>
        <p:blipFill>
          <a:blip r:embed="rId6"/>
          <a:stretch>
            <a:fillRect/>
          </a:stretch>
        </p:blipFill>
        <p:spPr>
          <a:xfrm>
            <a:off x="8406628" y="3139684"/>
            <a:ext cx="304312" cy="304312"/>
          </a:xfrm>
          <a:prstGeom prst="rect">
            <a:avLst/>
          </a:prstGeom>
        </p:spPr>
      </p:pic>
      <p:sp>
        <p:nvSpPr>
          <p:cNvPr id="21" name="Text 15"/>
          <p:cNvSpPr txBox="1"/>
          <p:nvPr/>
        </p:nvSpPr>
        <p:spPr>
          <a:xfrm>
            <a:off x="9025128" y="2816352"/>
            <a:ext cx="2478024" cy="365760"/>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Fast and evasive</a:t>
            </a:r>
            <a:endParaRPr lang="en-US" sz="1700" dirty="0"/>
          </a:p>
        </p:txBody>
      </p:sp>
      <p:sp>
        <p:nvSpPr>
          <p:cNvPr id="22" name="Text 16"/>
          <p:cNvSpPr txBox="1"/>
          <p:nvPr/>
        </p:nvSpPr>
        <p:spPr>
          <a:xfrm>
            <a:off x="9025128" y="3200400"/>
            <a:ext cx="2478024" cy="54864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Starts stealing as soon as it runs, then hides</a:t>
            </a:r>
            <a:endParaRPr lang="en-US" sz="1400" dirty="0"/>
          </a:p>
        </p:txBody>
      </p:sp>
      <p:sp>
        <p:nvSpPr>
          <p:cNvPr id="23" name="Text 17"/>
          <p:cNvSpPr txBox="1"/>
          <p:nvPr/>
        </p:nvSpPr>
        <p:spPr>
          <a:xfrm>
            <a:off x="548640" y="4114800"/>
            <a:ext cx="274320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TIMELINE</a:t>
            </a:r>
            <a:endParaRPr lang="en-US" sz="1200" dirty="0"/>
          </a:p>
        </p:txBody>
      </p:sp>
      <p:sp>
        <p:nvSpPr>
          <p:cNvPr id="24" name="Shape 18"/>
          <p:cNvSpPr/>
          <p:nvPr/>
        </p:nvSpPr>
        <p:spPr>
          <a:xfrm>
            <a:off x="822960" y="4645152"/>
            <a:ext cx="10515600" cy="0"/>
          </a:xfrm>
          <a:prstGeom prst="line">
            <a:avLst/>
          </a:prstGeom>
          <a:noFill/>
          <a:ln w="38100">
            <a:solidFill>
              <a:srgbClr val="0078D4"/>
            </a:solidFill>
            <a:prstDash val="solid"/>
          </a:ln>
        </p:spPr>
        <p:txBody>
          <a:bodyPr/>
          <a:lstStyle/>
          <a:p>
            <a:endParaRPr lang="en-JP"/>
          </a:p>
        </p:txBody>
      </p:sp>
      <p:sp>
        <p:nvSpPr>
          <p:cNvPr id="25" name="Shape 19"/>
          <p:cNvSpPr/>
          <p:nvPr/>
        </p:nvSpPr>
        <p:spPr>
          <a:xfrm>
            <a:off x="822960" y="4507992"/>
            <a:ext cx="274320" cy="274320"/>
          </a:xfrm>
          <a:prstGeom prst="ellipse">
            <a:avLst/>
          </a:prstGeom>
          <a:solidFill>
            <a:srgbClr val="0078D4"/>
          </a:solidFill>
          <a:ln w="25400">
            <a:solidFill>
              <a:srgbClr val="FFFFFF"/>
            </a:solidFill>
            <a:prstDash val="solid"/>
          </a:ln>
        </p:spPr>
        <p:txBody>
          <a:bodyPr/>
          <a:lstStyle/>
          <a:p>
            <a:endParaRPr lang="en-JP"/>
          </a:p>
        </p:txBody>
      </p:sp>
      <p:sp>
        <p:nvSpPr>
          <p:cNvPr id="26" name="Text 20"/>
          <p:cNvSpPr txBox="1"/>
          <p:nvPr/>
        </p:nvSpPr>
        <p:spPr>
          <a:xfrm>
            <a:off x="822960" y="4892040"/>
            <a:ext cx="2560320" cy="329184"/>
          </a:xfrm>
          <a:prstGeom prst="rect">
            <a:avLst/>
          </a:prstGeom>
          <a:noFill/>
          <a:ln/>
        </p:spPr>
        <p:txBody>
          <a:bodyPr wrap="square" lIns="0" tIns="0" rIns="0" bIns="0" rtlCol="0" anchor="ctr"/>
          <a:lstStyle/>
          <a:p>
            <a:pPr marL="0" indent="0">
              <a:buNone/>
            </a:pPr>
            <a:r>
              <a:rPr lang="en-US" sz="1700" b="1" dirty="0">
                <a:solidFill>
                  <a:srgbClr val="0078D4"/>
                </a:solidFill>
                <a:latin typeface="Arial" pitchFamily="34" charset="0"/>
                <a:ea typeface="Arial" pitchFamily="34" charset="-122"/>
                <a:cs typeface="Arial" pitchFamily="34" charset="-120"/>
              </a:rPr>
              <a:t>2022</a:t>
            </a:r>
            <a:endParaRPr lang="en-US" sz="1700" dirty="0"/>
          </a:p>
        </p:txBody>
      </p:sp>
      <p:sp>
        <p:nvSpPr>
          <p:cNvPr id="27" name="Text 21"/>
          <p:cNvSpPr txBox="1"/>
          <p:nvPr/>
        </p:nvSpPr>
        <p:spPr>
          <a:xfrm>
            <a:off x="822960" y="5230368"/>
            <a:ext cx="2560320" cy="68580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First seen on criminal forums</a:t>
            </a:r>
            <a:endParaRPr lang="en-US" sz="1400" dirty="0"/>
          </a:p>
        </p:txBody>
      </p:sp>
      <p:sp>
        <p:nvSpPr>
          <p:cNvPr id="28" name="Shape 22"/>
          <p:cNvSpPr/>
          <p:nvPr/>
        </p:nvSpPr>
        <p:spPr>
          <a:xfrm>
            <a:off x="3611880" y="4507992"/>
            <a:ext cx="274320" cy="274320"/>
          </a:xfrm>
          <a:prstGeom prst="ellipse">
            <a:avLst/>
          </a:prstGeom>
          <a:solidFill>
            <a:srgbClr val="0078D4"/>
          </a:solidFill>
          <a:ln w="25400">
            <a:solidFill>
              <a:srgbClr val="FFFFFF"/>
            </a:solidFill>
            <a:prstDash val="solid"/>
          </a:ln>
        </p:spPr>
        <p:txBody>
          <a:bodyPr/>
          <a:lstStyle/>
          <a:p>
            <a:endParaRPr lang="en-JP"/>
          </a:p>
        </p:txBody>
      </p:sp>
      <p:sp>
        <p:nvSpPr>
          <p:cNvPr id="29" name="Text 23"/>
          <p:cNvSpPr txBox="1"/>
          <p:nvPr/>
        </p:nvSpPr>
        <p:spPr>
          <a:xfrm>
            <a:off x="3611880" y="4892040"/>
            <a:ext cx="2560320" cy="329184"/>
          </a:xfrm>
          <a:prstGeom prst="rect">
            <a:avLst/>
          </a:prstGeom>
          <a:noFill/>
          <a:ln/>
        </p:spPr>
        <p:txBody>
          <a:bodyPr wrap="square" lIns="0" tIns="0" rIns="0" bIns="0" rtlCol="0" anchor="ctr"/>
          <a:lstStyle/>
          <a:p>
            <a:pPr marL="0" indent="0">
              <a:buNone/>
            </a:pPr>
            <a:r>
              <a:rPr lang="en-US" sz="1700" b="1" dirty="0">
                <a:solidFill>
                  <a:srgbClr val="0078D4"/>
                </a:solidFill>
                <a:latin typeface="Arial" pitchFamily="34" charset="0"/>
                <a:ea typeface="Arial" pitchFamily="34" charset="-122"/>
                <a:cs typeface="Arial" pitchFamily="34" charset="-120"/>
              </a:rPr>
              <a:t>2024</a:t>
            </a:r>
            <a:endParaRPr lang="en-US" sz="1700" dirty="0"/>
          </a:p>
        </p:txBody>
      </p:sp>
      <p:sp>
        <p:nvSpPr>
          <p:cNvPr id="30" name="Text 24"/>
          <p:cNvSpPr txBox="1"/>
          <p:nvPr/>
        </p:nvSpPr>
        <p:spPr>
          <a:xfrm>
            <a:off x="3611880" y="5230368"/>
            <a:ext cx="2560320" cy="68580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Widespread fake CAPTCHA and ClickFix campaigns</a:t>
            </a:r>
            <a:endParaRPr lang="en-US" sz="1400" dirty="0"/>
          </a:p>
        </p:txBody>
      </p:sp>
      <p:sp>
        <p:nvSpPr>
          <p:cNvPr id="31" name="Shape 25"/>
          <p:cNvSpPr/>
          <p:nvPr/>
        </p:nvSpPr>
        <p:spPr>
          <a:xfrm>
            <a:off x="6400800" y="4507992"/>
            <a:ext cx="274320" cy="274320"/>
          </a:xfrm>
          <a:prstGeom prst="ellipse">
            <a:avLst/>
          </a:prstGeom>
          <a:solidFill>
            <a:srgbClr val="F7630C"/>
          </a:solidFill>
          <a:ln w="25400">
            <a:solidFill>
              <a:srgbClr val="FFFFFF"/>
            </a:solidFill>
            <a:prstDash val="solid"/>
          </a:ln>
        </p:spPr>
        <p:txBody>
          <a:bodyPr/>
          <a:lstStyle/>
          <a:p>
            <a:endParaRPr lang="en-JP"/>
          </a:p>
        </p:txBody>
      </p:sp>
      <p:sp>
        <p:nvSpPr>
          <p:cNvPr id="32" name="Text 26"/>
          <p:cNvSpPr txBox="1"/>
          <p:nvPr/>
        </p:nvSpPr>
        <p:spPr>
          <a:xfrm>
            <a:off x="6400800" y="4892040"/>
            <a:ext cx="2560320" cy="329184"/>
          </a:xfrm>
          <a:prstGeom prst="rect">
            <a:avLst/>
          </a:prstGeom>
          <a:noFill/>
          <a:ln/>
        </p:spPr>
        <p:txBody>
          <a:bodyPr wrap="square" lIns="0" tIns="0" rIns="0" bIns="0" rtlCol="0" anchor="ctr"/>
          <a:lstStyle/>
          <a:p>
            <a:pPr marL="0" indent="0">
              <a:buNone/>
            </a:pPr>
            <a:r>
              <a:rPr lang="en-US" sz="1700" b="1" dirty="0">
                <a:solidFill>
                  <a:srgbClr val="C24E06"/>
                </a:solidFill>
                <a:latin typeface="Arial" pitchFamily="34" charset="0"/>
                <a:ea typeface="Arial" pitchFamily="34" charset="-122"/>
                <a:cs typeface="Arial" pitchFamily="34" charset="-120"/>
              </a:rPr>
              <a:t>May 2025</a:t>
            </a:r>
            <a:endParaRPr lang="en-US" sz="1700" dirty="0"/>
          </a:p>
        </p:txBody>
      </p:sp>
      <p:sp>
        <p:nvSpPr>
          <p:cNvPr id="33" name="Text 27"/>
          <p:cNvSpPr txBox="1"/>
          <p:nvPr/>
        </p:nvSpPr>
        <p:spPr>
          <a:xfrm>
            <a:off x="6400800" y="5230368"/>
            <a:ext cx="2560320" cy="68580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Global takedown: about 2,300 domains seized</a:t>
            </a:r>
            <a:endParaRPr lang="en-US" sz="1400" dirty="0"/>
          </a:p>
        </p:txBody>
      </p:sp>
      <p:sp>
        <p:nvSpPr>
          <p:cNvPr id="34" name="Shape 28"/>
          <p:cNvSpPr/>
          <p:nvPr/>
        </p:nvSpPr>
        <p:spPr>
          <a:xfrm>
            <a:off x="9189720" y="4507992"/>
            <a:ext cx="274320" cy="274320"/>
          </a:xfrm>
          <a:prstGeom prst="ellipse">
            <a:avLst/>
          </a:prstGeom>
          <a:solidFill>
            <a:srgbClr val="F7630C"/>
          </a:solidFill>
          <a:ln w="25400">
            <a:solidFill>
              <a:srgbClr val="FFFFFF"/>
            </a:solidFill>
            <a:prstDash val="solid"/>
          </a:ln>
        </p:spPr>
        <p:txBody>
          <a:bodyPr/>
          <a:lstStyle/>
          <a:p>
            <a:endParaRPr lang="en-JP"/>
          </a:p>
        </p:txBody>
      </p:sp>
      <p:sp>
        <p:nvSpPr>
          <p:cNvPr id="35" name="Text 29"/>
          <p:cNvSpPr txBox="1"/>
          <p:nvPr/>
        </p:nvSpPr>
        <p:spPr>
          <a:xfrm>
            <a:off x="9189720" y="4892040"/>
            <a:ext cx="2560320" cy="329184"/>
          </a:xfrm>
          <a:prstGeom prst="rect">
            <a:avLst/>
          </a:prstGeom>
          <a:noFill/>
          <a:ln/>
        </p:spPr>
        <p:txBody>
          <a:bodyPr wrap="square" lIns="0" tIns="0" rIns="0" bIns="0" rtlCol="0" anchor="ctr"/>
          <a:lstStyle/>
          <a:p>
            <a:pPr marL="0" indent="0">
              <a:buNone/>
            </a:pPr>
            <a:r>
              <a:rPr lang="en-US" sz="1700" b="1" dirty="0">
                <a:solidFill>
                  <a:srgbClr val="C24E06"/>
                </a:solidFill>
                <a:latin typeface="Arial" pitchFamily="34" charset="0"/>
                <a:ea typeface="Arial" pitchFamily="34" charset="-122"/>
                <a:cs typeface="Arial" pitchFamily="34" charset="-120"/>
              </a:rPr>
              <a:t>2025 – 2026</a:t>
            </a:r>
            <a:endParaRPr lang="en-US" sz="1700" dirty="0"/>
          </a:p>
        </p:txBody>
      </p:sp>
      <p:sp>
        <p:nvSpPr>
          <p:cNvPr id="36" name="Text 30"/>
          <p:cNvSpPr txBox="1"/>
          <p:nvPr/>
        </p:nvSpPr>
        <p:spPr>
          <a:xfrm>
            <a:off x="9189720" y="5230368"/>
            <a:ext cx="2560320" cy="68580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Back with new infrastructure and loaders</a:t>
            </a:r>
            <a:endParaRPr lang="en-US" sz="1400" dirty="0"/>
          </a:p>
        </p:txBody>
      </p:sp>
      <p:sp>
        <p:nvSpPr>
          <p:cNvPr id="37"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78D4"/>
                </a:solidFill>
                <a:latin typeface="Calibri" pitchFamily="34" charset="0"/>
                <a:ea typeface="Calibri" pitchFamily="34" charset="-122"/>
                <a:cs typeface="Calibri" pitchFamily="34" charset="-120"/>
              </a:rPr>
              <a:t>02  ·  WHAT IT TARGETS</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What Lumma steals</a:t>
            </a:r>
            <a:endParaRPr lang="en-US" sz="3600" dirty="0"/>
          </a:p>
        </p:txBody>
      </p:sp>
      <p:pic>
        <p:nvPicPr>
          <p:cNvPr id="4" name="Image 0" descr="Masked thief on a laptop screen"/>
          <p:cNvPicPr>
            <a:picLocks noChangeAspect="1"/>
          </p:cNvPicPr>
          <p:nvPr/>
        </p:nvPicPr>
        <p:blipFill>
          <a:blip r:embed="rId3"/>
          <a:stretch>
            <a:fillRect/>
          </a:stretch>
        </p:blipFill>
        <p:spPr>
          <a:xfrm>
            <a:off x="4224528" y="1554480"/>
            <a:ext cx="3749040" cy="3392424"/>
          </a:xfrm>
          <a:prstGeom prst="rect">
            <a:avLst/>
          </a:prstGeom>
        </p:spPr>
      </p:pic>
      <p:sp>
        <p:nvSpPr>
          <p:cNvPr id="5" name="Shape 2"/>
          <p:cNvSpPr/>
          <p:nvPr/>
        </p:nvSpPr>
        <p:spPr>
          <a:xfrm>
            <a:off x="548640" y="1600200"/>
            <a:ext cx="3520440" cy="1554480"/>
          </a:xfrm>
          <a:prstGeom prst="roundRect">
            <a:avLst>
              <a:gd name="adj" fmla="val 7059"/>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6" name="Shape 3"/>
          <p:cNvSpPr/>
          <p:nvPr/>
        </p:nvSpPr>
        <p:spPr>
          <a:xfrm>
            <a:off x="777240" y="1828800"/>
            <a:ext cx="566928" cy="566928"/>
          </a:xfrm>
          <a:prstGeom prst="ellipse">
            <a:avLst/>
          </a:prstGeom>
          <a:solidFill>
            <a:srgbClr val="FDEBDD"/>
          </a:solidFill>
          <a:ln w="12700">
            <a:solidFill>
              <a:srgbClr val="FDEBDD"/>
            </a:solidFill>
            <a:prstDash val="solid"/>
          </a:ln>
        </p:spPr>
        <p:txBody>
          <a:bodyPr/>
          <a:lstStyle/>
          <a:p>
            <a:endParaRPr lang="en-JP"/>
          </a:p>
        </p:txBody>
      </p:sp>
      <p:pic>
        <p:nvPicPr>
          <p:cNvPr id="7" name="Image 1" descr="preencoded.png"/>
          <p:cNvPicPr>
            <a:picLocks noChangeAspect="1"/>
          </p:cNvPicPr>
          <p:nvPr/>
        </p:nvPicPr>
        <p:blipFill>
          <a:blip r:embed="rId4"/>
          <a:stretch>
            <a:fillRect/>
          </a:stretch>
        </p:blipFill>
        <p:spPr>
          <a:xfrm>
            <a:off x="913303" y="1964863"/>
            <a:ext cx="294803" cy="294803"/>
          </a:xfrm>
          <a:prstGeom prst="rect">
            <a:avLst/>
          </a:prstGeom>
        </p:spPr>
      </p:pic>
      <p:sp>
        <p:nvSpPr>
          <p:cNvPr id="8" name="Text 4"/>
          <p:cNvSpPr txBox="1"/>
          <p:nvPr/>
        </p:nvSpPr>
        <p:spPr>
          <a:xfrm>
            <a:off x="777240" y="2468880"/>
            <a:ext cx="3108960"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Browser data</a:t>
            </a:r>
            <a:endParaRPr lang="en-US" sz="1700" dirty="0"/>
          </a:p>
        </p:txBody>
      </p:sp>
      <p:sp>
        <p:nvSpPr>
          <p:cNvPr id="9" name="Text 5"/>
          <p:cNvSpPr txBox="1"/>
          <p:nvPr/>
        </p:nvSpPr>
        <p:spPr>
          <a:xfrm>
            <a:off x="777240" y="2770632"/>
            <a:ext cx="3108960" cy="310896"/>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Saved passwords, autofill and card details</a:t>
            </a:r>
            <a:endParaRPr lang="en-US" sz="1400" dirty="0"/>
          </a:p>
        </p:txBody>
      </p:sp>
      <p:sp>
        <p:nvSpPr>
          <p:cNvPr id="10" name="Shape 6"/>
          <p:cNvSpPr/>
          <p:nvPr/>
        </p:nvSpPr>
        <p:spPr>
          <a:xfrm>
            <a:off x="548640" y="3337560"/>
            <a:ext cx="3520440" cy="1554480"/>
          </a:xfrm>
          <a:prstGeom prst="roundRect">
            <a:avLst>
              <a:gd name="adj" fmla="val 7059"/>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1" name="Shape 7"/>
          <p:cNvSpPr/>
          <p:nvPr/>
        </p:nvSpPr>
        <p:spPr>
          <a:xfrm>
            <a:off x="777240" y="3566160"/>
            <a:ext cx="566928" cy="566928"/>
          </a:xfrm>
          <a:prstGeom prst="ellipse">
            <a:avLst/>
          </a:prstGeom>
          <a:solidFill>
            <a:srgbClr val="FDEBDD"/>
          </a:solidFill>
          <a:ln w="12700">
            <a:solidFill>
              <a:srgbClr val="FDEBDD"/>
            </a:solidFill>
            <a:prstDash val="solid"/>
          </a:ln>
        </p:spPr>
        <p:txBody>
          <a:bodyPr/>
          <a:lstStyle/>
          <a:p>
            <a:endParaRPr lang="en-JP"/>
          </a:p>
        </p:txBody>
      </p:sp>
      <p:pic>
        <p:nvPicPr>
          <p:cNvPr id="12" name="Image 2" descr="preencoded.png"/>
          <p:cNvPicPr>
            <a:picLocks noChangeAspect="1"/>
          </p:cNvPicPr>
          <p:nvPr/>
        </p:nvPicPr>
        <p:blipFill>
          <a:blip r:embed="rId5"/>
          <a:stretch>
            <a:fillRect/>
          </a:stretch>
        </p:blipFill>
        <p:spPr>
          <a:xfrm>
            <a:off x="913303" y="3702223"/>
            <a:ext cx="294803" cy="294803"/>
          </a:xfrm>
          <a:prstGeom prst="rect">
            <a:avLst/>
          </a:prstGeom>
        </p:spPr>
      </p:pic>
      <p:sp>
        <p:nvSpPr>
          <p:cNvPr id="13" name="Text 8"/>
          <p:cNvSpPr txBox="1"/>
          <p:nvPr/>
        </p:nvSpPr>
        <p:spPr>
          <a:xfrm>
            <a:off x="777240" y="4206240"/>
            <a:ext cx="3108960"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Session cookies</a:t>
            </a:r>
            <a:endParaRPr lang="en-US" sz="1700" dirty="0"/>
          </a:p>
        </p:txBody>
      </p:sp>
      <p:sp>
        <p:nvSpPr>
          <p:cNvPr id="14" name="Text 9"/>
          <p:cNvSpPr txBox="1"/>
          <p:nvPr/>
        </p:nvSpPr>
        <p:spPr>
          <a:xfrm>
            <a:off x="777240" y="4507992"/>
            <a:ext cx="3108960" cy="310896"/>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Let attackers skip passwords and MFA</a:t>
            </a:r>
            <a:endParaRPr lang="en-US" sz="1400" dirty="0"/>
          </a:p>
        </p:txBody>
      </p:sp>
      <p:sp>
        <p:nvSpPr>
          <p:cNvPr id="15" name="Shape 10"/>
          <p:cNvSpPr/>
          <p:nvPr/>
        </p:nvSpPr>
        <p:spPr>
          <a:xfrm>
            <a:off x="8119872" y="1600200"/>
            <a:ext cx="3520440" cy="1554480"/>
          </a:xfrm>
          <a:prstGeom prst="roundRect">
            <a:avLst>
              <a:gd name="adj" fmla="val 7059"/>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6" name="Shape 11"/>
          <p:cNvSpPr/>
          <p:nvPr/>
        </p:nvSpPr>
        <p:spPr>
          <a:xfrm>
            <a:off x="8348472" y="1828800"/>
            <a:ext cx="566928" cy="566928"/>
          </a:xfrm>
          <a:prstGeom prst="ellipse">
            <a:avLst/>
          </a:prstGeom>
          <a:solidFill>
            <a:srgbClr val="FDEBDD"/>
          </a:solidFill>
          <a:ln w="12700">
            <a:solidFill>
              <a:srgbClr val="FDEBDD"/>
            </a:solidFill>
            <a:prstDash val="solid"/>
          </a:ln>
        </p:spPr>
        <p:txBody>
          <a:bodyPr/>
          <a:lstStyle/>
          <a:p>
            <a:endParaRPr lang="en-JP"/>
          </a:p>
        </p:txBody>
      </p:sp>
      <p:pic>
        <p:nvPicPr>
          <p:cNvPr id="17" name="Image 3" descr="preencoded.png"/>
          <p:cNvPicPr>
            <a:picLocks noChangeAspect="1"/>
          </p:cNvPicPr>
          <p:nvPr/>
        </p:nvPicPr>
        <p:blipFill>
          <a:blip r:embed="rId6"/>
          <a:stretch>
            <a:fillRect/>
          </a:stretch>
        </p:blipFill>
        <p:spPr>
          <a:xfrm>
            <a:off x="8484535" y="1964863"/>
            <a:ext cx="294803" cy="294803"/>
          </a:xfrm>
          <a:prstGeom prst="rect">
            <a:avLst/>
          </a:prstGeom>
        </p:spPr>
      </p:pic>
      <p:sp>
        <p:nvSpPr>
          <p:cNvPr id="18" name="Text 12"/>
          <p:cNvSpPr txBox="1"/>
          <p:nvPr/>
        </p:nvSpPr>
        <p:spPr>
          <a:xfrm>
            <a:off x="8348472" y="2468880"/>
            <a:ext cx="3108960"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Crypto wallets</a:t>
            </a:r>
            <a:endParaRPr lang="en-US" sz="1700" dirty="0"/>
          </a:p>
        </p:txBody>
      </p:sp>
      <p:sp>
        <p:nvSpPr>
          <p:cNvPr id="19" name="Text 13"/>
          <p:cNvSpPr txBox="1"/>
          <p:nvPr/>
        </p:nvSpPr>
        <p:spPr>
          <a:xfrm>
            <a:off x="8348472" y="2770632"/>
            <a:ext cx="3108960" cy="310896"/>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Wallet extensions, files and keys</a:t>
            </a:r>
            <a:endParaRPr lang="en-US" sz="1400" dirty="0"/>
          </a:p>
        </p:txBody>
      </p:sp>
      <p:sp>
        <p:nvSpPr>
          <p:cNvPr id="20" name="Shape 14"/>
          <p:cNvSpPr/>
          <p:nvPr/>
        </p:nvSpPr>
        <p:spPr>
          <a:xfrm>
            <a:off x="8119872" y="3337560"/>
            <a:ext cx="3520440" cy="1554480"/>
          </a:xfrm>
          <a:prstGeom prst="roundRect">
            <a:avLst>
              <a:gd name="adj" fmla="val 7059"/>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1" name="Shape 15"/>
          <p:cNvSpPr/>
          <p:nvPr/>
        </p:nvSpPr>
        <p:spPr>
          <a:xfrm>
            <a:off x="8348472" y="3566160"/>
            <a:ext cx="566928" cy="566928"/>
          </a:xfrm>
          <a:prstGeom prst="ellipse">
            <a:avLst/>
          </a:prstGeom>
          <a:solidFill>
            <a:srgbClr val="FDEBDD"/>
          </a:solidFill>
          <a:ln w="12700">
            <a:solidFill>
              <a:srgbClr val="FDEBDD"/>
            </a:solidFill>
            <a:prstDash val="solid"/>
          </a:ln>
        </p:spPr>
        <p:txBody>
          <a:bodyPr/>
          <a:lstStyle/>
          <a:p>
            <a:endParaRPr lang="en-JP"/>
          </a:p>
        </p:txBody>
      </p:sp>
      <p:pic>
        <p:nvPicPr>
          <p:cNvPr id="22" name="Image 4" descr="preencoded.png"/>
          <p:cNvPicPr>
            <a:picLocks noChangeAspect="1"/>
          </p:cNvPicPr>
          <p:nvPr/>
        </p:nvPicPr>
        <p:blipFill>
          <a:blip r:embed="rId7"/>
          <a:stretch>
            <a:fillRect/>
          </a:stretch>
        </p:blipFill>
        <p:spPr>
          <a:xfrm>
            <a:off x="8484535" y="3702223"/>
            <a:ext cx="294803" cy="294803"/>
          </a:xfrm>
          <a:prstGeom prst="rect">
            <a:avLst/>
          </a:prstGeom>
        </p:spPr>
      </p:pic>
      <p:sp>
        <p:nvSpPr>
          <p:cNvPr id="23" name="Text 16"/>
          <p:cNvSpPr txBox="1"/>
          <p:nvPr/>
        </p:nvSpPr>
        <p:spPr>
          <a:xfrm>
            <a:off x="8348472" y="4206240"/>
            <a:ext cx="3108960"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2FA, apps and system info</a:t>
            </a:r>
            <a:endParaRPr lang="en-US" sz="1700" dirty="0"/>
          </a:p>
        </p:txBody>
      </p:sp>
      <p:sp>
        <p:nvSpPr>
          <p:cNvPr id="24" name="Text 17"/>
          <p:cNvSpPr txBox="1"/>
          <p:nvPr/>
        </p:nvSpPr>
        <p:spPr>
          <a:xfrm>
            <a:off x="8348472" y="4507992"/>
            <a:ext cx="3108960" cy="310896"/>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Authenticator extensions and chat apps</a:t>
            </a:r>
            <a:endParaRPr lang="en-US" sz="1400" dirty="0"/>
          </a:p>
        </p:txBody>
      </p:sp>
      <p:sp>
        <p:nvSpPr>
          <p:cNvPr id="25" name="Shape 18"/>
          <p:cNvSpPr/>
          <p:nvPr/>
        </p:nvSpPr>
        <p:spPr>
          <a:xfrm>
            <a:off x="548640" y="5212080"/>
            <a:ext cx="11091672" cy="822960"/>
          </a:xfrm>
          <a:prstGeom prst="roundRect">
            <a:avLst>
              <a:gd name="adj" fmla="val 13333"/>
            </a:avLst>
          </a:prstGeom>
          <a:solidFill>
            <a:srgbClr val="0A1628"/>
          </a:solidFill>
          <a:ln w="12700">
            <a:solidFill>
              <a:srgbClr val="0A1628"/>
            </a:solidFill>
            <a:prstDash val="solid"/>
          </a:ln>
        </p:spPr>
        <p:txBody>
          <a:bodyPr/>
          <a:lstStyle/>
          <a:p>
            <a:endParaRPr lang="en-JP"/>
          </a:p>
        </p:txBody>
      </p:sp>
      <p:sp>
        <p:nvSpPr>
          <p:cNvPr id="26" name="Shape 19"/>
          <p:cNvSpPr/>
          <p:nvPr/>
        </p:nvSpPr>
        <p:spPr>
          <a:xfrm>
            <a:off x="777240" y="5358384"/>
            <a:ext cx="530352" cy="530352"/>
          </a:xfrm>
          <a:prstGeom prst="ellipse">
            <a:avLst/>
          </a:prstGeom>
          <a:solidFill>
            <a:srgbClr val="F7630C"/>
          </a:solidFill>
          <a:ln w="12700">
            <a:solidFill>
              <a:srgbClr val="F7630C"/>
            </a:solidFill>
            <a:prstDash val="solid"/>
          </a:ln>
        </p:spPr>
        <p:txBody>
          <a:bodyPr/>
          <a:lstStyle/>
          <a:p>
            <a:endParaRPr lang="en-JP"/>
          </a:p>
        </p:txBody>
      </p:sp>
      <p:pic>
        <p:nvPicPr>
          <p:cNvPr id="27" name="Image 5" descr="preencoded.png"/>
          <p:cNvPicPr>
            <a:picLocks noChangeAspect="1"/>
          </p:cNvPicPr>
          <p:nvPr/>
        </p:nvPicPr>
        <p:blipFill>
          <a:blip r:embed="rId8"/>
          <a:stretch>
            <a:fillRect/>
          </a:stretch>
        </p:blipFill>
        <p:spPr>
          <a:xfrm>
            <a:off x="904524" y="5485668"/>
            <a:ext cx="275783" cy="275783"/>
          </a:xfrm>
          <a:prstGeom prst="rect">
            <a:avLst/>
          </a:prstGeom>
        </p:spPr>
      </p:pic>
      <p:sp>
        <p:nvSpPr>
          <p:cNvPr id="28" name="Text 20"/>
          <p:cNvSpPr txBox="1"/>
          <p:nvPr/>
        </p:nvSpPr>
        <p:spPr>
          <a:xfrm>
            <a:off x="1508760" y="5212080"/>
            <a:ext cx="9966960" cy="82296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WHY IT MATTERS   </a:t>
            </a:r>
            <a:r>
              <a:rPr lang="en-US" sz="1700" dirty="0">
                <a:solidFill>
                  <a:srgbClr val="FFFFFF"/>
                </a:solidFill>
                <a:latin typeface="Calibri" pitchFamily="34" charset="0"/>
                <a:ea typeface="Calibri" pitchFamily="34" charset="-122"/>
                <a:cs typeface="Calibri" pitchFamily="34" charset="-120"/>
              </a:rPr>
              <a:t>Stolen data is bundled into “logs” and sold, fuelling account takeover and ransomware.</a:t>
            </a:r>
            <a:endParaRPr lang="en-US" sz="1200" dirty="0"/>
          </a:p>
        </p:txBody>
      </p:sp>
      <p:sp>
        <p:nvSpPr>
          <p:cNvPr id="29"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78D4"/>
                </a:solidFill>
                <a:latin typeface="Calibri" pitchFamily="34" charset="0"/>
                <a:ea typeface="Calibri" pitchFamily="34" charset="-122"/>
                <a:cs typeface="Calibri" pitchFamily="34" charset="-120"/>
              </a:rPr>
              <a:t>03  ·  WAYS IN</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How Lumma reaches victims</a:t>
            </a:r>
            <a:endParaRPr lang="en-US" sz="3600" dirty="0"/>
          </a:p>
        </p:txBody>
      </p:sp>
      <p:sp>
        <p:nvSpPr>
          <p:cNvPr id="4" name="Shape 2"/>
          <p:cNvSpPr/>
          <p:nvPr/>
        </p:nvSpPr>
        <p:spPr>
          <a:xfrm>
            <a:off x="548640" y="160020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5" name="Shape 3"/>
          <p:cNvSpPr/>
          <p:nvPr/>
        </p:nvSpPr>
        <p:spPr>
          <a:xfrm>
            <a:off x="777240" y="1828800"/>
            <a:ext cx="603504" cy="603504"/>
          </a:xfrm>
          <a:prstGeom prst="ellipse">
            <a:avLst/>
          </a:prstGeom>
          <a:solidFill>
            <a:srgbClr val="FDEBDD"/>
          </a:solidFill>
          <a:ln w="12700">
            <a:solidFill>
              <a:srgbClr val="FDEBDD"/>
            </a:solidFill>
            <a:prstDash val="solid"/>
          </a:ln>
        </p:spPr>
        <p:txBody>
          <a:bodyPr/>
          <a:lstStyle/>
          <a:p>
            <a:endParaRPr lang="en-JP"/>
          </a:p>
        </p:txBody>
      </p:sp>
      <p:pic>
        <p:nvPicPr>
          <p:cNvPr id="6" name="Image 0" descr="preencoded.png"/>
          <p:cNvPicPr>
            <a:picLocks noChangeAspect="1"/>
          </p:cNvPicPr>
          <p:nvPr/>
        </p:nvPicPr>
        <p:blipFill>
          <a:blip r:embed="rId3"/>
          <a:stretch>
            <a:fillRect/>
          </a:stretch>
        </p:blipFill>
        <p:spPr>
          <a:xfrm>
            <a:off x="922081" y="1973641"/>
            <a:ext cx="313822" cy="313822"/>
          </a:xfrm>
          <a:prstGeom prst="rect">
            <a:avLst/>
          </a:prstGeom>
        </p:spPr>
      </p:pic>
      <p:sp>
        <p:nvSpPr>
          <p:cNvPr id="7" name="Text 4"/>
          <p:cNvSpPr txBox="1"/>
          <p:nvPr/>
        </p:nvSpPr>
        <p:spPr>
          <a:xfrm>
            <a:off x="777240" y="251460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Fake CAPTCHA pages</a:t>
            </a:r>
            <a:endParaRPr lang="en-US" sz="1700" dirty="0"/>
          </a:p>
        </p:txBody>
      </p:sp>
      <p:sp>
        <p:nvSpPr>
          <p:cNvPr id="8" name="Text 5"/>
          <p:cNvSpPr txBox="1"/>
          <p:nvPr/>
        </p:nvSpPr>
        <p:spPr>
          <a:xfrm>
            <a:off x="777240" y="2843784"/>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“Verify you’re human” tricks (ClickFix)</a:t>
            </a:r>
            <a:endParaRPr lang="en-US" sz="1400" dirty="0"/>
          </a:p>
        </p:txBody>
      </p:sp>
      <p:sp>
        <p:nvSpPr>
          <p:cNvPr id="9" name="Shape 6"/>
          <p:cNvSpPr/>
          <p:nvPr/>
        </p:nvSpPr>
        <p:spPr>
          <a:xfrm>
            <a:off x="4306824" y="160020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0" name="Shape 7"/>
          <p:cNvSpPr/>
          <p:nvPr/>
        </p:nvSpPr>
        <p:spPr>
          <a:xfrm>
            <a:off x="4535424" y="1828800"/>
            <a:ext cx="603504" cy="603504"/>
          </a:xfrm>
          <a:prstGeom prst="ellipse">
            <a:avLst/>
          </a:prstGeom>
          <a:solidFill>
            <a:srgbClr val="FDEBDD"/>
          </a:solidFill>
          <a:ln w="12700">
            <a:solidFill>
              <a:srgbClr val="FDEBDD"/>
            </a:solidFill>
            <a:prstDash val="solid"/>
          </a:ln>
        </p:spPr>
        <p:txBody>
          <a:bodyPr/>
          <a:lstStyle/>
          <a:p>
            <a:endParaRPr lang="en-JP"/>
          </a:p>
        </p:txBody>
      </p:sp>
      <p:pic>
        <p:nvPicPr>
          <p:cNvPr id="11" name="Image 1" descr="preencoded.png"/>
          <p:cNvPicPr>
            <a:picLocks noChangeAspect="1"/>
          </p:cNvPicPr>
          <p:nvPr/>
        </p:nvPicPr>
        <p:blipFill>
          <a:blip r:embed="rId4"/>
          <a:stretch>
            <a:fillRect/>
          </a:stretch>
        </p:blipFill>
        <p:spPr>
          <a:xfrm>
            <a:off x="4680265" y="1973641"/>
            <a:ext cx="313822" cy="313822"/>
          </a:xfrm>
          <a:prstGeom prst="rect">
            <a:avLst/>
          </a:prstGeom>
        </p:spPr>
      </p:pic>
      <p:sp>
        <p:nvSpPr>
          <p:cNvPr id="12" name="Text 8"/>
          <p:cNvSpPr txBox="1"/>
          <p:nvPr/>
        </p:nvSpPr>
        <p:spPr>
          <a:xfrm>
            <a:off x="4535424" y="251460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Malicious ads</a:t>
            </a:r>
            <a:endParaRPr lang="en-US" sz="1700" dirty="0"/>
          </a:p>
        </p:txBody>
      </p:sp>
      <p:sp>
        <p:nvSpPr>
          <p:cNvPr id="13" name="Text 9"/>
          <p:cNvSpPr txBox="1"/>
          <p:nvPr/>
        </p:nvSpPr>
        <p:spPr>
          <a:xfrm>
            <a:off x="4535424" y="2843784"/>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Fake results at the top of search pages</a:t>
            </a:r>
            <a:endParaRPr lang="en-US" sz="1400" dirty="0"/>
          </a:p>
        </p:txBody>
      </p:sp>
      <p:sp>
        <p:nvSpPr>
          <p:cNvPr id="14" name="Shape 10"/>
          <p:cNvSpPr/>
          <p:nvPr/>
        </p:nvSpPr>
        <p:spPr>
          <a:xfrm>
            <a:off x="8065008" y="160020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5" name="Shape 11"/>
          <p:cNvSpPr/>
          <p:nvPr/>
        </p:nvSpPr>
        <p:spPr>
          <a:xfrm>
            <a:off x="8293608" y="1828800"/>
            <a:ext cx="603504" cy="603504"/>
          </a:xfrm>
          <a:prstGeom prst="ellipse">
            <a:avLst/>
          </a:prstGeom>
          <a:solidFill>
            <a:srgbClr val="FDEBDD"/>
          </a:solidFill>
          <a:ln w="12700">
            <a:solidFill>
              <a:srgbClr val="FDEBDD"/>
            </a:solidFill>
            <a:prstDash val="solid"/>
          </a:ln>
        </p:spPr>
        <p:txBody>
          <a:bodyPr/>
          <a:lstStyle/>
          <a:p>
            <a:endParaRPr lang="en-JP"/>
          </a:p>
        </p:txBody>
      </p:sp>
      <p:pic>
        <p:nvPicPr>
          <p:cNvPr id="16" name="Image 2" descr="preencoded.png"/>
          <p:cNvPicPr>
            <a:picLocks noChangeAspect="1"/>
          </p:cNvPicPr>
          <p:nvPr/>
        </p:nvPicPr>
        <p:blipFill>
          <a:blip r:embed="rId5"/>
          <a:stretch>
            <a:fillRect/>
          </a:stretch>
        </p:blipFill>
        <p:spPr>
          <a:xfrm>
            <a:off x="8438449" y="1973641"/>
            <a:ext cx="313822" cy="313822"/>
          </a:xfrm>
          <a:prstGeom prst="rect">
            <a:avLst/>
          </a:prstGeom>
        </p:spPr>
      </p:pic>
      <p:sp>
        <p:nvSpPr>
          <p:cNvPr id="17" name="Text 12"/>
          <p:cNvSpPr txBox="1"/>
          <p:nvPr/>
        </p:nvSpPr>
        <p:spPr>
          <a:xfrm>
            <a:off x="8293608" y="251460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Cracked software</a:t>
            </a:r>
            <a:endParaRPr lang="en-US" sz="1700" dirty="0"/>
          </a:p>
        </p:txBody>
      </p:sp>
      <p:sp>
        <p:nvSpPr>
          <p:cNvPr id="18" name="Text 13"/>
          <p:cNvSpPr txBox="1"/>
          <p:nvPr/>
        </p:nvSpPr>
        <p:spPr>
          <a:xfrm>
            <a:off x="8293608" y="2843784"/>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“Free” versions of paid apps and tools</a:t>
            </a:r>
            <a:endParaRPr lang="en-US" sz="1400" dirty="0"/>
          </a:p>
        </p:txBody>
      </p:sp>
      <p:sp>
        <p:nvSpPr>
          <p:cNvPr id="19" name="Shape 14"/>
          <p:cNvSpPr/>
          <p:nvPr/>
        </p:nvSpPr>
        <p:spPr>
          <a:xfrm>
            <a:off x="548640" y="338328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0" name="Shape 15"/>
          <p:cNvSpPr/>
          <p:nvPr/>
        </p:nvSpPr>
        <p:spPr>
          <a:xfrm>
            <a:off x="777240" y="3611880"/>
            <a:ext cx="603504" cy="603504"/>
          </a:xfrm>
          <a:prstGeom prst="ellipse">
            <a:avLst/>
          </a:prstGeom>
          <a:solidFill>
            <a:srgbClr val="FDEBDD"/>
          </a:solidFill>
          <a:ln w="12700">
            <a:solidFill>
              <a:srgbClr val="FDEBDD"/>
            </a:solidFill>
            <a:prstDash val="solid"/>
          </a:ln>
        </p:spPr>
        <p:txBody>
          <a:bodyPr/>
          <a:lstStyle/>
          <a:p>
            <a:endParaRPr lang="en-JP"/>
          </a:p>
        </p:txBody>
      </p:sp>
      <p:pic>
        <p:nvPicPr>
          <p:cNvPr id="21" name="Image 3" descr="preencoded.png"/>
          <p:cNvPicPr>
            <a:picLocks noChangeAspect="1"/>
          </p:cNvPicPr>
          <p:nvPr/>
        </p:nvPicPr>
        <p:blipFill>
          <a:blip r:embed="rId6"/>
          <a:stretch>
            <a:fillRect/>
          </a:stretch>
        </p:blipFill>
        <p:spPr>
          <a:xfrm>
            <a:off x="922081" y="3756721"/>
            <a:ext cx="313822" cy="313822"/>
          </a:xfrm>
          <a:prstGeom prst="rect">
            <a:avLst/>
          </a:prstGeom>
        </p:spPr>
      </p:pic>
      <p:sp>
        <p:nvSpPr>
          <p:cNvPr id="22" name="Text 16"/>
          <p:cNvSpPr txBox="1"/>
          <p:nvPr/>
        </p:nvSpPr>
        <p:spPr>
          <a:xfrm>
            <a:off x="777240" y="429768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Game mods and cheats</a:t>
            </a:r>
            <a:endParaRPr lang="en-US" sz="1700" dirty="0"/>
          </a:p>
        </p:txBody>
      </p:sp>
      <p:sp>
        <p:nvSpPr>
          <p:cNvPr id="23" name="Text 17"/>
          <p:cNvSpPr txBox="1"/>
          <p:nvPr/>
        </p:nvSpPr>
        <p:spPr>
          <a:xfrm>
            <a:off x="777240" y="4626864"/>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Cheats and mods from unofficial sites</a:t>
            </a:r>
            <a:endParaRPr lang="en-US" sz="1400" dirty="0"/>
          </a:p>
        </p:txBody>
      </p:sp>
      <p:sp>
        <p:nvSpPr>
          <p:cNvPr id="24" name="Shape 18"/>
          <p:cNvSpPr/>
          <p:nvPr/>
        </p:nvSpPr>
        <p:spPr>
          <a:xfrm>
            <a:off x="4306824" y="338328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5" name="Shape 19"/>
          <p:cNvSpPr/>
          <p:nvPr/>
        </p:nvSpPr>
        <p:spPr>
          <a:xfrm>
            <a:off x="4535424" y="3611880"/>
            <a:ext cx="603504" cy="603504"/>
          </a:xfrm>
          <a:prstGeom prst="ellipse">
            <a:avLst/>
          </a:prstGeom>
          <a:solidFill>
            <a:srgbClr val="FDEBDD"/>
          </a:solidFill>
          <a:ln w="12700">
            <a:solidFill>
              <a:srgbClr val="FDEBDD"/>
            </a:solidFill>
            <a:prstDash val="solid"/>
          </a:ln>
        </p:spPr>
        <p:txBody>
          <a:bodyPr/>
          <a:lstStyle/>
          <a:p>
            <a:endParaRPr lang="en-JP"/>
          </a:p>
        </p:txBody>
      </p:sp>
      <p:pic>
        <p:nvPicPr>
          <p:cNvPr id="26" name="Image 4" descr="preencoded.png"/>
          <p:cNvPicPr>
            <a:picLocks noChangeAspect="1"/>
          </p:cNvPicPr>
          <p:nvPr/>
        </p:nvPicPr>
        <p:blipFill>
          <a:blip r:embed="rId7"/>
          <a:stretch>
            <a:fillRect/>
          </a:stretch>
        </p:blipFill>
        <p:spPr>
          <a:xfrm>
            <a:off x="4680265" y="3756721"/>
            <a:ext cx="313822" cy="313822"/>
          </a:xfrm>
          <a:prstGeom prst="rect">
            <a:avLst/>
          </a:prstGeom>
        </p:spPr>
      </p:pic>
      <p:sp>
        <p:nvSpPr>
          <p:cNvPr id="27" name="Text 20"/>
          <p:cNvSpPr txBox="1"/>
          <p:nvPr/>
        </p:nvSpPr>
        <p:spPr>
          <a:xfrm>
            <a:off x="4535424" y="429768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Phishing messages</a:t>
            </a:r>
            <a:endParaRPr lang="en-US" sz="1700" dirty="0"/>
          </a:p>
        </p:txBody>
      </p:sp>
      <p:sp>
        <p:nvSpPr>
          <p:cNvPr id="28" name="Text 21"/>
          <p:cNvSpPr txBox="1"/>
          <p:nvPr/>
        </p:nvSpPr>
        <p:spPr>
          <a:xfrm>
            <a:off x="4535424" y="4626864"/>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Emails, chats and DMs with malicious links</a:t>
            </a:r>
            <a:endParaRPr lang="en-US" sz="1400" dirty="0"/>
          </a:p>
        </p:txBody>
      </p:sp>
      <p:sp>
        <p:nvSpPr>
          <p:cNvPr id="29" name="Shape 22"/>
          <p:cNvSpPr/>
          <p:nvPr/>
        </p:nvSpPr>
        <p:spPr>
          <a:xfrm>
            <a:off x="8065008" y="338328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30" name="Shape 23"/>
          <p:cNvSpPr/>
          <p:nvPr/>
        </p:nvSpPr>
        <p:spPr>
          <a:xfrm>
            <a:off x="8293608" y="3611880"/>
            <a:ext cx="603504" cy="603504"/>
          </a:xfrm>
          <a:prstGeom prst="ellipse">
            <a:avLst/>
          </a:prstGeom>
          <a:solidFill>
            <a:srgbClr val="FDEBDD"/>
          </a:solidFill>
          <a:ln w="12700">
            <a:solidFill>
              <a:srgbClr val="FDEBDD"/>
            </a:solidFill>
            <a:prstDash val="solid"/>
          </a:ln>
        </p:spPr>
        <p:txBody>
          <a:bodyPr/>
          <a:lstStyle/>
          <a:p>
            <a:endParaRPr lang="en-JP"/>
          </a:p>
        </p:txBody>
      </p:sp>
      <p:pic>
        <p:nvPicPr>
          <p:cNvPr id="31" name="Image 5" descr="preencoded.png"/>
          <p:cNvPicPr>
            <a:picLocks noChangeAspect="1"/>
          </p:cNvPicPr>
          <p:nvPr/>
        </p:nvPicPr>
        <p:blipFill>
          <a:blip r:embed="rId8"/>
          <a:stretch>
            <a:fillRect/>
          </a:stretch>
        </p:blipFill>
        <p:spPr>
          <a:xfrm>
            <a:off x="8438449" y="3756721"/>
            <a:ext cx="313822" cy="313822"/>
          </a:xfrm>
          <a:prstGeom prst="rect">
            <a:avLst/>
          </a:prstGeom>
        </p:spPr>
      </p:pic>
      <p:sp>
        <p:nvSpPr>
          <p:cNvPr id="32" name="Text 24"/>
          <p:cNvSpPr txBox="1"/>
          <p:nvPr/>
        </p:nvSpPr>
        <p:spPr>
          <a:xfrm>
            <a:off x="8293608" y="429768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Fake updates</a:t>
            </a:r>
            <a:endParaRPr lang="en-US" sz="1700" dirty="0"/>
          </a:p>
        </p:txBody>
      </p:sp>
      <p:sp>
        <p:nvSpPr>
          <p:cNvPr id="33" name="Text 25"/>
          <p:cNvSpPr txBox="1"/>
          <p:nvPr/>
        </p:nvSpPr>
        <p:spPr>
          <a:xfrm>
            <a:off x="8293608" y="4626864"/>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Fake “browser out of date” pop-ups</a:t>
            </a:r>
            <a:endParaRPr lang="en-US" sz="1400" dirty="0"/>
          </a:p>
        </p:txBody>
      </p:sp>
      <p:sp>
        <p:nvSpPr>
          <p:cNvPr id="34" name="Shape 26"/>
          <p:cNvSpPr/>
          <p:nvPr/>
        </p:nvSpPr>
        <p:spPr>
          <a:xfrm>
            <a:off x="548640" y="5257800"/>
            <a:ext cx="11091672" cy="777240"/>
          </a:xfrm>
          <a:prstGeom prst="roundRect">
            <a:avLst>
              <a:gd name="adj" fmla="val 14118"/>
            </a:avLst>
          </a:prstGeom>
          <a:solidFill>
            <a:srgbClr val="0A1628"/>
          </a:solidFill>
          <a:ln w="12700">
            <a:solidFill>
              <a:srgbClr val="0A1628"/>
            </a:solidFill>
            <a:prstDash val="solid"/>
          </a:ln>
        </p:spPr>
        <p:txBody>
          <a:bodyPr/>
          <a:lstStyle/>
          <a:p>
            <a:endParaRPr lang="en-JP"/>
          </a:p>
        </p:txBody>
      </p:sp>
      <p:sp>
        <p:nvSpPr>
          <p:cNvPr id="35" name="Shape 27"/>
          <p:cNvSpPr/>
          <p:nvPr/>
        </p:nvSpPr>
        <p:spPr>
          <a:xfrm>
            <a:off x="777240" y="5394960"/>
            <a:ext cx="502920" cy="502920"/>
          </a:xfrm>
          <a:prstGeom prst="ellipse">
            <a:avLst/>
          </a:prstGeom>
          <a:solidFill>
            <a:srgbClr val="00B7C3"/>
          </a:solidFill>
          <a:ln w="12700">
            <a:solidFill>
              <a:srgbClr val="00B7C3"/>
            </a:solidFill>
            <a:prstDash val="solid"/>
          </a:ln>
        </p:spPr>
        <p:txBody>
          <a:bodyPr/>
          <a:lstStyle/>
          <a:p>
            <a:endParaRPr lang="en-JP"/>
          </a:p>
        </p:txBody>
      </p:sp>
      <p:pic>
        <p:nvPicPr>
          <p:cNvPr id="36" name="Image 6" descr="preencoded.png"/>
          <p:cNvPicPr>
            <a:picLocks noChangeAspect="1"/>
          </p:cNvPicPr>
          <p:nvPr/>
        </p:nvPicPr>
        <p:blipFill>
          <a:blip r:embed="rId9"/>
          <a:stretch>
            <a:fillRect/>
          </a:stretch>
        </p:blipFill>
        <p:spPr>
          <a:xfrm>
            <a:off x="897941" y="5515661"/>
            <a:ext cx="261518" cy="261518"/>
          </a:xfrm>
          <a:prstGeom prst="rect">
            <a:avLst/>
          </a:prstGeom>
        </p:spPr>
      </p:pic>
      <p:sp>
        <p:nvSpPr>
          <p:cNvPr id="37" name="Text 28"/>
          <p:cNvSpPr txBox="1"/>
          <p:nvPr/>
        </p:nvSpPr>
        <p:spPr>
          <a:xfrm>
            <a:off x="1508760" y="5257800"/>
            <a:ext cx="9966960" cy="77724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COMMON THREAD   </a:t>
            </a:r>
            <a:r>
              <a:rPr lang="en-US" sz="1700" dirty="0">
                <a:solidFill>
                  <a:srgbClr val="FFFFFF"/>
                </a:solidFill>
                <a:latin typeface="Calibri" pitchFamily="34" charset="0"/>
                <a:ea typeface="Calibri" pitchFamily="34" charset="-122"/>
                <a:cs typeface="Calibri" pitchFamily="34" charset="-120"/>
              </a:rPr>
              <a:t>You are tricked into running something yourself.</a:t>
            </a:r>
            <a:endParaRPr lang="en-US" sz="1200" dirty="0"/>
          </a:p>
        </p:txBody>
      </p:sp>
      <p:sp>
        <p:nvSpPr>
          <p:cNvPr id="38"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B7C3"/>
                </a:solidFill>
                <a:latin typeface="Calibri" pitchFamily="34" charset="0"/>
                <a:ea typeface="Calibri" pitchFamily="34" charset="-122"/>
                <a:cs typeface="Calibri" pitchFamily="34" charset="-120"/>
              </a:rPr>
              <a:t>04  ·  THE CLICKFIX TRICK</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The fake CAPTCHA / ClickFix trick</a:t>
            </a:r>
            <a:endParaRPr lang="en-US" sz="3600" dirty="0"/>
          </a:p>
        </p:txBody>
      </p:sp>
      <p:sp>
        <p:nvSpPr>
          <p:cNvPr id="4" name="Shape 2"/>
          <p:cNvSpPr/>
          <p:nvPr/>
        </p:nvSpPr>
        <p:spPr>
          <a:xfrm>
            <a:off x="548640" y="1600200"/>
            <a:ext cx="5120640" cy="3886200"/>
          </a:xfrm>
          <a:prstGeom prst="roundRect">
            <a:avLst>
              <a:gd name="adj" fmla="val 2824"/>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5" name="Shape 3"/>
          <p:cNvSpPr/>
          <p:nvPr/>
        </p:nvSpPr>
        <p:spPr>
          <a:xfrm>
            <a:off x="548640" y="1600200"/>
            <a:ext cx="5120640" cy="457200"/>
          </a:xfrm>
          <a:prstGeom prst="rect">
            <a:avLst/>
          </a:prstGeom>
          <a:solidFill>
            <a:srgbClr val="1E4E80"/>
          </a:solidFill>
          <a:ln w="12700">
            <a:solidFill>
              <a:srgbClr val="1E4E80"/>
            </a:solidFill>
            <a:prstDash val="solid"/>
          </a:ln>
        </p:spPr>
        <p:txBody>
          <a:bodyPr/>
          <a:lstStyle/>
          <a:p>
            <a:endParaRPr lang="en-JP"/>
          </a:p>
        </p:txBody>
      </p:sp>
      <p:sp>
        <p:nvSpPr>
          <p:cNvPr id="6" name="Text 4"/>
          <p:cNvSpPr txBox="1"/>
          <p:nvPr/>
        </p:nvSpPr>
        <p:spPr>
          <a:xfrm>
            <a:off x="777240" y="1600200"/>
            <a:ext cx="365760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Verify you are human</a:t>
            </a:r>
            <a:endParaRPr lang="en-US" sz="1400" dirty="0"/>
          </a:p>
        </p:txBody>
      </p:sp>
      <p:sp>
        <p:nvSpPr>
          <p:cNvPr id="7" name="Shape 5"/>
          <p:cNvSpPr/>
          <p:nvPr/>
        </p:nvSpPr>
        <p:spPr>
          <a:xfrm>
            <a:off x="4343400" y="1691640"/>
            <a:ext cx="1188720" cy="292608"/>
          </a:xfrm>
          <a:prstGeom prst="roundRect">
            <a:avLst>
              <a:gd name="adj" fmla="val 50000"/>
            </a:avLst>
          </a:prstGeom>
          <a:solidFill>
            <a:srgbClr val="F7630C"/>
          </a:solidFill>
          <a:ln w="12700">
            <a:solidFill>
              <a:srgbClr val="F7630C"/>
            </a:solidFill>
            <a:prstDash val="solid"/>
          </a:ln>
        </p:spPr>
        <p:txBody>
          <a:bodyPr/>
          <a:lstStyle/>
          <a:p>
            <a:endParaRPr lang="en-JP"/>
          </a:p>
        </p:txBody>
      </p:sp>
      <p:sp>
        <p:nvSpPr>
          <p:cNvPr id="8" name="Text 6"/>
          <p:cNvSpPr txBox="1"/>
          <p:nvPr/>
        </p:nvSpPr>
        <p:spPr>
          <a:xfrm>
            <a:off x="4343400" y="1691640"/>
            <a:ext cx="11887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FAKE PAGE</a:t>
            </a:r>
            <a:endParaRPr lang="en-US" sz="1100" dirty="0"/>
          </a:p>
        </p:txBody>
      </p:sp>
      <p:sp>
        <p:nvSpPr>
          <p:cNvPr id="9" name="Shape 7"/>
          <p:cNvSpPr/>
          <p:nvPr/>
        </p:nvSpPr>
        <p:spPr>
          <a:xfrm>
            <a:off x="868680" y="2331720"/>
            <a:ext cx="347472" cy="347472"/>
          </a:xfrm>
          <a:prstGeom prst="rect">
            <a:avLst/>
          </a:prstGeom>
          <a:solidFill>
            <a:srgbClr val="FFFFFF"/>
          </a:solidFill>
          <a:ln w="25400">
            <a:solidFill>
              <a:srgbClr val="0078D4"/>
            </a:solidFill>
            <a:prstDash val="solid"/>
          </a:ln>
        </p:spPr>
        <p:txBody>
          <a:bodyPr/>
          <a:lstStyle/>
          <a:p>
            <a:endParaRPr lang="en-JP"/>
          </a:p>
        </p:txBody>
      </p:sp>
      <p:pic>
        <p:nvPicPr>
          <p:cNvPr id="10" name="Image 0" descr="preencoded.png"/>
          <p:cNvPicPr>
            <a:picLocks noChangeAspect="1"/>
          </p:cNvPicPr>
          <p:nvPr/>
        </p:nvPicPr>
        <p:blipFill>
          <a:blip r:embed="rId3"/>
          <a:stretch>
            <a:fillRect/>
          </a:stretch>
        </p:blipFill>
        <p:spPr>
          <a:xfrm>
            <a:off x="914400" y="2377440"/>
            <a:ext cx="256032" cy="256032"/>
          </a:xfrm>
          <a:prstGeom prst="rect">
            <a:avLst/>
          </a:prstGeom>
        </p:spPr>
      </p:pic>
      <p:sp>
        <p:nvSpPr>
          <p:cNvPr id="11" name="Text 8"/>
          <p:cNvSpPr txBox="1"/>
          <p:nvPr/>
        </p:nvSpPr>
        <p:spPr>
          <a:xfrm>
            <a:off x="1371600" y="2286000"/>
            <a:ext cx="3200400" cy="438912"/>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I'm not a robot</a:t>
            </a:r>
            <a:endParaRPr lang="en-US" sz="1600" dirty="0"/>
          </a:p>
        </p:txBody>
      </p:sp>
      <p:sp>
        <p:nvSpPr>
          <p:cNvPr id="12" name="Shape 9"/>
          <p:cNvSpPr/>
          <p:nvPr/>
        </p:nvSpPr>
        <p:spPr>
          <a:xfrm>
            <a:off x="868680" y="2880360"/>
            <a:ext cx="4480560" cy="1874520"/>
          </a:xfrm>
          <a:prstGeom prst="roundRect">
            <a:avLst>
              <a:gd name="adj" fmla="val 5854"/>
            </a:avLst>
          </a:prstGeom>
          <a:solidFill>
            <a:srgbClr val="EAF3FC"/>
          </a:solidFill>
          <a:ln w="12700">
            <a:solidFill>
              <a:srgbClr val="EAF3FC"/>
            </a:solidFill>
            <a:prstDash val="solid"/>
          </a:ln>
        </p:spPr>
        <p:txBody>
          <a:bodyPr/>
          <a:lstStyle/>
          <a:p>
            <a:endParaRPr lang="en-JP"/>
          </a:p>
        </p:txBody>
      </p:sp>
      <p:sp>
        <p:nvSpPr>
          <p:cNvPr id="13" name="Text 10"/>
          <p:cNvSpPr txBox="1"/>
          <p:nvPr/>
        </p:nvSpPr>
        <p:spPr>
          <a:xfrm>
            <a:off x="1051560" y="2971800"/>
            <a:ext cx="4114800" cy="320040"/>
          </a:xfrm>
          <a:prstGeom prst="rect">
            <a:avLst/>
          </a:prstGeom>
          <a:noFill/>
          <a:ln/>
        </p:spPr>
        <p:txBody>
          <a:bodyPr wrap="square" lIns="0" tIns="0" rIns="0" bIns="0" rtlCol="0" anchor="ctr"/>
          <a:lstStyle/>
          <a:p>
            <a:pPr marL="0" indent="0">
              <a:buNone/>
            </a:pPr>
            <a:r>
              <a:rPr lang="en-US" sz="1400" b="1" dirty="0">
                <a:solidFill>
                  <a:srgbClr val="0B1F33"/>
                </a:solidFill>
                <a:latin typeface="Calibri" pitchFamily="34" charset="0"/>
                <a:ea typeface="Calibri" pitchFamily="34" charset="-122"/>
                <a:cs typeface="Calibri" pitchFamily="34" charset="-120"/>
              </a:rPr>
              <a:t>To finish verification:</a:t>
            </a:r>
            <a:endParaRPr lang="en-US" sz="1400" dirty="0"/>
          </a:p>
        </p:txBody>
      </p:sp>
      <p:sp>
        <p:nvSpPr>
          <p:cNvPr id="14" name="Shape 11"/>
          <p:cNvSpPr/>
          <p:nvPr/>
        </p:nvSpPr>
        <p:spPr>
          <a:xfrm>
            <a:off x="1051560" y="3364992"/>
            <a:ext cx="347472" cy="347472"/>
          </a:xfrm>
          <a:prstGeom prst="ellipse">
            <a:avLst/>
          </a:prstGeom>
          <a:solidFill>
            <a:srgbClr val="0078D4"/>
          </a:solidFill>
          <a:ln w="12700">
            <a:solidFill>
              <a:srgbClr val="0078D4"/>
            </a:solidFill>
            <a:prstDash val="solid"/>
          </a:ln>
        </p:spPr>
        <p:txBody>
          <a:bodyPr/>
          <a:lstStyle/>
          <a:p>
            <a:endParaRPr lang="en-JP"/>
          </a:p>
        </p:txBody>
      </p:sp>
      <p:sp>
        <p:nvSpPr>
          <p:cNvPr id="15" name="Text 12"/>
          <p:cNvSpPr txBox="1"/>
          <p:nvPr/>
        </p:nvSpPr>
        <p:spPr>
          <a:xfrm>
            <a:off x="1051560" y="3364992"/>
            <a:ext cx="347472"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6" name="Text 13"/>
          <p:cNvSpPr txBox="1"/>
          <p:nvPr/>
        </p:nvSpPr>
        <p:spPr>
          <a:xfrm>
            <a:off x="1554480" y="3364992"/>
            <a:ext cx="3566160" cy="347472"/>
          </a:xfrm>
          <a:prstGeom prst="rect">
            <a:avLst/>
          </a:prstGeom>
          <a:noFill/>
          <a:ln/>
        </p:spPr>
        <p:txBody>
          <a:bodyPr wrap="square" lIns="0" tIns="0" rIns="0" bIns="0" rtlCol="0" anchor="ctr"/>
          <a:lstStyle/>
          <a:p>
            <a:pPr marL="0" indent="0">
              <a:buNone/>
            </a:pPr>
            <a:r>
              <a:rPr lang="en-US" sz="1500" dirty="0">
                <a:solidFill>
                  <a:srgbClr val="0B1F33"/>
                </a:solidFill>
                <a:latin typeface="Calibri" pitchFamily="34" charset="0"/>
                <a:ea typeface="Calibri" pitchFamily="34" charset="-122"/>
                <a:cs typeface="Calibri" pitchFamily="34" charset="-120"/>
              </a:rPr>
              <a:t>Press  Windows + R</a:t>
            </a:r>
            <a:endParaRPr lang="en-US" sz="1500" dirty="0"/>
          </a:p>
        </p:txBody>
      </p:sp>
      <p:sp>
        <p:nvSpPr>
          <p:cNvPr id="17" name="Shape 14"/>
          <p:cNvSpPr/>
          <p:nvPr/>
        </p:nvSpPr>
        <p:spPr>
          <a:xfrm>
            <a:off x="1051560" y="3822192"/>
            <a:ext cx="347472" cy="347472"/>
          </a:xfrm>
          <a:prstGeom prst="ellipse">
            <a:avLst/>
          </a:prstGeom>
          <a:solidFill>
            <a:srgbClr val="0078D4"/>
          </a:solidFill>
          <a:ln w="12700">
            <a:solidFill>
              <a:srgbClr val="0078D4"/>
            </a:solidFill>
            <a:prstDash val="solid"/>
          </a:ln>
        </p:spPr>
        <p:txBody>
          <a:bodyPr/>
          <a:lstStyle/>
          <a:p>
            <a:endParaRPr lang="en-JP"/>
          </a:p>
        </p:txBody>
      </p:sp>
      <p:sp>
        <p:nvSpPr>
          <p:cNvPr id="18" name="Text 15"/>
          <p:cNvSpPr txBox="1"/>
          <p:nvPr/>
        </p:nvSpPr>
        <p:spPr>
          <a:xfrm>
            <a:off x="1051560" y="3822192"/>
            <a:ext cx="347472"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9" name="Text 16"/>
          <p:cNvSpPr txBox="1"/>
          <p:nvPr/>
        </p:nvSpPr>
        <p:spPr>
          <a:xfrm>
            <a:off x="1554480" y="3822192"/>
            <a:ext cx="3566160" cy="347472"/>
          </a:xfrm>
          <a:prstGeom prst="rect">
            <a:avLst/>
          </a:prstGeom>
          <a:noFill/>
          <a:ln/>
        </p:spPr>
        <p:txBody>
          <a:bodyPr wrap="square" lIns="0" tIns="0" rIns="0" bIns="0" rtlCol="0" anchor="ctr"/>
          <a:lstStyle/>
          <a:p>
            <a:pPr marL="0" indent="0">
              <a:buNone/>
            </a:pPr>
            <a:r>
              <a:rPr lang="en-US" sz="1500" dirty="0">
                <a:solidFill>
                  <a:srgbClr val="0B1F33"/>
                </a:solidFill>
                <a:latin typeface="Calibri" pitchFamily="34" charset="0"/>
                <a:ea typeface="Calibri" pitchFamily="34" charset="-122"/>
                <a:cs typeface="Calibri" pitchFamily="34" charset="-120"/>
              </a:rPr>
              <a:t>Press  Ctrl + V</a:t>
            </a:r>
            <a:endParaRPr lang="en-US" sz="1500" dirty="0"/>
          </a:p>
        </p:txBody>
      </p:sp>
      <p:sp>
        <p:nvSpPr>
          <p:cNvPr id="20" name="Shape 17"/>
          <p:cNvSpPr/>
          <p:nvPr/>
        </p:nvSpPr>
        <p:spPr>
          <a:xfrm>
            <a:off x="1051560" y="4279392"/>
            <a:ext cx="347472" cy="347472"/>
          </a:xfrm>
          <a:prstGeom prst="ellipse">
            <a:avLst/>
          </a:prstGeom>
          <a:solidFill>
            <a:srgbClr val="0078D4"/>
          </a:solidFill>
          <a:ln w="12700">
            <a:solidFill>
              <a:srgbClr val="0078D4"/>
            </a:solidFill>
            <a:prstDash val="solid"/>
          </a:ln>
        </p:spPr>
        <p:txBody>
          <a:bodyPr/>
          <a:lstStyle/>
          <a:p>
            <a:endParaRPr lang="en-JP"/>
          </a:p>
        </p:txBody>
      </p:sp>
      <p:sp>
        <p:nvSpPr>
          <p:cNvPr id="21" name="Text 18"/>
          <p:cNvSpPr txBox="1"/>
          <p:nvPr/>
        </p:nvSpPr>
        <p:spPr>
          <a:xfrm>
            <a:off x="1051560" y="4279392"/>
            <a:ext cx="347472"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2" name="Text 19"/>
          <p:cNvSpPr txBox="1"/>
          <p:nvPr/>
        </p:nvSpPr>
        <p:spPr>
          <a:xfrm>
            <a:off x="1554480" y="4279392"/>
            <a:ext cx="3566160" cy="347472"/>
          </a:xfrm>
          <a:prstGeom prst="rect">
            <a:avLst/>
          </a:prstGeom>
          <a:noFill/>
          <a:ln/>
        </p:spPr>
        <p:txBody>
          <a:bodyPr wrap="square" lIns="0" tIns="0" rIns="0" bIns="0" rtlCol="0" anchor="ctr"/>
          <a:lstStyle/>
          <a:p>
            <a:pPr marL="0" indent="0">
              <a:buNone/>
            </a:pPr>
            <a:r>
              <a:rPr lang="en-US" sz="1500" dirty="0">
                <a:solidFill>
                  <a:srgbClr val="0B1F33"/>
                </a:solidFill>
                <a:latin typeface="Calibri" pitchFamily="34" charset="0"/>
                <a:ea typeface="Calibri" pitchFamily="34" charset="-122"/>
                <a:cs typeface="Calibri" pitchFamily="34" charset="-120"/>
              </a:rPr>
              <a:t>Press  Enter</a:t>
            </a:r>
            <a:endParaRPr lang="en-US" sz="1500" dirty="0"/>
          </a:p>
        </p:txBody>
      </p:sp>
      <p:sp>
        <p:nvSpPr>
          <p:cNvPr id="23" name="Shape 20"/>
          <p:cNvSpPr/>
          <p:nvPr/>
        </p:nvSpPr>
        <p:spPr>
          <a:xfrm>
            <a:off x="868680" y="4892040"/>
            <a:ext cx="1554480" cy="411480"/>
          </a:xfrm>
          <a:prstGeom prst="roundRect">
            <a:avLst>
              <a:gd name="adj" fmla="val 17778"/>
            </a:avLst>
          </a:prstGeom>
          <a:solidFill>
            <a:srgbClr val="0078D4"/>
          </a:solidFill>
          <a:ln w="12700">
            <a:solidFill>
              <a:srgbClr val="0078D4"/>
            </a:solidFill>
            <a:prstDash val="solid"/>
          </a:ln>
        </p:spPr>
        <p:txBody>
          <a:bodyPr/>
          <a:lstStyle/>
          <a:p>
            <a:endParaRPr lang="en-JP"/>
          </a:p>
        </p:txBody>
      </p:sp>
      <p:sp>
        <p:nvSpPr>
          <p:cNvPr id="24" name="Text 21"/>
          <p:cNvSpPr txBox="1"/>
          <p:nvPr/>
        </p:nvSpPr>
        <p:spPr>
          <a:xfrm>
            <a:off x="868680" y="4892040"/>
            <a:ext cx="1554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Verify</a:t>
            </a:r>
            <a:endParaRPr lang="en-US" sz="1400" dirty="0"/>
          </a:p>
        </p:txBody>
      </p:sp>
      <p:sp>
        <p:nvSpPr>
          <p:cNvPr id="25" name="Shape 22"/>
          <p:cNvSpPr/>
          <p:nvPr/>
        </p:nvSpPr>
        <p:spPr>
          <a:xfrm>
            <a:off x="6035040" y="1600200"/>
            <a:ext cx="5605272" cy="868680"/>
          </a:xfrm>
          <a:prstGeom prst="roundRect">
            <a:avLst>
              <a:gd name="adj" fmla="val 12632"/>
            </a:avLst>
          </a:prstGeom>
          <a:solidFill>
            <a:srgbClr val="13294B"/>
          </a:solidFill>
          <a:ln w="12700">
            <a:solidFill>
              <a:srgbClr val="13294B"/>
            </a:solidFill>
            <a:prstDash val="solid"/>
          </a:ln>
        </p:spPr>
        <p:txBody>
          <a:bodyPr/>
          <a:lstStyle/>
          <a:p>
            <a:endParaRPr lang="en-JP"/>
          </a:p>
        </p:txBody>
      </p:sp>
      <p:sp>
        <p:nvSpPr>
          <p:cNvPr id="26" name="Shape 23"/>
          <p:cNvSpPr/>
          <p:nvPr/>
        </p:nvSpPr>
        <p:spPr>
          <a:xfrm>
            <a:off x="6236208" y="1801368"/>
            <a:ext cx="457200" cy="457200"/>
          </a:xfrm>
          <a:prstGeom prst="ellipse">
            <a:avLst/>
          </a:prstGeom>
          <a:solidFill>
            <a:srgbClr val="00B7C3"/>
          </a:solidFill>
          <a:ln w="12700">
            <a:solidFill>
              <a:srgbClr val="00B7C3"/>
            </a:solidFill>
            <a:prstDash val="solid"/>
          </a:ln>
        </p:spPr>
        <p:txBody>
          <a:bodyPr/>
          <a:lstStyle/>
          <a:p>
            <a:endParaRPr lang="en-JP"/>
          </a:p>
        </p:txBody>
      </p:sp>
      <p:sp>
        <p:nvSpPr>
          <p:cNvPr id="27" name="Text 24"/>
          <p:cNvSpPr txBox="1"/>
          <p:nvPr/>
        </p:nvSpPr>
        <p:spPr>
          <a:xfrm>
            <a:off x="6236208" y="1801368"/>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Arial" pitchFamily="34" charset="0"/>
                <a:ea typeface="Arial" pitchFamily="34" charset="-122"/>
                <a:cs typeface="Arial" pitchFamily="34" charset="-120"/>
              </a:rPr>
              <a:t>1</a:t>
            </a:r>
            <a:endParaRPr lang="en-US" sz="1600" dirty="0"/>
          </a:p>
        </p:txBody>
      </p:sp>
      <p:sp>
        <p:nvSpPr>
          <p:cNvPr id="28" name="Text 25"/>
          <p:cNvSpPr txBox="1"/>
          <p:nvPr/>
        </p:nvSpPr>
        <p:spPr>
          <a:xfrm>
            <a:off x="6903720" y="1673352"/>
            <a:ext cx="4572000"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The lure</a:t>
            </a:r>
            <a:endParaRPr lang="en-US" sz="1600" dirty="0"/>
          </a:p>
        </p:txBody>
      </p:sp>
      <p:sp>
        <p:nvSpPr>
          <p:cNvPr id="29" name="Text 26"/>
          <p:cNvSpPr txBox="1"/>
          <p:nvPr/>
        </p:nvSpPr>
        <p:spPr>
          <a:xfrm>
            <a:off x="6903720" y="2011680"/>
            <a:ext cx="457200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 compromised site, malicious ad or fake download leads you to the page.</a:t>
            </a:r>
            <a:endParaRPr lang="en-US" sz="1300" dirty="0"/>
          </a:p>
        </p:txBody>
      </p:sp>
      <p:sp>
        <p:nvSpPr>
          <p:cNvPr id="30" name="Shape 27"/>
          <p:cNvSpPr/>
          <p:nvPr/>
        </p:nvSpPr>
        <p:spPr>
          <a:xfrm>
            <a:off x="6035040" y="2587752"/>
            <a:ext cx="5605272" cy="868680"/>
          </a:xfrm>
          <a:prstGeom prst="roundRect">
            <a:avLst>
              <a:gd name="adj" fmla="val 12632"/>
            </a:avLst>
          </a:prstGeom>
          <a:solidFill>
            <a:srgbClr val="13294B"/>
          </a:solidFill>
          <a:ln w="12700">
            <a:solidFill>
              <a:srgbClr val="13294B"/>
            </a:solidFill>
            <a:prstDash val="solid"/>
          </a:ln>
        </p:spPr>
        <p:txBody>
          <a:bodyPr/>
          <a:lstStyle/>
          <a:p>
            <a:endParaRPr lang="en-JP"/>
          </a:p>
        </p:txBody>
      </p:sp>
      <p:sp>
        <p:nvSpPr>
          <p:cNvPr id="31" name="Shape 28"/>
          <p:cNvSpPr/>
          <p:nvPr/>
        </p:nvSpPr>
        <p:spPr>
          <a:xfrm>
            <a:off x="6236208" y="2788920"/>
            <a:ext cx="457200" cy="457200"/>
          </a:xfrm>
          <a:prstGeom prst="ellipse">
            <a:avLst/>
          </a:prstGeom>
          <a:solidFill>
            <a:srgbClr val="00B7C3"/>
          </a:solidFill>
          <a:ln w="12700">
            <a:solidFill>
              <a:srgbClr val="00B7C3"/>
            </a:solidFill>
            <a:prstDash val="solid"/>
          </a:ln>
        </p:spPr>
        <p:txBody>
          <a:bodyPr/>
          <a:lstStyle/>
          <a:p>
            <a:endParaRPr lang="en-JP"/>
          </a:p>
        </p:txBody>
      </p:sp>
      <p:sp>
        <p:nvSpPr>
          <p:cNvPr id="32" name="Text 29"/>
          <p:cNvSpPr txBox="1"/>
          <p:nvPr/>
        </p:nvSpPr>
        <p:spPr>
          <a:xfrm>
            <a:off x="6236208" y="2788920"/>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Arial" pitchFamily="34" charset="0"/>
                <a:ea typeface="Arial" pitchFamily="34" charset="-122"/>
                <a:cs typeface="Arial" pitchFamily="34" charset="-120"/>
              </a:rPr>
              <a:t>2</a:t>
            </a:r>
            <a:endParaRPr lang="en-US" sz="1600" dirty="0"/>
          </a:p>
        </p:txBody>
      </p:sp>
      <p:sp>
        <p:nvSpPr>
          <p:cNvPr id="33" name="Text 30"/>
          <p:cNvSpPr txBox="1"/>
          <p:nvPr/>
        </p:nvSpPr>
        <p:spPr>
          <a:xfrm>
            <a:off x="6903720" y="2660904"/>
            <a:ext cx="4572000"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Fake verification</a:t>
            </a:r>
            <a:endParaRPr lang="en-US" sz="1600" dirty="0"/>
          </a:p>
        </p:txBody>
      </p:sp>
      <p:sp>
        <p:nvSpPr>
          <p:cNvPr id="34" name="Text 31"/>
          <p:cNvSpPr txBox="1"/>
          <p:nvPr/>
        </p:nvSpPr>
        <p:spPr>
          <a:xfrm>
            <a:off x="6903720" y="2999232"/>
            <a:ext cx="457200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 “prove you’re human” box shows unusual keyboard steps.</a:t>
            </a:r>
            <a:endParaRPr lang="en-US" sz="1300" dirty="0"/>
          </a:p>
        </p:txBody>
      </p:sp>
      <p:sp>
        <p:nvSpPr>
          <p:cNvPr id="35" name="Shape 32"/>
          <p:cNvSpPr/>
          <p:nvPr/>
        </p:nvSpPr>
        <p:spPr>
          <a:xfrm>
            <a:off x="6035040" y="3575304"/>
            <a:ext cx="5605272" cy="868680"/>
          </a:xfrm>
          <a:prstGeom prst="roundRect">
            <a:avLst>
              <a:gd name="adj" fmla="val 12632"/>
            </a:avLst>
          </a:prstGeom>
          <a:solidFill>
            <a:srgbClr val="13294B"/>
          </a:solidFill>
          <a:ln w="12700">
            <a:solidFill>
              <a:srgbClr val="13294B"/>
            </a:solidFill>
            <a:prstDash val="solid"/>
          </a:ln>
        </p:spPr>
        <p:txBody>
          <a:bodyPr/>
          <a:lstStyle/>
          <a:p>
            <a:endParaRPr lang="en-JP"/>
          </a:p>
        </p:txBody>
      </p:sp>
      <p:sp>
        <p:nvSpPr>
          <p:cNvPr id="36" name="Shape 33"/>
          <p:cNvSpPr/>
          <p:nvPr/>
        </p:nvSpPr>
        <p:spPr>
          <a:xfrm>
            <a:off x="6236208" y="3776472"/>
            <a:ext cx="457200" cy="457200"/>
          </a:xfrm>
          <a:prstGeom prst="ellipse">
            <a:avLst/>
          </a:prstGeom>
          <a:solidFill>
            <a:srgbClr val="00B7C3"/>
          </a:solidFill>
          <a:ln w="12700">
            <a:solidFill>
              <a:srgbClr val="00B7C3"/>
            </a:solidFill>
            <a:prstDash val="solid"/>
          </a:ln>
        </p:spPr>
        <p:txBody>
          <a:bodyPr/>
          <a:lstStyle/>
          <a:p>
            <a:endParaRPr lang="en-JP"/>
          </a:p>
        </p:txBody>
      </p:sp>
      <p:sp>
        <p:nvSpPr>
          <p:cNvPr id="37" name="Text 34"/>
          <p:cNvSpPr txBox="1"/>
          <p:nvPr/>
        </p:nvSpPr>
        <p:spPr>
          <a:xfrm>
            <a:off x="6236208" y="3776472"/>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Arial" pitchFamily="34" charset="0"/>
                <a:ea typeface="Arial" pitchFamily="34" charset="-122"/>
                <a:cs typeface="Arial" pitchFamily="34" charset="-120"/>
              </a:rPr>
              <a:t>3</a:t>
            </a:r>
            <a:endParaRPr lang="en-US" sz="1600" dirty="0"/>
          </a:p>
        </p:txBody>
      </p:sp>
      <p:sp>
        <p:nvSpPr>
          <p:cNvPr id="38" name="Text 35"/>
          <p:cNvSpPr txBox="1"/>
          <p:nvPr/>
        </p:nvSpPr>
        <p:spPr>
          <a:xfrm>
            <a:off x="6903720" y="3648456"/>
            <a:ext cx="4572000"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Hidden command</a:t>
            </a:r>
            <a:endParaRPr lang="en-US" sz="1600" dirty="0"/>
          </a:p>
        </p:txBody>
      </p:sp>
      <p:sp>
        <p:nvSpPr>
          <p:cNvPr id="39" name="Text 36"/>
          <p:cNvSpPr txBox="1"/>
          <p:nvPr/>
        </p:nvSpPr>
        <p:spPr>
          <a:xfrm>
            <a:off x="6903720" y="3986784"/>
            <a:ext cx="457200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The page has silently copied a malicious command to your clipboard.</a:t>
            </a:r>
            <a:endParaRPr lang="en-US" sz="1300" dirty="0"/>
          </a:p>
        </p:txBody>
      </p:sp>
      <p:sp>
        <p:nvSpPr>
          <p:cNvPr id="40" name="Shape 37"/>
          <p:cNvSpPr/>
          <p:nvPr/>
        </p:nvSpPr>
        <p:spPr>
          <a:xfrm>
            <a:off x="6035040" y="4562856"/>
            <a:ext cx="5605272" cy="868680"/>
          </a:xfrm>
          <a:prstGeom prst="roundRect">
            <a:avLst>
              <a:gd name="adj" fmla="val 12632"/>
            </a:avLst>
          </a:prstGeom>
          <a:solidFill>
            <a:srgbClr val="13294B"/>
          </a:solidFill>
          <a:ln w="12700">
            <a:solidFill>
              <a:srgbClr val="13294B"/>
            </a:solidFill>
            <a:prstDash val="solid"/>
          </a:ln>
        </p:spPr>
        <p:txBody>
          <a:bodyPr/>
          <a:lstStyle/>
          <a:p>
            <a:endParaRPr lang="en-JP"/>
          </a:p>
        </p:txBody>
      </p:sp>
      <p:sp>
        <p:nvSpPr>
          <p:cNvPr id="41" name="Shape 38"/>
          <p:cNvSpPr/>
          <p:nvPr/>
        </p:nvSpPr>
        <p:spPr>
          <a:xfrm>
            <a:off x="6236208" y="4764024"/>
            <a:ext cx="457200" cy="457200"/>
          </a:xfrm>
          <a:prstGeom prst="ellipse">
            <a:avLst/>
          </a:prstGeom>
          <a:solidFill>
            <a:srgbClr val="F7630C"/>
          </a:solidFill>
          <a:ln w="12700">
            <a:solidFill>
              <a:srgbClr val="F7630C"/>
            </a:solidFill>
            <a:prstDash val="solid"/>
          </a:ln>
        </p:spPr>
        <p:txBody>
          <a:bodyPr/>
          <a:lstStyle/>
          <a:p>
            <a:endParaRPr lang="en-JP"/>
          </a:p>
        </p:txBody>
      </p:sp>
      <p:sp>
        <p:nvSpPr>
          <p:cNvPr id="42" name="Text 39"/>
          <p:cNvSpPr txBox="1"/>
          <p:nvPr/>
        </p:nvSpPr>
        <p:spPr>
          <a:xfrm>
            <a:off x="6236208" y="4764024"/>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Arial" pitchFamily="34" charset="0"/>
                <a:ea typeface="Arial" pitchFamily="34" charset="-122"/>
                <a:cs typeface="Arial" pitchFamily="34" charset="-120"/>
              </a:rPr>
              <a:t>4</a:t>
            </a:r>
            <a:endParaRPr lang="en-US" sz="1600" dirty="0"/>
          </a:p>
        </p:txBody>
      </p:sp>
      <p:sp>
        <p:nvSpPr>
          <p:cNvPr id="43" name="Text 40"/>
          <p:cNvSpPr txBox="1"/>
          <p:nvPr/>
        </p:nvSpPr>
        <p:spPr>
          <a:xfrm>
            <a:off x="6903720" y="4636008"/>
            <a:ext cx="4572000"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You run it</a:t>
            </a:r>
            <a:endParaRPr lang="en-US" sz="1600" dirty="0"/>
          </a:p>
        </p:txBody>
      </p:sp>
      <p:sp>
        <p:nvSpPr>
          <p:cNvPr id="44" name="Text 41"/>
          <p:cNvSpPr txBox="1"/>
          <p:nvPr/>
        </p:nvSpPr>
        <p:spPr>
          <a:xfrm>
            <a:off x="6903720" y="4974336"/>
            <a:ext cx="457200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Pasting and pressing Enter installs Lumma, which starts stealing.</a:t>
            </a:r>
            <a:endParaRPr lang="en-US" sz="1300" dirty="0"/>
          </a:p>
        </p:txBody>
      </p:sp>
      <p:sp>
        <p:nvSpPr>
          <p:cNvPr id="45" name="Shape 42"/>
          <p:cNvSpPr/>
          <p:nvPr/>
        </p:nvSpPr>
        <p:spPr>
          <a:xfrm>
            <a:off x="548640" y="5669280"/>
            <a:ext cx="11091672" cy="502920"/>
          </a:xfrm>
          <a:prstGeom prst="roundRect">
            <a:avLst>
              <a:gd name="adj" fmla="val 21818"/>
            </a:avLst>
          </a:prstGeom>
          <a:solidFill>
            <a:srgbClr val="F7630C"/>
          </a:solidFill>
          <a:ln w="12700">
            <a:solidFill>
              <a:srgbClr val="F7630C"/>
            </a:solidFill>
            <a:prstDash val="solid"/>
          </a:ln>
        </p:spPr>
        <p:txBody>
          <a:bodyPr/>
          <a:lstStyle/>
          <a:p>
            <a:endParaRPr lang="en-JP"/>
          </a:p>
        </p:txBody>
      </p:sp>
      <p:sp>
        <p:nvSpPr>
          <p:cNvPr id="46" name="Text 43"/>
          <p:cNvSpPr txBox="1"/>
          <p:nvPr/>
        </p:nvSpPr>
        <p:spPr>
          <a:xfrm>
            <a:off x="548640" y="5669280"/>
            <a:ext cx="11091672" cy="502920"/>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A real CAPTCHA never asks you to open Run, paste or type commands.</a:t>
            </a:r>
            <a:endParaRPr lang="en-US" sz="1700" dirty="0"/>
          </a:p>
        </p:txBody>
      </p:sp>
      <p:sp>
        <p:nvSpPr>
          <p:cNvPr id="47"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B7C3"/>
                </a:solidFill>
                <a:latin typeface="Calibri" pitchFamily="34" charset="0"/>
                <a:ea typeface="Calibri" pitchFamily="34" charset="-122"/>
                <a:cs typeface="Calibri" pitchFamily="34" charset="-120"/>
              </a:rPr>
              <a:t>05  ·  ATTACK CHAIN</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From one paste to a breach</a:t>
            </a:r>
            <a:endParaRPr lang="en-US" sz="3600" dirty="0"/>
          </a:p>
        </p:txBody>
      </p:sp>
      <p:sp>
        <p:nvSpPr>
          <p:cNvPr id="4" name="Shape 2"/>
          <p:cNvSpPr/>
          <p:nvPr/>
        </p:nvSpPr>
        <p:spPr>
          <a:xfrm>
            <a:off x="548640" y="1691640"/>
            <a:ext cx="1734312" cy="2743200"/>
          </a:xfrm>
          <a:prstGeom prst="roundRect">
            <a:avLst>
              <a:gd name="adj" fmla="val 6327"/>
            </a:avLst>
          </a:prstGeom>
          <a:solidFill>
            <a:srgbClr val="13294B"/>
          </a:solidFill>
          <a:ln w="12700">
            <a:solidFill>
              <a:srgbClr val="13294B"/>
            </a:solidFill>
            <a:prstDash val="solid"/>
          </a:ln>
        </p:spPr>
        <p:txBody>
          <a:bodyPr/>
          <a:lstStyle/>
          <a:p>
            <a:endParaRPr lang="en-JP"/>
          </a:p>
        </p:txBody>
      </p:sp>
      <p:sp>
        <p:nvSpPr>
          <p:cNvPr id="5" name="Shape 3"/>
          <p:cNvSpPr/>
          <p:nvPr/>
        </p:nvSpPr>
        <p:spPr>
          <a:xfrm>
            <a:off x="1050036" y="1920240"/>
            <a:ext cx="731520" cy="731520"/>
          </a:xfrm>
          <a:prstGeom prst="ellipse">
            <a:avLst/>
          </a:prstGeom>
          <a:solidFill>
            <a:srgbClr val="0078D4"/>
          </a:solidFill>
          <a:ln w="12700">
            <a:solidFill>
              <a:srgbClr val="0078D4"/>
            </a:solidFill>
            <a:prstDash val="solid"/>
          </a:ln>
        </p:spPr>
        <p:txBody>
          <a:bodyPr/>
          <a:lstStyle/>
          <a:p>
            <a:endParaRPr lang="en-JP"/>
          </a:p>
        </p:txBody>
      </p:sp>
      <p:pic>
        <p:nvPicPr>
          <p:cNvPr id="6" name="Image 0" descr="preencoded.png"/>
          <p:cNvPicPr>
            <a:picLocks noChangeAspect="1"/>
          </p:cNvPicPr>
          <p:nvPr/>
        </p:nvPicPr>
        <p:blipFill>
          <a:blip r:embed="rId3"/>
          <a:stretch>
            <a:fillRect/>
          </a:stretch>
        </p:blipFill>
        <p:spPr>
          <a:xfrm>
            <a:off x="1225601" y="2095805"/>
            <a:ext cx="380390" cy="380390"/>
          </a:xfrm>
          <a:prstGeom prst="rect">
            <a:avLst/>
          </a:prstGeom>
        </p:spPr>
      </p:pic>
      <p:sp>
        <p:nvSpPr>
          <p:cNvPr id="7" name="Text 4"/>
          <p:cNvSpPr txBox="1"/>
          <p:nvPr/>
        </p:nvSpPr>
        <p:spPr>
          <a:xfrm>
            <a:off x="548640" y="2788920"/>
            <a:ext cx="1734312" cy="274320"/>
          </a:xfrm>
          <a:prstGeom prst="rect">
            <a:avLst/>
          </a:prstGeom>
          <a:noFill/>
          <a:ln/>
        </p:spPr>
        <p:txBody>
          <a:bodyPr wrap="square" lIns="0" tIns="0" rIns="0" bIns="0" rtlCol="0" anchor="ctr"/>
          <a:lstStyle/>
          <a:p>
            <a:pPr marL="0" indent="0" algn="ctr">
              <a:buNone/>
            </a:pPr>
            <a:r>
              <a:rPr lang="en-US" sz="1100" b="1" kern="0" spc="200" dirty="0">
                <a:solidFill>
                  <a:srgbClr val="00B7C3"/>
                </a:solidFill>
                <a:latin typeface="Calibri" pitchFamily="34" charset="0"/>
                <a:ea typeface="Calibri" pitchFamily="34" charset="-122"/>
                <a:cs typeface="Calibri" pitchFamily="34" charset="-120"/>
              </a:rPr>
              <a:t>STEP 1</a:t>
            </a:r>
            <a:endParaRPr lang="en-US" sz="1100" dirty="0"/>
          </a:p>
        </p:txBody>
      </p:sp>
      <p:sp>
        <p:nvSpPr>
          <p:cNvPr id="8" name="Text 5"/>
          <p:cNvSpPr txBox="1"/>
          <p:nvPr/>
        </p:nvSpPr>
        <p:spPr>
          <a:xfrm>
            <a:off x="548640" y="3063240"/>
            <a:ext cx="173431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Lure</a:t>
            </a:r>
            <a:endParaRPr lang="en-US" sz="1800" dirty="0"/>
          </a:p>
        </p:txBody>
      </p:sp>
      <p:sp>
        <p:nvSpPr>
          <p:cNvPr id="9" name="Text 6"/>
          <p:cNvSpPr txBox="1"/>
          <p:nvPr/>
        </p:nvSpPr>
        <p:spPr>
          <a:xfrm>
            <a:off x="658368" y="3474720"/>
            <a:ext cx="1514856" cy="777240"/>
          </a:xfrm>
          <a:prstGeom prst="rect">
            <a:avLst/>
          </a:prstGeom>
          <a:noFill/>
          <a:ln/>
        </p:spPr>
        <p:txBody>
          <a:bodyPr wrap="square" lIns="0" tIns="0" rIns="0" bIns="0" rtlCol="0" anchor="t"/>
          <a:lstStyle/>
          <a:p>
            <a:pPr marL="0" indent="0" algn="ctr">
              <a:buNone/>
            </a:pPr>
            <a:r>
              <a:rPr lang="en-US" sz="1300" dirty="0">
                <a:solidFill>
                  <a:srgbClr val="CADCFC"/>
                </a:solidFill>
                <a:latin typeface="Calibri" pitchFamily="34" charset="0"/>
                <a:ea typeface="Calibri" pitchFamily="34" charset="-122"/>
                <a:cs typeface="Calibri" pitchFamily="34" charset="-120"/>
              </a:rPr>
              <a:t>Fake page, ad or download</a:t>
            </a:r>
            <a:endParaRPr lang="en-US" sz="1300" dirty="0"/>
          </a:p>
        </p:txBody>
      </p:sp>
      <p:pic>
        <p:nvPicPr>
          <p:cNvPr id="10" name="Image 1" descr="preencoded.png"/>
          <p:cNvPicPr>
            <a:picLocks noChangeAspect="1"/>
          </p:cNvPicPr>
          <p:nvPr/>
        </p:nvPicPr>
        <p:blipFill>
          <a:blip r:embed="rId4"/>
          <a:stretch>
            <a:fillRect/>
          </a:stretch>
        </p:blipFill>
        <p:spPr>
          <a:xfrm>
            <a:off x="2264664" y="2971800"/>
            <a:ext cx="155448" cy="228600"/>
          </a:xfrm>
          <a:prstGeom prst="rect">
            <a:avLst/>
          </a:prstGeom>
        </p:spPr>
      </p:pic>
      <p:sp>
        <p:nvSpPr>
          <p:cNvPr id="11" name="Shape 7"/>
          <p:cNvSpPr/>
          <p:nvPr/>
        </p:nvSpPr>
        <p:spPr>
          <a:xfrm>
            <a:off x="2420112" y="1691640"/>
            <a:ext cx="1734312" cy="2743200"/>
          </a:xfrm>
          <a:prstGeom prst="roundRect">
            <a:avLst>
              <a:gd name="adj" fmla="val 6327"/>
            </a:avLst>
          </a:prstGeom>
          <a:solidFill>
            <a:srgbClr val="13294B"/>
          </a:solidFill>
          <a:ln w="12700">
            <a:solidFill>
              <a:srgbClr val="13294B"/>
            </a:solidFill>
            <a:prstDash val="solid"/>
          </a:ln>
        </p:spPr>
        <p:txBody>
          <a:bodyPr/>
          <a:lstStyle/>
          <a:p>
            <a:endParaRPr lang="en-JP"/>
          </a:p>
        </p:txBody>
      </p:sp>
      <p:sp>
        <p:nvSpPr>
          <p:cNvPr id="12" name="Shape 8"/>
          <p:cNvSpPr/>
          <p:nvPr/>
        </p:nvSpPr>
        <p:spPr>
          <a:xfrm>
            <a:off x="2921508" y="1920240"/>
            <a:ext cx="731520" cy="731520"/>
          </a:xfrm>
          <a:prstGeom prst="ellipse">
            <a:avLst/>
          </a:prstGeom>
          <a:solidFill>
            <a:srgbClr val="0078D4"/>
          </a:solidFill>
          <a:ln w="12700">
            <a:solidFill>
              <a:srgbClr val="0078D4"/>
            </a:solidFill>
            <a:prstDash val="solid"/>
          </a:ln>
        </p:spPr>
        <p:txBody>
          <a:bodyPr/>
          <a:lstStyle/>
          <a:p>
            <a:endParaRPr lang="en-JP"/>
          </a:p>
        </p:txBody>
      </p:sp>
      <p:pic>
        <p:nvPicPr>
          <p:cNvPr id="13" name="Image 2" descr="preencoded.png"/>
          <p:cNvPicPr>
            <a:picLocks noChangeAspect="1"/>
          </p:cNvPicPr>
          <p:nvPr/>
        </p:nvPicPr>
        <p:blipFill>
          <a:blip r:embed="rId5"/>
          <a:stretch>
            <a:fillRect/>
          </a:stretch>
        </p:blipFill>
        <p:spPr>
          <a:xfrm>
            <a:off x="3097073" y="2095805"/>
            <a:ext cx="380390" cy="380390"/>
          </a:xfrm>
          <a:prstGeom prst="rect">
            <a:avLst/>
          </a:prstGeom>
        </p:spPr>
      </p:pic>
      <p:sp>
        <p:nvSpPr>
          <p:cNvPr id="14" name="Text 9"/>
          <p:cNvSpPr txBox="1"/>
          <p:nvPr/>
        </p:nvSpPr>
        <p:spPr>
          <a:xfrm>
            <a:off x="2420112" y="2788920"/>
            <a:ext cx="1734312" cy="274320"/>
          </a:xfrm>
          <a:prstGeom prst="rect">
            <a:avLst/>
          </a:prstGeom>
          <a:noFill/>
          <a:ln/>
        </p:spPr>
        <p:txBody>
          <a:bodyPr wrap="square" lIns="0" tIns="0" rIns="0" bIns="0" rtlCol="0" anchor="ctr"/>
          <a:lstStyle/>
          <a:p>
            <a:pPr marL="0" indent="0" algn="ctr">
              <a:buNone/>
            </a:pPr>
            <a:r>
              <a:rPr lang="en-US" sz="1100" b="1" kern="0" spc="200" dirty="0">
                <a:solidFill>
                  <a:srgbClr val="00B7C3"/>
                </a:solidFill>
                <a:latin typeface="Calibri" pitchFamily="34" charset="0"/>
                <a:ea typeface="Calibri" pitchFamily="34" charset="-122"/>
                <a:cs typeface="Calibri" pitchFamily="34" charset="-120"/>
              </a:rPr>
              <a:t>STEP 2</a:t>
            </a:r>
            <a:endParaRPr lang="en-US" sz="1100" dirty="0"/>
          </a:p>
        </p:txBody>
      </p:sp>
      <p:sp>
        <p:nvSpPr>
          <p:cNvPr id="15" name="Text 10"/>
          <p:cNvSpPr txBox="1"/>
          <p:nvPr/>
        </p:nvSpPr>
        <p:spPr>
          <a:xfrm>
            <a:off x="2420112" y="3063240"/>
            <a:ext cx="173431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Execute</a:t>
            </a:r>
            <a:endParaRPr lang="en-US" sz="1800" dirty="0"/>
          </a:p>
        </p:txBody>
      </p:sp>
      <p:sp>
        <p:nvSpPr>
          <p:cNvPr id="16" name="Text 11"/>
          <p:cNvSpPr txBox="1"/>
          <p:nvPr/>
        </p:nvSpPr>
        <p:spPr>
          <a:xfrm>
            <a:off x="2529840" y="3474720"/>
            <a:ext cx="1514856" cy="777240"/>
          </a:xfrm>
          <a:prstGeom prst="rect">
            <a:avLst/>
          </a:prstGeom>
          <a:noFill/>
          <a:ln/>
        </p:spPr>
        <p:txBody>
          <a:bodyPr wrap="square" lIns="0" tIns="0" rIns="0" bIns="0" rtlCol="0" anchor="t"/>
          <a:lstStyle/>
          <a:p>
            <a:pPr marL="0" indent="0" algn="ctr">
              <a:buNone/>
            </a:pPr>
            <a:r>
              <a:rPr lang="en-US" sz="1300" dirty="0">
                <a:solidFill>
                  <a:srgbClr val="CADCFC"/>
                </a:solidFill>
                <a:latin typeface="Calibri" pitchFamily="34" charset="0"/>
                <a:ea typeface="Calibri" pitchFamily="34" charset="-122"/>
                <a:cs typeface="Calibri" pitchFamily="34" charset="-120"/>
              </a:rPr>
              <a:t>Victim runs the command</a:t>
            </a:r>
            <a:endParaRPr lang="en-US" sz="1300" dirty="0"/>
          </a:p>
        </p:txBody>
      </p:sp>
      <p:pic>
        <p:nvPicPr>
          <p:cNvPr id="17" name="Image 3" descr="preencoded.png"/>
          <p:cNvPicPr>
            <a:picLocks noChangeAspect="1"/>
          </p:cNvPicPr>
          <p:nvPr/>
        </p:nvPicPr>
        <p:blipFill>
          <a:blip r:embed="rId4"/>
          <a:stretch>
            <a:fillRect/>
          </a:stretch>
        </p:blipFill>
        <p:spPr>
          <a:xfrm>
            <a:off x="4136136" y="2971800"/>
            <a:ext cx="155448" cy="228600"/>
          </a:xfrm>
          <a:prstGeom prst="rect">
            <a:avLst/>
          </a:prstGeom>
        </p:spPr>
      </p:pic>
      <p:sp>
        <p:nvSpPr>
          <p:cNvPr id="18" name="Shape 12"/>
          <p:cNvSpPr/>
          <p:nvPr/>
        </p:nvSpPr>
        <p:spPr>
          <a:xfrm>
            <a:off x="4291584" y="1691640"/>
            <a:ext cx="1734312" cy="2743200"/>
          </a:xfrm>
          <a:prstGeom prst="roundRect">
            <a:avLst>
              <a:gd name="adj" fmla="val 6327"/>
            </a:avLst>
          </a:prstGeom>
          <a:solidFill>
            <a:srgbClr val="13294B"/>
          </a:solidFill>
          <a:ln w="12700">
            <a:solidFill>
              <a:srgbClr val="13294B"/>
            </a:solidFill>
            <a:prstDash val="solid"/>
          </a:ln>
        </p:spPr>
        <p:txBody>
          <a:bodyPr/>
          <a:lstStyle/>
          <a:p>
            <a:endParaRPr lang="en-JP"/>
          </a:p>
        </p:txBody>
      </p:sp>
      <p:sp>
        <p:nvSpPr>
          <p:cNvPr id="19" name="Shape 13"/>
          <p:cNvSpPr/>
          <p:nvPr/>
        </p:nvSpPr>
        <p:spPr>
          <a:xfrm>
            <a:off x="4792980" y="1920240"/>
            <a:ext cx="731520" cy="731520"/>
          </a:xfrm>
          <a:prstGeom prst="ellipse">
            <a:avLst/>
          </a:prstGeom>
          <a:solidFill>
            <a:srgbClr val="0078D4"/>
          </a:solidFill>
          <a:ln w="12700">
            <a:solidFill>
              <a:srgbClr val="0078D4"/>
            </a:solidFill>
            <a:prstDash val="solid"/>
          </a:ln>
        </p:spPr>
        <p:txBody>
          <a:bodyPr/>
          <a:lstStyle/>
          <a:p>
            <a:endParaRPr lang="en-JP"/>
          </a:p>
        </p:txBody>
      </p:sp>
      <p:pic>
        <p:nvPicPr>
          <p:cNvPr id="20" name="Image 4" descr="preencoded.png"/>
          <p:cNvPicPr>
            <a:picLocks noChangeAspect="1"/>
          </p:cNvPicPr>
          <p:nvPr/>
        </p:nvPicPr>
        <p:blipFill>
          <a:blip r:embed="rId6"/>
          <a:stretch>
            <a:fillRect/>
          </a:stretch>
        </p:blipFill>
        <p:spPr>
          <a:xfrm>
            <a:off x="4968545" y="2095805"/>
            <a:ext cx="380390" cy="380390"/>
          </a:xfrm>
          <a:prstGeom prst="rect">
            <a:avLst/>
          </a:prstGeom>
        </p:spPr>
      </p:pic>
      <p:sp>
        <p:nvSpPr>
          <p:cNvPr id="21" name="Text 14"/>
          <p:cNvSpPr txBox="1"/>
          <p:nvPr/>
        </p:nvSpPr>
        <p:spPr>
          <a:xfrm>
            <a:off x="4291584" y="2788920"/>
            <a:ext cx="1734312" cy="274320"/>
          </a:xfrm>
          <a:prstGeom prst="rect">
            <a:avLst/>
          </a:prstGeom>
          <a:noFill/>
          <a:ln/>
        </p:spPr>
        <p:txBody>
          <a:bodyPr wrap="square" lIns="0" tIns="0" rIns="0" bIns="0" rtlCol="0" anchor="ctr"/>
          <a:lstStyle/>
          <a:p>
            <a:pPr marL="0" indent="0" algn="ctr">
              <a:buNone/>
            </a:pPr>
            <a:r>
              <a:rPr lang="en-US" sz="1100" b="1" kern="0" spc="200" dirty="0">
                <a:solidFill>
                  <a:srgbClr val="00B7C3"/>
                </a:solidFill>
                <a:latin typeface="Calibri" pitchFamily="34" charset="0"/>
                <a:ea typeface="Calibri" pitchFamily="34" charset="-122"/>
                <a:cs typeface="Calibri" pitchFamily="34" charset="-120"/>
              </a:rPr>
              <a:t>STEP 3</a:t>
            </a:r>
            <a:endParaRPr lang="en-US" sz="1100" dirty="0"/>
          </a:p>
        </p:txBody>
      </p:sp>
      <p:sp>
        <p:nvSpPr>
          <p:cNvPr id="22" name="Text 15"/>
          <p:cNvSpPr txBox="1"/>
          <p:nvPr/>
        </p:nvSpPr>
        <p:spPr>
          <a:xfrm>
            <a:off x="4291584" y="3063240"/>
            <a:ext cx="173431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Steal</a:t>
            </a:r>
            <a:endParaRPr lang="en-US" sz="1800" dirty="0"/>
          </a:p>
        </p:txBody>
      </p:sp>
      <p:sp>
        <p:nvSpPr>
          <p:cNvPr id="23" name="Text 16"/>
          <p:cNvSpPr txBox="1"/>
          <p:nvPr/>
        </p:nvSpPr>
        <p:spPr>
          <a:xfrm>
            <a:off x="4401312" y="3474720"/>
            <a:ext cx="1514856" cy="777240"/>
          </a:xfrm>
          <a:prstGeom prst="rect">
            <a:avLst/>
          </a:prstGeom>
          <a:noFill/>
          <a:ln/>
        </p:spPr>
        <p:txBody>
          <a:bodyPr wrap="square" lIns="0" tIns="0" rIns="0" bIns="0" rtlCol="0" anchor="t"/>
          <a:lstStyle/>
          <a:p>
            <a:pPr marL="0" indent="0" algn="ctr">
              <a:buNone/>
            </a:pPr>
            <a:r>
              <a:rPr lang="en-US" sz="1300" dirty="0">
                <a:solidFill>
                  <a:srgbClr val="CADCFC"/>
                </a:solidFill>
                <a:latin typeface="Calibri" pitchFamily="34" charset="0"/>
                <a:ea typeface="Calibri" pitchFamily="34" charset="-122"/>
                <a:cs typeface="Calibri" pitchFamily="34" charset="-120"/>
              </a:rPr>
              <a:t>Passwords, cookies, wallets</a:t>
            </a:r>
            <a:endParaRPr lang="en-US" sz="1300" dirty="0"/>
          </a:p>
        </p:txBody>
      </p:sp>
      <p:pic>
        <p:nvPicPr>
          <p:cNvPr id="24" name="Image 5" descr="preencoded.png"/>
          <p:cNvPicPr>
            <a:picLocks noChangeAspect="1"/>
          </p:cNvPicPr>
          <p:nvPr/>
        </p:nvPicPr>
        <p:blipFill>
          <a:blip r:embed="rId4"/>
          <a:stretch>
            <a:fillRect/>
          </a:stretch>
        </p:blipFill>
        <p:spPr>
          <a:xfrm>
            <a:off x="6007608" y="2971800"/>
            <a:ext cx="155448" cy="228600"/>
          </a:xfrm>
          <a:prstGeom prst="rect">
            <a:avLst/>
          </a:prstGeom>
        </p:spPr>
      </p:pic>
      <p:sp>
        <p:nvSpPr>
          <p:cNvPr id="25" name="Shape 17"/>
          <p:cNvSpPr/>
          <p:nvPr/>
        </p:nvSpPr>
        <p:spPr>
          <a:xfrm>
            <a:off x="6163056" y="1691640"/>
            <a:ext cx="1734312" cy="2743200"/>
          </a:xfrm>
          <a:prstGeom prst="roundRect">
            <a:avLst>
              <a:gd name="adj" fmla="val 6327"/>
            </a:avLst>
          </a:prstGeom>
          <a:solidFill>
            <a:srgbClr val="13294B"/>
          </a:solidFill>
          <a:ln w="12700">
            <a:solidFill>
              <a:srgbClr val="13294B"/>
            </a:solidFill>
            <a:prstDash val="solid"/>
          </a:ln>
        </p:spPr>
        <p:txBody>
          <a:bodyPr/>
          <a:lstStyle/>
          <a:p>
            <a:endParaRPr lang="en-JP"/>
          </a:p>
        </p:txBody>
      </p:sp>
      <p:sp>
        <p:nvSpPr>
          <p:cNvPr id="26" name="Shape 18"/>
          <p:cNvSpPr/>
          <p:nvPr/>
        </p:nvSpPr>
        <p:spPr>
          <a:xfrm>
            <a:off x="6664452" y="1920240"/>
            <a:ext cx="731520" cy="731520"/>
          </a:xfrm>
          <a:prstGeom prst="ellipse">
            <a:avLst/>
          </a:prstGeom>
          <a:solidFill>
            <a:srgbClr val="0078D4"/>
          </a:solidFill>
          <a:ln w="12700">
            <a:solidFill>
              <a:srgbClr val="0078D4"/>
            </a:solidFill>
            <a:prstDash val="solid"/>
          </a:ln>
        </p:spPr>
        <p:txBody>
          <a:bodyPr/>
          <a:lstStyle/>
          <a:p>
            <a:endParaRPr lang="en-JP"/>
          </a:p>
        </p:txBody>
      </p:sp>
      <p:pic>
        <p:nvPicPr>
          <p:cNvPr id="27" name="Image 6" descr="preencoded.png"/>
          <p:cNvPicPr>
            <a:picLocks noChangeAspect="1"/>
          </p:cNvPicPr>
          <p:nvPr/>
        </p:nvPicPr>
        <p:blipFill>
          <a:blip r:embed="rId7"/>
          <a:stretch>
            <a:fillRect/>
          </a:stretch>
        </p:blipFill>
        <p:spPr>
          <a:xfrm>
            <a:off x="6840017" y="2095805"/>
            <a:ext cx="380390" cy="380390"/>
          </a:xfrm>
          <a:prstGeom prst="rect">
            <a:avLst/>
          </a:prstGeom>
        </p:spPr>
      </p:pic>
      <p:sp>
        <p:nvSpPr>
          <p:cNvPr id="28" name="Text 19"/>
          <p:cNvSpPr txBox="1"/>
          <p:nvPr/>
        </p:nvSpPr>
        <p:spPr>
          <a:xfrm>
            <a:off x="6163056" y="2788920"/>
            <a:ext cx="1734312" cy="274320"/>
          </a:xfrm>
          <a:prstGeom prst="rect">
            <a:avLst/>
          </a:prstGeom>
          <a:noFill/>
          <a:ln/>
        </p:spPr>
        <p:txBody>
          <a:bodyPr wrap="square" lIns="0" tIns="0" rIns="0" bIns="0" rtlCol="0" anchor="ctr"/>
          <a:lstStyle/>
          <a:p>
            <a:pPr marL="0" indent="0" algn="ctr">
              <a:buNone/>
            </a:pPr>
            <a:r>
              <a:rPr lang="en-US" sz="1100" b="1" kern="0" spc="200" dirty="0">
                <a:solidFill>
                  <a:srgbClr val="00B7C3"/>
                </a:solidFill>
                <a:latin typeface="Calibri" pitchFamily="34" charset="0"/>
                <a:ea typeface="Calibri" pitchFamily="34" charset="-122"/>
                <a:cs typeface="Calibri" pitchFamily="34" charset="-120"/>
              </a:rPr>
              <a:t>STEP 4</a:t>
            </a:r>
            <a:endParaRPr lang="en-US" sz="1100" dirty="0"/>
          </a:p>
        </p:txBody>
      </p:sp>
      <p:sp>
        <p:nvSpPr>
          <p:cNvPr id="29" name="Text 20"/>
          <p:cNvSpPr txBox="1"/>
          <p:nvPr/>
        </p:nvSpPr>
        <p:spPr>
          <a:xfrm>
            <a:off x="6163056" y="3063240"/>
            <a:ext cx="1734312"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Exfiltrate</a:t>
            </a:r>
            <a:endParaRPr lang="en-US" sz="1800" dirty="0"/>
          </a:p>
        </p:txBody>
      </p:sp>
      <p:sp>
        <p:nvSpPr>
          <p:cNvPr id="30" name="Text 21"/>
          <p:cNvSpPr txBox="1"/>
          <p:nvPr/>
        </p:nvSpPr>
        <p:spPr>
          <a:xfrm>
            <a:off x="6272784" y="3474720"/>
            <a:ext cx="1514856" cy="777240"/>
          </a:xfrm>
          <a:prstGeom prst="rect">
            <a:avLst/>
          </a:prstGeom>
          <a:noFill/>
          <a:ln/>
        </p:spPr>
        <p:txBody>
          <a:bodyPr wrap="square" lIns="0" tIns="0" rIns="0" bIns="0" rtlCol="0" anchor="t"/>
          <a:lstStyle/>
          <a:p>
            <a:pPr marL="0" indent="0" algn="ctr">
              <a:buNone/>
            </a:pPr>
            <a:r>
              <a:rPr lang="en-US" sz="1300" dirty="0">
                <a:solidFill>
                  <a:srgbClr val="CADCFC"/>
                </a:solidFill>
                <a:latin typeface="Calibri" pitchFamily="34" charset="0"/>
                <a:ea typeface="Calibri" pitchFamily="34" charset="-122"/>
                <a:cs typeface="Calibri" pitchFamily="34" charset="-120"/>
              </a:rPr>
              <a:t>Data sent to attackers</a:t>
            </a:r>
            <a:endParaRPr lang="en-US" sz="1300" dirty="0"/>
          </a:p>
        </p:txBody>
      </p:sp>
      <p:pic>
        <p:nvPicPr>
          <p:cNvPr id="31" name="Image 7" descr="preencoded.png"/>
          <p:cNvPicPr>
            <a:picLocks noChangeAspect="1"/>
          </p:cNvPicPr>
          <p:nvPr/>
        </p:nvPicPr>
        <p:blipFill>
          <a:blip r:embed="rId4"/>
          <a:stretch>
            <a:fillRect/>
          </a:stretch>
        </p:blipFill>
        <p:spPr>
          <a:xfrm>
            <a:off x="7879080" y="2971800"/>
            <a:ext cx="155448" cy="228600"/>
          </a:xfrm>
          <a:prstGeom prst="rect">
            <a:avLst/>
          </a:prstGeom>
        </p:spPr>
      </p:pic>
      <p:sp>
        <p:nvSpPr>
          <p:cNvPr id="32" name="Shape 22"/>
          <p:cNvSpPr/>
          <p:nvPr/>
        </p:nvSpPr>
        <p:spPr>
          <a:xfrm>
            <a:off x="8034528" y="1691640"/>
            <a:ext cx="1734312" cy="2743200"/>
          </a:xfrm>
          <a:prstGeom prst="roundRect">
            <a:avLst>
              <a:gd name="adj" fmla="val 6327"/>
            </a:avLst>
          </a:prstGeom>
          <a:solidFill>
            <a:srgbClr val="F7630C"/>
          </a:solidFill>
          <a:ln w="12700">
            <a:solidFill>
              <a:srgbClr val="F7630C"/>
            </a:solidFill>
            <a:prstDash val="solid"/>
          </a:ln>
        </p:spPr>
        <p:txBody>
          <a:bodyPr/>
          <a:lstStyle/>
          <a:p>
            <a:endParaRPr lang="en-JP"/>
          </a:p>
        </p:txBody>
      </p:sp>
      <p:sp>
        <p:nvSpPr>
          <p:cNvPr id="33" name="Shape 23"/>
          <p:cNvSpPr/>
          <p:nvPr/>
        </p:nvSpPr>
        <p:spPr>
          <a:xfrm>
            <a:off x="8535924" y="1920240"/>
            <a:ext cx="731520" cy="731520"/>
          </a:xfrm>
          <a:prstGeom prst="ellipse">
            <a:avLst/>
          </a:prstGeom>
          <a:solidFill>
            <a:srgbClr val="0A1628"/>
          </a:solidFill>
          <a:ln w="12700">
            <a:solidFill>
              <a:srgbClr val="0A1628"/>
            </a:solidFill>
            <a:prstDash val="solid"/>
          </a:ln>
        </p:spPr>
        <p:txBody>
          <a:bodyPr/>
          <a:lstStyle/>
          <a:p>
            <a:endParaRPr lang="en-JP"/>
          </a:p>
        </p:txBody>
      </p:sp>
      <p:pic>
        <p:nvPicPr>
          <p:cNvPr id="34" name="Image 8" descr="preencoded.png"/>
          <p:cNvPicPr>
            <a:picLocks noChangeAspect="1"/>
          </p:cNvPicPr>
          <p:nvPr/>
        </p:nvPicPr>
        <p:blipFill>
          <a:blip r:embed="rId8"/>
          <a:stretch>
            <a:fillRect/>
          </a:stretch>
        </p:blipFill>
        <p:spPr>
          <a:xfrm>
            <a:off x="8711489" y="2095805"/>
            <a:ext cx="380390" cy="380390"/>
          </a:xfrm>
          <a:prstGeom prst="rect">
            <a:avLst/>
          </a:prstGeom>
        </p:spPr>
      </p:pic>
      <p:sp>
        <p:nvSpPr>
          <p:cNvPr id="35" name="Text 24"/>
          <p:cNvSpPr txBox="1"/>
          <p:nvPr/>
        </p:nvSpPr>
        <p:spPr>
          <a:xfrm>
            <a:off x="8034528" y="2788920"/>
            <a:ext cx="1734312" cy="274320"/>
          </a:xfrm>
          <a:prstGeom prst="rect">
            <a:avLst/>
          </a:prstGeom>
          <a:noFill/>
          <a:ln/>
        </p:spPr>
        <p:txBody>
          <a:bodyPr wrap="square" lIns="0" tIns="0" rIns="0" bIns="0" rtlCol="0" anchor="ctr"/>
          <a:lstStyle/>
          <a:p>
            <a:pPr marL="0" indent="0" algn="ctr">
              <a:buNone/>
            </a:pPr>
            <a:r>
              <a:rPr lang="en-US" sz="1100" b="1" kern="0" spc="200" dirty="0">
                <a:solidFill>
                  <a:srgbClr val="0A1628"/>
                </a:solidFill>
                <a:latin typeface="Calibri" pitchFamily="34" charset="0"/>
                <a:ea typeface="Calibri" pitchFamily="34" charset="-122"/>
                <a:cs typeface="Calibri" pitchFamily="34" charset="-120"/>
              </a:rPr>
              <a:t>STEP 5</a:t>
            </a:r>
            <a:endParaRPr lang="en-US" sz="1100" dirty="0"/>
          </a:p>
        </p:txBody>
      </p:sp>
      <p:sp>
        <p:nvSpPr>
          <p:cNvPr id="36" name="Text 25"/>
          <p:cNvSpPr txBox="1"/>
          <p:nvPr/>
        </p:nvSpPr>
        <p:spPr>
          <a:xfrm>
            <a:off x="8034528" y="3063240"/>
            <a:ext cx="1734312" cy="384048"/>
          </a:xfrm>
          <a:prstGeom prst="rect">
            <a:avLst/>
          </a:prstGeom>
          <a:noFill/>
          <a:ln/>
        </p:spPr>
        <p:txBody>
          <a:bodyPr wrap="square" lIns="0" tIns="0" rIns="0" bIns="0" rtlCol="0" anchor="ctr"/>
          <a:lstStyle/>
          <a:p>
            <a:pPr marL="0" indent="0" algn="ctr">
              <a:buNone/>
            </a:pPr>
            <a:r>
              <a:rPr lang="en-US" sz="1800" b="1" dirty="0">
                <a:solidFill>
                  <a:srgbClr val="0A1628"/>
                </a:solidFill>
                <a:latin typeface="Arial" pitchFamily="34" charset="0"/>
                <a:ea typeface="Arial" pitchFamily="34" charset="-122"/>
                <a:cs typeface="Arial" pitchFamily="34" charset="-120"/>
              </a:rPr>
              <a:t>Sell</a:t>
            </a:r>
            <a:endParaRPr lang="en-US" sz="1800" dirty="0"/>
          </a:p>
        </p:txBody>
      </p:sp>
      <p:sp>
        <p:nvSpPr>
          <p:cNvPr id="37" name="Text 26"/>
          <p:cNvSpPr txBox="1"/>
          <p:nvPr/>
        </p:nvSpPr>
        <p:spPr>
          <a:xfrm>
            <a:off x="8144256" y="3474720"/>
            <a:ext cx="1514856" cy="777240"/>
          </a:xfrm>
          <a:prstGeom prst="rect">
            <a:avLst/>
          </a:prstGeom>
          <a:noFill/>
          <a:ln/>
        </p:spPr>
        <p:txBody>
          <a:bodyPr wrap="square" lIns="0" tIns="0" rIns="0" bIns="0" rtlCol="0" anchor="t"/>
          <a:lstStyle/>
          <a:p>
            <a:pPr marL="0" indent="0" algn="ctr">
              <a:buNone/>
            </a:pPr>
            <a:r>
              <a:rPr lang="en-US" sz="1300" dirty="0">
                <a:solidFill>
                  <a:srgbClr val="0A1628"/>
                </a:solidFill>
                <a:latin typeface="Calibri" pitchFamily="34" charset="0"/>
                <a:ea typeface="Calibri" pitchFamily="34" charset="-122"/>
                <a:cs typeface="Calibri" pitchFamily="34" charset="-120"/>
              </a:rPr>
              <a:t>Logs sold on criminal markets</a:t>
            </a:r>
            <a:endParaRPr lang="en-US" sz="1300" dirty="0"/>
          </a:p>
        </p:txBody>
      </p:sp>
      <p:pic>
        <p:nvPicPr>
          <p:cNvPr id="38" name="Image 9" descr="preencoded.png"/>
          <p:cNvPicPr>
            <a:picLocks noChangeAspect="1"/>
          </p:cNvPicPr>
          <p:nvPr/>
        </p:nvPicPr>
        <p:blipFill>
          <a:blip r:embed="rId4"/>
          <a:stretch>
            <a:fillRect/>
          </a:stretch>
        </p:blipFill>
        <p:spPr>
          <a:xfrm>
            <a:off x="9750552" y="2971800"/>
            <a:ext cx="155448" cy="228600"/>
          </a:xfrm>
          <a:prstGeom prst="rect">
            <a:avLst/>
          </a:prstGeom>
        </p:spPr>
      </p:pic>
      <p:sp>
        <p:nvSpPr>
          <p:cNvPr id="39" name="Shape 27"/>
          <p:cNvSpPr/>
          <p:nvPr/>
        </p:nvSpPr>
        <p:spPr>
          <a:xfrm>
            <a:off x="9906000" y="1691640"/>
            <a:ext cx="1734312" cy="2743200"/>
          </a:xfrm>
          <a:prstGeom prst="roundRect">
            <a:avLst>
              <a:gd name="adj" fmla="val 6327"/>
            </a:avLst>
          </a:prstGeom>
          <a:solidFill>
            <a:srgbClr val="F7630C"/>
          </a:solidFill>
          <a:ln w="12700">
            <a:solidFill>
              <a:srgbClr val="F7630C"/>
            </a:solidFill>
            <a:prstDash val="solid"/>
          </a:ln>
        </p:spPr>
        <p:txBody>
          <a:bodyPr/>
          <a:lstStyle/>
          <a:p>
            <a:endParaRPr lang="en-JP"/>
          </a:p>
        </p:txBody>
      </p:sp>
      <p:sp>
        <p:nvSpPr>
          <p:cNvPr id="40" name="Shape 28"/>
          <p:cNvSpPr/>
          <p:nvPr/>
        </p:nvSpPr>
        <p:spPr>
          <a:xfrm>
            <a:off x="10407396" y="1920240"/>
            <a:ext cx="731520" cy="731520"/>
          </a:xfrm>
          <a:prstGeom prst="ellipse">
            <a:avLst/>
          </a:prstGeom>
          <a:solidFill>
            <a:srgbClr val="0A1628"/>
          </a:solidFill>
          <a:ln w="12700">
            <a:solidFill>
              <a:srgbClr val="0A1628"/>
            </a:solidFill>
            <a:prstDash val="solid"/>
          </a:ln>
        </p:spPr>
        <p:txBody>
          <a:bodyPr/>
          <a:lstStyle/>
          <a:p>
            <a:endParaRPr lang="en-JP"/>
          </a:p>
        </p:txBody>
      </p:sp>
      <p:pic>
        <p:nvPicPr>
          <p:cNvPr id="41" name="Image 10" descr="preencoded.png"/>
          <p:cNvPicPr>
            <a:picLocks noChangeAspect="1"/>
          </p:cNvPicPr>
          <p:nvPr/>
        </p:nvPicPr>
        <p:blipFill>
          <a:blip r:embed="rId9"/>
          <a:stretch>
            <a:fillRect/>
          </a:stretch>
        </p:blipFill>
        <p:spPr>
          <a:xfrm>
            <a:off x="10582961" y="2095805"/>
            <a:ext cx="380390" cy="380390"/>
          </a:xfrm>
          <a:prstGeom prst="rect">
            <a:avLst/>
          </a:prstGeom>
        </p:spPr>
      </p:pic>
      <p:sp>
        <p:nvSpPr>
          <p:cNvPr id="42" name="Text 29"/>
          <p:cNvSpPr txBox="1"/>
          <p:nvPr/>
        </p:nvSpPr>
        <p:spPr>
          <a:xfrm>
            <a:off x="9906000" y="2788920"/>
            <a:ext cx="1734312" cy="274320"/>
          </a:xfrm>
          <a:prstGeom prst="rect">
            <a:avLst/>
          </a:prstGeom>
          <a:noFill/>
          <a:ln/>
        </p:spPr>
        <p:txBody>
          <a:bodyPr wrap="square" lIns="0" tIns="0" rIns="0" bIns="0" rtlCol="0" anchor="ctr"/>
          <a:lstStyle/>
          <a:p>
            <a:pPr marL="0" indent="0" algn="ctr">
              <a:buNone/>
            </a:pPr>
            <a:r>
              <a:rPr lang="en-US" sz="1100" b="1" kern="0" spc="200" dirty="0">
                <a:solidFill>
                  <a:srgbClr val="0A1628"/>
                </a:solidFill>
                <a:latin typeface="Calibri" pitchFamily="34" charset="0"/>
                <a:ea typeface="Calibri" pitchFamily="34" charset="-122"/>
                <a:cs typeface="Calibri" pitchFamily="34" charset="-120"/>
              </a:rPr>
              <a:t>STEP 6</a:t>
            </a:r>
            <a:endParaRPr lang="en-US" sz="1100" dirty="0"/>
          </a:p>
        </p:txBody>
      </p:sp>
      <p:sp>
        <p:nvSpPr>
          <p:cNvPr id="43" name="Text 30"/>
          <p:cNvSpPr txBox="1"/>
          <p:nvPr/>
        </p:nvSpPr>
        <p:spPr>
          <a:xfrm>
            <a:off x="9906000" y="3063240"/>
            <a:ext cx="1734312" cy="384048"/>
          </a:xfrm>
          <a:prstGeom prst="rect">
            <a:avLst/>
          </a:prstGeom>
          <a:noFill/>
          <a:ln/>
        </p:spPr>
        <p:txBody>
          <a:bodyPr wrap="square" lIns="0" tIns="0" rIns="0" bIns="0" rtlCol="0" anchor="ctr"/>
          <a:lstStyle/>
          <a:p>
            <a:pPr marL="0" indent="0" algn="ctr">
              <a:buNone/>
            </a:pPr>
            <a:r>
              <a:rPr lang="en-US" sz="1800" b="1" dirty="0">
                <a:solidFill>
                  <a:srgbClr val="0A1628"/>
                </a:solidFill>
                <a:latin typeface="Arial" pitchFamily="34" charset="0"/>
                <a:ea typeface="Arial" pitchFamily="34" charset="-122"/>
                <a:cs typeface="Arial" pitchFamily="34" charset="-120"/>
              </a:rPr>
              <a:t>Exploit</a:t>
            </a:r>
            <a:endParaRPr lang="en-US" sz="1800" dirty="0"/>
          </a:p>
        </p:txBody>
      </p:sp>
      <p:sp>
        <p:nvSpPr>
          <p:cNvPr id="44" name="Text 31"/>
          <p:cNvSpPr txBox="1"/>
          <p:nvPr/>
        </p:nvSpPr>
        <p:spPr>
          <a:xfrm>
            <a:off x="10015728" y="3474720"/>
            <a:ext cx="1514856" cy="777240"/>
          </a:xfrm>
          <a:prstGeom prst="rect">
            <a:avLst/>
          </a:prstGeom>
          <a:noFill/>
          <a:ln/>
        </p:spPr>
        <p:txBody>
          <a:bodyPr wrap="square" lIns="0" tIns="0" rIns="0" bIns="0" rtlCol="0" anchor="t"/>
          <a:lstStyle/>
          <a:p>
            <a:pPr marL="0" indent="0" algn="ctr">
              <a:buNone/>
            </a:pPr>
            <a:r>
              <a:rPr lang="en-US" sz="1300" dirty="0">
                <a:solidFill>
                  <a:srgbClr val="0A1628"/>
                </a:solidFill>
                <a:latin typeface="Calibri" pitchFamily="34" charset="0"/>
                <a:ea typeface="Calibri" pitchFamily="34" charset="-122"/>
                <a:cs typeface="Calibri" pitchFamily="34" charset="-120"/>
              </a:rPr>
              <a:t>Account takeover, fraud, ransomware</a:t>
            </a:r>
            <a:endParaRPr lang="en-US" sz="1300" dirty="0"/>
          </a:p>
        </p:txBody>
      </p:sp>
      <p:sp>
        <p:nvSpPr>
          <p:cNvPr id="45" name="Shape 32"/>
          <p:cNvSpPr/>
          <p:nvPr/>
        </p:nvSpPr>
        <p:spPr>
          <a:xfrm>
            <a:off x="548640" y="4754880"/>
            <a:ext cx="5440680" cy="1280160"/>
          </a:xfrm>
          <a:prstGeom prst="roundRect">
            <a:avLst>
              <a:gd name="adj" fmla="val 8571"/>
            </a:avLst>
          </a:prstGeom>
          <a:solidFill>
            <a:srgbClr val="13294B"/>
          </a:solidFill>
          <a:ln w="12700">
            <a:solidFill>
              <a:srgbClr val="13294B"/>
            </a:solidFill>
            <a:prstDash val="solid"/>
          </a:ln>
        </p:spPr>
        <p:txBody>
          <a:bodyPr/>
          <a:lstStyle/>
          <a:p>
            <a:endParaRPr lang="en-JP"/>
          </a:p>
        </p:txBody>
      </p:sp>
      <p:sp>
        <p:nvSpPr>
          <p:cNvPr id="46" name="Shape 33"/>
          <p:cNvSpPr/>
          <p:nvPr/>
        </p:nvSpPr>
        <p:spPr>
          <a:xfrm>
            <a:off x="777240" y="4983480"/>
            <a:ext cx="548640" cy="548640"/>
          </a:xfrm>
          <a:prstGeom prst="ellipse">
            <a:avLst/>
          </a:prstGeom>
          <a:solidFill>
            <a:srgbClr val="00B7C3"/>
          </a:solidFill>
          <a:ln w="12700">
            <a:solidFill>
              <a:srgbClr val="00B7C3"/>
            </a:solidFill>
            <a:prstDash val="solid"/>
          </a:ln>
        </p:spPr>
        <p:txBody>
          <a:bodyPr/>
          <a:lstStyle/>
          <a:p>
            <a:endParaRPr lang="en-JP"/>
          </a:p>
        </p:txBody>
      </p:sp>
      <p:pic>
        <p:nvPicPr>
          <p:cNvPr id="47" name="Image 11" descr="preencoded.png"/>
          <p:cNvPicPr>
            <a:picLocks noChangeAspect="1"/>
          </p:cNvPicPr>
          <p:nvPr/>
        </p:nvPicPr>
        <p:blipFill>
          <a:blip r:embed="rId10"/>
          <a:stretch>
            <a:fillRect/>
          </a:stretch>
        </p:blipFill>
        <p:spPr>
          <a:xfrm>
            <a:off x="908914" y="5115154"/>
            <a:ext cx="285293" cy="285293"/>
          </a:xfrm>
          <a:prstGeom prst="rect">
            <a:avLst/>
          </a:prstGeom>
        </p:spPr>
      </p:pic>
      <p:sp>
        <p:nvSpPr>
          <p:cNvPr id="48" name="Text 34"/>
          <p:cNvSpPr txBox="1"/>
          <p:nvPr/>
        </p:nvSpPr>
        <p:spPr>
          <a:xfrm>
            <a:off x="1508760" y="4846320"/>
            <a:ext cx="4297680" cy="10972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Steps 1 to 4
</a:t>
            </a:r>
            <a:r>
              <a:rPr lang="en-US" sz="1400" dirty="0">
                <a:solidFill>
                  <a:srgbClr val="CADCFC"/>
                </a:solidFill>
                <a:latin typeface="Calibri" pitchFamily="34" charset="0"/>
                <a:ea typeface="Calibri" pitchFamily="34" charset="-122"/>
                <a:cs typeface="Calibri" pitchFamily="34" charset="-120"/>
              </a:rPr>
              <a:t>Happen on your device, often within minutes.</a:t>
            </a:r>
            <a:endParaRPr lang="en-US" sz="1600" dirty="0"/>
          </a:p>
        </p:txBody>
      </p:sp>
      <p:sp>
        <p:nvSpPr>
          <p:cNvPr id="49" name="Shape 35"/>
          <p:cNvSpPr/>
          <p:nvPr/>
        </p:nvSpPr>
        <p:spPr>
          <a:xfrm>
            <a:off x="6199632" y="4754880"/>
            <a:ext cx="5440680" cy="1280160"/>
          </a:xfrm>
          <a:prstGeom prst="roundRect">
            <a:avLst>
              <a:gd name="adj" fmla="val 8571"/>
            </a:avLst>
          </a:prstGeom>
          <a:solidFill>
            <a:srgbClr val="13294B"/>
          </a:solidFill>
          <a:ln w="12700">
            <a:solidFill>
              <a:srgbClr val="13294B"/>
            </a:solidFill>
            <a:prstDash val="solid"/>
          </a:ln>
        </p:spPr>
        <p:txBody>
          <a:bodyPr/>
          <a:lstStyle/>
          <a:p>
            <a:endParaRPr lang="en-JP"/>
          </a:p>
        </p:txBody>
      </p:sp>
      <p:sp>
        <p:nvSpPr>
          <p:cNvPr id="50" name="Shape 36"/>
          <p:cNvSpPr/>
          <p:nvPr/>
        </p:nvSpPr>
        <p:spPr>
          <a:xfrm>
            <a:off x="6428232" y="4983480"/>
            <a:ext cx="548640" cy="548640"/>
          </a:xfrm>
          <a:prstGeom prst="ellipse">
            <a:avLst/>
          </a:prstGeom>
          <a:solidFill>
            <a:srgbClr val="F7630C"/>
          </a:solidFill>
          <a:ln w="12700">
            <a:solidFill>
              <a:srgbClr val="F7630C"/>
            </a:solidFill>
            <a:prstDash val="solid"/>
          </a:ln>
        </p:spPr>
        <p:txBody>
          <a:bodyPr/>
          <a:lstStyle/>
          <a:p>
            <a:endParaRPr lang="en-JP"/>
          </a:p>
        </p:txBody>
      </p:sp>
      <p:pic>
        <p:nvPicPr>
          <p:cNvPr id="51" name="Image 12" descr="preencoded.png"/>
          <p:cNvPicPr>
            <a:picLocks noChangeAspect="1"/>
          </p:cNvPicPr>
          <p:nvPr/>
        </p:nvPicPr>
        <p:blipFill>
          <a:blip r:embed="rId11"/>
          <a:stretch>
            <a:fillRect/>
          </a:stretch>
        </p:blipFill>
        <p:spPr>
          <a:xfrm>
            <a:off x="6559906" y="5115154"/>
            <a:ext cx="285293" cy="285293"/>
          </a:xfrm>
          <a:prstGeom prst="rect">
            <a:avLst/>
          </a:prstGeom>
        </p:spPr>
      </p:pic>
      <p:sp>
        <p:nvSpPr>
          <p:cNvPr id="52" name="Text 37"/>
          <p:cNvSpPr txBox="1"/>
          <p:nvPr/>
        </p:nvSpPr>
        <p:spPr>
          <a:xfrm>
            <a:off x="7159752" y="4846320"/>
            <a:ext cx="4297680" cy="10972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Steps 5 and 6
</a:t>
            </a:r>
            <a:r>
              <a:rPr lang="en-US" sz="1400" dirty="0">
                <a:solidFill>
                  <a:srgbClr val="CADCFC"/>
                </a:solidFill>
                <a:latin typeface="Calibri" pitchFamily="34" charset="0"/>
                <a:ea typeface="Calibri" pitchFamily="34" charset="-122"/>
                <a:cs typeface="Calibri" pitchFamily="34" charset="-120"/>
              </a:rPr>
              <a:t>Other criminals, including ransomware groups, buy access.</a:t>
            </a:r>
            <a:endParaRPr lang="en-US" sz="1600" dirty="0"/>
          </a:p>
        </p:txBody>
      </p:sp>
      <p:sp>
        <p:nvSpPr>
          <p:cNvPr id="53"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78D4"/>
                </a:solidFill>
                <a:latin typeface="Calibri" pitchFamily="34" charset="0"/>
                <a:ea typeface="Calibri" pitchFamily="34" charset="-122"/>
                <a:cs typeface="Calibri" pitchFamily="34" charset="-120"/>
              </a:rPr>
              <a:t>06  ·  DETECTION</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Warning signs to watch for</a:t>
            </a:r>
            <a:endParaRPr lang="en-US" sz="3600" dirty="0"/>
          </a:p>
        </p:txBody>
      </p:sp>
      <p:sp>
        <p:nvSpPr>
          <p:cNvPr id="4" name="Shape 2"/>
          <p:cNvSpPr/>
          <p:nvPr/>
        </p:nvSpPr>
        <p:spPr>
          <a:xfrm>
            <a:off x="548640" y="1600200"/>
            <a:ext cx="5431536" cy="4434840"/>
          </a:xfrm>
          <a:prstGeom prst="roundRect">
            <a:avLst>
              <a:gd name="adj" fmla="val 2474"/>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5" name="Shape 3"/>
          <p:cNvSpPr/>
          <p:nvPr/>
        </p:nvSpPr>
        <p:spPr>
          <a:xfrm>
            <a:off x="777240" y="1783080"/>
            <a:ext cx="502920" cy="502920"/>
          </a:xfrm>
          <a:prstGeom prst="ellipse">
            <a:avLst/>
          </a:prstGeom>
          <a:solidFill>
            <a:srgbClr val="F7630C"/>
          </a:solidFill>
          <a:ln w="12700">
            <a:solidFill>
              <a:srgbClr val="F7630C"/>
            </a:solidFill>
            <a:prstDash val="solid"/>
          </a:ln>
        </p:spPr>
        <p:txBody>
          <a:bodyPr/>
          <a:lstStyle/>
          <a:p>
            <a:endParaRPr lang="en-JP"/>
          </a:p>
        </p:txBody>
      </p:sp>
      <p:pic>
        <p:nvPicPr>
          <p:cNvPr id="6" name="Image 0" descr="preencoded.png"/>
          <p:cNvPicPr>
            <a:picLocks noChangeAspect="1"/>
          </p:cNvPicPr>
          <p:nvPr/>
        </p:nvPicPr>
        <p:blipFill>
          <a:blip r:embed="rId3"/>
          <a:stretch>
            <a:fillRect/>
          </a:stretch>
        </p:blipFill>
        <p:spPr>
          <a:xfrm>
            <a:off x="897941" y="1903781"/>
            <a:ext cx="261518" cy="261518"/>
          </a:xfrm>
          <a:prstGeom prst="rect">
            <a:avLst/>
          </a:prstGeom>
        </p:spPr>
      </p:pic>
      <p:sp>
        <p:nvSpPr>
          <p:cNvPr id="7" name="Text 4"/>
          <p:cNvSpPr txBox="1"/>
          <p:nvPr/>
        </p:nvSpPr>
        <p:spPr>
          <a:xfrm>
            <a:off x="1417320" y="1892808"/>
            <a:ext cx="438912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WHAT YOU MIGHT NOTICE</a:t>
            </a:r>
            <a:endParaRPr lang="en-US" sz="1200" dirty="0"/>
          </a:p>
        </p:txBody>
      </p:sp>
      <p:pic>
        <p:nvPicPr>
          <p:cNvPr id="8" name="Image 1" descr="preencoded.png"/>
          <p:cNvPicPr>
            <a:picLocks noChangeAspect="1"/>
          </p:cNvPicPr>
          <p:nvPr/>
        </p:nvPicPr>
        <p:blipFill>
          <a:blip r:embed="rId4"/>
          <a:stretch>
            <a:fillRect/>
          </a:stretch>
        </p:blipFill>
        <p:spPr>
          <a:xfrm>
            <a:off x="822960" y="2569464"/>
            <a:ext cx="274320" cy="274320"/>
          </a:xfrm>
          <a:prstGeom prst="rect">
            <a:avLst/>
          </a:prstGeom>
        </p:spPr>
      </p:pic>
      <p:sp>
        <p:nvSpPr>
          <p:cNvPr id="9" name="Text 5"/>
          <p:cNvSpPr txBox="1"/>
          <p:nvPr/>
        </p:nvSpPr>
        <p:spPr>
          <a:xfrm>
            <a:off x="1280160" y="2514600"/>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A web page asks you to press Windows + R or paste a command</a:t>
            </a:r>
            <a:endParaRPr lang="en-US" sz="1500" dirty="0"/>
          </a:p>
        </p:txBody>
      </p:sp>
      <p:pic>
        <p:nvPicPr>
          <p:cNvPr id="10" name="Image 2" descr="preencoded.png"/>
          <p:cNvPicPr>
            <a:picLocks noChangeAspect="1"/>
          </p:cNvPicPr>
          <p:nvPr/>
        </p:nvPicPr>
        <p:blipFill>
          <a:blip r:embed="rId4"/>
          <a:stretch>
            <a:fillRect/>
          </a:stretch>
        </p:blipFill>
        <p:spPr>
          <a:xfrm>
            <a:off x="822960" y="3246120"/>
            <a:ext cx="274320" cy="274320"/>
          </a:xfrm>
          <a:prstGeom prst="rect">
            <a:avLst/>
          </a:prstGeom>
        </p:spPr>
      </p:pic>
      <p:sp>
        <p:nvSpPr>
          <p:cNvPr id="11" name="Text 6"/>
          <p:cNvSpPr txBox="1"/>
          <p:nvPr/>
        </p:nvSpPr>
        <p:spPr>
          <a:xfrm>
            <a:off x="1280160" y="3191256"/>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A command or PowerShell window flashes open</a:t>
            </a:r>
            <a:endParaRPr lang="en-US" sz="1500" dirty="0"/>
          </a:p>
        </p:txBody>
      </p:sp>
      <p:pic>
        <p:nvPicPr>
          <p:cNvPr id="12" name="Image 3" descr="preencoded.png"/>
          <p:cNvPicPr>
            <a:picLocks noChangeAspect="1"/>
          </p:cNvPicPr>
          <p:nvPr/>
        </p:nvPicPr>
        <p:blipFill>
          <a:blip r:embed="rId4"/>
          <a:stretch>
            <a:fillRect/>
          </a:stretch>
        </p:blipFill>
        <p:spPr>
          <a:xfrm>
            <a:off x="822960" y="3922776"/>
            <a:ext cx="274320" cy="274320"/>
          </a:xfrm>
          <a:prstGeom prst="rect">
            <a:avLst/>
          </a:prstGeom>
        </p:spPr>
      </p:pic>
      <p:sp>
        <p:nvSpPr>
          <p:cNvPr id="13" name="Text 7"/>
          <p:cNvSpPr txBox="1"/>
          <p:nvPr/>
        </p:nvSpPr>
        <p:spPr>
          <a:xfrm>
            <a:off x="1280160" y="3867912"/>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Sudden logouts, or “new sign-in” alerts you don’t recognise</a:t>
            </a:r>
            <a:endParaRPr lang="en-US" sz="1500" dirty="0"/>
          </a:p>
        </p:txBody>
      </p:sp>
      <p:pic>
        <p:nvPicPr>
          <p:cNvPr id="14" name="Image 4" descr="preencoded.png"/>
          <p:cNvPicPr>
            <a:picLocks noChangeAspect="1"/>
          </p:cNvPicPr>
          <p:nvPr/>
        </p:nvPicPr>
        <p:blipFill>
          <a:blip r:embed="rId4"/>
          <a:stretch>
            <a:fillRect/>
          </a:stretch>
        </p:blipFill>
        <p:spPr>
          <a:xfrm>
            <a:off x="822960" y="4599432"/>
            <a:ext cx="274320" cy="274320"/>
          </a:xfrm>
          <a:prstGeom prst="rect">
            <a:avLst/>
          </a:prstGeom>
        </p:spPr>
      </p:pic>
      <p:sp>
        <p:nvSpPr>
          <p:cNvPr id="15" name="Text 8"/>
          <p:cNvSpPr txBox="1"/>
          <p:nvPr/>
        </p:nvSpPr>
        <p:spPr>
          <a:xfrm>
            <a:off x="1280160" y="4544568"/>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MFA prompts or reset emails you didn’t request</a:t>
            </a:r>
            <a:endParaRPr lang="en-US" sz="1500" dirty="0"/>
          </a:p>
        </p:txBody>
      </p:sp>
      <p:pic>
        <p:nvPicPr>
          <p:cNvPr id="16" name="Image 5" descr="preencoded.png"/>
          <p:cNvPicPr>
            <a:picLocks noChangeAspect="1"/>
          </p:cNvPicPr>
          <p:nvPr/>
        </p:nvPicPr>
        <p:blipFill>
          <a:blip r:embed="rId4"/>
          <a:stretch>
            <a:fillRect/>
          </a:stretch>
        </p:blipFill>
        <p:spPr>
          <a:xfrm>
            <a:off x="822960" y="5276088"/>
            <a:ext cx="274320" cy="274320"/>
          </a:xfrm>
          <a:prstGeom prst="rect">
            <a:avLst/>
          </a:prstGeom>
        </p:spPr>
      </p:pic>
      <p:sp>
        <p:nvSpPr>
          <p:cNvPr id="17" name="Text 9"/>
          <p:cNvSpPr txBox="1"/>
          <p:nvPr/>
        </p:nvSpPr>
        <p:spPr>
          <a:xfrm>
            <a:off x="1280160" y="5221224"/>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Missing crypto or unexpected account activity</a:t>
            </a:r>
            <a:endParaRPr lang="en-US" sz="1500" dirty="0"/>
          </a:p>
        </p:txBody>
      </p:sp>
      <p:sp>
        <p:nvSpPr>
          <p:cNvPr id="18" name="Shape 10"/>
          <p:cNvSpPr/>
          <p:nvPr/>
        </p:nvSpPr>
        <p:spPr>
          <a:xfrm>
            <a:off x="6208776" y="1600200"/>
            <a:ext cx="5431536" cy="4434840"/>
          </a:xfrm>
          <a:prstGeom prst="roundRect">
            <a:avLst>
              <a:gd name="adj" fmla="val 2474"/>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9" name="Shape 11"/>
          <p:cNvSpPr/>
          <p:nvPr/>
        </p:nvSpPr>
        <p:spPr>
          <a:xfrm>
            <a:off x="6437376" y="1783080"/>
            <a:ext cx="502920" cy="502920"/>
          </a:xfrm>
          <a:prstGeom prst="ellipse">
            <a:avLst/>
          </a:prstGeom>
          <a:solidFill>
            <a:srgbClr val="0078D4"/>
          </a:solidFill>
          <a:ln w="12700">
            <a:solidFill>
              <a:srgbClr val="0078D4"/>
            </a:solidFill>
            <a:prstDash val="solid"/>
          </a:ln>
        </p:spPr>
        <p:txBody>
          <a:bodyPr/>
          <a:lstStyle/>
          <a:p>
            <a:endParaRPr lang="en-JP"/>
          </a:p>
        </p:txBody>
      </p:sp>
      <p:pic>
        <p:nvPicPr>
          <p:cNvPr id="20" name="Image 6" descr="preencoded.png"/>
          <p:cNvPicPr>
            <a:picLocks noChangeAspect="1"/>
          </p:cNvPicPr>
          <p:nvPr/>
        </p:nvPicPr>
        <p:blipFill>
          <a:blip r:embed="rId5"/>
          <a:stretch>
            <a:fillRect/>
          </a:stretch>
        </p:blipFill>
        <p:spPr>
          <a:xfrm>
            <a:off x="6558077" y="1903781"/>
            <a:ext cx="261518" cy="261518"/>
          </a:xfrm>
          <a:prstGeom prst="rect">
            <a:avLst/>
          </a:prstGeom>
        </p:spPr>
      </p:pic>
      <p:sp>
        <p:nvSpPr>
          <p:cNvPr id="21" name="Text 12"/>
          <p:cNvSpPr txBox="1"/>
          <p:nvPr/>
        </p:nvSpPr>
        <p:spPr>
          <a:xfrm>
            <a:off x="7077456" y="1892808"/>
            <a:ext cx="438912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WHAT IT AND SECURITY CAN DETECT</a:t>
            </a:r>
            <a:endParaRPr lang="en-US" sz="1200" dirty="0"/>
          </a:p>
        </p:txBody>
      </p:sp>
      <p:pic>
        <p:nvPicPr>
          <p:cNvPr id="22" name="Image 7" descr="preencoded.png"/>
          <p:cNvPicPr>
            <a:picLocks noChangeAspect="1"/>
          </p:cNvPicPr>
          <p:nvPr/>
        </p:nvPicPr>
        <p:blipFill>
          <a:blip r:embed="rId6"/>
          <a:stretch>
            <a:fillRect/>
          </a:stretch>
        </p:blipFill>
        <p:spPr>
          <a:xfrm>
            <a:off x="6483096" y="2569464"/>
            <a:ext cx="274320" cy="274320"/>
          </a:xfrm>
          <a:prstGeom prst="rect">
            <a:avLst/>
          </a:prstGeom>
        </p:spPr>
      </p:pic>
      <p:sp>
        <p:nvSpPr>
          <p:cNvPr id="23" name="Text 13"/>
          <p:cNvSpPr txBox="1"/>
          <p:nvPr/>
        </p:nvSpPr>
        <p:spPr>
          <a:xfrm>
            <a:off x="6940296" y="2514600"/>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PowerShell or mshta launched from the Run dialog</a:t>
            </a:r>
            <a:endParaRPr lang="en-US" sz="1500" dirty="0"/>
          </a:p>
        </p:txBody>
      </p:sp>
      <p:pic>
        <p:nvPicPr>
          <p:cNvPr id="24" name="Image 8" descr="preencoded.png"/>
          <p:cNvPicPr>
            <a:picLocks noChangeAspect="1"/>
          </p:cNvPicPr>
          <p:nvPr/>
        </p:nvPicPr>
        <p:blipFill>
          <a:blip r:embed="rId6"/>
          <a:stretch>
            <a:fillRect/>
          </a:stretch>
        </p:blipFill>
        <p:spPr>
          <a:xfrm>
            <a:off x="6483096" y="3246120"/>
            <a:ext cx="274320" cy="274320"/>
          </a:xfrm>
          <a:prstGeom prst="rect">
            <a:avLst/>
          </a:prstGeom>
        </p:spPr>
      </p:pic>
      <p:sp>
        <p:nvSpPr>
          <p:cNvPr id="25" name="Text 14"/>
          <p:cNvSpPr txBox="1"/>
          <p:nvPr/>
        </p:nvSpPr>
        <p:spPr>
          <a:xfrm>
            <a:off x="6940296" y="3191256"/>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New Run history (RunMRU) entries containing web commands</a:t>
            </a:r>
            <a:endParaRPr lang="en-US" sz="1500" dirty="0"/>
          </a:p>
        </p:txBody>
      </p:sp>
      <p:pic>
        <p:nvPicPr>
          <p:cNvPr id="26" name="Image 9" descr="preencoded.png"/>
          <p:cNvPicPr>
            <a:picLocks noChangeAspect="1"/>
          </p:cNvPicPr>
          <p:nvPr/>
        </p:nvPicPr>
        <p:blipFill>
          <a:blip r:embed="rId6"/>
          <a:stretch>
            <a:fillRect/>
          </a:stretch>
        </p:blipFill>
        <p:spPr>
          <a:xfrm>
            <a:off x="6483096" y="3922776"/>
            <a:ext cx="274320" cy="274320"/>
          </a:xfrm>
          <a:prstGeom prst="rect">
            <a:avLst/>
          </a:prstGeom>
        </p:spPr>
      </p:pic>
      <p:sp>
        <p:nvSpPr>
          <p:cNvPr id="27" name="Text 15"/>
          <p:cNvSpPr txBox="1"/>
          <p:nvPr/>
        </p:nvSpPr>
        <p:spPr>
          <a:xfrm>
            <a:off x="6940296" y="3867912"/>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Unusual processes reading browser password and cookie files</a:t>
            </a:r>
            <a:endParaRPr lang="en-US" sz="1500" dirty="0"/>
          </a:p>
        </p:txBody>
      </p:sp>
      <p:pic>
        <p:nvPicPr>
          <p:cNvPr id="28" name="Image 10" descr="preencoded.png"/>
          <p:cNvPicPr>
            <a:picLocks noChangeAspect="1"/>
          </p:cNvPicPr>
          <p:nvPr/>
        </p:nvPicPr>
        <p:blipFill>
          <a:blip r:embed="rId6"/>
          <a:stretch>
            <a:fillRect/>
          </a:stretch>
        </p:blipFill>
        <p:spPr>
          <a:xfrm>
            <a:off x="6483096" y="4599432"/>
            <a:ext cx="274320" cy="274320"/>
          </a:xfrm>
          <a:prstGeom prst="rect">
            <a:avLst/>
          </a:prstGeom>
        </p:spPr>
      </p:pic>
      <p:sp>
        <p:nvSpPr>
          <p:cNvPr id="29" name="Text 16"/>
          <p:cNvSpPr txBox="1"/>
          <p:nvPr/>
        </p:nvSpPr>
        <p:spPr>
          <a:xfrm>
            <a:off x="6940296" y="4544568"/>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Connections to newly registered or known Lumma domains</a:t>
            </a:r>
            <a:endParaRPr lang="en-US" sz="1500" dirty="0"/>
          </a:p>
        </p:txBody>
      </p:sp>
      <p:pic>
        <p:nvPicPr>
          <p:cNvPr id="30" name="Image 11" descr="preencoded.png"/>
          <p:cNvPicPr>
            <a:picLocks noChangeAspect="1"/>
          </p:cNvPicPr>
          <p:nvPr/>
        </p:nvPicPr>
        <p:blipFill>
          <a:blip r:embed="rId6"/>
          <a:stretch>
            <a:fillRect/>
          </a:stretch>
        </p:blipFill>
        <p:spPr>
          <a:xfrm>
            <a:off x="6483096" y="5276088"/>
            <a:ext cx="274320" cy="274320"/>
          </a:xfrm>
          <a:prstGeom prst="rect">
            <a:avLst/>
          </a:prstGeom>
        </p:spPr>
      </p:pic>
      <p:sp>
        <p:nvSpPr>
          <p:cNvPr id="31" name="Text 17"/>
          <p:cNvSpPr txBox="1"/>
          <p:nvPr/>
        </p:nvSpPr>
        <p:spPr>
          <a:xfrm>
            <a:off x="6940296" y="5221224"/>
            <a:ext cx="4526280" cy="603504"/>
          </a:xfrm>
          <a:prstGeom prst="rect">
            <a:avLst/>
          </a:prstGeom>
          <a:noFill/>
          <a:ln/>
        </p:spPr>
        <p:txBody>
          <a:bodyPr wrap="square" lIns="0" tIns="0" rIns="0" bIns="0" rtlCol="0" anchor="t"/>
          <a:lstStyle/>
          <a:p>
            <a:pPr marL="0" indent="0">
              <a:buNone/>
            </a:pPr>
            <a:r>
              <a:rPr lang="en-US" sz="1500" dirty="0">
                <a:solidFill>
                  <a:srgbClr val="0B1F33"/>
                </a:solidFill>
                <a:latin typeface="Calibri" pitchFamily="34" charset="0"/>
                <a:ea typeface="Calibri" pitchFamily="34" charset="-122"/>
                <a:cs typeface="Calibri" pitchFamily="34" charset="-120"/>
              </a:rPr>
              <a:t>Sign-ins from new locations reusing valid sessions</a:t>
            </a:r>
            <a:endParaRPr lang="en-US" sz="1500" dirty="0"/>
          </a:p>
        </p:txBody>
      </p:sp>
      <p:sp>
        <p:nvSpPr>
          <p:cNvPr id="32"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78D4"/>
                </a:solidFill>
                <a:latin typeface="Calibri" pitchFamily="34" charset="0"/>
                <a:ea typeface="Calibri" pitchFamily="34" charset="-122"/>
                <a:cs typeface="Calibri" pitchFamily="34" charset="-120"/>
              </a:rPr>
              <a:t>07  ·  PROTECT YOURSELF</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Six habits that stop Lumma</a:t>
            </a:r>
            <a:endParaRPr lang="en-US" sz="3600" dirty="0"/>
          </a:p>
        </p:txBody>
      </p:sp>
      <p:sp>
        <p:nvSpPr>
          <p:cNvPr id="4" name="Shape 2"/>
          <p:cNvSpPr/>
          <p:nvPr/>
        </p:nvSpPr>
        <p:spPr>
          <a:xfrm>
            <a:off x="548640" y="1600200"/>
            <a:ext cx="3575304" cy="1645920"/>
          </a:xfrm>
          <a:prstGeom prst="roundRect">
            <a:avLst>
              <a:gd name="adj" fmla="val 666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5" name="Shape 3"/>
          <p:cNvSpPr/>
          <p:nvPr/>
        </p:nvSpPr>
        <p:spPr>
          <a:xfrm>
            <a:off x="777240" y="1828800"/>
            <a:ext cx="603504" cy="603504"/>
          </a:xfrm>
          <a:prstGeom prst="ellipse">
            <a:avLst/>
          </a:prstGeom>
          <a:solidFill>
            <a:srgbClr val="0078D4"/>
          </a:solidFill>
          <a:ln w="12700">
            <a:solidFill>
              <a:srgbClr val="0078D4"/>
            </a:solidFill>
            <a:prstDash val="solid"/>
          </a:ln>
        </p:spPr>
        <p:txBody>
          <a:bodyPr/>
          <a:lstStyle/>
          <a:p>
            <a:endParaRPr lang="en-JP"/>
          </a:p>
        </p:txBody>
      </p:sp>
      <p:pic>
        <p:nvPicPr>
          <p:cNvPr id="6" name="Image 0" descr="preencoded.png"/>
          <p:cNvPicPr>
            <a:picLocks noChangeAspect="1"/>
          </p:cNvPicPr>
          <p:nvPr/>
        </p:nvPicPr>
        <p:blipFill>
          <a:blip r:embed="rId3"/>
          <a:stretch>
            <a:fillRect/>
          </a:stretch>
        </p:blipFill>
        <p:spPr>
          <a:xfrm>
            <a:off x="922081" y="1973641"/>
            <a:ext cx="313822" cy="313822"/>
          </a:xfrm>
          <a:prstGeom prst="rect">
            <a:avLst/>
          </a:prstGeom>
        </p:spPr>
      </p:pic>
      <p:sp>
        <p:nvSpPr>
          <p:cNvPr id="7" name="Text 4"/>
          <p:cNvSpPr txBox="1"/>
          <p:nvPr/>
        </p:nvSpPr>
        <p:spPr>
          <a:xfrm>
            <a:off x="777240" y="251460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Never paste commands</a:t>
            </a:r>
            <a:endParaRPr lang="en-US" sz="1700" dirty="0"/>
          </a:p>
        </p:txBody>
      </p:sp>
      <p:sp>
        <p:nvSpPr>
          <p:cNvPr id="8" name="Text 5"/>
          <p:cNvSpPr txBox="1"/>
          <p:nvPr/>
        </p:nvSpPr>
        <p:spPr>
          <a:xfrm>
            <a:off x="777240" y="2862072"/>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No real website asks you to run anything.</a:t>
            </a:r>
            <a:endParaRPr lang="en-US" sz="1400" dirty="0"/>
          </a:p>
        </p:txBody>
      </p:sp>
      <p:sp>
        <p:nvSpPr>
          <p:cNvPr id="9" name="Shape 6"/>
          <p:cNvSpPr/>
          <p:nvPr/>
        </p:nvSpPr>
        <p:spPr>
          <a:xfrm>
            <a:off x="4306824" y="1600200"/>
            <a:ext cx="3575304" cy="1645920"/>
          </a:xfrm>
          <a:prstGeom prst="roundRect">
            <a:avLst>
              <a:gd name="adj" fmla="val 666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0" name="Shape 7"/>
          <p:cNvSpPr/>
          <p:nvPr/>
        </p:nvSpPr>
        <p:spPr>
          <a:xfrm>
            <a:off x="4535424" y="1828800"/>
            <a:ext cx="603504" cy="603504"/>
          </a:xfrm>
          <a:prstGeom prst="ellipse">
            <a:avLst/>
          </a:prstGeom>
          <a:solidFill>
            <a:srgbClr val="0078D4"/>
          </a:solidFill>
          <a:ln w="12700">
            <a:solidFill>
              <a:srgbClr val="0078D4"/>
            </a:solidFill>
            <a:prstDash val="solid"/>
          </a:ln>
        </p:spPr>
        <p:txBody>
          <a:bodyPr/>
          <a:lstStyle/>
          <a:p>
            <a:endParaRPr lang="en-JP"/>
          </a:p>
        </p:txBody>
      </p:sp>
      <p:pic>
        <p:nvPicPr>
          <p:cNvPr id="11" name="Image 1" descr="preencoded.png"/>
          <p:cNvPicPr>
            <a:picLocks noChangeAspect="1"/>
          </p:cNvPicPr>
          <p:nvPr/>
        </p:nvPicPr>
        <p:blipFill>
          <a:blip r:embed="rId4"/>
          <a:stretch>
            <a:fillRect/>
          </a:stretch>
        </p:blipFill>
        <p:spPr>
          <a:xfrm>
            <a:off x="4680265" y="1973641"/>
            <a:ext cx="313822" cy="313822"/>
          </a:xfrm>
          <a:prstGeom prst="rect">
            <a:avLst/>
          </a:prstGeom>
        </p:spPr>
      </p:pic>
      <p:sp>
        <p:nvSpPr>
          <p:cNvPr id="12" name="Text 8"/>
          <p:cNvSpPr txBox="1"/>
          <p:nvPr/>
        </p:nvSpPr>
        <p:spPr>
          <a:xfrm>
            <a:off x="4535424" y="251460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Use official sources</a:t>
            </a:r>
            <a:endParaRPr lang="en-US" sz="1700" dirty="0"/>
          </a:p>
        </p:txBody>
      </p:sp>
      <p:sp>
        <p:nvSpPr>
          <p:cNvPr id="13" name="Text 9"/>
          <p:cNvSpPr txBox="1"/>
          <p:nvPr/>
        </p:nvSpPr>
        <p:spPr>
          <a:xfrm>
            <a:off x="4535424" y="2862072"/>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No cracks or unofficial downloads.</a:t>
            </a:r>
            <a:endParaRPr lang="en-US" sz="1400" dirty="0"/>
          </a:p>
        </p:txBody>
      </p:sp>
      <p:sp>
        <p:nvSpPr>
          <p:cNvPr id="14" name="Shape 10"/>
          <p:cNvSpPr/>
          <p:nvPr/>
        </p:nvSpPr>
        <p:spPr>
          <a:xfrm>
            <a:off x="8065008" y="1600200"/>
            <a:ext cx="3575304" cy="1645920"/>
          </a:xfrm>
          <a:prstGeom prst="roundRect">
            <a:avLst>
              <a:gd name="adj" fmla="val 666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5" name="Shape 11"/>
          <p:cNvSpPr/>
          <p:nvPr/>
        </p:nvSpPr>
        <p:spPr>
          <a:xfrm>
            <a:off x="8293608" y="1828800"/>
            <a:ext cx="603504" cy="603504"/>
          </a:xfrm>
          <a:prstGeom prst="ellipse">
            <a:avLst/>
          </a:prstGeom>
          <a:solidFill>
            <a:srgbClr val="0078D4"/>
          </a:solidFill>
          <a:ln w="12700">
            <a:solidFill>
              <a:srgbClr val="0078D4"/>
            </a:solidFill>
            <a:prstDash val="solid"/>
          </a:ln>
        </p:spPr>
        <p:txBody>
          <a:bodyPr/>
          <a:lstStyle/>
          <a:p>
            <a:endParaRPr lang="en-JP"/>
          </a:p>
        </p:txBody>
      </p:sp>
      <p:pic>
        <p:nvPicPr>
          <p:cNvPr id="16" name="Image 2" descr="preencoded.png"/>
          <p:cNvPicPr>
            <a:picLocks noChangeAspect="1"/>
          </p:cNvPicPr>
          <p:nvPr/>
        </p:nvPicPr>
        <p:blipFill>
          <a:blip r:embed="rId5"/>
          <a:stretch>
            <a:fillRect/>
          </a:stretch>
        </p:blipFill>
        <p:spPr>
          <a:xfrm>
            <a:off x="8438449" y="1973641"/>
            <a:ext cx="313822" cy="313822"/>
          </a:xfrm>
          <a:prstGeom prst="rect">
            <a:avLst/>
          </a:prstGeom>
        </p:spPr>
      </p:pic>
      <p:sp>
        <p:nvSpPr>
          <p:cNvPr id="17" name="Text 12"/>
          <p:cNvSpPr txBox="1"/>
          <p:nvPr/>
        </p:nvSpPr>
        <p:spPr>
          <a:xfrm>
            <a:off x="8293608" y="251460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Use a password manager</a:t>
            </a:r>
            <a:endParaRPr lang="en-US" sz="1700" dirty="0"/>
          </a:p>
        </p:txBody>
      </p:sp>
      <p:sp>
        <p:nvSpPr>
          <p:cNvPr id="18" name="Text 13"/>
          <p:cNvSpPr txBox="1"/>
          <p:nvPr/>
        </p:nvSpPr>
        <p:spPr>
          <a:xfrm>
            <a:off x="8293608" y="2862072"/>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Don’t save passwords in the browser.</a:t>
            </a:r>
            <a:endParaRPr lang="en-US" sz="1400" dirty="0"/>
          </a:p>
        </p:txBody>
      </p:sp>
      <p:sp>
        <p:nvSpPr>
          <p:cNvPr id="19" name="Shape 14"/>
          <p:cNvSpPr/>
          <p:nvPr/>
        </p:nvSpPr>
        <p:spPr>
          <a:xfrm>
            <a:off x="548640" y="3429000"/>
            <a:ext cx="3575304" cy="1645920"/>
          </a:xfrm>
          <a:prstGeom prst="roundRect">
            <a:avLst>
              <a:gd name="adj" fmla="val 666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0" name="Shape 15"/>
          <p:cNvSpPr/>
          <p:nvPr/>
        </p:nvSpPr>
        <p:spPr>
          <a:xfrm>
            <a:off x="777240" y="3657600"/>
            <a:ext cx="603504" cy="603504"/>
          </a:xfrm>
          <a:prstGeom prst="ellipse">
            <a:avLst/>
          </a:prstGeom>
          <a:solidFill>
            <a:srgbClr val="0078D4"/>
          </a:solidFill>
          <a:ln w="12700">
            <a:solidFill>
              <a:srgbClr val="0078D4"/>
            </a:solidFill>
            <a:prstDash val="solid"/>
          </a:ln>
        </p:spPr>
        <p:txBody>
          <a:bodyPr/>
          <a:lstStyle/>
          <a:p>
            <a:endParaRPr lang="en-JP"/>
          </a:p>
        </p:txBody>
      </p:sp>
      <p:pic>
        <p:nvPicPr>
          <p:cNvPr id="21" name="Image 3" descr="preencoded.png"/>
          <p:cNvPicPr>
            <a:picLocks noChangeAspect="1"/>
          </p:cNvPicPr>
          <p:nvPr/>
        </p:nvPicPr>
        <p:blipFill>
          <a:blip r:embed="rId6"/>
          <a:stretch>
            <a:fillRect/>
          </a:stretch>
        </p:blipFill>
        <p:spPr>
          <a:xfrm>
            <a:off x="922081" y="3802441"/>
            <a:ext cx="313822" cy="313822"/>
          </a:xfrm>
          <a:prstGeom prst="rect">
            <a:avLst/>
          </a:prstGeom>
        </p:spPr>
      </p:pic>
      <p:sp>
        <p:nvSpPr>
          <p:cNvPr id="22" name="Text 16"/>
          <p:cNvSpPr txBox="1"/>
          <p:nvPr/>
        </p:nvSpPr>
        <p:spPr>
          <a:xfrm>
            <a:off x="777240" y="434340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Use MFA and read alerts</a:t>
            </a:r>
            <a:endParaRPr lang="en-US" sz="1700" dirty="0"/>
          </a:p>
        </p:txBody>
      </p:sp>
      <p:sp>
        <p:nvSpPr>
          <p:cNvPr id="23" name="Text 17"/>
          <p:cNvSpPr txBox="1"/>
          <p:nvPr/>
        </p:nvSpPr>
        <p:spPr>
          <a:xfrm>
            <a:off x="777240" y="4690872"/>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Report prompts you didn’t expect.</a:t>
            </a:r>
            <a:endParaRPr lang="en-US" sz="1400" dirty="0"/>
          </a:p>
        </p:txBody>
      </p:sp>
      <p:sp>
        <p:nvSpPr>
          <p:cNvPr id="24" name="Shape 18"/>
          <p:cNvSpPr/>
          <p:nvPr/>
        </p:nvSpPr>
        <p:spPr>
          <a:xfrm>
            <a:off x="4306824" y="3429000"/>
            <a:ext cx="3575304" cy="1645920"/>
          </a:xfrm>
          <a:prstGeom prst="roundRect">
            <a:avLst>
              <a:gd name="adj" fmla="val 666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5" name="Shape 19"/>
          <p:cNvSpPr/>
          <p:nvPr/>
        </p:nvSpPr>
        <p:spPr>
          <a:xfrm>
            <a:off x="4535424" y="3657600"/>
            <a:ext cx="603504" cy="603504"/>
          </a:xfrm>
          <a:prstGeom prst="ellipse">
            <a:avLst/>
          </a:prstGeom>
          <a:solidFill>
            <a:srgbClr val="0078D4"/>
          </a:solidFill>
          <a:ln w="12700">
            <a:solidFill>
              <a:srgbClr val="0078D4"/>
            </a:solidFill>
            <a:prstDash val="solid"/>
          </a:ln>
        </p:spPr>
        <p:txBody>
          <a:bodyPr/>
          <a:lstStyle/>
          <a:p>
            <a:endParaRPr lang="en-JP"/>
          </a:p>
        </p:txBody>
      </p:sp>
      <p:pic>
        <p:nvPicPr>
          <p:cNvPr id="26" name="Image 4" descr="preencoded.png"/>
          <p:cNvPicPr>
            <a:picLocks noChangeAspect="1"/>
          </p:cNvPicPr>
          <p:nvPr/>
        </p:nvPicPr>
        <p:blipFill>
          <a:blip r:embed="rId7"/>
          <a:stretch>
            <a:fillRect/>
          </a:stretch>
        </p:blipFill>
        <p:spPr>
          <a:xfrm>
            <a:off x="4680265" y="3802441"/>
            <a:ext cx="313822" cy="313822"/>
          </a:xfrm>
          <a:prstGeom prst="rect">
            <a:avLst/>
          </a:prstGeom>
        </p:spPr>
      </p:pic>
      <p:sp>
        <p:nvSpPr>
          <p:cNvPr id="27" name="Text 20"/>
          <p:cNvSpPr txBox="1"/>
          <p:nvPr/>
        </p:nvSpPr>
        <p:spPr>
          <a:xfrm>
            <a:off x="4535424" y="434340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Keep everything updated</a:t>
            </a:r>
            <a:endParaRPr lang="en-US" sz="1700" dirty="0"/>
          </a:p>
        </p:txBody>
      </p:sp>
      <p:sp>
        <p:nvSpPr>
          <p:cNvPr id="28" name="Text 21"/>
          <p:cNvSpPr txBox="1"/>
          <p:nvPr/>
        </p:nvSpPr>
        <p:spPr>
          <a:xfrm>
            <a:off x="4535424" y="4690872"/>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Browser, Windows and security tools.</a:t>
            </a:r>
            <a:endParaRPr lang="en-US" sz="1400" dirty="0"/>
          </a:p>
        </p:txBody>
      </p:sp>
      <p:sp>
        <p:nvSpPr>
          <p:cNvPr id="29" name="Shape 22"/>
          <p:cNvSpPr/>
          <p:nvPr/>
        </p:nvSpPr>
        <p:spPr>
          <a:xfrm>
            <a:off x="8065008" y="3429000"/>
            <a:ext cx="3575304" cy="1645920"/>
          </a:xfrm>
          <a:prstGeom prst="roundRect">
            <a:avLst>
              <a:gd name="adj" fmla="val 666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30" name="Shape 23"/>
          <p:cNvSpPr/>
          <p:nvPr/>
        </p:nvSpPr>
        <p:spPr>
          <a:xfrm>
            <a:off x="8293608" y="3657600"/>
            <a:ext cx="603504" cy="603504"/>
          </a:xfrm>
          <a:prstGeom prst="ellipse">
            <a:avLst/>
          </a:prstGeom>
          <a:solidFill>
            <a:srgbClr val="0078D4"/>
          </a:solidFill>
          <a:ln w="12700">
            <a:solidFill>
              <a:srgbClr val="0078D4"/>
            </a:solidFill>
            <a:prstDash val="solid"/>
          </a:ln>
        </p:spPr>
        <p:txBody>
          <a:bodyPr/>
          <a:lstStyle/>
          <a:p>
            <a:endParaRPr lang="en-JP"/>
          </a:p>
        </p:txBody>
      </p:sp>
      <p:pic>
        <p:nvPicPr>
          <p:cNvPr id="31" name="Image 5" descr="preencoded.png"/>
          <p:cNvPicPr>
            <a:picLocks noChangeAspect="1"/>
          </p:cNvPicPr>
          <p:nvPr/>
        </p:nvPicPr>
        <p:blipFill>
          <a:blip r:embed="rId8"/>
          <a:stretch>
            <a:fillRect/>
          </a:stretch>
        </p:blipFill>
        <p:spPr>
          <a:xfrm>
            <a:off x="8438449" y="3802441"/>
            <a:ext cx="313822" cy="313822"/>
          </a:xfrm>
          <a:prstGeom prst="rect">
            <a:avLst/>
          </a:prstGeom>
        </p:spPr>
      </p:pic>
      <p:sp>
        <p:nvSpPr>
          <p:cNvPr id="32" name="Text 24"/>
          <p:cNvSpPr txBox="1"/>
          <p:nvPr/>
        </p:nvSpPr>
        <p:spPr>
          <a:xfrm>
            <a:off x="8293608" y="4343400"/>
            <a:ext cx="3118104" cy="329184"/>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Keep crypto off work devices</a:t>
            </a:r>
            <a:endParaRPr lang="en-US" sz="1700" dirty="0"/>
          </a:p>
        </p:txBody>
      </p:sp>
      <p:sp>
        <p:nvSpPr>
          <p:cNvPr id="33" name="Text 25"/>
          <p:cNvSpPr txBox="1"/>
          <p:nvPr/>
        </p:nvSpPr>
        <p:spPr>
          <a:xfrm>
            <a:off x="8293608" y="4690872"/>
            <a:ext cx="3118104" cy="292608"/>
          </a:xfrm>
          <a:prstGeom prst="rect">
            <a:avLst/>
          </a:prstGeom>
          <a:noFill/>
          <a:ln/>
        </p:spPr>
        <p:txBody>
          <a:bodyPr wrap="square" lIns="0" tIns="0" rIns="0" bIns="0" rtlCol="0" anchor="ctr"/>
          <a:lstStyle/>
          <a:p>
            <a:pPr marL="0" indent="0">
              <a:buNone/>
            </a:pPr>
            <a:r>
              <a:rPr lang="en-US" sz="1400" dirty="0">
                <a:solidFill>
                  <a:srgbClr val="4A5A6B"/>
                </a:solidFill>
                <a:latin typeface="Calibri" pitchFamily="34" charset="0"/>
                <a:ea typeface="Calibri" pitchFamily="34" charset="-122"/>
                <a:cs typeface="Calibri" pitchFamily="34" charset="-120"/>
              </a:rPr>
              <a:t>Never store personal wallets at work.</a:t>
            </a:r>
            <a:endParaRPr lang="en-US" sz="1400" dirty="0"/>
          </a:p>
        </p:txBody>
      </p:sp>
      <p:sp>
        <p:nvSpPr>
          <p:cNvPr id="34" name="Shape 26"/>
          <p:cNvSpPr/>
          <p:nvPr/>
        </p:nvSpPr>
        <p:spPr>
          <a:xfrm>
            <a:off x="548640" y="5349240"/>
            <a:ext cx="11091672" cy="685800"/>
          </a:xfrm>
          <a:prstGeom prst="roundRect">
            <a:avLst>
              <a:gd name="adj" fmla="val 16000"/>
            </a:avLst>
          </a:prstGeom>
          <a:solidFill>
            <a:srgbClr val="F7630C"/>
          </a:solidFill>
          <a:ln w="12700">
            <a:solidFill>
              <a:srgbClr val="F7630C"/>
            </a:solidFill>
            <a:prstDash val="solid"/>
          </a:ln>
        </p:spPr>
        <p:txBody>
          <a:bodyPr/>
          <a:lstStyle/>
          <a:p>
            <a:endParaRPr lang="en-JP"/>
          </a:p>
        </p:txBody>
      </p:sp>
      <p:sp>
        <p:nvSpPr>
          <p:cNvPr id="35" name="Text 27"/>
          <p:cNvSpPr txBox="1"/>
          <p:nvPr/>
        </p:nvSpPr>
        <p:spPr>
          <a:xfrm>
            <a:off x="548640" y="5349240"/>
            <a:ext cx="11091672" cy="685800"/>
          </a:xfrm>
          <a:prstGeom prst="rect">
            <a:avLst/>
          </a:prstGeom>
          <a:noFill/>
          <a:ln/>
        </p:spPr>
        <p:txBody>
          <a:bodyPr wrap="square" lIns="0" tIns="0" rIns="0" bIns="0" rtlCol="0" anchor="ctr"/>
          <a:lstStyle/>
          <a:p>
            <a:pPr marL="0" indent="0" algn="ctr">
              <a:buNone/>
            </a:pPr>
            <a:r>
              <a:rPr lang="en-US" sz="1800" b="1" dirty="0">
                <a:solidFill>
                  <a:srgbClr val="0A1628"/>
                </a:solidFill>
                <a:latin typeface="Calibri" pitchFamily="34" charset="0"/>
                <a:ea typeface="Calibri" pitchFamily="34" charset="-122"/>
                <a:cs typeface="Calibri" pitchFamily="34" charset="-120"/>
              </a:rPr>
              <a:t>If a page tells you to press Windows + R: close it and report it.</a:t>
            </a:r>
            <a:endParaRPr lang="en-US" sz="1800" dirty="0"/>
          </a:p>
        </p:txBody>
      </p:sp>
      <p:sp>
        <p:nvSpPr>
          <p:cNvPr id="36"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78D4"/>
                </a:solidFill>
                <a:latin typeface="Calibri" pitchFamily="34" charset="0"/>
                <a:ea typeface="Calibri" pitchFamily="34" charset="-122"/>
                <a:cs typeface="Calibri" pitchFamily="34" charset="-120"/>
              </a:rPr>
              <a:t>08  ·  PREVENT</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Layered controls for IT and security teams</a:t>
            </a:r>
            <a:endParaRPr lang="en-US" sz="3600" dirty="0"/>
          </a:p>
        </p:txBody>
      </p:sp>
      <p:sp>
        <p:nvSpPr>
          <p:cNvPr id="4" name="Shape 2"/>
          <p:cNvSpPr/>
          <p:nvPr/>
        </p:nvSpPr>
        <p:spPr>
          <a:xfrm>
            <a:off x="548640" y="1600200"/>
            <a:ext cx="11091672" cy="777240"/>
          </a:xfrm>
          <a:prstGeom prst="roundRect">
            <a:avLst>
              <a:gd name="adj" fmla="val 14118"/>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5" name="Shape 3"/>
          <p:cNvSpPr/>
          <p:nvPr/>
        </p:nvSpPr>
        <p:spPr>
          <a:xfrm>
            <a:off x="731520" y="1728216"/>
            <a:ext cx="521208" cy="521208"/>
          </a:xfrm>
          <a:prstGeom prst="ellipse">
            <a:avLst/>
          </a:prstGeom>
          <a:solidFill>
            <a:srgbClr val="0078D4"/>
          </a:solidFill>
          <a:ln w="12700">
            <a:solidFill>
              <a:srgbClr val="0078D4"/>
            </a:solidFill>
            <a:prstDash val="solid"/>
          </a:ln>
        </p:spPr>
        <p:txBody>
          <a:bodyPr/>
          <a:lstStyle/>
          <a:p>
            <a:endParaRPr lang="en-JP"/>
          </a:p>
        </p:txBody>
      </p:sp>
      <p:pic>
        <p:nvPicPr>
          <p:cNvPr id="6" name="Image 0" descr="preencoded.png"/>
          <p:cNvPicPr>
            <a:picLocks noChangeAspect="1"/>
          </p:cNvPicPr>
          <p:nvPr/>
        </p:nvPicPr>
        <p:blipFill>
          <a:blip r:embed="rId3"/>
          <a:stretch>
            <a:fillRect/>
          </a:stretch>
        </p:blipFill>
        <p:spPr>
          <a:xfrm>
            <a:off x="856610" y="1853306"/>
            <a:ext cx="271028" cy="271028"/>
          </a:xfrm>
          <a:prstGeom prst="rect">
            <a:avLst/>
          </a:prstGeom>
        </p:spPr>
      </p:pic>
      <p:sp>
        <p:nvSpPr>
          <p:cNvPr id="7" name="Text 4"/>
          <p:cNvSpPr txBox="1"/>
          <p:nvPr/>
        </p:nvSpPr>
        <p:spPr>
          <a:xfrm>
            <a:off x="1417320" y="1600200"/>
            <a:ext cx="1737360" cy="777240"/>
          </a:xfrm>
          <a:prstGeom prst="rect">
            <a:avLst/>
          </a:prstGeom>
          <a:noFill/>
          <a:ln/>
        </p:spPr>
        <p:txBody>
          <a:bodyPr wrap="square" lIns="0" tIns="0" rIns="0" bIns="0" rtlCol="0" anchor="ctr"/>
          <a:lstStyle/>
          <a:p>
            <a:pPr marL="0" indent="0">
              <a:buNone/>
            </a:pPr>
            <a:r>
              <a:rPr lang="en-US" sz="1700" b="1" dirty="0">
                <a:solidFill>
                  <a:srgbClr val="0078D4"/>
                </a:solidFill>
                <a:latin typeface="Arial" pitchFamily="34" charset="0"/>
                <a:ea typeface="Arial" pitchFamily="34" charset="-122"/>
                <a:cs typeface="Arial" pitchFamily="34" charset="-120"/>
              </a:rPr>
              <a:t>Endpoint</a:t>
            </a:r>
            <a:endParaRPr lang="en-US" sz="1700" dirty="0"/>
          </a:p>
        </p:txBody>
      </p:sp>
      <p:sp>
        <p:nvSpPr>
          <p:cNvPr id="8" name="Text 5"/>
          <p:cNvSpPr txBox="1"/>
          <p:nvPr/>
        </p:nvSpPr>
        <p:spPr>
          <a:xfrm>
            <a:off x="3154680" y="1600200"/>
            <a:ext cx="8321040" cy="777240"/>
          </a:xfrm>
          <a:prstGeom prst="rect">
            <a:avLst/>
          </a:prstGeom>
          <a:noFill/>
          <a:ln/>
        </p:spPr>
        <p:txBody>
          <a:bodyPr wrap="square" lIns="0" tIns="0" rIns="0" bIns="0" rtlCol="0" anchor="ctr"/>
          <a:lstStyle/>
          <a:p>
            <a:pPr marL="0" indent="0">
              <a:buNone/>
            </a:pPr>
            <a:r>
              <a:rPr lang="en-US" sz="1500" dirty="0">
                <a:solidFill>
                  <a:srgbClr val="0B1F33"/>
                </a:solidFill>
                <a:latin typeface="Calibri" pitchFamily="34" charset="0"/>
                <a:ea typeface="Calibri" pitchFamily="34" charset="-122"/>
                <a:cs typeface="Calibri" pitchFamily="34" charset="-120"/>
              </a:rPr>
              <a:t>EDR in block mode and ASR rules; restrict the Run dialog, PowerShell and mshta for standard users (GPO, AppLocker or WDAC).</a:t>
            </a:r>
            <a:endParaRPr lang="en-US" sz="1500" dirty="0"/>
          </a:p>
        </p:txBody>
      </p:sp>
      <p:sp>
        <p:nvSpPr>
          <p:cNvPr id="9" name="Shape 6"/>
          <p:cNvSpPr/>
          <p:nvPr/>
        </p:nvSpPr>
        <p:spPr>
          <a:xfrm>
            <a:off x="548640" y="2487168"/>
            <a:ext cx="11091672" cy="777240"/>
          </a:xfrm>
          <a:prstGeom prst="roundRect">
            <a:avLst>
              <a:gd name="adj" fmla="val 14118"/>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0" name="Shape 7"/>
          <p:cNvSpPr/>
          <p:nvPr/>
        </p:nvSpPr>
        <p:spPr>
          <a:xfrm>
            <a:off x="731520" y="2615184"/>
            <a:ext cx="521208" cy="521208"/>
          </a:xfrm>
          <a:prstGeom prst="ellipse">
            <a:avLst/>
          </a:prstGeom>
          <a:solidFill>
            <a:srgbClr val="0078D4"/>
          </a:solidFill>
          <a:ln w="12700">
            <a:solidFill>
              <a:srgbClr val="0078D4"/>
            </a:solidFill>
            <a:prstDash val="solid"/>
          </a:ln>
        </p:spPr>
        <p:txBody>
          <a:bodyPr/>
          <a:lstStyle/>
          <a:p>
            <a:endParaRPr lang="en-JP"/>
          </a:p>
        </p:txBody>
      </p:sp>
      <p:pic>
        <p:nvPicPr>
          <p:cNvPr id="11" name="Image 1" descr="preencoded.png"/>
          <p:cNvPicPr>
            <a:picLocks noChangeAspect="1"/>
          </p:cNvPicPr>
          <p:nvPr/>
        </p:nvPicPr>
        <p:blipFill>
          <a:blip r:embed="rId4"/>
          <a:stretch>
            <a:fillRect/>
          </a:stretch>
        </p:blipFill>
        <p:spPr>
          <a:xfrm>
            <a:off x="856610" y="2740274"/>
            <a:ext cx="271028" cy="271028"/>
          </a:xfrm>
          <a:prstGeom prst="rect">
            <a:avLst/>
          </a:prstGeom>
        </p:spPr>
      </p:pic>
      <p:sp>
        <p:nvSpPr>
          <p:cNvPr id="12" name="Text 8"/>
          <p:cNvSpPr txBox="1"/>
          <p:nvPr/>
        </p:nvSpPr>
        <p:spPr>
          <a:xfrm>
            <a:off x="1417320" y="2487168"/>
            <a:ext cx="1737360" cy="777240"/>
          </a:xfrm>
          <a:prstGeom prst="rect">
            <a:avLst/>
          </a:prstGeom>
          <a:noFill/>
          <a:ln/>
        </p:spPr>
        <p:txBody>
          <a:bodyPr wrap="square" lIns="0" tIns="0" rIns="0" bIns="0" rtlCol="0" anchor="ctr"/>
          <a:lstStyle/>
          <a:p>
            <a:pPr marL="0" indent="0">
              <a:buNone/>
            </a:pPr>
            <a:r>
              <a:rPr lang="en-US" sz="1700" b="1" dirty="0">
                <a:solidFill>
                  <a:srgbClr val="0078D4"/>
                </a:solidFill>
                <a:latin typeface="Arial" pitchFamily="34" charset="0"/>
                <a:ea typeface="Arial" pitchFamily="34" charset="-122"/>
                <a:cs typeface="Arial" pitchFamily="34" charset="-120"/>
              </a:rPr>
              <a:t>Identity</a:t>
            </a:r>
            <a:endParaRPr lang="en-US" sz="1700" dirty="0"/>
          </a:p>
        </p:txBody>
      </p:sp>
      <p:sp>
        <p:nvSpPr>
          <p:cNvPr id="13" name="Text 9"/>
          <p:cNvSpPr txBox="1"/>
          <p:nvPr/>
        </p:nvSpPr>
        <p:spPr>
          <a:xfrm>
            <a:off x="3154680" y="2487168"/>
            <a:ext cx="8321040" cy="777240"/>
          </a:xfrm>
          <a:prstGeom prst="rect">
            <a:avLst/>
          </a:prstGeom>
          <a:noFill/>
          <a:ln/>
        </p:spPr>
        <p:txBody>
          <a:bodyPr wrap="square" lIns="0" tIns="0" rIns="0" bIns="0" rtlCol="0" anchor="ctr"/>
          <a:lstStyle/>
          <a:p>
            <a:pPr marL="0" indent="0">
              <a:buNone/>
            </a:pPr>
            <a:r>
              <a:rPr lang="en-US" sz="1500" dirty="0">
                <a:solidFill>
                  <a:srgbClr val="0B1F33"/>
                </a:solidFill>
                <a:latin typeface="Calibri" pitchFamily="34" charset="0"/>
                <a:ea typeface="Calibri" pitchFamily="34" charset="-122"/>
                <a:cs typeface="Calibri" pitchFamily="34" charset="-120"/>
              </a:rPr>
              <a:t>Phishing-resistant MFA, Conditional Access for compliant devices, short session lifetimes and token protection.</a:t>
            </a:r>
            <a:endParaRPr lang="en-US" sz="1500" dirty="0"/>
          </a:p>
        </p:txBody>
      </p:sp>
      <p:sp>
        <p:nvSpPr>
          <p:cNvPr id="14" name="Shape 10"/>
          <p:cNvSpPr/>
          <p:nvPr/>
        </p:nvSpPr>
        <p:spPr>
          <a:xfrm>
            <a:off x="548640" y="3374136"/>
            <a:ext cx="11091672" cy="777240"/>
          </a:xfrm>
          <a:prstGeom prst="roundRect">
            <a:avLst>
              <a:gd name="adj" fmla="val 14118"/>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5" name="Shape 11"/>
          <p:cNvSpPr/>
          <p:nvPr/>
        </p:nvSpPr>
        <p:spPr>
          <a:xfrm>
            <a:off x="731520" y="3502152"/>
            <a:ext cx="521208" cy="521208"/>
          </a:xfrm>
          <a:prstGeom prst="ellipse">
            <a:avLst/>
          </a:prstGeom>
          <a:solidFill>
            <a:srgbClr val="0078D4"/>
          </a:solidFill>
          <a:ln w="12700">
            <a:solidFill>
              <a:srgbClr val="0078D4"/>
            </a:solidFill>
            <a:prstDash val="solid"/>
          </a:ln>
        </p:spPr>
        <p:txBody>
          <a:bodyPr/>
          <a:lstStyle/>
          <a:p>
            <a:endParaRPr lang="en-JP"/>
          </a:p>
        </p:txBody>
      </p:sp>
      <p:pic>
        <p:nvPicPr>
          <p:cNvPr id="16" name="Image 2" descr="preencoded.png"/>
          <p:cNvPicPr>
            <a:picLocks noChangeAspect="1"/>
          </p:cNvPicPr>
          <p:nvPr/>
        </p:nvPicPr>
        <p:blipFill>
          <a:blip r:embed="rId5"/>
          <a:stretch>
            <a:fillRect/>
          </a:stretch>
        </p:blipFill>
        <p:spPr>
          <a:xfrm>
            <a:off x="856610" y="3627242"/>
            <a:ext cx="271028" cy="271028"/>
          </a:xfrm>
          <a:prstGeom prst="rect">
            <a:avLst/>
          </a:prstGeom>
        </p:spPr>
      </p:pic>
      <p:sp>
        <p:nvSpPr>
          <p:cNvPr id="17" name="Text 12"/>
          <p:cNvSpPr txBox="1"/>
          <p:nvPr/>
        </p:nvSpPr>
        <p:spPr>
          <a:xfrm>
            <a:off x="1417320" y="3374136"/>
            <a:ext cx="1737360" cy="777240"/>
          </a:xfrm>
          <a:prstGeom prst="rect">
            <a:avLst/>
          </a:prstGeom>
          <a:noFill/>
          <a:ln/>
        </p:spPr>
        <p:txBody>
          <a:bodyPr wrap="square" lIns="0" tIns="0" rIns="0" bIns="0" rtlCol="0" anchor="ctr"/>
          <a:lstStyle/>
          <a:p>
            <a:pPr marL="0" indent="0">
              <a:buNone/>
            </a:pPr>
            <a:r>
              <a:rPr lang="en-US" sz="1700" b="1" dirty="0">
                <a:solidFill>
                  <a:srgbClr val="0078D4"/>
                </a:solidFill>
                <a:latin typeface="Arial" pitchFamily="34" charset="0"/>
                <a:ea typeface="Arial" pitchFamily="34" charset="-122"/>
                <a:cs typeface="Arial" pitchFamily="34" charset="-120"/>
              </a:rPr>
              <a:t>Browser</a:t>
            </a:r>
            <a:endParaRPr lang="en-US" sz="1700" dirty="0"/>
          </a:p>
        </p:txBody>
      </p:sp>
      <p:sp>
        <p:nvSpPr>
          <p:cNvPr id="18" name="Text 13"/>
          <p:cNvSpPr txBox="1"/>
          <p:nvPr/>
        </p:nvSpPr>
        <p:spPr>
          <a:xfrm>
            <a:off x="3154680" y="3374136"/>
            <a:ext cx="8321040" cy="777240"/>
          </a:xfrm>
          <a:prstGeom prst="rect">
            <a:avLst/>
          </a:prstGeom>
          <a:noFill/>
          <a:ln/>
        </p:spPr>
        <p:txBody>
          <a:bodyPr wrap="square" lIns="0" tIns="0" rIns="0" bIns="0" rtlCol="0" anchor="ctr"/>
          <a:lstStyle/>
          <a:p>
            <a:pPr marL="0" indent="0">
              <a:buNone/>
            </a:pPr>
            <a:r>
              <a:rPr lang="en-US" sz="1500" dirty="0">
                <a:solidFill>
                  <a:srgbClr val="0B1F33"/>
                </a:solidFill>
                <a:latin typeface="Calibri" pitchFamily="34" charset="0"/>
                <a:ea typeface="Calibri" pitchFamily="34" charset="-122"/>
                <a:cs typeface="Calibri" pitchFamily="34" charset="-120"/>
              </a:rPr>
              <a:t>Disable built-in password saving by policy, allowlist extensions and keep browsers patched.</a:t>
            </a:r>
            <a:endParaRPr lang="en-US" sz="1500" dirty="0"/>
          </a:p>
        </p:txBody>
      </p:sp>
      <p:sp>
        <p:nvSpPr>
          <p:cNvPr id="19" name="Shape 14"/>
          <p:cNvSpPr/>
          <p:nvPr/>
        </p:nvSpPr>
        <p:spPr>
          <a:xfrm>
            <a:off x="548640" y="4261104"/>
            <a:ext cx="11091672" cy="777240"/>
          </a:xfrm>
          <a:prstGeom prst="roundRect">
            <a:avLst>
              <a:gd name="adj" fmla="val 14118"/>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0" name="Shape 15"/>
          <p:cNvSpPr/>
          <p:nvPr/>
        </p:nvSpPr>
        <p:spPr>
          <a:xfrm>
            <a:off x="731520" y="4389120"/>
            <a:ext cx="521208" cy="521208"/>
          </a:xfrm>
          <a:prstGeom prst="ellipse">
            <a:avLst/>
          </a:prstGeom>
          <a:solidFill>
            <a:srgbClr val="0078D4"/>
          </a:solidFill>
          <a:ln w="12700">
            <a:solidFill>
              <a:srgbClr val="0078D4"/>
            </a:solidFill>
            <a:prstDash val="solid"/>
          </a:ln>
        </p:spPr>
        <p:txBody>
          <a:bodyPr/>
          <a:lstStyle/>
          <a:p>
            <a:endParaRPr lang="en-JP"/>
          </a:p>
        </p:txBody>
      </p:sp>
      <p:pic>
        <p:nvPicPr>
          <p:cNvPr id="21" name="Image 3" descr="preencoded.png"/>
          <p:cNvPicPr>
            <a:picLocks noChangeAspect="1"/>
          </p:cNvPicPr>
          <p:nvPr/>
        </p:nvPicPr>
        <p:blipFill>
          <a:blip r:embed="rId6"/>
          <a:stretch>
            <a:fillRect/>
          </a:stretch>
        </p:blipFill>
        <p:spPr>
          <a:xfrm>
            <a:off x="856610" y="4514210"/>
            <a:ext cx="271028" cy="271028"/>
          </a:xfrm>
          <a:prstGeom prst="rect">
            <a:avLst/>
          </a:prstGeom>
        </p:spPr>
      </p:pic>
      <p:sp>
        <p:nvSpPr>
          <p:cNvPr id="22" name="Text 16"/>
          <p:cNvSpPr txBox="1"/>
          <p:nvPr/>
        </p:nvSpPr>
        <p:spPr>
          <a:xfrm>
            <a:off x="1417320" y="4261104"/>
            <a:ext cx="1737360" cy="777240"/>
          </a:xfrm>
          <a:prstGeom prst="rect">
            <a:avLst/>
          </a:prstGeom>
          <a:noFill/>
          <a:ln/>
        </p:spPr>
        <p:txBody>
          <a:bodyPr wrap="square" lIns="0" tIns="0" rIns="0" bIns="0" rtlCol="0" anchor="ctr"/>
          <a:lstStyle/>
          <a:p>
            <a:pPr marL="0" indent="0">
              <a:buNone/>
            </a:pPr>
            <a:r>
              <a:rPr lang="en-US" sz="1700" b="1" dirty="0">
                <a:solidFill>
                  <a:srgbClr val="0078D4"/>
                </a:solidFill>
                <a:latin typeface="Arial" pitchFamily="34" charset="0"/>
                <a:ea typeface="Arial" pitchFamily="34" charset="-122"/>
                <a:cs typeface="Arial" pitchFamily="34" charset="-120"/>
              </a:rPr>
              <a:t>Network</a:t>
            </a:r>
            <a:endParaRPr lang="en-US" sz="1700" dirty="0"/>
          </a:p>
        </p:txBody>
      </p:sp>
      <p:sp>
        <p:nvSpPr>
          <p:cNvPr id="23" name="Text 17"/>
          <p:cNvSpPr txBox="1"/>
          <p:nvPr/>
        </p:nvSpPr>
        <p:spPr>
          <a:xfrm>
            <a:off x="3154680" y="4261104"/>
            <a:ext cx="8321040" cy="777240"/>
          </a:xfrm>
          <a:prstGeom prst="rect">
            <a:avLst/>
          </a:prstGeom>
          <a:noFill/>
          <a:ln/>
        </p:spPr>
        <p:txBody>
          <a:bodyPr wrap="square" lIns="0" tIns="0" rIns="0" bIns="0" rtlCol="0" anchor="ctr"/>
          <a:lstStyle/>
          <a:p>
            <a:pPr marL="0" indent="0">
              <a:buNone/>
            </a:pPr>
            <a:r>
              <a:rPr lang="en-US" sz="1500" dirty="0">
                <a:solidFill>
                  <a:srgbClr val="0B1F33"/>
                </a:solidFill>
                <a:latin typeface="Calibri" pitchFamily="34" charset="0"/>
                <a:ea typeface="Calibri" pitchFamily="34" charset="-122"/>
                <a:cs typeface="Calibri" pitchFamily="34" charset="-120"/>
              </a:rPr>
              <a:t>DNS and web filtering; block newly registered domains, malvertising and known Lumma infrastructure.</a:t>
            </a:r>
            <a:endParaRPr lang="en-US" sz="1500" dirty="0"/>
          </a:p>
        </p:txBody>
      </p:sp>
      <p:sp>
        <p:nvSpPr>
          <p:cNvPr id="24" name="Shape 18"/>
          <p:cNvSpPr/>
          <p:nvPr/>
        </p:nvSpPr>
        <p:spPr>
          <a:xfrm>
            <a:off x="548640" y="5148072"/>
            <a:ext cx="11091672" cy="777240"/>
          </a:xfrm>
          <a:prstGeom prst="roundRect">
            <a:avLst>
              <a:gd name="adj" fmla="val 14118"/>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5" name="Shape 19"/>
          <p:cNvSpPr/>
          <p:nvPr/>
        </p:nvSpPr>
        <p:spPr>
          <a:xfrm>
            <a:off x="731520" y="5276088"/>
            <a:ext cx="521208" cy="521208"/>
          </a:xfrm>
          <a:prstGeom prst="ellipse">
            <a:avLst/>
          </a:prstGeom>
          <a:solidFill>
            <a:srgbClr val="0078D4"/>
          </a:solidFill>
          <a:ln w="12700">
            <a:solidFill>
              <a:srgbClr val="0078D4"/>
            </a:solidFill>
            <a:prstDash val="solid"/>
          </a:ln>
        </p:spPr>
        <p:txBody>
          <a:bodyPr/>
          <a:lstStyle/>
          <a:p>
            <a:endParaRPr lang="en-JP"/>
          </a:p>
        </p:txBody>
      </p:sp>
      <p:pic>
        <p:nvPicPr>
          <p:cNvPr id="26" name="Image 4" descr="preencoded.png"/>
          <p:cNvPicPr>
            <a:picLocks noChangeAspect="1"/>
          </p:cNvPicPr>
          <p:nvPr/>
        </p:nvPicPr>
        <p:blipFill>
          <a:blip r:embed="rId7"/>
          <a:stretch>
            <a:fillRect/>
          </a:stretch>
        </p:blipFill>
        <p:spPr>
          <a:xfrm>
            <a:off x="856610" y="5401178"/>
            <a:ext cx="271028" cy="271028"/>
          </a:xfrm>
          <a:prstGeom prst="rect">
            <a:avLst/>
          </a:prstGeom>
        </p:spPr>
      </p:pic>
      <p:sp>
        <p:nvSpPr>
          <p:cNvPr id="27" name="Text 20"/>
          <p:cNvSpPr txBox="1"/>
          <p:nvPr/>
        </p:nvSpPr>
        <p:spPr>
          <a:xfrm>
            <a:off x="1417320" y="5148072"/>
            <a:ext cx="1737360" cy="777240"/>
          </a:xfrm>
          <a:prstGeom prst="rect">
            <a:avLst/>
          </a:prstGeom>
          <a:noFill/>
          <a:ln/>
        </p:spPr>
        <p:txBody>
          <a:bodyPr wrap="square" lIns="0" tIns="0" rIns="0" bIns="0" rtlCol="0" anchor="ctr"/>
          <a:lstStyle/>
          <a:p>
            <a:pPr marL="0" indent="0">
              <a:buNone/>
            </a:pPr>
            <a:r>
              <a:rPr lang="en-US" sz="1700" b="1" dirty="0">
                <a:solidFill>
                  <a:srgbClr val="0078D4"/>
                </a:solidFill>
                <a:latin typeface="Arial" pitchFamily="34" charset="0"/>
                <a:ea typeface="Arial" pitchFamily="34" charset="-122"/>
                <a:cs typeface="Arial" pitchFamily="34" charset="-120"/>
              </a:rPr>
              <a:t>Monitoring</a:t>
            </a:r>
            <a:endParaRPr lang="en-US" sz="1700" dirty="0"/>
          </a:p>
        </p:txBody>
      </p:sp>
      <p:sp>
        <p:nvSpPr>
          <p:cNvPr id="28" name="Text 21"/>
          <p:cNvSpPr txBox="1"/>
          <p:nvPr/>
        </p:nvSpPr>
        <p:spPr>
          <a:xfrm>
            <a:off x="3154680" y="5148072"/>
            <a:ext cx="8321040" cy="777240"/>
          </a:xfrm>
          <a:prstGeom prst="rect">
            <a:avLst/>
          </a:prstGeom>
          <a:noFill/>
          <a:ln/>
        </p:spPr>
        <p:txBody>
          <a:bodyPr wrap="square" lIns="0" tIns="0" rIns="0" bIns="0" rtlCol="0" anchor="ctr"/>
          <a:lstStyle/>
          <a:p>
            <a:pPr marL="0" indent="0">
              <a:buNone/>
            </a:pPr>
            <a:r>
              <a:rPr lang="en-US" sz="1500" dirty="0">
                <a:solidFill>
                  <a:srgbClr val="0B1F33"/>
                </a:solidFill>
                <a:latin typeface="Calibri" pitchFamily="34" charset="0"/>
                <a:ea typeface="Calibri" pitchFamily="34" charset="-122"/>
                <a:cs typeface="Calibri" pitchFamily="34" charset="-120"/>
              </a:rPr>
              <a:t>Threat-intel IOC feeds, alerts on suspicious PowerShell, and stealer-log monitoring for our domains.</a:t>
            </a:r>
            <a:endParaRPr lang="en-US" sz="1500" dirty="0"/>
          </a:p>
        </p:txBody>
      </p:sp>
      <p:sp>
        <p:nvSpPr>
          <p:cNvPr id="29"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B7C3"/>
                </a:solidFill>
                <a:latin typeface="Calibri" pitchFamily="34" charset="0"/>
                <a:ea typeface="Calibri" pitchFamily="34" charset="-122"/>
                <a:cs typeface="Calibri" pitchFamily="34" charset="-120"/>
              </a:rPr>
              <a:t>09  ·  IF YOU RAN IT</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Ran a suspicious command? Act fast</a:t>
            </a:r>
            <a:endParaRPr lang="en-US" sz="3600" dirty="0"/>
          </a:p>
        </p:txBody>
      </p:sp>
      <p:sp>
        <p:nvSpPr>
          <p:cNvPr id="4" name="Shape 2"/>
          <p:cNvSpPr/>
          <p:nvPr/>
        </p:nvSpPr>
        <p:spPr>
          <a:xfrm>
            <a:off x="548640" y="1600200"/>
            <a:ext cx="6675120" cy="694944"/>
          </a:xfrm>
          <a:prstGeom prst="roundRect">
            <a:avLst>
              <a:gd name="adj" fmla="val 15789"/>
            </a:avLst>
          </a:prstGeom>
          <a:solidFill>
            <a:srgbClr val="13294B"/>
          </a:solidFill>
          <a:ln w="12700">
            <a:solidFill>
              <a:srgbClr val="13294B"/>
            </a:solidFill>
            <a:prstDash val="solid"/>
          </a:ln>
        </p:spPr>
        <p:txBody>
          <a:bodyPr/>
          <a:lstStyle/>
          <a:p>
            <a:endParaRPr lang="en-JP"/>
          </a:p>
        </p:txBody>
      </p:sp>
      <p:sp>
        <p:nvSpPr>
          <p:cNvPr id="5" name="Shape 3"/>
          <p:cNvSpPr/>
          <p:nvPr/>
        </p:nvSpPr>
        <p:spPr>
          <a:xfrm>
            <a:off x="731520" y="1719072"/>
            <a:ext cx="457200" cy="457200"/>
          </a:xfrm>
          <a:prstGeom prst="ellipse">
            <a:avLst/>
          </a:prstGeom>
          <a:solidFill>
            <a:srgbClr val="F7630C"/>
          </a:solidFill>
          <a:ln w="12700">
            <a:solidFill>
              <a:srgbClr val="F7630C"/>
            </a:solidFill>
            <a:prstDash val="solid"/>
          </a:ln>
        </p:spPr>
        <p:txBody>
          <a:bodyPr/>
          <a:lstStyle/>
          <a:p>
            <a:endParaRPr lang="en-JP"/>
          </a:p>
        </p:txBody>
      </p:sp>
      <p:sp>
        <p:nvSpPr>
          <p:cNvPr id="6" name="Text 4"/>
          <p:cNvSpPr txBox="1"/>
          <p:nvPr/>
        </p:nvSpPr>
        <p:spPr>
          <a:xfrm>
            <a:off x="731520" y="1719072"/>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371600" y="1600200"/>
            <a:ext cx="5715000" cy="69494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Disconnect:  </a:t>
            </a:r>
            <a:r>
              <a:rPr lang="en-US" sz="1500" dirty="0">
                <a:solidFill>
                  <a:srgbClr val="CADCFC"/>
                </a:solidFill>
                <a:latin typeface="Calibri" pitchFamily="34" charset="0"/>
                <a:ea typeface="Calibri" pitchFamily="34" charset="-122"/>
                <a:cs typeface="Calibri" pitchFamily="34" charset="-120"/>
              </a:rPr>
              <a:t>Unplug the network cable or turn off Wi-Fi.</a:t>
            </a:r>
            <a:endParaRPr lang="en-US" sz="1500" dirty="0"/>
          </a:p>
        </p:txBody>
      </p:sp>
      <p:sp>
        <p:nvSpPr>
          <p:cNvPr id="8" name="Shape 6"/>
          <p:cNvSpPr/>
          <p:nvPr/>
        </p:nvSpPr>
        <p:spPr>
          <a:xfrm>
            <a:off x="548640" y="2404872"/>
            <a:ext cx="6675120" cy="694944"/>
          </a:xfrm>
          <a:prstGeom prst="roundRect">
            <a:avLst>
              <a:gd name="adj" fmla="val 15789"/>
            </a:avLst>
          </a:prstGeom>
          <a:solidFill>
            <a:srgbClr val="13294B"/>
          </a:solidFill>
          <a:ln w="12700">
            <a:solidFill>
              <a:srgbClr val="13294B"/>
            </a:solidFill>
            <a:prstDash val="solid"/>
          </a:ln>
        </p:spPr>
        <p:txBody>
          <a:bodyPr/>
          <a:lstStyle/>
          <a:p>
            <a:endParaRPr lang="en-JP"/>
          </a:p>
        </p:txBody>
      </p:sp>
      <p:sp>
        <p:nvSpPr>
          <p:cNvPr id="9" name="Shape 7"/>
          <p:cNvSpPr/>
          <p:nvPr/>
        </p:nvSpPr>
        <p:spPr>
          <a:xfrm>
            <a:off x="731520" y="2523744"/>
            <a:ext cx="457200" cy="457200"/>
          </a:xfrm>
          <a:prstGeom prst="ellipse">
            <a:avLst/>
          </a:prstGeom>
          <a:solidFill>
            <a:srgbClr val="F7630C"/>
          </a:solidFill>
          <a:ln w="12700">
            <a:solidFill>
              <a:srgbClr val="F7630C"/>
            </a:solidFill>
            <a:prstDash val="solid"/>
          </a:ln>
        </p:spPr>
        <p:txBody>
          <a:bodyPr/>
          <a:lstStyle/>
          <a:p>
            <a:endParaRPr lang="en-JP"/>
          </a:p>
        </p:txBody>
      </p:sp>
      <p:sp>
        <p:nvSpPr>
          <p:cNvPr id="10" name="Text 8"/>
          <p:cNvSpPr txBox="1"/>
          <p:nvPr/>
        </p:nvSpPr>
        <p:spPr>
          <a:xfrm>
            <a:off x="731520" y="2523744"/>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Arial" pitchFamily="34" charset="0"/>
                <a:ea typeface="Arial" pitchFamily="34" charset="-122"/>
                <a:cs typeface="Arial" pitchFamily="34" charset="-120"/>
              </a:rPr>
              <a:t>2</a:t>
            </a:r>
            <a:endParaRPr lang="en-US" sz="1600" dirty="0"/>
          </a:p>
        </p:txBody>
      </p:sp>
      <p:sp>
        <p:nvSpPr>
          <p:cNvPr id="11" name="Text 9"/>
          <p:cNvSpPr txBox="1"/>
          <p:nvPr/>
        </p:nvSpPr>
        <p:spPr>
          <a:xfrm>
            <a:off x="1371600" y="2404872"/>
            <a:ext cx="5715000" cy="69494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Report immediately:  </a:t>
            </a:r>
            <a:r>
              <a:rPr lang="en-US" sz="1500" dirty="0">
                <a:solidFill>
                  <a:srgbClr val="CADCFC"/>
                </a:solidFill>
                <a:latin typeface="Calibri" pitchFamily="34" charset="0"/>
                <a:ea typeface="Calibri" pitchFamily="34" charset="-122"/>
                <a:cs typeface="Calibri" pitchFamily="34" charset="-120"/>
              </a:rPr>
              <a:t>Contact IT / Security on [contact].</a:t>
            </a:r>
            <a:endParaRPr lang="en-US" sz="1500" dirty="0"/>
          </a:p>
        </p:txBody>
      </p:sp>
      <p:sp>
        <p:nvSpPr>
          <p:cNvPr id="12" name="Shape 10"/>
          <p:cNvSpPr/>
          <p:nvPr/>
        </p:nvSpPr>
        <p:spPr>
          <a:xfrm>
            <a:off x="548640" y="3209544"/>
            <a:ext cx="6675120" cy="694944"/>
          </a:xfrm>
          <a:prstGeom prst="roundRect">
            <a:avLst>
              <a:gd name="adj" fmla="val 15789"/>
            </a:avLst>
          </a:prstGeom>
          <a:solidFill>
            <a:srgbClr val="13294B"/>
          </a:solidFill>
          <a:ln w="12700">
            <a:solidFill>
              <a:srgbClr val="13294B"/>
            </a:solidFill>
            <a:prstDash val="solid"/>
          </a:ln>
        </p:spPr>
        <p:txBody>
          <a:bodyPr/>
          <a:lstStyle/>
          <a:p>
            <a:endParaRPr lang="en-JP"/>
          </a:p>
        </p:txBody>
      </p:sp>
      <p:sp>
        <p:nvSpPr>
          <p:cNvPr id="13" name="Shape 11"/>
          <p:cNvSpPr/>
          <p:nvPr/>
        </p:nvSpPr>
        <p:spPr>
          <a:xfrm>
            <a:off x="731520" y="3328416"/>
            <a:ext cx="457200" cy="457200"/>
          </a:xfrm>
          <a:prstGeom prst="ellipse">
            <a:avLst/>
          </a:prstGeom>
          <a:solidFill>
            <a:srgbClr val="00B7C3"/>
          </a:solidFill>
          <a:ln w="12700">
            <a:solidFill>
              <a:srgbClr val="00B7C3"/>
            </a:solidFill>
            <a:prstDash val="solid"/>
          </a:ln>
        </p:spPr>
        <p:txBody>
          <a:bodyPr/>
          <a:lstStyle/>
          <a:p>
            <a:endParaRPr lang="en-JP"/>
          </a:p>
        </p:txBody>
      </p:sp>
      <p:sp>
        <p:nvSpPr>
          <p:cNvPr id="14" name="Text 12"/>
          <p:cNvSpPr txBox="1"/>
          <p:nvPr/>
        </p:nvSpPr>
        <p:spPr>
          <a:xfrm>
            <a:off x="731520" y="3328416"/>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Arial" pitchFamily="34" charset="0"/>
                <a:ea typeface="Arial" pitchFamily="34" charset="-122"/>
                <a:cs typeface="Arial" pitchFamily="34" charset="-120"/>
              </a:rPr>
              <a:t>3</a:t>
            </a:r>
            <a:endParaRPr lang="en-US" sz="1600" dirty="0"/>
          </a:p>
        </p:txBody>
      </p:sp>
      <p:sp>
        <p:nvSpPr>
          <p:cNvPr id="15" name="Text 13"/>
          <p:cNvSpPr txBox="1"/>
          <p:nvPr/>
        </p:nvSpPr>
        <p:spPr>
          <a:xfrm>
            <a:off x="1371600" y="3209544"/>
            <a:ext cx="5715000" cy="69494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Reset from a clean device:  </a:t>
            </a:r>
            <a:r>
              <a:rPr lang="en-US" sz="1500" dirty="0">
                <a:solidFill>
                  <a:srgbClr val="CADCFC"/>
                </a:solidFill>
                <a:latin typeface="Calibri" pitchFamily="34" charset="0"/>
                <a:ea typeface="Calibri" pitchFamily="34" charset="-122"/>
                <a:cs typeface="Calibri" pitchFamily="34" charset="-120"/>
              </a:rPr>
              <a:t>Change passwords and sign out of all sessions.</a:t>
            </a:r>
            <a:endParaRPr lang="en-US" sz="1500" dirty="0"/>
          </a:p>
        </p:txBody>
      </p:sp>
      <p:sp>
        <p:nvSpPr>
          <p:cNvPr id="16" name="Shape 14"/>
          <p:cNvSpPr/>
          <p:nvPr/>
        </p:nvSpPr>
        <p:spPr>
          <a:xfrm>
            <a:off x="548640" y="4014216"/>
            <a:ext cx="6675120" cy="694944"/>
          </a:xfrm>
          <a:prstGeom prst="roundRect">
            <a:avLst>
              <a:gd name="adj" fmla="val 15789"/>
            </a:avLst>
          </a:prstGeom>
          <a:solidFill>
            <a:srgbClr val="13294B"/>
          </a:solidFill>
          <a:ln w="12700">
            <a:solidFill>
              <a:srgbClr val="13294B"/>
            </a:solidFill>
            <a:prstDash val="solid"/>
          </a:ln>
        </p:spPr>
        <p:txBody>
          <a:bodyPr/>
          <a:lstStyle/>
          <a:p>
            <a:endParaRPr lang="en-JP"/>
          </a:p>
        </p:txBody>
      </p:sp>
      <p:sp>
        <p:nvSpPr>
          <p:cNvPr id="17" name="Shape 15"/>
          <p:cNvSpPr/>
          <p:nvPr/>
        </p:nvSpPr>
        <p:spPr>
          <a:xfrm>
            <a:off x="731520" y="4133088"/>
            <a:ext cx="457200" cy="457200"/>
          </a:xfrm>
          <a:prstGeom prst="ellipse">
            <a:avLst/>
          </a:prstGeom>
          <a:solidFill>
            <a:srgbClr val="00B7C3"/>
          </a:solidFill>
          <a:ln w="12700">
            <a:solidFill>
              <a:srgbClr val="00B7C3"/>
            </a:solidFill>
            <a:prstDash val="solid"/>
          </a:ln>
        </p:spPr>
        <p:txBody>
          <a:bodyPr/>
          <a:lstStyle/>
          <a:p>
            <a:endParaRPr lang="en-JP"/>
          </a:p>
        </p:txBody>
      </p:sp>
      <p:sp>
        <p:nvSpPr>
          <p:cNvPr id="18" name="Text 16"/>
          <p:cNvSpPr txBox="1"/>
          <p:nvPr/>
        </p:nvSpPr>
        <p:spPr>
          <a:xfrm>
            <a:off x="731520" y="4133088"/>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Arial" pitchFamily="34" charset="0"/>
                <a:ea typeface="Arial" pitchFamily="34" charset="-122"/>
                <a:cs typeface="Arial" pitchFamily="34" charset="-120"/>
              </a:rPr>
              <a:t>4</a:t>
            </a:r>
            <a:endParaRPr lang="en-US" sz="1600" dirty="0"/>
          </a:p>
        </p:txBody>
      </p:sp>
      <p:sp>
        <p:nvSpPr>
          <p:cNvPr id="19" name="Text 17"/>
          <p:cNvSpPr txBox="1"/>
          <p:nvPr/>
        </p:nvSpPr>
        <p:spPr>
          <a:xfrm>
            <a:off x="1371600" y="4014216"/>
            <a:ext cx="5715000" cy="69494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Protect crypto funds:  </a:t>
            </a:r>
            <a:r>
              <a:rPr lang="en-US" sz="1500" dirty="0">
                <a:solidFill>
                  <a:srgbClr val="CADCFC"/>
                </a:solidFill>
                <a:latin typeface="Calibri" pitchFamily="34" charset="0"/>
                <a:ea typeface="Calibri" pitchFamily="34" charset="-122"/>
                <a:cs typeface="Calibri" pitchFamily="34" charset="-120"/>
              </a:rPr>
              <a:t>Move funds to a new wallet; watch accounts.</a:t>
            </a:r>
            <a:endParaRPr lang="en-US" sz="1500" dirty="0"/>
          </a:p>
        </p:txBody>
      </p:sp>
      <p:sp>
        <p:nvSpPr>
          <p:cNvPr id="20" name="Shape 18"/>
          <p:cNvSpPr/>
          <p:nvPr/>
        </p:nvSpPr>
        <p:spPr>
          <a:xfrm>
            <a:off x="548640" y="4818888"/>
            <a:ext cx="6675120" cy="694944"/>
          </a:xfrm>
          <a:prstGeom prst="roundRect">
            <a:avLst>
              <a:gd name="adj" fmla="val 15789"/>
            </a:avLst>
          </a:prstGeom>
          <a:solidFill>
            <a:srgbClr val="13294B"/>
          </a:solidFill>
          <a:ln w="12700">
            <a:solidFill>
              <a:srgbClr val="13294B"/>
            </a:solidFill>
            <a:prstDash val="solid"/>
          </a:ln>
        </p:spPr>
        <p:txBody>
          <a:bodyPr/>
          <a:lstStyle/>
          <a:p>
            <a:endParaRPr lang="en-JP"/>
          </a:p>
        </p:txBody>
      </p:sp>
      <p:sp>
        <p:nvSpPr>
          <p:cNvPr id="21" name="Shape 19"/>
          <p:cNvSpPr/>
          <p:nvPr/>
        </p:nvSpPr>
        <p:spPr>
          <a:xfrm>
            <a:off x="731520" y="4937760"/>
            <a:ext cx="457200" cy="457200"/>
          </a:xfrm>
          <a:prstGeom prst="ellipse">
            <a:avLst/>
          </a:prstGeom>
          <a:solidFill>
            <a:srgbClr val="00B7C3"/>
          </a:solidFill>
          <a:ln w="12700">
            <a:solidFill>
              <a:srgbClr val="00B7C3"/>
            </a:solidFill>
            <a:prstDash val="solid"/>
          </a:ln>
        </p:spPr>
        <p:txBody>
          <a:bodyPr/>
          <a:lstStyle/>
          <a:p>
            <a:endParaRPr lang="en-JP"/>
          </a:p>
        </p:txBody>
      </p:sp>
      <p:sp>
        <p:nvSpPr>
          <p:cNvPr id="22" name="Text 20"/>
          <p:cNvSpPr txBox="1"/>
          <p:nvPr/>
        </p:nvSpPr>
        <p:spPr>
          <a:xfrm>
            <a:off x="731520" y="4937760"/>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Arial" pitchFamily="34" charset="0"/>
                <a:ea typeface="Arial" pitchFamily="34" charset="-122"/>
                <a:cs typeface="Arial" pitchFamily="34" charset="-120"/>
              </a:rPr>
              <a:t>5</a:t>
            </a:r>
            <a:endParaRPr lang="en-US" sz="1600" dirty="0"/>
          </a:p>
        </p:txBody>
      </p:sp>
      <p:sp>
        <p:nvSpPr>
          <p:cNvPr id="23" name="Text 21"/>
          <p:cNvSpPr txBox="1"/>
          <p:nvPr/>
        </p:nvSpPr>
        <p:spPr>
          <a:xfrm>
            <a:off x="1371600" y="4818888"/>
            <a:ext cx="5715000" cy="69494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Let IT rebuild:  </a:t>
            </a:r>
            <a:r>
              <a:rPr lang="en-US" sz="1500" dirty="0">
                <a:solidFill>
                  <a:srgbClr val="CADCFC"/>
                </a:solidFill>
                <a:latin typeface="Calibri" pitchFamily="34" charset="0"/>
                <a:ea typeface="Calibri" pitchFamily="34" charset="-122"/>
                <a:cs typeface="Calibri" pitchFamily="34" charset="-120"/>
              </a:rPr>
              <a:t>IT investigates and reimages the device.</a:t>
            </a:r>
            <a:endParaRPr lang="en-US" sz="1500" dirty="0"/>
          </a:p>
        </p:txBody>
      </p:sp>
      <p:sp>
        <p:nvSpPr>
          <p:cNvPr id="24" name="Shape 22"/>
          <p:cNvSpPr/>
          <p:nvPr/>
        </p:nvSpPr>
        <p:spPr>
          <a:xfrm>
            <a:off x="7589520" y="1600200"/>
            <a:ext cx="4050792" cy="3904488"/>
          </a:xfrm>
          <a:prstGeom prst="roundRect">
            <a:avLst>
              <a:gd name="adj" fmla="val 2810"/>
            </a:avLst>
          </a:prstGeom>
          <a:solidFill>
            <a:srgbClr val="0078D4"/>
          </a:solidFill>
          <a:ln w="12700">
            <a:solidFill>
              <a:srgbClr val="0078D4"/>
            </a:solidFill>
            <a:prstDash val="solid"/>
          </a:ln>
        </p:spPr>
        <p:txBody>
          <a:bodyPr/>
          <a:lstStyle/>
          <a:p>
            <a:endParaRPr lang="en-JP"/>
          </a:p>
        </p:txBody>
      </p:sp>
      <p:sp>
        <p:nvSpPr>
          <p:cNvPr id="25" name="Shape 23"/>
          <p:cNvSpPr/>
          <p:nvPr/>
        </p:nvSpPr>
        <p:spPr>
          <a:xfrm>
            <a:off x="7863840" y="1874520"/>
            <a:ext cx="777240" cy="777240"/>
          </a:xfrm>
          <a:prstGeom prst="ellipse">
            <a:avLst/>
          </a:prstGeom>
          <a:solidFill>
            <a:srgbClr val="FFFFFF"/>
          </a:solidFill>
          <a:ln w="12700">
            <a:solidFill>
              <a:srgbClr val="FFFFFF"/>
            </a:solidFill>
            <a:prstDash val="solid"/>
          </a:ln>
        </p:spPr>
        <p:txBody>
          <a:bodyPr/>
          <a:lstStyle/>
          <a:p>
            <a:endParaRPr lang="en-JP"/>
          </a:p>
        </p:txBody>
      </p:sp>
      <p:pic>
        <p:nvPicPr>
          <p:cNvPr id="26" name="Image 0" descr="preencoded.png"/>
          <p:cNvPicPr>
            <a:picLocks noChangeAspect="1"/>
          </p:cNvPicPr>
          <p:nvPr/>
        </p:nvPicPr>
        <p:blipFill>
          <a:blip r:embed="rId3"/>
          <a:stretch>
            <a:fillRect/>
          </a:stretch>
        </p:blipFill>
        <p:spPr>
          <a:xfrm>
            <a:off x="8050378" y="2061058"/>
            <a:ext cx="404165" cy="404165"/>
          </a:xfrm>
          <a:prstGeom prst="rect">
            <a:avLst/>
          </a:prstGeom>
        </p:spPr>
      </p:pic>
      <p:sp>
        <p:nvSpPr>
          <p:cNvPr id="27" name="Text 24"/>
          <p:cNvSpPr txBox="1"/>
          <p:nvPr/>
        </p:nvSpPr>
        <p:spPr>
          <a:xfrm>
            <a:off x="7863840" y="2834640"/>
            <a:ext cx="3566160" cy="2743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WHY SPEED MATTERS</a:t>
            </a:r>
            <a:endParaRPr lang="en-US" sz="1200" dirty="0"/>
          </a:p>
        </p:txBody>
      </p:sp>
      <p:sp>
        <p:nvSpPr>
          <p:cNvPr id="28" name="Text 25"/>
          <p:cNvSpPr txBox="1"/>
          <p:nvPr/>
        </p:nvSpPr>
        <p:spPr>
          <a:xfrm>
            <a:off x="7863840" y="3154680"/>
            <a:ext cx="3566160" cy="1371600"/>
          </a:xfrm>
          <a:prstGeom prst="rect">
            <a:avLst/>
          </a:prstGeom>
          <a:noFill/>
          <a:ln/>
        </p:spPr>
        <p:txBody>
          <a:bodyPr wrap="square" lIns="0" tIns="0" rIns="0" bIns="0" rtlCol="0" anchor="t"/>
          <a:lstStyle/>
          <a:p>
            <a:pPr marL="0" indent="0">
              <a:buNone/>
            </a:pPr>
            <a:r>
              <a:rPr lang="en-US" sz="2200" b="1" dirty="0">
                <a:solidFill>
                  <a:srgbClr val="FFFFFF"/>
                </a:solidFill>
                <a:latin typeface="Arial" pitchFamily="34" charset="0"/>
                <a:ea typeface="Arial" pitchFamily="34" charset="-122"/>
                <a:cs typeface="Arial" pitchFamily="34" charset="-120"/>
              </a:rPr>
              <a:t>Every minute counts: stolen cookies work until sessions are revoked.</a:t>
            </a:r>
            <a:endParaRPr lang="en-US" sz="2200" dirty="0"/>
          </a:p>
        </p:txBody>
      </p:sp>
      <p:sp>
        <p:nvSpPr>
          <p:cNvPr id="29" name="Text 26"/>
          <p:cNvSpPr txBox="1"/>
          <p:nvPr/>
        </p:nvSpPr>
        <p:spPr>
          <a:xfrm>
            <a:off x="7863840" y="4846320"/>
            <a:ext cx="356616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You will never be blamed for reporting.</a:t>
            </a:r>
            <a:endParaRPr lang="en-US" sz="1500" dirty="0"/>
          </a:p>
        </p:txBody>
      </p:sp>
      <p:sp>
        <p:nvSpPr>
          <p:cNvPr id="30"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78D4"/>
                </a:solidFill>
                <a:latin typeface="Calibri" pitchFamily="34" charset="0"/>
                <a:ea typeface="Calibri" pitchFamily="34" charset="-122"/>
                <a:cs typeface="Calibri" pitchFamily="34" charset="-120"/>
              </a:rPr>
              <a:t>10  ·  REMEDIATION</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Remediation playbook for IT</a:t>
            </a:r>
            <a:endParaRPr lang="en-US" sz="3600" dirty="0"/>
          </a:p>
        </p:txBody>
      </p:sp>
      <p:sp>
        <p:nvSpPr>
          <p:cNvPr id="4" name="Shape 2"/>
          <p:cNvSpPr/>
          <p:nvPr/>
        </p:nvSpPr>
        <p:spPr>
          <a:xfrm>
            <a:off x="548640" y="160020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5" name="Shape 3"/>
          <p:cNvSpPr/>
          <p:nvPr/>
        </p:nvSpPr>
        <p:spPr>
          <a:xfrm>
            <a:off x="3483864" y="1874520"/>
            <a:ext cx="411480" cy="411480"/>
          </a:xfrm>
          <a:prstGeom prst="ellipse">
            <a:avLst/>
          </a:prstGeom>
          <a:solidFill>
            <a:srgbClr val="EAF3FC"/>
          </a:solidFill>
          <a:ln w="12700">
            <a:solidFill>
              <a:srgbClr val="EAF3FC"/>
            </a:solidFill>
            <a:prstDash val="solid"/>
          </a:ln>
        </p:spPr>
        <p:txBody>
          <a:bodyPr/>
          <a:lstStyle/>
          <a:p>
            <a:endParaRPr lang="en-JP"/>
          </a:p>
        </p:txBody>
      </p:sp>
      <p:sp>
        <p:nvSpPr>
          <p:cNvPr id="6" name="Text 4"/>
          <p:cNvSpPr txBox="1"/>
          <p:nvPr/>
        </p:nvSpPr>
        <p:spPr>
          <a:xfrm>
            <a:off x="3483864" y="1874520"/>
            <a:ext cx="411480" cy="411480"/>
          </a:xfrm>
          <a:prstGeom prst="rect">
            <a:avLst/>
          </a:prstGeom>
          <a:noFill/>
          <a:ln/>
        </p:spPr>
        <p:txBody>
          <a:bodyPr wrap="square" lIns="0" tIns="0" rIns="0" bIns="0" rtlCol="0" anchor="ctr"/>
          <a:lstStyle/>
          <a:p>
            <a:pPr marL="0" indent="0" algn="ctr">
              <a:buNone/>
            </a:pPr>
            <a:r>
              <a:rPr lang="en-US" sz="1600" b="1" dirty="0">
                <a:solidFill>
                  <a:srgbClr val="0078D4"/>
                </a:solidFill>
                <a:latin typeface="Arial" pitchFamily="34" charset="0"/>
                <a:ea typeface="Arial" pitchFamily="34" charset="-122"/>
                <a:cs typeface="Arial" pitchFamily="34" charset="-120"/>
              </a:rPr>
              <a:t>1</a:t>
            </a:r>
            <a:endParaRPr lang="en-US" sz="1600" dirty="0"/>
          </a:p>
        </p:txBody>
      </p:sp>
      <p:sp>
        <p:nvSpPr>
          <p:cNvPr id="7" name="Shape 5"/>
          <p:cNvSpPr/>
          <p:nvPr/>
        </p:nvSpPr>
        <p:spPr>
          <a:xfrm>
            <a:off x="777240" y="1828800"/>
            <a:ext cx="566928" cy="566928"/>
          </a:xfrm>
          <a:prstGeom prst="ellipse">
            <a:avLst/>
          </a:prstGeom>
          <a:solidFill>
            <a:srgbClr val="0078D4"/>
          </a:solidFill>
          <a:ln w="12700">
            <a:solidFill>
              <a:srgbClr val="0078D4"/>
            </a:solidFill>
            <a:prstDash val="solid"/>
          </a:ln>
        </p:spPr>
        <p:txBody>
          <a:bodyPr/>
          <a:lstStyle/>
          <a:p>
            <a:endParaRPr lang="en-JP"/>
          </a:p>
        </p:txBody>
      </p:sp>
      <p:pic>
        <p:nvPicPr>
          <p:cNvPr id="8" name="Image 0" descr="preencoded.png"/>
          <p:cNvPicPr>
            <a:picLocks noChangeAspect="1"/>
          </p:cNvPicPr>
          <p:nvPr/>
        </p:nvPicPr>
        <p:blipFill>
          <a:blip r:embed="rId3"/>
          <a:stretch>
            <a:fillRect/>
          </a:stretch>
        </p:blipFill>
        <p:spPr>
          <a:xfrm>
            <a:off x="913303" y="1964863"/>
            <a:ext cx="294803" cy="294803"/>
          </a:xfrm>
          <a:prstGeom prst="rect">
            <a:avLst/>
          </a:prstGeom>
        </p:spPr>
      </p:pic>
      <p:sp>
        <p:nvSpPr>
          <p:cNvPr id="9" name="Text 6"/>
          <p:cNvSpPr txBox="1"/>
          <p:nvPr/>
        </p:nvSpPr>
        <p:spPr>
          <a:xfrm>
            <a:off x="777240" y="2468880"/>
            <a:ext cx="3118104"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Contain</a:t>
            </a:r>
            <a:endParaRPr lang="en-US" sz="1700" dirty="0"/>
          </a:p>
        </p:txBody>
      </p:sp>
      <p:sp>
        <p:nvSpPr>
          <p:cNvPr id="10" name="Text 7"/>
          <p:cNvSpPr txBox="1"/>
          <p:nvPr/>
        </p:nvSpPr>
        <p:spPr>
          <a:xfrm>
            <a:off x="777240" y="2761488"/>
            <a:ext cx="3209544" cy="402336"/>
          </a:xfrm>
          <a:prstGeom prst="rect">
            <a:avLst/>
          </a:prstGeom>
          <a:noFill/>
          <a:ln/>
        </p:spPr>
        <p:txBody>
          <a:bodyPr wrap="square" lIns="0" tIns="0" rIns="0" bIns="0" rtlCol="0" anchor="t"/>
          <a:lstStyle/>
          <a:p>
            <a:pPr marL="0" indent="0">
              <a:buNone/>
            </a:pPr>
            <a:r>
              <a:rPr lang="en-US" sz="1300" dirty="0">
                <a:solidFill>
                  <a:srgbClr val="4A5A6B"/>
                </a:solidFill>
                <a:latin typeface="Calibri" pitchFamily="34" charset="0"/>
                <a:ea typeface="Calibri" pitchFamily="34" charset="-122"/>
                <a:cs typeface="Calibri" pitchFamily="34" charset="-120"/>
              </a:rPr>
              <a:t>Isolate the device with EDR; block the attacker’s domains.</a:t>
            </a:r>
            <a:endParaRPr lang="en-US" sz="1300" dirty="0"/>
          </a:p>
        </p:txBody>
      </p:sp>
      <p:sp>
        <p:nvSpPr>
          <p:cNvPr id="11" name="Shape 8"/>
          <p:cNvSpPr/>
          <p:nvPr/>
        </p:nvSpPr>
        <p:spPr>
          <a:xfrm>
            <a:off x="4306824" y="160020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2" name="Shape 9"/>
          <p:cNvSpPr/>
          <p:nvPr/>
        </p:nvSpPr>
        <p:spPr>
          <a:xfrm>
            <a:off x="7242048" y="1874520"/>
            <a:ext cx="411480" cy="411480"/>
          </a:xfrm>
          <a:prstGeom prst="ellipse">
            <a:avLst/>
          </a:prstGeom>
          <a:solidFill>
            <a:srgbClr val="EAF3FC"/>
          </a:solidFill>
          <a:ln w="12700">
            <a:solidFill>
              <a:srgbClr val="EAF3FC"/>
            </a:solidFill>
            <a:prstDash val="solid"/>
          </a:ln>
        </p:spPr>
        <p:txBody>
          <a:bodyPr/>
          <a:lstStyle/>
          <a:p>
            <a:endParaRPr lang="en-JP"/>
          </a:p>
        </p:txBody>
      </p:sp>
      <p:sp>
        <p:nvSpPr>
          <p:cNvPr id="13" name="Text 10"/>
          <p:cNvSpPr txBox="1"/>
          <p:nvPr/>
        </p:nvSpPr>
        <p:spPr>
          <a:xfrm>
            <a:off x="7242048" y="1874520"/>
            <a:ext cx="411480" cy="411480"/>
          </a:xfrm>
          <a:prstGeom prst="rect">
            <a:avLst/>
          </a:prstGeom>
          <a:noFill/>
          <a:ln/>
        </p:spPr>
        <p:txBody>
          <a:bodyPr wrap="square" lIns="0" tIns="0" rIns="0" bIns="0" rtlCol="0" anchor="ctr"/>
          <a:lstStyle/>
          <a:p>
            <a:pPr marL="0" indent="0" algn="ctr">
              <a:buNone/>
            </a:pPr>
            <a:r>
              <a:rPr lang="en-US" sz="1600" b="1" dirty="0">
                <a:solidFill>
                  <a:srgbClr val="0078D4"/>
                </a:solidFill>
                <a:latin typeface="Arial" pitchFamily="34" charset="0"/>
                <a:ea typeface="Arial" pitchFamily="34" charset="-122"/>
                <a:cs typeface="Arial" pitchFamily="34" charset="-120"/>
              </a:rPr>
              <a:t>2</a:t>
            </a:r>
            <a:endParaRPr lang="en-US" sz="1600" dirty="0"/>
          </a:p>
        </p:txBody>
      </p:sp>
      <p:sp>
        <p:nvSpPr>
          <p:cNvPr id="14" name="Shape 11"/>
          <p:cNvSpPr/>
          <p:nvPr/>
        </p:nvSpPr>
        <p:spPr>
          <a:xfrm>
            <a:off x="4535424" y="1828800"/>
            <a:ext cx="566928" cy="566928"/>
          </a:xfrm>
          <a:prstGeom prst="ellipse">
            <a:avLst/>
          </a:prstGeom>
          <a:solidFill>
            <a:srgbClr val="0078D4"/>
          </a:solidFill>
          <a:ln w="12700">
            <a:solidFill>
              <a:srgbClr val="0078D4"/>
            </a:solidFill>
            <a:prstDash val="solid"/>
          </a:ln>
        </p:spPr>
        <p:txBody>
          <a:bodyPr/>
          <a:lstStyle/>
          <a:p>
            <a:endParaRPr lang="en-JP"/>
          </a:p>
        </p:txBody>
      </p:sp>
      <p:pic>
        <p:nvPicPr>
          <p:cNvPr id="15" name="Image 1" descr="preencoded.png"/>
          <p:cNvPicPr>
            <a:picLocks noChangeAspect="1"/>
          </p:cNvPicPr>
          <p:nvPr/>
        </p:nvPicPr>
        <p:blipFill>
          <a:blip r:embed="rId4"/>
          <a:stretch>
            <a:fillRect/>
          </a:stretch>
        </p:blipFill>
        <p:spPr>
          <a:xfrm>
            <a:off x="4671487" y="1964863"/>
            <a:ext cx="294803" cy="294803"/>
          </a:xfrm>
          <a:prstGeom prst="rect">
            <a:avLst/>
          </a:prstGeom>
        </p:spPr>
      </p:pic>
      <p:sp>
        <p:nvSpPr>
          <p:cNvPr id="16" name="Text 12"/>
          <p:cNvSpPr txBox="1"/>
          <p:nvPr/>
        </p:nvSpPr>
        <p:spPr>
          <a:xfrm>
            <a:off x="4535424" y="2468880"/>
            <a:ext cx="3118104"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Scope</a:t>
            </a:r>
            <a:endParaRPr lang="en-US" sz="1700" dirty="0"/>
          </a:p>
        </p:txBody>
      </p:sp>
      <p:sp>
        <p:nvSpPr>
          <p:cNvPr id="17" name="Text 13"/>
          <p:cNvSpPr txBox="1"/>
          <p:nvPr/>
        </p:nvSpPr>
        <p:spPr>
          <a:xfrm>
            <a:off x="4535424" y="2761488"/>
            <a:ext cx="3209544" cy="402336"/>
          </a:xfrm>
          <a:prstGeom prst="rect">
            <a:avLst/>
          </a:prstGeom>
          <a:noFill/>
          <a:ln/>
        </p:spPr>
        <p:txBody>
          <a:bodyPr wrap="square" lIns="0" tIns="0" rIns="0" bIns="0" rtlCol="0" anchor="t"/>
          <a:lstStyle/>
          <a:p>
            <a:pPr marL="0" indent="0">
              <a:buNone/>
            </a:pPr>
            <a:r>
              <a:rPr lang="en-US" sz="1300" dirty="0">
                <a:solidFill>
                  <a:srgbClr val="4A5A6B"/>
                </a:solidFill>
                <a:latin typeface="Calibri" pitchFamily="34" charset="0"/>
                <a:ea typeface="Calibri" pitchFamily="34" charset="-122"/>
                <a:cs typeface="Calibri" pitchFamily="34" charset="-120"/>
              </a:rPr>
              <a:t>Review the timeline: what ran, what was stolen, which accounts.</a:t>
            </a:r>
            <a:endParaRPr lang="en-US" sz="1300" dirty="0"/>
          </a:p>
        </p:txBody>
      </p:sp>
      <p:sp>
        <p:nvSpPr>
          <p:cNvPr id="18" name="Shape 14"/>
          <p:cNvSpPr/>
          <p:nvPr/>
        </p:nvSpPr>
        <p:spPr>
          <a:xfrm>
            <a:off x="8065008" y="160020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9" name="Shape 15"/>
          <p:cNvSpPr/>
          <p:nvPr/>
        </p:nvSpPr>
        <p:spPr>
          <a:xfrm>
            <a:off x="11000232" y="1874520"/>
            <a:ext cx="411480" cy="411480"/>
          </a:xfrm>
          <a:prstGeom prst="ellipse">
            <a:avLst/>
          </a:prstGeom>
          <a:solidFill>
            <a:srgbClr val="EAF3FC"/>
          </a:solidFill>
          <a:ln w="12700">
            <a:solidFill>
              <a:srgbClr val="EAF3FC"/>
            </a:solidFill>
            <a:prstDash val="solid"/>
          </a:ln>
        </p:spPr>
        <p:txBody>
          <a:bodyPr/>
          <a:lstStyle/>
          <a:p>
            <a:endParaRPr lang="en-JP"/>
          </a:p>
        </p:txBody>
      </p:sp>
      <p:sp>
        <p:nvSpPr>
          <p:cNvPr id="20" name="Text 16"/>
          <p:cNvSpPr txBox="1"/>
          <p:nvPr/>
        </p:nvSpPr>
        <p:spPr>
          <a:xfrm>
            <a:off x="11000232" y="1874520"/>
            <a:ext cx="411480" cy="411480"/>
          </a:xfrm>
          <a:prstGeom prst="rect">
            <a:avLst/>
          </a:prstGeom>
          <a:noFill/>
          <a:ln/>
        </p:spPr>
        <p:txBody>
          <a:bodyPr wrap="square" lIns="0" tIns="0" rIns="0" bIns="0" rtlCol="0" anchor="ctr"/>
          <a:lstStyle/>
          <a:p>
            <a:pPr marL="0" indent="0" algn="ctr">
              <a:buNone/>
            </a:pPr>
            <a:r>
              <a:rPr lang="en-US" sz="1600" b="1" dirty="0">
                <a:solidFill>
                  <a:srgbClr val="0078D4"/>
                </a:solidFill>
                <a:latin typeface="Arial" pitchFamily="34" charset="0"/>
                <a:ea typeface="Arial" pitchFamily="34" charset="-122"/>
                <a:cs typeface="Arial" pitchFamily="34" charset="-120"/>
              </a:rPr>
              <a:t>3</a:t>
            </a:r>
            <a:endParaRPr lang="en-US" sz="1600" dirty="0"/>
          </a:p>
        </p:txBody>
      </p:sp>
      <p:sp>
        <p:nvSpPr>
          <p:cNvPr id="21" name="Shape 17"/>
          <p:cNvSpPr/>
          <p:nvPr/>
        </p:nvSpPr>
        <p:spPr>
          <a:xfrm>
            <a:off x="8293608" y="1828800"/>
            <a:ext cx="566928" cy="566928"/>
          </a:xfrm>
          <a:prstGeom prst="ellipse">
            <a:avLst/>
          </a:prstGeom>
          <a:solidFill>
            <a:srgbClr val="0078D4"/>
          </a:solidFill>
          <a:ln w="12700">
            <a:solidFill>
              <a:srgbClr val="0078D4"/>
            </a:solidFill>
            <a:prstDash val="solid"/>
          </a:ln>
        </p:spPr>
        <p:txBody>
          <a:bodyPr/>
          <a:lstStyle/>
          <a:p>
            <a:endParaRPr lang="en-JP"/>
          </a:p>
        </p:txBody>
      </p:sp>
      <p:pic>
        <p:nvPicPr>
          <p:cNvPr id="22" name="Image 2" descr="preencoded.png"/>
          <p:cNvPicPr>
            <a:picLocks noChangeAspect="1"/>
          </p:cNvPicPr>
          <p:nvPr/>
        </p:nvPicPr>
        <p:blipFill>
          <a:blip r:embed="rId5"/>
          <a:stretch>
            <a:fillRect/>
          </a:stretch>
        </p:blipFill>
        <p:spPr>
          <a:xfrm>
            <a:off x="8429671" y="1964863"/>
            <a:ext cx="294803" cy="294803"/>
          </a:xfrm>
          <a:prstGeom prst="rect">
            <a:avLst/>
          </a:prstGeom>
        </p:spPr>
      </p:pic>
      <p:sp>
        <p:nvSpPr>
          <p:cNvPr id="23" name="Text 18"/>
          <p:cNvSpPr txBox="1"/>
          <p:nvPr/>
        </p:nvSpPr>
        <p:spPr>
          <a:xfrm>
            <a:off x="8293608" y="2468880"/>
            <a:ext cx="3118104"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Revoke</a:t>
            </a:r>
            <a:endParaRPr lang="en-US" sz="1700" dirty="0"/>
          </a:p>
        </p:txBody>
      </p:sp>
      <p:sp>
        <p:nvSpPr>
          <p:cNvPr id="24" name="Text 19"/>
          <p:cNvSpPr txBox="1"/>
          <p:nvPr/>
        </p:nvSpPr>
        <p:spPr>
          <a:xfrm>
            <a:off x="8293608" y="2761488"/>
            <a:ext cx="3209544" cy="402336"/>
          </a:xfrm>
          <a:prstGeom prst="rect">
            <a:avLst/>
          </a:prstGeom>
          <a:noFill/>
          <a:ln/>
        </p:spPr>
        <p:txBody>
          <a:bodyPr wrap="square" lIns="0" tIns="0" rIns="0" bIns="0" rtlCol="0" anchor="t"/>
          <a:lstStyle/>
          <a:p>
            <a:pPr marL="0" indent="0">
              <a:buNone/>
            </a:pPr>
            <a:r>
              <a:rPr lang="en-US" sz="1300" dirty="0">
                <a:solidFill>
                  <a:srgbClr val="4A5A6B"/>
                </a:solidFill>
                <a:latin typeface="Calibri" pitchFamily="34" charset="0"/>
                <a:ea typeface="Calibri" pitchFamily="34" charset="-122"/>
                <a:cs typeface="Calibri" pitchFamily="34" charset="-120"/>
              </a:rPr>
              <a:t>Reset passwords, revoke all sessions and tokens, rotate keys and secrets.</a:t>
            </a:r>
            <a:endParaRPr lang="en-US" sz="1300" dirty="0"/>
          </a:p>
        </p:txBody>
      </p:sp>
      <p:sp>
        <p:nvSpPr>
          <p:cNvPr id="25" name="Shape 20"/>
          <p:cNvSpPr/>
          <p:nvPr/>
        </p:nvSpPr>
        <p:spPr>
          <a:xfrm>
            <a:off x="548640" y="338328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6" name="Shape 21"/>
          <p:cNvSpPr/>
          <p:nvPr/>
        </p:nvSpPr>
        <p:spPr>
          <a:xfrm>
            <a:off x="3483864" y="3657600"/>
            <a:ext cx="411480" cy="411480"/>
          </a:xfrm>
          <a:prstGeom prst="ellipse">
            <a:avLst/>
          </a:prstGeom>
          <a:solidFill>
            <a:srgbClr val="EAF3FC"/>
          </a:solidFill>
          <a:ln w="12700">
            <a:solidFill>
              <a:srgbClr val="EAF3FC"/>
            </a:solidFill>
            <a:prstDash val="solid"/>
          </a:ln>
        </p:spPr>
        <p:txBody>
          <a:bodyPr/>
          <a:lstStyle/>
          <a:p>
            <a:endParaRPr lang="en-JP"/>
          </a:p>
        </p:txBody>
      </p:sp>
      <p:sp>
        <p:nvSpPr>
          <p:cNvPr id="27" name="Text 22"/>
          <p:cNvSpPr txBox="1"/>
          <p:nvPr/>
        </p:nvSpPr>
        <p:spPr>
          <a:xfrm>
            <a:off x="3483864" y="3657600"/>
            <a:ext cx="411480" cy="411480"/>
          </a:xfrm>
          <a:prstGeom prst="rect">
            <a:avLst/>
          </a:prstGeom>
          <a:noFill/>
          <a:ln/>
        </p:spPr>
        <p:txBody>
          <a:bodyPr wrap="square" lIns="0" tIns="0" rIns="0" bIns="0" rtlCol="0" anchor="ctr"/>
          <a:lstStyle/>
          <a:p>
            <a:pPr marL="0" indent="0" algn="ctr">
              <a:buNone/>
            </a:pPr>
            <a:r>
              <a:rPr lang="en-US" sz="1600" b="1" dirty="0">
                <a:solidFill>
                  <a:srgbClr val="0078D4"/>
                </a:solidFill>
                <a:latin typeface="Arial" pitchFamily="34" charset="0"/>
                <a:ea typeface="Arial" pitchFamily="34" charset="-122"/>
                <a:cs typeface="Arial" pitchFamily="34" charset="-120"/>
              </a:rPr>
              <a:t>4</a:t>
            </a:r>
            <a:endParaRPr lang="en-US" sz="1600" dirty="0"/>
          </a:p>
        </p:txBody>
      </p:sp>
      <p:sp>
        <p:nvSpPr>
          <p:cNvPr id="28" name="Shape 23"/>
          <p:cNvSpPr/>
          <p:nvPr/>
        </p:nvSpPr>
        <p:spPr>
          <a:xfrm>
            <a:off x="777240" y="3611880"/>
            <a:ext cx="566928" cy="566928"/>
          </a:xfrm>
          <a:prstGeom prst="ellipse">
            <a:avLst/>
          </a:prstGeom>
          <a:solidFill>
            <a:srgbClr val="0078D4"/>
          </a:solidFill>
          <a:ln w="12700">
            <a:solidFill>
              <a:srgbClr val="0078D4"/>
            </a:solidFill>
            <a:prstDash val="solid"/>
          </a:ln>
        </p:spPr>
        <p:txBody>
          <a:bodyPr/>
          <a:lstStyle/>
          <a:p>
            <a:endParaRPr lang="en-JP"/>
          </a:p>
        </p:txBody>
      </p:sp>
      <p:pic>
        <p:nvPicPr>
          <p:cNvPr id="29" name="Image 3" descr="preencoded.png"/>
          <p:cNvPicPr>
            <a:picLocks noChangeAspect="1"/>
          </p:cNvPicPr>
          <p:nvPr/>
        </p:nvPicPr>
        <p:blipFill>
          <a:blip r:embed="rId6"/>
          <a:stretch>
            <a:fillRect/>
          </a:stretch>
        </p:blipFill>
        <p:spPr>
          <a:xfrm>
            <a:off x="913303" y="3747943"/>
            <a:ext cx="294803" cy="294803"/>
          </a:xfrm>
          <a:prstGeom prst="rect">
            <a:avLst/>
          </a:prstGeom>
        </p:spPr>
      </p:pic>
      <p:sp>
        <p:nvSpPr>
          <p:cNvPr id="30" name="Text 24"/>
          <p:cNvSpPr txBox="1"/>
          <p:nvPr/>
        </p:nvSpPr>
        <p:spPr>
          <a:xfrm>
            <a:off x="777240" y="4251960"/>
            <a:ext cx="3118104"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Eradicate</a:t>
            </a:r>
            <a:endParaRPr lang="en-US" sz="1700" dirty="0"/>
          </a:p>
        </p:txBody>
      </p:sp>
      <p:sp>
        <p:nvSpPr>
          <p:cNvPr id="31" name="Text 25"/>
          <p:cNvSpPr txBox="1"/>
          <p:nvPr/>
        </p:nvSpPr>
        <p:spPr>
          <a:xfrm>
            <a:off x="777240" y="4544568"/>
            <a:ext cx="3209544" cy="402336"/>
          </a:xfrm>
          <a:prstGeom prst="rect">
            <a:avLst/>
          </a:prstGeom>
          <a:noFill/>
          <a:ln/>
        </p:spPr>
        <p:txBody>
          <a:bodyPr wrap="square" lIns="0" tIns="0" rIns="0" bIns="0" rtlCol="0" anchor="t"/>
          <a:lstStyle/>
          <a:p>
            <a:pPr marL="0" indent="0">
              <a:buNone/>
            </a:pPr>
            <a:r>
              <a:rPr lang="en-US" sz="1300" dirty="0">
                <a:solidFill>
                  <a:srgbClr val="4A5A6B"/>
                </a:solidFill>
                <a:latin typeface="Calibri" pitchFamily="34" charset="0"/>
                <a:ea typeface="Calibri" pitchFamily="34" charset="-122"/>
                <a:cs typeface="Calibri" pitchFamily="34" charset="-120"/>
              </a:rPr>
              <a:t>Reimage the device; don’t just delete files.</a:t>
            </a:r>
            <a:endParaRPr lang="en-US" sz="1300" dirty="0"/>
          </a:p>
        </p:txBody>
      </p:sp>
      <p:sp>
        <p:nvSpPr>
          <p:cNvPr id="32" name="Shape 26"/>
          <p:cNvSpPr/>
          <p:nvPr/>
        </p:nvSpPr>
        <p:spPr>
          <a:xfrm>
            <a:off x="4306824" y="338328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33" name="Shape 27"/>
          <p:cNvSpPr/>
          <p:nvPr/>
        </p:nvSpPr>
        <p:spPr>
          <a:xfrm>
            <a:off x="7242048" y="3657600"/>
            <a:ext cx="411480" cy="411480"/>
          </a:xfrm>
          <a:prstGeom prst="ellipse">
            <a:avLst/>
          </a:prstGeom>
          <a:solidFill>
            <a:srgbClr val="EAF3FC"/>
          </a:solidFill>
          <a:ln w="12700">
            <a:solidFill>
              <a:srgbClr val="EAF3FC"/>
            </a:solidFill>
            <a:prstDash val="solid"/>
          </a:ln>
        </p:spPr>
        <p:txBody>
          <a:bodyPr/>
          <a:lstStyle/>
          <a:p>
            <a:endParaRPr lang="en-JP"/>
          </a:p>
        </p:txBody>
      </p:sp>
      <p:sp>
        <p:nvSpPr>
          <p:cNvPr id="34" name="Text 28"/>
          <p:cNvSpPr txBox="1"/>
          <p:nvPr/>
        </p:nvSpPr>
        <p:spPr>
          <a:xfrm>
            <a:off x="7242048" y="3657600"/>
            <a:ext cx="411480" cy="411480"/>
          </a:xfrm>
          <a:prstGeom prst="rect">
            <a:avLst/>
          </a:prstGeom>
          <a:noFill/>
          <a:ln/>
        </p:spPr>
        <p:txBody>
          <a:bodyPr wrap="square" lIns="0" tIns="0" rIns="0" bIns="0" rtlCol="0" anchor="ctr"/>
          <a:lstStyle/>
          <a:p>
            <a:pPr marL="0" indent="0" algn="ctr">
              <a:buNone/>
            </a:pPr>
            <a:r>
              <a:rPr lang="en-US" sz="1600" b="1" dirty="0">
                <a:solidFill>
                  <a:srgbClr val="0078D4"/>
                </a:solidFill>
                <a:latin typeface="Arial" pitchFamily="34" charset="0"/>
                <a:ea typeface="Arial" pitchFamily="34" charset="-122"/>
                <a:cs typeface="Arial" pitchFamily="34" charset="-120"/>
              </a:rPr>
              <a:t>5</a:t>
            </a:r>
            <a:endParaRPr lang="en-US" sz="1600" dirty="0"/>
          </a:p>
        </p:txBody>
      </p:sp>
      <p:sp>
        <p:nvSpPr>
          <p:cNvPr id="35" name="Shape 29"/>
          <p:cNvSpPr/>
          <p:nvPr/>
        </p:nvSpPr>
        <p:spPr>
          <a:xfrm>
            <a:off x="4535424" y="3611880"/>
            <a:ext cx="566928" cy="566928"/>
          </a:xfrm>
          <a:prstGeom prst="ellipse">
            <a:avLst/>
          </a:prstGeom>
          <a:solidFill>
            <a:srgbClr val="0078D4"/>
          </a:solidFill>
          <a:ln w="12700">
            <a:solidFill>
              <a:srgbClr val="0078D4"/>
            </a:solidFill>
            <a:prstDash val="solid"/>
          </a:ln>
        </p:spPr>
        <p:txBody>
          <a:bodyPr/>
          <a:lstStyle/>
          <a:p>
            <a:endParaRPr lang="en-JP"/>
          </a:p>
        </p:txBody>
      </p:sp>
      <p:pic>
        <p:nvPicPr>
          <p:cNvPr id="36" name="Image 4" descr="preencoded.png"/>
          <p:cNvPicPr>
            <a:picLocks noChangeAspect="1"/>
          </p:cNvPicPr>
          <p:nvPr/>
        </p:nvPicPr>
        <p:blipFill>
          <a:blip r:embed="rId7"/>
          <a:stretch>
            <a:fillRect/>
          </a:stretch>
        </p:blipFill>
        <p:spPr>
          <a:xfrm>
            <a:off x="4671487" y="3747943"/>
            <a:ext cx="294803" cy="294803"/>
          </a:xfrm>
          <a:prstGeom prst="rect">
            <a:avLst/>
          </a:prstGeom>
        </p:spPr>
      </p:pic>
      <p:sp>
        <p:nvSpPr>
          <p:cNvPr id="37" name="Text 30"/>
          <p:cNvSpPr txBox="1"/>
          <p:nvPr/>
        </p:nvSpPr>
        <p:spPr>
          <a:xfrm>
            <a:off x="4535424" y="4251960"/>
            <a:ext cx="3118104"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Recover</a:t>
            </a:r>
            <a:endParaRPr lang="en-US" sz="1700" dirty="0"/>
          </a:p>
        </p:txBody>
      </p:sp>
      <p:sp>
        <p:nvSpPr>
          <p:cNvPr id="38" name="Text 31"/>
          <p:cNvSpPr txBox="1"/>
          <p:nvPr/>
        </p:nvSpPr>
        <p:spPr>
          <a:xfrm>
            <a:off x="4535424" y="4544568"/>
            <a:ext cx="3209544" cy="402336"/>
          </a:xfrm>
          <a:prstGeom prst="rect">
            <a:avLst/>
          </a:prstGeom>
          <a:noFill/>
          <a:ln/>
        </p:spPr>
        <p:txBody>
          <a:bodyPr wrap="square" lIns="0" tIns="0" rIns="0" bIns="0" rtlCol="0" anchor="t"/>
          <a:lstStyle/>
          <a:p>
            <a:pPr marL="0" indent="0">
              <a:buNone/>
            </a:pPr>
            <a:r>
              <a:rPr lang="en-US" sz="1300" dirty="0">
                <a:solidFill>
                  <a:srgbClr val="4A5A6B"/>
                </a:solidFill>
                <a:latin typeface="Calibri" pitchFamily="34" charset="0"/>
                <a:ea typeface="Calibri" pitchFamily="34" charset="-122"/>
                <a:cs typeface="Calibri" pitchFamily="34" charset="-120"/>
              </a:rPr>
              <a:t>Monitor accounts and check for persistence or lateral movement.</a:t>
            </a:r>
            <a:endParaRPr lang="en-US" sz="1300" dirty="0"/>
          </a:p>
        </p:txBody>
      </p:sp>
      <p:sp>
        <p:nvSpPr>
          <p:cNvPr id="39" name="Shape 32"/>
          <p:cNvSpPr/>
          <p:nvPr/>
        </p:nvSpPr>
        <p:spPr>
          <a:xfrm>
            <a:off x="8065008" y="3383280"/>
            <a:ext cx="3575304" cy="1600200"/>
          </a:xfrm>
          <a:prstGeom prst="roundRect">
            <a:avLst>
              <a:gd name="adj" fmla="val 6857"/>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40" name="Shape 33"/>
          <p:cNvSpPr/>
          <p:nvPr/>
        </p:nvSpPr>
        <p:spPr>
          <a:xfrm>
            <a:off x="11000232" y="3657600"/>
            <a:ext cx="411480" cy="411480"/>
          </a:xfrm>
          <a:prstGeom prst="ellipse">
            <a:avLst/>
          </a:prstGeom>
          <a:solidFill>
            <a:srgbClr val="EAF3FC"/>
          </a:solidFill>
          <a:ln w="12700">
            <a:solidFill>
              <a:srgbClr val="EAF3FC"/>
            </a:solidFill>
            <a:prstDash val="solid"/>
          </a:ln>
        </p:spPr>
        <p:txBody>
          <a:bodyPr/>
          <a:lstStyle/>
          <a:p>
            <a:endParaRPr lang="en-JP"/>
          </a:p>
        </p:txBody>
      </p:sp>
      <p:sp>
        <p:nvSpPr>
          <p:cNvPr id="41" name="Text 34"/>
          <p:cNvSpPr txBox="1"/>
          <p:nvPr/>
        </p:nvSpPr>
        <p:spPr>
          <a:xfrm>
            <a:off x="11000232" y="3657600"/>
            <a:ext cx="411480" cy="411480"/>
          </a:xfrm>
          <a:prstGeom prst="rect">
            <a:avLst/>
          </a:prstGeom>
          <a:noFill/>
          <a:ln/>
        </p:spPr>
        <p:txBody>
          <a:bodyPr wrap="square" lIns="0" tIns="0" rIns="0" bIns="0" rtlCol="0" anchor="ctr"/>
          <a:lstStyle/>
          <a:p>
            <a:pPr marL="0" indent="0" algn="ctr">
              <a:buNone/>
            </a:pPr>
            <a:r>
              <a:rPr lang="en-US" sz="1600" b="1" dirty="0">
                <a:solidFill>
                  <a:srgbClr val="0078D4"/>
                </a:solidFill>
                <a:latin typeface="Arial" pitchFamily="34" charset="0"/>
                <a:ea typeface="Arial" pitchFamily="34" charset="-122"/>
                <a:cs typeface="Arial" pitchFamily="34" charset="-120"/>
              </a:rPr>
              <a:t>6</a:t>
            </a:r>
            <a:endParaRPr lang="en-US" sz="1600" dirty="0"/>
          </a:p>
        </p:txBody>
      </p:sp>
      <p:sp>
        <p:nvSpPr>
          <p:cNvPr id="42" name="Shape 35"/>
          <p:cNvSpPr/>
          <p:nvPr/>
        </p:nvSpPr>
        <p:spPr>
          <a:xfrm>
            <a:off x="8293608" y="3611880"/>
            <a:ext cx="566928" cy="566928"/>
          </a:xfrm>
          <a:prstGeom prst="ellipse">
            <a:avLst/>
          </a:prstGeom>
          <a:solidFill>
            <a:srgbClr val="0078D4"/>
          </a:solidFill>
          <a:ln w="12700">
            <a:solidFill>
              <a:srgbClr val="0078D4"/>
            </a:solidFill>
            <a:prstDash val="solid"/>
          </a:ln>
        </p:spPr>
        <p:txBody>
          <a:bodyPr/>
          <a:lstStyle/>
          <a:p>
            <a:endParaRPr lang="en-JP"/>
          </a:p>
        </p:txBody>
      </p:sp>
      <p:pic>
        <p:nvPicPr>
          <p:cNvPr id="43" name="Image 5" descr="preencoded.png"/>
          <p:cNvPicPr>
            <a:picLocks noChangeAspect="1"/>
          </p:cNvPicPr>
          <p:nvPr/>
        </p:nvPicPr>
        <p:blipFill>
          <a:blip r:embed="rId8"/>
          <a:stretch>
            <a:fillRect/>
          </a:stretch>
        </p:blipFill>
        <p:spPr>
          <a:xfrm>
            <a:off x="8429671" y="3747943"/>
            <a:ext cx="294803" cy="294803"/>
          </a:xfrm>
          <a:prstGeom prst="rect">
            <a:avLst/>
          </a:prstGeom>
        </p:spPr>
      </p:pic>
      <p:sp>
        <p:nvSpPr>
          <p:cNvPr id="44" name="Text 36"/>
          <p:cNvSpPr txBox="1"/>
          <p:nvPr/>
        </p:nvSpPr>
        <p:spPr>
          <a:xfrm>
            <a:off x="8293608" y="4251960"/>
            <a:ext cx="3118104" cy="310896"/>
          </a:xfrm>
          <a:prstGeom prst="rect">
            <a:avLst/>
          </a:prstGeom>
          <a:noFill/>
          <a:ln/>
        </p:spPr>
        <p:txBody>
          <a:bodyPr wrap="square" lIns="0" tIns="0" rIns="0" bIns="0" rtlCol="0" anchor="ctr"/>
          <a:lstStyle/>
          <a:p>
            <a:pPr marL="0" indent="0">
              <a:buNone/>
            </a:pPr>
            <a:r>
              <a:rPr lang="en-US" sz="1700" b="1" dirty="0">
                <a:solidFill>
                  <a:srgbClr val="0B1F33"/>
                </a:solidFill>
                <a:latin typeface="Arial" pitchFamily="34" charset="0"/>
                <a:ea typeface="Arial" pitchFamily="34" charset="-122"/>
                <a:cs typeface="Arial" pitchFamily="34" charset="-120"/>
              </a:rPr>
              <a:t>Report and learn</a:t>
            </a:r>
            <a:endParaRPr lang="en-US" sz="1700" dirty="0"/>
          </a:p>
        </p:txBody>
      </p:sp>
      <p:sp>
        <p:nvSpPr>
          <p:cNvPr id="45" name="Text 37"/>
          <p:cNvSpPr txBox="1"/>
          <p:nvPr/>
        </p:nvSpPr>
        <p:spPr>
          <a:xfrm>
            <a:off x="8293608" y="4544568"/>
            <a:ext cx="3209544" cy="402336"/>
          </a:xfrm>
          <a:prstGeom prst="rect">
            <a:avLst/>
          </a:prstGeom>
          <a:noFill/>
          <a:ln/>
        </p:spPr>
        <p:txBody>
          <a:bodyPr wrap="square" lIns="0" tIns="0" rIns="0" bIns="0" rtlCol="0" anchor="t"/>
          <a:lstStyle/>
          <a:p>
            <a:pPr marL="0" indent="0">
              <a:buNone/>
            </a:pPr>
            <a:r>
              <a:rPr lang="en-US" sz="1300" dirty="0">
                <a:solidFill>
                  <a:srgbClr val="4A5A6B"/>
                </a:solidFill>
                <a:latin typeface="Calibri" pitchFamily="34" charset="0"/>
                <a:ea typeface="Calibri" pitchFamily="34" charset="-122"/>
                <a:cs typeface="Calibri" pitchFamily="34" charset="-120"/>
              </a:rPr>
              <a:t>Meet reporting duties, update blocklists, share lessons.</a:t>
            </a:r>
            <a:endParaRPr lang="en-US" sz="1300" dirty="0"/>
          </a:p>
        </p:txBody>
      </p:sp>
      <p:sp>
        <p:nvSpPr>
          <p:cNvPr id="46" name="Shape 38"/>
          <p:cNvSpPr/>
          <p:nvPr/>
        </p:nvSpPr>
        <p:spPr>
          <a:xfrm>
            <a:off x="548640" y="5257800"/>
            <a:ext cx="11091672" cy="777240"/>
          </a:xfrm>
          <a:prstGeom prst="roundRect">
            <a:avLst>
              <a:gd name="adj" fmla="val 14118"/>
            </a:avLst>
          </a:prstGeom>
          <a:solidFill>
            <a:srgbClr val="0A1628"/>
          </a:solidFill>
          <a:ln w="12700">
            <a:solidFill>
              <a:srgbClr val="0A1628"/>
            </a:solidFill>
            <a:prstDash val="solid"/>
          </a:ln>
        </p:spPr>
        <p:txBody>
          <a:bodyPr/>
          <a:lstStyle/>
          <a:p>
            <a:endParaRPr lang="en-JP"/>
          </a:p>
        </p:txBody>
      </p:sp>
      <p:sp>
        <p:nvSpPr>
          <p:cNvPr id="47" name="Shape 39"/>
          <p:cNvSpPr/>
          <p:nvPr/>
        </p:nvSpPr>
        <p:spPr>
          <a:xfrm>
            <a:off x="777240" y="5394960"/>
            <a:ext cx="502920" cy="502920"/>
          </a:xfrm>
          <a:prstGeom prst="ellipse">
            <a:avLst/>
          </a:prstGeom>
          <a:solidFill>
            <a:srgbClr val="F7630C"/>
          </a:solidFill>
          <a:ln w="12700">
            <a:solidFill>
              <a:srgbClr val="F7630C"/>
            </a:solidFill>
            <a:prstDash val="solid"/>
          </a:ln>
        </p:spPr>
        <p:txBody>
          <a:bodyPr/>
          <a:lstStyle/>
          <a:p>
            <a:endParaRPr lang="en-JP"/>
          </a:p>
        </p:txBody>
      </p:sp>
      <p:pic>
        <p:nvPicPr>
          <p:cNvPr id="48" name="Image 6" descr="preencoded.png"/>
          <p:cNvPicPr>
            <a:picLocks noChangeAspect="1"/>
          </p:cNvPicPr>
          <p:nvPr/>
        </p:nvPicPr>
        <p:blipFill>
          <a:blip r:embed="rId9"/>
          <a:stretch>
            <a:fillRect/>
          </a:stretch>
        </p:blipFill>
        <p:spPr>
          <a:xfrm>
            <a:off x="897941" y="5515661"/>
            <a:ext cx="261518" cy="261518"/>
          </a:xfrm>
          <a:prstGeom prst="rect">
            <a:avLst/>
          </a:prstGeom>
        </p:spPr>
      </p:pic>
      <p:sp>
        <p:nvSpPr>
          <p:cNvPr id="49" name="Text 40"/>
          <p:cNvSpPr txBox="1"/>
          <p:nvPr/>
        </p:nvSpPr>
        <p:spPr>
          <a:xfrm>
            <a:off x="1508760" y="5257800"/>
            <a:ext cx="9966960" cy="77724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REMEMBER   </a:t>
            </a:r>
            <a:r>
              <a:rPr lang="en-US" sz="1700" dirty="0">
                <a:solidFill>
                  <a:srgbClr val="FFFFFF"/>
                </a:solidFill>
                <a:latin typeface="Calibri" pitchFamily="34" charset="0"/>
                <a:ea typeface="Calibri" pitchFamily="34" charset="-122"/>
                <a:cs typeface="Calibri" pitchFamily="34" charset="-120"/>
              </a:rPr>
              <a:t>A password reset alone is not enough: stolen session cookies work until revoked.</a:t>
            </a:r>
            <a:endParaRPr lang="en-US" sz="1200" dirty="0"/>
          </a:p>
        </p:txBody>
      </p:sp>
      <p:sp>
        <p:nvSpPr>
          <p:cNvPr id="50"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20040"/>
            <a:ext cx="9601200" cy="292608"/>
          </a:xfrm>
          <a:prstGeom prst="rect">
            <a:avLst/>
          </a:prstGeom>
          <a:noFill/>
          <a:ln/>
        </p:spPr>
        <p:txBody>
          <a:bodyPr wrap="square" lIns="0" tIns="0" rIns="0" bIns="0" rtlCol="0" anchor="ctr"/>
          <a:lstStyle/>
          <a:p>
            <a:pPr marL="0" indent="0" algn="l">
              <a:buNone/>
            </a:pPr>
            <a:r>
              <a:rPr lang="en-US" sz="1200" b="1" kern="0" spc="200" dirty="0">
                <a:solidFill>
                  <a:srgbClr val="00B7C3"/>
                </a:solidFill>
                <a:latin typeface="Calibri" pitchFamily="34" charset="0"/>
                <a:ea typeface="Calibri" pitchFamily="34" charset="-122"/>
                <a:cs typeface="Calibri" pitchFamily="34" charset="-120"/>
              </a:rPr>
              <a:t>11  ·  KEY TAKEAWAYS</a:t>
            </a:r>
            <a:endParaRPr lang="en-US" sz="1200" dirty="0"/>
          </a:p>
        </p:txBody>
      </p:sp>
      <p:sp>
        <p:nvSpPr>
          <p:cNvPr id="3" name="Text 0"/>
          <p:cNvSpPr>
            <a:spLocks noGrp="1"/>
          </p:cNvSpPr>
          <p:nvPr>
            <p:ph type="title" idx="102" hasCustomPrompt="1"/>
          </p:nvPr>
        </p:nvSpPr>
        <p:spPr>
          <a:xfrm>
            <a:off x="548640" y="640080"/>
            <a:ext cx="987552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Stop before you paste</a:t>
            </a:r>
            <a:endParaRPr lang="en-US" sz="3600" dirty="0"/>
          </a:p>
        </p:txBody>
      </p:sp>
      <p:sp>
        <p:nvSpPr>
          <p:cNvPr id="4" name="Shape 2"/>
          <p:cNvSpPr/>
          <p:nvPr/>
        </p:nvSpPr>
        <p:spPr>
          <a:xfrm>
            <a:off x="548640" y="1645920"/>
            <a:ext cx="6675120" cy="777240"/>
          </a:xfrm>
          <a:prstGeom prst="roundRect">
            <a:avLst>
              <a:gd name="adj" fmla="val 14118"/>
            </a:avLst>
          </a:prstGeom>
          <a:solidFill>
            <a:srgbClr val="13294B"/>
          </a:solidFill>
          <a:ln w="12700">
            <a:solidFill>
              <a:srgbClr val="13294B"/>
            </a:solidFill>
            <a:prstDash val="solid"/>
          </a:ln>
        </p:spPr>
        <p:txBody>
          <a:bodyPr/>
          <a:lstStyle/>
          <a:p>
            <a:endParaRPr lang="en-JP"/>
          </a:p>
        </p:txBody>
      </p:sp>
      <p:sp>
        <p:nvSpPr>
          <p:cNvPr id="5" name="Shape 3"/>
          <p:cNvSpPr/>
          <p:nvPr/>
        </p:nvSpPr>
        <p:spPr>
          <a:xfrm>
            <a:off x="731520" y="1764792"/>
            <a:ext cx="548640" cy="548640"/>
          </a:xfrm>
          <a:prstGeom prst="ellipse">
            <a:avLst/>
          </a:prstGeom>
          <a:solidFill>
            <a:srgbClr val="00B7C3"/>
          </a:solidFill>
          <a:ln w="12700">
            <a:solidFill>
              <a:srgbClr val="00B7C3"/>
            </a:solidFill>
            <a:prstDash val="solid"/>
          </a:ln>
        </p:spPr>
        <p:txBody>
          <a:bodyPr/>
          <a:lstStyle/>
          <a:p>
            <a:endParaRPr lang="en-JP"/>
          </a:p>
        </p:txBody>
      </p:sp>
      <p:pic>
        <p:nvPicPr>
          <p:cNvPr id="6" name="Image 0" descr="preencoded.png"/>
          <p:cNvPicPr>
            <a:picLocks noChangeAspect="1"/>
          </p:cNvPicPr>
          <p:nvPr/>
        </p:nvPicPr>
        <p:blipFill>
          <a:blip r:embed="rId3"/>
          <a:stretch>
            <a:fillRect/>
          </a:stretch>
        </p:blipFill>
        <p:spPr>
          <a:xfrm>
            <a:off x="863194" y="1896466"/>
            <a:ext cx="285293" cy="285293"/>
          </a:xfrm>
          <a:prstGeom prst="rect">
            <a:avLst/>
          </a:prstGeom>
        </p:spPr>
      </p:pic>
      <p:sp>
        <p:nvSpPr>
          <p:cNvPr id="7" name="Text 4"/>
          <p:cNvSpPr txBox="1"/>
          <p:nvPr/>
        </p:nvSpPr>
        <p:spPr>
          <a:xfrm>
            <a:off x="1463040" y="1645920"/>
            <a:ext cx="5577840" cy="7772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No real website asks you to run commands</a:t>
            </a:r>
            <a:endParaRPr lang="en-US" sz="1700" dirty="0"/>
          </a:p>
        </p:txBody>
      </p:sp>
      <p:sp>
        <p:nvSpPr>
          <p:cNvPr id="8" name="Shape 5"/>
          <p:cNvSpPr/>
          <p:nvPr/>
        </p:nvSpPr>
        <p:spPr>
          <a:xfrm>
            <a:off x="548640" y="2560320"/>
            <a:ext cx="6675120" cy="777240"/>
          </a:xfrm>
          <a:prstGeom prst="roundRect">
            <a:avLst>
              <a:gd name="adj" fmla="val 14118"/>
            </a:avLst>
          </a:prstGeom>
          <a:solidFill>
            <a:srgbClr val="13294B"/>
          </a:solidFill>
          <a:ln w="12700">
            <a:solidFill>
              <a:srgbClr val="13294B"/>
            </a:solidFill>
            <a:prstDash val="solid"/>
          </a:ln>
        </p:spPr>
        <p:txBody>
          <a:bodyPr/>
          <a:lstStyle/>
          <a:p>
            <a:endParaRPr lang="en-JP"/>
          </a:p>
        </p:txBody>
      </p:sp>
      <p:sp>
        <p:nvSpPr>
          <p:cNvPr id="9" name="Shape 6"/>
          <p:cNvSpPr/>
          <p:nvPr/>
        </p:nvSpPr>
        <p:spPr>
          <a:xfrm>
            <a:off x="731520" y="2679192"/>
            <a:ext cx="548640" cy="548640"/>
          </a:xfrm>
          <a:prstGeom prst="ellipse">
            <a:avLst/>
          </a:prstGeom>
          <a:solidFill>
            <a:srgbClr val="00B7C3"/>
          </a:solidFill>
          <a:ln w="12700">
            <a:solidFill>
              <a:srgbClr val="00B7C3"/>
            </a:solidFill>
            <a:prstDash val="solid"/>
          </a:ln>
        </p:spPr>
        <p:txBody>
          <a:bodyPr/>
          <a:lstStyle/>
          <a:p>
            <a:endParaRPr lang="en-JP"/>
          </a:p>
        </p:txBody>
      </p:sp>
      <p:pic>
        <p:nvPicPr>
          <p:cNvPr id="10" name="Image 1" descr="preencoded.png"/>
          <p:cNvPicPr>
            <a:picLocks noChangeAspect="1"/>
          </p:cNvPicPr>
          <p:nvPr/>
        </p:nvPicPr>
        <p:blipFill>
          <a:blip r:embed="rId4"/>
          <a:stretch>
            <a:fillRect/>
          </a:stretch>
        </p:blipFill>
        <p:spPr>
          <a:xfrm>
            <a:off x="863194" y="2810866"/>
            <a:ext cx="285293" cy="285293"/>
          </a:xfrm>
          <a:prstGeom prst="rect">
            <a:avLst/>
          </a:prstGeom>
        </p:spPr>
      </p:pic>
      <p:sp>
        <p:nvSpPr>
          <p:cNvPr id="11" name="Text 7"/>
          <p:cNvSpPr txBox="1"/>
          <p:nvPr/>
        </p:nvSpPr>
        <p:spPr>
          <a:xfrm>
            <a:off x="1463040" y="2560320"/>
            <a:ext cx="5577840" cy="7772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Cookies are keys: revoke sessions, not just passwords</a:t>
            </a:r>
            <a:endParaRPr lang="en-US" sz="1700" dirty="0"/>
          </a:p>
        </p:txBody>
      </p:sp>
      <p:sp>
        <p:nvSpPr>
          <p:cNvPr id="12" name="Shape 8"/>
          <p:cNvSpPr/>
          <p:nvPr/>
        </p:nvSpPr>
        <p:spPr>
          <a:xfrm>
            <a:off x="548640" y="3474720"/>
            <a:ext cx="6675120" cy="777240"/>
          </a:xfrm>
          <a:prstGeom prst="roundRect">
            <a:avLst>
              <a:gd name="adj" fmla="val 14118"/>
            </a:avLst>
          </a:prstGeom>
          <a:solidFill>
            <a:srgbClr val="13294B"/>
          </a:solidFill>
          <a:ln w="12700">
            <a:solidFill>
              <a:srgbClr val="13294B"/>
            </a:solidFill>
            <a:prstDash val="solid"/>
          </a:ln>
        </p:spPr>
        <p:txBody>
          <a:bodyPr/>
          <a:lstStyle/>
          <a:p>
            <a:endParaRPr lang="en-JP"/>
          </a:p>
        </p:txBody>
      </p:sp>
      <p:sp>
        <p:nvSpPr>
          <p:cNvPr id="13" name="Shape 9"/>
          <p:cNvSpPr/>
          <p:nvPr/>
        </p:nvSpPr>
        <p:spPr>
          <a:xfrm>
            <a:off x="731520" y="3593592"/>
            <a:ext cx="548640" cy="548640"/>
          </a:xfrm>
          <a:prstGeom prst="ellipse">
            <a:avLst/>
          </a:prstGeom>
          <a:solidFill>
            <a:srgbClr val="00B7C3"/>
          </a:solidFill>
          <a:ln w="12700">
            <a:solidFill>
              <a:srgbClr val="00B7C3"/>
            </a:solidFill>
            <a:prstDash val="solid"/>
          </a:ln>
        </p:spPr>
        <p:txBody>
          <a:bodyPr/>
          <a:lstStyle/>
          <a:p>
            <a:endParaRPr lang="en-JP"/>
          </a:p>
        </p:txBody>
      </p:sp>
      <p:pic>
        <p:nvPicPr>
          <p:cNvPr id="14" name="Image 2" descr="preencoded.png"/>
          <p:cNvPicPr>
            <a:picLocks noChangeAspect="1"/>
          </p:cNvPicPr>
          <p:nvPr/>
        </p:nvPicPr>
        <p:blipFill>
          <a:blip r:embed="rId5"/>
          <a:stretch>
            <a:fillRect/>
          </a:stretch>
        </p:blipFill>
        <p:spPr>
          <a:xfrm>
            <a:off x="863194" y="3725266"/>
            <a:ext cx="285293" cy="285293"/>
          </a:xfrm>
          <a:prstGeom prst="rect">
            <a:avLst/>
          </a:prstGeom>
        </p:spPr>
      </p:pic>
      <p:sp>
        <p:nvSpPr>
          <p:cNvPr id="15" name="Text 10"/>
          <p:cNvSpPr txBox="1"/>
          <p:nvPr/>
        </p:nvSpPr>
        <p:spPr>
          <a:xfrm>
            <a:off x="1463040" y="3474720"/>
            <a:ext cx="5577840" cy="7772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Layered controls stop one paste becoming a breach</a:t>
            </a:r>
            <a:endParaRPr lang="en-US" sz="1700" dirty="0"/>
          </a:p>
        </p:txBody>
      </p:sp>
      <p:sp>
        <p:nvSpPr>
          <p:cNvPr id="16" name="Shape 11"/>
          <p:cNvSpPr/>
          <p:nvPr/>
        </p:nvSpPr>
        <p:spPr>
          <a:xfrm>
            <a:off x="548640" y="4389120"/>
            <a:ext cx="6675120" cy="777240"/>
          </a:xfrm>
          <a:prstGeom prst="roundRect">
            <a:avLst>
              <a:gd name="adj" fmla="val 14118"/>
            </a:avLst>
          </a:prstGeom>
          <a:solidFill>
            <a:srgbClr val="13294B"/>
          </a:solidFill>
          <a:ln w="12700">
            <a:solidFill>
              <a:srgbClr val="13294B"/>
            </a:solidFill>
            <a:prstDash val="solid"/>
          </a:ln>
        </p:spPr>
        <p:txBody>
          <a:bodyPr/>
          <a:lstStyle/>
          <a:p>
            <a:endParaRPr lang="en-JP"/>
          </a:p>
        </p:txBody>
      </p:sp>
      <p:sp>
        <p:nvSpPr>
          <p:cNvPr id="17" name="Shape 12"/>
          <p:cNvSpPr/>
          <p:nvPr/>
        </p:nvSpPr>
        <p:spPr>
          <a:xfrm>
            <a:off x="731520" y="4507992"/>
            <a:ext cx="548640" cy="548640"/>
          </a:xfrm>
          <a:prstGeom prst="ellipse">
            <a:avLst/>
          </a:prstGeom>
          <a:solidFill>
            <a:srgbClr val="00B7C3"/>
          </a:solidFill>
          <a:ln w="12700">
            <a:solidFill>
              <a:srgbClr val="00B7C3"/>
            </a:solidFill>
            <a:prstDash val="solid"/>
          </a:ln>
        </p:spPr>
        <p:txBody>
          <a:bodyPr/>
          <a:lstStyle/>
          <a:p>
            <a:endParaRPr lang="en-JP"/>
          </a:p>
        </p:txBody>
      </p:sp>
      <p:pic>
        <p:nvPicPr>
          <p:cNvPr id="18" name="Image 3" descr="preencoded.png"/>
          <p:cNvPicPr>
            <a:picLocks noChangeAspect="1"/>
          </p:cNvPicPr>
          <p:nvPr/>
        </p:nvPicPr>
        <p:blipFill>
          <a:blip r:embed="rId6"/>
          <a:stretch>
            <a:fillRect/>
          </a:stretch>
        </p:blipFill>
        <p:spPr>
          <a:xfrm>
            <a:off x="863194" y="4639666"/>
            <a:ext cx="285293" cy="285293"/>
          </a:xfrm>
          <a:prstGeom prst="rect">
            <a:avLst/>
          </a:prstGeom>
        </p:spPr>
      </p:pic>
      <p:sp>
        <p:nvSpPr>
          <p:cNvPr id="19" name="Text 13"/>
          <p:cNvSpPr txBox="1"/>
          <p:nvPr/>
        </p:nvSpPr>
        <p:spPr>
          <a:xfrm>
            <a:off x="1463040" y="4389120"/>
            <a:ext cx="5577840" cy="7772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Report fast: minutes matter</a:t>
            </a:r>
            <a:endParaRPr lang="en-US" sz="1700" dirty="0"/>
          </a:p>
        </p:txBody>
      </p:sp>
      <p:sp>
        <p:nvSpPr>
          <p:cNvPr id="20" name="Shape 14"/>
          <p:cNvSpPr/>
          <p:nvPr/>
        </p:nvSpPr>
        <p:spPr>
          <a:xfrm>
            <a:off x="7589520" y="1645920"/>
            <a:ext cx="4050792" cy="3520440"/>
          </a:xfrm>
          <a:prstGeom prst="roundRect">
            <a:avLst>
              <a:gd name="adj" fmla="val 3117"/>
            </a:avLst>
          </a:prstGeom>
          <a:solidFill>
            <a:srgbClr val="0078D4"/>
          </a:solidFill>
          <a:ln w="12700">
            <a:solidFill>
              <a:srgbClr val="0078D4"/>
            </a:solidFill>
            <a:prstDash val="solid"/>
          </a:ln>
        </p:spPr>
        <p:txBody>
          <a:bodyPr/>
          <a:lstStyle/>
          <a:p>
            <a:endParaRPr lang="en-JP"/>
          </a:p>
        </p:txBody>
      </p:sp>
      <p:sp>
        <p:nvSpPr>
          <p:cNvPr id="21" name="Shape 15"/>
          <p:cNvSpPr/>
          <p:nvPr/>
        </p:nvSpPr>
        <p:spPr>
          <a:xfrm>
            <a:off x="7863840" y="1920240"/>
            <a:ext cx="777240" cy="777240"/>
          </a:xfrm>
          <a:prstGeom prst="ellipse">
            <a:avLst/>
          </a:prstGeom>
          <a:solidFill>
            <a:srgbClr val="FFFFFF"/>
          </a:solidFill>
          <a:ln w="12700">
            <a:solidFill>
              <a:srgbClr val="FFFFFF"/>
            </a:solidFill>
            <a:prstDash val="solid"/>
          </a:ln>
        </p:spPr>
        <p:txBody>
          <a:bodyPr/>
          <a:lstStyle/>
          <a:p>
            <a:endParaRPr lang="en-JP"/>
          </a:p>
        </p:txBody>
      </p:sp>
      <p:pic>
        <p:nvPicPr>
          <p:cNvPr id="22" name="Image 4" descr="preencoded.png"/>
          <p:cNvPicPr>
            <a:picLocks noChangeAspect="1"/>
          </p:cNvPicPr>
          <p:nvPr/>
        </p:nvPicPr>
        <p:blipFill>
          <a:blip r:embed="rId7"/>
          <a:stretch>
            <a:fillRect/>
          </a:stretch>
        </p:blipFill>
        <p:spPr>
          <a:xfrm>
            <a:off x="8050378" y="2106778"/>
            <a:ext cx="404165" cy="404165"/>
          </a:xfrm>
          <a:prstGeom prst="rect">
            <a:avLst/>
          </a:prstGeom>
        </p:spPr>
      </p:pic>
      <p:sp>
        <p:nvSpPr>
          <p:cNvPr id="23" name="Text 16"/>
          <p:cNvSpPr txBox="1"/>
          <p:nvPr/>
        </p:nvSpPr>
        <p:spPr>
          <a:xfrm>
            <a:off x="7863840" y="2880360"/>
            <a:ext cx="356616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Thank you</a:t>
            </a:r>
            <a:endParaRPr lang="en-US" sz="2800" dirty="0"/>
          </a:p>
        </p:txBody>
      </p:sp>
      <p:sp>
        <p:nvSpPr>
          <p:cNvPr id="26"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ZNexora Cyber">
  <a:themeElements>
    <a:clrScheme name="ZNexora Cyber">
      <a:dk1>
        <a:srgbClr val="0B1F33"/>
      </a:dk1>
      <a:lt1>
        <a:srgbClr val="FFFFFF"/>
      </a:lt1>
      <a:dk2>
        <a:srgbClr val="0A1628"/>
      </a:dk2>
      <a:lt2>
        <a:srgbClr val="F4F7FB"/>
      </a:lt2>
      <a:accent1>
        <a:srgbClr val="0078D4"/>
      </a:accent1>
      <a:accent2>
        <a:srgbClr val="00B7C3"/>
      </a:accent2>
      <a:accent3>
        <a:srgbClr val="F7630C"/>
      </a:accent3>
      <a:accent4>
        <a:srgbClr val="13294B"/>
      </a:accent4>
      <a:accent5>
        <a:srgbClr val="5B6B7C"/>
      </a:accent5>
      <a:accent6>
        <a:srgbClr val="FFB900"/>
      </a:accent6>
      <a:hlink>
        <a:srgbClr val="0078D4"/>
      </a:hlink>
      <a:folHlink>
        <a:srgbClr val="5B6B7C"/>
      </a:folHlink>
    </a:clrScheme>
    <a:fontScheme name="ZNexora Cyb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2671</Words>
  <Application>Microsoft Macintosh PowerPoint</Application>
  <PresentationFormat>Widescreen</PresentationFormat>
  <Paragraphs>218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ZNexora Cyber</vt:lpstr>
      <vt:lpstr>Lumma Stealer (LummaC2)</vt:lpstr>
      <vt:lpstr>What is Lumma Stealer?</vt:lpstr>
      <vt:lpstr>What Lumma steals</vt:lpstr>
      <vt:lpstr>How Lumma reaches victims</vt:lpstr>
      <vt:lpstr>The fake CAPTCHA / ClickFix trick</vt:lpstr>
      <vt:lpstr>From one paste to a breach</vt:lpstr>
      <vt:lpstr>Warning signs to watch for</vt:lpstr>
      <vt:lpstr>Six habits that stop Lumma</vt:lpstr>
      <vt:lpstr>Layered controls for IT and security teams</vt:lpstr>
      <vt:lpstr>Ran a suspicious command? Act fast</vt:lpstr>
      <vt:lpstr>Remediation playbook for IT</vt:lpstr>
      <vt:lpstr>Stop before you paste</vt:lpstr>
    </vt:vector>
  </TitlesOfParts>
  <Company>ZNexora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Lumma Stealer (LummaC2) Threat Briefing</dc:title>
  <dc:subject>PptxGenJS Presentation</dc:subject>
  <dc:creator>ZNexora Tech</dc:creator>
  <cp:lastModifiedBy>ZIN MAR LWIN</cp:lastModifiedBy>
  <cp:revision>2</cp:revision>
  <dcterms:created xsi:type="dcterms:W3CDTF">2026-10-13T14:35:50Z</dcterms:created>
  <dcterms:modified xsi:type="dcterms:W3CDTF">2026-10-13T15:06:08Z</dcterms:modified>
</cp:coreProperties>
</file>