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1188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talk about how fraudsters target mobile money users, how to recognise their tricks, and what to do if something goes wrong. Mobile money makes life easier, and it also makes us a target, so a few simple habits go a long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mobile money fraud is not high-tech hacking. It is social engineering: a fraudster persuades you to do something yourself, like sending money, approving a transaction, or reading out a code. That's good news, because it means awareness is the best defence.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mobile money attractive to criminals: speed, finality, and trust. Transfers are instant, they are difficult to undo once the money is withdrawn, and the whole system depends on people trusting phone numbers and names that can easily be faked.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scam briefly and ask the audience if they have seen any of them. The "wrong transfer" scam often comes with a fake SMS that looks like a real deposit notice: always check your actual balance, not the message. Real promotions never ask you to pay to receive a prize. Your provider will never call asking for your PIN.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scam follows this pattern. The key is step 2: pressure. Fraudsters want you to act before you think. If you slow down and verify by calling the official number yourself, the scam usually falls apart.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notice even one of these signs, stop and verify. Official messages from your provider come from registered short codes or sender names, not ordinary personal phone numbers. And a deposit message means nothing until you confirm the money in your actual balance.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only one thing from today, remember this. Your PIN and one-time codes are like the key to your house. No genuine provider, agent or bank employee will ever ask for them. Anyone who asks is a fraudster.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simple, everyday habits. Avoid obvious PINs like birth years or 1234. The most powerful habit is calling back on an official number: it defeats almost every impersonation scam. Use only official apps from trusted stores, lock your phone, and share what you learn today with relatives who may be more vulnerable.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 swap is especially dangerous because it bypasses SMS codes. Fraudsters often gather personal details first through social media or phishing. If your phone loses service unexpectedly in an area where it normally works, treat it as an emergency and call your operator from another phone.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matters. The sooner the provider knows, the better the chance of freezing funds before they are withdrawn. Remind people there is no shame in being scammed: these criminals are professionals, and reporting helps protect others.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local helpline numbers for your country and provider before presenting. Encourage the audience to save them right now during the session.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three-word summary and invite questions. Consider asking the audience to share a scam message they have received, and walk through the red flags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Archivo" pitchFamily="34" charset="0"/>
                <a:ea typeface="Archivo" pitchFamily="34" charset="-122"/>
                <a:cs typeface="Archiv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Archivo" pitchFamily="34" charset="0"/>
                <a:ea typeface="Archivo" pitchFamily="34" charset="-122"/>
                <a:cs typeface="Archiv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0" y="0"/>
            <a:ext cx="152400" cy="6858000"/>
          </a:xfrm>
          <a:prstGeom prst="rect">
            <a:avLst/>
          </a:prstGeom>
        </p:spPr>
      </p:pic>
      <p:pic>
        <p:nvPicPr>
          <p:cNvPr id="3" name="Image 1" descr="Smartphone showing a mobile money wallet, protected by a shield, with coins and a warning sign"/>
          <p:cNvPicPr>
            <a:picLocks noChangeAspect="1"/>
          </p:cNvPicPr>
          <p:nvPr/>
        </p:nvPicPr>
        <p:blipFill>
          <a:blip r:embed="rId4"/>
          <a:srcRect/>
          <a:stretch/>
        </p:blipFill>
        <p:spPr>
          <a:xfrm>
            <a:off x="7493000" y="1016000"/>
            <a:ext cx="4064000" cy="4826000"/>
          </a:xfrm>
          <a:prstGeom prst="rect">
            <a:avLst/>
          </a:prstGeom>
        </p:spPr>
      </p:pic>
      <p:sp>
        <p:nvSpPr>
          <p:cNvPr id="4" name="Text 0"/>
          <p:cNvSpPr/>
          <p:nvPr/>
        </p:nvSpPr>
        <p:spPr>
          <a:xfrm>
            <a:off x="812800" y="20548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F0A35E"/>
                </a:solidFill>
                <a:latin typeface="Inter" pitchFamily="34" charset="0"/>
                <a:ea typeface="Inter" pitchFamily="34" charset="-122"/>
                <a:cs typeface="Inter" pitchFamily="34" charset="-120"/>
              </a:rPr>
              <a:t>FRAUD AWARENESS</a:t>
            </a:r>
            <a:endParaRPr lang="en-US" sz="1600" dirty="0"/>
          </a:p>
        </p:txBody>
      </p:sp>
      <p:sp>
        <p:nvSpPr>
          <p:cNvPr id="5" name="Text 1"/>
          <p:cNvSpPr>
            <a:spLocks noGrp="1"/>
          </p:cNvSpPr>
          <p:nvPr>
            <p:ph type="title"/>
          </p:nvPr>
        </p:nvSpPr>
        <p:spPr>
          <a:xfrm>
            <a:off x="812800" y="2593280"/>
            <a:ext cx="65405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4EE"/>
                </a:solidFill>
                <a:latin typeface="Archivo" pitchFamily="34" charset="0"/>
                <a:ea typeface="Archivo" pitchFamily="34" charset="-122"/>
                <a:cs typeface="Archivo" pitchFamily="34" charset="-120"/>
              </a:rPr>
              <a:t>Online Fraud:</a:t>
            </a:r>
            <a:endParaRPr lang="en-US" sz="6000" dirty="0"/>
          </a:p>
          <a:p>
            <a:pPr marL="0" indent="0" algn="l">
              <a:lnSpc>
                <a:spcPts val="6300"/>
              </a:lnSpc>
              <a:buNone/>
            </a:pPr>
            <a:r>
              <a:rPr lang="en-US" sz="6000" b="1" i="0" dirty="0">
                <a:solidFill>
                  <a:srgbClr val="F7F4EE"/>
                </a:solidFill>
                <a:latin typeface="Archivo" pitchFamily="34" charset="0"/>
                <a:ea typeface="Archivo" pitchFamily="34" charset="-122"/>
                <a:cs typeface="Archivo" pitchFamily="34" charset="-120"/>
              </a:rPr>
              <a:t>Mobile Money</a:t>
            </a:r>
            <a:endParaRPr lang="en-US" sz="6000" dirty="0"/>
          </a:p>
        </p:txBody>
      </p:sp>
      <p:sp>
        <p:nvSpPr>
          <p:cNvPr id="6" name="Text 2"/>
          <p:cNvSpPr/>
          <p:nvPr/>
        </p:nvSpPr>
        <p:spPr>
          <a:xfrm>
            <a:off x="812800" y="4447480"/>
            <a:ext cx="65405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CFDB"/>
                </a:solidFill>
                <a:latin typeface="Inter" pitchFamily="34" charset="0"/>
                <a:ea typeface="Inter" pitchFamily="34" charset="-122"/>
                <a:cs typeface="Inter" pitchFamily="34" charset="-120"/>
              </a:rPr>
              <a:t>Protect your money. Protect your PIN.</a:t>
            </a:r>
            <a:endParaRPr lang="en-US" sz="2000" dirty="0"/>
          </a:p>
        </p:txBody>
      </p:sp>
      <p:pic>
        <p:nvPicPr>
          <p:cNvPr id="8" name="Picture 7" descr="ZT_logo.png">
            <a:extLst>
              <a:ext uri="{FF2B5EF4-FFF2-40B4-BE49-F238E27FC236}">
                <a16:creationId xmlns:a16="http://schemas.microsoft.com/office/drawing/2014/main" id="{343F6978-0D03-2A56-BC38-0487A424B33A}"/>
              </a:ext>
            </a:extLst>
          </p:cNvPr>
          <p:cNvPicPr>
            <a:picLocks noChangeAspect="1"/>
          </p:cNvPicPr>
          <p:nvPr/>
        </p:nvPicPr>
        <p:blipFill>
          <a:blip r:embed="rId5"/>
          <a:stretch>
            <a:fillRect/>
          </a:stretch>
        </p:blipFill>
        <p:spPr>
          <a:xfrm>
            <a:off x="11049000" y="73152"/>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What is mobile money fraud?</a:t>
            </a:r>
            <a:endParaRPr lang="en-US" sz="3600" dirty="0"/>
          </a:p>
        </p:txBody>
      </p:sp>
      <p:sp>
        <p:nvSpPr>
          <p:cNvPr id="3" name="Text 1"/>
          <p:cNvSpPr/>
          <p:nvPr/>
        </p:nvSpPr>
        <p:spPr>
          <a:xfrm>
            <a:off x="812800" y="2292449"/>
            <a:ext cx="6802120" cy="1305322"/>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14213D"/>
                </a:solidFill>
                <a:latin typeface="Archivo" pitchFamily="34" charset="0"/>
                <a:ea typeface="Archivo" pitchFamily="34" charset="-122"/>
                <a:cs typeface="Archivo" pitchFamily="34" charset="-120"/>
              </a:rPr>
              <a:t>Any trick that gets you to </a:t>
            </a:r>
            <a:r>
              <a:rPr lang="en-US" sz="2800" dirty="0">
                <a:solidFill>
                  <a:srgbClr val="B35A10"/>
                </a:solidFill>
                <a:latin typeface="Archivo" pitchFamily="34" charset="0"/>
                <a:ea typeface="Archivo" pitchFamily="34" charset="-122"/>
                <a:cs typeface="Archivo" pitchFamily="34" charset="-120"/>
              </a:rPr>
              <a:t>send money</a:t>
            </a:r>
            <a:r>
              <a:rPr lang="en-US" sz="2800" dirty="0">
                <a:solidFill>
                  <a:srgbClr val="14213D"/>
                </a:solidFill>
                <a:latin typeface="Archivo" pitchFamily="34" charset="0"/>
                <a:ea typeface="Archivo" pitchFamily="34" charset="-122"/>
                <a:cs typeface="Archivo" pitchFamily="34" charset="-120"/>
              </a:rPr>
              <a:t> or </a:t>
            </a:r>
            <a:r>
              <a:rPr lang="en-US" sz="2800" dirty="0">
                <a:solidFill>
                  <a:srgbClr val="B35A10"/>
                </a:solidFill>
                <a:latin typeface="Archivo" pitchFamily="34" charset="0"/>
                <a:ea typeface="Archivo" pitchFamily="34" charset="-122"/>
                <a:cs typeface="Archivo" pitchFamily="34" charset="-120"/>
              </a:rPr>
              <a:t>reveal your PIN or code</a:t>
            </a:r>
            <a:r>
              <a:rPr lang="en-US" sz="2800" dirty="0">
                <a:solidFill>
                  <a:srgbClr val="14213D"/>
                </a:solidFill>
                <a:latin typeface="Archivo" pitchFamily="34" charset="0"/>
                <a:ea typeface="Archivo" pitchFamily="34" charset="-122"/>
                <a:cs typeface="Archivo" pitchFamily="34" charset="-120"/>
              </a:rPr>
              <a:t> to someone who should never have it.</a:t>
            </a:r>
            <a:endParaRPr lang="en-US" sz="2800" dirty="0"/>
          </a:p>
        </p:txBody>
      </p:sp>
      <p:sp>
        <p:nvSpPr>
          <p:cNvPr id="4" name="Text 2"/>
          <p:cNvSpPr/>
          <p:nvPr/>
        </p:nvSpPr>
        <p:spPr>
          <a:xfrm>
            <a:off x="812800" y="3775571"/>
            <a:ext cx="6604000" cy="595610"/>
          </a:xfrm>
          <a:prstGeom prst="roundRect">
            <a:avLst>
              <a:gd name="adj" fmla="val 17058"/>
            </a:avLst>
          </a:prstGeom>
          <a:solidFill>
            <a:srgbClr val="ECE6DA"/>
          </a:solidFill>
          <a:ln/>
        </p:spPr>
        <p:txBody>
          <a:bodyPr wrap="square" lIns="249642" tIns="148042" rIns="15962" bIns="122642" rtlCol="0" anchor="t">
            <a:normAutofit/>
          </a:bodyPr>
          <a:lstStyle/>
          <a:p>
            <a:pPr marL="0" indent="0" algn="l">
              <a:lnSpc>
                <a:spcPts val="1890"/>
              </a:lnSpc>
              <a:buNone/>
            </a:pPr>
            <a:r>
              <a:rPr lang="en-US" sz="1400" dirty="0">
                <a:solidFill>
                  <a:srgbClr val="14213D"/>
                </a:solidFill>
                <a:latin typeface="Inter" pitchFamily="34" charset="0"/>
                <a:ea typeface="Inter" pitchFamily="34" charset="-122"/>
                <a:cs typeface="Inter" pitchFamily="34" charset="-120"/>
              </a:rPr>
              <a:t>It usually arrives as a </a:t>
            </a:r>
            <a:r>
              <a:rPr lang="en-US" sz="1400" b="1" dirty="0">
                <a:solidFill>
                  <a:srgbClr val="14213D"/>
                </a:solidFill>
                <a:latin typeface="Inter" pitchFamily="34" charset="0"/>
                <a:ea typeface="Inter" pitchFamily="34" charset="-122"/>
                <a:cs typeface="Inter" pitchFamily="34" charset="-120"/>
              </a:rPr>
              <a:t>call, SMS, WhatsApp message or link</a:t>
            </a:r>
            <a:r>
              <a:rPr lang="en-US" sz="1400" dirty="0">
                <a:solidFill>
                  <a:srgbClr val="14213D"/>
                </a:solidFill>
                <a:latin typeface="Inter" pitchFamily="34" charset="0"/>
                <a:ea typeface="Inter" pitchFamily="34" charset="-122"/>
                <a:cs typeface="Inter" pitchFamily="34" charset="-120"/>
              </a:rPr>
              <a:t>.</a:t>
            </a:r>
            <a:endParaRPr lang="en-US" sz="1400" dirty="0"/>
          </a:p>
        </p:txBody>
      </p:sp>
      <p:sp>
        <p:nvSpPr>
          <p:cNvPr id="5" name="Shape 3"/>
          <p:cNvSpPr/>
          <p:nvPr/>
        </p:nvSpPr>
        <p:spPr>
          <a:xfrm>
            <a:off x="812800" y="3775571"/>
            <a:ext cx="6604000" cy="595610"/>
          </a:xfrm>
          <a:custGeom>
            <a:avLst/>
            <a:gdLst/>
            <a:ahLst/>
            <a:cxnLst/>
            <a:rect l="l" t="t" r="r" b="b"/>
            <a:pathLst>
              <a:path w="6604000" h="595610">
                <a:moveTo>
                  <a:pt x="101600" y="595610"/>
                </a:moveTo>
                <a:lnTo>
                  <a:pt x="101600" y="595610"/>
                </a:lnTo>
                <a:arcTo wR="101600" hR="101600" stAng="5400000" swAng="5400000"/>
                <a:lnTo>
                  <a:pt x="0" y="101600"/>
                </a:lnTo>
                <a:arcTo wR="101600" hR="101600" stAng="10800000" swAng="5400000"/>
                <a:lnTo>
                  <a:pt x="101600" y="0"/>
                </a:lnTo>
                <a:arcTo wR="50800" hR="101600" stAng="16200000" swAng="-5400000"/>
                <a:lnTo>
                  <a:pt x="50800" y="494010"/>
                </a:lnTo>
                <a:arcTo wR="50800" hR="101600" stAng="10800000" swAng="-5400000"/>
                <a:close/>
              </a:path>
            </a:pathLst>
          </a:custGeom>
          <a:solidFill>
            <a:srgbClr val="E07A1F"/>
          </a:solidFill>
          <a:ln/>
        </p:spPr>
        <p:txBody>
          <a:bodyPr/>
          <a:lstStyle/>
          <a:p>
            <a:endParaRPr lang="en-JP"/>
          </a:p>
        </p:txBody>
      </p:sp>
      <p:sp>
        <p:nvSpPr>
          <p:cNvPr id="6" name="Text 4"/>
          <p:cNvSpPr/>
          <p:nvPr/>
        </p:nvSpPr>
        <p:spPr>
          <a:xfrm>
            <a:off x="812800" y="4574381"/>
            <a:ext cx="6604000" cy="595610"/>
          </a:xfrm>
          <a:prstGeom prst="roundRect">
            <a:avLst>
              <a:gd name="adj" fmla="val 17058"/>
            </a:avLst>
          </a:prstGeom>
          <a:solidFill>
            <a:srgbClr val="ECE6DA"/>
          </a:solidFill>
          <a:ln/>
        </p:spPr>
        <p:txBody>
          <a:bodyPr wrap="square" lIns="249642" tIns="148042" rIns="15962" bIns="122642" rtlCol="0" anchor="t">
            <a:normAutofit/>
          </a:bodyPr>
          <a:lstStyle/>
          <a:p>
            <a:pPr marL="0" indent="0" algn="l">
              <a:lnSpc>
                <a:spcPts val="1890"/>
              </a:lnSpc>
              <a:buNone/>
            </a:pPr>
            <a:r>
              <a:rPr lang="en-US" sz="1400" dirty="0">
                <a:solidFill>
                  <a:srgbClr val="14213D"/>
                </a:solidFill>
                <a:latin typeface="Inter" pitchFamily="34" charset="0"/>
                <a:ea typeface="Inter" pitchFamily="34" charset="-122"/>
                <a:cs typeface="Inter" pitchFamily="34" charset="-120"/>
              </a:rPr>
              <a:t>The fraudster relies on </a:t>
            </a:r>
            <a:r>
              <a:rPr lang="en-US" sz="1400" b="1" dirty="0">
                <a:solidFill>
                  <a:srgbClr val="14213D"/>
                </a:solidFill>
                <a:latin typeface="Inter" pitchFamily="34" charset="0"/>
                <a:ea typeface="Inter" pitchFamily="34" charset="-122"/>
                <a:cs typeface="Inter" pitchFamily="34" charset="-120"/>
              </a:rPr>
              <a:t>you</a:t>
            </a:r>
            <a:r>
              <a:rPr lang="en-US" sz="1400" dirty="0">
                <a:solidFill>
                  <a:srgbClr val="14213D"/>
                </a:solidFill>
                <a:latin typeface="Inter" pitchFamily="34" charset="0"/>
                <a:ea typeface="Inter" pitchFamily="34" charset="-122"/>
                <a:cs typeface="Inter" pitchFamily="34" charset="-120"/>
              </a:rPr>
              <a:t> taking the action, not on hacking.</a:t>
            </a:r>
            <a:endParaRPr lang="en-US" sz="1400" dirty="0"/>
          </a:p>
        </p:txBody>
      </p:sp>
      <p:sp>
        <p:nvSpPr>
          <p:cNvPr id="7" name="Shape 5"/>
          <p:cNvSpPr/>
          <p:nvPr/>
        </p:nvSpPr>
        <p:spPr>
          <a:xfrm>
            <a:off x="812800" y="4574381"/>
            <a:ext cx="6604000" cy="595610"/>
          </a:xfrm>
          <a:custGeom>
            <a:avLst/>
            <a:gdLst/>
            <a:ahLst/>
            <a:cxnLst/>
            <a:rect l="l" t="t" r="r" b="b"/>
            <a:pathLst>
              <a:path w="6604000" h="595610">
                <a:moveTo>
                  <a:pt x="101600" y="595610"/>
                </a:moveTo>
                <a:lnTo>
                  <a:pt x="101600" y="595610"/>
                </a:lnTo>
                <a:arcTo wR="101600" hR="101600" stAng="5400000" swAng="5400000"/>
                <a:lnTo>
                  <a:pt x="0" y="101600"/>
                </a:lnTo>
                <a:arcTo wR="101600" hR="101600" stAng="10800000" swAng="5400000"/>
                <a:lnTo>
                  <a:pt x="101600" y="0"/>
                </a:lnTo>
                <a:arcTo wR="50800" hR="101600" stAng="16200000" swAng="-5400000"/>
                <a:lnTo>
                  <a:pt x="50800" y="494010"/>
                </a:lnTo>
                <a:arcTo wR="50800" hR="101600" stAng="10800000" swAng="-5400000"/>
                <a:close/>
              </a:path>
            </a:pathLst>
          </a:custGeom>
          <a:solidFill>
            <a:srgbClr val="2B5D9C"/>
          </a:solidFill>
          <a:ln/>
        </p:spPr>
        <p:txBody>
          <a:bodyPr/>
          <a:lstStyle/>
          <a:p>
            <a:endParaRPr lang="en-JP"/>
          </a:p>
        </p:txBody>
      </p:sp>
      <p:pic>
        <p:nvPicPr>
          <p:cNvPr id="8" name="Image 0" descr="A fishing hook reaching into a phone's messages while coins fly away"/>
          <p:cNvPicPr>
            <a:picLocks noChangeAspect="1"/>
          </p:cNvPicPr>
          <p:nvPr/>
        </p:nvPicPr>
        <p:blipFill>
          <a:blip r:embed="rId3"/>
          <a:srcRect/>
          <a:stretch/>
        </p:blipFill>
        <p:spPr>
          <a:xfrm>
            <a:off x="7823200" y="1953220"/>
            <a:ext cx="3556000" cy="3556000"/>
          </a:xfrm>
          <a:prstGeom prst="rect">
            <a:avLst/>
          </a:prstGeom>
        </p:spPr>
      </p:pic>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2</a:t>
            </a:r>
            <a:endParaRPr lang="en-US" sz="1200" dirty="0"/>
          </a:p>
        </p:txBody>
      </p:sp>
      <p:pic>
        <p:nvPicPr>
          <p:cNvPr id="10" name="Picture 9" descr="ZT_logo.png">
            <a:extLst>
              <a:ext uri="{FF2B5EF4-FFF2-40B4-BE49-F238E27FC236}">
                <a16:creationId xmlns:a16="http://schemas.microsoft.com/office/drawing/2014/main" id="{9B768858-85E9-77E4-E1AC-9139A4A4EE75}"/>
              </a:ext>
            </a:extLst>
          </p:cNvPr>
          <p:cNvPicPr>
            <a:picLocks noChangeAspect="1"/>
          </p:cNvPicPr>
          <p:nvPr/>
        </p:nvPicPr>
        <p:blipFill>
          <a:blip r:embed="rId4"/>
          <a:stretch>
            <a:fillRect/>
          </a:stretch>
        </p:blipFill>
        <p:spPr>
          <a:xfrm>
            <a:off x="11049000" y="73152"/>
            <a:ext cx="9144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Why fraudsters target mobile money</a:t>
            </a:r>
            <a:endParaRPr lang="en-US" sz="3600" dirty="0"/>
          </a:p>
        </p:txBody>
      </p:sp>
      <p:sp>
        <p:nvSpPr>
          <p:cNvPr id="3" name="Shape 1"/>
          <p:cNvSpPr/>
          <p:nvPr/>
        </p:nvSpPr>
        <p:spPr>
          <a:xfrm>
            <a:off x="812800" y="1620441"/>
            <a:ext cx="3386634" cy="4221559"/>
          </a:xfrm>
          <a:prstGeom prst="roundRect">
            <a:avLst>
              <a:gd name="adj" fmla="val 3000"/>
            </a:avLst>
          </a:prstGeom>
          <a:solidFill>
            <a:srgbClr val="FFFFFF"/>
          </a:solidFill>
          <a:ln/>
        </p:spPr>
        <p:txBody>
          <a:bodyPr/>
          <a:lstStyle/>
          <a:p>
            <a:endParaRPr lang="en-JP"/>
          </a:p>
        </p:txBody>
      </p:sp>
      <p:sp>
        <p:nvSpPr>
          <p:cNvPr id="4" name="Shape 2"/>
          <p:cNvSpPr/>
          <p:nvPr/>
        </p:nvSpPr>
        <p:spPr>
          <a:xfrm>
            <a:off x="812800" y="1620441"/>
            <a:ext cx="3386634" cy="4221559"/>
          </a:xfrm>
          <a:custGeom>
            <a:avLst/>
            <a:gdLst/>
            <a:ahLst/>
            <a:cxnLst/>
            <a:rect l="l" t="t" r="r" b="b"/>
            <a:pathLst>
              <a:path w="3386634" h="4221559">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E07A1F"/>
          </a:solidFill>
          <a:ln/>
        </p:spPr>
        <p:txBody>
          <a:bodyPr/>
          <a:lstStyle/>
          <a:p>
            <a:endParaRPr lang="en-JP"/>
          </a:p>
        </p:txBody>
      </p:sp>
      <p:pic>
        <p:nvPicPr>
          <p:cNvPr id="5" name="Image 0" descr="Lightning bolt"/>
          <p:cNvPicPr>
            <a:picLocks noChangeAspect="1"/>
          </p:cNvPicPr>
          <p:nvPr/>
        </p:nvPicPr>
        <p:blipFill>
          <a:blip r:embed="rId3"/>
          <a:srcRect/>
          <a:stretch/>
        </p:blipFill>
        <p:spPr>
          <a:xfrm>
            <a:off x="1066800" y="1976041"/>
            <a:ext cx="762000" cy="762000"/>
          </a:xfrm>
          <a:prstGeom prst="rect">
            <a:avLst/>
          </a:prstGeom>
        </p:spPr>
      </p:pic>
      <p:sp>
        <p:nvSpPr>
          <p:cNvPr id="6" name="Text 3"/>
          <p:cNvSpPr/>
          <p:nvPr/>
        </p:nvSpPr>
        <p:spPr>
          <a:xfrm>
            <a:off x="3487995" y="2143720"/>
            <a:ext cx="457438" cy="452041"/>
          </a:xfrm>
          <a:prstGeom prst="rect">
            <a:avLst/>
          </a:prstGeom>
          <a:noFill/>
          <a:ln/>
        </p:spPr>
        <p:txBody>
          <a:bodyPr wrap="square" lIns="0" tIns="0" rIns="0" bIns="0" rtlCol="0" anchor="t">
            <a:normAutofit/>
          </a:bodyPr>
          <a:lstStyle/>
          <a:p>
            <a:pPr marL="0" indent="0" algn="r">
              <a:lnSpc>
                <a:spcPts val="3360"/>
              </a:lnSpc>
              <a:buNone/>
            </a:pPr>
            <a:r>
              <a:rPr lang="en-US" sz="2400" b="1" dirty="0">
                <a:solidFill>
                  <a:srgbClr val="D9D1C2"/>
                </a:solidFill>
                <a:latin typeface="Archivo" pitchFamily="34" charset="0"/>
                <a:ea typeface="Archivo" pitchFamily="34" charset="-122"/>
                <a:cs typeface="Archivo" pitchFamily="34" charset="-120"/>
              </a:rPr>
              <a:t>01</a:t>
            </a:r>
            <a:endParaRPr lang="en-US" sz="2400" dirty="0"/>
          </a:p>
        </p:txBody>
      </p:sp>
      <p:sp>
        <p:nvSpPr>
          <p:cNvPr id="7" name="Text 4"/>
          <p:cNvSpPr/>
          <p:nvPr/>
        </p:nvSpPr>
        <p:spPr>
          <a:xfrm>
            <a:off x="1066800" y="286504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nter" pitchFamily="34" charset="0"/>
                <a:ea typeface="Inter" pitchFamily="34" charset="-122"/>
                <a:cs typeface="Inter" pitchFamily="34" charset="-120"/>
              </a:rPr>
              <a:t>It's instant</a:t>
            </a:r>
            <a:endParaRPr lang="en-US" sz="2000" dirty="0"/>
          </a:p>
        </p:txBody>
      </p:sp>
      <p:sp>
        <p:nvSpPr>
          <p:cNvPr id="8" name="Text 5"/>
          <p:cNvSpPr/>
          <p:nvPr/>
        </p:nvSpPr>
        <p:spPr>
          <a:xfrm>
            <a:off x="1066800" y="3296841"/>
            <a:ext cx="2964993"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560"/>
                </a:solidFill>
                <a:latin typeface="Inter" pitchFamily="34" charset="0"/>
                <a:ea typeface="Inter" pitchFamily="34" charset="-122"/>
                <a:cs typeface="Inter" pitchFamily="34" charset="-120"/>
              </a:rPr>
              <a:t>Money moves in seconds, often before you realise something is wrong.</a:t>
            </a:r>
            <a:endParaRPr lang="en-US" sz="1600" dirty="0"/>
          </a:p>
        </p:txBody>
      </p:sp>
      <p:sp>
        <p:nvSpPr>
          <p:cNvPr id="9" name="Shape 6"/>
          <p:cNvSpPr/>
          <p:nvPr/>
        </p:nvSpPr>
        <p:spPr>
          <a:xfrm>
            <a:off x="4402634" y="1620441"/>
            <a:ext cx="3386733" cy="4221559"/>
          </a:xfrm>
          <a:prstGeom prst="roundRect">
            <a:avLst>
              <a:gd name="adj" fmla="val 3000"/>
            </a:avLst>
          </a:prstGeom>
          <a:solidFill>
            <a:srgbClr val="FFFFFF"/>
          </a:solidFill>
          <a:ln/>
        </p:spPr>
        <p:txBody>
          <a:bodyPr/>
          <a:lstStyle/>
          <a:p>
            <a:endParaRPr lang="en-JP"/>
          </a:p>
        </p:txBody>
      </p:sp>
      <p:sp>
        <p:nvSpPr>
          <p:cNvPr id="10" name="Shape 7"/>
          <p:cNvSpPr/>
          <p:nvPr/>
        </p:nvSpPr>
        <p:spPr>
          <a:xfrm>
            <a:off x="4402634" y="1620441"/>
            <a:ext cx="3386733" cy="4221559"/>
          </a:xfrm>
          <a:custGeom>
            <a:avLst/>
            <a:gdLst/>
            <a:ahLst/>
            <a:cxnLst/>
            <a:rect l="l" t="t" r="r" b="b"/>
            <a:pathLst>
              <a:path w="3386733" h="4221559">
                <a:moveTo>
                  <a:pt x="0" y="101600"/>
                </a:moveTo>
                <a:lnTo>
                  <a:pt x="0" y="101600"/>
                </a:lnTo>
                <a:arcTo wR="101600" hR="101600" stAng="10800000" swAng="5400000"/>
                <a:lnTo>
                  <a:pt x="3285133" y="0"/>
                </a:lnTo>
                <a:arcTo wR="101600" hR="101600" stAng="16200000" swAng="5400000"/>
                <a:lnTo>
                  <a:pt x="3386733" y="101600"/>
                </a:lnTo>
                <a:arcTo wR="101600" hR="50800" stAng="0" swAng="-5400000"/>
                <a:lnTo>
                  <a:pt x="101600" y="50800"/>
                </a:lnTo>
                <a:arcTo wR="101600" hR="50800" stAng="16200000" swAng="-5400000"/>
                <a:close/>
              </a:path>
            </a:pathLst>
          </a:custGeom>
          <a:solidFill>
            <a:srgbClr val="E07A1F"/>
          </a:solidFill>
          <a:ln/>
        </p:spPr>
        <p:txBody>
          <a:bodyPr/>
          <a:lstStyle/>
          <a:p>
            <a:endParaRPr lang="en-JP"/>
          </a:p>
        </p:txBody>
      </p:sp>
      <p:pic>
        <p:nvPicPr>
          <p:cNvPr id="11" name="Image 1" descr="One-way arrow with a blocked return arrow"/>
          <p:cNvPicPr>
            <a:picLocks noChangeAspect="1"/>
          </p:cNvPicPr>
          <p:nvPr/>
        </p:nvPicPr>
        <p:blipFill>
          <a:blip r:embed="rId4"/>
          <a:srcRect/>
          <a:stretch/>
        </p:blipFill>
        <p:spPr>
          <a:xfrm>
            <a:off x="4656634" y="1976041"/>
            <a:ext cx="762000" cy="762000"/>
          </a:xfrm>
          <a:prstGeom prst="rect">
            <a:avLst/>
          </a:prstGeom>
        </p:spPr>
      </p:pic>
      <p:sp>
        <p:nvSpPr>
          <p:cNvPr id="12" name="Text 8"/>
          <p:cNvSpPr/>
          <p:nvPr/>
        </p:nvSpPr>
        <p:spPr>
          <a:xfrm>
            <a:off x="7077928" y="2143720"/>
            <a:ext cx="457438" cy="452041"/>
          </a:xfrm>
          <a:prstGeom prst="rect">
            <a:avLst/>
          </a:prstGeom>
          <a:noFill/>
          <a:ln/>
        </p:spPr>
        <p:txBody>
          <a:bodyPr wrap="square" lIns="0" tIns="0" rIns="0" bIns="0" rtlCol="0" anchor="t">
            <a:normAutofit/>
          </a:bodyPr>
          <a:lstStyle/>
          <a:p>
            <a:pPr marL="0" indent="0" algn="r">
              <a:lnSpc>
                <a:spcPts val="3360"/>
              </a:lnSpc>
              <a:buNone/>
            </a:pPr>
            <a:r>
              <a:rPr lang="en-US" sz="2400" b="1" dirty="0">
                <a:solidFill>
                  <a:srgbClr val="D9D1C2"/>
                </a:solidFill>
                <a:latin typeface="Archivo" pitchFamily="34" charset="0"/>
                <a:ea typeface="Archivo" pitchFamily="34" charset="-122"/>
                <a:cs typeface="Archivo" pitchFamily="34" charset="-120"/>
              </a:rPr>
              <a:t>02</a:t>
            </a:r>
            <a:endParaRPr lang="en-US" sz="2400" dirty="0"/>
          </a:p>
        </p:txBody>
      </p:sp>
      <p:sp>
        <p:nvSpPr>
          <p:cNvPr id="13" name="Text 9"/>
          <p:cNvSpPr/>
          <p:nvPr/>
        </p:nvSpPr>
        <p:spPr>
          <a:xfrm>
            <a:off x="4656634" y="2865041"/>
            <a:ext cx="29650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nter" pitchFamily="34" charset="0"/>
                <a:ea typeface="Inter" pitchFamily="34" charset="-122"/>
                <a:cs typeface="Inter" pitchFamily="34" charset="-120"/>
              </a:rPr>
              <a:t>It's hard to reverse</a:t>
            </a:r>
            <a:endParaRPr lang="en-US" sz="2000" dirty="0"/>
          </a:p>
        </p:txBody>
      </p:sp>
      <p:sp>
        <p:nvSpPr>
          <p:cNvPr id="14" name="Text 10"/>
          <p:cNvSpPr/>
          <p:nvPr/>
        </p:nvSpPr>
        <p:spPr>
          <a:xfrm>
            <a:off x="4656634" y="3296841"/>
            <a:ext cx="296509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560"/>
                </a:solidFill>
                <a:latin typeface="Inter" pitchFamily="34" charset="0"/>
                <a:ea typeface="Inter" pitchFamily="34" charset="-122"/>
                <a:cs typeface="Inter" pitchFamily="34" charset="-120"/>
              </a:rPr>
              <a:t>Once cashed out, stolen funds are rarely recovered.</a:t>
            </a:r>
            <a:endParaRPr lang="en-US" sz="1600" dirty="0"/>
          </a:p>
        </p:txBody>
      </p:sp>
      <p:sp>
        <p:nvSpPr>
          <p:cNvPr id="15" name="Shape 11"/>
          <p:cNvSpPr/>
          <p:nvPr/>
        </p:nvSpPr>
        <p:spPr>
          <a:xfrm>
            <a:off x="7992566" y="1620441"/>
            <a:ext cx="3386634" cy="4221559"/>
          </a:xfrm>
          <a:prstGeom prst="roundRect">
            <a:avLst>
              <a:gd name="adj" fmla="val 3000"/>
            </a:avLst>
          </a:prstGeom>
          <a:solidFill>
            <a:srgbClr val="FFFFFF"/>
          </a:solidFill>
          <a:ln/>
        </p:spPr>
        <p:txBody>
          <a:bodyPr/>
          <a:lstStyle/>
          <a:p>
            <a:endParaRPr lang="en-JP"/>
          </a:p>
        </p:txBody>
      </p:sp>
      <p:sp>
        <p:nvSpPr>
          <p:cNvPr id="16" name="Shape 12"/>
          <p:cNvSpPr/>
          <p:nvPr/>
        </p:nvSpPr>
        <p:spPr>
          <a:xfrm>
            <a:off x="7992566" y="1620441"/>
            <a:ext cx="3386634" cy="4221559"/>
          </a:xfrm>
          <a:custGeom>
            <a:avLst/>
            <a:gdLst/>
            <a:ahLst/>
            <a:cxnLst/>
            <a:rect l="l" t="t" r="r" b="b"/>
            <a:pathLst>
              <a:path w="3386634" h="4221559">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E07A1F"/>
          </a:solidFill>
          <a:ln/>
        </p:spPr>
        <p:txBody>
          <a:bodyPr/>
          <a:lstStyle/>
          <a:p>
            <a:endParaRPr lang="en-JP"/>
          </a:p>
        </p:txBody>
      </p:sp>
      <p:pic>
        <p:nvPicPr>
          <p:cNvPr id="17" name="Image 2" descr="Person wearing a disguise mask"/>
          <p:cNvPicPr>
            <a:picLocks noChangeAspect="1"/>
          </p:cNvPicPr>
          <p:nvPr/>
        </p:nvPicPr>
        <p:blipFill>
          <a:blip r:embed="rId5"/>
          <a:srcRect/>
          <a:stretch/>
        </p:blipFill>
        <p:spPr>
          <a:xfrm>
            <a:off x="8246566" y="1976041"/>
            <a:ext cx="762000" cy="762000"/>
          </a:xfrm>
          <a:prstGeom prst="rect">
            <a:avLst/>
          </a:prstGeom>
        </p:spPr>
      </p:pic>
      <p:sp>
        <p:nvSpPr>
          <p:cNvPr id="18" name="Text 13"/>
          <p:cNvSpPr/>
          <p:nvPr/>
        </p:nvSpPr>
        <p:spPr>
          <a:xfrm>
            <a:off x="10667762" y="2143720"/>
            <a:ext cx="457438" cy="452041"/>
          </a:xfrm>
          <a:prstGeom prst="rect">
            <a:avLst/>
          </a:prstGeom>
          <a:noFill/>
          <a:ln/>
        </p:spPr>
        <p:txBody>
          <a:bodyPr wrap="square" lIns="0" tIns="0" rIns="0" bIns="0" rtlCol="0" anchor="t">
            <a:normAutofit/>
          </a:bodyPr>
          <a:lstStyle/>
          <a:p>
            <a:pPr marL="0" indent="0" algn="r">
              <a:lnSpc>
                <a:spcPts val="3360"/>
              </a:lnSpc>
              <a:buNone/>
            </a:pPr>
            <a:r>
              <a:rPr lang="en-US" sz="2400" b="1" dirty="0">
                <a:solidFill>
                  <a:srgbClr val="D9D1C2"/>
                </a:solidFill>
                <a:latin typeface="Archivo" pitchFamily="34" charset="0"/>
                <a:ea typeface="Archivo" pitchFamily="34" charset="-122"/>
                <a:cs typeface="Archivo" pitchFamily="34" charset="-120"/>
              </a:rPr>
              <a:t>03</a:t>
            </a:r>
            <a:endParaRPr lang="en-US" sz="2400" dirty="0"/>
          </a:p>
        </p:txBody>
      </p:sp>
      <p:sp>
        <p:nvSpPr>
          <p:cNvPr id="19" name="Text 14"/>
          <p:cNvSpPr/>
          <p:nvPr/>
        </p:nvSpPr>
        <p:spPr>
          <a:xfrm>
            <a:off x="8246566" y="286504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nter" pitchFamily="34" charset="0"/>
                <a:ea typeface="Inter" pitchFamily="34" charset="-122"/>
                <a:cs typeface="Inter" pitchFamily="34" charset="-120"/>
              </a:rPr>
              <a:t>It runs on trust</a:t>
            </a:r>
            <a:endParaRPr lang="en-US" sz="2000" dirty="0"/>
          </a:p>
        </p:txBody>
      </p:sp>
      <p:sp>
        <p:nvSpPr>
          <p:cNvPr id="20" name="Text 15"/>
          <p:cNvSpPr/>
          <p:nvPr/>
        </p:nvSpPr>
        <p:spPr>
          <a:xfrm>
            <a:off x="8246566" y="3296841"/>
            <a:ext cx="2964993"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560"/>
                </a:solidFill>
                <a:latin typeface="Inter" pitchFamily="34" charset="0"/>
                <a:ea typeface="Inter" pitchFamily="34" charset="-122"/>
                <a:cs typeface="Inter" pitchFamily="34" charset="-120"/>
              </a:rPr>
              <a:t>Scammers pose as agents, relatives, banks or officials.</a:t>
            </a:r>
            <a:endParaRPr lang="en-US" sz="1600" dirty="0"/>
          </a:p>
        </p:txBody>
      </p:sp>
      <p:sp>
        <p:nvSpPr>
          <p:cNvPr id="21"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3</a:t>
            </a:r>
            <a:endParaRPr lang="en-US" sz="1200" dirty="0"/>
          </a:p>
        </p:txBody>
      </p:sp>
      <p:pic>
        <p:nvPicPr>
          <p:cNvPr id="22" name="Picture 21" descr="ZT_logo.png">
            <a:extLst>
              <a:ext uri="{FF2B5EF4-FFF2-40B4-BE49-F238E27FC236}">
                <a16:creationId xmlns:a16="http://schemas.microsoft.com/office/drawing/2014/main" id="{0DD51360-5A12-2723-6885-44558A96DB7B}"/>
              </a:ext>
            </a:extLst>
          </p:cNvPr>
          <p:cNvPicPr>
            <a:picLocks noChangeAspect="1"/>
          </p:cNvPicPr>
          <p:nvPr/>
        </p:nvPicPr>
        <p:blipFill>
          <a:blip r:embed="rId6"/>
          <a:stretch>
            <a:fillRect/>
          </a:stretch>
        </p:blipFill>
        <p:spPr>
          <a:xfrm>
            <a:off x="11049000" y="73152"/>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Six common scams</a:t>
            </a:r>
            <a:endParaRPr lang="en-US" sz="3600" dirty="0"/>
          </a:p>
        </p:txBody>
      </p:sp>
      <p:sp>
        <p:nvSpPr>
          <p:cNvPr id="3" name="Shape 1"/>
          <p:cNvSpPr/>
          <p:nvPr/>
        </p:nvSpPr>
        <p:spPr>
          <a:xfrm>
            <a:off x="812800" y="1986756"/>
            <a:ext cx="3403600" cy="1838722"/>
          </a:xfrm>
          <a:prstGeom prst="roundRect">
            <a:avLst>
              <a:gd name="adj" fmla="val 5526"/>
            </a:avLst>
          </a:prstGeom>
          <a:solidFill>
            <a:srgbClr val="FFFFFF"/>
          </a:solidFill>
          <a:ln/>
        </p:spPr>
        <p:txBody>
          <a:bodyPr/>
          <a:lstStyle/>
          <a:p>
            <a:endParaRPr lang="en-JP"/>
          </a:p>
        </p:txBody>
      </p:sp>
      <p:pic>
        <p:nvPicPr>
          <p:cNvPr id="4" name="Image 0" descr="Arrows swapping direction"/>
          <p:cNvPicPr>
            <a:picLocks noChangeAspect="1"/>
          </p:cNvPicPr>
          <p:nvPr/>
        </p:nvPicPr>
        <p:blipFill>
          <a:blip r:embed="rId3"/>
          <a:srcRect/>
          <a:stretch/>
        </p:blipFill>
        <p:spPr>
          <a:xfrm>
            <a:off x="1041400" y="2189956"/>
            <a:ext cx="508000" cy="508000"/>
          </a:xfrm>
          <a:prstGeom prst="rect">
            <a:avLst/>
          </a:prstGeom>
        </p:spPr>
      </p:pic>
      <p:sp>
        <p:nvSpPr>
          <p:cNvPr id="5" name="Text 2"/>
          <p:cNvSpPr/>
          <p:nvPr/>
        </p:nvSpPr>
        <p:spPr>
          <a:xfrm>
            <a:off x="1041400" y="2774156"/>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"Wrong transfer"</a:t>
            </a:r>
            <a:endParaRPr lang="en-US" sz="1800" dirty="0"/>
          </a:p>
        </p:txBody>
      </p:sp>
      <p:sp>
        <p:nvSpPr>
          <p:cNvPr id="6" name="Text 3"/>
          <p:cNvSpPr/>
          <p:nvPr/>
        </p:nvSpPr>
        <p:spPr>
          <a:xfrm>
            <a:off x="1041400" y="3124597"/>
            <a:ext cx="30347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"I sent money to you by mistake, please send it back."</a:t>
            </a:r>
            <a:endParaRPr lang="en-US" sz="1400" dirty="0"/>
          </a:p>
        </p:txBody>
      </p:sp>
      <p:sp>
        <p:nvSpPr>
          <p:cNvPr id="7" name="Shape 4"/>
          <p:cNvSpPr/>
          <p:nvPr/>
        </p:nvSpPr>
        <p:spPr>
          <a:xfrm>
            <a:off x="4394200" y="1986756"/>
            <a:ext cx="3403600" cy="1838722"/>
          </a:xfrm>
          <a:prstGeom prst="roundRect">
            <a:avLst>
              <a:gd name="adj" fmla="val 5526"/>
            </a:avLst>
          </a:prstGeom>
          <a:solidFill>
            <a:srgbClr val="FFFFFF"/>
          </a:solidFill>
          <a:ln/>
        </p:spPr>
        <p:txBody>
          <a:bodyPr/>
          <a:lstStyle/>
          <a:p>
            <a:endParaRPr lang="en-JP"/>
          </a:p>
        </p:txBody>
      </p:sp>
      <p:pic>
        <p:nvPicPr>
          <p:cNvPr id="8" name="Image 1" descr="Gift box"/>
          <p:cNvPicPr>
            <a:picLocks noChangeAspect="1"/>
          </p:cNvPicPr>
          <p:nvPr/>
        </p:nvPicPr>
        <p:blipFill>
          <a:blip r:embed="rId4"/>
          <a:srcRect/>
          <a:stretch/>
        </p:blipFill>
        <p:spPr>
          <a:xfrm>
            <a:off x="4622800" y="2189956"/>
            <a:ext cx="508000" cy="508000"/>
          </a:xfrm>
          <a:prstGeom prst="rect">
            <a:avLst/>
          </a:prstGeom>
        </p:spPr>
      </p:pic>
      <p:sp>
        <p:nvSpPr>
          <p:cNvPr id="9" name="Text 5"/>
          <p:cNvSpPr/>
          <p:nvPr/>
        </p:nvSpPr>
        <p:spPr>
          <a:xfrm>
            <a:off x="4622800" y="2774156"/>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Fake prizes</a:t>
            </a:r>
            <a:endParaRPr lang="en-US" sz="1800" dirty="0"/>
          </a:p>
        </p:txBody>
      </p:sp>
      <p:sp>
        <p:nvSpPr>
          <p:cNvPr id="10" name="Text 6"/>
          <p:cNvSpPr/>
          <p:nvPr/>
        </p:nvSpPr>
        <p:spPr>
          <a:xfrm>
            <a:off x="4622800" y="3124597"/>
            <a:ext cx="30347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"You've won! Pay a small fee to claim your reward."</a:t>
            </a:r>
            <a:endParaRPr lang="en-US" sz="1400" dirty="0"/>
          </a:p>
        </p:txBody>
      </p:sp>
      <p:sp>
        <p:nvSpPr>
          <p:cNvPr id="11" name="Shape 7"/>
          <p:cNvSpPr/>
          <p:nvPr/>
        </p:nvSpPr>
        <p:spPr>
          <a:xfrm>
            <a:off x="7975600" y="1986756"/>
            <a:ext cx="3403600" cy="1838722"/>
          </a:xfrm>
          <a:prstGeom prst="roundRect">
            <a:avLst>
              <a:gd name="adj" fmla="val 5526"/>
            </a:avLst>
          </a:prstGeom>
          <a:solidFill>
            <a:srgbClr val="FFFFFF"/>
          </a:solidFill>
          <a:ln/>
        </p:spPr>
        <p:txBody>
          <a:bodyPr/>
          <a:lstStyle/>
          <a:p>
            <a:endParaRPr lang="en-JP"/>
          </a:p>
        </p:txBody>
      </p:sp>
      <p:pic>
        <p:nvPicPr>
          <p:cNvPr id="12" name="Image 2" descr="Call centre headset"/>
          <p:cNvPicPr>
            <a:picLocks noChangeAspect="1"/>
          </p:cNvPicPr>
          <p:nvPr/>
        </p:nvPicPr>
        <p:blipFill>
          <a:blip r:embed="rId5"/>
          <a:srcRect/>
          <a:stretch/>
        </p:blipFill>
        <p:spPr>
          <a:xfrm>
            <a:off x="8204200" y="2189956"/>
            <a:ext cx="508000" cy="508000"/>
          </a:xfrm>
          <a:prstGeom prst="rect">
            <a:avLst/>
          </a:prstGeom>
        </p:spPr>
      </p:pic>
      <p:sp>
        <p:nvSpPr>
          <p:cNvPr id="13" name="Text 8"/>
          <p:cNvSpPr/>
          <p:nvPr/>
        </p:nvSpPr>
        <p:spPr>
          <a:xfrm>
            <a:off x="8204200" y="2774156"/>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Fake customer care</a:t>
            </a:r>
            <a:endParaRPr lang="en-US" sz="1800" dirty="0"/>
          </a:p>
        </p:txBody>
      </p:sp>
      <p:sp>
        <p:nvSpPr>
          <p:cNvPr id="14" name="Text 9"/>
          <p:cNvSpPr/>
          <p:nvPr/>
        </p:nvSpPr>
        <p:spPr>
          <a:xfrm>
            <a:off x="8204200" y="3124597"/>
            <a:ext cx="30347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Callers posing as your provider asking for your PIN.</a:t>
            </a:r>
            <a:endParaRPr lang="en-US" sz="1400" dirty="0"/>
          </a:p>
        </p:txBody>
      </p:sp>
      <p:sp>
        <p:nvSpPr>
          <p:cNvPr id="15" name="Shape 10"/>
          <p:cNvSpPr/>
          <p:nvPr/>
        </p:nvSpPr>
        <p:spPr>
          <a:xfrm>
            <a:off x="812800" y="4003278"/>
            <a:ext cx="3403600" cy="1838722"/>
          </a:xfrm>
          <a:prstGeom prst="roundRect">
            <a:avLst>
              <a:gd name="adj" fmla="val 5526"/>
            </a:avLst>
          </a:prstGeom>
          <a:solidFill>
            <a:srgbClr val="FFFFFF"/>
          </a:solidFill>
          <a:ln/>
        </p:spPr>
        <p:txBody>
          <a:bodyPr/>
          <a:lstStyle/>
          <a:p>
            <a:endParaRPr lang="en-JP"/>
          </a:p>
        </p:txBody>
      </p:sp>
      <p:pic>
        <p:nvPicPr>
          <p:cNvPr id="16" name="Image 3" descr="SIM card"/>
          <p:cNvPicPr>
            <a:picLocks noChangeAspect="1"/>
          </p:cNvPicPr>
          <p:nvPr/>
        </p:nvPicPr>
        <p:blipFill>
          <a:blip r:embed="rId6"/>
          <a:srcRect/>
          <a:stretch/>
        </p:blipFill>
        <p:spPr>
          <a:xfrm>
            <a:off x="1041400" y="4206478"/>
            <a:ext cx="508000" cy="508000"/>
          </a:xfrm>
          <a:prstGeom prst="rect">
            <a:avLst/>
          </a:prstGeom>
        </p:spPr>
      </p:pic>
      <p:sp>
        <p:nvSpPr>
          <p:cNvPr id="17" name="Text 11"/>
          <p:cNvSpPr/>
          <p:nvPr/>
        </p:nvSpPr>
        <p:spPr>
          <a:xfrm>
            <a:off x="1041400" y="4790678"/>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SIM swap</a:t>
            </a:r>
            <a:endParaRPr lang="en-US" sz="1800" dirty="0"/>
          </a:p>
        </p:txBody>
      </p:sp>
      <p:sp>
        <p:nvSpPr>
          <p:cNvPr id="18" name="Text 12"/>
          <p:cNvSpPr/>
          <p:nvPr/>
        </p:nvSpPr>
        <p:spPr>
          <a:xfrm>
            <a:off x="1041400" y="5141119"/>
            <a:ext cx="30347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Criminals take over your number to reach your wallet.</a:t>
            </a:r>
            <a:endParaRPr lang="en-US" sz="1400" dirty="0"/>
          </a:p>
        </p:txBody>
      </p:sp>
      <p:sp>
        <p:nvSpPr>
          <p:cNvPr id="19" name="Shape 13"/>
          <p:cNvSpPr/>
          <p:nvPr/>
        </p:nvSpPr>
        <p:spPr>
          <a:xfrm>
            <a:off x="4394200" y="4003278"/>
            <a:ext cx="3403600" cy="1838722"/>
          </a:xfrm>
          <a:prstGeom prst="roundRect">
            <a:avLst>
              <a:gd name="adj" fmla="val 5526"/>
            </a:avLst>
          </a:prstGeom>
          <a:solidFill>
            <a:srgbClr val="FFFFFF"/>
          </a:solidFill>
          <a:ln/>
        </p:spPr>
        <p:txBody>
          <a:bodyPr/>
          <a:lstStyle/>
          <a:p>
            <a:endParaRPr lang="en-JP"/>
          </a:p>
        </p:txBody>
      </p:sp>
      <p:pic>
        <p:nvPicPr>
          <p:cNvPr id="20" name="Image 4" descr="Fishing hook"/>
          <p:cNvPicPr>
            <a:picLocks noChangeAspect="1"/>
          </p:cNvPicPr>
          <p:nvPr/>
        </p:nvPicPr>
        <p:blipFill>
          <a:blip r:embed="rId7"/>
          <a:srcRect/>
          <a:stretch/>
        </p:blipFill>
        <p:spPr>
          <a:xfrm>
            <a:off x="4622800" y="4206478"/>
            <a:ext cx="508000" cy="508000"/>
          </a:xfrm>
          <a:prstGeom prst="rect">
            <a:avLst/>
          </a:prstGeom>
        </p:spPr>
      </p:pic>
      <p:sp>
        <p:nvSpPr>
          <p:cNvPr id="21" name="Text 14"/>
          <p:cNvSpPr/>
          <p:nvPr/>
        </p:nvSpPr>
        <p:spPr>
          <a:xfrm>
            <a:off x="4622800" y="4790678"/>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Phishing links</a:t>
            </a:r>
            <a:endParaRPr lang="en-US" sz="1800" dirty="0"/>
          </a:p>
        </p:txBody>
      </p:sp>
      <p:sp>
        <p:nvSpPr>
          <p:cNvPr id="22" name="Text 15"/>
          <p:cNvSpPr/>
          <p:nvPr/>
        </p:nvSpPr>
        <p:spPr>
          <a:xfrm>
            <a:off x="4622800" y="5141119"/>
            <a:ext cx="30347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Fake websites or apps that steal your login details.</a:t>
            </a:r>
            <a:endParaRPr lang="en-US" sz="1400" dirty="0"/>
          </a:p>
        </p:txBody>
      </p:sp>
      <p:sp>
        <p:nvSpPr>
          <p:cNvPr id="23" name="Shape 16"/>
          <p:cNvSpPr/>
          <p:nvPr/>
        </p:nvSpPr>
        <p:spPr>
          <a:xfrm>
            <a:off x="7975600" y="4003278"/>
            <a:ext cx="3403600" cy="1838722"/>
          </a:xfrm>
          <a:prstGeom prst="roundRect">
            <a:avLst>
              <a:gd name="adj" fmla="val 5526"/>
            </a:avLst>
          </a:prstGeom>
          <a:solidFill>
            <a:srgbClr val="FFFFFF"/>
          </a:solidFill>
          <a:ln/>
        </p:spPr>
        <p:txBody>
          <a:bodyPr/>
          <a:lstStyle/>
          <a:p>
            <a:endParaRPr lang="en-JP"/>
          </a:p>
        </p:txBody>
      </p:sp>
      <p:pic>
        <p:nvPicPr>
          <p:cNvPr id="24" name="Image 5" descr="Rising bar chart"/>
          <p:cNvPicPr>
            <a:picLocks noChangeAspect="1"/>
          </p:cNvPicPr>
          <p:nvPr/>
        </p:nvPicPr>
        <p:blipFill>
          <a:blip r:embed="rId8"/>
          <a:srcRect/>
          <a:stretch/>
        </p:blipFill>
        <p:spPr>
          <a:xfrm>
            <a:off x="8204200" y="4206478"/>
            <a:ext cx="508000" cy="508000"/>
          </a:xfrm>
          <a:prstGeom prst="rect">
            <a:avLst/>
          </a:prstGeom>
        </p:spPr>
      </p:pic>
      <p:sp>
        <p:nvSpPr>
          <p:cNvPr id="25" name="Text 17"/>
          <p:cNvSpPr/>
          <p:nvPr/>
        </p:nvSpPr>
        <p:spPr>
          <a:xfrm>
            <a:off x="8204200" y="4790678"/>
            <a:ext cx="30347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Loan &amp; investment</a:t>
            </a:r>
            <a:endParaRPr lang="en-US" sz="1800" dirty="0"/>
          </a:p>
        </p:txBody>
      </p:sp>
      <p:sp>
        <p:nvSpPr>
          <p:cNvPr id="26" name="Text 18"/>
          <p:cNvSpPr/>
          <p:nvPr/>
        </p:nvSpPr>
        <p:spPr>
          <a:xfrm>
            <a:off x="8204200" y="5141119"/>
            <a:ext cx="30347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Promises of quick loans or huge returns after a "fee".</a:t>
            </a:r>
            <a:endParaRPr lang="en-US" sz="1400" dirty="0"/>
          </a:p>
        </p:txBody>
      </p:sp>
      <p:sp>
        <p:nvSpPr>
          <p:cNvPr id="27"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4</a:t>
            </a:r>
            <a:endParaRPr lang="en-US" sz="1200" dirty="0"/>
          </a:p>
        </p:txBody>
      </p:sp>
      <p:pic>
        <p:nvPicPr>
          <p:cNvPr id="28" name="Picture 27" descr="ZT_logo.png">
            <a:extLst>
              <a:ext uri="{FF2B5EF4-FFF2-40B4-BE49-F238E27FC236}">
                <a16:creationId xmlns:a16="http://schemas.microsoft.com/office/drawing/2014/main" id="{97FAAD07-0B9C-A766-5F63-2445668D59B9}"/>
              </a:ext>
            </a:extLst>
          </p:cNvPr>
          <p:cNvPicPr>
            <a:picLocks noChangeAspect="1"/>
          </p:cNvPicPr>
          <p:nvPr/>
        </p:nvPicPr>
        <p:blipFill>
          <a:blip r:embed="rId9"/>
          <a:stretch>
            <a:fillRect/>
          </a:stretch>
        </p:blipFill>
        <p:spPr>
          <a:xfrm>
            <a:off x="11049000" y="73152"/>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4EE"/>
                </a:solidFill>
                <a:latin typeface="Archivo" pitchFamily="34" charset="0"/>
                <a:ea typeface="Archivo" pitchFamily="34" charset="-122"/>
                <a:cs typeface="Archivo" pitchFamily="34" charset="-120"/>
              </a:rPr>
              <a:t>How a typical scam unfolds</a:t>
            </a:r>
            <a:endParaRPr lang="en-US" sz="3600" dirty="0"/>
          </a:p>
        </p:txBody>
      </p:sp>
      <p:sp>
        <p:nvSpPr>
          <p:cNvPr id="3" name="Shape 1"/>
          <p:cNvSpPr/>
          <p:nvPr/>
        </p:nvSpPr>
        <p:spPr>
          <a:xfrm>
            <a:off x="812800" y="2075359"/>
            <a:ext cx="2222500" cy="2722563"/>
          </a:xfrm>
          <a:prstGeom prst="roundRect">
            <a:avLst>
              <a:gd name="adj" fmla="val 4571"/>
            </a:avLst>
          </a:prstGeom>
          <a:solidFill>
            <a:srgbClr val="1D2E52"/>
          </a:solidFill>
          <a:ln/>
        </p:spPr>
        <p:txBody>
          <a:bodyPr/>
          <a:lstStyle/>
          <a:p>
            <a:endParaRPr lang="en-JP"/>
          </a:p>
        </p:txBody>
      </p:sp>
      <p:pic>
        <p:nvPicPr>
          <p:cNvPr id="4" name="Image 0" descr="Ringing phone"/>
          <p:cNvPicPr>
            <a:picLocks noChangeAspect="1"/>
          </p:cNvPicPr>
          <p:nvPr/>
        </p:nvPicPr>
        <p:blipFill>
          <a:blip r:embed="rId3"/>
          <a:srcRect/>
          <a:stretch/>
        </p:blipFill>
        <p:spPr>
          <a:xfrm>
            <a:off x="1016000" y="2329359"/>
            <a:ext cx="609600" cy="609600"/>
          </a:xfrm>
          <a:prstGeom prst="rect">
            <a:avLst/>
          </a:prstGeom>
        </p:spPr>
      </p:pic>
      <p:sp>
        <p:nvSpPr>
          <p:cNvPr id="5" name="Text 2"/>
          <p:cNvSpPr/>
          <p:nvPr/>
        </p:nvSpPr>
        <p:spPr>
          <a:xfrm>
            <a:off x="1016000" y="3040559"/>
            <a:ext cx="187058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35E"/>
                </a:solidFill>
                <a:latin typeface="Inter" pitchFamily="34" charset="0"/>
                <a:ea typeface="Inter" pitchFamily="34" charset="-122"/>
                <a:cs typeface="Inter" pitchFamily="34" charset="-120"/>
              </a:rPr>
              <a:t>STEP 1</a:t>
            </a:r>
            <a:endParaRPr lang="en-US" sz="1400" dirty="0"/>
          </a:p>
        </p:txBody>
      </p:sp>
      <p:sp>
        <p:nvSpPr>
          <p:cNvPr id="6" name="Text 3"/>
          <p:cNvSpPr/>
          <p:nvPr/>
        </p:nvSpPr>
        <p:spPr>
          <a:xfrm>
            <a:off x="1016000" y="3390999"/>
            <a:ext cx="187058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4EE"/>
                </a:solidFill>
                <a:latin typeface="Inter" pitchFamily="34" charset="0"/>
                <a:ea typeface="Inter" pitchFamily="34" charset="-122"/>
                <a:cs typeface="Inter" pitchFamily="34" charset="-120"/>
              </a:rPr>
              <a:t>Contact</a:t>
            </a:r>
            <a:endParaRPr lang="en-US" sz="2000" dirty="0"/>
          </a:p>
        </p:txBody>
      </p:sp>
      <p:sp>
        <p:nvSpPr>
          <p:cNvPr id="7" name="Text 4"/>
          <p:cNvSpPr/>
          <p:nvPr/>
        </p:nvSpPr>
        <p:spPr>
          <a:xfrm>
            <a:off x="1016000" y="3797399"/>
            <a:ext cx="1870583"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B"/>
                </a:solidFill>
                <a:latin typeface="Inter" pitchFamily="34" charset="0"/>
                <a:ea typeface="Inter" pitchFamily="34" charset="-122"/>
                <a:cs typeface="Inter" pitchFamily="34" charset="-120"/>
              </a:rPr>
              <a:t>A call, SMS or message out of the blue.</a:t>
            </a:r>
            <a:endParaRPr lang="en-US" sz="1400" dirty="0"/>
          </a:p>
        </p:txBody>
      </p:sp>
      <p:pic>
        <p:nvPicPr>
          <p:cNvPr id="8" name="Image 1" descr="arrow-right"/>
          <p:cNvPicPr>
            <a:picLocks noChangeAspect="1"/>
          </p:cNvPicPr>
          <p:nvPr/>
        </p:nvPicPr>
        <p:blipFill>
          <a:blip r:embed="rId4"/>
          <a:srcRect/>
          <a:stretch/>
        </p:blipFill>
        <p:spPr>
          <a:xfrm>
            <a:off x="3162300" y="3309640"/>
            <a:ext cx="304800" cy="254000"/>
          </a:xfrm>
          <a:prstGeom prst="rect">
            <a:avLst/>
          </a:prstGeom>
        </p:spPr>
      </p:pic>
      <p:sp>
        <p:nvSpPr>
          <p:cNvPr id="9" name="Shape 5"/>
          <p:cNvSpPr/>
          <p:nvPr/>
        </p:nvSpPr>
        <p:spPr>
          <a:xfrm>
            <a:off x="3594100" y="2075359"/>
            <a:ext cx="2222500" cy="2722563"/>
          </a:xfrm>
          <a:prstGeom prst="roundRect">
            <a:avLst>
              <a:gd name="adj" fmla="val 4571"/>
            </a:avLst>
          </a:prstGeom>
          <a:solidFill>
            <a:srgbClr val="1D2E52"/>
          </a:solidFill>
          <a:ln/>
        </p:spPr>
        <p:txBody>
          <a:bodyPr/>
          <a:lstStyle/>
          <a:p>
            <a:endParaRPr lang="en-JP"/>
          </a:p>
        </p:txBody>
      </p:sp>
      <p:pic>
        <p:nvPicPr>
          <p:cNvPr id="10" name="Image 2" descr="Ticking clock"/>
          <p:cNvPicPr>
            <a:picLocks noChangeAspect="1"/>
          </p:cNvPicPr>
          <p:nvPr/>
        </p:nvPicPr>
        <p:blipFill>
          <a:blip r:embed="rId5"/>
          <a:srcRect/>
          <a:stretch/>
        </p:blipFill>
        <p:spPr>
          <a:xfrm>
            <a:off x="3797300" y="2329359"/>
            <a:ext cx="609600" cy="609600"/>
          </a:xfrm>
          <a:prstGeom prst="rect">
            <a:avLst/>
          </a:prstGeom>
        </p:spPr>
      </p:pic>
      <p:sp>
        <p:nvSpPr>
          <p:cNvPr id="11" name="Text 6"/>
          <p:cNvSpPr/>
          <p:nvPr/>
        </p:nvSpPr>
        <p:spPr>
          <a:xfrm>
            <a:off x="3797300" y="3040559"/>
            <a:ext cx="187058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35E"/>
                </a:solidFill>
                <a:latin typeface="Inter" pitchFamily="34" charset="0"/>
                <a:ea typeface="Inter" pitchFamily="34" charset="-122"/>
                <a:cs typeface="Inter" pitchFamily="34" charset="-120"/>
              </a:rPr>
              <a:t>STEP 2</a:t>
            </a:r>
            <a:endParaRPr lang="en-US" sz="1400" dirty="0"/>
          </a:p>
        </p:txBody>
      </p:sp>
      <p:sp>
        <p:nvSpPr>
          <p:cNvPr id="12" name="Text 7"/>
          <p:cNvSpPr/>
          <p:nvPr/>
        </p:nvSpPr>
        <p:spPr>
          <a:xfrm>
            <a:off x="3797300" y="3390999"/>
            <a:ext cx="187058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4EE"/>
                </a:solidFill>
                <a:latin typeface="Inter" pitchFamily="34" charset="0"/>
                <a:ea typeface="Inter" pitchFamily="34" charset="-122"/>
                <a:cs typeface="Inter" pitchFamily="34" charset="-120"/>
              </a:rPr>
              <a:t>Pressure</a:t>
            </a:r>
            <a:endParaRPr lang="en-US" sz="2000" dirty="0"/>
          </a:p>
        </p:txBody>
      </p:sp>
      <p:sp>
        <p:nvSpPr>
          <p:cNvPr id="13" name="Text 8"/>
          <p:cNvSpPr/>
          <p:nvPr/>
        </p:nvSpPr>
        <p:spPr>
          <a:xfrm>
            <a:off x="3797300" y="3797399"/>
            <a:ext cx="1870583"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B"/>
                </a:solidFill>
                <a:latin typeface="Inter" pitchFamily="34" charset="0"/>
                <a:ea typeface="Inter" pitchFamily="34" charset="-122"/>
                <a:cs typeface="Inter" pitchFamily="34" charset="-120"/>
              </a:rPr>
              <a:t>Urgency, fear or a reward too good to miss.</a:t>
            </a:r>
            <a:endParaRPr lang="en-US" sz="1400" dirty="0"/>
          </a:p>
        </p:txBody>
      </p:sp>
      <p:pic>
        <p:nvPicPr>
          <p:cNvPr id="14" name="Image 3" descr="arrow-right"/>
          <p:cNvPicPr>
            <a:picLocks noChangeAspect="1"/>
          </p:cNvPicPr>
          <p:nvPr/>
        </p:nvPicPr>
        <p:blipFill>
          <a:blip r:embed="rId4"/>
          <a:srcRect/>
          <a:stretch/>
        </p:blipFill>
        <p:spPr>
          <a:xfrm>
            <a:off x="5943600" y="3309640"/>
            <a:ext cx="304800" cy="254000"/>
          </a:xfrm>
          <a:prstGeom prst="rect">
            <a:avLst/>
          </a:prstGeom>
        </p:spPr>
      </p:pic>
      <p:sp>
        <p:nvSpPr>
          <p:cNvPr id="15" name="Shape 9"/>
          <p:cNvSpPr/>
          <p:nvPr/>
        </p:nvSpPr>
        <p:spPr>
          <a:xfrm>
            <a:off x="6375400" y="2075359"/>
            <a:ext cx="2222500" cy="2722563"/>
          </a:xfrm>
          <a:prstGeom prst="roundRect">
            <a:avLst>
              <a:gd name="adj" fmla="val 4571"/>
            </a:avLst>
          </a:prstGeom>
          <a:solidFill>
            <a:srgbClr val="1D2E52"/>
          </a:solidFill>
          <a:ln/>
        </p:spPr>
        <p:txBody>
          <a:bodyPr/>
          <a:lstStyle/>
          <a:p>
            <a:endParaRPr lang="en-JP"/>
          </a:p>
        </p:txBody>
      </p:sp>
      <p:pic>
        <p:nvPicPr>
          <p:cNvPr id="16" name="Image 4" descr="Key"/>
          <p:cNvPicPr>
            <a:picLocks noChangeAspect="1"/>
          </p:cNvPicPr>
          <p:nvPr/>
        </p:nvPicPr>
        <p:blipFill>
          <a:blip r:embed="rId6"/>
          <a:srcRect/>
          <a:stretch/>
        </p:blipFill>
        <p:spPr>
          <a:xfrm>
            <a:off x="6578600" y="2329359"/>
            <a:ext cx="609600" cy="609600"/>
          </a:xfrm>
          <a:prstGeom prst="rect">
            <a:avLst/>
          </a:prstGeom>
        </p:spPr>
      </p:pic>
      <p:sp>
        <p:nvSpPr>
          <p:cNvPr id="17" name="Text 10"/>
          <p:cNvSpPr/>
          <p:nvPr/>
        </p:nvSpPr>
        <p:spPr>
          <a:xfrm>
            <a:off x="6578600" y="3040559"/>
            <a:ext cx="187058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35E"/>
                </a:solidFill>
                <a:latin typeface="Inter" pitchFamily="34" charset="0"/>
                <a:ea typeface="Inter" pitchFamily="34" charset="-122"/>
                <a:cs typeface="Inter" pitchFamily="34" charset="-120"/>
              </a:rPr>
              <a:t>STEP 3</a:t>
            </a:r>
            <a:endParaRPr lang="en-US" sz="1400" dirty="0"/>
          </a:p>
        </p:txBody>
      </p:sp>
      <p:sp>
        <p:nvSpPr>
          <p:cNvPr id="18" name="Text 11"/>
          <p:cNvSpPr/>
          <p:nvPr/>
        </p:nvSpPr>
        <p:spPr>
          <a:xfrm>
            <a:off x="6578600" y="3390999"/>
            <a:ext cx="187058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4EE"/>
                </a:solidFill>
                <a:latin typeface="Inter" pitchFamily="34" charset="0"/>
                <a:ea typeface="Inter" pitchFamily="34" charset="-122"/>
                <a:cs typeface="Inter" pitchFamily="34" charset="-120"/>
              </a:rPr>
              <a:t>The ask</a:t>
            </a:r>
            <a:endParaRPr lang="en-US" sz="2000" dirty="0"/>
          </a:p>
        </p:txBody>
      </p:sp>
      <p:sp>
        <p:nvSpPr>
          <p:cNvPr id="19" name="Text 12"/>
          <p:cNvSpPr/>
          <p:nvPr/>
        </p:nvSpPr>
        <p:spPr>
          <a:xfrm>
            <a:off x="6578600" y="3797399"/>
            <a:ext cx="1870583"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B"/>
                </a:solidFill>
                <a:latin typeface="Inter" pitchFamily="34" charset="0"/>
                <a:ea typeface="Inter" pitchFamily="34" charset="-122"/>
                <a:cs typeface="Inter" pitchFamily="34" charset="-120"/>
              </a:rPr>
              <a:t>Send money, or share your PIN or code.</a:t>
            </a:r>
            <a:endParaRPr lang="en-US" sz="1400" dirty="0"/>
          </a:p>
        </p:txBody>
      </p:sp>
      <p:pic>
        <p:nvPicPr>
          <p:cNvPr id="20" name="Image 5" descr="arrow-right"/>
          <p:cNvPicPr>
            <a:picLocks noChangeAspect="1"/>
          </p:cNvPicPr>
          <p:nvPr/>
        </p:nvPicPr>
        <p:blipFill>
          <a:blip r:embed="rId4"/>
          <a:srcRect/>
          <a:stretch/>
        </p:blipFill>
        <p:spPr>
          <a:xfrm>
            <a:off x="8724900" y="3309640"/>
            <a:ext cx="304800" cy="254000"/>
          </a:xfrm>
          <a:prstGeom prst="rect">
            <a:avLst/>
          </a:prstGeom>
        </p:spPr>
      </p:pic>
      <p:sp>
        <p:nvSpPr>
          <p:cNvPr id="21" name="Shape 13"/>
          <p:cNvSpPr/>
          <p:nvPr/>
        </p:nvSpPr>
        <p:spPr>
          <a:xfrm>
            <a:off x="9156700" y="2199779"/>
            <a:ext cx="2222500" cy="2473722"/>
          </a:xfrm>
          <a:prstGeom prst="roundRect">
            <a:avLst>
              <a:gd name="adj" fmla="val 4571"/>
            </a:avLst>
          </a:prstGeom>
          <a:solidFill>
            <a:srgbClr val="E07A1F"/>
          </a:solidFill>
          <a:ln/>
        </p:spPr>
        <p:txBody>
          <a:bodyPr/>
          <a:lstStyle/>
          <a:p>
            <a:endParaRPr lang="en-JP"/>
          </a:p>
        </p:txBody>
      </p:sp>
      <p:pic>
        <p:nvPicPr>
          <p:cNvPr id="22" name="Image 6" descr="Empty wallet with money leaving"/>
          <p:cNvPicPr>
            <a:picLocks noChangeAspect="1"/>
          </p:cNvPicPr>
          <p:nvPr/>
        </p:nvPicPr>
        <p:blipFill>
          <a:blip r:embed="rId7"/>
          <a:srcRect/>
          <a:stretch/>
        </p:blipFill>
        <p:spPr>
          <a:xfrm>
            <a:off x="9359900" y="2453779"/>
            <a:ext cx="609600" cy="609600"/>
          </a:xfrm>
          <a:prstGeom prst="rect">
            <a:avLst/>
          </a:prstGeom>
        </p:spPr>
      </p:pic>
      <p:sp>
        <p:nvSpPr>
          <p:cNvPr id="23" name="Text 14"/>
          <p:cNvSpPr/>
          <p:nvPr/>
        </p:nvSpPr>
        <p:spPr>
          <a:xfrm>
            <a:off x="9359900" y="3164979"/>
            <a:ext cx="187058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nter" pitchFamily="34" charset="0"/>
                <a:ea typeface="Inter" pitchFamily="34" charset="-122"/>
                <a:cs typeface="Inter" pitchFamily="34" charset="-120"/>
              </a:rPr>
              <a:t>STEP 4</a:t>
            </a:r>
            <a:endParaRPr lang="en-US" sz="1400" dirty="0"/>
          </a:p>
        </p:txBody>
      </p:sp>
      <p:sp>
        <p:nvSpPr>
          <p:cNvPr id="24" name="Text 15"/>
          <p:cNvSpPr/>
          <p:nvPr/>
        </p:nvSpPr>
        <p:spPr>
          <a:xfrm>
            <a:off x="9359900" y="3515420"/>
            <a:ext cx="187058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nter" pitchFamily="34" charset="0"/>
                <a:ea typeface="Inter" pitchFamily="34" charset="-122"/>
                <a:cs typeface="Inter" pitchFamily="34" charset="-120"/>
              </a:rPr>
              <a:t>Gone</a:t>
            </a:r>
            <a:endParaRPr lang="en-US" sz="2000" dirty="0"/>
          </a:p>
        </p:txBody>
      </p:sp>
      <p:sp>
        <p:nvSpPr>
          <p:cNvPr id="25" name="Text 16"/>
          <p:cNvSpPr/>
          <p:nvPr/>
        </p:nvSpPr>
        <p:spPr>
          <a:xfrm>
            <a:off x="9359900" y="3921820"/>
            <a:ext cx="187058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nter" pitchFamily="34" charset="0"/>
                <a:ea typeface="Inter" pitchFamily="34" charset="-122"/>
                <a:cs typeface="Inter" pitchFamily="34" charset="-120"/>
              </a:rPr>
              <a:t>Wallet emptied, number blocked.</a:t>
            </a:r>
            <a:endParaRPr lang="en-US" sz="1400" dirty="0"/>
          </a:p>
        </p:txBody>
      </p:sp>
      <p:sp>
        <p:nvSpPr>
          <p:cNvPr id="26" name="Text 17"/>
          <p:cNvSpPr/>
          <p:nvPr/>
        </p:nvSpPr>
        <p:spPr>
          <a:xfrm>
            <a:off x="812800" y="5557540"/>
            <a:ext cx="981075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FDB"/>
                </a:solidFill>
                <a:latin typeface="Inter" pitchFamily="34" charset="0"/>
                <a:ea typeface="Inter" pitchFamily="34" charset="-122"/>
                <a:cs typeface="Inter" pitchFamily="34" charset="-120"/>
              </a:rPr>
              <a:t>Break the chain at </a:t>
            </a:r>
            <a:r>
              <a:rPr lang="en-US" sz="1600" b="1" dirty="0">
                <a:solidFill>
                  <a:srgbClr val="F0A35E"/>
                </a:solidFill>
                <a:latin typeface="Inter" pitchFamily="34" charset="0"/>
                <a:ea typeface="Inter" pitchFamily="34" charset="-122"/>
                <a:cs typeface="Inter" pitchFamily="34" charset="-120"/>
              </a:rPr>
              <a:t>any</a:t>
            </a:r>
            <a:r>
              <a:rPr lang="en-US" sz="1600" dirty="0">
                <a:solidFill>
                  <a:srgbClr val="C9CFDB"/>
                </a:solidFill>
                <a:latin typeface="Inter" pitchFamily="34" charset="0"/>
                <a:ea typeface="Inter" pitchFamily="34" charset="-122"/>
                <a:cs typeface="Inter" pitchFamily="34" charset="-120"/>
              </a:rPr>
              <a:t> step: hang up, wait, and verify through official channels.</a:t>
            </a:r>
            <a:endParaRPr lang="en-US" sz="1600" dirty="0"/>
          </a:p>
        </p:txBody>
      </p:sp>
      <p:sp>
        <p:nvSpPr>
          <p:cNvPr id="27"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4B8"/>
                </a:solidFill>
                <a:latin typeface="Inter" pitchFamily="34" charset="0"/>
                <a:ea typeface="Inter" pitchFamily="34" charset="-122"/>
                <a:cs typeface="Inter" pitchFamily="34" charset="-120"/>
              </a:rPr>
              <a:t>Online Fraud: Mobile Money · 5</a:t>
            </a:r>
            <a:endParaRPr lang="en-US" sz="1200" dirty="0"/>
          </a:p>
        </p:txBody>
      </p:sp>
      <p:pic>
        <p:nvPicPr>
          <p:cNvPr id="28" name="Picture 27" descr="ZT_logo.png">
            <a:extLst>
              <a:ext uri="{FF2B5EF4-FFF2-40B4-BE49-F238E27FC236}">
                <a16:creationId xmlns:a16="http://schemas.microsoft.com/office/drawing/2014/main" id="{E8E5A8A8-B99E-2927-7BFF-5F82D2C802B0}"/>
              </a:ext>
            </a:extLst>
          </p:cNvPr>
          <p:cNvPicPr>
            <a:picLocks noChangeAspect="1"/>
          </p:cNvPicPr>
          <p:nvPr/>
        </p:nvPicPr>
        <p:blipFill>
          <a:blip r:embed="rId8"/>
          <a:stretch>
            <a:fillRect/>
          </a:stretch>
        </p:blipFill>
        <p:spPr>
          <a:xfrm>
            <a:off x="11049000" y="73152"/>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Red flags to watch for</a:t>
            </a:r>
            <a:endParaRPr lang="en-US" sz="3600" dirty="0"/>
          </a:p>
        </p:txBody>
      </p:sp>
      <p:pic>
        <p:nvPicPr>
          <p:cNvPr id="3" name="Image 0" descr="Large warning triangle in front of a phone, with a red flag"/>
          <p:cNvPicPr>
            <a:picLocks noChangeAspect="1"/>
          </p:cNvPicPr>
          <p:nvPr/>
        </p:nvPicPr>
        <p:blipFill>
          <a:blip r:embed="rId3"/>
          <a:srcRect/>
          <a:stretch/>
        </p:blipFill>
        <p:spPr>
          <a:xfrm>
            <a:off x="812800" y="1927820"/>
            <a:ext cx="3175000" cy="3556000"/>
          </a:xfrm>
          <a:prstGeom prst="rect">
            <a:avLst/>
          </a:prstGeom>
        </p:spPr>
      </p:pic>
      <p:sp>
        <p:nvSpPr>
          <p:cNvPr id="4" name="Shape 1"/>
          <p:cNvSpPr/>
          <p:nvPr/>
        </p:nvSpPr>
        <p:spPr>
          <a:xfrm>
            <a:off x="4495800" y="2505670"/>
            <a:ext cx="6883400" cy="0"/>
          </a:xfrm>
          <a:prstGeom prst="line">
            <a:avLst/>
          </a:prstGeom>
          <a:noFill/>
          <a:ln w="12700">
            <a:solidFill>
              <a:srgbClr val="D9D1C2"/>
            </a:solidFill>
            <a:prstDash val="solid"/>
          </a:ln>
        </p:spPr>
        <p:txBody>
          <a:bodyPr/>
          <a:lstStyle/>
          <a:p>
            <a:endParaRPr lang="en-JP"/>
          </a:p>
        </p:txBody>
      </p:sp>
      <p:sp>
        <p:nvSpPr>
          <p:cNvPr id="5" name="Text 2"/>
          <p:cNvSpPr/>
          <p:nvPr/>
        </p:nvSpPr>
        <p:spPr>
          <a:xfrm>
            <a:off x="4495800" y="2100560"/>
            <a:ext cx="18803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35A10"/>
                </a:solidFill>
                <a:latin typeface="Arial" pitchFamily="34" charset="0"/>
                <a:ea typeface="Arial" pitchFamily="34" charset="-122"/>
                <a:cs typeface="Arial" pitchFamily="34" charset="-120"/>
              </a:rPr>
              <a:t>[icon: alert-triangle]</a:t>
            </a:r>
            <a:endParaRPr lang="en-US" sz="1600" dirty="0"/>
          </a:p>
        </p:txBody>
      </p:sp>
      <p:sp>
        <p:nvSpPr>
          <p:cNvPr id="6" name="Text 3"/>
          <p:cNvSpPr/>
          <p:nvPr/>
        </p:nvSpPr>
        <p:spPr>
          <a:xfrm>
            <a:off x="6376194" y="2100560"/>
            <a:ext cx="400716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nter" pitchFamily="34" charset="0"/>
                <a:ea typeface="Inter" pitchFamily="34" charset="-122"/>
                <a:cs typeface="Inter" pitchFamily="34" charset="-120"/>
              </a:rPr>
              <a:t>Anyone asking for your </a:t>
            </a:r>
            <a:r>
              <a:rPr lang="en-US" sz="1600" b="1" dirty="0">
                <a:solidFill>
                  <a:srgbClr val="14213D"/>
                </a:solidFill>
                <a:latin typeface="Inter" pitchFamily="34" charset="0"/>
                <a:ea typeface="Inter" pitchFamily="34" charset="-122"/>
                <a:cs typeface="Inter" pitchFamily="34" charset="-120"/>
              </a:rPr>
              <a:t>PIN or OTP</a:t>
            </a:r>
            <a:endParaRPr lang="en-US" sz="1600" dirty="0"/>
          </a:p>
        </p:txBody>
      </p:sp>
      <p:sp>
        <p:nvSpPr>
          <p:cNvPr id="7" name="Shape 4"/>
          <p:cNvSpPr/>
          <p:nvPr/>
        </p:nvSpPr>
        <p:spPr>
          <a:xfrm>
            <a:off x="4495800" y="3031430"/>
            <a:ext cx="6883400" cy="0"/>
          </a:xfrm>
          <a:prstGeom prst="line">
            <a:avLst/>
          </a:prstGeom>
          <a:noFill/>
          <a:ln w="12700">
            <a:solidFill>
              <a:srgbClr val="D9D1C2"/>
            </a:solidFill>
            <a:prstDash val="solid"/>
          </a:ln>
        </p:spPr>
        <p:txBody>
          <a:bodyPr/>
          <a:lstStyle/>
          <a:p>
            <a:endParaRPr lang="en-JP"/>
          </a:p>
        </p:txBody>
      </p:sp>
      <p:sp>
        <p:nvSpPr>
          <p:cNvPr id="8" name="Text 5"/>
          <p:cNvSpPr/>
          <p:nvPr/>
        </p:nvSpPr>
        <p:spPr>
          <a:xfrm>
            <a:off x="4495800" y="2626320"/>
            <a:ext cx="18803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35A10"/>
                </a:solidFill>
                <a:latin typeface="Arial" pitchFamily="34" charset="0"/>
                <a:ea typeface="Arial" pitchFamily="34" charset="-122"/>
                <a:cs typeface="Arial" pitchFamily="34" charset="-120"/>
              </a:rPr>
              <a:t>[icon: alert-triangle]</a:t>
            </a:r>
            <a:endParaRPr lang="en-US" sz="1600" dirty="0"/>
          </a:p>
        </p:txBody>
      </p:sp>
      <p:sp>
        <p:nvSpPr>
          <p:cNvPr id="9" name="Text 6"/>
          <p:cNvSpPr/>
          <p:nvPr/>
        </p:nvSpPr>
        <p:spPr>
          <a:xfrm>
            <a:off x="6376194" y="2626320"/>
            <a:ext cx="431315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nter" pitchFamily="34" charset="0"/>
                <a:ea typeface="Inter" pitchFamily="34" charset="-122"/>
                <a:cs typeface="Inter" pitchFamily="34" charset="-120"/>
              </a:rPr>
              <a:t>"Act now or your account is </a:t>
            </a:r>
            <a:r>
              <a:rPr lang="en-US" sz="1600" b="1" dirty="0">
                <a:solidFill>
                  <a:srgbClr val="14213D"/>
                </a:solidFill>
                <a:latin typeface="Inter" pitchFamily="34" charset="0"/>
                <a:ea typeface="Inter" pitchFamily="34" charset="-122"/>
                <a:cs typeface="Inter" pitchFamily="34" charset="-120"/>
              </a:rPr>
              <a:t>blocked</a:t>
            </a:r>
            <a:r>
              <a:rPr lang="en-US" sz="1600" dirty="0">
                <a:solidFill>
                  <a:srgbClr val="14213D"/>
                </a:solidFill>
                <a:latin typeface="Inter" pitchFamily="34" charset="0"/>
                <a:ea typeface="Inter" pitchFamily="34" charset="-122"/>
                <a:cs typeface="Inter" pitchFamily="34" charset="-120"/>
              </a:rPr>
              <a:t>"</a:t>
            </a:r>
            <a:endParaRPr lang="en-US" sz="1600" dirty="0"/>
          </a:p>
        </p:txBody>
      </p:sp>
      <p:sp>
        <p:nvSpPr>
          <p:cNvPr id="10" name="Shape 7"/>
          <p:cNvSpPr/>
          <p:nvPr/>
        </p:nvSpPr>
        <p:spPr>
          <a:xfrm>
            <a:off x="4495800" y="3557191"/>
            <a:ext cx="6883400" cy="0"/>
          </a:xfrm>
          <a:prstGeom prst="line">
            <a:avLst/>
          </a:prstGeom>
          <a:noFill/>
          <a:ln w="12700">
            <a:solidFill>
              <a:srgbClr val="D9D1C2"/>
            </a:solidFill>
            <a:prstDash val="solid"/>
          </a:ln>
        </p:spPr>
        <p:txBody>
          <a:bodyPr/>
          <a:lstStyle/>
          <a:p>
            <a:endParaRPr lang="en-JP"/>
          </a:p>
        </p:txBody>
      </p:sp>
      <p:sp>
        <p:nvSpPr>
          <p:cNvPr id="11" name="Text 8"/>
          <p:cNvSpPr/>
          <p:nvPr/>
        </p:nvSpPr>
        <p:spPr>
          <a:xfrm>
            <a:off x="4495800" y="3152080"/>
            <a:ext cx="18803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35A10"/>
                </a:solidFill>
                <a:latin typeface="Arial" pitchFamily="34" charset="0"/>
                <a:ea typeface="Arial" pitchFamily="34" charset="-122"/>
                <a:cs typeface="Arial" pitchFamily="34" charset="-120"/>
              </a:rPr>
              <a:t>[icon: alert-triangle]</a:t>
            </a:r>
            <a:endParaRPr lang="en-US" sz="1600" dirty="0"/>
          </a:p>
        </p:txBody>
      </p:sp>
      <p:sp>
        <p:nvSpPr>
          <p:cNvPr id="12" name="Text 9"/>
          <p:cNvSpPr/>
          <p:nvPr/>
        </p:nvSpPr>
        <p:spPr>
          <a:xfrm>
            <a:off x="6376194" y="3152080"/>
            <a:ext cx="435304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nter" pitchFamily="34" charset="0"/>
                <a:ea typeface="Inter" pitchFamily="34" charset="-122"/>
                <a:cs typeface="Inter" pitchFamily="34" charset="-120"/>
              </a:rPr>
              <a:t>Paying a </a:t>
            </a:r>
            <a:r>
              <a:rPr lang="en-US" sz="1600" b="1" dirty="0">
                <a:solidFill>
                  <a:srgbClr val="14213D"/>
                </a:solidFill>
                <a:latin typeface="Inter" pitchFamily="34" charset="0"/>
                <a:ea typeface="Inter" pitchFamily="34" charset="-122"/>
                <a:cs typeface="Inter" pitchFamily="34" charset="-120"/>
              </a:rPr>
              <a:t>fee</a:t>
            </a:r>
            <a:r>
              <a:rPr lang="en-US" sz="1600" dirty="0">
                <a:solidFill>
                  <a:srgbClr val="14213D"/>
                </a:solidFill>
                <a:latin typeface="Inter" pitchFamily="34" charset="0"/>
                <a:ea typeface="Inter" pitchFamily="34" charset="-122"/>
                <a:cs typeface="Inter" pitchFamily="34" charset="-120"/>
              </a:rPr>
              <a:t> to receive a prize or loan</a:t>
            </a:r>
            <a:endParaRPr lang="en-US" sz="1600" dirty="0"/>
          </a:p>
        </p:txBody>
      </p:sp>
      <p:sp>
        <p:nvSpPr>
          <p:cNvPr id="13" name="Shape 10"/>
          <p:cNvSpPr/>
          <p:nvPr/>
        </p:nvSpPr>
        <p:spPr>
          <a:xfrm>
            <a:off x="4495800" y="4367411"/>
            <a:ext cx="6883400" cy="0"/>
          </a:xfrm>
          <a:prstGeom prst="line">
            <a:avLst/>
          </a:prstGeom>
          <a:noFill/>
          <a:ln w="12700">
            <a:solidFill>
              <a:srgbClr val="D9D1C2"/>
            </a:solidFill>
            <a:prstDash val="solid"/>
          </a:ln>
        </p:spPr>
        <p:txBody>
          <a:bodyPr/>
          <a:lstStyle/>
          <a:p>
            <a:endParaRPr lang="en-JP"/>
          </a:p>
        </p:txBody>
      </p:sp>
      <p:sp>
        <p:nvSpPr>
          <p:cNvPr id="14" name="Text 11"/>
          <p:cNvSpPr/>
          <p:nvPr/>
        </p:nvSpPr>
        <p:spPr>
          <a:xfrm>
            <a:off x="4495800" y="3677841"/>
            <a:ext cx="167163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35A10"/>
                </a:solidFill>
                <a:latin typeface="Arial" pitchFamily="34" charset="0"/>
                <a:ea typeface="Arial" pitchFamily="34" charset="-122"/>
                <a:cs typeface="Arial" pitchFamily="34" charset="-120"/>
              </a:rPr>
              <a:t>[icon: alert-triangle]</a:t>
            </a:r>
            <a:endParaRPr lang="en-US" sz="1600" dirty="0"/>
          </a:p>
        </p:txBody>
      </p:sp>
      <p:sp>
        <p:nvSpPr>
          <p:cNvPr id="15" name="Text 12"/>
          <p:cNvSpPr/>
          <p:nvPr/>
        </p:nvSpPr>
        <p:spPr>
          <a:xfrm>
            <a:off x="6269038" y="3677841"/>
            <a:ext cx="5263467"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nter" pitchFamily="34" charset="0"/>
                <a:ea typeface="Inter" pitchFamily="34" charset="-122"/>
                <a:cs typeface="Inter" pitchFamily="34" charset="-120"/>
              </a:rPr>
              <a:t>Messages from </a:t>
            </a:r>
            <a:r>
              <a:rPr lang="en-US" sz="1600" b="1" dirty="0">
                <a:solidFill>
                  <a:srgbClr val="14213D"/>
                </a:solidFill>
                <a:latin typeface="Inter" pitchFamily="34" charset="0"/>
                <a:ea typeface="Inter" pitchFamily="34" charset="-122"/>
                <a:cs typeface="Inter" pitchFamily="34" charset="-120"/>
              </a:rPr>
              <a:t>personal numbers</a:t>
            </a:r>
            <a:r>
              <a:rPr lang="en-US" sz="1600" dirty="0">
                <a:solidFill>
                  <a:srgbClr val="14213D"/>
                </a:solidFill>
                <a:latin typeface="Inter" pitchFamily="34" charset="0"/>
                <a:ea typeface="Inter" pitchFamily="34" charset="-122"/>
                <a:cs typeface="Inter" pitchFamily="34" charset="-120"/>
              </a:rPr>
              <a:t> claiming to be official</a:t>
            </a:r>
            <a:endParaRPr lang="en-US" sz="1600" dirty="0"/>
          </a:p>
        </p:txBody>
      </p:sp>
      <p:sp>
        <p:nvSpPr>
          <p:cNvPr id="16" name="Shape 13"/>
          <p:cNvSpPr/>
          <p:nvPr/>
        </p:nvSpPr>
        <p:spPr>
          <a:xfrm>
            <a:off x="4495800" y="4893171"/>
            <a:ext cx="6883400" cy="0"/>
          </a:xfrm>
          <a:prstGeom prst="line">
            <a:avLst/>
          </a:prstGeom>
          <a:noFill/>
          <a:ln w="12700">
            <a:solidFill>
              <a:srgbClr val="D9D1C2"/>
            </a:solidFill>
            <a:prstDash val="solid"/>
          </a:ln>
        </p:spPr>
        <p:txBody>
          <a:bodyPr/>
          <a:lstStyle/>
          <a:p>
            <a:endParaRPr lang="en-JP"/>
          </a:p>
        </p:txBody>
      </p:sp>
      <p:sp>
        <p:nvSpPr>
          <p:cNvPr id="17" name="Text 14"/>
          <p:cNvSpPr/>
          <p:nvPr/>
        </p:nvSpPr>
        <p:spPr>
          <a:xfrm>
            <a:off x="4495800" y="4488061"/>
            <a:ext cx="18803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35A10"/>
                </a:solidFill>
                <a:latin typeface="Arial" pitchFamily="34" charset="0"/>
                <a:ea typeface="Arial" pitchFamily="34" charset="-122"/>
                <a:cs typeface="Arial" pitchFamily="34" charset="-120"/>
              </a:rPr>
              <a:t>[icon: alert-triangle]</a:t>
            </a:r>
            <a:endParaRPr lang="en-US" sz="1600" dirty="0"/>
          </a:p>
        </p:txBody>
      </p:sp>
      <p:sp>
        <p:nvSpPr>
          <p:cNvPr id="18" name="Text 15"/>
          <p:cNvSpPr/>
          <p:nvPr/>
        </p:nvSpPr>
        <p:spPr>
          <a:xfrm>
            <a:off x="6376194" y="4488061"/>
            <a:ext cx="397061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nter" pitchFamily="34" charset="0"/>
                <a:ea typeface="Inter" pitchFamily="34" charset="-122"/>
                <a:cs typeface="Inter" pitchFamily="34" charset="-120"/>
              </a:rPr>
              <a:t>Links asking you to </a:t>
            </a:r>
            <a:r>
              <a:rPr lang="en-US" sz="1600" b="1" dirty="0">
                <a:solidFill>
                  <a:srgbClr val="14213D"/>
                </a:solidFill>
                <a:latin typeface="Inter" pitchFamily="34" charset="0"/>
                <a:ea typeface="Inter" pitchFamily="34" charset="-122"/>
                <a:cs typeface="Inter" pitchFamily="34" charset="-120"/>
              </a:rPr>
              <a:t>log in or verify</a:t>
            </a:r>
            <a:endParaRPr lang="en-US" sz="1600" dirty="0"/>
          </a:p>
        </p:txBody>
      </p:sp>
      <p:sp>
        <p:nvSpPr>
          <p:cNvPr id="19" name="Shape 16"/>
          <p:cNvSpPr/>
          <p:nvPr/>
        </p:nvSpPr>
        <p:spPr>
          <a:xfrm>
            <a:off x="4495800" y="5418931"/>
            <a:ext cx="6883400" cy="0"/>
          </a:xfrm>
          <a:prstGeom prst="line">
            <a:avLst/>
          </a:prstGeom>
          <a:noFill/>
          <a:ln w="12700">
            <a:solidFill>
              <a:srgbClr val="D9D1C2"/>
            </a:solidFill>
            <a:prstDash val="solid"/>
          </a:ln>
        </p:spPr>
        <p:txBody>
          <a:bodyPr/>
          <a:lstStyle/>
          <a:p>
            <a:endParaRPr lang="en-JP"/>
          </a:p>
        </p:txBody>
      </p:sp>
      <p:sp>
        <p:nvSpPr>
          <p:cNvPr id="20" name="Text 17"/>
          <p:cNvSpPr/>
          <p:nvPr/>
        </p:nvSpPr>
        <p:spPr>
          <a:xfrm>
            <a:off x="4495800" y="5013821"/>
            <a:ext cx="188039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35A10"/>
                </a:solidFill>
                <a:latin typeface="Arial" pitchFamily="34" charset="0"/>
                <a:ea typeface="Arial" pitchFamily="34" charset="-122"/>
                <a:cs typeface="Arial" pitchFamily="34" charset="-120"/>
              </a:rPr>
              <a:t>[icon: alert-triangle]</a:t>
            </a:r>
            <a:endParaRPr lang="en-US" sz="1600" dirty="0"/>
          </a:p>
        </p:txBody>
      </p:sp>
      <p:sp>
        <p:nvSpPr>
          <p:cNvPr id="21" name="Text 18"/>
          <p:cNvSpPr/>
          <p:nvPr/>
        </p:nvSpPr>
        <p:spPr>
          <a:xfrm>
            <a:off x="6376194" y="5013821"/>
            <a:ext cx="4930021"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nter" pitchFamily="34" charset="0"/>
                <a:ea typeface="Inter" pitchFamily="34" charset="-122"/>
                <a:cs typeface="Inter" pitchFamily="34" charset="-120"/>
              </a:rPr>
              <a:t>A deposit SMS your </a:t>
            </a:r>
            <a:r>
              <a:rPr lang="en-US" sz="1600" b="1" dirty="0">
                <a:solidFill>
                  <a:srgbClr val="14213D"/>
                </a:solidFill>
                <a:latin typeface="Inter" pitchFamily="34" charset="0"/>
                <a:ea typeface="Inter" pitchFamily="34" charset="-122"/>
                <a:cs typeface="Inter" pitchFamily="34" charset="-120"/>
              </a:rPr>
              <a:t>balance doesn't show</a:t>
            </a:r>
            <a:endParaRPr lang="en-US" sz="1600" dirty="0"/>
          </a:p>
        </p:txBody>
      </p:sp>
      <p:sp>
        <p:nvSpPr>
          <p:cNvPr id="22"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6</a:t>
            </a:r>
            <a:endParaRPr lang="en-US" sz="1200" dirty="0"/>
          </a:p>
        </p:txBody>
      </p:sp>
      <p:pic>
        <p:nvPicPr>
          <p:cNvPr id="23" name="Picture 22" descr="ZT_logo.png">
            <a:extLst>
              <a:ext uri="{FF2B5EF4-FFF2-40B4-BE49-F238E27FC236}">
                <a16:creationId xmlns:a16="http://schemas.microsoft.com/office/drawing/2014/main" id="{354FE1E0-4454-87F2-32EE-4E9F93C00808}"/>
              </a:ext>
            </a:extLst>
          </p:cNvPr>
          <p:cNvPicPr>
            <a:picLocks noChangeAspect="1"/>
          </p:cNvPicPr>
          <p:nvPr/>
        </p:nvPicPr>
        <p:blipFill>
          <a:blip r:embed="rId4"/>
          <a:stretch>
            <a:fillRect/>
          </a:stretch>
        </p:blipFill>
        <p:spPr>
          <a:xfrm>
            <a:off x="11049000" y="73152"/>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07A1F"/>
        </a:solidFill>
        <a:effectLst/>
      </p:bgPr>
    </p:bg>
    <p:spTree>
      <p:nvGrpSpPr>
        <p:cNvPr id="1" name=""/>
        <p:cNvGrpSpPr/>
        <p:nvPr/>
      </p:nvGrpSpPr>
      <p:grpSpPr>
        <a:xfrm>
          <a:off x="0" y="0"/>
          <a:ext cx="0" cy="0"/>
          <a:chOff x="0" y="0"/>
          <a:chExt cx="0" cy="0"/>
        </a:xfrm>
      </p:grpSpPr>
      <p:pic>
        <p:nvPicPr>
          <p:cNvPr id="2" name="Image 0" descr="Padlock with a hidden four-digit PIN and a crossed-out speech bubble"/>
          <p:cNvPicPr>
            <a:picLocks noChangeAspect="1"/>
          </p:cNvPicPr>
          <p:nvPr/>
        </p:nvPicPr>
        <p:blipFill>
          <a:blip r:embed="rId3"/>
          <a:srcRect/>
          <a:stretch/>
        </p:blipFill>
        <p:spPr>
          <a:xfrm>
            <a:off x="7747000" y="1397000"/>
            <a:ext cx="3810000" cy="4064000"/>
          </a:xfrm>
          <a:prstGeom prst="rect">
            <a:avLst/>
          </a:prstGeom>
        </p:spPr>
      </p:pic>
      <p:sp>
        <p:nvSpPr>
          <p:cNvPr id="3" name="Text 0"/>
          <p:cNvSpPr/>
          <p:nvPr/>
        </p:nvSpPr>
        <p:spPr>
          <a:xfrm>
            <a:off x="812800" y="18770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14213D"/>
                </a:solidFill>
                <a:latin typeface="Inter" pitchFamily="34" charset="0"/>
                <a:ea typeface="Inter" pitchFamily="34" charset="-122"/>
                <a:cs typeface="Inter" pitchFamily="34" charset="-120"/>
              </a:rPr>
              <a:t>THE GOLDEN RULE</a:t>
            </a:r>
            <a:endParaRPr lang="en-US" sz="1600" dirty="0"/>
          </a:p>
        </p:txBody>
      </p:sp>
      <p:sp>
        <p:nvSpPr>
          <p:cNvPr id="4" name="Text 1"/>
          <p:cNvSpPr>
            <a:spLocks noGrp="1"/>
          </p:cNvSpPr>
          <p:nvPr>
            <p:ph type="title"/>
          </p:nvPr>
        </p:nvSpPr>
        <p:spPr>
          <a:xfrm>
            <a:off x="812800" y="2415480"/>
            <a:ext cx="680212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14213D"/>
                </a:solidFill>
                <a:latin typeface="Archivo" pitchFamily="34" charset="0"/>
                <a:ea typeface="Archivo" pitchFamily="34" charset="-122"/>
                <a:cs typeface="Archivo" pitchFamily="34" charset="-120"/>
              </a:rPr>
              <a:t>Never share your PIN or OTP.</a:t>
            </a:r>
            <a:endParaRPr lang="en-US" sz="6000" dirty="0"/>
          </a:p>
        </p:txBody>
      </p:sp>
      <p:sp>
        <p:nvSpPr>
          <p:cNvPr id="5" name="Text 2"/>
          <p:cNvSpPr/>
          <p:nvPr/>
        </p:nvSpPr>
        <p:spPr>
          <a:xfrm>
            <a:off x="812800" y="4269680"/>
            <a:ext cx="654050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Inter" pitchFamily="34" charset="0"/>
                <a:ea typeface="Inter" pitchFamily="34" charset="-122"/>
                <a:cs typeface="Inter" pitchFamily="34" charset="-120"/>
              </a:rPr>
              <a:t>Not with "customer care". Not with an agent. Not with family.</a:t>
            </a:r>
            <a:endParaRPr lang="en-US" sz="2000" dirty="0"/>
          </a:p>
        </p:txBody>
      </p:sp>
      <p:pic>
        <p:nvPicPr>
          <p:cNvPr id="6" name="Picture 5" descr="ZT_logo.png">
            <a:extLst>
              <a:ext uri="{FF2B5EF4-FFF2-40B4-BE49-F238E27FC236}">
                <a16:creationId xmlns:a16="http://schemas.microsoft.com/office/drawing/2014/main" id="{E52E637E-0DBC-4C56-D79D-85272BBD6C74}"/>
              </a:ext>
            </a:extLst>
          </p:cNvPr>
          <p:cNvPicPr>
            <a:picLocks noChangeAspect="1"/>
          </p:cNvPicPr>
          <p:nvPr/>
        </p:nvPicPr>
        <p:blipFill>
          <a:blip r:embed="rId4"/>
          <a:stretch>
            <a:fillRect/>
          </a:stretch>
        </p:blipFill>
        <p:spPr>
          <a:xfrm>
            <a:off x="11049000" y="73152"/>
            <a:ext cx="914400"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Six habits that protect you</a:t>
            </a:r>
            <a:endParaRPr lang="en-US" sz="3600" dirty="0"/>
          </a:p>
        </p:txBody>
      </p:sp>
      <p:sp>
        <p:nvSpPr>
          <p:cNvPr id="3" name="Shape 1"/>
          <p:cNvSpPr/>
          <p:nvPr/>
        </p:nvSpPr>
        <p:spPr>
          <a:xfrm>
            <a:off x="812800" y="1986756"/>
            <a:ext cx="3403600" cy="1838722"/>
          </a:xfrm>
          <a:prstGeom prst="roundRect">
            <a:avLst>
              <a:gd name="adj" fmla="val 5526"/>
            </a:avLst>
          </a:prstGeom>
          <a:solidFill>
            <a:srgbClr val="FFFFFF"/>
          </a:solidFill>
          <a:ln/>
        </p:spPr>
        <p:txBody>
          <a:bodyPr/>
          <a:lstStyle/>
          <a:p>
            <a:endParaRPr lang="en-JP"/>
          </a:p>
        </p:txBody>
      </p:sp>
      <p:sp>
        <p:nvSpPr>
          <p:cNvPr id="4" name="Shape 2"/>
          <p:cNvSpPr/>
          <p:nvPr/>
        </p:nvSpPr>
        <p:spPr>
          <a:xfrm>
            <a:off x="812800" y="1986756"/>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B5D9C"/>
          </a:solidFill>
          <a:ln/>
        </p:spPr>
        <p:txBody>
          <a:bodyPr/>
          <a:lstStyle/>
          <a:p>
            <a:endParaRPr lang="en-JP"/>
          </a:p>
        </p:txBody>
      </p:sp>
      <p:pic>
        <p:nvPicPr>
          <p:cNvPr id="5" name="Image 0" descr="Padlock"/>
          <p:cNvPicPr>
            <a:picLocks noChangeAspect="1"/>
          </p:cNvPicPr>
          <p:nvPr/>
        </p:nvPicPr>
        <p:blipFill>
          <a:blip r:embed="rId3"/>
          <a:srcRect/>
          <a:stretch/>
        </p:blipFill>
        <p:spPr>
          <a:xfrm>
            <a:off x="1092200" y="2189956"/>
            <a:ext cx="508000" cy="508000"/>
          </a:xfrm>
          <a:prstGeom prst="rect">
            <a:avLst/>
          </a:prstGeom>
        </p:spPr>
      </p:pic>
      <p:sp>
        <p:nvSpPr>
          <p:cNvPr id="6" name="Text 3"/>
          <p:cNvSpPr/>
          <p:nvPr/>
        </p:nvSpPr>
        <p:spPr>
          <a:xfrm>
            <a:off x="1092200" y="2774156"/>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Keep your PIN secret</a:t>
            </a:r>
            <a:endParaRPr lang="en-US" sz="1800" dirty="0"/>
          </a:p>
        </p:txBody>
      </p:sp>
      <p:sp>
        <p:nvSpPr>
          <p:cNvPr id="7" name="Text 4"/>
          <p:cNvSpPr/>
          <p:nvPr/>
        </p:nvSpPr>
        <p:spPr>
          <a:xfrm>
            <a:off x="1092200" y="3124597"/>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Cover the keypad; avoid birth years.</a:t>
            </a:r>
            <a:endParaRPr lang="en-US" sz="1400" dirty="0"/>
          </a:p>
        </p:txBody>
      </p:sp>
      <p:sp>
        <p:nvSpPr>
          <p:cNvPr id="8" name="Shape 5"/>
          <p:cNvSpPr/>
          <p:nvPr/>
        </p:nvSpPr>
        <p:spPr>
          <a:xfrm>
            <a:off x="4394200" y="1986756"/>
            <a:ext cx="3403600" cy="1838722"/>
          </a:xfrm>
          <a:prstGeom prst="roundRect">
            <a:avLst>
              <a:gd name="adj" fmla="val 5526"/>
            </a:avLst>
          </a:prstGeom>
          <a:solidFill>
            <a:srgbClr val="FFFFFF"/>
          </a:solidFill>
          <a:ln/>
        </p:spPr>
        <p:txBody>
          <a:bodyPr/>
          <a:lstStyle/>
          <a:p>
            <a:endParaRPr lang="en-JP"/>
          </a:p>
        </p:txBody>
      </p:sp>
      <p:sp>
        <p:nvSpPr>
          <p:cNvPr id="9" name="Shape 6"/>
          <p:cNvSpPr/>
          <p:nvPr/>
        </p:nvSpPr>
        <p:spPr>
          <a:xfrm>
            <a:off x="4394200" y="1986756"/>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B5D9C"/>
          </a:solidFill>
          <a:ln/>
        </p:spPr>
        <p:txBody>
          <a:bodyPr/>
          <a:lstStyle/>
          <a:p>
            <a:endParaRPr lang="en-JP"/>
          </a:p>
        </p:txBody>
      </p:sp>
      <p:pic>
        <p:nvPicPr>
          <p:cNvPr id="10" name="Image 1" descr="Wallet with a check mark"/>
          <p:cNvPicPr>
            <a:picLocks noChangeAspect="1"/>
          </p:cNvPicPr>
          <p:nvPr/>
        </p:nvPicPr>
        <p:blipFill>
          <a:blip r:embed="rId4"/>
          <a:srcRect/>
          <a:stretch/>
        </p:blipFill>
        <p:spPr>
          <a:xfrm>
            <a:off x="4673600" y="2189956"/>
            <a:ext cx="508000" cy="508000"/>
          </a:xfrm>
          <a:prstGeom prst="rect">
            <a:avLst/>
          </a:prstGeom>
        </p:spPr>
      </p:pic>
      <p:sp>
        <p:nvSpPr>
          <p:cNvPr id="11" name="Text 7"/>
          <p:cNvSpPr/>
          <p:nvPr/>
        </p:nvSpPr>
        <p:spPr>
          <a:xfrm>
            <a:off x="4673600" y="2774156"/>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Check your balance</a:t>
            </a:r>
            <a:endParaRPr lang="en-US" sz="1800" dirty="0"/>
          </a:p>
        </p:txBody>
      </p:sp>
      <p:sp>
        <p:nvSpPr>
          <p:cNvPr id="12" name="Text 8"/>
          <p:cNvSpPr/>
          <p:nvPr/>
        </p:nvSpPr>
        <p:spPr>
          <a:xfrm>
            <a:off x="4673600" y="3124597"/>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Confirm deposits in the app, not by SMS.</a:t>
            </a:r>
            <a:endParaRPr lang="en-US" sz="1400" dirty="0"/>
          </a:p>
        </p:txBody>
      </p:sp>
      <p:sp>
        <p:nvSpPr>
          <p:cNvPr id="13" name="Shape 9"/>
          <p:cNvSpPr/>
          <p:nvPr/>
        </p:nvSpPr>
        <p:spPr>
          <a:xfrm>
            <a:off x="7975600" y="1986756"/>
            <a:ext cx="3403600" cy="1838722"/>
          </a:xfrm>
          <a:prstGeom prst="roundRect">
            <a:avLst>
              <a:gd name="adj" fmla="val 5526"/>
            </a:avLst>
          </a:prstGeom>
          <a:solidFill>
            <a:srgbClr val="FFFFFF"/>
          </a:solidFill>
          <a:ln/>
        </p:spPr>
        <p:txBody>
          <a:bodyPr/>
          <a:lstStyle/>
          <a:p>
            <a:endParaRPr lang="en-JP"/>
          </a:p>
        </p:txBody>
      </p:sp>
      <p:sp>
        <p:nvSpPr>
          <p:cNvPr id="14" name="Shape 10"/>
          <p:cNvSpPr/>
          <p:nvPr/>
        </p:nvSpPr>
        <p:spPr>
          <a:xfrm>
            <a:off x="7975600" y="1986756"/>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B5D9C"/>
          </a:solidFill>
          <a:ln/>
        </p:spPr>
        <p:txBody>
          <a:bodyPr/>
          <a:lstStyle/>
          <a:p>
            <a:endParaRPr lang="en-JP"/>
          </a:p>
        </p:txBody>
      </p:sp>
      <p:pic>
        <p:nvPicPr>
          <p:cNvPr id="15" name="Image 2" descr="Phone handset"/>
          <p:cNvPicPr>
            <a:picLocks noChangeAspect="1"/>
          </p:cNvPicPr>
          <p:nvPr/>
        </p:nvPicPr>
        <p:blipFill>
          <a:blip r:embed="rId5"/>
          <a:srcRect/>
          <a:stretch/>
        </p:blipFill>
        <p:spPr>
          <a:xfrm>
            <a:off x="8255000" y="2189956"/>
            <a:ext cx="508000" cy="508000"/>
          </a:xfrm>
          <a:prstGeom prst="rect">
            <a:avLst/>
          </a:prstGeom>
        </p:spPr>
      </p:pic>
      <p:sp>
        <p:nvSpPr>
          <p:cNvPr id="16" name="Text 11"/>
          <p:cNvSpPr/>
          <p:nvPr/>
        </p:nvSpPr>
        <p:spPr>
          <a:xfrm>
            <a:off x="8255000" y="2774156"/>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Call back officially</a:t>
            </a:r>
            <a:endParaRPr lang="en-US" sz="1800" dirty="0"/>
          </a:p>
        </p:txBody>
      </p:sp>
      <p:sp>
        <p:nvSpPr>
          <p:cNvPr id="17" name="Text 12"/>
          <p:cNvSpPr/>
          <p:nvPr/>
        </p:nvSpPr>
        <p:spPr>
          <a:xfrm>
            <a:off x="8255000" y="3124597"/>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Hang up and dial the official number.</a:t>
            </a:r>
            <a:endParaRPr lang="en-US" sz="1400" dirty="0"/>
          </a:p>
        </p:txBody>
      </p:sp>
      <p:sp>
        <p:nvSpPr>
          <p:cNvPr id="18" name="Shape 13"/>
          <p:cNvSpPr/>
          <p:nvPr/>
        </p:nvSpPr>
        <p:spPr>
          <a:xfrm>
            <a:off x="812800" y="4003278"/>
            <a:ext cx="3403600" cy="1838722"/>
          </a:xfrm>
          <a:prstGeom prst="roundRect">
            <a:avLst>
              <a:gd name="adj" fmla="val 5526"/>
            </a:avLst>
          </a:prstGeom>
          <a:solidFill>
            <a:srgbClr val="FFFFFF"/>
          </a:solidFill>
          <a:ln/>
        </p:spPr>
        <p:txBody>
          <a:bodyPr/>
          <a:lstStyle/>
          <a:p>
            <a:endParaRPr lang="en-JP"/>
          </a:p>
        </p:txBody>
      </p:sp>
      <p:sp>
        <p:nvSpPr>
          <p:cNvPr id="19" name="Shape 14"/>
          <p:cNvSpPr/>
          <p:nvPr/>
        </p:nvSpPr>
        <p:spPr>
          <a:xfrm>
            <a:off x="812800" y="4003278"/>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B5D9C"/>
          </a:solidFill>
          <a:ln/>
        </p:spPr>
        <p:txBody>
          <a:bodyPr/>
          <a:lstStyle/>
          <a:p>
            <a:endParaRPr lang="en-JP"/>
          </a:p>
        </p:txBody>
      </p:sp>
      <p:pic>
        <p:nvPicPr>
          <p:cNvPr id="20" name="Image 3" descr="Phone with download arrow"/>
          <p:cNvPicPr>
            <a:picLocks noChangeAspect="1"/>
          </p:cNvPicPr>
          <p:nvPr/>
        </p:nvPicPr>
        <p:blipFill>
          <a:blip r:embed="rId6"/>
          <a:srcRect/>
          <a:stretch/>
        </p:blipFill>
        <p:spPr>
          <a:xfrm>
            <a:off x="1092200" y="4206478"/>
            <a:ext cx="508000" cy="508000"/>
          </a:xfrm>
          <a:prstGeom prst="rect">
            <a:avLst/>
          </a:prstGeom>
        </p:spPr>
      </p:pic>
      <p:sp>
        <p:nvSpPr>
          <p:cNvPr id="21" name="Text 15"/>
          <p:cNvSpPr/>
          <p:nvPr/>
        </p:nvSpPr>
        <p:spPr>
          <a:xfrm>
            <a:off x="1092200" y="4790678"/>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Use official apps</a:t>
            </a:r>
            <a:endParaRPr lang="en-US" sz="1800" dirty="0"/>
          </a:p>
        </p:txBody>
      </p:sp>
      <p:sp>
        <p:nvSpPr>
          <p:cNvPr id="22" name="Text 16"/>
          <p:cNvSpPr/>
          <p:nvPr/>
        </p:nvSpPr>
        <p:spPr>
          <a:xfrm>
            <a:off x="1092200" y="5141119"/>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Only trusted app stores, no unknown links.</a:t>
            </a:r>
            <a:endParaRPr lang="en-US" sz="1400" dirty="0"/>
          </a:p>
        </p:txBody>
      </p:sp>
      <p:sp>
        <p:nvSpPr>
          <p:cNvPr id="23" name="Shape 17"/>
          <p:cNvSpPr/>
          <p:nvPr/>
        </p:nvSpPr>
        <p:spPr>
          <a:xfrm>
            <a:off x="4394200" y="4003278"/>
            <a:ext cx="3403600" cy="1838722"/>
          </a:xfrm>
          <a:prstGeom prst="roundRect">
            <a:avLst>
              <a:gd name="adj" fmla="val 5526"/>
            </a:avLst>
          </a:prstGeom>
          <a:solidFill>
            <a:srgbClr val="FFFFFF"/>
          </a:solidFill>
          <a:ln/>
        </p:spPr>
        <p:txBody>
          <a:bodyPr/>
          <a:lstStyle/>
          <a:p>
            <a:endParaRPr lang="en-JP"/>
          </a:p>
        </p:txBody>
      </p:sp>
      <p:sp>
        <p:nvSpPr>
          <p:cNvPr id="24" name="Shape 18"/>
          <p:cNvSpPr/>
          <p:nvPr/>
        </p:nvSpPr>
        <p:spPr>
          <a:xfrm>
            <a:off x="4394200" y="4003278"/>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B5D9C"/>
          </a:solidFill>
          <a:ln/>
        </p:spPr>
        <p:txBody>
          <a:bodyPr/>
          <a:lstStyle/>
          <a:p>
            <a:endParaRPr lang="en-JP"/>
          </a:p>
        </p:txBody>
      </p:sp>
      <p:pic>
        <p:nvPicPr>
          <p:cNvPr id="25" name="Image 4" descr="Locked phone"/>
          <p:cNvPicPr>
            <a:picLocks noChangeAspect="1"/>
          </p:cNvPicPr>
          <p:nvPr/>
        </p:nvPicPr>
        <p:blipFill>
          <a:blip r:embed="rId7"/>
          <a:srcRect/>
          <a:stretch/>
        </p:blipFill>
        <p:spPr>
          <a:xfrm>
            <a:off x="4673600" y="4206478"/>
            <a:ext cx="508000" cy="508000"/>
          </a:xfrm>
          <a:prstGeom prst="rect">
            <a:avLst/>
          </a:prstGeom>
        </p:spPr>
      </p:pic>
      <p:sp>
        <p:nvSpPr>
          <p:cNvPr id="26" name="Text 19"/>
          <p:cNvSpPr/>
          <p:nvPr/>
        </p:nvSpPr>
        <p:spPr>
          <a:xfrm>
            <a:off x="4673600" y="4790678"/>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Lock your phone</a:t>
            </a:r>
            <a:endParaRPr lang="en-US" sz="1800" dirty="0"/>
          </a:p>
        </p:txBody>
      </p:sp>
      <p:sp>
        <p:nvSpPr>
          <p:cNvPr id="27" name="Text 20"/>
          <p:cNvSpPr/>
          <p:nvPr/>
        </p:nvSpPr>
        <p:spPr>
          <a:xfrm>
            <a:off x="4673600" y="5141119"/>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Use a screen lock and wallet security.</a:t>
            </a:r>
            <a:endParaRPr lang="en-US" sz="1400" dirty="0"/>
          </a:p>
        </p:txBody>
      </p:sp>
      <p:sp>
        <p:nvSpPr>
          <p:cNvPr id="28" name="Shape 21"/>
          <p:cNvSpPr/>
          <p:nvPr/>
        </p:nvSpPr>
        <p:spPr>
          <a:xfrm>
            <a:off x="7975600" y="4003278"/>
            <a:ext cx="3403600" cy="1838722"/>
          </a:xfrm>
          <a:prstGeom prst="roundRect">
            <a:avLst>
              <a:gd name="adj" fmla="val 5526"/>
            </a:avLst>
          </a:prstGeom>
          <a:solidFill>
            <a:srgbClr val="FFFFFF"/>
          </a:solidFill>
          <a:ln/>
        </p:spPr>
        <p:txBody>
          <a:bodyPr/>
          <a:lstStyle/>
          <a:p>
            <a:endParaRPr lang="en-JP"/>
          </a:p>
        </p:txBody>
      </p:sp>
      <p:sp>
        <p:nvSpPr>
          <p:cNvPr id="29" name="Shape 22"/>
          <p:cNvSpPr/>
          <p:nvPr/>
        </p:nvSpPr>
        <p:spPr>
          <a:xfrm>
            <a:off x="7975600" y="4003278"/>
            <a:ext cx="3403600" cy="1838722"/>
          </a:xfrm>
          <a:custGeom>
            <a:avLst/>
            <a:gdLst/>
            <a:ahLst/>
            <a:cxnLst/>
            <a:rect l="l" t="t" r="r" b="b"/>
            <a:pathLst>
              <a:path w="3403600" h="1838722">
                <a:moveTo>
                  <a:pt x="101600" y="1838722"/>
                </a:moveTo>
                <a:lnTo>
                  <a:pt x="101600" y="1838722"/>
                </a:lnTo>
                <a:arcTo wR="101600" hR="101600" stAng="5400000" swAng="5400000"/>
                <a:lnTo>
                  <a:pt x="0" y="101600"/>
                </a:lnTo>
                <a:arcTo wR="101600" hR="101600" stAng="10800000" swAng="5400000"/>
                <a:lnTo>
                  <a:pt x="101600" y="0"/>
                </a:lnTo>
                <a:arcTo wR="50800" hR="101600" stAng="16200000" swAng="-5400000"/>
                <a:lnTo>
                  <a:pt x="50800" y="1737122"/>
                </a:lnTo>
                <a:arcTo wR="50800" hR="101600" stAng="10800000" swAng="-5400000"/>
                <a:close/>
              </a:path>
            </a:pathLst>
          </a:custGeom>
          <a:solidFill>
            <a:srgbClr val="2B5D9C"/>
          </a:solidFill>
          <a:ln/>
        </p:spPr>
        <p:txBody>
          <a:bodyPr/>
          <a:lstStyle/>
          <a:p>
            <a:endParaRPr lang="en-JP"/>
          </a:p>
        </p:txBody>
      </p:sp>
      <p:pic>
        <p:nvPicPr>
          <p:cNvPr id="30" name="Image 5" descr="Two speech bubbles"/>
          <p:cNvPicPr>
            <a:picLocks noChangeAspect="1"/>
          </p:cNvPicPr>
          <p:nvPr/>
        </p:nvPicPr>
        <p:blipFill>
          <a:blip r:embed="rId8"/>
          <a:srcRect/>
          <a:stretch/>
        </p:blipFill>
        <p:spPr>
          <a:xfrm>
            <a:off x="8255000" y="4206478"/>
            <a:ext cx="508000" cy="508000"/>
          </a:xfrm>
          <a:prstGeom prst="rect">
            <a:avLst/>
          </a:prstGeom>
        </p:spPr>
      </p:pic>
      <p:sp>
        <p:nvSpPr>
          <p:cNvPr id="31" name="Text 23"/>
          <p:cNvSpPr/>
          <p:nvPr/>
        </p:nvSpPr>
        <p:spPr>
          <a:xfrm>
            <a:off x="8255000" y="4790678"/>
            <a:ext cx="298246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Talk about it</a:t>
            </a:r>
            <a:endParaRPr lang="en-US" sz="1800" dirty="0"/>
          </a:p>
        </p:txBody>
      </p:sp>
      <p:sp>
        <p:nvSpPr>
          <p:cNvPr id="32" name="Text 24"/>
          <p:cNvSpPr/>
          <p:nvPr/>
        </p:nvSpPr>
        <p:spPr>
          <a:xfrm>
            <a:off x="8255000" y="5141119"/>
            <a:ext cx="298246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Warn family, especially older relatives.</a:t>
            </a:r>
            <a:endParaRPr lang="en-US" sz="1400" dirty="0"/>
          </a:p>
        </p:txBody>
      </p:sp>
      <p:sp>
        <p:nvSpPr>
          <p:cNvPr id="33"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8</a:t>
            </a:r>
            <a:endParaRPr lang="en-US" sz="1200" dirty="0"/>
          </a:p>
        </p:txBody>
      </p:sp>
      <p:pic>
        <p:nvPicPr>
          <p:cNvPr id="34" name="Picture 33" descr="ZT_logo.png">
            <a:extLst>
              <a:ext uri="{FF2B5EF4-FFF2-40B4-BE49-F238E27FC236}">
                <a16:creationId xmlns:a16="http://schemas.microsoft.com/office/drawing/2014/main" id="{4E5D8C1B-EEB5-E85D-AE83-EF1A675DE2C9}"/>
              </a:ext>
            </a:extLst>
          </p:cNvPr>
          <p:cNvPicPr>
            <a:picLocks noChangeAspect="1"/>
          </p:cNvPicPr>
          <p:nvPr/>
        </p:nvPicPr>
        <p:blipFill>
          <a:blip r:embed="rId9"/>
          <a:stretch>
            <a:fillRect/>
          </a:stretch>
        </p:blipFill>
        <p:spPr>
          <a:xfrm>
            <a:off x="11049000" y="73152"/>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442839"/>
            <a:ext cx="512775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A35E"/>
                </a:solidFill>
                <a:latin typeface="Inter" pitchFamily="34" charset="0"/>
                <a:ea typeface="Inter" pitchFamily="34" charset="-122"/>
                <a:cs typeface="Inter" pitchFamily="34" charset="-120"/>
              </a:rPr>
              <a:t>SPOTLIGHT</a:t>
            </a:r>
            <a:endParaRPr lang="en-US" sz="1400" dirty="0"/>
          </a:p>
        </p:txBody>
      </p:sp>
      <p:sp>
        <p:nvSpPr>
          <p:cNvPr id="3" name="Text 1"/>
          <p:cNvSpPr>
            <a:spLocks noGrp="1"/>
          </p:cNvSpPr>
          <p:nvPr>
            <p:ph type="title"/>
          </p:nvPr>
        </p:nvSpPr>
        <p:spPr>
          <a:xfrm>
            <a:off x="812800" y="1894880"/>
            <a:ext cx="512775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4EE"/>
                </a:solidFill>
                <a:latin typeface="Archivo" pitchFamily="34" charset="0"/>
                <a:ea typeface="Archivo" pitchFamily="34" charset="-122"/>
                <a:cs typeface="Archivo" pitchFamily="34" charset="-120"/>
              </a:rPr>
              <a:t>SIM swap fraud</a:t>
            </a:r>
            <a:endParaRPr lang="en-US" sz="3600" dirty="0"/>
          </a:p>
        </p:txBody>
      </p:sp>
      <p:sp>
        <p:nvSpPr>
          <p:cNvPr id="4" name="Text 2"/>
          <p:cNvSpPr/>
          <p:nvPr/>
        </p:nvSpPr>
        <p:spPr>
          <a:xfrm>
            <a:off x="812800" y="2600920"/>
            <a:ext cx="5127752"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C9CFDB"/>
                </a:solidFill>
                <a:latin typeface="Inter" pitchFamily="34" charset="0"/>
                <a:ea typeface="Inter" pitchFamily="34" charset="-122"/>
                <a:cs typeface="Inter" pitchFamily="34" charset="-120"/>
              </a:rPr>
              <a:t>A criminal convinces your mobile operator to move your number to their SIM card. Your calls, SMS codes and mobile money now go to them.</a:t>
            </a:r>
            <a:endParaRPr lang="en-US" sz="1600" dirty="0"/>
          </a:p>
        </p:txBody>
      </p:sp>
      <p:pic>
        <p:nvPicPr>
          <p:cNvPr id="5" name="Image 0" descr="Your SIM card being transferred to a criminal's SIM card"/>
          <p:cNvPicPr>
            <a:picLocks noChangeAspect="1"/>
          </p:cNvPicPr>
          <p:nvPr/>
        </p:nvPicPr>
        <p:blipFill>
          <a:blip r:embed="rId3"/>
          <a:srcRect/>
          <a:stretch/>
        </p:blipFill>
        <p:spPr>
          <a:xfrm>
            <a:off x="812800" y="3687862"/>
            <a:ext cx="4318000" cy="1524000"/>
          </a:xfrm>
          <a:prstGeom prst="rect">
            <a:avLst/>
          </a:prstGeom>
        </p:spPr>
      </p:pic>
      <p:sp>
        <p:nvSpPr>
          <p:cNvPr id="6" name="Text 3"/>
          <p:cNvSpPr/>
          <p:nvPr/>
        </p:nvSpPr>
        <p:spPr>
          <a:xfrm>
            <a:off x="6400800" y="1351359"/>
            <a:ext cx="512775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A35E"/>
                </a:solidFill>
                <a:latin typeface="Inter" pitchFamily="34" charset="0"/>
                <a:ea typeface="Inter" pitchFamily="34" charset="-122"/>
                <a:cs typeface="Inter" pitchFamily="34" charset="-120"/>
              </a:rPr>
              <a:t>Warning signs</a:t>
            </a:r>
            <a:endParaRPr lang="en-US" sz="1800" dirty="0"/>
          </a:p>
        </p:txBody>
      </p:sp>
      <p:sp>
        <p:nvSpPr>
          <p:cNvPr id="7" name="Shape 4"/>
          <p:cNvSpPr/>
          <p:nvPr/>
        </p:nvSpPr>
        <p:spPr>
          <a:xfrm>
            <a:off x="6400800" y="1752600"/>
            <a:ext cx="4978400" cy="660400"/>
          </a:xfrm>
          <a:prstGeom prst="roundRect">
            <a:avLst>
              <a:gd name="adj" fmla="val 15385"/>
            </a:avLst>
          </a:prstGeom>
          <a:solidFill>
            <a:srgbClr val="1D2E52"/>
          </a:solidFill>
          <a:ln/>
        </p:spPr>
        <p:txBody>
          <a:bodyPr/>
          <a:lstStyle/>
          <a:p>
            <a:endParaRPr lang="en-JP"/>
          </a:p>
        </p:txBody>
      </p:sp>
      <p:pic>
        <p:nvPicPr>
          <p:cNvPr id="8" name="Image 1" descr="No signal"/>
          <p:cNvPicPr>
            <a:picLocks noChangeAspect="1"/>
          </p:cNvPicPr>
          <p:nvPr/>
        </p:nvPicPr>
        <p:blipFill>
          <a:blip r:embed="rId4"/>
          <a:srcRect/>
          <a:stretch/>
        </p:blipFill>
        <p:spPr>
          <a:xfrm>
            <a:off x="6629400" y="1930400"/>
            <a:ext cx="304800" cy="304800"/>
          </a:xfrm>
          <a:prstGeom prst="rect">
            <a:avLst/>
          </a:prstGeom>
        </p:spPr>
      </p:pic>
      <p:sp>
        <p:nvSpPr>
          <p:cNvPr id="9" name="Text 5"/>
          <p:cNvSpPr/>
          <p:nvPr/>
        </p:nvSpPr>
        <p:spPr>
          <a:xfrm>
            <a:off x="7086600" y="1940520"/>
            <a:ext cx="42926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Inter" pitchFamily="34" charset="0"/>
                <a:ea typeface="Inter" pitchFamily="34" charset="-122"/>
                <a:cs typeface="Inter" pitchFamily="34" charset="-120"/>
              </a:rPr>
              <a:t>Your phone suddenly shows </a:t>
            </a:r>
            <a:r>
              <a:rPr lang="en-US" sz="1600" b="1" dirty="0">
                <a:solidFill>
                  <a:srgbClr val="F7F4EE"/>
                </a:solidFill>
                <a:latin typeface="Inter" pitchFamily="34" charset="0"/>
                <a:ea typeface="Inter" pitchFamily="34" charset="-122"/>
                <a:cs typeface="Inter" pitchFamily="34" charset="-120"/>
              </a:rPr>
              <a:t>No Service</a:t>
            </a:r>
            <a:endParaRPr lang="en-US" sz="1600" dirty="0"/>
          </a:p>
        </p:txBody>
      </p:sp>
      <p:sp>
        <p:nvSpPr>
          <p:cNvPr id="10" name="Shape 6"/>
          <p:cNvSpPr/>
          <p:nvPr/>
        </p:nvSpPr>
        <p:spPr>
          <a:xfrm>
            <a:off x="6400800" y="2540000"/>
            <a:ext cx="4978400" cy="660400"/>
          </a:xfrm>
          <a:prstGeom prst="roundRect">
            <a:avLst>
              <a:gd name="adj" fmla="val 15385"/>
            </a:avLst>
          </a:prstGeom>
          <a:solidFill>
            <a:srgbClr val="1D2E52"/>
          </a:solidFill>
          <a:ln/>
        </p:spPr>
        <p:txBody>
          <a:bodyPr/>
          <a:lstStyle/>
          <a:p>
            <a:endParaRPr lang="en-JP"/>
          </a:p>
        </p:txBody>
      </p:sp>
      <p:pic>
        <p:nvPicPr>
          <p:cNvPr id="11" name="Image 2" descr="Blocked message"/>
          <p:cNvPicPr>
            <a:picLocks noChangeAspect="1"/>
          </p:cNvPicPr>
          <p:nvPr/>
        </p:nvPicPr>
        <p:blipFill>
          <a:blip r:embed="rId5"/>
          <a:srcRect/>
          <a:stretch/>
        </p:blipFill>
        <p:spPr>
          <a:xfrm>
            <a:off x="6629400" y="2717800"/>
            <a:ext cx="304800" cy="304800"/>
          </a:xfrm>
          <a:prstGeom prst="rect">
            <a:avLst/>
          </a:prstGeom>
        </p:spPr>
      </p:pic>
      <p:sp>
        <p:nvSpPr>
          <p:cNvPr id="12" name="Text 7"/>
          <p:cNvSpPr/>
          <p:nvPr/>
        </p:nvSpPr>
        <p:spPr>
          <a:xfrm>
            <a:off x="7086600" y="2727920"/>
            <a:ext cx="3638431"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Inter" pitchFamily="34" charset="0"/>
                <a:ea typeface="Inter" pitchFamily="34" charset="-122"/>
                <a:cs typeface="Inter" pitchFamily="34" charset="-120"/>
              </a:rPr>
              <a:t>You stop receiving calls or SMS</a:t>
            </a:r>
            <a:endParaRPr lang="en-US" sz="1600" dirty="0"/>
          </a:p>
        </p:txBody>
      </p:sp>
      <p:sp>
        <p:nvSpPr>
          <p:cNvPr id="13" name="Shape 8"/>
          <p:cNvSpPr/>
          <p:nvPr/>
        </p:nvSpPr>
        <p:spPr>
          <a:xfrm>
            <a:off x="6400800" y="3327400"/>
            <a:ext cx="4978400" cy="924520"/>
          </a:xfrm>
          <a:prstGeom prst="roundRect">
            <a:avLst>
              <a:gd name="adj" fmla="val 10989"/>
            </a:avLst>
          </a:prstGeom>
          <a:solidFill>
            <a:srgbClr val="1D2E52"/>
          </a:solidFill>
          <a:ln/>
        </p:spPr>
        <p:txBody>
          <a:bodyPr/>
          <a:lstStyle/>
          <a:p>
            <a:endParaRPr lang="en-JP"/>
          </a:p>
        </p:txBody>
      </p:sp>
      <p:pic>
        <p:nvPicPr>
          <p:cNvPr id="14" name="Image 3" descr="Alert bell"/>
          <p:cNvPicPr>
            <a:picLocks noChangeAspect="1"/>
          </p:cNvPicPr>
          <p:nvPr/>
        </p:nvPicPr>
        <p:blipFill>
          <a:blip r:embed="rId6"/>
          <a:srcRect t="-3020" b="-3020"/>
          <a:stretch/>
        </p:blipFill>
        <p:spPr>
          <a:xfrm>
            <a:off x="6629400" y="3637260"/>
            <a:ext cx="287437" cy="304800"/>
          </a:xfrm>
          <a:prstGeom prst="rect">
            <a:avLst/>
          </a:prstGeom>
        </p:spPr>
      </p:pic>
      <p:sp>
        <p:nvSpPr>
          <p:cNvPr id="15" name="Text 9"/>
          <p:cNvSpPr/>
          <p:nvPr/>
        </p:nvSpPr>
        <p:spPr>
          <a:xfrm>
            <a:off x="7069237" y="3505200"/>
            <a:ext cx="420380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Inter" pitchFamily="34" charset="0"/>
                <a:ea typeface="Inter" pitchFamily="34" charset="-122"/>
                <a:cs typeface="Inter" pitchFamily="34" charset="-120"/>
              </a:rPr>
              <a:t>Alerts about a SIM change you didn't request</a:t>
            </a:r>
            <a:endParaRPr lang="en-US" sz="1600" dirty="0"/>
          </a:p>
        </p:txBody>
      </p:sp>
      <p:sp>
        <p:nvSpPr>
          <p:cNvPr id="16" name="Text 10"/>
          <p:cNvSpPr/>
          <p:nvPr/>
        </p:nvSpPr>
        <p:spPr>
          <a:xfrm>
            <a:off x="6400800" y="4378920"/>
            <a:ext cx="4978400" cy="924520"/>
          </a:xfrm>
          <a:prstGeom prst="roundRect">
            <a:avLst>
              <a:gd name="adj" fmla="val 10989"/>
            </a:avLst>
          </a:prstGeom>
          <a:solidFill>
            <a:srgbClr val="E07A1F"/>
          </a:solidFill>
          <a:ln/>
        </p:spPr>
        <p:txBody>
          <a:bodyPr wrap="square" lIns="198842" tIns="148042" rIns="63206" bIns="122642" rtlCol="0" anchor="t">
            <a:normAutofit/>
          </a:bodyPr>
          <a:lstStyle/>
          <a:p>
            <a:pPr marL="0" indent="0" algn="l">
              <a:lnSpc>
                <a:spcPts val="2240"/>
              </a:lnSpc>
              <a:buNone/>
            </a:pPr>
            <a:r>
              <a:rPr lang="en-US" sz="1600" b="1" dirty="0">
                <a:solidFill>
                  <a:srgbClr val="14213D"/>
                </a:solidFill>
                <a:latin typeface="Inter" pitchFamily="34" charset="0"/>
                <a:ea typeface="Inter" pitchFamily="34" charset="-122"/>
                <a:cs typeface="Inter" pitchFamily="34" charset="-120"/>
              </a:rPr>
              <a:t>Contact your operator immediately from another phone.</a:t>
            </a:r>
            <a:endParaRPr lang="en-US" sz="1600" dirty="0"/>
          </a:p>
        </p:txBody>
      </p:sp>
      <p:sp>
        <p:nvSpPr>
          <p:cNvPr id="17"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4B8"/>
                </a:solidFill>
                <a:latin typeface="Inter" pitchFamily="34" charset="0"/>
                <a:ea typeface="Inter" pitchFamily="34" charset="-122"/>
                <a:cs typeface="Inter" pitchFamily="34" charset="-120"/>
              </a:rPr>
              <a:t>Online Fraud: Mobile Money · 9</a:t>
            </a:r>
            <a:endParaRPr lang="en-US" sz="1200" dirty="0"/>
          </a:p>
        </p:txBody>
      </p:sp>
      <p:pic>
        <p:nvPicPr>
          <p:cNvPr id="18" name="Picture 17" descr="ZT_logo.png">
            <a:extLst>
              <a:ext uri="{FF2B5EF4-FFF2-40B4-BE49-F238E27FC236}">
                <a16:creationId xmlns:a16="http://schemas.microsoft.com/office/drawing/2014/main" id="{92029F01-8F0A-383D-C923-6504A65AF2FB}"/>
              </a:ext>
            </a:extLst>
          </p:cNvPr>
          <p:cNvPicPr>
            <a:picLocks noChangeAspect="1"/>
          </p:cNvPicPr>
          <p:nvPr/>
        </p:nvPicPr>
        <p:blipFill>
          <a:blip r:embed="rId7"/>
          <a:stretch>
            <a:fillRect/>
          </a:stretch>
        </p:blipFill>
        <p:spPr>
          <a:xfrm>
            <a:off x="11049000" y="73152"/>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Scammed? Act fast</a:t>
            </a:r>
            <a:endParaRPr lang="en-US" sz="3600" dirty="0"/>
          </a:p>
        </p:txBody>
      </p:sp>
      <p:sp>
        <p:nvSpPr>
          <p:cNvPr id="3" name="Shape 1"/>
          <p:cNvSpPr/>
          <p:nvPr/>
        </p:nvSpPr>
        <p:spPr>
          <a:xfrm>
            <a:off x="812800" y="1807369"/>
            <a:ext cx="7239000" cy="0"/>
          </a:xfrm>
          <a:prstGeom prst="line">
            <a:avLst/>
          </a:prstGeom>
          <a:noFill/>
          <a:ln w="12700">
            <a:solidFill>
              <a:srgbClr val="D9D1C2"/>
            </a:solidFill>
            <a:prstDash val="solid"/>
          </a:ln>
        </p:spPr>
        <p:txBody>
          <a:bodyPr/>
          <a:lstStyle/>
          <a:p>
            <a:endParaRPr lang="en-JP"/>
          </a:p>
        </p:txBody>
      </p:sp>
      <p:sp>
        <p:nvSpPr>
          <p:cNvPr id="4" name="Text 2"/>
          <p:cNvSpPr/>
          <p:nvPr/>
        </p:nvSpPr>
        <p:spPr>
          <a:xfrm>
            <a:off x="812800" y="2004219"/>
            <a:ext cx="4572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35A10"/>
                </a:solidFill>
                <a:latin typeface="Archivo" pitchFamily="34" charset="0"/>
                <a:ea typeface="Archivo" pitchFamily="34" charset="-122"/>
                <a:cs typeface="Archivo" pitchFamily="34" charset="-120"/>
              </a:rPr>
              <a:t>1</a:t>
            </a:r>
            <a:endParaRPr lang="en-US" sz="2400" dirty="0"/>
          </a:p>
        </p:txBody>
      </p:sp>
      <p:sp>
        <p:nvSpPr>
          <p:cNvPr id="5" name="Text 3"/>
          <p:cNvSpPr/>
          <p:nvPr/>
        </p:nvSpPr>
        <p:spPr>
          <a:xfrm>
            <a:off x="1422400" y="1953419"/>
            <a:ext cx="6828282" cy="553641"/>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4213D"/>
                </a:solidFill>
                <a:latin typeface="Inter" pitchFamily="34" charset="0"/>
                <a:ea typeface="Inter" pitchFamily="34" charset="-122"/>
                <a:cs typeface="Inter" pitchFamily="34" charset="-120"/>
              </a:rPr>
              <a:t>Call your provider immediately</a:t>
            </a:r>
            <a:r>
              <a:rPr lang="en-US" sz="1600" dirty="0">
                <a:solidFill>
                  <a:srgbClr val="14213D"/>
                </a:solidFill>
                <a:latin typeface="Inter" pitchFamily="34" charset="0"/>
                <a:ea typeface="Inter" pitchFamily="34" charset="-122"/>
                <a:cs typeface="Inter" pitchFamily="34" charset="-120"/>
              </a:rPr>
              <a:t> to report and try to block the transaction.</a:t>
            </a:r>
            <a:endParaRPr lang="en-US" sz="1600" dirty="0"/>
          </a:p>
        </p:txBody>
      </p:sp>
      <p:sp>
        <p:nvSpPr>
          <p:cNvPr id="6" name="Shape 4"/>
          <p:cNvSpPr/>
          <p:nvPr/>
        </p:nvSpPr>
        <p:spPr>
          <a:xfrm>
            <a:off x="812800" y="2627709"/>
            <a:ext cx="7239000" cy="0"/>
          </a:xfrm>
          <a:prstGeom prst="line">
            <a:avLst/>
          </a:prstGeom>
          <a:noFill/>
          <a:ln w="12700">
            <a:solidFill>
              <a:srgbClr val="D9D1C2"/>
            </a:solidFill>
            <a:prstDash val="solid"/>
          </a:ln>
        </p:spPr>
        <p:txBody>
          <a:bodyPr/>
          <a:lstStyle/>
          <a:p>
            <a:endParaRPr lang="en-JP"/>
          </a:p>
        </p:txBody>
      </p:sp>
      <p:sp>
        <p:nvSpPr>
          <p:cNvPr id="7" name="Text 5"/>
          <p:cNvSpPr/>
          <p:nvPr/>
        </p:nvSpPr>
        <p:spPr>
          <a:xfrm>
            <a:off x="812800" y="2773759"/>
            <a:ext cx="4572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35A10"/>
                </a:solidFill>
                <a:latin typeface="Archivo" pitchFamily="34" charset="0"/>
                <a:ea typeface="Archivo" pitchFamily="34" charset="-122"/>
                <a:cs typeface="Archivo" pitchFamily="34" charset="-120"/>
              </a:rPr>
              <a:t>2</a:t>
            </a:r>
            <a:endParaRPr lang="en-US" sz="2400" dirty="0"/>
          </a:p>
        </p:txBody>
      </p:sp>
      <p:sp>
        <p:nvSpPr>
          <p:cNvPr id="8" name="Text 6"/>
          <p:cNvSpPr/>
          <p:nvPr/>
        </p:nvSpPr>
        <p:spPr>
          <a:xfrm>
            <a:off x="1422400" y="2855020"/>
            <a:ext cx="682828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4213D"/>
                </a:solidFill>
                <a:latin typeface="Inter" pitchFamily="34" charset="0"/>
                <a:ea typeface="Inter" pitchFamily="34" charset="-122"/>
                <a:cs typeface="Inter" pitchFamily="34" charset="-120"/>
              </a:rPr>
              <a:t>Change your PIN</a:t>
            </a:r>
            <a:r>
              <a:rPr lang="en-US" sz="1600" dirty="0">
                <a:solidFill>
                  <a:srgbClr val="14213D"/>
                </a:solidFill>
                <a:latin typeface="Inter" pitchFamily="34" charset="0"/>
                <a:ea typeface="Inter" pitchFamily="34" charset="-122"/>
                <a:cs typeface="Inter" pitchFamily="34" charset="-120"/>
              </a:rPr>
              <a:t> and secure your SIM and phone.</a:t>
            </a:r>
            <a:endParaRPr lang="en-US" sz="1600" dirty="0"/>
          </a:p>
        </p:txBody>
      </p:sp>
      <p:sp>
        <p:nvSpPr>
          <p:cNvPr id="9" name="Shape 7"/>
          <p:cNvSpPr/>
          <p:nvPr/>
        </p:nvSpPr>
        <p:spPr>
          <a:xfrm>
            <a:off x="812800" y="3346450"/>
            <a:ext cx="7239000" cy="0"/>
          </a:xfrm>
          <a:prstGeom prst="line">
            <a:avLst/>
          </a:prstGeom>
          <a:noFill/>
          <a:ln w="12700">
            <a:solidFill>
              <a:srgbClr val="D9D1C2"/>
            </a:solidFill>
            <a:prstDash val="solid"/>
          </a:ln>
        </p:spPr>
        <p:txBody>
          <a:bodyPr/>
          <a:lstStyle/>
          <a:p>
            <a:endParaRPr lang="en-JP"/>
          </a:p>
        </p:txBody>
      </p:sp>
      <p:sp>
        <p:nvSpPr>
          <p:cNvPr id="10" name="Text 8"/>
          <p:cNvSpPr/>
          <p:nvPr/>
        </p:nvSpPr>
        <p:spPr>
          <a:xfrm>
            <a:off x="812800" y="3543300"/>
            <a:ext cx="4572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35A10"/>
                </a:solidFill>
                <a:latin typeface="Archivo" pitchFamily="34" charset="0"/>
                <a:ea typeface="Archivo" pitchFamily="34" charset="-122"/>
                <a:cs typeface="Archivo" pitchFamily="34" charset="-120"/>
              </a:rPr>
              <a:t>3</a:t>
            </a:r>
            <a:endParaRPr lang="en-US" sz="2400" dirty="0"/>
          </a:p>
        </p:txBody>
      </p:sp>
      <p:sp>
        <p:nvSpPr>
          <p:cNvPr id="11" name="Text 9"/>
          <p:cNvSpPr/>
          <p:nvPr/>
        </p:nvSpPr>
        <p:spPr>
          <a:xfrm>
            <a:off x="1422400" y="3492500"/>
            <a:ext cx="6828282" cy="553641"/>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4213D"/>
                </a:solidFill>
                <a:latin typeface="Inter" pitchFamily="34" charset="0"/>
                <a:ea typeface="Inter" pitchFamily="34" charset="-122"/>
                <a:cs typeface="Inter" pitchFamily="34" charset="-120"/>
              </a:rPr>
              <a:t>Keep the evidence:</a:t>
            </a:r>
            <a:r>
              <a:rPr lang="en-US" sz="1600" dirty="0">
                <a:solidFill>
                  <a:srgbClr val="14213D"/>
                </a:solidFill>
                <a:latin typeface="Inter" pitchFamily="34" charset="0"/>
                <a:ea typeface="Inter" pitchFamily="34" charset="-122"/>
                <a:cs typeface="Inter" pitchFamily="34" charset="-120"/>
              </a:rPr>
              <a:t> screenshots, numbers, messages and transaction IDs.</a:t>
            </a:r>
            <a:endParaRPr lang="en-US" sz="1600" dirty="0"/>
          </a:p>
        </p:txBody>
      </p:sp>
      <p:sp>
        <p:nvSpPr>
          <p:cNvPr id="12" name="Shape 10"/>
          <p:cNvSpPr/>
          <p:nvPr/>
        </p:nvSpPr>
        <p:spPr>
          <a:xfrm>
            <a:off x="812800" y="4166791"/>
            <a:ext cx="7239000" cy="0"/>
          </a:xfrm>
          <a:prstGeom prst="line">
            <a:avLst/>
          </a:prstGeom>
          <a:noFill/>
          <a:ln w="12700">
            <a:solidFill>
              <a:srgbClr val="D9D1C2"/>
            </a:solidFill>
            <a:prstDash val="solid"/>
          </a:ln>
        </p:spPr>
        <p:txBody>
          <a:bodyPr/>
          <a:lstStyle/>
          <a:p>
            <a:endParaRPr lang="en-JP"/>
          </a:p>
        </p:txBody>
      </p:sp>
      <p:sp>
        <p:nvSpPr>
          <p:cNvPr id="13" name="Text 11"/>
          <p:cNvSpPr/>
          <p:nvPr/>
        </p:nvSpPr>
        <p:spPr>
          <a:xfrm>
            <a:off x="812800" y="4312841"/>
            <a:ext cx="4572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35A10"/>
                </a:solidFill>
                <a:latin typeface="Archivo" pitchFamily="34" charset="0"/>
                <a:ea typeface="Archivo" pitchFamily="34" charset="-122"/>
                <a:cs typeface="Archivo" pitchFamily="34" charset="-120"/>
              </a:rPr>
              <a:t>4</a:t>
            </a:r>
            <a:endParaRPr lang="en-US" sz="2400" dirty="0"/>
          </a:p>
        </p:txBody>
      </p:sp>
      <p:sp>
        <p:nvSpPr>
          <p:cNvPr id="14" name="Text 12"/>
          <p:cNvSpPr/>
          <p:nvPr/>
        </p:nvSpPr>
        <p:spPr>
          <a:xfrm>
            <a:off x="1422400" y="4394101"/>
            <a:ext cx="682828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4213D"/>
                </a:solidFill>
                <a:latin typeface="Inter" pitchFamily="34" charset="0"/>
                <a:ea typeface="Inter" pitchFamily="34" charset="-122"/>
                <a:cs typeface="Inter" pitchFamily="34" charset="-120"/>
              </a:rPr>
              <a:t>Report to the police</a:t>
            </a:r>
            <a:r>
              <a:rPr lang="en-US" sz="1600" dirty="0">
                <a:solidFill>
                  <a:srgbClr val="14213D"/>
                </a:solidFill>
                <a:latin typeface="Inter" pitchFamily="34" charset="0"/>
                <a:ea typeface="Inter" pitchFamily="34" charset="-122"/>
                <a:cs typeface="Inter" pitchFamily="34" charset="-120"/>
              </a:rPr>
              <a:t> or cybercrime unit.</a:t>
            </a:r>
            <a:endParaRPr lang="en-US" sz="1600" dirty="0"/>
          </a:p>
        </p:txBody>
      </p:sp>
      <p:sp>
        <p:nvSpPr>
          <p:cNvPr id="15" name="Shape 13"/>
          <p:cNvSpPr/>
          <p:nvPr/>
        </p:nvSpPr>
        <p:spPr>
          <a:xfrm>
            <a:off x="812800" y="4885531"/>
            <a:ext cx="7239000" cy="0"/>
          </a:xfrm>
          <a:prstGeom prst="line">
            <a:avLst/>
          </a:prstGeom>
          <a:noFill/>
          <a:ln w="12700">
            <a:solidFill>
              <a:srgbClr val="D9D1C2"/>
            </a:solidFill>
            <a:prstDash val="solid"/>
          </a:ln>
        </p:spPr>
        <p:txBody>
          <a:bodyPr/>
          <a:lstStyle/>
          <a:p>
            <a:endParaRPr lang="en-JP"/>
          </a:p>
        </p:txBody>
      </p:sp>
      <p:sp>
        <p:nvSpPr>
          <p:cNvPr id="16" name="Shape 14"/>
          <p:cNvSpPr/>
          <p:nvPr/>
        </p:nvSpPr>
        <p:spPr>
          <a:xfrm>
            <a:off x="812800" y="5604272"/>
            <a:ext cx="7239000" cy="0"/>
          </a:xfrm>
          <a:prstGeom prst="line">
            <a:avLst/>
          </a:prstGeom>
          <a:noFill/>
          <a:ln w="12700">
            <a:solidFill>
              <a:srgbClr val="D9D1C2"/>
            </a:solidFill>
            <a:prstDash val="solid"/>
          </a:ln>
        </p:spPr>
        <p:txBody>
          <a:bodyPr/>
          <a:lstStyle/>
          <a:p>
            <a:endParaRPr lang="en-JP"/>
          </a:p>
        </p:txBody>
      </p:sp>
      <p:sp>
        <p:nvSpPr>
          <p:cNvPr id="17" name="Text 15"/>
          <p:cNvSpPr/>
          <p:nvPr/>
        </p:nvSpPr>
        <p:spPr>
          <a:xfrm>
            <a:off x="812800" y="5031581"/>
            <a:ext cx="457200"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35A10"/>
                </a:solidFill>
                <a:latin typeface="Archivo" pitchFamily="34" charset="0"/>
                <a:ea typeface="Archivo" pitchFamily="34" charset="-122"/>
                <a:cs typeface="Archivo" pitchFamily="34" charset="-120"/>
              </a:rPr>
              <a:t>5</a:t>
            </a:r>
            <a:endParaRPr lang="en-US" sz="2400" dirty="0"/>
          </a:p>
        </p:txBody>
      </p:sp>
      <p:sp>
        <p:nvSpPr>
          <p:cNvPr id="18" name="Text 16"/>
          <p:cNvSpPr/>
          <p:nvPr/>
        </p:nvSpPr>
        <p:spPr>
          <a:xfrm>
            <a:off x="1422400" y="5112841"/>
            <a:ext cx="682828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4213D"/>
                </a:solidFill>
                <a:latin typeface="Inter" pitchFamily="34" charset="0"/>
                <a:ea typeface="Inter" pitchFamily="34" charset="-122"/>
                <a:cs typeface="Inter" pitchFamily="34" charset="-120"/>
              </a:rPr>
              <a:t>Warn your contacts</a:t>
            </a:r>
            <a:r>
              <a:rPr lang="en-US" sz="1600" dirty="0">
                <a:solidFill>
                  <a:srgbClr val="14213D"/>
                </a:solidFill>
                <a:latin typeface="Inter" pitchFamily="34" charset="0"/>
                <a:ea typeface="Inter" pitchFamily="34" charset="-122"/>
                <a:cs typeface="Inter" pitchFamily="34" charset="-120"/>
              </a:rPr>
              <a:t> in case the scammer targets them next.</a:t>
            </a:r>
            <a:endParaRPr lang="en-US" sz="1600" dirty="0"/>
          </a:p>
        </p:txBody>
      </p:sp>
      <p:pic>
        <p:nvPicPr>
          <p:cNvPr id="19" name="Image 0" descr="Ringing alarm clock showing that time matters"/>
          <p:cNvPicPr>
            <a:picLocks noChangeAspect="1"/>
          </p:cNvPicPr>
          <p:nvPr/>
        </p:nvPicPr>
        <p:blipFill>
          <a:blip r:embed="rId3"/>
          <a:srcRect/>
          <a:stretch/>
        </p:blipFill>
        <p:spPr>
          <a:xfrm>
            <a:off x="8458200" y="1927820"/>
            <a:ext cx="2921000" cy="3556000"/>
          </a:xfrm>
          <a:prstGeom prst="rect">
            <a:avLst/>
          </a:prstGeom>
        </p:spPr>
      </p:pic>
      <p:sp>
        <p:nvSpPr>
          <p:cNvPr id="20"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10</a:t>
            </a:r>
            <a:endParaRPr lang="en-US" sz="1200" dirty="0"/>
          </a:p>
        </p:txBody>
      </p:sp>
      <p:pic>
        <p:nvPicPr>
          <p:cNvPr id="21" name="Picture 20" descr="ZT_logo.png">
            <a:extLst>
              <a:ext uri="{FF2B5EF4-FFF2-40B4-BE49-F238E27FC236}">
                <a16:creationId xmlns:a16="http://schemas.microsoft.com/office/drawing/2014/main" id="{5BE8EFF8-5BED-5A8B-C5F4-BB0E386B5090}"/>
              </a:ext>
            </a:extLst>
          </p:cNvPr>
          <p:cNvPicPr>
            <a:picLocks noChangeAspect="1"/>
          </p:cNvPicPr>
          <p:nvPr/>
        </p:nvPicPr>
        <p:blipFill>
          <a:blip r:embed="rId4"/>
          <a:stretch>
            <a:fillRect/>
          </a:stretch>
        </p:blipFill>
        <p:spPr>
          <a:xfrm>
            <a:off x="11049000" y="73152"/>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chivo" pitchFamily="34" charset="0"/>
                <a:ea typeface="Archivo" pitchFamily="34" charset="-122"/>
                <a:cs typeface="Archivo" pitchFamily="34" charset="-120"/>
              </a:rPr>
              <a:t>Where to report fraud</a:t>
            </a:r>
            <a:endParaRPr lang="en-US" sz="3600" dirty="0"/>
          </a:p>
        </p:txBody>
      </p:sp>
      <p:sp>
        <p:nvSpPr>
          <p:cNvPr id="3" name="Shape 1"/>
          <p:cNvSpPr/>
          <p:nvPr/>
        </p:nvSpPr>
        <p:spPr>
          <a:xfrm>
            <a:off x="812800" y="2021979"/>
            <a:ext cx="3386634" cy="2524522"/>
          </a:xfrm>
          <a:prstGeom prst="roundRect">
            <a:avLst>
              <a:gd name="adj" fmla="val 4025"/>
            </a:avLst>
          </a:prstGeom>
          <a:solidFill>
            <a:srgbClr val="FFFFFF"/>
          </a:solidFill>
          <a:ln/>
        </p:spPr>
        <p:txBody>
          <a:bodyPr/>
          <a:lstStyle/>
          <a:p>
            <a:endParaRPr lang="en-JP"/>
          </a:p>
        </p:txBody>
      </p:sp>
      <p:sp>
        <p:nvSpPr>
          <p:cNvPr id="4" name="Shape 2"/>
          <p:cNvSpPr/>
          <p:nvPr/>
        </p:nvSpPr>
        <p:spPr>
          <a:xfrm>
            <a:off x="812800" y="2021979"/>
            <a:ext cx="3386634" cy="2524522"/>
          </a:xfrm>
          <a:custGeom>
            <a:avLst/>
            <a:gdLst/>
            <a:ahLst/>
            <a:cxnLst/>
            <a:rect l="l" t="t" r="r" b="b"/>
            <a:pathLst>
              <a:path w="3386634" h="2524522">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2B5D9C"/>
          </a:solidFill>
          <a:ln/>
        </p:spPr>
        <p:txBody>
          <a:bodyPr/>
          <a:lstStyle/>
          <a:p>
            <a:endParaRPr lang="en-JP"/>
          </a:p>
        </p:txBody>
      </p:sp>
      <p:pic>
        <p:nvPicPr>
          <p:cNvPr id="5" name="Image 0" descr="Phone handset"/>
          <p:cNvPicPr>
            <a:picLocks noChangeAspect="1"/>
          </p:cNvPicPr>
          <p:nvPr/>
        </p:nvPicPr>
        <p:blipFill>
          <a:blip r:embed="rId3"/>
          <a:srcRect/>
          <a:stretch/>
        </p:blipFill>
        <p:spPr>
          <a:xfrm>
            <a:off x="1066800" y="2352179"/>
            <a:ext cx="660400" cy="660400"/>
          </a:xfrm>
          <a:prstGeom prst="rect">
            <a:avLst/>
          </a:prstGeom>
        </p:spPr>
      </p:pic>
      <p:sp>
        <p:nvSpPr>
          <p:cNvPr id="6" name="Text 3"/>
          <p:cNvSpPr/>
          <p:nvPr/>
        </p:nvSpPr>
        <p:spPr>
          <a:xfrm>
            <a:off x="1066800" y="3114179"/>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Mobile money provider</a:t>
            </a:r>
            <a:endParaRPr lang="en-US" sz="1800" dirty="0"/>
          </a:p>
        </p:txBody>
      </p:sp>
      <p:sp>
        <p:nvSpPr>
          <p:cNvPr id="8" name="Text 5"/>
          <p:cNvSpPr/>
          <p:nvPr/>
        </p:nvSpPr>
        <p:spPr>
          <a:xfrm>
            <a:off x="1066800" y="4018260"/>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Free from your mobile line</a:t>
            </a:r>
            <a:endParaRPr lang="en-US" sz="1400" dirty="0"/>
          </a:p>
        </p:txBody>
      </p:sp>
      <p:sp>
        <p:nvSpPr>
          <p:cNvPr id="9" name="Shape 6"/>
          <p:cNvSpPr/>
          <p:nvPr/>
        </p:nvSpPr>
        <p:spPr>
          <a:xfrm>
            <a:off x="4402634" y="2021979"/>
            <a:ext cx="3386733" cy="2524522"/>
          </a:xfrm>
          <a:prstGeom prst="roundRect">
            <a:avLst>
              <a:gd name="adj" fmla="val 4025"/>
            </a:avLst>
          </a:prstGeom>
          <a:solidFill>
            <a:srgbClr val="FFFFFF"/>
          </a:solidFill>
          <a:ln/>
        </p:spPr>
        <p:txBody>
          <a:bodyPr/>
          <a:lstStyle/>
          <a:p>
            <a:endParaRPr lang="en-JP"/>
          </a:p>
        </p:txBody>
      </p:sp>
      <p:sp>
        <p:nvSpPr>
          <p:cNvPr id="10" name="Shape 7"/>
          <p:cNvSpPr/>
          <p:nvPr/>
        </p:nvSpPr>
        <p:spPr>
          <a:xfrm>
            <a:off x="4402634" y="2021979"/>
            <a:ext cx="3386733" cy="2524522"/>
          </a:xfrm>
          <a:custGeom>
            <a:avLst/>
            <a:gdLst/>
            <a:ahLst/>
            <a:cxnLst/>
            <a:rect l="l" t="t" r="r" b="b"/>
            <a:pathLst>
              <a:path w="3386733" h="2524522">
                <a:moveTo>
                  <a:pt x="0" y="101600"/>
                </a:moveTo>
                <a:lnTo>
                  <a:pt x="0" y="101600"/>
                </a:lnTo>
                <a:arcTo wR="101600" hR="101600" stAng="10800000" swAng="5400000"/>
                <a:lnTo>
                  <a:pt x="3285133" y="0"/>
                </a:lnTo>
                <a:arcTo wR="101600" hR="101600" stAng="16200000" swAng="5400000"/>
                <a:lnTo>
                  <a:pt x="3386733" y="101600"/>
                </a:lnTo>
                <a:arcTo wR="101600" hR="50800" stAng="0" swAng="-5400000"/>
                <a:lnTo>
                  <a:pt x="101600" y="50800"/>
                </a:lnTo>
                <a:arcTo wR="101600" hR="50800" stAng="16200000" swAng="-5400000"/>
                <a:close/>
              </a:path>
            </a:pathLst>
          </a:custGeom>
          <a:solidFill>
            <a:srgbClr val="2B5D9C"/>
          </a:solidFill>
          <a:ln/>
        </p:spPr>
        <p:txBody>
          <a:bodyPr/>
          <a:lstStyle/>
          <a:p>
            <a:endParaRPr lang="en-JP"/>
          </a:p>
        </p:txBody>
      </p:sp>
      <p:pic>
        <p:nvPicPr>
          <p:cNvPr id="11" name="Image 1" descr="Police shield"/>
          <p:cNvPicPr>
            <a:picLocks noChangeAspect="1"/>
          </p:cNvPicPr>
          <p:nvPr/>
        </p:nvPicPr>
        <p:blipFill>
          <a:blip r:embed="rId4"/>
          <a:srcRect/>
          <a:stretch/>
        </p:blipFill>
        <p:spPr>
          <a:xfrm>
            <a:off x="4656634" y="2352179"/>
            <a:ext cx="660400" cy="660400"/>
          </a:xfrm>
          <a:prstGeom prst="rect">
            <a:avLst/>
          </a:prstGeom>
        </p:spPr>
      </p:pic>
      <p:sp>
        <p:nvSpPr>
          <p:cNvPr id="12" name="Text 8"/>
          <p:cNvSpPr/>
          <p:nvPr/>
        </p:nvSpPr>
        <p:spPr>
          <a:xfrm>
            <a:off x="4656634" y="3114179"/>
            <a:ext cx="29650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Police / cybercrime unit</a:t>
            </a:r>
            <a:endParaRPr lang="en-US" sz="1800" dirty="0"/>
          </a:p>
        </p:txBody>
      </p:sp>
      <p:sp>
        <p:nvSpPr>
          <p:cNvPr id="14" name="Text 10"/>
          <p:cNvSpPr/>
          <p:nvPr/>
        </p:nvSpPr>
        <p:spPr>
          <a:xfrm>
            <a:off x="4656634" y="4018260"/>
            <a:ext cx="296509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[Website or email]</a:t>
            </a:r>
            <a:endParaRPr lang="en-US" sz="1400" dirty="0"/>
          </a:p>
        </p:txBody>
      </p:sp>
      <p:sp>
        <p:nvSpPr>
          <p:cNvPr id="15" name="Shape 11"/>
          <p:cNvSpPr/>
          <p:nvPr/>
        </p:nvSpPr>
        <p:spPr>
          <a:xfrm>
            <a:off x="7992566" y="2021979"/>
            <a:ext cx="3386634" cy="2524522"/>
          </a:xfrm>
          <a:prstGeom prst="roundRect">
            <a:avLst>
              <a:gd name="adj" fmla="val 4025"/>
            </a:avLst>
          </a:prstGeom>
          <a:solidFill>
            <a:srgbClr val="FFFFFF"/>
          </a:solidFill>
          <a:ln/>
        </p:spPr>
        <p:txBody>
          <a:bodyPr/>
          <a:lstStyle/>
          <a:p>
            <a:endParaRPr lang="en-JP"/>
          </a:p>
        </p:txBody>
      </p:sp>
      <p:sp>
        <p:nvSpPr>
          <p:cNvPr id="16" name="Shape 12"/>
          <p:cNvSpPr/>
          <p:nvPr/>
        </p:nvSpPr>
        <p:spPr>
          <a:xfrm>
            <a:off x="7992566" y="2021979"/>
            <a:ext cx="3386634" cy="2524522"/>
          </a:xfrm>
          <a:custGeom>
            <a:avLst/>
            <a:gdLst/>
            <a:ahLst/>
            <a:cxnLst/>
            <a:rect l="l" t="t" r="r" b="b"/>
            <a:pathLst>
              <a:path w="3386634" h="2524522">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2B5D9C"/>
          </a:solidFill>
          <a:ln/>
        </p:spPr>
        <p:txBody>
          <a:bodyPr/>
          <a:lstStyle/>
          <a:p>
            <a:endParaRPr lang="en-JP"/>
          </a:p>
        </p:txBody>
      </p:sp>
      <p:pic>
        <p:nvPicPr>
          <p:cNvPr id="17" name="Image 2" descr="Message with warning"/>
          <p:cNvPicPr>
            <a:picLocks noChangeAspect="1"/>
          </p:cNvPicPr>
          <p:nvPr/>
        </p:nvPicPr>
        <p:blipFill>
          <a:blip r:embed="rId5"/>
          <a:srcRect/>
          <a:stretch/>
        </p:blipFill>
        <p:spPr>
          <a:xfrm>
            <a:off x="8246566" y="2352179"/>
            <a:ext cx="660400" cy="660400"/>
          </a:xfrm>
          <a:prstGeom prst="rect">
            <a:avLst/>
          </a:prstGeom>
        </p:spPr>
      </p:pic>
      <p:sp>
        <p:nvSpPr>
          <p:cNvPr id="18" name="Text 13"/>
          <p:cNvSpPr/>
          <p:nvPr/>
        </p:nvSpPr>
        <p:spPr>
          <a:xfrm>
            <a:off x="8246566" y="3114179"/>
            <a:ext cx="296499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nter" pitchFamily="34" charset="0"/>
                <a:ea typeface="Inter" pitchFamily="34" charset="-122"/>
                <a:cs typeface="Inter" pitchFamily="34" charset="-120"/>
              </a:rPr>
              <a:t>Report scam SMS</a:t>
            </a:r>
            <a:endParaRPr lang="en-US" sz="1800" dirty="0"/>
          </a:p>
        </p:txBody>
      </p:sp>
      <p:sp>
        <p:nvSpPr>
          <p:cNvPr id="20" name="Text 15"/>
          <p:cNvSpPr/>
          <p:nvPr/>
        </p:nvSpPr>
        <p:spPr>
          <a:xfrm>
            <a:off x="8246566" y="4018260"/>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560"/>
                </a:solidFill>
                <a:latin typeface="Inter" pitchFamily="34" charset="0"/>
                <a:ea typeface="Inter" pitchFamily="34" charset="-122"/>
                <a:cs typeface="Inter" pitchFamily="34" charset="-120"/>
              </a:rPr>
              <a:t>Forward suspicious messages</a:t>
            </a:r>
            <a:endParaRPr lang="en-US" sz="1400" dirty="0"/>
          </a:p>
        </p:txBody>
      </p:sp>
      <p:sp>
        <p:nvSpPr>
          <p:cNvPr id="21" name="Shape 16"/>
          <p:cNvSpPr/>
          <p:nvPr/>
        </p:nvSpPr>
        <p:spPr>
          <a:xfrm>
            <a:off x="812800" y="5252740"/>
            <a:ext cx="10566400" cy="589260"/>
          </a:xfrm>
          <a:prstGeom prst="roundRect">
            <a:avLst>
              <a:gd name="adj" fmla="val 17242"/>
            </a:avLst>
          </a:prstGeom>
          <a:solidFill>
            <a:srgbClr val="14213D"/>
          </a:solidFill>
          <a:ln/>
        </p:spPr>
        <p:txBody>
          <a:bodyPr/>
          <a:lstStyle/>
          <a:p>
            <a:endParaRPr lang="en-JP"/>
          </a:p>
        </p:txBody>
      </p:sp>
      <p:sp>
        <p:nvSpPr>
          <p:cNvPr id="22" name="Text 17"/>
          <p:cNvSpPr/>
          <p:nvPr/>
        </p:nvSpPr>
        <p:spPr>
          <a:xfrm>
            <a:off x="1041400" y="5405140"/>
            <a:ext cx="161776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0A35E"/>
                </a:solidFill>
                <a:latin typeface="Arial" pitchFamily="34" charset="0"/>
                <a:ea typeface="Arial" pitchFamily="34" charset="-122"/>
                <a:cs typeface="Arial" pitchFamily="34" charset="-120"/>
              </a:rPr>
              <a:t>[icon: bookmark]</a:t>
            </a:r>
            <a:endParaRPr lang="en-US" sz="1600" dirty="0"/>
          </a:p>
        </p:txBody>
      </p:sp>
      <p:sp>
        <p:nvSpPr>
          <p:cNvPr id="23" name="Text 18"/>
          <p:cNvSpPr/>
          <p:nvPr/>
        </p:nvSpPr>
        <p:spPr>
          <a:xfrm>
            <a:off x="2659162" y="5405140"/>
            <a:ext cx="744819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Inter" pitchFamily="34" charset="0"/>
                <a:ea typeface="Inter" pitchFamily="34" charset="-122"/>
                <a:cs typeface="Inter" pitchFamily="34" charset="-120"/>
              </a:rPr>
              <a:t>Save these numbers in your phone today, before you need them.</a:t>
            </a:r>
            <a:endParaRPr lang="en-US" sz="1600" dirty="0"/>
          </a:p>
        </p:txBody>
      </p:sp>
      <p:sp>
        <p:nvSpPr>
          <p:cNvPr id="24"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8"/>
                </a:solidFill>
                <a:latin typeface="Inter" pitchFamily="34" charset="0"/>
                <a:ea typeface="Inter" pitchFamily="34" charset="-122"/>
                <a:cs typeface="Inter" pitchFamily="34" charset="-120"/>
              </a:rPr>
              <a:t>Online Fraud: Mobile Money · 11</a:t>
            </a:r>
            <a:endParaRPr lang="en-US" sz="1200" dirty="0"/>
          </a:p>
        </p:txBody>
      </p:sp>
      <p:pic>
        <p:nvPicPr>
          <p:cNvPr id="25" name="Picture 24" descr="ZT_logo.png">
            <a:extLst>
              <a:ext uri="{FF2B5EF4-FFF2-40B4-BE49-F238E27FC236}">
                <a16:creationId xmlns:a16="http://schemas.microsoft.com/office/drawing/2014/main" id="{CFFEF5B1-54EC-1D24-BCF6-E28AC22FC67B}"/>
              </a:ext>
            </a:extLst>
          </p:cNvPr>
          <p:cNvPicPr>
            <a:picLocks noChangeAspect="1"/>
          </p:cNvPicPr>
          <p:nvPr/>
        </p:nvPicPr>
        <p:blipFill>
          <a:blip r:embed="rId6"/>
          <a:stretch>
            <a:fillRect/>
          </a:stretch>
        </p:blipFill>
        <p:spPr>
          <a:xfrm>
            <a:off x="11049000" y="73152"/>
            <a:ext cx="914400" cy="914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0" y="0"/>
            <a:ext cx="152400" cy="6858000"/>
          </a:xfrm>
          <a:prstGeom prst="rect">
            <a:avLst/>
          </a:prstGeom>
        </p:spPr>
      </p:pic>
      <p:pic>
        <p:nvPicPr>
          <p:cNvPr id="3" name="Image 1" descr="Shield with a check mark and a magnifying glass"/>
          <p:cNvPicPr>
            <a:picLocks noChangeAspect="1"/>
          </p:cNvPicPr>
          <p:nvPr/>
        </p:nvPicPr>
        <p:blipFill>
          <a:blip r:embed="rId4"/>
          <a:srcRect/>
          <a:stretch/>
        </p:blipFill>
        <p:spPr>
          <a:xfrm>
            <a:off x="7620000" y="1270000"/>
            <a:ext cx="3810000" cy="4318000"/>
          </a:xfrm>
          <a:prstGeom prst="rect">
            <a:avLst/>
          </a:prstGeom>
        </p:spPr>
      </p:pic>
      <p:sp>
        <p:nvSpPr>
          <p:cNvPr id="4" name="Text 0"/>
          <p:cNvSpPr>
            <a:spLocks noGrp="1"/>
          </p:cNvSpPr>
          <p:nvPr>
            <p:ph type="title"/>
          </p:nvPr>
        </p:nvSpPr>
        <p:spPr>
          <a:xfrm>
            <a:off x="812800" y="1788120"/>
            <a:ext cx="6540500" cy="17018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7F4EE"/>
                </a:solidFill>
                <a:latin typeface="Archivo" pitchFamily="34" charset="0"/>
                <a:ea typeface="Archivo" pitchFamily="34" charset="-122"/>
                <a:cs typeface="Archivo" pitchFamily="34" charset="-120"/>
              </a:rPr>
              <a:t>Stop. </a:t>
            </a:r>
            <a:r>
              <a:rPr lang="en-US" sz="6000" b="1" i="0" dirty="0">
                <a:solidFill>
                  <a:srgbClr val="F0A35E"/>
                </a:solidFill>
                <a:latin typeface="Archivo" pitchFamily="34" charset="0"/>
                <a:ea typeface="Archivo" pitchFamily="34" charset="-122"/>
                <a:cs typeface="Archivo" pitchFamily="34" charset="-120"/>
              </a:rPr>
              <a:t>Think.</a:t>
            </a:r>
            <a:r>
              <a:rPr lang="en-US" sz="6000" b="1" i="0" dirty="0">
                <a:solidFill>
                  <a:srgbClr val="F7F4EE"/>
                </a:solidFill>
                <a:latin typeface="Archivo" pitchFamily="34" charset="0"/>
                <a:ea typeface="Archivo" pitchFamily="34" charset="-122"/>
                <a:cs typeface="Archivo" pitchFamily="34" charset="-120"/>
              </a:rPr>
              <a:t> Verify.</a:t>
            </a:r>
            <a:endParaRPr lang="en-US" sz="6000" dirty="0"/>
          </a:p>
        </p:txBody>
      </p:sp>
      <p:sp>
        <p:nvSpPr>
          <p:cNvPr id="5" name="Text 1"/>
          <p:cNvSpPr/>
          <p:nvPr/>
        </p:nvSpPr>
        <p:spPr>
          <a:xfrm>
            <a:off x="812800" y="3769320"/>
            <a:ext cx="640969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CFDB"/>
                </a:solidFill>
                <a:latin typeface="Inter" pitchFamily="34" charset="0"/>
                <a:ea typeface="Inter" pitchFamily="34" charset="-122"/>
                <a:cs typeface="Inter" pitchFamily="34" charset="-120"/>
              </a:rPr>
              <a:t>If it feels urgent, too good to be true, or asks for your PIN, it's a scam.</a:t>
            </a:r>
            <a:endParaRPr lang="en-US" sz="2000" dirty="0"/>
          </a:p>
        </p:txBody>
      </p:sp>
      <p:sp>
        <p:nvSpPr>
          <p:cNvPr id="6" name="Text 2"/>
          <p:cNvSpPr/>
          <p:nvPr/>
        </p:nvSpPr>
        <p:spPr>
          <a:xfrm>
            <a:off x="812800" y="47853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AA4B8"/>
                </a:solidFill>
                <a:latin typeface="Inter" pitchFamily="34" charset="0"/>
                <a:ea typeface="Inter" pitchFamily="34" charset="-122"/>
                <a:cs typeface="Inter" pitchFamily="34" charset="-120"/>
              </a:rPr>
              <a:t>Thank you! </a:t>
            </a:r>
            <a:endParaRPr lang="en-US" sz="1600" dirty="0"/>
          </a:p>
        </p:txBody>
      </p:sp>
    </p:spTree>
  </p:cSld>
  <p:clrMapOvr>
    <a:masterClrMapping/>
  </p:clrMapOvr>
</p:sld>
</file>

<file path=ppt/theme/theme1.xml><?xml version="1.0" encoding="utf-8"?>
<a:theme xmlns:a="http://schemas.openxmlformats.org/drawingml/2006/main" name="Online Fraud: Mobile Money">
  <a:themeElements>
    <a:clrScheme name="Online Fraud: Mobile Money">
      <a:dk1>
        <a:srgbClr val="14213D"/>
      </a:dk1>
      <a:lt1>
        <a:srgbClr val="F7F4EE"/>
      </a:lt1>
      <a:dk2>
        <a:srgbClr val="4D5669"/>
      </a:dk2>
      <a:lt2>
        <a:srgbClr val="E0DFDC"/>
      </a:lt2>
      <a:accent1>
        <a:srgbClr val="B35A10"/>
      </a:accent1>
      <a:accent2>
        <a:srgbClr val="F0A35E"/>
      </a:accent2>
      <a:accent3>
        <a:srgbClr val="E07A1F"/>
      </a:accent3>
      <a:accent4>
        <a:srgbClr val="3B4560"/>
      </a:accent4>
      <a:accent5>
        <a:srgbClr val="C9CFDB"/>
      </a:accent5>
      <a:accent6>
        <a:srgbClr val="5B6478"/>
      </a:accent6>
      <a:hlink>
        <a:srgbClr val="0563C1"/>
      </a:hlink>
      <a:folHlink>
        <a:srgbClr val="954F72"/>
      </a:folHlink>
    </a:clrScheme>
    <a:fontScheme name="Online Fraud: Mobile Money">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1310</Words>
  <Application>Microsoft Macintosh PowerPoint</Application>
  <PresentationFormat>Widescreen</PresentationFormat>
  <Paragraphs>138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Archivo</vt:lpstr>
      <vt:lpstr>Inter</vt:lpstr>
      <vt:lpstr>Arial</vt:lpstr>
      <vt:lpstr>Online Fraud: Mobile Money</vt:lpstr>
      <vt:lpstr>Online Fraud: Mobile Money</vt:lpstr>
      <vt:lpstr>What is mobile money fraud?</vt:lpstr>
      <vt:lpstr>Why fraudsters target mobile money</vt:lpstr>
      <vt:lpstr>Six common scams</vt:lpstr>
      <vt:lpstr>How a typical scam unfolds</vt:lpstr>
      <vt:lpstr>Red flags to watch for</vt:lpstr>
      <vt:lpstr>Never share your PIN or OTP.</vt:lpstr>
      <vt:lpstr>Six habits that protect you</vt:lpstr>
      <vt:lpstr>SIM swap fraud</vt:lpstr>
      <vt:lpstr>Scammed? Act fast</vt:lpstr>
      <vt:lpstr>Where to report fraud</vt:lpstr>
      <vt:lpstr>Stop. Think. Verify.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Fraud: Mobile Money</dc:title>
  <dc:subject/>
  <dc:creator/>
  <cp:lastModifiedBy>ZIN MAR LWIN</cp:lastModifiedBy>
  <cp:revision>5</cp:revision>
  <dcterms:created xsi:type="dcterms:W3CDTF">2026-10-12T08:31:09Z</dcterms:created>
  <dcterms:modified xsi:type="dcterms:W3CDTF">2026-10-12T09:23:19Z</dcterms:modified>
</cp:coreProperties>
</file>