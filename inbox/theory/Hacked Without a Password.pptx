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1376"/>
  </p:normalViewPr>
  <p:slideViewPr>
    <p:cSldViewPr snapToGrid="0" snapToObjects="1">
      <p:cViewPr varScale="1">
        <p:scale>
          <a:sx n="73" d="100"/>
          <a:sy n="73" d="100"/>
        </p:scale>
        <p:origin x="226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0876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0:40] Good [morning/afternoon], everyone. I'm [Presenter] from ZNexora Tech. In our earlier sessions, we saw how infostealers like Lumma steal browser cookies. Today we'll go one step further and look at what attackers do with them. We all know a strong password and MFA protect our accounts. But there's a growing type of attack that doesn't need your password at all, and it can get past MFA too. By the end of this session, you'll understand how it works and what you can do to stop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 1:40] First, what is a session? Think about going to a music festival. At the gate, you show your ticket and ID. That's your password and MFA. Once you're checked, you get a wristband. For the rest of the day, staff don't check your ticket again; they just look at your wristband. On a website, that wristband is called a session cookie. After you log in, your browser stores it so you don't have to enter your password and MFA code on every click. Now imagine someone steals your wristband. They walk straight in as you, with no ticket and no ID check. That's session hijacking, and it's exactly what attackers do with stolen cookies.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 – 2:30] Why does this matter? Because MFA protects the login, not the session that comes after it. Look at the numbers. SpyCloud recovered 8.6 billion stolen session cookies from criminal data in a single year. Proofpoint found that 59 percent of taken-over accounts actually had MFA switched on. And adversary-in-the-middle phishing, which we'll look at in a moment, rose 146 percent in a year. MFA is still essential, and it blocks the vast majority of attacks. But a stolen session cookie lets an attacker skip the login completely, so MFA never gets the chance to check them.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 – 3:30] There are three main ways attackers steal a session. One: infostealer malware, like Lumma and Vidar from our earlier sessions. Once it's on your device, it copies the cookies straight out of your browser. It arrives through fake CAPTCHAs, cracked software and malicious downloads. Two: fake login pages, known as adversary-in-the-middle or AiTM phishing. These pages sit between you and the real website, pass your real login through, and keep the session it creates. They arrive through phishing emails, texts and QR codes. And three: code and consent tricks, where you're asked to enter a code or approve an app, which quietly gives the attacker access to your account. Huntress reported a huge spike in this kind of code phishing in 2026.</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 – 4:40] Let's look closer at fake login pages, because they're the most surprising. You click a link in an email, and see what looks exactly like your normal login page. But it's a proxy, a go-between, sitting between you and the real website. You type your password; the fake page instantly passes it to the real site. The real site sends you a genuine MFA prompt, and you approve it, because you really are logging in. The real website then issues a session cookie, and the fake page copies it on the way back to you. You land in your account, everything looks normal, and you carry on working. But the attacker now has your wristband. Your login succeeded, the MFA prompt was real, and the attacker still gets in.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 – 5:40] The second route is malware, and this is where our Lumma and malware sessions come in. Once an infostealer runs, perhaps after a fake CAPTCHA or a malicious download, it copies the cookies for every website you're signed in to: email, cloud storage, chat, even admin tools. Within a couple of minutes, they're bundled into logs and sold online. Later, a buyer loads your cookies into their own browser and is instantly logged in as you. Here's the critical point: changing your password alone doesn't help, because the stolen session keeps working. The sessions themselves have to be revoked, so every stolen cookie stops working. That's why reporting quickly matters so much.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[5:40 – 6:30] How might you notice that your session has been stolen? Watch for these signs. Being signed out unexpectedly from email or apps for no clear reason. 'New sign-in' alerts from a location or device you don't recognise. Emails in your sent folder that you didn't send, or new inbox rules forwarding your mail. An MFA prompt right after logging in through a link in an email, which can mean you've just used a fake login page. Someone asking you to enter a code to 'verify your account'. And unknown apps or browser extensions connected to your account. If you notice any of these, report it to IT straight away.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 – 7:30] So how do you protect your session? Here are six habits. One: go direct, don't follow links. To sign in to an important service, use a bookmark or type the address yourself, rather than clicking a link in an email. Two: check the address bar before typing your password, every time. Three: use passkeys where they're offered. A passkey is tied to the real website, so a fake page can't use it. Four: never enter codes for other people. No real IT team or service will ever ask you to enter a code they send you. Five: avoid unknown browser extensions, and install only approved add-ons. And six: sign out on shared devices, and don't tick 'stay signed in' there.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[7:30 – 8:20] For our IT and security teams, here's the layered defence. First, phishing-resistant MFA: passkeys and FIDO2 security keys, which Microsoft reports block over 99 percent of identity-based attacks, because a fake page can't relay them. Second, device-bound sessions, using token protection so a stolen cookie fails when it's used on another device. Third, shorter sessions, with limited lifetimes and continuous access evaluation. Fourth, detect odd session use, such as a new location, a new device, or impossible travel. Fifth, EDR to stop infostealers at the source. And sixth, block risky sign-in flows, such as device code sign-in and unrestricted app consent where they aren't needed.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[8:20 – 9:10] If you think your session has been stolen, act fast. One: report it immediately to IT on [contact]. Minutes matter. Two: IT revokes all your sessions, signing you out everywhere so every stolen cookie stops working. Three: reset your password and re-register your MFA methods. Four: check your account for anything the attacker left behind, such as unknown inbox rules, connected apps or registered devices. And five: if malware is suspected, IT will scan or rebuild your device, because an infostealer would simply steal your new sessions too. Remember: a new password doesn't end a stolen session. Revoking it does.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[9:10 – 9:40] To wrap up: attackers no longer need your password if they can steal your wristband, your session cookie. MFA is still vital, but it protects the login, not the session. So protect the session too: go direct to login pages, check the address bar, use passkeys, never enter codes for others, and report anything odd straight away. Thank you. I'm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7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0B1F33"/>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41"/>
            <a:ext cx="10566400" cy="4424759"/>
          </a:xfrm>
          <a:prstGeom prst="rect">
            <a:avLst/>
          </a:prstGeom>
          <a:noFill/>
          <a:ln/>
        </p:spPr>
        <p:txBody>
          <a:bodyPr wrap="square" lIns="0" tIns="0" rIns="0" bIns="0" rtlCol="0" anchor="t"/>
          <a:lstStyle>
            <a:lvl1pPr marL="0" indent="0" algn="l">
              <a:lnSpc>
                <a:spcPct val="140000"/>
              </a:lnSpc>
              <a:buNone/>
              <a:defRPr lang="en-US" sz="1600" dirty="0">
                <a:solidFill>
                  <a:srgbClr val="0B1F33"/>
                </a:solidFill>
                <a:latin typeface="Calibri" pitchFamily="34" charset="0"/>
                <a:ea typeface="Calibri" pitchFamily="34" charset="-122"/>
                <a:cs typeface="Calibri"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0B1F33"/>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41"/>
            <a:ext cx="10566400" cy="4424759"/>
          </a:xfrm>
          <a:prstGeom prst="rect">
            <a:avLst/>
          </a:prstGeom>
          <a:noFill/>
          <a:ln/>
        </p:spPr>
        <p:txBody>
          <a:bodyPr wrap="square" lIns="0" tIns="0" rIns="0" bIns="0" rtlCol="0" anchor="t"/>
          <a:lstStyle>
            <a:lvl1pPr marL="0" indent="0" algn="l">
              <a:lnSpc>
                <a:spcPct val="140000"/>
              </a:lnSpc>
              <a:buNone/>
              <a:defRPr lang="en-US" sz="1600" dirty="0">
                <a:solidFill>
                  <a:srgbClr val="0B1F33"/>
                </a:solidFill>
                <a:latin typeface="Calibri" pitchFamily="34" charset="0"/>
                <a:ea typeface="Calibri" pitchFamily="34" charset="-122"/>
                <a:cs typeface="Calibri"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png"/><Relationship Id="rId7"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s>
</file>

<file path=ppt/slides/_rels/slide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1.png"/><Relationship Id="rId7"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33.png"/></Relationships>
</file>

<file path=ppt/slides/_rels/slide9.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1.png"/><Relationship Id="rId7"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 Id="rId9" Type="http://schemas.openxmlformats.org/officeDocument/2006/relationships/image" Target="../media/image39.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pic>
        <p:nvPicPr>
          <p:cNvPr id="2" name="Image 0" descr="ZNexora Tech logo"/>
          <p:cNvPicPr>
            <a:picLocks noChangeAspect="1"/>
          </p:cNvPicPr>
          <p:nvPr/>
        </p:nvPicPr>
        <p:blipFill>
          <a:blip r:embed="rId3"/>
          <a:srcRect l="-106" r="-106"/>
          <a:stretch/>
        </p:blipFill>
        <p:spPr>
          <a:xfrm>
            <a:off x="10414000" y="114300"/>
            <a:ext cx="1473200" cy="762000"/>
          </a:xfrm>
          <a:prstGeom prst="rect">
            <a:avLst/>
          </a:prstGeom>
        </p:spPr>
      </p:pic>
      <p:pic>
        <p:nvPicPr>
          <p:cNvPr id="3" name="Image 1" descr="rect"/>
          <p:cNvPicPr>
            <a:picLocks noChangeAspect="1"/>
          </p:cNvPicPr>
          <p:nvPr/>
        </p:nvPicPr>
        <p:blipFill>
          <a:blip r:embed="rId4"/>
          <a:srcRect/>
          <a:stretch/>
        </p:blipFill>
        <p:spPr>
          <a:xfrm>
            <a:off x="0" y="0"/>
            <a:ext cx="152400" cy="6858000"/>
          </a:xfrm>
          <a:prstGeom prst="rect">
            <a:avLst/>
          </a:prstGeom>
        </p:spPr>
      </p:pic>
      <p:pic>
        <p:nvPicPr>
          <p:cNvPr id="4" name="Image 2" descr="A hooded thief carrying away a browser cookie past an open padlock"/>
          <p:cNvPicPr>
            <a:picLocks noChangeAspect="1"/>
          </p:cNvPicPr>
          <p:nvPr/>
        </p:nvPicPr>
        <p:blipFill>
          <a:blip r:embed="rId5"/>
          <a:srcRect/>
          <a:stretch/>
        </p:blipFill>
        <p:spPr>
          <a:xfrm>
            <a:off x="7874000" y="1397000"/>
            <a:ext cx="3810000" cy="3810000"/>
          </a:xfrm>
          <a:prstGeom prst="rect">
            <a:avLst/>
          </a:prstGeom>
        </p:spPr>
      </p:pic>
      <p:sp>
        <p:nvSpPr>
          <p:cNvPr id="5" name="Text 0"/>
          <p:cNvSpPr/>
          <p:nvPr/>
        </p:nvSpPr>
        <p:spPr>
          <a:xfrm>
            <a:off x="812800" y="200163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00B7C3"/>
                </a:solidFill>
                <a:latin typeface="Calibri" pitchFamily="34" charset="0"/>
                <a:ea typeface="Calibri" pitchFamily="34" charset="-122"/>
                <a:cs typeface="Calibri" pitchFamily="34" charset="-120"/>
              </a:rPr>
              <a:t>ZNEXORA TECH | SECURITY AWARENESS</a:t>
            </a:r>
            <a:endParaRPr lang="en-US" sz="1400" dirty="0"/>
          </a:p>
        </p:txBody>
      </p:sp>
      <p:sp>
        <p:nvSpPr>
          <p:cNvPr id="6" name="Text 1"/>
          <p:cNvSpPr>
            <a:spLocks noGrp="1"/>
          </p:cNvSpPr>
          <p:nvPr>
            <p:ph type="title"/>
          </p:nvPr>
        </p:nvSpPr>
        <p:spPr>
          <a:xfrm>
            <a:off x="812800" y="2504480"/>
            <a:ext cx="7063740" cy="1412081"/>
          </a:xfrm>
          <a:prstGeom prst="rect">
            <a:avLst/>
          </a:prstGeom>
          <a:noFill/>
          <a:ln/>
        </p:spPr>
        <p:txBody>
          <a:bodyPr wrap="square" lIns="0" tIns="0" rIns="0" bIns="0" rtlCol="0" anchor="t">
            <a:normAutofit/>
          </a:bodyPr>
          <a:lstStyle/>
          <a:p>
            <a:pPr marL="0" indent="0" algn="l">
              <a:lnSpc>
                <a:spcPts val="5460"/>
              </a:lnSpc>
              <a:buNone/>
            </a:pPr>
            <a:r>
              <a:rPr lang="en-US" sz="5200" b="1" i="0" dirty="0">
                <a:solidFill>
                  <a:srgbClr val="FFFFFF"/>
                </a:solidFill>
                <a:latin typeface="Arial" pitchFamily="34" charset="0"/>
                <a:ea typeface="Arial" pitchFamily="34" charset="-122"/>
                <a:cs typeface="Arial" pitchFamily="34" charset="-120"/>
              </a:rPr>
              <a:t>Hacked Without a Password</a:t>
            </a:r>
            <a:endParaRPr lang="en-US" sz="5200" dirty="0"/>
          </a:p>
        </p:txBody>
      </p:sp>
      <p:sp>
        <p:nvSpPr>
          <p:cNvPr id="7" name="Text 2"/>
          <p:cNvSpPr/>
          <p:nvPr/>
        </p:nvSpPr>
        <p:spPr>
          <a:xfrm>
            <a:off x="812800" y="4145161"/>
            <a:ext cx="6540500" cy="7366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CADCFC"/>
                </a:solidFill>
                <a:latin typeface="Calibri" pitchFamily="34" charset="0"/>
                <a:ea typeface="Calibri" pitchFamily="34" charset="-122"/>
                <a:cs typeface="Calibri" pitchFamily="34" charset="-120"/>
              </a:rPr>
              <a:t>How attackers steal your session and skip both your password and MFA</a:t>
            </a:r>
            <a:endParaRPr lang="en-US" sz="2000" dirty="0"/>
          </a:p>
        </p:txBody>
      </p:sp>
      <p:sp>
        <p:nvSpPr>
          <p:cNvPr id="8" name="Text 3"/>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3C8"/>
                </a:solidFill>
                <a:latin typeface="Calibri" pitchFamily="34" charset="0"/>
                <a:ea typeface="Calibri" pitchFamily="34" charset="-122"/>
                <a:cs typeface="Calibri" pitchFamily="34" charset="-120"/>
              </a:rPr>
              <a:t>Presented by: </a:t>
            </a:r>
            <a:r>
              <a:rPr lang="en-US" sz="1200" b="1" dirty="0">
                <a:solidFill>
                  <a:srgbClr val="FFFFFF"/>
                </a:solidFill>
                <a:latin typeface="Calibri" pitchFamily="34" charset="0"/>
                <a:ea typeface="Calibri" pitchFamily="34" charset="-122"/>
                <a:cs typeface="Calibri" pitchFamily="34" charset="-120"/>
              </a:rPr>
              <a:t>ZNexora Tech</a:t>
            </a:r>
            <a:r>
              <a:rPr lang="en-US" sz="1200" dirty="0">
                <a:solidFill>
                  <a:srgbClr val="9FB3C8"/>
                </a:solidFill>
                <a:latin typeface="Calibri" pitchFamily="34" charset="0"/>
                <a:ea typeface="Calibri" pitchFamily="34" charset="-122"/>
                <a:cs typeface="Calibri" pitchFamily="34" charset="-120"/>
              </a:rPr>
              <a:t> · [Presenter]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pic>
        <p:nvPicPr>
          <p:cNvPr id="2" name="Image 0" descr="ZNexora Tech logo"/>
          <p:cNvPicPr>
            <a:picLocks noChangeAspect="1"/>
          </p:cNvPicPr>
          <p:nvPr/>
        </p:nvPicPr>
        <p:blipFill>
          <a:blip r:embed="rId3"/>
          <a:srcRect l="-106" r="-106"/>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78D4"/>
                </a:solidFill>
                <a:latin typeface="Calibri" pitchFamily="34" charset="0"/>
                <a:ea typeface="Calibri" pitchFamily="34" charset="-122"/>
                <a:cs typeface="Calibri" pitchFamily="34" charset="-120"/>
              </a:rPr>
              <a:t>01 · WHAT IS A SESSION?</a:t>
            </a:r>
            <a:endParaRPr lang="en-US" sz="1200" dirty="0"/>
          </a:p>
        </p:txBody>
      </p:sp>
      <p:sp>
        <p:nvSpPr>
          <p:cNvPr id="4" name="Text 1"/>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1F33"/>
                </a:solidFill>
                <a:latin typeface="Arial" pitchFamily="34" charset="0"/>
                <a:ea typeface="Arial" pitchFamily="34" charset="-122"/>
                <a:cs typeface="Arial" pitchFamily="34" charset="-120"/>
              </a:rPr>
              <a:t>Your session cookie is a festival wristband</a:t>
            </a:r>
            <a:endParaRPr lang="en-US" sz="3600" dirty="0"/>
          </a:p>
        </p:txBody>
      </p:sp>
      <p:sp>
        <p:nvSpPr>
          <p:cNvPr id="5" name="Shape 2"/>
          <p:cNvSpPr/>
          <p:nvPr/>
        </p:nvSpPr>
        <p:spPr>
          <a:xfrm>
            <a:off x="812800" y="1569641"/>
            <a:ext cx="3217267" cy="3090962"/>
          </a:xfrm>
          <a:prstGeom prst="roundRect">
            <a:avLst>
              <a:gd name="adj" fmla="val 3287"/>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6" name="Shape 3"/>
          <p:cNvSpPr/>
          <p:nvPr/>
        </p:nvSpPr>
        <p:spPr>
          <a:xfrm>
            <a:off x="812800" y="1569641"/>
            <a:ext cx="3217267" cy="3090962"/>
          </a:xfrm>
          <a:custGeom>
            <a:avLst/>
            <a:gdLst/>
            <a:ahLst/>
            <a:cxnLst/>
            <a:rect l="l" t="t" r="r" b="b"/>
            <a:pathLst>
              <a:path w="3217267" h="3090962">
                <a:moveTo>
                  <a:pt x="0" y="101600"/>
                </a:moveTo>
                <a:lnTo>
                  <a:pt x="0" y="101600"/>
                </a:lnTo>
                <a:arcTo wR="101600" hR="101600" stAng="10800000" swAng="5400000"/>
                <a:lnTo>
                  <a:pt x="3115667" y="0"/>
                </a:lnTo>
                <a:arcTo wR="101600" hR="101600" stAng="16200000" swAng="5400000"/>
                <a:lnTo>
                  <a:pt x="3217267" y="101600"/>
                </a:lnTo>
                <a:arcTo wR="101600" hR="50800" stAng="0" swAng="-5400000"/>
                <a:lnTo>
                  <a:pt x="101600" y="50800"/>
                </a:lnTo>
                <a:arcTo wR="101600" hR="50800" stAng="16200000" swAng="-5400000"/>
                <a:close/>
              </a:path>
            </a:pathLst>
          </a:custGeom>
          <a:solidFill>
            <a:srgbClr val="0078D4"/>
          </a:solidFill>
          <a:ln/>
        </p:spPr>
        <p:txBody>
          <a:bodyPr/>
          <a:lstStyle/>
          <a:p>
            <a:endParaRPr lang="en-JP"/>
          </a:p>
        </p:txBody>
      </p:sp>
      <p:sp>
        <p:nvSpPr>
          <p:cNvPr id="7" name="Shape 4"/>
          <p:cNvSpPr/>
          <p:nvPr/>
        </p:nvSpPr>
        <p:spPr>
          <a:xfrm>
            <a:off x="1041400" y="1874441"/>
            <a:ext cx="609600" cy="609600"/>
          </a:xfrm>
          <a:prstGeom prst="roundRect">
            <a:avLst>
              <a:gd name="adj" fmla="val 50000"/>
            </a:avLst>
          </a:prstGeom>
          <a:solidFill>
            <a:srgbClr val="EAF3FC"/>
          </a:solidFill>
          <a:ln/>
        </p:spPr>
        <p:txBody>
          <a:bodyPr/>
          <a:lstStyle/>
          <a:p>
            <a:endParaRPr lang="en-JP"/>
          </a:p>
        </p:txBody>
      </p:sp>
      <p:pic>
        <p:nvPicPr>
          <p:cNvPr id="8" name="Image 1" descr="ticket icon"/>
          <p:cNvPicPr>
            <a:picLocks noChangeAspect="1"/>
          </p:cNvPicPr>
          <p:nvPr/>
        </p:nvPicPr>
        <p:blipFill>
          <a:blip r:embed="rId4"/>
          <a:srcRect/>
          <a:stretch/>
        </p:blipFill>
        <p:spPr>
          <a:xfrm>
            <a:off x="1193800" y="2026841"/>
            <a:ext cx="304800" cy="304800"/>
          </a:xfrm>
          <a:prstGeom prst="rect">
            <a:avLst/>
          </a:prstGeom>
        </p:spPr>
      </p:pic>
      <p:sp>
        <p:nvSpPr>
          <p:cNvPr id="9" name="Text 5"/>
          <p:cNvSpPr/>
          <p:nvPr/>
        </p:nvSpPr>
        <p:spPr>
          <a:xfrm>
            <a:off x="1041400" y="2611041"/>
            <a:ext cx="2842869"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1F33"/>
                </a:solidFill>
                <a:latin typeface="Arial" pitchFamily="34" charset="0"/>
                <a:ea typeface="Arial" pitchFamily="34" charset="-122"/>
                <a:cs typeface="Arial" pitchFamily="34" charset="-120"/>
              </a:rPr>
              <a:t>1. Show your ticket</a:t>
            </a:r>
            <a:endParaRPr lang="en-US" sz="2000" dirty="0"/>
          </a:p>
        </p:txBody>
      </p:sp>
      <p:sp>
        <p:nvSpPr>
          <p:cNvPr id="10" name="Text 6"/>
          <p:cNvSpPr/>
          <p:nvPr/>
        </p:nvSpPr>
        <p:spPr>
          <a:xfrm>
            <a:off x="1041400" y="3042841"/>
            <a:ext cx="2842869"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B"/>
                </a:solidFill>
                <a:latin typeface="Calibri" pitchFamily="34" charset="0"/>
                <a:ea typeface="Calibri" pitchFamily="34" charset="-122"/>
                <a:cs typeface="Calibri" pitchFamily="34" charset="-120"/>
              </a:rPr>
              <a:t>Password + MFA at the gate</a:t>
            </a:r>
            <a:endParaRPr lang="en-US" sz="1400" dirty="0"/>
          </a:p>
        </p:txBody>
      </p:sp>
      <p:sp>
        <p:nvSpPr>
          <p:cNvPr id="11" name="Text 7"/>
          <p:cNvSpPr/>
          <p:nvPr/>
        </p:nvSpPr>
        <p:spPr>
          <a:xfrm>
            <a:off x="1041400" y="3418681"/>
            <a:ext cx="2760067" cy="434280"/>
          </a:xfrm>
          <a:prstGeom prst="roundRect">
            <a:avLst>
              <a:gd name="adj" fmla="val 17546"/>
            </a:avLst>
          </a:prstGeom>
          <a:solidFill>
            <a:srgbClr val="EAF3FC"/>
          </a:solidFill>
          <a:ln/>
        </p:spPr>
        <p:txBody>
          <a:bodyPr wrap="square" lIns="104682" tIns="79282" rIns="29500" bIns="53882" rtlCol="0" anchor="t">
            <a:normAutofit/>
          </a:bodyPr>
          <a:lstStyle/>
          <a:p>
            <a:pPr marL="0" indent="0" algn="l">
              <a:lnSpc>
                <a:spcPts val="1820"/>
              </a:lnSpc>
              <a:buNone/>
            </a:pPr>
            <a:r>
              <a:rPr lang="en-US" sz="1300" b="1" dirty="0">
                <a:solidFill>
                  <a:srgbClr val="0078D4"/>
                </a:solidFill>
                <a:latin typeface="Calibri" pitchFamily="34" charset="0"/>
                <a:ea typeface="Calibri" pitchFamily="34" charset="-122"/>
                <a:cs typeface="Calibri" pitchFamily="34" charset="-120"/>
              </a:rPr>
              <a:t>In IT terms: Your login</a:t>
            </a:r>
            <a:endParaRPr lang="en-US" sz="1300" dirty="0"/>
          </a:p>
        </p:txBody>
      </p:sp>
      <p:pic>
        <p:nvPicPr>
          <p:cNvPr id="12" name="Image 2" descr="arrow-right"/>
          <p:cNvPicPr>
            <a:picLocks noChangeAspect="1"/>
          </p:cNvPicPr>
          <p:nvPr/>
        </p:nvPicPr>
        <p:blipFill>
          <a:blip r:embed="rId5"/>
          <a:srcRect/>
          <a:stretch/>
        </p:blipFill>
        <p:spPr>
          <a:xfrm>
            <a:off x="4131667" y="3000772"/>
            <a:ext cx="254000" cy="228600"/>
          </a:xfrm>
          <a:prstGeom prst="rect">
            <a:avLst/>
          </a:prstGeom>
        </p:spPr>
      </p:pic>
      <p:sp>
        <p:nvSpPr>
          <p:cNvPr id="13" name="Shape 8"/>
          <p:cNvSpPr/>
          <p:nvPr/>
        </p:nvSpPr>
        <p:spPr>
          <a:xfrm>
            <a:off x="4487267" y="1569641"/>
            <a:ext cx="3217366" cy="3090962"/>
          </a:xfrm>
          <a:prstGeom prst="roundRect">
            <a:avLst>
              <a:gd name="adj" fmla="val 3287"/>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14" name="Shape 9"/>
          <p:cNvSpPr/>
          <p:nvPr/>
        </p:nvSpPr>
        <p:spPr>
          <a:xfrm>
            <a:off x="4487267" y="1569641"/>
            <a:ext cx="3217366" cy="3090962"/>
          </a:xfrm>
          <a:custGeom>
            <a:avLst/>
            <a:gdLst/>
            <a:ahLst/>
            <a:cxnLst/>
            <a:rect l="l" t="t" r="r" b="b"/>
            <a:pathLst>
              <a:path w="3217366" h="3090962">
                <a:moveTo>
                  <a:pt x="0" y="101600"/>
                </a:moveTo>
                <a:lnTo>
                  <a:pt x="0" y="101600"/>
                </a:lnTo>
                <a:arcTo wR="101600" hR="101600" stAng="10800000" swAng="5400000"/>
                <a:lnTo>
                  <a:pt x="3115766" y="0"/>
                </a:lnTo>
                <a:arcTo wR="101600" hR="101600" stAng="16200000" swAng="5400000"/>
                <a:lnTo>
                  <a:pt x="3217366" y="101600"/>
                </a:lnTo>
                <a:arcTo wR="101600" hR="50800" stAng="0" swAng="-5400000"/>
                <a:lnTo>
                  <a:pt x="101600" y="50800"/>
                </a:lnTo>
                <a:arcTo wR="101600" hR="50800" stAng="16200000" swAng="-5400000"/>
                <a:close/>
              </a:path>
            </a:pathLst>
          </a:custGeom>
          <a:solidFill>
            <a:srgbClr val="00B7C3"/>
          </a:solidFill>
          <a:ln/>
        </p:spPr>
        <p:txBody>
          <a:bodyPr/>
          <a:lstStyle/>
          <a:p>
            <a:endParaRPr lang="en-JP"/>
          </a:p>
        </p:txBody>
      </p:sp>
      <p:sp>
        <p:nvSpPr>
          <p:cNvPr id="15" name="Shape 10"/>
          <p:cNvSpPr/>
          <p:nvPr/>
        </p:nvSpPr>
        <p:spPr>
          <a:xfrm>
            <a:off x="4715867" y="1874441"/>
            <a:ext cx="609600" cy="609600"/>
          </a:xfrm>
          <a:prstGeom prst="roundRect">
            <a:avLst>
              <a:gd name="adj" fmla="val 50000"/>
            </a:avLst>
          </a:prstGeom>
          <a:solidFill>
            <a:srgbClr val="EAF3FC"/>
          </a:solidFill>
          <a:ln/>
        </p:spPr>
        <p:txBody>
          <a:bodyPr/>
          <a:lstStyle/>
          <a:p>
            <a:endParaRPr lang="en-JP"/>
          </a:p>
        </p:txBody>
      </p:sp>
      <p:pic>
        <p:nvPicPr>
          <p:cNvPr id="16" name="Image 3" descr="band icon"/>
          <p:cNvPicPr>
            <a:picLocks noChangeAspect="1"/>
          </p:cNvPicPr>
          <p:nvPr/>
        </p:nvPicPr>
        <p:blipFill>
          <a:blip r:embed="rId6"/>
          <a:srcRect/>
          <a:stretch/>
        </p:blipFill>
        <p:spPr>
          <a:xfrm>
            <a:off x="4868267" y="2026841"/>
            <a:ext cx="304800" cy="304800"/>
          </a:xfrm>
          <a:prstGeom prst="rect">
            <a:avLst/>
          </a:prstGeom>
        </p:spPr>
      </p:pic>
      <p:sp>
        <p:nvSpPr>
          <p:cNvPr id="17" name="Text 11"/>
          <p:cNvSpPr/>
          <p:nvPr/>
        </p:nvSpPr>
        <p:spPr>
          <a:xfrm>
            <a:off x="4715867" y="2611041"/>
            <a:ext cx="2842971"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1F33"/>
                </a:solidFill>
                <a:latin typeface="Arial" pitchFamily="34" charset="0"/>
                <a:ea typeface="Arial" pitchFamily="34" charset="-122"/>
                <a:cs typeface="Arial" pitchFamily="34" charset="-120"/>
              </a:rPr>
              <a:t>2. Get a wristband</a:t>
            </a:r>
            <a:endParaRPr lang="en-US" sz="2000" dirty="0"/>
          </a:p>
        </p:txBody>
      </p:sp>
      <p:sp>
        <p:nvSpPr>
          <p:cNvPr id="18" name="Text 12"/>
          <p:cNvSpPr/>
          <p:nvPr/>
        </p:nvSpPr>
        <p:spPr>
          <a:xfrm>
            <a:off x="4715867" y="3042841"/>
            <a:ext cx="2842971"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B"/>
                </a:solidFill>
                <a:latin typeface="Calibri" pitchFamily="34" charset="0"/>
                <a:ea typeface="Calibri" pitchFamily="34" charset="-122"/>
                <a:cs typeface="Calibri" pitchFamily="34" charset="-120"/>
              </a:rPr>
              <a:t>Staff now check the band, not the ticket</a:t>
            </a:r>
            <a:endParaRPr lang="en-US" sz="1400" dirty="0"/>
          </a:p>
        </p:txBody>
      </p:sp>
      <p:sp>
        <p:nvSpPr>
          <p:cNvPr id="19" name="Text 13"/>
          <p:cNvSpPr/>
          <p:nvPr/>
        </p:nvSpPr>
        <p:spPr>
          <a:xfrm>
            <a:off x="4715867" y="3667522"/>
            <a:ext cx="2760166" cy="665361"/>
          </a:xfrm>
          <a:prstGeom prst="roundRect">
            <a:avLst>
              <a:gd name="adj" fmla="val 11452"/>
            </a:avLst>
          </a:prstGeom>
          <a:solidFill>
            <a:srgbClr val="EAF3FC"/>
          </a:solidFill>
          <a:ln/>
        </p:spPr>
        <p:txBody>
          <a:bodyPr wrap="square" lIns="104682" tIns="79282" rIns="29497" bIns="53882" rtlCol="0" anchor="t">
            <a:normAutofit/>
          </a:bodyPr>
          <a:lstStyle/>
          <a:p>
            <a:pPr marL="0" indent="0" algn="l">
              <a:lnSpc>
                <a:spcPts val="1820"/>
              </a:lnSpc>
              <a:buNone/>
            </a:pPr>
            <a:r>
              <a:rPr lang="en-US" sz="1300" b="1" dirty="0">
                <a:solidFill>
                  <a:srgbClr val="007C85"/>
                </a:solidFill>
                <a:latin typeface="Calibri" pitchFamily="34" charset="0"/>
                <a:ea typeface="Calibri" pitchFamily="34" charset="-122"/>
                <a:cs typeface="Calibri" pitchFamily="34" charset="-120"/>
              </a:rPr>
              <a:t>In IT terms: Your session cookie</a:t>
            </a:r>
            <a:endParaRPr lang="en-US" sz="1300" dirty="0"/>
          </a:p>
        </p:txBody>
      </p:sp>
      <p:pic>
        <p:nvPicPr>
          <p:cNvPr id="20" name="Image 4" descr="arrow-right"/>
          <p:cNvPicPr>
            <a:picLocks noChangeAspect="1"/>
          </p:cNvPicPr>
          <p:nvPr/>
        </p:nvPicPr>
        <p:blipFill>
          <a:blip r:embed="rId5"/>
          <a:srcRect/>
          <a:stretch/>
        </p:blipFill>
        <p:spPr>
          <a:xfrm>
            <a:off x="7806234" y="3000772"/>
            <a:ext cx="254000" cy="228600"/>
          </a:xfrm>
          <a:prstGeom prst="rect">
            <a:avLst/>
          </a:prstGeom>
        </p:spPr>
      </p:pic>
      <p:sp>
        <p:nvSpPr>
          <p:cNvPr id="21" name="Shape 14"/>
          <p:cNvSpPr/>
          <p:nvPr/>
        </p:nvSpPr>
        <p:spPr>
          <a:xfrm>
            <a:off x="8161834" y="1569641"/>
            <a:ext cx="3217366" cy="3090962"/>
          </a:xfrm>
          <a:prstGeom prst="roundRect">
            <a:avLst>
              <a:gd name="adj" fmla="val 3287"/>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22" name="Shape 15"/>
          <p:cNvSpPr/>
          <p:nvPr/>
        </p:nvSpPr>
        <p:spPr>
          <a:xfrm>
            <a:off x="8161834" y="1569641"/>
            <a:ext cx="3217366" cy="3090962"/>
          </a:xfrm>
          <a:custGeom>
            <a:avLst/>
            <a:gdLst/>
            <a:ahLst/>
            <a:cxnLst/>
            <a:rect l="l" t="t" r="r" b="b"/>
            <a:pathLst>
              <a:path w="3217366" h="3090962">
                <a:moveTo>
                  <a:pt x="0" y="101600"/>
                </a:moveTo>
                <a:lnTo>
                  <a:pt x="0" y="101600"/>
                </a:lnTo>
                <a:arcTo wR="101600" hR="101600" stAng="10800000" swAng="5400000"/>
                <a:lnTo>
                  <a:pt x="3115766" y="0"/>
                </a:lnTo>
                <a:arcTo wR="101600" hR="101600" stAng="16200000" swAng="5400000"/>
                <a:lnTo>
                  <a:pt x="3217366" y="101600"/>
                </a:lnTo>
                <a:arcTo wR="101600" hR="50800" stAng="0" swAng="-5400000"/>
                <a:lnTo>
                  <a:pt x="101600" y="50800"/>
                </a:lnTo>
                <a:arcTo wR="101600" hR="50800" stAng="16200000" swAng="-5400000"/>
                <a:close/>
              </a:path>
            </a:pathLst>
          </a:custGeom>
          <a:solidFill>
            <a:srgbClr val="F7630C"/>
          </a:solidFill>
          <a:ln/>
        </p:spPr>
        <p:txBody>
          <a:bodyPr/>
          <a:lstStyle/>
          <a:p>
            <a:endParaRPr lang="en-JP"/>
          </a:p>
        </p:txBody>
      </p:sp>
      <p:sp>
        <p:nvSpPr>
          <p:cNvPr id="23" name="Shape 16"/>
          <p:cNvSpPr/>
          <p:nvPr/>
        </p:nvSpPr>
        <p:spPr>
          <a:xfrm>
            <a:off x="8390434" y="1874441"/>
            <a:ext cx="609600" cy="609600"/>
          </a:xfrm>
          <a:prstGeom prst="roundRect">
            <a:avLst>
              <a:gd name="adj" fmla="val 50000"/>
            </a:avLst>
          </a:prstGeom>
          <a:solidFill>
            <a:srgbClr val="FDEBDD"/>
          </a:solidFill>
          <a:ln/>
        </p:spPr>
        <p:txBody>
          <a:bodyPr/>
          <a:lstStyle/>
          <a:p>
            <a:endParaRPr lang="en-JP"/>
          </a:p>
        </p:txBody>
      </p:sp>
      <p:pic>
        <p:nvPicPr>
          <p:cNvPr id="24" name="Image 5" descr="skull icon"/>
          <p:cNvPicPr>
            <a:picLocks noChangeAspect="1"/>
          </p:cNvPicPr>
          <p:nvPr/>
        </p:nvPicPr>
        <p:blipFill>
          <a:blip r:embed="rId7"/>
          <a:srcRect/>
          <a:stretch/>
        </p:blipFill>
        <p:spPr>
          <a:xfrm>
            <a:off x="8542834" y="2026841"/>
            <a:ext cx="304800" cy="304800"/>
          </a:xfrm>
          <a:prstGeom prst="rect">
            <a:avLst/>
          </a:prstGeom>
        </p:spPr>
      </p:pic>
      <p:sp>
        <p:nvSpPr>
          <p:cNvPr id="25" name="Text 17"/>
          <p:cNvSpPr/>
          <p:nvPr/>
        </p:nvSpPr>
        <p:spPr>
          <a:xfrm>
            <a:off x="8390434" y="2611041"/>
            <a:ext cx="2842971"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1F33"/>
                </a:solidFill>
                <a:latin typeface="Arial" pitchFamily="34" charset="0"/>
                <a:ea typeface="Arial" pitchFamily="34" charset="-122"/>
                <a:cs typeface="Arial" pitchFamily="34" charset="-120"/>
              </a:rPr>
              <a:t>3. Someone steals the band</a:t>
            </a:r>
            <a:endParaRPr lang="en-US" sz="2000" dirty="0"/>
          </a:p>
        </p:txBody>
      </p:sp>
      <p:sp>
        <p:nvSpPr>
          <p:cNvPr id="26" name="Text 18"/>
          <p:cNvSpPr/>
          <p:nvPr/>
        </p:nvSpPr>
        <p:spPr>
          <a:xfrm>
            <a:off x="8390434" y="3347641"/>
            <a:ext cx="2842971"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B"/>
                </a:solidFill>
                <a:latin typeface="Calibri" pitchFamily="34" charset="0"/>
                <a:ea typeface="Calibri" pitchFamily="34" charset="-122"/>
                <a:cs typeface="Calibri" pitchFamily="34" charset="-120"/>
              </a:rPr>
              <a:t>They walk in as you, no ticket needed</a:t>
            </a:r>
            <a:endParaRPr lang="en-US" sz="1400" dirty="0"/>
          </a:p>
        </p:txBody>
      </p:sp>
      <p:sp>
        <p:nvSpPr>
          <p:cNvPr id="27" name="Text 19"/>
          <p:cNvSpPr/>
          <p:nvPr/>
        </p:nvSpPr>
        <p:spPr>
          <a:xfrm>
            <a:off x="8390434" y="3972322"/>
            <a:ext cx="2760166" cy="434280"/>
          </a:xfrm>
          <a:prstGeom prst="roundRect">
            <a:avLst>
              <a:gd name="adj" fmla="val 17546"/>
            </a:avLst>
          </a:prstGeom>
          <a:solidFill>
            <a:srgbClr val="FDEBDD"/>
          </a:solidFill>
          <a:ln/>
        </p:spPr>
        <p:txBody>
          <a:bodyPr wrap="square" lIns="104682" tIns="79282" rIns="29497" bIns="53882" rtlCol="0" anchor="t">
            <a:normAutofit/>
          </a:bodyPr>
          <a:lstStyle/>
          <a:p>
            <a:pPr marL="0" indent="0" algn="l">
              <a:lnSpc>
                <a:spcPts val="1820"/>
              </a:lnSpc>
              <a:buNone/>
            </a:pPr>
            <a:r>
              <a:rPr lang="en-US" sz="1300" b="1" dirty="0">
                <a:solidFill>
                  <a:srgbClr val="F7630C"/>
                </a:solidFill>
                <a:latin typeface="Calibri" pitchFamily="34" charset="0"/>
                <a:ea typeface="Calibri" pitchFamily="34" charset="-122"/>
                <a:cs typeface="Calibri" pitchFamily="34" charset="-120"/>
              </a:rPr>
              <a:t>In IT terms: Session hijacking</a:t>
            </a:r>
            <a:endParaRPr lang="en-US" sz="1300" dirty="0"/>
          </a:p>
        </p:txBody>
      </p:sp>
      <p:sp>
        <p:nvSpPr>
          <p:cNvPr id="28" name="Text 20"/>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B"/>
                </a:solidFill>
                <a:latin typeface="Calibri" pitchFamily="34" charset="0"/>
                <a:ea typeface="Calibri" pitchFamily="34" charset="-122"/>
                <a:cs typeface="Calibri" pitchFamily="34" charset="-120"/>
              </a:rPr>
              <a:t>A simple way to understand session hijacking</a:t>
            </a:r>
            <a:endParaRPr lang="en-US" sz="1200" dirty="0"/>
          </a:p>
        </p:txBody>
      </p:sp>
      <p:sp>
        <p:nvSpPr>
          <p:cNvPr id="29" name="Text 21"/>
          <p:cNvSpPr/>
          <p:nvPr/>
        </p:nvSpPr>
        <p:spPr>
          <a:xfrm>
            <a:off x="9855200" y="6238280"/>
            <a:ext cx="15240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A6B"/>
                </a:solidFill>
                <a:latin typeface="Calibri" pitchFamily="34" charset="0"/>
                <a:ea typeface="Calibri" pitchFamily="34" charset="-122"/>
                <a:cs typeface="Calibri" pitchFamily="34" charset="-120"/>
              </a:rPr>
              <a:t>ZNexora Tech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pic>
        <p:nvPicPr>
          <p:cNvPr id="2" name="Image 0" descr="ZNexora Tech logo"/>
          <p:cNvPicPr>
            <a:picLocks noChangeAspect="1"/>
          </p:cNvPicPr>
          <p:nvPr/>
        </p:nvPicPr>
        <p:blipFill>
          <a:blip r:embed="rId3"/>
          <a:srcRect l="-106" r="-106"/>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B7C3"/>
                </a:solidFill>
                <a:latin typeface="Calibri" pitchFamily="34" charset="0"/>
                <a:ea typeface="Calibri" pitchFamily="34" charset="-122"/>
                <a:cs typeface="Calibri" pitchFamily="34" charset="-120"/>
              </a:rPr>
              <a:t>02 · WHY IT MATTERS</a:t>
            </a:r>
            <a:endParaRPr lang="en-US" sz="1200" dirty="0"/>
          </a:p>
        </p:txBody>
      </p:sp>
      <p:sp>
        <p:nvSpPr>
          <p:cNvPr id="4" name="Text 1"/>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FFFFF"/>
                </a:solidFill>
                <a:latin typeface="Arial" pitchFamily="34" charset="0"/>
                <a:ea typeface="Arial" pitchFamily="34" charset="-122"/>
                <a:cs typeface="Arial" pitchFamily="34" charset="-120"/>
              </a:rPr>
              <a:t>MFA protects the login, not the session</a:t>
            </a:r>
            <a:endParaRPr lang="en-US" sz="3600" dirty="0"/>
          </a:p>
        </p:txBody>
      </p:sp>
      <p:sp>
        <p:nvSpPr>
          <p:cNvPr id="5" name="Shape 2"/>
          <p:cNvSpPr/>
          <p:nvPr/>
        </p:nvSpPr>
        <p:spPr>
          <a:xfrm>
            <a:off x="812800" y="1569641"/>
            <a:ext cx="3403600" cy="2048470"/>
          </a:xfrm>
          <a:prstGeom prst="roundRect">
            <a:avLst>
              <a:gd name="adj" fmla="val 6200"/>
            </a:avLst>
          </a:prstGeom>
          <a:solidFill>
            <a:srgbClr val="13294B"/>
          </a:solidFill>
          <a:ln/>
        </p:spPr>
        <p:txBody>
          <a:bodyPr/>
          <a:lstStyle/>
          <a:p>
            <a:endParaRPr lang="en-JP"/>
          </a:p>
        </p:txBody>
      </p:sp>
      <p:sp>
        <p:nvSpPr>
          <p:cNvPr id="6" name="Text 3"/>
          <p:cNvSpPr/>
          <p:nvPr/>
        </p:nvSpPr>
        <p:spPr>
          <a:xfrm>
            <a:off x="1066800" y="1849041"/>
            <a:ext cx="2982468" cy="584200"/>
          </a:xfrm>
          <a:prstGeom prst="rect">
            <a:avLst/>
          </a:prstGeom>
          <a:noFill/>
          <a:ln/>
        </p:spPr>
        <p:txBody>
          <a:bodyPr wrap="square" lIns="0" tIns="0" rIns="0" bIns="0" rtlCol="0" anchor="t">
            <a:normAutofit/>
          </a:bodyPr>
          <a:lstStyle/>
          <a:p>
            <a:pPr marL="0" indent="0" algn="l">
              <a:lnSpc>
                <a:spcPts val="4400"/>
              </a:lnSpc>
              <a:buNone/>
            </a:pPr>
            <a:r>
              <a:rPr lang="en-US" sz="4400" b="1" dirty="0">
                <a:solidFill>
                  <a:srgbClr val="FF9A5C"/>
                </a:solidFill>
                <a:latin typeface="Arial" pitchFamily="34" charset="0"/>
                <a:ea typeface="Arial" pitchFamily="34" charset="-122"/>
                <a:cs typeface="Arial" pitchFamily="34" charset="-120"/>
              </a:rPr>
              <a:t>8.6B</a:t>
            </a:r>
            <a:endParaRPr lang="en-US" sz="4400" dirty="0"/>
          </a:p>
        </p:txBody>
      </p:sp>
      <p:sp>
        <p:nvSpPr>
          <p:cNvPr id="7" name="Text 4"/>
          <p:cNvSpPr/>
          <p:nvPr/>
        </p:nvSpPr>
        <p:spPr>
          <a:xfrm>
            <a:off x="1066800" y="2509441"/>
            <a:ext cx="2982468"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CADCFC"/>
                </a:solidFill>
                <a:latin typeface="Calibri" pitchFamily="34" charset="0"/>
                <a:ea typeface="Calibri" pitchFamily="34" charset="-122"/>
                <a:cs typeface="Calibri" pitchFamily="34" charset="-120"/>
              </a:rPr>
              <a:t>stolen session cookies found in criminal data in a single year</a:t>
            </a:r>
            <a:endParaRPr lang="en-US" sz="1500" dirty="0"/>
          </a:p>
        </p:txBody>
      </p:sp>
      <p:sp>
        <p:nvSpPr>
          <p:cNvPr id="8" name="Text 5"/>
          <p:cNvSpPr/>
          <p:nvPr/>
        </p:nvSpPr>
        <p:spPr>
          <a:xfrm>
            <a:off x="1066800" y="3125391"/>
            <a:ext cx="298246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0B7C3"/>
                </a:solidFill>
                <a:latin typeface="Calibri" pitchFamily="34" charset="0"/>
                <a:ea typeface="Calibri" pitchFamily="34" charset="-122"/>
                <a:cs typeface="Calibri" pitchFamily="34" charset="-120"/>
              </a:rPr>
              <a:t>SpyCloud 2025</a:t>
            </a:r>
            <a:endParaRPr lang="en-US" sz="1200" dirty="0"/>
          </a:p>
        </p:txBody>
      </p:sp>
      <p:sp>
        <p:nvSpPr>
          <p:cNvPr id="9" name="Shape 6"/>
          <p:cNvSpPr/>
          <p:nvPr/>
        </p:nvSpPr>
        <p:spPr>
          <a:xfrm>
            <a:off x="4394200" y="1569641"/>
            <a:ext cx="3403600" cy="2048470"/>
          </a:xfrm>
          <a:prstGeom prst="roundRect">
            <a:avLst>
              <a:gd name="adj" fmla="val 6200"/>
            </a:avLst>
          </a:prstGeom>
          <a:solidFill>
            <a:srgbClr val="13294B"/>
          </a:solidFill>
          <a:ln/>
        </p:spPr>
        <p:txBody>
          <a:bodyPr/>
          <a:lstStyle/>
          <a:p>
            <a:endParaRPr lang="en-JP"/>
          </a:p>
        </p:txBody>
      </p:sp>
      <p:sp>
        <p:nvSpPr>
          <p:cNvPr id="10" name="Text 7"/>
          <p:cNvSpPr/>
          <p:nvPr/>
        </p:nvSpPr>
        <p:spPr>
          <a:xfrm>
            <a:off x="4648200" y="1849041"/>
            <a:ext cx="2982468" cy="584200"/>
          </a:xfrm>
          <a:prstGeom prst="rect">
            <a:avLst/>
          </a:prstGeom>
          <a:noFill/>
          <a:ln/>
        </p:spPr>
        <p:txBody>
          <a:bodyPr wrap="square" lIns="0" tIns="0" rIns="0" bIns="0" rtlCol="0" anchor="t">
            <a:normAutofit/>
          </a:bodyPr>
          <a:lstStyle/>
          <a:p>
            <a:pPr marL="0" indent="0" algn="l">
              <a:lnSpc>
                <a:spcPts val="4400"/>
              </a:lnSpc>
              <a:buNone/>
            </a:pPr>
            <a:r>
              <a:rPr lang="en-US" sz="4400" b="1" dirty="0">
                <a:solidFill>
                  <a:srgbClr val="FFFFFF"/>
                </a:solidFill>
                <a:latin typeface="Arial" pitchFamily="34" charset="0"/>
                <a:ea typeface="Arial" pitchFamily="34" charset="-122"/>
                <a:cs typeface="Arial" pitchFamily="34" charset="-120"/>
              </a:rPr>
              <a:t>59%</a:t>
            </a:r>
            <a:endParaRPr lang="en-US" sz="4400" dirty="0"/>
          </a:p>
        </p:txBody>
      </p:sp>
      <p:sp>
        <p:nvSpPr>
          <p:cNvPr id="11" name="Text 8"/>
          <p:cNvSpPr/>
          <p:nvPr/>
        </p:nvSpPr>
        <p:spPr>
          <a:xfrm>
            <a:off x="4648200" y="2509441"/>
            <a:ext cx="2982468"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CADCFC"/>
                </a:solidFill>
                <a:latin typeface="Calibri" pitchFamily="34" charset="0"/>
                <a:ea typeface="Calibri" pitchFamily="34" charset="-122"/>
                <a:cs typeface="Calibri" pitchFamily="34" charset="-120"/>
              </a:rPr>
              <a:t>of taken-over accounts had MFA switched on</a:t>
            </a:r>
            <a:endParaRPr lang="en-US" sz="1500" dirty="0"/>
          </a:p>
        </p:txBody>
      </p:sp>
      <p:sp>
        <p:nvSpPr>
          <p:cNvPr id="12" name="Text 9"/>
          <p:cNvSpPr/>
          <p:nvPr/>
        </p:nvSpPr>
        <p:spPr>
          <a:xfrm>
            <a:off x="4648200" y="3125391"/>
            <a:ext cx="298246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0B7C3"/>
                </a:solidFill>
                <a:latin typeface="Calibri" pitchFamily="34" charset="0"/>
                <a:ea typeface="Calibri" pitchFamily="34" charset="-122"/>
                <a:cs typeface="Calibri" pitchFamily="34" charset="-120"/>
              </a:rPr>
              <a:t>Proofpoint</a:t>
            </a:r>
            <a:endParaRPr lang="en-US" sz="1200" dirty="0"/>
          </a:p>
        </p:txBody>
      </p:sp>
      <p:sp>
        <p:nvSpPr>
          <p:cNvPr id="13" name="Shape 10"/>
          <p:cNvSpPr/>
          <p:nvPr/>
        </p:nvSpPr>
        <p:spPr>
          <a:xfrm>
            <a:off x="7975600" y="1569641"/>
            <a:ext cx="3403600" cy="2048470"/>
          </a:xfrm>
          <a:prstGeom prst="roundRect">
            <a:avLst>
              <a:gd name="adj" fmla="val 6200"/>
            </a:avLst>
          </a:prstGeom>
          <a:solidFill>
            <a:srgbClr val="13294B"/>
          </a:solidFill>
          <a:ln/>
        </p:spPr>
        <p:txBody>
          <a:bodyPr/>
          <a:lstStyle/>
          <a:p>
            <a:endParaRPr lang="en-JP"/>
          </a:p>
        </p:txBody>
      </p:sp>
      <p:sp>
        <p:nvSpPr>
          <p:cNvPr id="14" name="Text 11"/>
          <p:cNvSpPr/>
          <p:nvPr/>
        </p:nvSpPr>
        <p:spPr>
          <a:xfrm>
            <a:off x="8229600" y="1849041"/>
            <a:ext cx="2982468" cy="584200"/>
          </a:xfrm>
          <a:prstGeom prst="rect">
            <a:avLst/>
          </a:prstGeom>
          <a:noFill/>
          <a:ln/>
        </p:spPr>
        <p:txBody>
          <a:bodyPr wrap="square" lIns="0" tIns="0" rIns="0" bIns="0" rtlCol="0" anchor="t">
            <a:normAutofit/>
          </a:bodyPr>
          <a:lstStyle/>
          <a:p>
            <a:pPr marL="0" indent="0" algn="l">
              <a:lnSpc>
                <a:spcPts val="4400"/>
              </a:lnSpc>
              <a:buNone/>
            </a:pPr>
            <a:r>
              <a:rPr lang="en-US" sz="4400" b="1" dirty="0">
                <a:solidFill>
                  <a:srgbClr val="FFFFFF"/>
                </a:solidFill>
                <a:latin typeface="Arial" pitchFamily="34" charset="0"/>
                <a:ea typeface="Arial" pitchFamily="34" charset="-122"/>
                <a:cs typeface="Arial" pitchFamily="34" charset="-120"/>
              </a:rPr>
              <a:t>+146%</a:t>
            </a:r>
            <a:endParaRPr lang="en-US" sz="4400" dirty="0"/>
          </a:p>
        </p:txBody>
      </p:sp>
      <p:sp>
        <p:nvSpPr>
          <p:cNvPr id="15" name="Text 12"/>
          <p:cNvSpPr/>
          <p:nvPr/>
        </p:nvSpPr>
        <p:spPr>
          <a:xfrm>
            <a:off x="8229600" y="2509441"/>
            <a:ext cx="2982468"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CADCFC"/>
                </a:solidFill>
                <a:latin typeface="Calibri" pitchFamily="34" charset="0"/>
                <a:ea typeface="Calibri" pitchFamily="34" charset="-122"/>
                <a:cs typeface="Calibri" pitchFamily="34" charset="-120"/>
              </a:rPr>
              <a:t>rise in adversary-in-the-middle phishing in one year</a:t>
            </a:r>
            <a:endParaRPr lang="en-US" sz="1500" dirty="0"/>
          </a:p>
        </p:txBody>
      </p:sp>
      <p:sp>
        <p:nvSpPr>
          <p:cNvPr id="16" name="Text 13"/>
          <p:cNvSpPr/>
          <p:nvPr/>
        </p:nvSpPr>
        <p:spPr>
          <a:xfrm>
            <a:off x="8229600" y="3125391"/>
            <a:ext cx="298246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0B7C3"/>
                </a:solidFill>
                <a:latin typeface="Calibri" pitchFamily="34" charset="0"/>
                <a:ea typeface="Calibri" pitchFamily="34" charset="-122"/>
                <a:cs typeface="Calibri" pitchFamily="34" charset="-120"/>
              </a:rPr>
              <a:t>Obsidian Security</a:t>
            </a:r>
            <a:endParaRPr lang="en-US" sz="1200" dirty="0"/>
          </a:p>
        </p:txBody>
      </p:sp>
      <p:sp>
        <p:nvSpPr>
          <p:cNvPr id="17" name="Shape 14"/>
          <p:cNvSpPr/>
          <p:nvPr/>
        </p:nvSpPr>
        <p:spPr>
          <a:xfrm>
            <a:off x="819150" y="3878461"/>
            <a:ext cx="10553700" cy="673100"/>
          </a:xfrm>
          <a:prstGeom prst="roundRect">
            <a:avLst>
              <a:gd name="adj" fmla="val 14151"/>
            </a:avLst>
          </a:prstGeom>
          <a:noFill/>
          <a:ln w="12700">
            <a:solidFill>
              <a:srgbClr val="00B7C3"/>
            </a:solidFill>
            <a:prstDash val="solid"/>
          </a:ln>
        </p:spPr>
        <p:txBody>
          <a:bodyPr/>
          <a:lstStyle/>
          <a:p>
            <a:endParaRPr lang="en-JP"/>
          </a:p>
        </p:txBody>
      </p:sp>
      <p:pic>
        <p:nvPicPr>
          <p:cNvPr id="18" name="Image 1" descr="cookie icon"/>
          <p:cNvPicPr>
            <a:picLocks noChangeAspect="1"/>
          </p:cNvPicPr>
          <p:nvPr/>
        </p:nvPicPr>
        <p:blipFill>
          <a:blip r:embed="rId4"/>
          <a:srcRect/>
          <a:stretch/>
        </p:blipFill>
        <p:spPr>
          <a:xfrm>
            <a:off x="1054100" y="4062611"/>
            <a:ext cx="304800" cy="304800"/>
          </a:xfrm>
          <a:prstGeom prst="rect">
            <a:avLst/>
          </a:prstGeom>
        </p:spPr>
      </p:pic>
      <p:sp>
        <p:nvSpPr>
          <p:cNvPr id="19" name="Text 15"/>
          <p:cNvSpPr/>
          <p:nvPr/>
        </p:nvSpPr>
        <p:spPr>
          <a:xfrm>
            <a:off x="1511300" y="4081661"/>
            <a:ext cx="991539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FFFFF"/>
                </a:solidFill>
                <a:latin typeface="Calibri" pitchFamily="34" charset="0"/>
                <a:ea typeface="Calibri" pitchFamily="34" charset="-122"/>
                <a:cs typeface="Calibri" pitchFamily="34" charset="-120"/>
              </a:rPr>
              <a:t>A stolen session is now worth as much as a stolen password, </a:t>
            </a:r>
            <a:r>
              <a:rPr lang="en-US" sz="1500" b="1" dirty="0">
                <a:solidFill>
                  <a:srgbClr val="00B7C3"/>
                </a:solidFill>
                <a:latin typeface="Calibri" pitchFamily="34" charset="0"/>
                <a:ea typeface="Calibri" pitchFamily="34" charset="-122"/>
                <a:cs typeface="Calibri" pitchFamily="34" charset="-120"/>
              </a:rPr>
              <a:t>and MFA can't see it.</a:t>
            </a:r>
            <a:endParaRPr lang="en-US" sz="1500" dirty="0"/>
          </a:p>
        </p:txBody>
      </p:sp>
      <p:sp>
        <p:nvSpPr>
          <p:cNvPr id="20" name="Text 16"/>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3C8"/>
                </a:solidFill>
                <a:latin typeface="Calibri" pitchFamily="34" charset="0"/>
                <a:ea typeface="Calibri" pitchFamily="34" charset="-122"/>
                <a:cs typeface="Calibri" pitchFamily="34" charset="-120"/>
              </a:rPr>
              <a:t>Sources: SpyCloud · Proofpoint · Obsidian Security, as compiled in 2026 MFA bypass research</a:t>
            </a:r>
            <a:endParaRPr lang="en-US" sz="1200" dirty="0"/>
          </a:p>
        </p:txBody>
      </p:sp>
      <p:sp>
        <p:nvSpPr>
          <p:cNvPr id="21" name="Text 17"/>
          <p:cNvSpPr/>
          <p:nvPr/>
        </p:nvSpPr>
        <p:spPr>
          <a:xfrm>
            <a:off x="9855200" y="6238280"/>
            <a:ext cx="15240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B3C8"/>
                </a:solidFill>
                <a:latin typeface="Calibri" pitchFamily="34" charset="0"/>
                <a:ea typeface="Calibri" pitchFamily="34" charset="-122"/>
                <a:cs typeface="Calibri" pitchFamily="34" charset="-120"/>
              </a:rPr>
              <a:t>ZNexora Tech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pic>
        <p:nvPicPr>
          <p:cNvPr id="2" name="Image 0" descr="ZNexora Tech logo"/>
          <p:cNvPicPr>
            <a:picLocks noChangeAspect="1"/>
          </p:cNvPicPr>
          <p:nvPr/>
        </p:nvPicPr>
        <p:blipFill>
          <a:blip r:embed="rId3"/>
          <a:srcRect l="-106" r="-106"/>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78D4"/>
                </a:solidFill>
                <a:latin typeface="Calibri" pitchFamily="34" charset="0"/>
                <a:ea typeface="Calibri" pitchFamily="34" charset="-122"/>
                <a:cs typeface="Calibri" pitchFamily="34" charset="-120"/>
              </a:rPr>
              <a:t>03 · HOW SESSIONS ARE STOLEN</a:t>
            </a:r>
            <a:endParaRPr lang="en-US" sz="1200" dirty="0"/>
          </a:p>
        </p:txBody>
      </p:sp>
      <p:sp>
        <p:nvSpPr>
          <p:cNvPr id="4" name="Text 1"/>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1F33"/>
                </a:solidFill>
                <a:latin typeface="Arial" pitchFamily="34" charset="0"/>
                <a:ea typeface="Arial" pitchFamily="34" charset="-122"/>
                <a:cs typeface="Arial" pitchFamily="34" charset="-120"/>
              </a:rPr>
              <a:t>Three ways attackers steal your session</a:t>
            </a:r>
            <a:endParaRPr lang="en-US" sz="3600" dirty="0"/>
          </a:p>
        </p:txBody>
      </p:sp>
      <p:sp>
        <p:nvSpPr>
          <p:cNvPr id="5" name="Shape 2"/>
          <p:cNvSpPr/>
          <p:nvPr/>
        </p:nvSpPr>
        <p:spPr>
          <a:xfrm>
            <a:off x="812800" y="1569641"/>
            <a:ext cx="3403600" cy="3504704"/>
          </a:xfrm>
          <a:prstGeom prst="roundRect">
            <a:avLst>
              <a:gd name="adj" fmla="val 2985"/>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6" name="Shape 3"/>
          <p:cNvSpPr/>
          <p:nvPr/>
        </p:nvSpPr>
        <p:spPr>
          <a:xfrm>
            <a:off x="812800" y="1569641"/>
            <a:ext cx="3403600" cy="3504704"/>
          </a:xfrm>
          <a:custGeom>
            <a:avLst/>
            <a:gdLst/>
            <a:ahLst/>
            <a:cxnLst/>
            <a:rect l="l" t="t" r="r" b="b"/>
            <a:pathLst>
              <a:path w="3403600" h="3504704">
                <a:moveTo>
                  <a:pt x="0" y="101600"/>
                </a:moveTo>
                <a:lnTo>
                  <a:pt x="0" y="101600"/>
                </a:lnTo>
                <a:arcTo wR="101600" hR="101600" stAng="10800000" swAng="5400000"/>
                <a:lnTo>
                  <a:pt x="3302000" y="0"/>
                </a:lnTo>
                <a:arcTo wR="101600" hR="101600" stAng="16200000" swAng="5400000"/>
                <a:lnTo>
                  <a:pt x="3403600" y="101600"/>
                </a:lnTo>
                <a:arcTo wR="101600" hR="50800" stAng="0" swAng="-5400000"/>
                <a:lnTo>
                  <a:pt x="101600" y="50800"/>
                </a:lnTo>
                <a:arcTo wR="101600" hR="50800" stAng="16200000" swAng="-5400000"/>
                <a:close/>
              </a:path>
            </a:pathLst>
          </a:custGeom>
          <a:solidFill>
            <a:srgbClr val="F7630C"/>
          </a:solidFill>
          <a:ln/>
        </p:spPr>
        <p:txBody>
          <a:bodyPr/>
          <a:lstStyle/>
          <a:p>
            <a:endParaRPr lang="en-JP"/>
          </a:p>
        </p:txBody>
      </p:sp>
      <p:sp>
        <p:nvSpPr>
          <p:cNvPr id="7" name="Shape 4"/>
          <p:cNvSpPr/>
          <p:nvPr/>
        </p:nvSpPr>
        <p:spPr>
          <a:xfrm>
            <a:off x="1041400" y="1940421"/>
            <a:ext cx="508000" cy="508000"/>
          </a:xfrm>
          <a:prstGeom prst="roundRect">
            <a:avLst>
              <a:gd name="adj" fmla="val 50000"/>
            </a:avLst>
          </a:prstGeom>
          <a:solidFill>
            <a:srgbClr val="FDEBDD"/>
          </a:solidFill>
          <a:ln/>
        </p:spPr>
        <p:txBody>
          <a:bodyPr/>
          <a:lstStyle/>
          <a:p>
            <a:endParaRPr lang="en-JP"/>
          </a:p>
        </p:txBody>
      </p:sp>
      <p:pic>
        <p:nvPicPr>
          <p:cNvPr id="8" name="Image 1" descr="bug icon"/>
          <p:cNvPicPr>
            <a:picLocks noChangeAspect="1"/>
          </p:cNvPicPr>
          <p:nvPr/>
        </p:nvPicPr>
        <p:blipFill>
          <a:blip r:embed="rId4"/>
          <a:srcRect/>
          <a:stretch/>
        </p:blipFill>
        <p:spPr>
          <a:xfrm>
            <a:off x="1168400" y="2067421"/>
            <a:ext cx="254000" cy="254000"/>
          </a:xfrm>
          <a:prstGeom prst="rect">
            <a:avLst/>
          </a:prstGeom>
        </p:spPr>
      </p:pic>
      <p:sp>
        <p:nvSpPr>
          <p:cNvPr id="9" name="Text 5"/>
          <p:cNvSpPr/>
          <p:nvPr/>
        </p:nvSpPr>
        <p:spPr>
          <a:xfrm>
            <a:off x="3682643" y="1874441"/>
            <a:ext cx="305157" cy="665460"/>
          </a:xfrm>
          <a:prstGeom prst="rect">
            <a:avLst/>
          </a:prstGeom>
          <a:noFill/>
          <a:ln/>
        </p:spPr>
        <p:txBody>
          <a:bodyPr wrap="square" lIns="0" tIns="0" rIns="0" bIns="0" rtlCol="0" anchor="t">
            <a:normAutofit/>
          </a:bodyPr>
          <a:lstStyle/>
          <a:p>
            <a:pPr marL="0" indent="0" algn="r">
              <a:lnSpc>
                <a:spcPts val="5040"/>
              </a:lnSpc>
              <a:buNone/>
            </a:pPr>
            <a:r>
              <a:rPr lang="en-US" sz="3600" b="1" dirty="0">
                <a:solidFill>
                  <a:srgbClr val="D6E2EE"/>
                </a:solidFill>
                <a:latin typeface="Arial" pitchFamily="34" charset="0"/>
                <a:ea typeface="Arial" pitchFamily="34" charset="-122"/>
                <a:cs typeface="Arial" pitchFamily="34" charset="-120"/>
              </a:rPr>
              <a:t>1</a:t>
            </a:r>
            <a:endParaRPr lang="en-US" sz="3600" dirty="0"/>
          </a:p>
        </p:txBody>
      </p:sp>
      <p:sp>
        <p:nvSpPr>
          <p:cNvPr id="10" name="Text 6"/>
          <p:cNvSpPr/>
          <p:nvPr/>
        </p:nvSpPr>
        <p:spPr>
          <a:xfrm>
            <a:off x="1041400" y="2641501"/>
            <a:ext cx="3034792"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1F33"/>
                </a:solidFill>
                <a:latin typeface="Arial" pitchFamily="34" charset="0"/>
                <a:ea typeface="Arial" pitchFamily="34" charset="-122"/>
                <a:cs typeface="Arial" pitchFamily="34" charset="-120"/>
              </a:rPr>
              <a:t>Infostealer malware</a:t>
            </a:r>
            <a:endParaRPr lang="en-US" sz="1800" dirty="0"/>
          </a:p>
        </p:txBody>
      </p:sp>
      <p:sp>
        <p:nvSpPr>
          <p:cNvPr id="11" name="Text 7"/>
          <p:cNvSpPr/>
          <p:nvPr/>
        </p:nvSpPr>
        <p:spPr>
          <a:xfrm>
            <a:off x="1041400" y="3042741"/>
            <a:ext cx="3034792"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B"/>
                </a:solidFill>
                <a:latin typeface="Calibri" pitchFamily="34" charset="0"/>
                <a:ea typeface="Calibri" pitchFamily="34" charset="-122"/>
                <a:cs typeface="Calibri" pitchFamily="34" charset="-120"/>
              </a:rPr>
              <a:t>Malware like Lumma and Vidar copies cookies straight from your browser.</a:t>
            </a:r>
            <a:endParaRPr lang="en-US" sz="1400" dirty="0"/>
          </a:p>
        </p:txBody>
      </p:sp>
      <p:sp>
        <p:nvSpPr>
          <p:cNvPr id="12" name="Shape 8"/>
          <p:cNvSpPr/>
          <p:nvPr/>
        </p:nvSpPr>
        <p:spPr>
          <a:xfrm>
            <a:off x="1041400" y="3916263"/>
            <a:ext cx="2946400" cy="904081"/>
          </a:xfrm>
          <a:prstGeom prst="roundRect">
            <a:avLst>
              <a:gd name="adj" fmla="val 8428"/>
            </a:avLst>
          </a:prstGeom>
          <a:solidFill>
            <a:srgbClr val="F4F7FB"/>
          </a:solidFill>
          <a:ln/>
        </p:spPr>
        <p:txBody>
          <a:bodyPr/>
          <a:lstStyle/>
          <a:p>
            <a:endParaRPr lang="en-JP"/>
          </a:p>
        </p:txBody>
      </p:sp>
      <p:sp>
        <p:nvSpPr>
          <p:cNvPr id="13" name="Text 9"/>
          <p:cNvSpPr/>
          <p:nvPr/>
        </p:nvSpPr>
        <p:spPr>
          <a:xfrm>
            <a:off x="1168400" y="4017863"/>
            <a:ext cx="277317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24E06"/>
                </a:solidFill>
                <a:latin typeface="Calibri" pitchFamily="34" charset="0"/>
                <a:ea typeface="Calibri" pitchFamily="34" charset="-122"/>
                <a:cs typeface="Calibri" pitchFamily="34" charset="-120"/>
              </a:rPr>
              <a:t>ARRIVES VIA</a:t>
            </a:r>
            <a:endParaRPr lang="en-US" sz="1200" dirty="0"/>
          </a:p>
        </p:txBody>
      </p:sp>
      <p:sp>
        <p:nvSpPr>
          <p:cNvPr id="14" name="Text 10"/>
          <p:cNvSpPr/>
          <p:nvPr/>
        </p:nvSpPr>
        <p:spPr>
          <a:xfrm>
            <a:off x="1168400" y="4256584"/>
            <a:ext cx="2773172"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B1F33"/>
                </a:solidFill>
                <a:latin typeface="Calibri" pitchFamily="34" charset="0"/>
                <a:ea typeface="Calibri" pitchFamily="34" charset="-122"/>
                <a:cs typeface="Calibri" pitchFamily="34" charset="-120"/>
              </a:rPr>
              <a:t>Fake CAPTCHAs, cracked software, malicious downloads</a:t>
            </a:r>
            <a:endParaRPr lang="en-US" sz="1300" dirty="0"/>
          </a:p>
        </p:txBody>
      </p:sp>
      <p:sp>
        <p:nvSpPr>
          <p:cNvPr id="15" name="Shape 11"/>
          <p:cNvSpPr/>
          <p:nvPr/>
        </p:nvSpPr>
        <p:spPr>
          <a:xfrm>
            <a:off x="4394200" y="1569641"/>
            <a:ext cx="3403600" cy="3504704"/>
          </a:xfrm>
          <a:prstGeom prst="roundRect">
            <a:avLst>
              <a:gd name="adj" fmla="val 2985"/>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16" name="Shape 12"/>
          <p:cNvSpPr/>
          <p:nvPr/>
        </p:nvSpPr>
        <p:spPr>
          <a:xfrm>
            <a:off x="4394200" y="1569641"/>
            <a:ext cx="3403600" cy="3504704"/>
          </a:xfrm>
          <a:custGeom>
            <a:avLst/>
            <a:gdLst/>
            <a:ahLst/>
            <a:cxnLst/>
            <a:rect l="l" t="t" r="r" b="b"/>
            <a:pathLst>
              <a:path w="3403600" h="3504704">
                <a:moveTo>
                  <a:pt x="0" y="101600"/>
                </a:moveTo>
                <a:lnTo>
                  <a:pt x="0" y="101600"/>
                </a:lnTo>
                <a:arcTo wR="101600" hR="101600" stAng="10800000" swAng="5400000"/>
                <a:lnTo>
                  <a:pt x="3302000" y="0"/>
                </a:lnTo>
                <a:arcTo wR="101600" hR="101600" stAng="16200000" swAng="5400000"/>
                <a:lnTo>
                  <a:pt x="3403600" y="101600"/>
                </a:lnTo>
                <a:arcTo wR="101600" hR="50800" stAng="0" swAng="-5400000"/>
                <a:lnTo>
                  <a:pt x="101600" y="50800"/>
                </a:lnTo>
                <a:arcTo wR="101600" hR="50800" stAng="16200000" swAng="-5400000"/>
                <a:close/>
              </a:path>
            </a:pathLst>
          </a:custGeom>
          <a:solidFill>
            <a:srgbClr val="F7630C"/>
          </a:solidFill>
          <a:ln/>
        </p:spPr>
        <p:txBody>
          <a:bodyPr/>
          <a:lstStyle/>
          <a:p>
            <a:endParaRPr lang="en-JP"/>
          </a:p>
        </p:txBody>
      </p:sp>
      <p:sp>
        <p:nvSpPr>
          <p:cNvPr id="17" name="Shape 13"/>
          <p:cNvSpPr/>
          <p:nvPr/>
        </p:nvSpPr>
        <p:spPr>
          <a:xfrm>
            <a:off x="4622800" y="1940421"/>
            <a:ext cx="508000" cy="508000"/>
          </a:xfrm>
          <a:prstGeom prst="roundRect">
            <a:avLst>
              <a:gd name="adj" fmla="val 50000"/>
            </a:avLst>
          </a:prstGeom>
          <a:solidFill>
            <a:srgbClr val="FDEBDD"/>
          </a:solidFill>
          <a:ln/>
        </p:spPr>
        <p:txBody>
          <a:bodyPr/>
          <a:lstStyle/>
          <a:p>
            <a:endParaRPr lang="en-JP"/>
          </a:p>
        </p:txBody>
      </p:sp>
      <p:pic>
        <p:nvPicPr>
          <p:cNvPr id="18" name="Image 2" descr="globe icon"/>
          <p:cNvPicPr>
            <a:picLocks noChangeAspect="1"/>
          </p:cNvPicPr>
          <p:nvPr/>
        </p:nvPicPr>
        <p:blipFill>
          <a:blip r:embed="rId5"/>
          <a:srcRect/>
          <a:stretch/>
        </p:blipFill>
        <p:spPr>
          <a:xfrm>
            <a:off x="4749800" y="2067421"/>
            <a:ext cx="254000" cy="254000"/>
          </a:xfrm>
          <a:prstGeom prst="rect">
            <a:avLst/>
          </a:prstGeom>
        </p:spPr>
      </p:pic>
      <p:sp>
        <p:nvSpPr>
          <p:cNvPr id="19" name="Text 14"/>
          <p:cNvSpPr/>
          <p:nvPr/>
        </p:nvSpPr>
        <p:spPr>
          <a:xfrm>
            <a:off x="7264043" y="1874441"/>
            <a:ext cx="305157" cy="665460"/>
          </a:xfrm>
          <a:prstGeom prst="rect">
            <a:avLst/>
          </a:prstGeom>
          <a:noFill/>
          <a:ln/>
        </p:spPr>
        <p:txBody>
          <a:bodyPr wrap="square" lIns="0" tIns="0" rIns="0" bIns="0" rtlCol="0" anchor="t">
            <a:normAutofit/>
          </a:bodyPr>
          <a:lstStyle/>
          <a:p>
            <a:pPr marL="0" indent="0" algn="r">
              <a:lnSpc>
                <a:spcPts val="5040"/>
              </a:lnSpc>
              <a:buNone/>
            </a:pPr>
            <a:r>
              <a:rPr lang="en-US" sz="3600" b="1" dirty="0">
                <a:solidFill>
                  <a:srgbClr val="D6E2EE"/>
                </a:solidFill>
                <a:latin typeface="Arial" pitchFamily="34" charset="0"/>
                <a:ea typeface="Arial" pitchFamily="34" charset="-122"/>
                <a:cs typeface="Arial" pitchFamily="34" charset="-120"/>
              </a:rPr>
              <a:t>2</a:t>
            </a:r>
            <a:endParaRPr lang="en-US" sz="3600" dirty="0"/>
          </a:p>
        </p:txBody>
      </p:sp>
      <p:sp>
        <p:nvSpPr>
          <p:cNvPr id="20" name="Text 15"/>
          <p:cNvSpPr/>
          <p:nvPr/>
        </p:nvSpPr>
        <p:spPr>
          <a:xfrm>
            <a:off x="4622800" y="2641501"/>
            <a:ext cx="3034792"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1F33"/>
                </a:solidFill>
                <a:latin typeface="Arial" pitchFamily="34" charset="0"/>
                <a:ea typeface="Arial" pitchFamily="34" charset="-122"/>
                <a:cs typeface="Arial" pitchFamily="34" charset="-120"/>
              </a:rPr>
              <a:t>Fake login pages (AiTM)</a:t>
            </a:r>
            <a:endParaRPr lang="en-US" sz="1800" dirty="0"/>
          </a:p>
        </p:txBody>
      </p:sp>
      <p:sp>
        <p:nvSpPr>
          <p:cNvPr id="21" name="Text 16"/>
          <p:cNvSpPr/>
          <p:nvPr/>
        </p:nvSpPr>
        <p:spPr>
          <a:xfrm>
            <a:off x="4622800" y="3042741"/>
            <a:ext cx="3034792"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B"/>
                </a:solidFill>
                <a:latin typeface="Calibri" pitchFamily="34" charset="0"/>
                <a:ea typeface="Calibri" pitchFamily="34" charset="-122"/>
                <a:cs typeface="Calibri" pitchFamily="34" charset="-120"/>
              </a:rPr>
              <a:t>A fake page passes your real login through and keeps the session it creates.</a:t>
            </a:r>
            <a:endParaRPr lang="en-US" sz="1400" dirty="0"/>
          </a:p>
        </p:txBody>
      </p:sp>
      <p:sp>
        <p:nvSpPr>
          <p:cNvPr id="22" name="Shape 17"/>
          <p:cNvSpPr/>
          <p:nvPr/>
        </p:nvSpPr>
        <p:spPr>
          <a:xfrm>
            <a:off x="4622800" y="3916263"/>
            <a:ext cx="2946400" cy="904081"/>
          </a:xfrm>
          <a:prstGeom prst="roundRect">
            <a:avLst>
              <a:gd name="adj" fmla="val 8428"/>
            </a:avLst>
          </a:prstGeom>
          <a:solidFill>
            <a:srgbClr val="F4F7FB"/>
          </a:solidFill>
          <a:ln/>
        </p:spPr>
        <p:txBody>
          <a:bodyPr/>
          <a:lstStyle/>
          <a:p>
            <a:endParaRPr lang="en-JP"/>
          </a:p>
        </p:txBody>
      </p:sp>
      <p:sp>
        <p:nvSpPr>
          <p:cNvPr id="23" name="Text 18"/>
          <p:cNvSpPr/>
          <p:nvPr/>
        </p:nvSpPr>
        <p:spPr>
          <a:xfrm>
            <a:off x="4749800" y="4017863"/>
            <a:ext cx="277317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24E06"/>
                </a:solidFill>
                <a:latin typeface="Calibri" pitchFamily="34" charset="0"/>
                <a:ea typeface="Calibri" pitchFamily="34" charset="-122"/>
                <a:cs typeface="Calibri" pitchFamily="34" charset="-120"/>
              </a:rPr>
              <a:t>ARRIVES VIA</a:t>
            </a:r>
            <a:endParaRPr lang="en-US" sz="1200" dirty="0"/>
          </a:p>
        </p:txBody>
      </p:sp>
      <p:sp>
        <p:nvSpPr>
          <p:cNvPr id="24" name="Text 19"/>
          <p:cNvSpPr/>
          <p:nvPr/>
        </p:nvSpPr>
        <p:spPr>
          <a:xfrm>
            <a:off x="4749800" y="4256584"/>
            <a:ext cx="2773172"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B1F33"/>
                </a:solidFill>
                <a:latin typeface="Calibri" pitchFamily="34" charset="0"/>
                <a:ea typeface="Calibri" pitchFamily="34" charset="-122"/>
                <a:cs typeface="Calibri" pitchFamily="34" charset="-120"/>
              </a:rPr>
              <a:t>Phishing emails, texts and QR codes</a:t>
            </a:r>
            <a:endParaRPr lang="en-US" sz="1300" dirty="0"/>
          </a:p>
        </p:txBody>
      </p:sp>
      <p:sp>
        <p:nvSpPr>
          <p:cNvPr id="25" name="Shape 20"/>
          <p:cNvSpPr/>
          <p:nvPr/>
        </p:nvSpPr>
        <p:spPr>
          <a:xfrm>
            <a:off x="7975600" y="1569641"/>
            <a:ext cx="3403600" cy="3504704"/>
          </a:xfrm>
          <a:prstGeom prst="roundRect">
            <a:avLst>
              <a:gd name="adj" fmla="val 2985"/>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26" name="Shape 21"/>
          <p:cNvSpPr/>
          <p:nvPr/>
        </p:nvSpPr>
        <p:spPr>
          <a:xfrm>
            <a:off x="7975600" y="1569641"/>
            <a:ext cx="3403600" cy="3504704"/>
          </a:xfrm>
          <a:custGeom>
            <a:avLst/>
            <a:gdLst/>
            <a:ahLst/>
            <a:cxnLst/>
            <a:rect l="l" t="t" r="r" b="b"/>
            <a:pathLst>
              <a:path w="3403600" h="3504704">
                <a:moveTo>
                  <a:pt x="0" y="101600"/>
                </a:moveTo>
                <a:lnTo>
                  <a:pt x="0" y="101600"/>
                </a:lnTo>
                <a:arcTo wR="101600" hR="101600" stAng="10800000" swAng="5400000"/>
                <a:lnTo>
                  <a:pt x="3302000" y="0"/>
                </a:lnTo>
                <a:arcTo wR="101600" hR="101600" stAng="16200000" swAng="5400000"/>
                <a:lnTo>
                  <a:pt x="3403600" y="101600"/>
                </a:lnTo>
                <a:arcTo wR="101600" hR="50800" stAng="0" swAng="-5400000"/>
                <a:lnTo>
                  <a:pt x="101600" y="50800"/>
                </a:lnTo>
                <a:arcTo wR="101600" hR="50800" stAng="16200000" swAng="-5400000"/>
                <a:close/>
              </a:path>
            </a:pathLst>
          </a:custGeom>
          <a:solidFill>
            <a:srgbClr val="F7630C"/>
          </a:solidFill>
          <a:ln/>
        </p:spPr>
        <p:txBody>
          <a:bodyPr/>
          <a:lstStyle/>
          <a:p>
            <a:endParaRPr lang="en-JP"/>
          </a:p>
        </p:txBody>
      </p:sp>
      <p:sp>
        <p:nvSpPr>
          <p:cNvPr id="27" name="Shape 22"/>
          <p:cNvSpPr/>
          <p:nvPr/>
        </p:nvSpPr>
        <p:spPr>
          <a:xfrm>
            <a:off x="8204200" y="1940421"/>
            <a:ext cx="508000" cy="508000"/>
          </a:xfrm>
          <a:prstGeom prst="roundRect">
            <a:avLst>
              <a:gd name="adj" fmla="val 50000"/>
            </a:avLst>
          </a:prstGeom>
          <a:solidFill>
            <a:srgbClr val="FDEBDD"/>
          </a:solidFill>
          <a:ln/>
        </p:spPr>
        <p:txBody>
          <a:bodyPr/>
          <a:lstStyle/>
          <a:p>
            <a:endParaRPr lang="en-JP"/>
          </a:p>
        </p:txBody>
      </p:sp>
      <p:pic>
        <p:nvPicPr>
          <p:cNvPr id="28" name="Image 3" descr="hash icon"/>
          <p:cNvPicPr>
            <a:picLocks noChangeAspect="1"/>
          </p:cNvPicPr>
          <p:nvPr/>
        </p:nvPicPr>
        <p:blipFill>
          <a:blip r:embed="rId6"/>
          <a:srcRect/>
          <a:stretch/>
        </p:blipFill>
        <p:spPr>
          <a:xfrm>
            <a:off x="8331200" y="2067421"/>
            <a:ext cx="254000" cy="254000"/>
          </a:xfrm>
          <a:prstGeom prst="rect">
            <a:avLst/>
          </a:prstGeom>
        </p:spPr>
      </p:pic>
      <p:sp>
        <p:nvSpPr>
          <p:cNvPr id="29" name="Text 23"/>
          <p:cNvSpPr/>
          <p:nvPr/>
        </p:nvSpPr>
        <p:spPr>
          <a:xfrm>
            <a:off x="10845443" y="1874441"/>
            <a:ext cx="305157" cy="665460"/>
          </a:xfrm>
          <a:prstGeom prst="rect">
            <a:avLst/>
          </a:prstGeom>
          <a:noFill/>
          <a:ln/>
        </p:spPr>
        <p:txBody>
          <a:bodyPr wrap="square" lIns="0" tIns="0" rIns="0" bIns="0" rtlCol="0" anchor="t">
            <a:normAutofit/>
          </a:bodyPr>
          <a:lstStyle/>
          <a:p>
            <a:pPr marL="0" indent="0" algn="r">
              <a:lnSpc>
                <a:spcPts val="5040"/>
              </a:lnSpc>
              <a:buNone/>
            </a:pPr>
            <a:r>
              <a:rPr lang="en-US" sz="3600" b="1" dirty="0">
                <a:solidFill>
                  <a:srgbClr val="D6E2EE"/>
                </a:solidFill>
                <a:latin typeface="Arial" pitchFamily="34" charset="0"/>
                <a:ea typeface="Arial" pitchFamily="34" charset="-122"/>
                <a:cs typeface="Arial" pitchFamily="34" charset="-120"/>
              </a:rPr>
              <a:t>3</a:t>
            </a:r>
            <a:endParaRPr lang="en-US" sz="3600" dirty="0"/>
          </a:p>
        </p:txBody>
      </p:sp>
      <p:sp>
        <p:nvSpPr>
          <p:cNvPr id="30" name="Text 24"/>
          <p:cNvSpPr/>
          <p:nvPr/>
        </p:nvSpPr>
        <p:spPr>
          <a:xfrm>
            <a:off x="8204200" y="2641501"/>
            <a:ext cx="3034792"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1F33"/>
                </a:solidFill>
                <a:latin typeface="Arial" pitchFamily="34" charset="0"/>
                <a:ea typeface="Arial" pitchFamily="34" charset="-122"/>
                <a:cs typeface="Arial" pitchFamily="34" charset="-120"/>
              </a:rPr>
              <a:t>Code and consent tricks</a:t>
            </a:r>
            <a:endParaRPr lang="en-US" sz="1800" dirty="0"/>
          </a:p>
        </p:txBody>
      </p:sp>
      <p:sp>
        <p:nvSpPr>
          <p:cNvPr id="31" name="Text 25"/>
          <p:cNvSpPr/>
          <p:nvPr/>
        </p:nvSpPr>
        <p:spPr>
          <a:xfrm>
            <a:off x="8204200" y="3042741"/>
            <a:ext cx="3034792"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B"/>
                </a:solidFill>
                <a:latin typeface="Calibri" pitchFamily="34" charset="0"/>
                <a:ea typeface="Calibri" pitchFamily="34" charset="-122"/>
                <a:cs typeface="Calibri" pitchFamily="34" charset="-120"/>
              </a:rPr>
              <a:t>You're asked to enter a code or approve an app, giving it access to your account.</a:t>
            </a:r>
            <a:endParaRPr lang="en-US" sz="1400" dirty="0"/>
          </a:p>
        </p:txBody>
      </p:sp>
      <p:sp>
        <p:nvSpPr>
          <p:cNvPr id="32" name="Shape 26"/>
          <p:cNvSpPr/>
          <p:nvPr/>
        </p:nvSpPr>
        <p:spPr>
          <a:xfrm>
            <a:off x="8204200" y="3916263"/>
            <a:ext cx="2946400" cy="904081"/>
          </a:xfrm>
          <a:prstGeom prst="roundRect">
            <a:avLst>
              <a:gd name="adj" fmla="val 8428"/>
            </a:avLst>
          </a:prstGeom>
          <a:solidFill>
            <a:srgbClr val="F4F7FB"/>
          </a:solidFill>
          <a:ln/>
        </p:spPr>
        <p:txBody>
          <a:bodyPr/>
          <a:lstStyle/>
          <a:p>
            <a:endParaRPr lang="en-JP"/>
          </a:p>
        </p:txBody>
      </p:sp>
      <p:sp>
        <p:nvSpPr>
          <p:cNvPr id="33" name="Text 27"/>
          <p:cNvSpPr/>
          <p:nvPr/>
        </p:nvSpPr>
        <p:spPr>
          <a:xfrm>
            <a:off x="8331200" y="4017863"/>
            <a:ext cx="277317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24E06"/>
                </a:solidFill>
                <a:latin typeface="Calibri" pitchFamily="34" charset="0"/>
                <a:ea typeface="Calibri" pitchFamily="34" charset="-122"/>
                <a:cs typeface="Calibri" pitchFamily="34" charset="-120"/>
              </a:rPr>
              <a:t>ARRIVES VIA</a:t>
            </a:r>
            <a:endParaRPr lang="en-US" sz="1200" dirty="0"/>
          </a:p>
        </p:txBody>
      </p:sp>
      <p:sp>
        <p:nvSpPr>
          <p:cNvPr id="34" name="Text 28"/>
          <p:cNvSpPr/>
          <p:nvPr/>
        </p:nvSpPr>
        <p:spPr>
          <a:xfrm>
            <a:off x="8331200" y="4256584"/>
            <a:ext cx="2773172"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B1F33"/>
                </a:solidFill>
                <a:latin typeface="Calibri" pitchFamily="34" charset="0"/>
                <a:ea typeface="Calibri" pitchFamily="34" charset="-122"/>
                <a:cs typeface="Calibri" pitchFamily="34" charset="-120"/>
              </a:rPr>
              <a:t>“Enter this code to verify”, “Allow this app”</a:t>
            </a:r>
            <a:endParaRPr lang="en-US" sz="1300" dirty="0"/>
          </a:p>
        </p:txBody>
      </p:sp>
      <p:sp>
        <p:nvSpPr>
          <p:cNvPr id="35" name="Text 29"/>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B"/>
                </a:solidFill>
                <a:latin typeface="Calibri" pitchFamily="34" charset="0"/>
                <a:ea typeface="Calibri" pitchFamily="34" charset="-122"/>
                <a:cs typeface="Calibri" pitchFamily="34" charset="-120"/>
              </a:rPr>
              <a:t>Sources: SpyCloud · Obsidian Security · Huntress, 2026</a:t>
            </a:r>
            <a:endParaRPr lang="en-US" sz="1200" dirty="0"/>
          </a:p>
        </p:txBody>
      </p:sp>
      <p:sp>
        <p:nvSpPr>
          <p:cNvPr id="36" name="Text 30"/>
          <p:cNvSpPr/>
          <p:nvPr/>
        </p:nvSpPr>
        <p:spPr>
          <a:xfrm>
            <a:off x="9855200" y="6238280"/>
            <a:ext cx="15240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A6B"/>
                </a:solidFill>
                <a:latin typeface="Calibri" pitchFamily="34" charset="0"/>
                <a:ea typeface="Calibri" pitchFamily="34" charset="-122"/>
                <a:cs typeface="Calibri" pitchFamily="34" charset="-120"/>
              </a:rPr>
              <a:t>ZNexora Tech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pic>
        <p:nvPicPr>
          <p:cNvPr id="2" name="Image 0" descr="ZNexora Tech logo"/>
          <p:cNvPicPr>
            <a:picLocks noChangeAspect="1"/>
          </p:cNvPicPr>
          <p:nvPr/>
        </p:nvPicPr>
        <p:blipFill>
          <a:blip r:embed="rId3"/>
          <a:srcRect l="-106" r="-106"/>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78D4"/>
                </a:solidFill>
                <a:latin typeface="Calibri" pitchFamily="34" charset="0"/>
                <a:ea typeface="Calibri" pitchFamily="34" charset="-122"/>
                <a:cs typeface="Calibri" pitchFamily="34" charset="-120"/>
              </a:rPr>
              <a:t>04 · FAKE LOGIN PAGES</a:t>
            </a:r>
            <a:endParaRPr lang="en-US" sz="1200" dirty="0"/>
          </a:p>
        </p:txBody>
      </p:sp>
      <p:sp>
        <p:nvSpPr>
          <p:cNvPr id="4" name="Text 1"/>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1F33"/>
                </a:solidFill>
                <a:latin typeface="Arial" pitchFamily="34" charset="0"/>
                <a:ea typeface="Arial" pitchFamily="34" charset="-122"/>
                <a:cs typeface="Arial" pitchFamily="34" charset="-120"/>
              </a:rPr>
              <a:t>How fake login pages steal sessions</a:t>
            </a:r>
            <a:endParaRPr lang="en-US" sz="3600" dirty="0"/>
          </a:p>
        </p:txBody>
      </p:sp>
      <p:pic>
        <p:nvPicPr>
          <p:cNvPr id="5" name="Image 1" descr="Diagram: you log in through a fake page that relays to the real site; the attacker copies the session cookie"/>
          <p:cNvPicPr>
            <a:picLocks noChangeAspect="1"/>
          </p:cNvPicPr>
          <p:nvPr/>
        </p:nvPicPr>
        <p:blipFill>
          <a:blip r:embed="rId4"/>
          <a:srcRect t="-9" b="-9"/>
          <a:stretch/>
        </p:blipFill>
        <p:spPr>
          <a:xfrm>
            <a:off x="812800" y="1569641"/>
            <a:ext cx="10566400" cy="2286000"/>
          </a:xfrm>
          <a:prstGeom prst="rect">
            <a:avLst/>
          </a:prstGeom>
        </p:spPr>
      </p:pic>
      <p:sp>
        <p:nvSpPr>
          <p:cNvPr id="6" name="Shape 2"/>
          <p:cNvSpPr/>
          <p:nvPr/>
        </p:nvSpPr>
        <p:spPr>
          <a:xfrm>
            <a:off x="812800" y="4128691"/>
            <a:ext cx="3403600" cy="0"/>
          </a:xfrm>
          <a:prstGeom prst="line">
            <a:avLst/>
          </a:prstGeom>
          <a:noFill/>
          <a:ln w="38100">
            <a:solidFill>
              <a:srgbClr val="0078D4"/>
            </a:solidFill>
            <a:prstDash val="solid"/>
          </a:ln>
        </p:spPr>
        <p:txBody>
          <a:bodyPr/>
          <a:lstStyle/>
          <a:p>
            <a:endParaRPr lang="en-JP"/>
          </a:p>
        </p:txBody>
      </p:sp>
      <p:sp>
        <p:nvSpPr>
          <p:cNvPr id="7" name="Text 3"/>
          <p:cNvSpPr/>
          <p:nvPr/>
        </p:nvSpPr>
        <p:spPr>
          <a:xfrm>
            <a:off x="812800" y="4249341"/>
            <a:ext cx="350570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78D4"/>
                </a:solidFill>
                <a:latin typeface="Calibri" pitchFamily="34" charset="0"/>
                <a:ea typeface="Calibri" pitchFamily="34" charset="-122"/>
                <a:cs typeface="Calibri" pitchFamily="34" charset="-120"/>
              </a:rPr>
              <a:t>You</a:t>
            </a:r>
            <a:endParaRPr lang="en-US" sz="1500" dirty="0"/>
          </a:p>
        </p:txBody>
      </p:sp>
      <p:sp>
        <p:nvSpPr>
          <p:cNvPr id="8" name="Text 4"/>
          <p:cNvSpPr/>
          <p:nvPr/>
        </p:nvSpPr>
        <p:spPr>
          <a:xfrm>
            <a:off x="812800" y="4516041"/>
            <a:ext cx="3505708"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A6B"/>
                </a:solidFill>
                <a:latin typeface="Calibri" pitchFamily="34" charset="0"/>
                <a:ea typeface="Calibri" pitchFamily="34" charset="-122"/>
                <a:cs typeface="Calibri" pitchFamily="34" charset="-120"/>
              </a:rPr>
              <a:t>Enter your real password and approve MFA</a:t>
            </a:r>
            <a:endParaRPr lang="en-US" sz="1300" dirty="0"/>
          </a:p>
        </p:txBody>
      </p:sp>
      <p:sp>
        <p:nvSpPr>
          <p:cNvPr id="9" name="Shape 5"/>
          <p:cNvSpPr/>
          <p:nvPr/>
        </p:nvSpPr>
        <p:spPr>
          <a:xfrm>
            <a:off x="4394200" y="4128691"/>
            <a:ext cx="3403600" cy="0"/>
          </a:xfrm>
          <a:prstGeom prst="line">
            <a:avLst/>
          </a:prstGeom>
          <a:noFill/>
          <a:ln w="38100">
            <a:solidFill>
              <a:srgbClr val="F7630C"/>
            </a:solidFill>
            <a:prstDash val="solid"/>
          </a:ln>
        </p:spPr>
        <p:txBody>
          <a:bodyPr/>
          <a:lstStyle/>
          <a:p>
            <a:endParaRPr lang="en-JP"/>
          </a:p>
        </p:txBody>
      </p:sp>
      <p:sp>
        <p:nvSpPr>
          <p:cNvPr id="10" name="Text 6"/>
          <p:cNvSpPr/>
          <p:nvPr/>
        </p:nvSpPr>
        <p:spPr>
          <a:xfrm>
            <a:off x="4394200" y="4249341"/>
            <a:ext cx="350570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C24E06"/>
                </a:solidFill>
                <a:latin typeface="Calibri" pitchFamily="34" charset="0"/>
                <a:ea typeface="Calibri" pitchFamily="34" charset="-122"/>
                <a:cs typeface="Calibri" pitchFamily="34" charset="-120"/>
              </a:rPr>
              <a:t>Fake page (proxy)</a:t>
            </a:r>
            <a:endParaRPr lang="en-US" sz="1500" dirty="0"/>
          </a:p>
        </p:txBody>
      </p:sp>
      <p:sp>
        <p:nvSpPr>
          <p:cNvPr id="11" name="Text 7"/>
          <p:cNvSpPr/>
          <p:nvPr/>
        </p:nvSpPr>
        <p:spPr>
          <a:xfrm>
            <a:off x="4394200" y="4516041"/>
            <a:ext cx="3505708"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A6B"/>
                </a:solidFill>
                <a:latin typeface="Calibri" pitchFamily="34" charset="0"/>
                <a:ea typeface="Calibri" pitchFamily="34" charset="-122"/>
                <a:cs typeface="Calibri" pitchFamily="34" charset="-120"/>
              </a:rPr>
              <a:t>Looks real; relays everything; copies your cookie</a:t>
            </a:r>
            <a:endParaRPr lang="en-US" sz="1300" dirty="0"/>
          </a:p>
        </p:txBody>
      </p:sp>
      <p:sp>
        <p:nvSpPr>
          <p:cNvPr id="12" name="Shape 8"/>
          <p:cNvSpPr/>
          <p:nvPr/>
        </p:nvSpPr>
        <p:spPr>
          <a:xfrm>
            <a:off x="7975600" y="4128691"/>
            <a:ext cx="3403600" cy="0"/>
          </a:xfrm>
          <a:prstGeom prst="line">
            <a:avLst/>
          </a:prstGeom>
          <a:noFill/>
          <a:ln w="38100">
            <a:solidFill>
              <a:srgbClr val="0078D4"/>
            </a:solidFill>
            <a:prstDash val="solid"/>
          </a:ln>
        </p:spPr>
        <p:txBody>
          <a:bodyPr/>
          <a:lstStyle/>
          <a:p>
            <a:endParaRPr lang="en-JP"/>
          </a:p>
        </p:txBody>
      </p:sp>
      <p:sp>
        <p:nvSpPr>
          <p:cNvPr id="13" name="Text 9"/>
          <p:cNvSpPr/>
          <p:nvPr/>
        </p:nvSpPr>
        <p:spPr>
          <a:xfrm>
            <a:off x="7975600" y="4249341"/>
            <a:ext cx="350570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78D4"/>
                </a:solidFill>
                <a:latin typeface="Calibri" pitchFamily="34" charset="0"/>
                <a:ea typeface="Calibri" pitchFamily="34" charset="-122"/>
                <a:cs typeface="Calibri" pitchFamily="34" charset="-120"/>
              </a:rPr>
              <a:t>Real website</a:t>
            </a:r>
            <a:endParaRPr lang="en-US" sz="1500" dirty="0"/>
          </a:p>
        </p:txBody>
      </p:sp>
      <p:sp>
        <p:nvSpPr>
          <p:cNvPr id="14" name="Text 10"/>
          <p:cNvSpPr/>
          <p:nvPr/>
        </p:nvSpPr>
        <p:spPr>
          <a:xfrm>
            <a:off x="7975600" y="4516041"/>
            <a:ext cx="3505708"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A6B"/>
                </a:solidFill>
                <a:latin typeface="Calibri" pitchFamily="34" charset="0"/>
                <a:ea typeface="Calibri" pitchFamily="34" charset="-122"/>
                <a:cs typeface="Calibri" pitchFamily="34" charset="-120"/>
              </a:rPr>
              <a:t>Sees a genuine login and issues a session</a:t>
            </a:r>
            <a:endParaRPr lang="en-US" sz="1300" dirty="0"/>
          </a:p>
        </p:txBody>
      </p:sp>
      <p:sp>
        <p:nvSpPr>
          <p:cNvPr id="15" name="Shape 11"/>
          <p:cNvSpPr/>
          <p:nvPr/>
        </p:nvSpPr>
        <p:spPr>
          <a:xfrm>
            <a:off x="812800" y="5215731"/>
            <a:ext cx="10566400" cy="533400"/>
          </a:xfrm>
          <a:prstGeom prst="roundRect">
            <a:avLst>
              <a:gd name="adj" fmla="val 19048"/>
            </a:avLst>
          </a:prstGeom>
          <a:solidFill>
            <a:srgbClr val="0A1628"/>
          </a:solidFill>
          <a:ln/>
        </p:spPr>
        <p:txBody>
          <a:bodyPr/>
          <a:lstStyle/>
          <a:p>
            <a:endParaRPr lang="en-JP"/>
          </a:p>
        </p:txBody>
      </p:sp>
      <p:pic>
        <p:nvPicPr>
          <p:cNvPr id="16" name="Image 2" descr="alert icon"/>
          <p:cNvPicPr>
            <a:picLocks noChangeAspect="1"/>
          </p:cNvPicPr>
          <p:nvPr/>
        </p:nvPicPr>
        <p:blipFill>
          <a:blip r:embed="rId5"/>
          <a:srcRect/>
          <a:stretch/>
        </p:blipFill>
        <p:spPr>
          <a:xfrm>
            <a:off x="1016000" y="5355431"/>
            <a:ext cx="254000" cy="254000"/>
          </a:xfrm>
          <a:prstGeom prst="rect">
            <a:avLst/>
          </a:prstGeom>
        </p:spPr>
      </p:pic>
      <p:sp>
        <p:nvSpPr>
          <p:cNvPr id="17" name="Text 12"/>
          <p:cNvSpPr/>
          <p:nvPr/>
        </p:nvSpPr>
        <p:spPr>
          <a:xfrm>
            <a:off x="1397000" y="5358011"/>
            <a:ext cx="1007237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FFF"/>
                </a:solidFill>
                <a:latin typeface="Calibri" pitchFamily="34" charset="0"/>
                <a:ea typeface="Calibri" pitchFamily="34" charset="-122"/>
                <a:cs typeface="Calibri" pitchFamily="34" charset="-120"/>
              </a:rPr>
              <a:t>Your login </a:t>
            </a:r>
            <a:r>
              <a:rPr lang="en-US" sz="1400" b="1" dirty="0">
                <a:solidFill>
                  <a:srgbClr val="FF9A5C"/>
                </a:solidFill>
                <a:latin typeface="Calibri" pitchFamily="34" charset="0"/>
                <a:ea typeface="Calibri" pitchFamily="34" charset="-122"/>
                <a:cs typeface="Calibri" pitchFamily="34" charset="-120"/>
              </a:rPr>
              <a:t>succeeds</a:t>
            </a:r>
            <a:r>
              <a:rPr lang="en-US" sz="1400" dirty="0">
                <a:solidFill>
                  <a:srgbClr val="FFFFFF"/>
                </a:solidFill>
                <a:latin typeface="Calibri" pitchFamily="34" charset="0"/>
                <a:ea typeface="Calibri" pitchFamily="34" charset="-122"/>
                <a:cs typeface="Calibri" pitchFamily="34" charset="-120"/>
              </a:rPr>
              <a:t>. The MFA prompt is </a:t>
            </a:r>
            <a:r>
              <a:rPr lang="en-US" sz="1400" b="1" dirty="0">
                <a:solidFill>
                  <a:srgbClr val="FF9A5C"/>
                </a:solidFill>
                <a:latin typeface="Calibri" pitchFamily="34" charset="0"/>
                <a:ea typeface="Calibri" pitchFamily="34" charset="-122"/>
                <a:cs typeface="Calibri" pitchFamily="34" charset="-120"/>
              </a:rPr>
              <a:t>real</a:t>
            </a:r>
            <a:r>
              <a:rPr lang="en-US" sz="1400" dirty="0">
                <a:solidFill>
                  <a:srgbClr val="FFFFFF"/>
                </a:solidFill>
                <a:latin typeface="Calibri" pitchFamily="34" charset="0"/>
                <a:ea typeface="Calibri" pitchFamily="34" charset="-122"/>
                <a:cs typeface="Calibri" pitchFamily="34" charset="-120"/>
              </a:rPr>
              <a:t>. The attacker still gets in.</a:t>
            </a:r>
            <a:endParaRPr lang="en-US" sz="1400" dirty="0"/>
          </a:p>
        </p:txBody>
      </p:sp>
      <p:sp>
        <p:nvSpPr>
          <p:cNvPr id="18" name="Text 13"/>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B"/>
                </a:solidFill>
                <a:latin typeface="Calibri" pitchFamily="34" charset="0"/>
                <a:ea typeface="Calibri" pitchFamily="34" charset="-122"/>
                <a:cs typeface="Calibri" pitchFamily="34" charset="-120"/>
              </a:rPr>
              <a:t>Adversary-in-the-middle (AiTM) phishing</a:t>
            </a:r>
            <a:endParaRPr lang="en-US" sz="1200" dirty="0"/>
          </a:p>
        </p:txBody>
      </p:sp>
      <p:sp>
        <p:nvSpPr>
          <p:cNvPr id="19" name="Text 14"/>
          <p:cNvSpPr/>
          <p:nvPr/>
        </p:nvSpPr>
        <p:spPr>
          <a:xfrm>
            <a:off x="9855200" y="6238280"/>
            <a:ext cx="15240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A6B"/>
                </a:solidFill>
                <a:latin typeface="Calibri" pitchFamily="34" charset="0"/>
                <a:ea typeface="Calibri" pitchFamily="34" charset="-122"/>
                <a:cs typeface="Calibri" pitchFamily="34" charset="-120"/>
              </a:rPr>
              <a:t>ZNexora Tech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pic>
        <p:nvPicPr>
          <p:cNvPr id="2" name="Image 0" descr="ZNexora Tech logo"/>
          <p:cNvPicPr>
            <a:picLocks noChangeAspect="1"/>
          </p:cNvPicPr>
          <p:nvPr/>
        </p:nvPicPr>
        <p:blipFill>
          <a:blip r:embed="rId3"/>
          <a:srcRect l="-106" r="-106"/>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78D4"/>
                </a:solidFill>
                <a:latin typeface="Calibri" pitchFamily="34" charset="0"/>
                <a:ea typeface="Calibri" pitchFamily="34" charset="-122"/>
                <a:cs typeface="Calibri" pitchFamily="34" charset="-120"/>
              </a:rPr>
              <a:t>05 · MALWARE ROUTE</a:t>
            </a:r>
            <a:endParaRPr lang="en-US" sz="1200" dirty="0"/>
          </a:p>
        </p:txBody>
      </p:sp>
      <p:sp>
        <p:nvSpPr>
          <p:cNvPr id="4" name="Text 1"/>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1F33"/>
                </a:solidFill>
                <a:latin typeface="Arial" pitchFamily="34" charset="0"/>
                <a:ea typeface="Arial" pitchFamily="34" charset="-122"/>
                <a:cs typeface="Arial" pitchFamily="34" charset="-120"/>
              </a:rPr>
              <a:t>Infostealers take every session at once</a:t>
            </a:r>
            <a:endParaRPr lang="en-US" sz="3600" dirty="0"/>
          </a:p>
        </p:txBody>
      </p:sp>
      <p:sp>
        <p:nvSpPr>
          <p:cNvPr id="5" name="Shape 2"/>
          <p:cNvSpPr/>
          <p:nvPr/>
        </p:nvSpPr>
        <p:spPr>
          <a:xfrm>
            <a:off x="812800" y="1691481"/>
            <a:ext cx="2317750" cy="2049562"/>
          </a:xfrm>
          <a:prstGeom prst="roundRect">
            <a:avLst>
              <a:gd name="adj" fmla="val 4957"/>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6" name="Shape 3"/>
          <p:cNvSpPr/>
          <p:nvPr/>
        </p:nvSpPr>
        <p:spPr>
          <a:xfrm>
            <a:off x="990600" y="1894681"/>
            <a:ext cx="457200" cy="457200"/>
          </a:xfrm>
          <a:prstGeom prst="roundRect">
            <a:avLst>
              <a:gd name="adj" fmla="val 50000"/>
            </a:avLst>
          </a:prstGeom>
          <a:solidFill>
            <a:srgbClr val="FDEBDD"/>
          </a:solidFill>
          <a:ln/>
        </p:spPr>
        <p:txBody>
          <a:bodyPr/>
          <a:lstStyle/>
          <a:p>
            <a:endParaRPr lang="en-JP"/>
          </a:p>
        </p:txBody>
      </p:sp>
      <p:pic>
        <p:nvPicPr>
          <p:cNvPr id="7" name="Image 1" descr="bug icon"/>
          <p:cNvPicPr>
            <a:picLocks noChangeAspect="1"/>
          </p:cNvPicPr>
          <p:nvPr/>
        </p:nvPicPr>
        <p:blipFill>
          <a:blip r:embed="rId4"/>
          <a:srcRect/>
          <a:stretch/>
        </p:blipFill>
        <p:spPr>
          <a:xfrm>
            <a:off x="1104900" y="2008981"/>
            <a:ext cx="228600" cy="228600"/>
          </a:xfrm>
          <a:prstGeom prst="rect">
            <a:avLst/>
          </a:prstGeom>
        </p:spPr>
      </p:pic>
      <p:sp>
        <p:nvSpPr>
          <p:cNvPr id="8" name="Text 4"/>
          <p:cNvSpPr/>
          <p:nvPr/>
        </p:nvSpPr>
        <p:spPr>
          <a:xfrm>
            <a:off x="990600" y="2440781"/>
            <a:ext cx="202101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24E06"/>
                </a:solidFill>
                <a:latin typeface="Calibri" pitchFamily="34" charset="0"/>
                <a:ea typeface="Calibri" pitchFamily="34" charset="-122"/>
                <a:cs typeface="Calibri" pitchFamily="34" charset="-120"/>
              </a:rPr>
              <a:t>0:00</a:t>
            </a:r>
            <a:endParaRPr lang="en-US" sz="1200" dirty="0"/>
          </a:p>
        </p:txBody>
      </p:sp>
      <p:sp>
        <p:nvSpPr>
          <p:cNvPr id="9" name="Text 5"/>
          <p:cNvSpPr/>
          <p:nvPr/>
        </p:nvSpPr>
        <p:spPr>
          <a:xfrm>
            <a:off x="990600" y="2743002"/>
            <a:ext cx="202101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B1F33"/>
                </a:solidFill>
                <a:latin typeface="Calibri" pitchFamily="34" charset="0"/>
                <a:ea typeface="Calibri" pitchFamily="34" charset="-122"/>
                <a:cs typeface="Calibri" pitchFamily="34" charset="-120"/>
              </a:rPr>
              <a:t>Infostealer runs</a:t>
            </a:r>
            <a:endParaRPr lang="en-US" sz="1600" dirty="0"/>
          </a:p>
        </p:txBody>
      </p:sp>
      <p:sp>
        <p:nvSpPr>
          <p:cNvPr id="10" name="Text 6"/>
          <p:cNvSpPr/>
          <p:nvPr/>
        </p:nvSpPr>
        <p:spPr>
          <a:xfrm>
            <a:off x="990600" y="3075682"/>
            <a:ext cx="2021014"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6B"/>
                </a:solidFill>
                <a:latin typeface="Calibri" pitchFamily="34" charset="0"/>
                <a:ea typeface="Calibri" pitchFamily="34" charset="-122"/>
                <a:cs typeface="Calibri" pitchFamily="34" charset="-120"/>
              </a:rPr>
              <a:t>after a fake CAPTCHA or download</a:t>
            </a:r>
            <a:endParaRPr lang="en-US" sz="1300" dirty="0"/>
          </a:p>
        </p:txBody>
      </p:sp>
      <p:pic>
        <p:nvPicPr>
          <p:cNvPr id="11" name="Image 2" descr="arrow-right"/>
          <p:cNvPicPr>
            <a:picLocks noChangeAspect="1"/>
          </p:cNvPicPr>
          <p:nvPr/>
        </p:nvPicPr>
        <p:blipFill>
          <a:blip r:embed="rId5"/>
          <a:srcRect/>
          <a:stretch/>
        </p:blipFill>
        <p:spPr>
          <a:xfrm>
            <a:off x="3232150" y="2614712"/>
            <a:ext cx="228600" cy="203200"/>
          </a:xfrm>
          <a:prstGeom prst="rect">
            <a:avLst/>
          </a:prstGeom>
        </p:spPr>
      </p:pic>
      <p:sp>
        <p:nvSpPr>
          <p:cNvPr id="12" name="Shape 7"/>
          <p:cNvSpPr/>
          <p:nvPr/>
        </p:nvSpPr>
        <p:spPr>
          <a:xfrm>
            <a:off x="3562350" y="1691481"/>
            <a:ext cx="2317750" cy="2049562"/>
          </a:xfrm>
          <a:prstGeom prst="roundRect">
            <a:avLst>
              <a:gd name="adj" fmla="val 4957"/>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13" name="Shape 8"/>
          <p:cNvSpPr/>
          <p:nvPr/>
        </p:nvSpPr>
        <p:spPr>
          <a:xfrm>
            <a:off x="3740150" y="1894681"/>
            <a:ext cx="457200" cy="457200"/>
          </a:xfrm>
          <a:prstGeom prst="roundRect">
            <a:avLst>
              <a:gd name="adj" fmla="val 50000"/>
            </a:avLst>
          </a:prstGeom>
          <a:solidFill>
            <a:srgbClr val="FDEBDD"/>
          </a:solidFill>
          <a:ln/>
        </p:spPr>
        <p:txBody>
          <a:bodyPr/>
          <a:lstStyle/>
          <a:p>
            <a:endParaRPr lang="en-JP"/>
          </a:p>
        </p:txBody>
      </p:sp>
      <p:pic>
        <p:nvPicPr>
          <p:cNvPr id="14" name="Image 3" descr="cookie icon"/>
          <p:cNvPicPr>
            <a:picLocks noChangeAspect="1"/>
          </p:cNvPicPr>
          <p:nvPr/>
        </p:nvPicPr>
        <p:blipFill>
          <a:blip r:embed="rId6"/>
          <a:srcRect/>
          <a:stretch/>
        </p:blipFill>
        <p:spPr>
          <a:xfrm>
            <a:off x="3854450" y="2008981"/>
            <a:ext cx="228600" cy="228600"/>
          </a:xfrm>
          <a:prstGeom prst="rect">
            <a:avLst/>
          </a:prstGeom>
        </p:spPr>
      </p:pic>
      <p:sp>
        <p:nvSpPr>
          <p:cNvPr id="15" name="Text 9"/>
          <p:cNvSpPr/>
          <p:nvPr/>
        </p:nvSpPr>
        <p:spPr>
          <a:xfrm>
            <a:off x="3740150" y="2440781"/>
            <a:ext cx="202101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24E06"/>
                </a:solidFill>
                <a:latin typeface="Calibri" pitchFamily="34" charset="0"/>
                <a:ea typeface="Calibri" pitchFamily="34" charset="-122"/>
                <a:cs typeface="Calibri" pitchFamily="34" charset="-120"/>
              </a:rPr>
              <a:t>0:01</a:t>
            </a:r>
            <a:endParaRPr lang="en-US" sz="1200" dirty="0"/>
          </a:p>
        </p:txBody>
      </p:sp>
      <p:sp>
        <p:nvSpPr>
          <p:cNvPr id="16" name="Text 10"/>
          <p:cNvSpPr/>
          <p:nvPr/>
        </p:nvSpPr>
        <p:spPr>
          <a:xfrm>
            <a:off x="3740150" y="2743002"/>
            <a:ext cx="202101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B1F33"/>
                </a:solidFill>
                <a:latin typeface="Calibri" pitchFamily="34" charset="0"/>
                <a:ea typeface="Calibri" pitchFamily="34" charset="-122"/>
                <a:cs typeface="Calibri" pitchFamily="34" charset="-120"/>
              </a:rPr>
              <a:t>Cookies copied</a:t>
            </a:r>
            <a:endParaRPr lang="en-US" sz="1600" dirty="0"/>
          </a:p>
        </p:txBody>
      </p:sp>
      <p:sp>
        <p:nvSpPr>
          <p:cNvPr id="17" name="Text 11"/>
          <p:cNvSpPr/>
          <p:nvPr/>
        </p:nvSpPr>
        <p:spPr>
          <a:xfrm>
            <a:off x="3740150" y="3075682"/>
            <a:ext cx="2021014"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6B"/>
                </a:solidFill>
                <a:latin typeface="Calibri" pitchFamily="34" charset="0"/>
                <a:ea typeface="Calibri" pitchFamily="34" charset="-122"/>
                <a:cs typeface="Calibri" pitchFamily="34" charset="-120"/>
              </a:rPr>
              <a:t>every site you're signed in to</a:t>
            </a:r>
            <a:endParaRPr lang="en-US" sz="1300" dirty="0"/>
          </a:p>
        </p:txBody>
      </p:sp>
      <p:pic>
        <p:nvPicPr>
          <p:cNvPr id="18" name="Image 4" descr="arrow-right"/>
          <p:cNvPicPr>
            <a:picLocks noChangeAspect="1"/>
          </p:cNvPicPr>
          <p:nvPr/>
        </p:nvPicPr>
        <p:blipFill>
          <a:blip r:embed="rId5"/>
          <a:srcRect/>
          <a:stretch/>
        </p:blipFill>
        <p:spPr>
          <a:xfrm>
            <a:off x="5981700" y="2614712"/>
            <a:ext cx="228600" cy="203200"/>
          </a:xfrm>
          <a:prstGeom prst="rect">
            <a:avLst/>
          </a:prstGeom>
        </p:spPr>
      </p:pic>
      <p:sp>
        <p:nvSpPr>
          <p:cNvPr id="19" name="Shape 12"/>
          <p:cNvSpPr/>
          <p:nvPr/>
        </p:nvSpPr>
        <p:spPr>
          <a:xfrm>
            <a:off x="6311900" y="1807071"/>
            <a:ext cx="2317750" cy="1818481"/>
          </a:xfrm>
          <a:prstGeom prst="roundRect">
            <a:avLst>
              <a:gd name="adj" fmla="val 5587"/>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20" name="Shape 13"/>
          <p:cNvSpPr/>
          <p:nvPr/>
        </p:nvSpPr>
        <p:spPr>
          <a:xfrm>
            <a:off x="6489700" y="2010271"/>
            <a:ext cx="457200" cy="457200"/>
          </a:xfrm>
          <a:prstGeom prst="roundRect">
            <a:avLst>
              <a:gd name="adj" fmla="val 50000"/>
            </a:avLst>
          </a:prstGeom>
          <a:solidFill>
            <a:srgbClr val="FDEBDD"/>
          </a:solidFill>
          <a:ln/>
        </p:spPr>
        <p:txBody>
          <a:bodyPr/>
          <a:lstStyle/>
          <a:p>
            <a:endParaRPr lang="en-JP"/>
          </a:p>
        </p:txBody>
      </p:sp>
      <p:pic>
        <p:nvPicPr>
          <p:cNvPr id="21" name="Image 5" descr="upload icon"/>
          <p:cNvPicPr>
            <a:picLocks noChangeAspect="1"/>
          </p:cNvPicPr>
          <p:nvPr/>
        </p:nvPicPr>
        <p:blipFill>
          <a:blip r:embed="rId7"/>
          <a:srcRect/>
          <a:stretch/>
        </p:blipFill>
        <p:spPr>
          <a:xfrm>
            <a:off x="6604000" y="2124571"/>
            <a:ext cx="228600" cy="228600"/>
          </a:xfrm>
          <a:prstGeom prst="rect">
            <a:avLst/>
          </a:prstGeom>
        </p:spPr>
      </p:pic>
      <p:sp>
        <p:nvSpPr>
          <p:cNvPr id="22" name="Text 14"/>
          <p:cNvSpPr/>
          <p:nvPr/>
        </p:nvSpPr>
        <p:spPr>
          <a:xfrm>
            <a:off x="6489700" y="2556371"/>
            <a:ext cx="202101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24E06"/>
                </a:solidFill>
                <a:latin typeface="Calibri" pitchFamily="34" charset="0"/>
                <a:ea typeface="Calibri" pitchFamily="34" charset="-122"/>
                <a:cs typeface="Calibri" pitchFamily="34" charset="-120"/>
              </a:rPr>
              <a:t>0:02</a:t>
            </a:r>
            <a:endParaRPr lang="en-US" sz="1200" dirty="0"/>
          </a:p>
        </p:txBody>
      </p:sp>
      <p:sp>
        <p:nvSpPr>
          <p:cNvPr id="23" name="Text 15"/>
          <p:cNvSpPr/>
          <p:nvPr/>
        </p:nvSpPr>
        <p:spPr>
          <a:xfrm>
            <a:off x="6489700" y="2858591"/>
            <a:ext cx="202101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B1F33"/>
                </a:solidFill>
                <a:latin typeface="Calibri" pitchFamily="34" charset="0"/>
                <a:ea typeface="Calibri" pitchFamily="34" charset="-122"/>
                <a:cs typeface="Calibri" pitchFamily="34" charset="-120"/>
              </a:rPr>
              <a:t>Sent and sold</a:t>
            </a:r>
            <a:endParaRPr lang="en-US" sz="1600" dirty="0"/>
          </a:p>
        </p:txBody>
      </p:sp>
      <p:sp>
        <p:nvSpPr>
          <p:cNvPr id="24" name="Text 16"/>
          <p:cNvSpPr/>
          <p:nvPr/>
        </p:nvSpPr>
        <p:spPr>
          <a:xfrm>
            <a:off x="6489700" y="3191272"/>
            <a:ext cx="202101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6B"/>
                </a:solidFill>
                <a:latin typeface="Calibri" pitchFamily="34" charset="0"/>
                <a:ea typeface="Calibri" pitchFamily="34" charset="-122"/>
                <a:cs typeface="Calibri" pitchFamily="34" charset="-120"/>
              </a:rPr>
              <a:t>bundled into “logs” online</a:t>
            </a:r>
            <a:endParaRPr lang="en-US" sz="1300" dirty="0"/>
          </a:p>
        </p:txBody>
      </p:sp>
      <p:pic>
        <p:nvPicPr>
          <p:cNvPr id="25" name="Image 6" descr="arrow-right"/>
          <p:cNvPicPr>
            <a:picLocks noChangeAspect="1"/>
          </p:cNvPicPr>
          <p:nvPr/>
        </p:nvPicPr>
        <p:blipFill>
          <a:blip r:embed="rId5"/>
          <a:srcRect/>
          <a:stretch/>
        </p:blipFill>
        <p:spPr>
          <a:xfrm>
            <a:off x="8731250" y="2614712"/>
            <a:ext cx="228600" cy="203200"/>
          </a:xfrm>
          <a:prstGeom prst="rect">
            <a:avLst/>
          </a:prstGeom>
        </p:spPr>
      </p:pic>
      <p:sp>
        <p:nvSpPr>
          <p:cNvPr id="26" name="Shape 17"/>
          <p:cNvSpPr/>
          <p:nvPr/>
        </p:nvSpPr>
        <p:spPr>
          <a:xfrm>
            <a:off x="9061450" y="1569641"/>
            <a:ext cx="2317750" cy="2293342"/>
          </a:xfrm>
          <a:prstGeom prst="roundRect">
            <a:avLst>
              <a:gd name="adj" fmla="val 4430"/>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27" name="Shape 18"/>
          <p:cNvSpPr/>
          <p:nvPr/>
        </p:nvSpPr>
        <p:spPr>
          <a:xfrm>
            <a:off x="9239250" y="1772841"/>
            <a:ext cx="457200" cy="457200"/>
          </a:xfrm>
          <a:prstGeom prst="roundRect">
            <a:avLst>
              <a:gd name="adj" fmla="val 50000"/>
            </a:avLst>
          </a:prstGeom>
          <a:solidFill>
            <a:srgbClr val="EAF3FC"/>
          </a:solidFill>
          <a:ln/>
        </p:spPr>
        <p:txBody>
          <a:bodyPr/>
          <a:lstStyle/>
          <a:p>
            <a:endParaRPr lang="en-JP"/>
          </a:p>
        </p:txBody>
      </p:sp>
      <p:pic>
        <p:nvPicPr>
          <p:cNvPr id="28" name="Image 7" descr="user icon"/>
          <p:cNvPicPr>
            <a:picLocks noChangeAspect="1"/>
          </p:cNvPicPr>
          <p:nvPr/>
        </p:nvPicPr>
        <p:blipFill>
          <a:blip r:embed="rId8"/>
          <a:srcRect/>
          <a:stretch/>
        </p:blipFill>
        <p:spPr>
          <a:xfrm>
            <a:off x="9353550" y="1887141"/>
            <a:ext cx="228600" cy="228600"/>
          </a:xfrm>
          <a:prstGeom prst="rect">
            <a:avLst/>
          </a:prstGeom>
        </p:spPr>
      </p:pic>
      <p:sp>
        <p:nvSpPr>
          <p:cNvPr id="29" name="Text 19"/>
          <p:cNvSpPr/>
          <p:nvPr/>
        </p:nvSpPr>
        <p:spPr>
          <a:xfrm>
            <a:off x="9239250" y="2318941"/>
            <a:ext cx="202101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078D4"/>
                </a:solidFill>
                <a:latin typeface="Calibri" pitchFamily="34" charset="0"/>
                <a:ea typeface="Calibri" pitchFamily="34" charset="-122"/>
                <a:cs typeface="Calibri" pitchFamily="34" charset="-120"/>
              </a:rPr>
              <a:t>Later</a:t>
            </a:r>
            <a:endParaRPr lang="en-US" sz="1200" dirty="0"/>
          </a:p>
        </p:txBody>
      </p:sp>
      <p:sp>
        <p:nvSpPr>
          <p:cNvPr id="30" name="Text 20"/>
          <p:cNvSpPr/>
          <p:nvPr/>
        </p:nvSpPr>
        <p:spPr>
          <a:xfrm>
            <a:off x="9239250" y="2621161"/>
            <a:ext cx="2021014" cy="51296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B1F33"/>
                </a:solidFill>
                <a:latin typeface="Calibri" pitchFamily="34" charset="0"/>
                <a:ea typeface="Calibri" pitchFamily="34" charset="-122"/>
                <a:cs typeface="Calibri" pitchFamily="34" charset="-120"/>
              </a:rPr>
              <a:t>Attacker logs in as you</a:t>
            </a:r>
            <a:endParaRPr lang="en-US" sz="1600" dirty="0"/>
          </a:p>
        </p:txBody>
      </p:sp>
      <p:sp>
        <p:nvSpPr>
          <p:cNvPr id="31" name="Text 21"/>
          <p:cNvSpPr/>
          <p:nvPr/>
        </p:nvSpPr>
        <p:spPr>
          <a:xfrm>
            <a:off x="9239250" y="3197622"/>
            <a:ext cx="2021014"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6B"/>
                </a:solidFill>
                <a:latin typeface="Calibri" pitchFamily="34" charset="0"/>
                <a:ea typeface="Calibri" pitchFamily="34" charset="-122"/>
                <a:cs typeface="Calibri" pitchFamily="34" charset="-120"/>
              </a:rPr>
              <a:t>email, cloud apps, admin tools</a:t>
            </a:r>
            <a:endParaRPr lang="en-US" sz="1300" dirty="0"/>
          </a:p>
        </p:txBody>
      </p:sp>
      <p:sp>
        <p:nvSpPr>
          <p:cNvPr id="32" name="Shape 22"/>
          <p:cNvSpPr/>
          <p:nvPr/>
        </p:nvSpPr>
        <p:spPr>
          <a:xfrm>
            <a:off x="812800" y="4116983"/>
            <a:ext cx="5207000" cy="802481"/>
          </a:xfrm>
          <a:prstGeom prst="roundRect">
            <a:avLst>
              <a:gd name="adj" fmla="val 12661"/>
            </a:avLst>
          </a:prstGeom>
          <a:solidFill>
            <a:srgbClr val="FDEBDD"/>
          </a:solidFill>
          <a:ln/>
        </p:spPr>
        <p:txBody>
          <a:bodyPr/>
          <a:lstStyle/>
          <a:p>
            <a:endParaRPr lang="en-JP"/>
          </a:p>
        </p:txBody>
      </p:sp>
      <p:pic>
        <p:nvPicPr>
          <p:cNvPr id="33" name="Image 8" descr="key icon"/>
          <p:cNvPicPr>
            <a:picLocks noChangeAspect="1"/>
          </p:cNvPicPr>
          <p:nvPr/>
        </p:nvPicPr>
        <p:blipFill>
          <a:blip r:embed="rId9"/>
          <a:srcRect/>
          <a:stretch/>
        </p:blipFill>
        <p:spPr>
          <a:xfrm>
            <a:off x="990600" y="4378523"/>
            <a:ext cx="279400" cy="279400"/>
          </a:xfrm>
          <a:prstGeom prst="rect">
            <a:avLst/>
          </a:prstGeom>
        </p:spPr>
      </p:pic>
      <p:sp>
        <p:nvSpPr>
          <p:cNvPr id="34" name="Text 23"/>
          <p:cNvSpPr/>
          <p:nvPr/>
        </p:nvSpPr>
        <p:spPr>
          <a:xfrm>
            <a:off x="1397000" y="4269383"/>
            <a:ext cx="4578350"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1F33"/>
                </a:solidFill>
                <a:latin typeface="Calibri" pitchFamily="34" charset="0"/>
                <a:ea typeface="Calibri" pitchFamily="34" charset="-122"/>
                <a:cs typeface="Calibri" pitchFamily="34" charset="-120"/>
              </a:rPr>
              <a:t>Changing your password alone doesn't help.</a:t>
            </a:r>
            <a:r>
              <a:rPr lang="en-US" sz="1400" dirty="0">
                <a:solidFill>
                  <a:srgbClr val="0B1F33"/>
                </a:solidFill>
                <a:latin typeface="Calibri" pitchFamily="34" charset="0"/>
                <a:ea typeface="Calibri" pitchFamily="34" charset="-122"/>
                <a:cs typeface="Calibri" pitchFamily="34" charset="-120"/>
              </a:rPr>
              <a:t> The stolen session keeps working.</a:t>
            </a:r>
            <a:endParaRPr lang="en-US" sz="1400" dirty="0"/>
          </a:p>
        </p:txBody>
      </p:sp>
      <p:sp>
        <p:nvSpPr>
          <p:cNvPr id="35" name="Shape 24"/>
          <p:cNvSpPr/>
          <p:nvPr/>
        </p:nvSpPr>
        <p:spPr>
          <a:xfrm>
            <a:off x="6172200" y="4116983"/>
            <a:ext cx="5207000" cy="802481"/>
          </a:xfrm>
          <a:prstGeom prst="roundRect">
            <a:avLst>
              <a:gd name="adj" fmla="val 12661"/>
            </a:avLst>
          </a:prstGeom>
          <a:solidFill>
            <a:srgbClr val="EAF3FC"/>
          </a:solidFill>
          <a:ln/>
        </p:spPr>
        <p:txBody>
          <a:bodyPr/>
          <a:lstStyle/>
          <a:p>
            <a:endParaRPr lang="en-JP"/>
          </a:p>
        </p:txBody>
      </p:sp>
      <p:pic>
        <p:nvPicPr>
          <p:cNvPr id="36" name="Image 9" descr="logout icon"/>
          <p:cNvPicPr>
            <a:picLocks noChangeAspect="1"/>
          </p:cNvPicPr>
          <p:nvPr/>
        </p:nvPicPr>
        <p:blipFill>
          <a:blip r:embed="rId10"/>
          <a:srcRect/>
          <a:stretch/>
        </p:blipFill>
        <p:spPr>
          <a:xfrm>
            <a:off x="6350000" y="4378523"/>
            <a:ext cx="279400" cy="279400"/>
          </a:xfrm>
          <a:prstGeom prst="rect">
            <a:avLst/>
          </a:prstGeom>
        </p:spPr>
      </p:pic>
      <p:sp>
        <p:nvSpPr>
          <p:cNvPr id="37" name="Text 25"/>
          <p:cNvSpPr/>
          <p:nvPr/>
        </p:nvSpPr>
        <p:spPr>
          <a:xfrm>
            <a:off x="6756400" y="4269383"/>
            <a:ext cx="4578350"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1F33"/>
                </a:solidFill>
                <a:latin typeface="Calibri" pitchFamily="34" charset="0"/>
                <a:ea typeface="Calibri" pitchFamily="34" charset="-122"/>
                <a:cs typeface="Calibri" pitchFamily="34" charset="-120"/>
              </a:rPr>
              <a:t>Sessions must be revoked</a:t>
            </a:r>
            <a:r>
              <a:rPr lang="en-US" sz="1400" dirty="0">
                <a:solidFill>
                  <a:srgbClr val="0B1F33"/>
                </a:solidFill>
                <a:latin typeface="Calibri" pitchFamily="34" charset="0"/>
                <a:ea typeface="Calibri" pitchFamily="34" charset="-122"/>
                <a:cs typeface="Calibri" pitchFamily="34" charset="-120"/>
              </a:rPr>
              <a:t> so every stolen cookie stops working.</a:t>
            </a:r>
            <a:endParaRPr lang="en-US" sz="1400" dirty="0"/>
          </a:p>
        </p:txBody>
      </p:sp>
      <p:sp>
        <p:nvSpPr>
          <p:cNvPr id="38" name="Text 26"/>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B"/>
                </a:solidFill>
                <a:latin typeface="Calibri" pitchFamily="34" charset="0"/>
                <a:ea typeface="Calibri" pitchFamily="34" charset="-122"/>
                <a:cs typeface="Calibri" pitchFamily="34" charset="-120"/>
              </a:rPr>
              <a:t>Links to our Lumma Stealer and Top 10 Malware sessions</a:t>
            </a:r>
            <a:endParaRPr lang="en-US" sz="1200" dirty="0"/>
          </a:p>
        </p:txBody>
      </p:sp>
      <p:sp>
        <p:nvSpPr>
          <p:cNvPr id="39" name="Text 27"/>
          <p:cNvSpPr/>
          <p:nvPr/>
        </p:nvSpPr>
        <p:spPr>
          <a:xfrm>
            <a:off x="9855200" y="6238280"/>
            <a:ext cx="15240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A6B"/>
                </a:solidFill>
                <a:latin typeface="Calibri" pitchFamily="34" charset="0"/>
                <a:ea typeface="Calibri" pitchFamily="34" charset="-122"/>
                <a:cs typeface="Calibri" pitchFamily="34" charset="-120"/>
              </a:rPr>
              <a:t>ZNexora Tech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pic>
        <p:nvPicPr>
          <p:cNvPr id="2" name="Image 0" descr="ZNexora Tech logo"/>
          <p:cNvPicPr>
            <a:picLocks noChangeAspect="1"/>
          </p:cNvPicPr>
          <p:nvPr/>
        </p:nvPicPr>
        <p:blipFill>
          <a:blip r:embed="rId3"/>
          <a:srcRect l="-106" r="-106"/>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78D4"/>
                </a:solidFill>
                <a:latin typeface="Calibri" pitchFamily="34" charset="0"/>
                <a:ea typeface="Calibri" pitchFamily="34" charset="-122"/>
                <a:cs typeface="Calibri" pitchFamily="34" charset="-120"/>
              </a:rPr>
              <a:t>06 · WARNING SIGNS</a:t>
            </a:r>
            <a:endParaRPr lang="en-US" sz="1200" dirty="0"/>
          </a:p>
        </p:txBody>
      </p:sp>
      <p:sp>
        <p:nvSpPr>
          <p:cNvPr id="4" name="Text 1"/>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1F33"/>
                </a:solidFill>
                <a:latin typeface="Arial" pitchFamily="34" charset="0"/>
                <a:ea typeface="Arial" pitchFamily="34" charset="-122"/>
                <a:cs typeface="Arial" pitchFamily="34" charset="-120"/>
              </a:rPr>
              <a:t>Signs your session may be stolen</a:t>
            </a:r>
            <a:endParaRPr lang="en-US" sz="3600" dirty="0"/>
          </a:p>
        </p:txBody>
      </p:sp>
      <p:sp>
        <p:nvSpPr>
          <p:cNvPr id="5" name="Shape 2"/>
          <p:cNvSpPr/>
          <p:nvPr/>
        </p:nvSpPr>
        <p:spPr>
          <a:xfrm>
            <a:off x="812800" y="1569641"/>
            <a:ext cx="3420467" cy="1071761"/>
          </a:xfrm>
          <a:prstGeom prst="roundRect">
            <a:avLst>
              <a:gd name="adj" fmla="val 9480"/>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6" name="Shape 3"/>
          <p:cNvSpPr/>
          <p:nvPr/>
        </p:nvSpPr>
        <p:spPr>
          <a:xfrm>
            <a:off x="990600" y="1876921"/>
            <a:ext cx="457200" cy="457200"/>
          </a:xfrm>
          <a:prstGeom prst="roundRect">
            <a:avLst>
              <a:gd name="adj" fmla="val 50000"/>
            </a:avLst>
          </a:prstGeom>
          <a:solidFill>
            <a:srgbClr val="FDEBDD"/>
          </a:solidFill>
          <a:ln/>
        </p:spPr>
        <p:txBody>
          <a:bodyPr/>
          <a:lstStyle/>
          <a:p>
            <a:endParaRPr lang="en-JP"/>
          </a:p>
        </p:txBody>
      </p:sp>
      <p:pic>
        <p:nvPicPr>
          <p:cNvPr id="7" name="Image 1" descr="logout icon"/>
          <p:cNvPicPr>
            <a:picLocks noChangeAspect="1"/>
          </p:cNvPicPr>
          <p:nvPr/>
        </p:nvPicPr>
        <p:blipFill>
          <a:blip r:embed="rId4"/>
          <a:srcRect/>
          <a:stretch/>
        </p:blipFill>
        <p:spPr>
          <a:xfrm>
            <a:off x="1104900" y="1991221"/>
            <a:ext cx="228600" cy="228600"/>
          </a:xfrm>
          <a:prstGeom prst="rect">
            <a:avLst/>
          </a:prstGeom>
        </p:spPr>
      </p:pic>
      <p:sp>
        <p:nvSpPr>
          <p:cNvPr id="8" name="Text 4"/>
          <p:cNvSpPr/>
          <p:nvPr/>
        </p:nvSpPr>
        <p:spPr>
          <a:xfrm>
            <a:off x="1574800" y="1747441"/>
            <a:ext cx="255508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3"/>
                </a:solidFill>
                <a:latin typeface="Calibri" pitchFamily="34" charset="0"/>
                <a:ea typeface="Calibri" pitchFamily="34" charset="-122"/>
                <a:cs typeface="Calibri" pitchFamily="34" charset="-120"/>
              </a:rPr>
              <a:t>Signed out unexpectedly</a:t>
            </a:r>
            <a:endParaRPr lang="en-US" sz="1500" dirty="0"/>
          </a:p>
        </p:txBody>
      </p:sp>
      <p:sp>
        <p:nvSpPr>
          <p:cNvPr id="9" name="Text 5"/>
          <p:cNvSpPr/>
          <p:nvPr/>
        </p:nvSpPr>
        <p:spPr>
          <a:xfrm>
            <a:off x="1574800" y="2001441"/>
            <a:ext cx="2555087"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6B"/>
                </a:solidFill>
                <a:latin typeface="Calibri" pitchFamily="34" charset="0"/>
                <a:ea typeface="Calibri" pitchFamily="34" charset="-122"/>
                <a:cs typeface="Calibri" pitchFamily="34" charset="-120"/>
              </a:rPr>
              <a:t>from email or apps, for no clear reason</a:t>
            </a:r>
            <a:endParaRPr lang="en-US" sz="1300" dirty="0"/>
          </a:p>
        </p:txBody>
      </p:sp>
      <p:sp>
        <p:nvSpPr>
          <p:cNvPr id="10" name="Shape 6"/>
          <p:cNvSpPr/>
          <p:nvPr/>
        </p:nvSpPr>
        <p:spPr>
          <a:xfrm>
            <a:off x="4385667" y="1569641"/>
            <a:ext cx="3420566" cy="1071761"/>
          </a:xfrm>
          <a:prstGeom prst="roundRect">
            <a:avLst>
              <a:gd name="adj" fmla="val 9480"/>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11" name="Shape 7"/>
          <p:cNvSpPr/>
          <p:nvPr/>
        </p:nvSpPr>
        <p:spPr>
          <a:xfrm>
            <a:off x="4563467" y="1876921"/>
            <a:ext cx="457200" cy="457200"/>
          </a:xfrm>
          <a:prstGeom prst="roundRect">
            <a:avLst>
              <a:gd name="adj" fmla="val 50000"/>
            </a:avLst>
          </a:prstGeom>
          <a:solidFill>
            <a:srgbClr val="FDEBDD"/>
          </a:solidFill>
          <a:ln/>
        </p:spPr>
        <p:txBody>
          <a:bodyPr/>
          <a:lstStyle/>
          <a:p>
            <a:endParaRPr lang="en-JP"/>
          </a:p>
        </p:txBody>
      </p:sp>
      <p:pic>
        <p:nvPicPr>
          <p:cNvPr id="12" name="Image 2" descr="alert icon"/>
          <p:cNvPicPr>
            <a:picLocks noChangeAspect="1"/>
          </p:cNvPicPr>
          <p:nvPr/>
        </p:nvPicPr>
        <p:blipFill>
          <a:blip r:embed="rId5"/>
          <a:srcRect/>
          <a:stretch/>
        </p:blipFill>
        <p:spPr>
          <a:xfrm>
            <a:off x="4677767" y="1991221"/>
            <a:ext cx="228600" cy="228600"/>
          </a:xfrm>
          <a:prstGeom prst="rect">
            <a:avLst/>
          </a:prstGeom>
        </p:spPr>
      </p:pic>
      <p:sp>
        <p:nvSpPr>
          <p:cNvPr id="13" name="Text 8"/>
          <p:cNvSpPr/>
          <p:nvPr/>
        </p:nvSpPr>
        <p:spPr>
          <a:xfrm>
            <a:off x="5147667" y="1747441"/>
            <a:ext cx="255518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3"/>
                </a:solidFill>
                <a:latin typeface="Calibri" pitchFamily="34" charset="0"/>
                <a:ea typeface="Calibri" pitchFamily="34" charset="-122"/>
                <a:cs typeface="Calibri" pitchFamily="34" charset="-120"/>
              </a:rPr>
              <a:t>“New sign-in” alerts</a:t>
            </a:r>
            <a:endParaRPr lang="en-US" sz="1500" dirty="0"/>
          </a:p>
        </p:txBody>
      </p:sp>
      <p:sp>
        <p:nvSpPr>
          <p:cNvPr id="14" name="Text 9"/>
          <p:cNvSpPr/>
          <p:nvPr/>
        </p:nvSpPr>
        <p:spPr>
          <a:xfrm>
            <a:off x="5147667" y="2001441"/>
            <a:ext cx="2555189"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6B"/>
                </a:solidFill>
                <a:latin typeface="Calibri" pitchFamily="34" charset="0"/>
                <a:ea typeface="Calibri" pitchFamily="34" charset="-122"/>
                <a:cs typeface="Calibri" pitchFamily="34" charset="-120"/>
              </a:rPr>
              <a:t>from a location or device you don't recognise</a:t>
            </a:r>
            <a:endParaRPr lang="en-US" sz="1300" dirty="0"/>
          </a:p>
        </p:txBody>
      </p:sp>
      <p:sp>
        <p:nvSpPr>
          <p:cNvPr id="15" name="Shape 10"/>
          <p:cNvSpPr/>
          <p:nvPr/>
        </p:nvSpPr>
        <p:spPr>
          <a:xfrm>
            <a:off x="7958634" y="1569641"/>
            <a:ext cx="3420566" cy="1071761"/>
          </a:xfrm>
          <a:prstGeom prst="roundRect">
            <a:avLst>
              <a:gd name="adj" fmla="val 9480"/>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16" name="Shape 11"/>
          <p:cNvSpPr/>
          <p:nvPr/>
        </p:nvSpPr>
        <p:spPr>
          <a:xfrm>
            <a:off x="8136434" y="1876921"/>
            <a:ext cx="457200" cy="457200"/>
          </a:xfrm>
          <a:prstGeom prst="roundRect">
            <a:avLst>
              <a:gd name="adj" fmla="val 50000"/>
            </a:avLst>
          </a:prstGeom>
          <a:solidFill>
            <a:srgbClr val="FDEBDD"/>
          </a:solidFill>
          <a:ln/>
        </p:spPr>
        <p:txBody>
          <a:bodyPr/>
          <a:lstStyle/>
          <a:p>
            <a:endParaRPr lang="en-JP"/>
          </a:p>
        </p:txBody>
      </p:sp>
      <p:pic>
        <p:nvPicPr>
          <p:cNvPr id="17" name="Image 3" descr="mail icon"/>
          <p:cNvPicPr>
            <a:picLocks noChangeAspect="1"/>
          </p:cNvPicPr>
          <p:nvPr/>
        </p:nvPicPr>
        <p:blipFill>
          <a:blip r:embed="rId6"/>
          <a:srcRect/>
          <a:stretch/>
        </p:blipFill>
        <p:spPr>
          <a:xfrm>
            <a:off x="8250734" y="1991221"/>
            <a:ext cx="228600" cy="228600"/>
          </a:xfrm>
          <a:prstGeom prst="rect">
            <a:avLst/>
          </a:prstGeom>
        </p:spPr>
      </p:pic>
      <p:sp>
        <p:nvSpPr>
          <p:cNvPr id="18" name="Text 12"/>
          <p:cNvSpPr/>
          <p:nvPr/>
        </p:nvSpPr>
        <p:spPr>
          <a:xfrm>
            <a:off x="8720634" y="1747441"/>
            <a:ext cx="255518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3"/>
                </a:solidFill>
                <a:latin typeface="Calibri" pitchFamily="34" charset="0"/>
                <a:ea typeface="Calibri" pitchFamily="34" charset="-122"/>
                <a:cs typeface="Calibri" pitchFamily="34" charset="-120"/>
              </a:rPr>
              <a:t>Emails you didn't send</a:t>
            </a:r>
            <a:endParaRPr lang="en-US" sz="1500" dirty="0"/>
          </a:p>
        </p:txBody>
      </p:sp>
      <p:sp>
        <p:nvSpPr>
          <p:cNvPr id="19" name="Text 13"/>
          <p:cNvSpPr/>
          <p:nvPr/>
        </p:nvSpPr>
        <p:spPr>
          <a:xfrm>
            <a:off x="8720634" y="2001441"/>
            <a:ext cx="2555189"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6B"/>
                </a:solidFill>
                <a:latin typeface="Calibri" pitchFamily="34" charset="0"/>
                <a:ea typeface="Calibri" pitchFamily="34" charset="-122"/>
                <a:cs typeface="Calibri" pitchFamily="34" charset="-120"/>
              </a:rPr>
              <a:t>or new inbox rules forwarding your mail</a:t>
            </a:r>
            <a:endParaRPr lang="en-US" sz="1300" dirty="0"/>
          </a:p>
        </p:txBody>
      </p:sp>
      <p:sp>
        <p:nvSpPr>
          <p:cNvPr id="20" name="Shape 14"/>
          <p:cNvSpPr/>
          <p:nvPr/>
        </p:nvSpPr>
        <p:spPr>
          <a:xfrm>
            <a:off x="812800" y="2793802"/>
            <a:ext cx="3420467" cy="1300361"/>
          </a:xfrm>
          <a:prstGeom prst="roundRect">
            <a:avLst>
              <a:gd name="adj" fmla="val 7813"/>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21" name="Shape 15"/>
          <p:cNvSpPr/>
          <p:nvPr/>
        </p:nvSpPr>
        <p:spPr>
          <a:xfrm>
            <a:off x="990600" y="3215382"/>
            <a:ext cx="457200" cy="457200"/>
          </a:xfrm>
          <a:prstGeom prst="roundRect">
            <a:avLst>
              <a:gd name="adj" fmla="val 50000"/>
            </a:avLst>
          </a:prstGeom>
          <a:solidFill>
            <a:srgbClr val="FDEBDD"/>
          </a:solidFill>
          <a:ln/>
        </p:spPr>
        <p:txBody>
          <a:bodyPr/>
          <a:lstStyle/>
          <a:p>
            <a:endParaRPr lang="en-JP"/>
          </a:p>
        </p:txBody>
      </p:sp>
      <p:pic>
        <p:nvPicPr>
          <p:cNvPr id="22" name="Image 4" descr="phone icon"/>
          <p:cNvPicPr>
            <a:picLocks noChangeAspect="1"/>
          </p:cNvPicPr>
          <p:nvPr/>
        </p:nvPicPr>
        <p:blipFill>
          <a:blip r:embed="rId7"/>
          <a:srcRect/>
          <a:stretch/>
        </p:blipFill>
        <p:spPr>
          <a:xfrm>
            <a:off x="1104900" y="3329682"/>
            <a:ext cx="228600" cy="228600"/>
          </a:xfrm>
          <a:prstGeom prst="rect">
            <a:avLst/>
          </a:prstGeom>
        </p:spPr>
      </p:pic>
      <p:sp>
        <p:nvSpPr>
          <p:cNvPr id="23" name="Text 16"/>
          <p:cNvSpPr/>
          <p:nvPr/>
        </p:nvSpPr>
        <p:spPr>
          <a:xfrm>
            <a:off x="1574800" y="3085902"/>
            <a:ext cx="255508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3"/>
                </a:solidFill>
                <a:latin typeface="Calibri" pitchFamily="34" charset="0"/>
                <a:ea typeface="Calibri" pitchFamily="34" charset="-122"/>
                <a:cs typeface="Calibri" pitchFamily="34" charset="-120"/>
              </a:rPr>
              <a:t>An MFA prompt via a link</a:t>
            </a:r>
            <a:endParaRPr lang="en-US" sz="1500" dirty="0"/>
          </a:p>
        </p:txBody>
      </p:sp>
      <p:sp>
        <p:nvSpPr>
          <p:cNvPr id="24" name="Text 17"/>
          <p:cNvSpPr/>
          <p:nvPr/>
        </p:nvSpPr>
        <p:spPr>
          <a:xfrm>
            <a:off x="1574800" y="3339902"/>
            <a:ext cx="2555087"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6B"/>
                </a:solidFill>
                <a:latin typeface="Calibri" pitchFamily="34" charset="0"/>
                <a:ea typeface="Calibri" pitchFamily="34" charset="-122"/>
                <a:cs typeface="Calibri" pitchFamily="34" charset="-120"/>
              </a:rPr>
              <a:t>right after logging in from an email link</a:t>
            </a:r>
            <a:endParaRPr lang="en-US" sz="1300" dirty="0"/>
          </a:p>
        </p:txBody>
      </p:sp>
      <p:sp>
        <p:nvSpPr>
          <p:cNvPr id="25" name="Shape 18"/>
          <p:cNvSpPr/>
          <p:nvPr/>
        </p:nvSpPr>
        <p:spPr>
          <a:xfrm>
            <a:off x="4385667" y="2793802"/>
            <a:ext cx="3420566" cy="1300361"/>
          </a:xfrm>
          <a:prstGeom prst="roundRect">
            <a:avLst>
              <a:gd name="adj" fmla="val 7813"/>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26" name="Shape 19"/>
          <p:cNvSpPr/>
          <p:nvPr/>
        </p:nvSpPr>
        <p:spPr>
          <a:xfrm>
            <a:off x="4563467" y="3215382"/>
            <a:ext cx="457200" cy="457200"/>
          </a:xfrm>
          <a:prstGeom prst="roundRect">
            <a:avLst>
              <a:gd name="adj" fmla="val 50000"/>
            </a:avLst>
          </a:prstGeom>
          <a:solidFill>
            <a:srgbClr val="FDEBDD"/>
          </a:solidFill>
          <a:ln/>
        </p:spPr>
        <p:txBody>
          <a:bodyPr/>
          <a:lstStyle/>
          <a:p>
            <a:endParaRPr lang="en-JP"/>
          </a:p>
        </p:txBody>
      </p:sp>
      <p:pic>
        <p:nvPicPr>
          <p:cNvPr id="27" name="Image 5" descr="hash icon"/>
          <p:cNvPicPr>
            <a:picLocks noChangeAspect="1"/>
          </p:cNvPicPr>
          <p:nvPr/>
        </p:nvPicPr>
        <p:blipFill>
          <a:blip r:embed="rId8"/>
          <a:srcRect/>
          <a:stretch/>
        </p:blipFill>
        <p:spPr>
          <a:xfrm>
            <a:off x="4677767" y="3329682"/>
            <a:ext cx="228600" cy="228600"/>
          </a:xfrm>
          <a:prstGeom prst="rect">
            <a:avLst/>
          </a:prstGeom>
        </p:spPr>
      </p:pic>
      <p:sp>
        <p:nvSpPr>
          <p:cNvPr id="28" name="Text 20"/>
          <p:cNvSpPr/>
          <p:nvPr/>
        </p:nvSpPr>
        <p:spPr>
          <a:xfrm>
            <a:off x="5147667" y="3085902"/>
            <a:ext cx="255518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3"/>
                </a:solidFill>
                <a:latin typeface="Calibri" pitchFamily="34" charset="0"/>
                <a:ea typeface="Calibri" pitchFamily="34" charset="-122"/>
                <a:cs typeface="Calibri" pitchFamily="34" charset="-120"/>
              </a:rPr>
              <a:t>Someone asks for a code</a:t>
            </a:r>
            <a:endParaRPr lang="en-US" sz="1500" dirty="0"/>
          </a:p>
        </p:txBody>
      </p:sp>
      <p:sp>
        <p:nvSpPr>
          <p:cNvPr id="29" name="Text 21"/>
          <p:cNvSpPr/>
          <p:nvPr/>
        </p:nvSpPr>
        <p:spPr>
          <a:xfrm>
            <a:off x="5147667" y="3339902"/>
            <a:ext cx="2555189"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6B"/>
                </a:solidFill>
                <a:latin typeface="Calibri" pitchFamily="34" charset="0"/>
                <a:ea typeface="Calibri" pitchFamily="34" charset="-122"/>
                <a:cs typeface="Calibri" pitchFamily="34" charset="-120"/>
              </a:rPr>
              <a:t>“enter this code to verify your account”</a:t>
            </a:r>
            <a:endParaRPr lang="en-US" sz="1300" dirty="0"/>
          </a:p>
        </p:txBody>
      </p:sp>
      <p:sp>
        <p:nvSpPr>
          <p:cNvPr id="30" name="Shape 22"/>
          <p:cNvSpPr/>
          <p:nvPr/>
        </p:nvSpPr>
        <p:spPr>
          <a:xfrm>
            <a:off x="7958634" y="2793802"/>
            <a:ext cx="3420566" cy="1300361"/>
          </a:xfrm>
          <a:prstGeom prst="roundRect">
            <a:avLst>
              <a:gd name="adj" fmla="val 7813"/>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31" name="Shape 23"/>
          <p:cNvSpPr/>
          <p:nvPr/>
        </p:nvSpPr>
        <p:spPr>
          <a:xfrm>
            <a:off x="8136434" y="3215382"/>
            <a:ext cx="457200" cy="457200"/>
          </a:xfrm>
          <a:prstGeom prst="roundRect">
            <a:avLst>
              <a:gd name="adj" fmla="val 50000"/>
            </a:avLst>
          </a:prstGeom>
          <a:solidFill>
            <a:srgbClr val="FDEBDD"/>
          </a:solidFill>
          <a:ln/>
        </p:spPr>
        <p:txBody>
          <a:bodyPr/>
          <a:lstStyle/>
          <a:p>
            <a:endParaRPr lang="en-JP"/>
          </a:p>
        </p:txBody>
      </p:sp>
      <p:pic>
        <p:nvPicPr>
          <p:cNvPr id="32" name="Image 6" descr="puzzle icon"/>
          <p:cNvPicPr>
            <a:picLocks noChangeAspect="1"/>
          </p:cNvPicPr>
          <p:nvPr/>
        </p:nvPicPr>
        <p:blipFill>
          <a:blip r:embed="rId9"/>
          <a:srcRect/>
          <a:stretch/>
        </p:blipFill>
        <p:spPr>
          <a:xfrm>
            <a:off x="8250734" y="3329682"/>
            <a:ext cx="228600" cy="228600"/>
          </a:xfrm>
          <a:prstGeom prst="rect">
            <a:avLst/>
          </a:prstGeom>
        </p:spPr>
      </p:pic>
      <p:sp>
        <p:nvSpPr>
          <p:cNvPr id="33" name="Text 24"/>
          <p:cNvSpPr/>
          <p:nvPr/>
        </p:nvSpPr>
        <p:spPr>
          <a:xfrm>
            <a:off x="8720634" y="2971602"/>
            <a:ext cx="2555189"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3"/>
                </a:solidFill>
                <a:latin typeface="Calibri" pitchFamily="34" charset="0"/>
                <a:ea typeface="Calibri" pitchFamily="34" charset="-122"/>
                <a:cs typeface="Calibri" pitchFamily="34" charset="-120"/>
              </a:rPr>
              <a:t>Unknown apps or extensions</a:t>
            </a:r>
            <a:endParaRPr lang="en-US" sz="1500" dirty="0"/>
          </a:p>
        </p:txBody>
      </p:sp>
      <p:sp>
        <p:nvSpPr>
          <p:cNvPr id="34" name="Text 25"/>
          <p:cNvSpPr/>
          <p:nvPr/>
        </p:nvSpPr>
        <p:spPr>
          <a:xfrm>
            <a:off x="8720634" y="3454202"/>
            <a:ext cx="2555189"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6B"/>
                </a:solidFill>
                <a:latin typeface="Calibri" pitchFamily="34" charset="0"/>
                <a:ea typeface="Calibri" pitchFamily="34" charset="-122"/>
                <a:cs typeface="Calibri" pitchFamily="34" charset="-120"/>
              </a:rPr>
              <a:t>connected to your account or browser</a:t>
            </a:r>
            <a:endParaRPr lang="en-US" sz="1300" dirty="0"/>
          </a:p>
        </p:txBody>
      </p:sp>
      <p:sp>
        <p:nvSpPr>
          <p:cNvPr id="35" name="Shape 26"/>
          <p:cNvSpPr/>
          <p:nvPr/>
        </p:nvSpPr>
        <p:spPr>
          <a:xfrm>
            <a:off x="812800" y="4348163"/>
            <a:ext cx="10566400" cy="762000"/>
          </a:xfrm>
          <a:prstGeom prst="roundRect">
            <a:avLst>
              <a:gd name="adj" fmla="val 13333"/>
            </a:avLst>
          </a:prstGeom>
          <a:solidFill>
            <a:srgbClr val="0A1628"/>
          </a:solidFill>
          <a:ln/>
        </p:spPr>
        <p:txBody>
          <a:bodyPr/>
          <a:lstStyle/>
          <a:p>
            <a:endParaRPr lang="en-JP"/>
          </a:p>
        </p:txBody>
      </p:sp>
      <p:sp>
        <p:nvSpPr>
          <p:cNvPr id="36" name="Shape 27"/>
          <p:cNvSpPr/>
          <p:nvPr/>
        </p:nvSpPr>
        <p:spPr>
          <a:xfrm>
            <a:off x="1041400" y="4525963"/>
            <a:ext cx="406400" cy="406400"/>
          </a:xfrm>
          <a:prstGeom prst="roundRect">
            <a:avLst>
              <a:gd name="adj" fmla="val 50000"/>
            </a:avLst>
          </a:prstGeom>
          <a:solidFill>
            <a:srgbClr val="F7630C"/>
          </a:solidFill>
          <a:ln/>
        </p:spPr>
        <p:txBody>
          <a:bodyPr/>
          <a:lstStyle/>
          <a:p>
            <a:endParaRPr lang="en-JP"/>
          </a:p>
        </p:txBody>
      </p:sp>
      <p:pic>
        <p:nvPicPr>
          <p:cNvPr id="37" name="Image 7" descr="megaphone icon"/>
          <p:cNvPicPr>
            <a:picLocks noChangeAspect="1"/>
          </p:cNvPicPr>
          <p:nvPr/>
        </p:nvPicPr>
        <p:blipFill>
          <a:blip r:embed="rId10"/>
          <a:srcRect/>
          <a:stretch/>
        </p:blipFill>
        <p:spPr>
          <a:xfrm>
            <a:off x="1143000" y="4627563"/>
            <a:ext cx="203200" cy="203200"/>
          </a:xfrm>
          <a:prstGeom prst="rect">
            <a:avLst/>
          </a:prstGeom>
        </p:spPr>
      </p:pic>
      <p:sp>
        <p:nvSpPr>
          <p:cNvPr id="38" name="Text 28"/>
          <p:cNvSpPr/>
          <p:nvPr/>
        </p:nvSpPr>
        <p:spPr>
          <a:xfrm>
            <a:off x="1600200" y="4586883"/>
            <a:ext cx="983691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Calibri" pitchFamily="34" charset="0"/>
                <a:ea typeface="Calibri" pitchFamily="34" charset="-122"/>
                <a:cs typeface="Calibri" pitchFamily="34" charset="-120"/>
              </a:rPr>
              <a:t>Notice any of these? </a:t>
            </a:r>
            <a:r>
              <a:rPr lang="en-US" sz="1600" b="1" dirty="0">
                <a:solidFill>
                  <a:srgbClr val="FF9A5C"/>
                </a:solidFill>
                <a:latin typeface="Calibri" pitchFamily="34" charset="0"/>
                <a:ea typeface="Calibri" pitchFamily="34" charset="-122"/>
                <a:cs typeface="Calibri" pitchFamily="34" charset="-120"/>
              </a:rPr>
              <a:t>Report it to IT straight away.</a:t>
            </a:r>
            <a:endParaRPr lang="en-US" sz="1600" dirty="0"/>
          </a:p>
        </p:txBody>
      </p:sp>
      <p:sp>
        <p:nvSpPr>
          <p:cNvPr id="39" name="Text 29"/>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B"/>
                </a:solidFill>
                <a:latin typeface="Calibri" pitchFamily="34" charset="0"/>
                <a:ea typeface="Calibri" pitchFamily="34" charset="-122"/>
                <a:cs typeface="Calibri" pitchFamily="34" charset="-120"/>
              </a:rPr>
              <a:t>ZNexora Tech security guidance</a:t>
            </a:r>
            <a:endParaRPr lang="en-US" sz="1200" dirty="0"/>
          </a:p>
        </p:txBody>
      </p:sp>
      <p:sp>
        <p:nvSpPr>
          <p:cNvPr id="40" name="Text 30"/>
          <p:cNvSpPr/>
          <p:nvPr/>
        </p:nvSpPr>
        <p:spPr>
          <a:xfrm>
            <a:off x="9855200" y="6238280"/>
            <a:ext cx="15240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A6B"/>
                </a:solidFill>
                <a:latin typeface="Calibri" pitchFamily="34" charset="0"/>
                <a:ea typeface="Calibri" pitchFamily="34" charset="-122"/>
                <a:cs typeface="Calibri" pitchFamily="34" charset="-120"/>
              </a:rPr>
              <a:t>ZNexora Tech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pic>
        <p:nvPicPr>
          <p:cNvPr id="2" name="Image 0" descr="ZNexora Tech logo"/>
          <p:cNvPicPr>
            <a:picLocks noChangeAspect="1"/>
          </p:cNvPicPr>
          <p:nvPr/>
        </p:nvPicPr>
        <p:blipFill>
          <a:blip r:embed="rId3"/>
          <a:srcRect l="-106" r="-106"/>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78D4"/>
                </a:solidFill>
                <a:latin typeface="Calibri" pitchFamily="34" charset="0"/>
                <a:ea typeface="Calibri" pitchFamily="34" charset="-122"/>
                <a:cs typeface="Calibri" pitchFamily="34" charset="-120"/>
              </a:rPr>
              <a:t>07 · PROTECT YOURSELF</a:t>
            </a:r>
            <a:endParaRPr lang="en-US" sz="1200" dirty="0"/>
          </a:p>
        </p:txBody>
      </p:sp>
      <p:sp>
        <p:nvSpPr>
          <p:cNvPr id="4" name="Text 1"/>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1F33"/>
                </a:solidFill>
                <a:latin typeface="Arial" pitchFamily="34" charset="0"/>
                <a:ea typeface="Arial" pitchFamily="34" charset="-122"/>
                <a:cs typeface="Arial" pitchFamily="34" charset="-120"/>
              </a:rPr>
              <a:t>Six habits that protect your session</a:t>
            </a:r>
            <a:endParaRPr lang="en-US" sz="3600" dirty="0"/>
          </a:p>
        </p:txBody>
      </p:sp>
      <p:sp>
        <p:nvSpPr>
          <p:cNvPr id="5" name="Shape 2"/>
          <p:cNvSpPr/>
          <p:nvPr/>
        </p:nvSpPr>
        <p:spPr>
          <a:xfrm>
            <a:off x="812800" y="1569641"/>
            <a:ext cx="3420467" cy="1681361"/>
          </a:xfrm>
          <a:prstGeom prst="roundRect">
            <a:avLst>
              <a:gd name="adj" fmla="val 6043"/>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6" name="Shape 3"/>
          <p:cNvSpPr/>
          <p:nvPr/>
        </p:nvSpPr>
        <p:spPr>
          <a:xfrm>
            <a:off x="812800" y="1569641"/>
            <a:ext cx="3420467" cy="1681361"/>
          </a:xfrm>
          <a:custGeom>
            <a:avLst/>
            <a:gdLst/>
            <a:ahLst/>
            <a:cxnLst/>
            <a:rect l="l" t="t" r="r" b="b"/>
            <a:pathLst>
              <a:path w="3420467" h="1681361">
                <a:moveTo>
                  <a:pt x="0" y="101600"/>
                </a:moveTo>
                <a:lnTo>
                  <a:pt x="0" y="101600"/>
                </a:lnTo>
                <a:arcTo wR="101600" hR="101600" stAng="10800000" swAng="5400000"/>
                <a:lnTo>
                  <a:pt x="3318867" y="0"/>
                </a:lnTo>
                <a:arcTo wR="101600" hR="101600" stAng="16200000" swAng="5400000"/>
                <a:lnTo>
                  <a:pt x="3420467" y="101600"/>
                </a:lnTo>
                <a:arcTo wR="101600" hR="50800" stAng="0" swAng="-5400000"/>
                <a:lnTo>
                  <a:pt x="101600" y="50800"/>
                </a:lnTo>
                <a:arcTo wR="101600" hR="50800" stAng="16200000" swAng="-5400000"/>
                <a:close/>
              </a:path>
            </a:pathLst>
          </a:custGeom>
          <a:solidFill>
            <a:srgbClr val="0078D4"/>
          </a:solidFill>
          <a:ln/>
        </p:spPr>
        <p:txBody>
          <a:bodyPr/>
          <a:lstStyle/>
          <a:p>
            <a:endParaRPr lang="en-JP"/>
          </a:p>
        </p:txBody>
      </p:sp>
      <p:sp>
        <p:nvSpPr>
          <p:cNvPr id="7" name="Shape 4"/>
          <p:cNvSpPr/>
          <p:nvPr/>
        </p:nvSpPr>
        <p:spPr>
          <a:xfrm>
            <a:off x="1016000" y="1798241"/>
            <a:ext cx="406400" cy="406400"/>
          </a:xfrm>
          <a:prstGeom prst="roundRect">
            <a:avLst>
              <a:gd name="adj" fmla="val 50000"/>
            </a:avLst>
          </a:prstGeom>
          <a:solidFill>
            <a:srgbClr val="EAF3FC"/>
          </a:solidFill>
          <a:ln/>
        </p:spPr>
        <p:txBody>
          <a:bodyPr/>
          <a:lstStyle/>
          <a:p>
            <a:endParaRPr lang="en-JP"/>
          </a:p>
        </p:txBody>
      </p:sp>
      <p:pic>
        <p:nvPicPr>
          <p:cNvPr id="8" name="Image 1" descr="bookmark icon"/>
          <p:cNvPicPr>
            <a:picLocks noChangeAspect="1"/>
          </p:cNvPicPr>
          <p:nvPr/>
        </p:nvPicPr>
        <p:blipFill>
          <a:blip r:embed="rId4"/>
          <a:srcRect/>
          <a:stretch/>
        </p:blipFill>
        <p:spPr>
          <a:xfrm>
            <a:off x="1117600" y="1899841"/>
            <a:ext cx="203200" cy="203200"/>
          </a:xfrm>
          <a:prstGeom prst="rect">
            <a:avLst/>
          </a:prstGeom>
        </p:spPr>
      </p:pic>
      <p:sp>
        <p:nvSpPr>
          <p:cNvPr id="9" name="Text 5"/>
          <p:cNvSpPr/>
          <p:nvPr/>
        </p:nvSpPr>
        <p:spPr>
          <a:xfrm>
            <a:off x="1016000" y="2293541"/>
            <a:ext cx="310448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3"/>
                </a:solidFill>
                <a:latin typeface="Calibri" pitchFamily="34" charset="0"/>
                <a:ea typeface="Calibri" pitchFamily="34" charset="-122"/>
                <a:cs typeface="Calibri" pitchFamily="34" charset="-120"/>
              </a:rPr>
              <a:t>Go direct, don't follow links</a:t>
            </a:r>
            <a:endParaRPr lang="en-US" sz="1500" dirty="0"/>
          </a:p>
        </p:txBody>
      </p:sp>
      <p:sp>
        <p:nvSpPr>
          <p:cNvPr id="10" name="Text 6"/>
          <p:cNvSpPr/>
          <p:nvPr/>
        </p:nvSpPr>
        <p:spPr>
          <a:xfrm>
            <a:off x="1016000" y="2611041"/>
            <a:ext cx="3104489"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6B"/>
                </a:solidFill>
                <a:latin typeface="Calibri" pitchFamily="34" charset="0"/>
                <a:ea typeface="Calibri" pitchFamily="34" charset="-122"/>
                <a:cs typeface="Calibri" pitchFamily="34" charset="-120"/>
              </a:rPr>
              <a:t>Use bookmarks or type the address to sign in.</a:t>
            </a:r>
            <a:endParaRPr lang="en-US" sz="1300" dirty="0"/>
          </a:p>
        </p:txBody>
      </p:sp>
      <p:sp>
        <p:nvSpPr>
          <p:cNvPr id="11" name="Shape 7"/>
          <p:cNvSpPr/>
          <p:nvPr/>
        </p:nvSpPr>
        <p:spPr>
          <a:xfrm>
            <a:off x="4385667" y="1569641"/>
            <a:ext cx="3420566" cy="1681361"/>
          </a:xfrm>
          <a:prstGeom prst="roundRect">
            <a:avLst>
              <a:gd name="adj" fmla="val 6043"/>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12" name="Shape 8"/>
          <p:cNvSpPr/>
          <p:nvPr/>
        </p:nvSpPr>
        <p:spPr>
          <a:xfrm>
            <a:off x="4385667" y="1569641"/>
            <a:ext cx="3420566" cy="1681361"/>
          </a:xfrm>
          <a:custGeom>
            <a:avLst/>
            <a:gdLst/>
            <a:ahLst/>
            <a:cxnLst/>
            <a:rect l="l" t="t" r="r" b="b"/>
            <a:pathLst>
              <a:path w="3420566" h="1681361">
                <a:moveTo>
                  <a:pt x="0" y="101600"/>
                </a:moveTo>
                <a:lnTo>
                  <a:pt x="0" y="101600"/>
                </a:lnTo>
                <a:arcTo wR="101600" hR="101600" stAng="10800000" swAng="5400000"/>
                <a:lnTo>
                  <a:pt x="3318966" y="0"/>
                </a:lnTo>
                <a:arcTo wR="101600" hR="101600" stAng="16200000" swAng="5400000"/>
                <a:lnTo>
                  <a:pt x="3420566" y="101600"/>
                </a:lnTo>
                <a:arcTo wR="101600" hR="50800" stAng="0" swAng="-5400000"/>
                <a:lnTo>
                  <a:pt x="101600" y="50800"/>
                </a:lnTo>
                <a:arcTo wR="101600" hR="50800" stAng="16200000" swAng="-5400000"/>
                <a:close/>
              </a:path>
            </a:pathLst>
          </a:custGeom>
          <a:solidFill>
            <a:srgbClr val="0078D4"/>
          </a:solidFill>
          <a:ln/>
        </p:spPr>
        <p:txBody>
          <a:bodyPr/>
          <a:lstStyle/>
          <a:p>
            <a:endParaRPr lang="en-JP"/>
          </a:p>
        </p:txBody>
      </p:sp>
      <p:sp>
        <p:nvSpPr>
          <p:cNvPr id="13" name="Shape 9"/>
          <p:cNvSpPr/>
          <p:nvPr/>
        </p:nvSpPr>
        <p:spPr>
          <a:xfrm>
            <a:off x="4588867" y="1798241"/>
            <a:ext cx="406400" cy="406400"/>
          </a:xfrm>
          <a:prstGeom prst="roundRect">
            <a:avLst>
              <a:gd name="adj" fmla="val 50000"/>
            </a:avLst>
          </a:prstGeom>
          <a:solidFill>
            <a:srgbClr val="EAF3FC"/>
          </a:solidFill>
          <a:ln/>
        </p:spPr>
        <p:txBody>
          <a:bodyPr/>
          <a:lstStyle/>
          <a:p>
            <a:endParaRPr lang="en-JP"/>
          </a:p>
        </p:txBody>
      </p:sp>
      <p:pic>
        <p:nvPicPr>
          <p:cNvPr id="14" name="Image 2" descr="search icon"/>
          <p:cNvPicPr>
            <a:picLocks noChangeAspect="1"/>
          </p:cNvPicPr>
          <p:nvPr/>
        </p:nvPicPr>
        <p:blipFill>
          <a:blip r:embed="rId5"/>
          <a:srcRect/>
          <a:stretch/>
        </p:blipFill>
        <p:spPr>
          <a:xfrm>
            <a:off x="4690467" y="1899841"/>
            <a:ext cx="203200" cy="203200"/>
          </a:xfrm>
          <a:prstGeom prst="rect">
            <a:avLst/>
          </a:prstGeom>
        </p:spPr>
      </p:pic>
      <p:sp>
        <p:nvSpPr>
          <p:cNvPr id="15" name="Text 10"/>
          <p:cNvSpPr/>
          <p:nvPr/>
        </p:nvSpPr>
        <p:spPr>
          <a:xfrm>
            <a:off x="4588867" y="2293541"/>
            <a:ext cx="310459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3"/>
                </a:solidFill>
                <a:latin typeface="Calibri" pitchFamily="34" charset="0"/>
                <a:ea typeface="Calibri" pitchFamily="34" charset="-122"/>
                <a:cs typeface="Calibri" pitchFamily="34" charset="-120"/>
              </a:rPr>
              <a:t>Check the address bar</a:t>
            </a:r>
            <a:endParaRPr lang="en-US" sz="1500" dirty="0"/>
          </a:p>
        </p:txBody>
      </p:sp>
      <p:sp>
        <p:nvSpPr>
          <p:cNvPr id="16" name="Text 11"/>
          <p:cNvSpPr/>
          <p:nvPr/>
        </p:nvSpPr>
        <p:spPr>
          <a:xfrm>
            <a:off x="4588867" y="2611041"/>
            <a:ext cx="321736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6B"/>
                </a:solidFill>
                <a:latin typeface="Calibri" pitchFamily="34" charset="0"/>
                <a:ea typeface="Calibri" pitchFamily="34" charset="-122"/>
                <a:cs typeface="Calibri" pitchFamily="34" charset="-120"/>
              </a:rPr>
              <a:t>Before typing your password, every time.</a:t>
            </a:r>
            <a:endParaRPr lang="en-US" sz="1300" dirty="0"/>
          </a:p>
        </p:txBody>
      </p:sp>
      <p:sp>
        <p:nvSpPr>
          <p:cNvPr id="17" name="Shape 12"/>
          <p:cNvSpPr/>
          <p:nvPr/>
        </p:nvSpPr>
        <p:spPr>
          <a:xfrm>
            <a:off x="7958634" y="1569641"/>
            <a:ext cx="3420566" cy="1681361"/>
          </a:xfrm>
          <a:prstGeom prst="roundRect">
            <a:avLst>
              <a:gd name="adj" fmla="val 6043"/>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18" name="Shape 13"/>
          <p:cNvSpPr/>
          <p:nvPr/>
        </p:nvSpPr>
        <p:spPr>
          <a:xfrm>
            <a:off x="7958634" y="1569641"/>
            <a:ext cx="3420566" cy="1681361"/>
          </a:xfrm>
          <a:custGeom>
            <a:avLst/>
            <a:gdLst/>
            <a:ahLst/>
            <a:cxnLst/>
            <a:rect l="l" t="t" r="r" b="b"/>
            <a:pathLst>
              <a:path w="3420566" h="1681361">
                <a:moveTo>
                  <a:pt x="0" y="101600"/>
                </a:moveTo>
                <a:lnTo>
                  <a:pt x="0" y="101600"/>
                </a:lnTo>
                <a:arcTo wR="101600" hR="101600" stAng="10800000" swAng="5400000"/>
                <a:lnTo>
                  <a:pt x="3318966" y="0"/>
                </a:lnTo>
                <a:arcTo wR="101600" hR="101600" stAng="16200000" swAng="5400000"/>
                <a:lnTo>
                  <a:pt x="3420566" y="101600"/>
                </a:lnTo>
                <a:arcTo wR="101600" hR="50800" stAng="0" swAng="-5400000"/>
                <a:lnTo>
                  <a:pt x="101600" y="50800"/>
                </a:lnTo>
                <a:arcTo wR="101600" hR="50800" stAng="16200000" swAng="-5400000"/>
                <a:close/>
              </a:path>
            </a:pathLst>
          </a:custGeom>
          <a:solidFill>
            <a:srgbClr val="0078D4"/>
          </a:solidFill>
          <a:ln/>
        </p:spPr>
        <p:txBody>
          <a:bodyPr/>
          <a:lstStyle/>
          <a:p>
            <a:endParaRPr lang="en-JP"/>
          </a:p>
        </p:txBody>
      </p:sp>
      <p:sp>
        <p:nvSpPr>
          <p:cNvPr id="19" name="Shape 14"/>
          <p:cNvSpPr/>
          <p:nvPr/>
        </p:nvSpPr>
        <p:spPr>
          <a:xfrm>
            <a:off x="8161834" y="1798241"/>
            <a:ext cx="406400" cy="406400"/>
          </a:xfrm>
          <a:prstGeom prst="roundRect">
            <a:avLst>
              <a:gd name="adj" fmla="val 50000"/>
            </a:avLst>
          </a:prstGeom>
          <a:solidFill>
            <a:srgbClr val="EAF3FC"/>
          </a:solidFill>
          <a:ln/>
        </p:spPr>
        <p:txBody>
          <a:bodyPr/>
          <a:lstStyle/>
          <a:p>
            <a:endParaRPr lang="en-JP"/>
          </a:p>
        </p:txBody>
      </p:sp>
      <p:pic>
        <p:nvPicPr>
          <p:cNvPr id="20" name="Image 3" descr="fingerprint icon"/>
          <p:cNvPicPr>
            <a:picLocks noChangeAspect="1"/>
          </p:cNvPicPr>
          <p:nvPr/>
        </p:nvPicPr>
        <p:blipFill>
          <a:blip r:embed="rId6"/>
          <a:srcRect/>
          <a:stretch/>
        </p:blipFill>
        <p:spPr>
          <a:xfrm>
            <a:off x="8263434" y="1899841"/>
            <a:ext cx="203200" cy="203200"/>
          </a:xfrm>
          <a:prstGeom prst="rect">
            <a:avLst/>
          </a:prstGeom>
        </p:spPr>
      </p:pic>
      <p:sp>
        <p:nvSpPr>
          <p:cNvPr id="21" name="Text 15"/>
          <p:cNvSpPr/>
          <p:nvPr/>
        </p:nvSpPr>
        <p:spPr>
          <a:xfrm>
            <a:off x="8161834" y="2293541"/>
            <a:ext cx="310459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3"/>
                </a:solidFill>
                <a:latin typeface="Calibri" pitchFamily="34" charset="0"/>
                <a:ea typeface="Calibri" pitchFamily="34" charset="-122"/>
                <a:cs typeface="Calibri" pitchFamily="34" charset="-120"/>
              </a:rPr>
              <a:t>Use passkeys where offered</a:t>
            </a:r>
            <a:endParaRPr lang="en-US" sz="1500" dirty="0"/>
          </a:p>
        </p:txBody>
      </p:sp>
      <p:sp>
        <p:nvSpPr>
          <p:cNvPr id="22" name="Text 16"/>
          <p:cNvSpPr/>
          <p:nvPr/>
        </p:nvSpPr>
        <p:spPr>
          <a:xfrm>
            <a:off x="8161834" y="2611041"/>
            <a:ext cx="3104591"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6B"/>
                </a:solidFill>
                <a:latin typeface="Calibri" pitchFamily="34" charset="0"/>
                <a:ea typeface="Calibri" pitchFamily="34" charset="-122"/>
                <a:cs typeface="Calibri" pitchFamily="34" charset="-120"/>
              </a:rPr>
              <a:t>Fake pages can't steal a passkey login.</a:t>
            </a:r>
            <a:endParaRPr lang="en-US" sz="1300" dirty="0"/>
          </a:p>
        </p:txBody>
      </p:sp>
      <p:sp>
        <p:nvSpPr>
          <p:cNvPr id="23" name="Shape 17"/>
          <p:cNvSpPr/>
          <p:nvPr/>
        </p:nvSpPr>
        <p:spPr>
          <a:xfrm>
            <a:off x="812800" y="3403402"/>
            <a:ext cx="3420467" cy="1450280"/>
          </a:xfrm>
          <a:prstGeom prst="roundRect">
            <a:avLst>
              <a:gd name="adj" fmla="val 7006"/>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24" name="Shape 18"/>
          <p:cNvSpPr/>
          <p:nvPr/>
        </p:nvSpPr>
        <p:spPr>
          <a:xfrm>
            <a:off x="812800" y="3403402"/>
            <a:ext cx="3420467" cy="1450280"/>
          </a:xfrm>
          <a:custGeom>
            <a:avLst/>
            <a:gdLst/>
            <a:ahLst/>
            <a:cxnLst/>
            <a:rect l="l" t="t" r="r" b="b"/>
            <a:pathLst>
              <a:path w="3420467" h="1450280">
                <a:moveTo>
                  <a:pt x="0" y="101600"/>
                </a:moveTo>
                <a:lnTo>
                  <a:pt x="0" y="101600"/>
                </a:lnTo>
                <a:arcTo wR="101600" hR="101600" stAng="10800000" swAng="5400000"/>
                <a:lnTo>
                  <a:pt x="3318867" y="0"/>
                </a:lnTo>
                <a:arcTo wR="101600" hR="101600" stAng="16200000" swAng="5400000"/>
                <a:lnTo>
                  <a:pt x="3420467" y="101600"/>
                </a:lnTo>
                <a:arcTo wR="101600" hR="50800" stAng="0" swAng="-5400000"/>
                <a:lnTo>
                  <a:pt x="101600" y="50800"/>
                </a:lnTo>
                <a:arcTo wR="101600" hR="50800" stAng="16200000" swAng="-5400000"/>
                <a:close/>
              </a:path>
            </a:pathLst>
          </a:custGeom>
          <a:solidFill>
            <a:srgbClr val="0078D4"/>
          </a:solidFill>
          <a:ln/>
        </p:spPr>
        <p:txBody>
          <a:bodyPr/>
          <a:lstStyle/>
          <a:p>
            <a:endParaRPr lang="en-JP"/>
          </a:p>
        </p:txBody>
      </p:sp>
      <p:sp>
        <p:nvSpPr>
          <p:cNvPr id="25" name="Shape 19"/>
          <p:cNvSpPr/>
          <p:nvPr/>
        </p:nvSpPr>
        <p:spPr>
          <a:xfrm>
            <a:off x="1016000" y="3632002"/>
            <a:ext cx="406400" cy="406400"/>
          </a:xfrm>
          <a:prstGeom prst="roundRect">
            <a:avLst>
              <a:gd name="adj" fmla="val 50000"/>
            </a:avLst>
          </a:prstGeom>
          <a:solidFill>
            <a:srgbClr val="EAF3FC"/>
          </a:solidFill>
          <a:ln/>
        </p:spPr>
        <p:txBody>
          <a:bodyPr/>
          <a:lstStyle/>
          <a:p>
            <a:endParaRPr lang="en-JP"/>
          </a:p>
        </p:txBody>
      </p:sp>
      <p:pic>
        <p:nvPicPr>
          <p:cNvPr id="26" name="Image 4" descr="hash icon"/>
          <p:cNvPicPr>
            <a:picLocks noChangeAspect="1"/>
          </p:cNvPicPr>
          <p:nvPr/>
        </p:nvPicPr>
        <p:blipFill>
          <a:blip r:embed="rId7"/>
          <a:srcRect/>
          <a:stretch/>
        </p:blipFill>
        <p:spPr>
          <a:xfrm>
            <a:off x="1117600" y="3733602"/>
            <a:ext cx="203200" cy="203200"/>
          </a:xfrm>
          <a:prstGeom prst="rect">
            <a:avLst/>
          </a:prstGeom>
        </p:spPr>
      </p:pic>
      <p:sp>
        <p:nvSpPr>
          <p:cNvPr id="27" name="Text 20"/>
          <p:cNvSpPr/>
          <p:nvPr/>
        </p:nvSpPr>
        <p:spPr>
          <a:xfrm>
            <a:off x="1016000" y="4127302"/>
            <a:ext cx="310448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3"/>
                </a:solidFill>
                <a:latin typeface="Calibri" pitchFamily="34" charset="0"/>
                <a:ea typeface="Calibri" pitchFamily="34" charset="-122"/>
                <a:cs typeface="Calibri" pitchFamily="34" charset="-120"/>
              </a:rPr>
              <a:t>Never enter codes for others</a:t>
            </a:r>
            <a:endParaRPr lang="en-US" sz="1500" dirty="0"/>
          </a:p>
        </p:txBody>
      </p:sp>
      <p:sp>
        <p:nvSpPr>
          <p:cNvPr id="28" name="Text 21"/>
          <p:cNvSpPr/>
          <p:nvPr/>
        </p:nvSpPr>
        <p:spPr>
          <a:xfrm>
            <a:off x="1016000" y="4444802"/>
            <a:ext cx="310448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6B"/>
                </a:solidFill>
                <a:latin typeface="Calibri" pitchFamily="34" charset="0"/>
                <a:ea typeface="Calibri" pitchFamily="34" charset="-122"/>
                <a:cs typeface="Calibri" pitchFamily="34" charset="-120"/>
              </a:rPr>
              <a:t>No real IT or service asks you to.</a:t>
            </a:r>
            <a:endParaRPr lang="en-US" sz="1300" dirty="0"/>
          </a:p>
        </p:txBody>
      </p:sp>
      <p:sp>
        <p:nvSpPr>
          <p:cNvPr id="29" name="Shape 22"/>
          <p:cNvSpPr/>
          <p:nvPr/>
        </p:nvSpPr>
        <p:spPr>
          <a:xfrm>
            <a:off x="4385667" y="3403402"/>
            <a:ext cx="3420566" cy="1450280"/>
          </a:xfrm>
          <a:prstGeom prst="roundRect">
            <a:avLst>
              <a:gd name="adj" fmla="val 7006"/>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30" name="Shape 23"/>
          <p:cNvSpPr/>
          <p:nvPr/>
        </p:nvSpPr>
        <p:spPr>
          <a:xfrm>
            <a:off x="4385667" y="3403402"/>
            <a:ext cx="3420566" cy="1450280"/>
          </a:xfrm>
          <a:custGeom>
            <a:avLst/>
            <a:gdLst/>
            <a:ahLst/>
            <a:cxnLst/>
            <a:rect l="l" t="t" r="r" b="b"/>
            <a:pathLst>
              <a:path w="3420566" h="1450280">
                <a:moveTo>
                  <a:pt x="0" y="101600"/>
                </a:moveTo>
                <a:lnTo>
                  <a:pt x="0" y="101600"/>
                </a:lnTo>
                <a:arcTo wR="101600" hR="101600" stAng="10800000" swAng="5400000"/>
                <a:lnTo>
                  <a:pt x="3318966" y="0"/>
                </a:lnTo>
                <a:arcTo wR="101600" hR="101600" stAng="16200000" swAng="5400000"/>
                <a:lnTo>
                  <a:pt x="3420566" y="101600"/>
                </a:lnTo>
                <a:arcTo wR="101600" hR="50800" stAng="0" swAng="-5400000"/>
                <a:lnTo>
                  <a:pt x="101600" y="50800"/>
                </a:lnTo>
                <a:arcTo wR="101600" hR="50800" stAng="16200000" swAng="-5400000"/>
                <a:close/>
              </a:path>
            </a:pathLst>
          </a:custGeom>
          <a:solidFill>
            <a:srgbClr val="0078D4"/>
          </a:solidFill>
          <a:ln/>
        </p:spPr>
        <p:txBody>
          <a:bodyPr/>
          <a:lstStyle/>
          <a:p>
            <a:endParaRPr lang="en-JP"/>
          </a:p>
        </p:txBody>
      </p:sp>
      <p:sp>
        <p:nvSpPr>
          <p:cNvPr id="31" name="Shape 24"/>
          <p:cNvSpPr/>
          <p:nvPr/>
        </p:nvSpPr>
        <p:spPr>
          <a:xfrm>
            <a:off x="4588867" y="3632002"/>
            <a:ext cx="406400" cy="406400"/>
          </a:xfrm>
          <a:prstGeom prst="roundRect">
            <a:avLst>
              <a:gd name="adj" fmla="val 50000"/>
            </a:avLst>
          </a:prstGeom>
          <a:solidFill>
            <a:srgbClr val="EAF3FC"/>
          </a:solidFill>
          <a:ln/>
        </p:spPr>
        <p:txBody>
          <a:bodyPr/>
          <a:lstStyle/>
          <a:p>
            <a:endParaRPr lang="en-JP"/>
          </a:p>
        </p:txBody>
      </p:sp>
      <p:pic>
        <p:nvPicPr>
          <p:cNvPr id="32" name="Image 5" descr="puzzle icon"/>
          <p:cNvPicPr>
            <a:picLocks noChangeAspect="1"/>
          </p:cNvPicPr>
          <p:nvPr/>
        </p:nvPicPr>
        <p:blipFill>
          <a:blip r:embed="rId8"/>
          <a:srcRect/>
          <a:stretch/>
        </p:blipFill>
        <p:spPr>
          <a:xfrm>
            <a:off x="4690467" y="3733602"/>
            <a:ext cx="203200" cy="203200"/>
          </a:xfrm>
          <a:prstGeom prst="rect">
            <a:avLst/>
          </a:prstGeom>
        </p:spPr>
      </p:pic>
      <p:sp>
        <p:nvSpPr>
          <p:cNvPr id="33" name="Text 25"/>
          <p:cNvSpPr/>
          <p:nvPr/>
        </p:nvSpPr>
        <p:spPr>
          <a:xfrm>
            <a:off x="4588867" y="4127302"/>
            <a:ext cx="310459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3"/>
                </a:solidFill>
                <a:latin typeface="Calibri" pitchFamily="34" charset="0"/>
                <a:ea typeface="Calibri" pitchFamily="34" charset="-122"/>
                <a:cs typeface="Calibri" pitchFamily="34" charset="-120"/>
              </a:rPr>
              <a:t>Avoid unknown extensions</a:t>
            </a:r>
            <a:endParaRPr lang="en-US" sz="1500" dirty="0"/>
          </a:p>
        </p:txBody>
      </p:sp>
      <p:sp>
        <p:nvSpPr>
          <p:cNvPr id="34" name="Text 26"/>
          <p:cNvSpPr/>
          <p:nvPr/>
        </p:nvSpPr>
        <p:spPr>
          <a:xfrm>
            <a:off x="4588867" y="4444802"/>
            <a:ext cx="3104591"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6B"/>
                </a:solidFill>
                <a:latin typeface="Calibri" pitchFamily="34" charset="0"/>
                <a:ea typeface="Calibri" pitchFamily="34" charset="-122"/>
                <a:cs typeface="Calibri" pitchFamily="34" charset="-120"/>
              </a:rPr>
              <a:t>Install only approved browser add-ons.</a:t>
            </a:r>
            <a:endParaRPr lang="en-US" sz="1300" dirty="0"/>
          </a:p>
        </p:txBody>
      </p:sp>
      <p:sp>
        <p:nvSpPr>
          <p:cNvPr id="35" name="Shape 27"/>
          <p:cNvSpPr/>
          <p:nvPr/>
        </p:nvSpPr>
        <p:spPr>
          <a:xfrm>
            <a:off x="7958634" y="3403402"/>
            <a:ext cx="3420566" cy="1450280"/>
          </a:xfrm>
          <a:prstGeom prst="roundRect">
            <a:avLst>
              <a:gd name="adj" fmla="val 7006"/>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36" name="Shape 28"/>
          <p:cNvSpPr/>
          <p:nvPr/>
        </p:nvSpPr>
        <p:spPr>
          <a:xfrm>
            <a:off x="7958634" y="3403402"/>
            <a:ext cx="3420566" cy="1450280"/>
          </a:xfrm>
          <a:custGeom>
            <a:avLst/>
            <a:gdLst/>
            <a:ahLst/>
            <a:cxnLst/>
            <a:rect l="l" t="t" r="r" b="b"/>
            <a:pathLst>
              <a:path w="3420566" h="1450280">
                <a:moveTo>
                  <a:pt x="0" y="101600"/>
                </a:moveTo>
                <a:lnTo>
                  <a:pt x="0" y="101600"/>
                </a:lnTo>
                <a:arcTo wR="101600" hR="101600" stAng="10800000" swAng="5400000"/>
                <a:lnTo>
                  <a:pt x="3318966" y="0"/>
                </a:lnTo>
                <a:arcTo wR="101600" hR="101600" stAng="16200000" swAng="5400000"/>
                <a:lnTo>
                  <a:pt x="3420566" y="101600"/>
                </a:lnTo>
                <a:arcTo wR="101600" hR="50800" stAng="0" swAng="-5400000"/>
                <a:lnTo>
                  <a:pt x="101600" y="50800"/>
                </a:lnTo>
                <a:arcTo wR="101600" hR="50800" stAng="16200000" swAng="-5400000"/>
                <a:close/>
              </a:path>
            </a:pathLst>
          </a:custGeom>
          <a:solidFill>
            <a:srgbClr val="0078D4"/>
          </a:solidFill>
          <a:ln/>
        </p:spPr>
        <p:txBody>
          <a:bodyPr/>
          <a:lstStyle/>
          <a:p>
            <a:endParaRPr lang="en-JP"/>
          </a:p>
        </p:txBody>
      </p:sp>
      <p:sp>
        <p:nvSpPr>
          <p:cNvPr id="37" name="Shape 29"/>
          <p:cNvSpPr/>
          <p:nvPr/>
        </p:nvSpPr>
        <p:spPr>
          <a:xfrm>
            <a:off x="8161834" y="3632002"/>
            <a:ext cx="406400" cy="406400"/>
          </a:xfrm>
          <a:prstGeom prst="roundRect">
            <a:avLst>
              <a:gd name="adj" fmla="val 50000"/>
            </a:avLst>
          </a:prstGeom>
          <a:solidFill>
            <a:srgbClr val="EAF3FC"/>
          </a:solidFill>
          <a:ln/>
        </p:spPr>
        <p:txBody>
          <a:bodyPr/>
          <a:lstStyle/>
          <a:p>
            <a:endParaRPr lang="en-JP"/>
          </a:p>
        </p:txBody>
      </p:sp>
      <p:pic>
        <p:nvPicPr>
          <p:cNvPr id="38" name="Image 6" descr="logout icon"/>
          <p:cNvPicPr>
            <a:picLocks noChangeAspect="1"/>
          </p:cNvPicPr>
          <p:nvPr/>
        </p:nvPicPr>
        <p:blipFill>
          <a:blip r:embed="rId9"/>
          <a:srcRect/>
          <a:stretch/>
        </p:blipFill>
        <p:spPr>
          <a:xfrm>
            <a:off x="8263434" y="3733602"/>
            <a:ext cx="203200" cy="203200"/>
          </a:xfrm>
          <a:prstGeom prst="rect">
            <a:avLst/>
          </a:prstGeom>
        </p:spPr>
      </p:pic>
      <p:sp>
        <p:nvSpPr>
          <p:cNvPr id="39" name="Text 30"/>
          <p:cNvSpPr/>
          <p:nvPr/>
        </p:nvSpPr>
        <p:spPr>
          <a:xfrm>
            <a:off x="8161834" y="4127302"/>
            <a:ext cx="310459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3"/>
                </a:solidFill>
                <a:latin typeface="Calibri" pitchFamily="34" charset="0"/>
                <a:ea typeface="Calibri" pitchFamily="34" charset="-122"/>
                <a:cs typeface="Calibri" pitchFamily="34" charset="-120"/>
              </a:rPr>
              <a:t>Sign out on shared devices</a:t>
            </a:r>
            <a:endParaRPr lang="en-US" sz="1500" dirty="0"/>
          </a:p>
        </p:txBody>
      </p:sp>
      <p:sp>
        <p:nvSpPr>
          <p:cNvPr id="40" name="Text 31"/>
          <p:cNvSpPr/>
          <p:nvPr/>
        </p:nvSpPr>
        <p:spPr>
          <a:xfrm>
            <a:off x="8161834" y="4444802"/>
            <a:ext cx="3104591"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6B"/>
                </a:solidFill>
                <a:latin typeface="Calibri" pitchFamily="34" charset="0"/>
                <a:ea typeface="Calibri" pitchFamily="34" charset="-122"/>
                <a:cs typeface="Calibri" pitchFamily="34" charset="-120"/>
              </a:rPr>
              <a:t>And don't tick “stay signed in” there.</a:t>
            </a:r>
            <a:endParaRPr lang="en-US" sz="1300" dirty="0"/>
          </a:p>
        </p:txBody>
      </p:sp>
      <p:sp>
        <p:nvSpPr>
          <p:cNvPr id="41" name="Text 32"/>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B"/>
                </a:solidFill>
                <a:latin typeface="Calibri" pitchFamily="34" charset="0"/>
                <a:ea typeface="Calibri" pitchFamily="34" charset="-122"/>
                <a:cs typeface="Calibri" pitchFamily="34" charset="-120"/>
              </a:rPr>
              <a:t>ZNexora Tech security guidance</a:t>
            </a:r>
            <a:endParaRPr lang="en-US" sz="1200" dirty="0"/>
          </a:p>
        </p:txBody>
      </p:sp>
      <p:sp>
        <p:nvSpPr>
          <p:cNvPr id="42" name="Text 33"/>
          <p:cNvSpPr/>
          <p:nvPr/>
        </p:nvSpPr>
        <p:spPr>
          <a:xfrm>
            <a:off x="9855200" y="6238280"/>
            <a:ext cx="15240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A6B"/>
                </a:solidFill>
                <a:latin typeface="Calibri" pitchFamily="34" charset="0"/>
                <a:ea typeface="Calibri" pitchFamily="34" charset="-122"/>
                <a:cs typeface="Calibri" pitchFamily="34" charset="-120"/>
              </a:rPr>
              <a:t>ZNexora Tech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pic>
        <p:nvPicPr>
          <p:cNvPr id="2" name="Image 0" descr="ZNexora Tech logo"/>
          <p:cNvPicPr>
            <a:picLocks noChangeAspect="1"/>
          </p:cNvPicPr>
          <p:nvPr/>
        </p:nvPicPr>
        <p:blipFill>
          <a:blip r:embed="rId3"/>
          <a:srcRect l="-106" r="-106"/>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B7C3"/>
                </a:solidFill>
                <a:latin typeface="Calibri" pitchFamily="34" charset="0"/>
                <a:ea typeface="Calibri" pitchFamily="34" charset="-122"/>
                <a:cs typeface="Calibri" pitchFamily="34" charset="-120"/>
              </a:rPr>
              <a:t>08 · FOR IT AND SECURITY TEAMS</a:t>
            </a:r>
            <a:endParaRPr lang="en-US" sz="1200" dirty="0"/>
          </a:p>
        </p:txBody>
      </p:sp>
      <p:sp>
        <p:nvSpPr>
          <p:cNvPr id="4" name="Text 1"/>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FFFFF"/>
                </a:solidFill>
                <a:latin typeface="Arial" pitchFamily="34" charset="0"/>
                <a:ea typeface="Arial" pitchFamily="34" charset="-122"/>
                <a:cs typeface="Arial" pitchFamily="34" charset="-120"/>
              </a:rPr>
              <a:t>Layered defences against session theft</a:t>
            </a:r>
            <a:endParaRPr lang="en-US" sz="3600" dirty="0"/>
          </a:p>
        </p:txBody>
      </p:sp>
      <p:sp>
        <p:nvSpPr>
          <p:cNvPr id="5" name="Shape 2"/>
          <p:cNvSpPr/>
          <p:nvPr/>
        </p:nvSpPr>
        <p:spPr>
          <a:xfrm>
            <a:off x="812800" y="1569641"/>
            <a:ext cx="5219700" cy="988020"/>
          </a:xfrm>
          <a:prstGeom prst="roundRect">
            <a:avLst>
              <a:gd name="adj" fmla="val 10283"/>
            </a:avLst>
          </a:prstGeom>
          <a:solidFill>
            <a:srgbClr val="13294B"/>
          </a:solidFill>
          <a:ln/>
        </p:spPr>
        <p:txBody>
          <a:bodyPr/>
          <a:lstStyle/>
          <a:p>
            <a:endParaRPr lang="en-JP"/>
          </a:p>
        </p:txBody>
      </p:sp>
      <p:sp>
        <p:nvSpPr>
          <p:cNvPr id="6" name="Shape 3"/>
          <p:cNvSpPr/>
          <p:nvPr/>
        </p:nvSpPr>
        <p:spPr>
          <a:xfrm>
            <a:off x="990600" y="1860451"/>
            <a:ext cx="406400" cy="406400"/>
          </a:xfrm>
          <a:prstGeom prst="roundRect">
            <a:avLst>
              <a:gd name="adj" fmla="val 50000"/>
            </a:avLst>
          </a:prstGeom>
          <a:solidFill>
            <a:srgbClr val="00B7C3"/>
          </a:solidFill>
          <a:ln/>
        </p:spPr>
        <p:txBody>
          <a:bodyPr/>
          <a:lstStyle/>
          <a:p>
            <a:endParaRPr lang="en-JP"/>
          </a:p>
        </p:txBody>
      </p:sp>
      <p:pic>
        <p:nvPicPr>
          <p:cNvPr id="7" name="Image 1" descr="fingerprint icon"/>
          <p:cNvPicPr>
            <a:picLocks noChangeAspect="1"/>
          </p:cNvPicPr>
          <p:nvPr/>
        </p:nvPicPr>
        <p:blipFill>
          <a:blip r:embed="rId4"/>
          <a:srcRect/>
          <a:stretch/>
        </p:blipFill>
        <p:spPr>
          <a:xfrm>
            <a:off x="1092200" y="1962051"/>
            <a:ext cx="203200" cy="203200"/>
          </a:xfrm>
          <a:prstGeom prst="rect">
            <a:avLst/>
          </a:prstGeom>
        </p:spPr>
      </p:pic>
      <p:sp>
        <p:nvSpPr>
          <p:cNvPr id="8" name="Text 4"/>
          <p:cNvSpPr/>
          <p:nvPr/>
        </p:nvSpPr>
        <p:spPr>
          <a:xfrm>
            <a:off x="1549400" y="1722041"/>
            <a:ext cx="443445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FFFF"/>
                </a:solidFill>
                <a:latin typeface="Calibri" pitchFamily="34" charset="0"/>
                <a:ea typeface="Calibri" pitchFamily="34" charset="-122"/>
                <a:cs typeface="Calibri" pitchFamily="34" charset="-120"/>
              </a:rPr>
              <a:t>Phishing-resistant MFA</a:t>
            </a:r>
            <a:endParaRPr lang="en-US" sz="1500" dirty="0"/>
          </a:p>
        </p:txBody>
      </p:sp>
      <p:sp>
        <p:nvSpPr>
          <p:cNvPr id="9" name="Text 5"/>
          <p:cNvSpPr/>
          <p:nvPr/>
        </p:nvSpPr>
        <p:spPr>
          <a:xfrm>
            <a:off x="1549400" y="1976041"/>
            <a:ext cx="4434459"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CADCFC"/>
                </a:solidFill>
                <a:latin typeface="Calibri" pitchFamily="34" charset="0"/>
                <a:ea typeface="Calibri" pitchFamily="34" charset="-122"/>
                <a:cs typeface="Calibri" pitchFamily="34" charset="-120"/>
              </a:rPr>
              <a:t>Passkeys and FIDO2 keys block over 99% of identity attacks (Microsoft)</a:t>
            </a:r>
            <a:endParaRPr lang="en-US" sz="1300" dirty="0"/>
          </a:p>
        </p:txBody>
      </p:sp>
      <p:sp>
        <p:nvSpPr>
          <p:cNvPr id="10" name="Shape 6"/>
          <p:cNvSpPr/>
          <p:nvPr/>
        </p:nvSpPr>
        <p:spPr>
          <a:xfrm>
            <a:off x="6159500" y="1569641"/>
            <a:ext cx="5219700" cy="988020"/>
          </a:xfrm>
          <a:prstGeom prst="roundRect">
            <a:avLst>
              <a:gd name="adj" fmla="val 10283"/>
            </a:avLst>
          </a:prstGeom>
          <a:solidFill>
            <a:srgbClr val="13294B"/>
          </a:solidFill>
          <a:ln/>
        </p:spPr>
        <p:txBody>
          <a:bodyPr/>
          <a:lstStyle/>
          <a:p>
            <a:endParaRPr lang="en-JP"/>
          </a:p>
        </p:txBody>
      </p:sp>
      <p:sp>
        <p:nvSpPr>
          <p:cNvPr id="11" name="Shape 7"/>
          <p:cNvSpPr/>
          <p:nvPr/>
        </p:nvSpPr>
        <p:spPr>
          <a:xfrm>
            <a:off x="6337300" y="1860451"/>
            <a:ext cx="406400" cy="406400"/>
          </a:xfrm>
          <a:prstGeom prst="roundRect">
            <a:avLst>
              <a:gd name="adj" fmla="val 50000"/>
            </a:avLst>
          </a:prstGeom>
          <a:solidFill>
            <a:srgbClr val="00B7C3"/>
          </a:solidFill>
          <a:ln/>
        </p:spPr>
        <p:txBody>
          <a:bodyPr/>
          <a:lstStyle/>
          <a:p>
            <a:endParaRPr lang="en-JP"/>
          </a:p>
        </p:txBody>
      </p:sp>
      <p:pic>
        <p:nvPicPr>
          <p:cNvPr id="12" name="Image 2" descr="laptop icon"/>
          <p:cNvPicPr>
            <a:picLocks noChangeAspect="1"/>
          </p:cNvPicPr>
          <p:nvPr/>
        </p:nvPicPr>
        <p:blipFill>
          <a:blip r:embed="rId5"/>
          <a:srcRect/>
          <a:stretch/>
        </p:blipFill>
        <p:spPr>
          <a:xfrm>
            <a:off x="6438900" y="1962051"/>
            <a:ext cx="203200" cy="203200"/>
          </a:xfrm>
          <a:prstGeom prst="rect">
            <a:avLst/>
          </a:prstGeom>
        </p:spPr>
      </p:pic>
      <p:sp>
        <p:nvSpPr>
          <p:cNvPr id="13" name="Text 8"/>
          <p:cNvSpPr/>
          <p:nvPr/>
        </p:nvSpPr>
        <p:spPr>
          <a:xfrm>
            <a:off x="6896100" y="1829296"/>
            <a:ext cx="443445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FFFF"/>
                </a:solidFill>
                <a:latin typeface="Calibri" pitchFamily="34" charset="0"/>
                <a:ea typeface="Calibri" pitchFamily="34" charset="-122"/>
                <a:cs typeface="Calibri" pitchFamily="34" charset="-120"/>
              </a:rPr>
              <a:t>Device-bound sessions</a:t>
            </a:r>
            <a:endParaRPr lang="en-US" sz="1500" dirty="0"/>
          </a:p>
        </p:txBody>
      </p:sp>
      <p:sp>
        <p:nvSpPr>
          <p:cNvPr id="14" name="Text 9"/>
          <p:cNvSpPr/>
          <p:nvPr/>
        </p:nvSpPr>
        <p:spPr>
          <a:xfrm>
            <a:off x="6896100" y="2083296"/>
            <a:ext cx="4483100"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CADCFC"/>
                </a:solidFill>
                <a:latin typeface="Calibri" pitchFamily="34" charset="0"/>
                <a:ea typeface="Calibri" pitchFamily="34" charset="-122"/>
                <a:cs typeface="Calibri" pitchFamily="34" charset="-120"/>
              </a:rPr>
              <a:t>Token protection so a stolen cookie fails on another device</a:t>
            </a:r>
            <a:endParaRPr lang="en-US" sz="1300" dirty="0"/>
          </a:p>
        </p:txBody>
      </p:sp>
      <p:sp>
        <p:nvSpPr>
          <p:cNvPr id="15" name="Shape 10"/>
          <p:cNvSpPr/>
          <p:nvPr/>
        </p:nvSpPr>
        <p:spPr>
          <a:xfrm>
            <a:off x="812800" y="2684661"/>
            <a:ext cx="5219700" cy="773410"/>
          </a:xfrm>
          <a:prstGeom prst="roundRect">
            <a:avLst>
              <a:gd name="adj" fmla="val 13137"/>
            </a:avLst>
          </a:prstGeom>
          <a:solidFill>
            <a:srgbClr val="13294B"/>
          </a:solidFill>
          <a:ln/>
        </p:spPr>
        <p:txBody>
          <a:bodyPr/>
          <a:lstStyle/>
          <a:p>
            <a:endParaRPr lang="en-JP"/>
          </a:p>
        </p:txBody>
      </p:sp>
      <p:sp>
        <p:nvSpPr>
          <p:cNvPr id="16" name="Shape 11"/>
          <p:cNvSpPr/>
          <p:nvPr/>
        </p:nvSpPr>
        <p:spPr>
          <a:xfrm>
            <a:off x="990600" y="2868116"/>
            <a:ext cx="406400" cy="406400"/>
          </a:xfrm>
          <a:prstGeom prst="roundRect">
            <a:avLst>
              <a:gd name="adj" fmla="val 50000"/>
            </a:avLst>
          </a:prstGeom>
          <a:solidFill>
            <a:srgbClr val="00B7C3"/>
          </a:solidFill>
          <a:ln/>
        </p:spPr>
        <p:txBody>
          <a:bodyPr/>
          <a:lstStyle/>
          <a:p>
            <a:endParaRPr lang="en-JP"/>
          </a:p>
        </p:txBody>
      </p:sp>
      <p:pic>
        <p:nvPicPr>
          <p:cNvPr id="17" name="Image 3" descr="clock icon"/>
          <p:cNvPicPr>
            <a:picLocks noChangeAspect="1"/>
          </p:cNvPicPr>
          <p:nvPr/>
        </p:nvPicPr>
        <p:blipFill>
          <a:blip r:embed="rId6"/>
          <a:srcRect/>
          <a:stretch/>
        </p:blipFill>
        <p:spPr>
          <a:xfrm>
            <a:off x="1092200" y="2969716"/>
            <a:ext cx="203200" cy="203200"/>
          </a:xfrm>
          <a:prstGeom prst="rect">
            <a:avLst/>
          </a:prstGeom>
        </p:spPr>
      </p:pic>
      <p:sp>
        <p:nvSpPr>
          <p:cNvPr id="18" name="Text 12"/>
          <p:cNvSpPr/>
          <p:nvPr/>
        </p:nvSpPr>
        <p:spPr>
          <a:xfrm>
            <a:off x="1549400" y="2837061"/>
            <a:ext cx="443445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FFFF"/>
                </a:solidFill>
                <a:latin typeface="Calibri" pitchFamily="34" charset="0"/>
                <a:ea typeface="Calibri" pitchFamily="34" charset="-122"/>
                <a:cs typeface="Calibri" pitchFamily="34" charset="-120"/>
              </a:rPr>
              <a:t>Shorter sessions</a:t>
            </a:r>
            <a:endParaRPr lang="en-US" sz="1500" dirty="0"/>
          </a:p>
        </p:txBody>
      </p:sp>
      <p:sp>
        <p:nvSpPr>
          <p:cNvPr id="19" name="Text 13"/>
          <p:cNvSpPr/>
          <p:nvPr/>
        </p:nvSpPr>
        <p:spPr>
          <a:xfrm>
            <a:off x="1549400" y="3091061"/>
            <a:ext cx="4434459"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CADCFC"/>
                </a:solidFill>
                <a:latin typeface="Calibri" pitchFamily="34" charset="0"/>
                <a:ea typeface="Calibri" pitchFamily="34" charset="-122"/>
                <a:cs typeface="Calibri" pitchFamily="34" charset="-120"/>
              </a:rPr>
              <a:t>Limited lifetimes and continuous access evaluation</a:t>
            </a:r>
            <a:endParaRPr lang="en-US" sz="1300" dirty="0"/>
          </a:p>
        </p:txBody>
      </p:sp>
      <p:sp>
        <p:nvSpPr>
          <p:cNvPr id="20" name="Shape 14"/>
          <p:cNvSpPr/>
          <p:nvPr/>
        </p:nvSpPr>
        <p:spPr>
          <a:xfrm>
            <a:off x="6159500" y="2684661"/>
            <a:ext cx="5219700" cy="773410"/>
          </a:xfrm>
          <a:prstGeom prst="roundRect">
            <a:avLst>
              <a:gd name="adj" fmla="val 13137"/>
            </a:avLst>
          </a:prstGeom>
          <a:solidFill>
            <a:srgbClr val="13294B"/>
          </a:solidFill>
          <a:ln/>
        </p:spPr>
        <p:txBody>
          <a:bodyPr/>
          <a:lstStyle/>
          <a:p>
            <a:endParaRPr lang="en-JP"/>
          </a:p>
        </p:txBody>
      </p:sp>
      <p:sp>
        <p:nvSpPr>
          <p:cNvPr id="21" name="Shape 15"/>
          <p:cNvSpPr/>
          <p:nvPr/>
        </p:nvSpPr>
        <p:spPr>
          <a:xfrm>
            <a:off x="6337300" y="2868116"/>
            <a:ext cx="406400" cy="406400"/>
          </a:xfrm>
          <a:prstGeom prst="roundRect">
            <a:avLst>
              <a:gd name="adj" fmla="val 50000"/>
            </a:avLst>
          </a:prstGeom>
          <a:solidFill>
            <a:srgbClr val="00B7C3"/>
          </a:solidFill>
          <a:ln/>
        </p:spPr>
        <p:txBody>
          <a:bodyPr/>
          <a:lstStyle/>
          <a:p>
            <a:endParaRPr lang="en-JP"/>
          </a:p>
        </p:txBody>
      </p:sp>
      <p:pic>
        <p:nvPicPr>
          <p:cNvPr id="22" name="Image 4" descr="eye icon"/>
          <p:cNvPicPr>
            <a:picLocks noChangeAspect="1"/>
          </p:cNvPicPr>
          <p:nvPr/>
        </p:nvPicPr>
        <p:blipFill>
          <a:blip r:embed="rId7"/>
          <a:srcRect/>
          <a:stretch/>
        </p:blipFill>
        <p:spPr>
          <a:xfrm>
            <a:off x="6438900" y="2969716"/>
            <a:ext cx="203200" cy="203200"/>
          </a:xfrm>
          <a:prstGeom prst="rect">
            <a:avLst/>
          </a:prstGeom>
        </p:spPr>
      </p:pic>
      <p:sp>
        <p:nvSpPr>
          <p:cNvPr id="23" name="Text 16"/>
          <p:cNvSpPr/>
          <p:nvPr/>
        </p:nvSpPr>
        <p:spPr>
          <a:xfrm>
            <a:off x="6896100" y="2837061"/>
            <a:ext cx="443445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FFFF"/>
                </a:solidFill>
                <a:latin typeface="Calibri" pitchFamily="34" charset="0"/>
                <a:ea typeface="Calibri" pitchFamily="34" charset="-122"/>
                <a:cs typeface="Calibri" pitchFamily="34" charset="-120"/>
              </a:rPr>
              <a:t>Detect odd session use</a:t>
            </a:r>
            <a:endParaRPr lang="en-US" sz="1500" dirty="0"/>
          </a:p>
        </p:txBody>
      </p:sp>
      <p:sp>
        <p:nvSpPr>
          <p:cNvPr id="24" name="Text 17"/>
          <p:cNvSpPr/>
          <p:nvPr/>
        </p:nvSpPr>
        <p:spPr>
          <a:xfrm>
            <a:off x="6896100" y="3091061"/>
            <a:ext cx="4434459"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CADCFC"/>
                </a:solidFill>
                <a:latin typeface="Calibri" pitchFamily="34" charset="0"/>
                <a:ea typeface="Calibri" pitchFamily="34" charset="-122"/>
                <a:cs typeface="Calibri" pitchFamily="34" charset="-120"/>
              </a:rPr>
              <a:t>New location, new device or impossible travel</a:t>
            </a:r>
            <a:endParaRPr lang="en-US" sz="1300" dirty="0"/>
          </a:p>
        </p:txBody>
      </p:sp>
      <p:sp>
        <p:nvSpPr>
          <p:cNvPr id="25" name="Shape 18"/>
          <p:cNvSpPr/>
          <p:nvPr/>
        </p:nvSpPr>
        <p:spPr>
          <a:xfrm>
            <a:off x="812800" y="3585071"/>
            <a:ext cx="5219700" cy="773410"/>
          </a:xfrm>
          <a:prstGeom prst="roundRect">
            <a:avLst>
              <a:gd name="adj" fmla="val 13137"/>
            </a:avLst>
          </a:prstGeom>
          <a:solidFill>
            <a:srgbClr val="13294B"/>
          </a:solidFill>
          <a:ln/>
        </p:spPr>
        <p:txBody>
          <a:bodyPr/>
          <a:lstStyle/>
          <a:p>
            <a:endParaRPr lang="en-JP"/>
          </a:p>
        </p:txBody>
      </p:sp>
      <p:sp>
        <p:nvSpPr>
          <p:cNvPr id="26" name="Shape 19"/>
          <p:cNvSpPr/>
          <p:nvPr/>
        </p:nvSpPr>
        <p:spPr>
          <a:xfrm>
            <a:off x="990600" y="3768527"/>
            <a:ext cx="406400" cy="406400"/>
          </a:xfrm>
          <a:prstGeom prst="roundRect">
            <a:avLst>
              <a:gd name="adj" fmla="val 50000"/>
            </a:avLst>
          </a:prstGeom>
          <a:solidFill>
            <a:srgbClr val="00B7C3"/>
          </a:solidFill>
          <a:ln/>
        </p:spPr>
        <p:txBody>
          <a:bodyPr/>
          <a:lstStyle/>
          <a:p>
            <a:endParaRPr lang="en-JP"/>
          </a:p>
        </p:txBody>
      </p:sp>
      <p:pic>
        <p:nvPicPr>
          <p:cNvPr id="27" name="Image 5" descr="shield icon"/>
          <p:cNvPicPr>
            <a:picLocks noChangeAspect="1"/>
          </p:cNvPicPr>
          <p:nvPr/>
        </p:nvPicPr>
        <p:blipFill>
          <a:blip r:embed="rId8"/>
          <a:srcRect/>
          <a:stretch/>
        </p:blipFill>
        <p:spPr>
          <a:xfrm>
            <a:off x="1092200" y="3870127"/>
            <a:ext cx="203200" cy="203200"/>
          </a:xfrm>
          <a:prstGeom prst="rect">
            <a:avLst/>
          </a:prstGeom>
        </p:spPr>
      </p:pic>
      <p:sp>
        <p:nvSpPr>
          <p:cNvPr id="28" name="Text 20"/>
          <p:cNvSpPr/>
          <p:nvPr/>
        </p:nvSpPr>
        <p:spPr>
          <a:xfrm>
            <a:off x="1549400" y="3737471"/>
            <a:ext cx="443445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FFFF"/>
                </a:solidFill>
                <a:latin typeface="Calibri" pitchFamily="34" charset="0"/>
                <a:ea typeface="Calibri" pitchFamily="34" charset="-122"/>
                <a:cs typeface="Calibri" pitchFamily="34" charset="-120"/>
              </a:rPr>
              <a:t>EDR against infostealers</a:t>
            </a:r>
            <a:endParaRPr lang="en-US" sz="1500" dirty="0"/>
          </a:p>
        </p:txBody>
      </p:sp>
      <p:sp>
        <p:nvSpPr>
          <p:cNvPr id="29" name="Text 21"/>
          <p:cNvSpPr/>
          <p:nvPr/>
        </p:nvSpPr>
        <p:spPr>
          <a:xfrm>
            <a:off x="1549400" y="3991471"/>
            <a:ext cx="4434459"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CADCFC"/>
                </a:solidFill>
                <a:latin typeface="Calibri" pitchFamily="34" charset="0"/>
                <a:ea typeface="Calibri" pitchFamily="34" charset="-122"/>
                <a:cs typeface="Calibri" pitchFamily="34" charset="-120"/>
              </a:rPr>
              <a:t>Stop cookie theft at the source</a:t>
            </a:r>
            <a:endParaRPr lang="en-US" sz="1300" dirty="0"/>
          </a:p>
        </p:txBody>
      </p:sp>
      <p:sp>
        <p:nvSpPr>
          <p:cNvPr id="30" name="Shape 22"/>
          <p:cNvSpPr/>
          <p:nvPr/>
        </p:nvSpPr>
        <p:spPr>
          <a:xfrm>
            <a:off x="6159500" y="3585071"/>
            <a:ext cx="5219700" cy="773410"/>
          </a:xfrm>
          <a:prstGeom prst="roundRect">
            <a:avLst>
              <a:gd name="adj" fmla="val 13137"/>
            </a:avLst>
          </a:prstGeom>
          <a:solidFill>
            <a:srgbClr val="13294B"/>
          </a:solidFill>
          <a:ln/>
        </p:spPr>
        <p:txBody>
          <a:bodyPr/>
          <a:lstStyle/>
          <a:p>
            <a:endParaRPr lang="en-JP"/>
          </a:p>
        </p:txBody>
      </p:sp>
      <p:sp>
        <p:nvSpPr>
          <p:cNvPr id="31" name="Shape 23"/>
          <p:cNvSpPr/>
          <p:nvPr/>
        </p:nvSpPr>
        <p:spPr>
          <a:xfrm>
            <a:off x="6337300" y="3768527"/>
            <a:ext cx="406400" cy="406400"/>
          </a:xfrm>
          <a:prstGeom prst="roundRect">
            <a:avLst>
              <a:gd name="adj" fmla="val 50000"/>
            </a:avLst>
          </a:prstGeom>
          <a:solidFill>
            <a:srgbClr val="00B7C3"/>
          </a:solidFill>
          <a:ln/>
        </p:spPr>
        <p:txBody>
          <a:bodyPr/>
          <a:lstStyle/>
          <a:p>
            <a:endParaRPr lang="en-JP"/>
          </a:p>
        </p:txBody>
      </p:sp>
      <p:pic>
        <p:nvPicPr>
          <p:cNvPr id="32" name="Image 6" descr="ban icon"/>
          <p:cNvPicPr>
            <a:picLocks noChangeAspect="1"/>
          </p:cNvPicPr>
          <p:nvPr/>
        </p:nvPicPr>
        <p:blipFill>
          <a:blip r:embed="rId9"/>
          <a:srcRect/>
          <a:stretch/>
        </p:blipFill>
        <p:spPr>
          <a:xfrm>
            <a:off x="6438900" y="3870127"/>
            <a:ext cx="203200" cy="203200"/>
          </a:xfrm>
          <a:prstGeom prst="rect">
            <a:avLst/>
          </a:prstGeom>
        </p:spPr>
      </p:pic>
      <p:sp>
        <p:nvSpPr>
          <p:cNvPr id="33" name="Text 24"/>
          <p:cNvSpPr/>
          <p:nvPr/>
        </p:nvSpPr>
        <p:spPr>
          <a:xfrm>
            <a:off x="6896100" y="3737471"/>
            <a:ext cx="443445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FFFF"/>
                </a:solidFill>
                <a:latin typeface="Calibri" pitchFamily="34" charset="0"/>
                <a:ea typeface="Calibri" pitchFamily="34" charset="-122"/>
                <a:cs typeface="Calibri" pitchFamily="34" charset="-120"/>
              </a:rPr>
              <a:t>Block risky sign-in flows</a:t>
            </a:r>
            <a:endParaRPr lang="en-US" sz="1500" dirty="0"/>
          </a:p>
        </p:txBody>
      </p:sp>
      <p:sp>
        <p:nvSpPr>
          <p:cNvPr id="34" name="Text 25"/>
          <p:cNvSpPr/>
          <p:nvPr/>
        </p:nvSpPr>
        <p:spPr>
          <a:xfrm>
            <a:off x="6896100" y="3991471"/>
            <a:ext cx="4434459"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CADCFC"/>
                </a:solidFill>
                <a:latin typeface="Calibri" pitchFamily="34" charset="0"/>
                <a:ea typeface="Calibri" pitchFamily="34" charset="-122"/>
                <a:cs typeface="Calibri" pitchFamily="34" charset="-120"/>
              </a:rPr>
              <a:t>Restrict device code sign-in and app consent</a:t>
            </a:r>
            <a:endParaRPr lang="en-US" sz="1300" dirty="0"/>
          </a:p>
        </p:txBody>
      </p:sp>
      <p:sp>
        <p:nvSpPr>
          <p:cNvPr id="35" name="Text 26"/>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3C8"/>
                </a:solidFill>
                <a:latin typeface="Calibri" pitchFamily="34" charset="0"/>
                <a:ea typeface="Calibri" pitchFamily="34" charset="-122"/>
                <a:cs typeface="Calibri" pitchFamily="34" charset="-120"/>
              </a:rPr>
              <a:t>Sources: Microsoft Digital Defense Report 2025 · NIST SP 800-207</a:t>
            </a:r>
            <a:endParaRPr lang="en-US" sz="1200" dirty="0"/>
          </a:p>
        </p:txBody>
      </p:sp>
      <p:sp>
        <p:nvSpPr>
          <p:cNvPr id="36" name="Text 27"/>
          <p:cNvSpPr/>
          <p:nvPr/>
        </p:nvSpPr>
        <p:spPr>
          <a:xfrm>
            <a:off x="9855200" y="6238280"/>
            <a:ext cx="15240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B3C8"/>
                </a:solidFill>
                <a:latin typeface="Calibri" pitchFamily="34" charset="0"/>
                <a:ea typeface="Calibri" pitchFamily="34" charset="-122"/>
                <a:cs typeface="Calibri" pitchFamily="34" charset="-120"/>
              </a:rPr>
              <a:t>ZNexora Tech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pic>
        <p:nvPicPr>
          <p:cNvPr id="2" name="Image 0" descr="ZNexora Tech logo"/>
          <p:cNvPicPr>
            <a:picLocks noChangeAspect="1"/>
          </p:cNvPicPr>
          <p:nvPr/>
        </p:nvPicPr>
        <p:blipFill>
          <a:blip r:embed="rId3"/>
          <a:srcRect l="-106" r="-106"/>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78D4"/>
                </a:solidFill>
                <a:latin typeface="Calibri" pitchFamily="34" charset="0"/>
                <a:ea typeface="Calibri" pitchFamily="34" charset="-122"/>
                <a:cs typeface="Calibri" pitchFamily="34" charset="-120"/>
              </a:rPr>
              <a:t>09 · IF IT HAPPENS</a:t>
            </a:r>
            <a:endParaRPr lang="en-US" sz="1200" dirty="0"/>
          </a:p>
        </p:txBody>
      </p:sp>
      <p:sp>
        <p:nvSpPr>
          <p:cNvPr id="4" name="Text 1"/>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1F33"/>
                </a:solidFill>
                <a:latin typeface="Arial" pitchFamily="34" charset="0"/>
                <a:ea typeface="Arial" pitchFamily="34" charset="-122"/>
                <a:cs typeface="Arial" pitchFamily="34" charset="-120"/>
              </a:rPr>
              <a:t>Session stolen? Act fast</a:t>
            </a:r>
            <a:endParaRPr lang="en-US" sz="3600" dirty="0"/>
          </a:p>
        </p:txBody>
      </p:sp>
      <p:sp>
        <p:nvSpPr>
          <p:cNvPr id="5" name="Shape 2"/>
          <p:cNvSpPr/>
          <p:nvPr/>
        </p:nvSpPr>
        <p:spPr>
          <a:xfrm>
            <a:off x="812800" y="1569641"/>
            <a:ext cx="7340600" cy="584200"/>
          </a:xfrm>
          <a:prstGeom prst="roundRect">
            <a:avLst>
              <a:gd name="adj" fmla="val 17391"/>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6" name="Text 3"/>
          <p:cNvSpPr/>
          <p:nvPr/>
        </p:nvSpPr>
        <p:spPr>
          <a:xfrm>
            <a:off x="990600" y="1683941"/>
            <a:ext cx="355600" cy="355600"/>
          </a:xfrm>
          <a:prstGeom prst="roundRect">
            <a:avLst>
              <a:gd name="adj" fmla="val 50000"/>
            </a:avLst>
          </a:prstGeom>
          <a:solidFill>
            <a:srgbClr val="F7630C"/>
          </a:solidFill>
          <a:ln/>
        </p:spPr>
        <p:txBody>
          <a:bodyPr wrap="square" lIns="0" tIns="0" rIns="0" bIns="0" rtlCol="0" anchor="ctr">
            <a:normAutofit/>
          </a:bodyPr>
          <a:lstStyle/>
          <a:p>
            <a:pPr marL="0" indent="0" algn="ctr">
              <a:lnSpc>
                <a:spcPts val="1960"/>
              </a:lnSpc>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4"/>
          <p:cNvSpPr/>
          <p:nvPr/>
        </p:nvSpPr>
        <p:spPr>
          <a:xfrm>
            <a:off x="1498600" y="1737320"/>
            <a:ext cx="667131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1F33"/>
                </a:solidFill>
                <a:latin typeface="Calibri" pitchFamily="34" charset="0"/>
                <a:ea typeface="Calibri" pitchFamily="34" charset="-122"/>
                <a:cs typeface="Calibri" pitchFamily="34" charset="-120"/>
              </a:rPr>
              <a:t>Report immediately:</a:t>
            </a:r>
            <a:r>
              <a:rPr lang="en-US" sz="1400" dirty="0">
                <a:solidFill>
                  <a:srgbClr val="0B1F33"/>
                </a:solidFill>
                <a:latin typeface="Calibri" pitchFamily="34" charset="0"/>
                <a:ea typeface="Calibri" pitchFamily="34" charset="-122"/>
                <a:cs typeface="Calibri" pitchFamily="34" charset="-120"/>
              </a:rPr>
              <a:t> </a:t>
            </a:r>
            <a:r>
              <a:rPr lang="en-US" sz="1400" dirty="0">
                <a:solidFill>
                  <a:srgbClr val="4A5A6B"/>
                </a:solidFill>
                <a:latin typeface="Calibri" pitchFamily="34" charset="0"/>
                <a:ea typeface="Calibri" pitchFamily="34" charset="-122"/>
                <a:cs typeface="Calibri" pitchFamily="34" charset="-120"/>
              </a:rPr>
              <a:t>Call IT on [contact]. Minutes matter.</a:t>
            </a:r>
            <a:endParaRPr lang="en-US" sz="1400" dirty="0"/>
          </a:p>
        </p:txBody>
      </p:sp>
      <p:sp>
        <p:nvSpPr>
          <p:cNvPr id="8" name="Shape 5"/>
          <p:cNvSpPr/>
          <p:nvPr/>
        </p:nvSpPr>
        <p:spPr>
          <a:xfrm>
            <a:off x="812800" y="2242741"/>
            <a:ext cx="7340600" cy="584200"/>
          </a:xfrm>
          <a:prstGeom prst="roundRect">
            <a:avLst>
              <a:gd name="adj" fmla="val 17391"/>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9" name="Text 6"/>
          <p:cNvSpPr/>
          <p:nvPr/>
        </p:nvSpPr>
        <p:spPr>
          <a:xfrm>
            <a:off x="990600" y="2357041"/>
            <a:ext cx="355600" cy="355600"/>
          </a:xfrm>
          <a:prstGeom prst="roundRect">
            <a:avLst>
              <a:gd name="adj" fmla="val 50000"/>
            </a:avLst>
          </a:prstGeom>
          <a:solidFill>
            <a:srgbClr val="F7630C"/>
          </a:solidFill>
          <a:ln/>
        </p:spPr>
        <p:txBody>
          <a:bodyPr wrap="square" lIns="0" tIns="0" rIns="0" bIns="0" rtlCol="0" anchor="ctr">
            <a:normAutofit/>
          </a:bodyPr>
          <a:lstStyle/>
          <a:p>
            <a:pPr marL="0" indent="0" algn="ctr">
              <a:lnSpc>
                <a:spcPts val="1960"/>
              </a:lnSpc>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7"/>
          <p:cNvSpPr/>
          <p:nvPr/>
        </p:nvSpPr>
        <p:spPr>
          <a:xfrm>
            <a:off x="1498600" y="2410420"/>
            <a:ext cx="667131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1F33"/>
                </a:solidFill>
                <a:latin typeface="Calibri" pitchFamily="34" charset="0"/>
                <a:ea typeface="Calibri" pitchFamily="34" charset="-122"/>
                <a:cs typeface="Calibri" pitchFamily="34" charset="-120"/>
              </a:rPr>
              <a:t>Revoke all sessions:</a:t>
            </a:r>
            <a:r>
              <a:rPr lang="en-US" sz="1400" dirty="0">
                <a:solidFill>
                  <a:srgbClr val="0B1F33"/>
                </a:solidFill>
                <a:latin typeface="Calibri" pitchFamily="34" charset="0"/>
                <a:ea typeface="Calibri" pitchFamily="34" charset="-122"/>
                <a:cs typeface="Calibri" pitchFamily="34" charset="-120"/>
              </a:rPr>
              <a:t> </a:t>
            </a:r>
            <a:r>
              <a:rPr lang="en-US" sz="1400" dirty="0">
                <a:solidFill>
                  <a:srgbClr val="4A5A6B"/>
                </a:solidFill>
                <a:latin typeface="Calibri" pitchFamily="34" charset="0"/>
                <a:ea typeface="Calibri" pitchFamily="34" charset="-122"/>
                <a:cs typeface="Calibri" pitchFamily="34" charset="-120"/>
              </a:rPr>
              <a:t>IT signs you out everywhere, killing stolen cookies.</a:t>
            </a:r>
            <a:endParaRPr lang="en-US" sz="1400" dirty="0"/>
          </a:p>
        </p:txBody>
      </p:sp>
      <p:sp>
        <p:nvSpPr>
          <p:cNvPr id="11" name="Shape 8"/>
          <p:cNvSpPr/>
          <p:nvPr/>
        </p:nvSpPr>
        <p:spPr>
          <a:xfrm>
            <a:off x="812800" y="2915841"/>
            <a:ext cx="7340600" cy="726281"/>
          </a:xfrm>
          <a:prstGeom prst="roundRect">
            <a:avLst>
              <a:gd name="adj" fmla="val 13989"/>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12" name="Text 9"/>
          <p:cNvSpPr/>
          <p:nvPr/>
        </p:nvSpPr>
        <p:spPr>
          <a:xfrm>
            <a:off x="990600" y="3101181"/>
            <a:ext cx="355600" cy="355600"/>
          </a:xfrm>
          <a:prstGeom prst="roundRect">
            <a:avLst>
              <a:gd name="adj" fmla="val 50000"/>
            </a:avLst>
          </a:prstGeom>
          <a:solidFill>
            <a:srgbClr val="0078D4"/>
          </a:solidFill>
          <a:ln/>
        </p:spPr>
        <p:txBody>
          <a:bodyPr wrap="square" lIns="0" tIns="0" rIns="0" bIns="0" rtlCol="0" anchor="ctr">
            <a:normAutofit/>
          </a:bodyPr>
          <a:lstStyle/>
          <a:p>
            <a:pPr marL="0" indent="0" algn="ctr">
              <a:lnSpc>
                <a:spcPts val="1960"/>
              </a:lnSpc>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0"/>
          <p:cNvSpPr/>
          <p:nvPr/>
        </p:nvSpPr>
        <p:spPr>
          <a:xfrm>
            <a:off x="1498600" y="3030141"/>
            <a:ext cx="6671310"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1F33"/>
                </a:solidFill>
                <a:latin typeface="Calibri" pitchFamily="34" charset="0"/>
                <a:ea typeface="Calibri" pitchFamily="34" charset="-122"/>
                <a:cs typeface="Calibri" pitchFamily="34" charset="-120"/>
              </a:rPr>
              <a:t>Reset password and MFA:</a:t>
            </a:r>
            <a:r>
              <a:rPr lang="en-US" sz="1400" dirty="0">
                <a:solidFill>
                  <a:srgbClr val="0B1F33"/>
                </a:solidFill>
                <a:latin typeface="Calibri" pitchFamily="34" charset="0"/>
                <a:ea typeface="Calibri" pitchFamily="34" charset="-122"/>
                <a:cs typeface="Calibri" pitchFamily="34" charset="-120"/>
              </a:rPr>
              <a:t> </a:t>
            </a:r>
            <a:r>
              <a:rPr lang="en-US" sz="1400" dirty="0">
                <a:solidFill>
                  <a:srgbClr val="4A5A6B"/>
                </a:solidFill>
                <a:latin typeface="Calibri" pitchFamily="34" charset="0"/>
                <a:ea typeface="Calibri" pitchFamily="34" charset="-122"/>
                <a:cs typeface="Calibri" pitchFamily="34" charset="-120"/>
              </a:rPr>
              <a:t>Change your password and re-register MFA methods.</a:t>
            </a:r>
            <a:endParaRPr lang="en-US" sz="1400" dirty="0"/>
          </a:p>
        </p:txBody>
      </p:sp>
      <p:sp>
        <p:nvSpPr>
          <p:cNvPr id="14" name="Shape 11"/>
          <p:cNvSpPr/>
          <p:nvPr/>
        </p:nvSpPr>
        <p:spPr>
          <a:xfrm>
            <a:off x="812800" y="3731022"/>
            <a:ext cx="7340600" cy="584200"/>
          </a:xfrm>
          <a:prstGeom prst="roundRect">
            <a:avLst>
              <a:gd name="adj" fmla="val 17391"/>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15" name="Text 12"/>
          <p:cNvSpPr/>
          <p:nvPr/>
        </p:nvSpPr>
        <p:spPr>
          <a:xfrm>
            <a:off x="990600" y="3845322"/>
            <a:ext cx="355600" cy="355600"/>
          </a:xfrm>
          <a:prstGeom prst="roundRect">
            <a:avLst>
              <a:gd name="adj" fmla="val 50000"/>
            </a:avLst>
          </a:prstGeom>
          <a:solidFill>
            <a:srgbClr val="0078D4"/>
          </a:solidFill>
          <a:ln/>
        </p:spPr>
        <p:txBody>
          <a:bodyPr wrap="square" lIns="0" tIns="0" rIns="0" bIns="0" rtlCol="0" anchor="ctr">
            <a:normAutofit/>
          </a:bodyPr>
          <a:lstStyle/>
          <a:p>
            <a:pPr marL="0" indent="0" algn="ctr">
              <a:lnSpc>
                <a:spcPts val="1960"/>
              </a:lnSpc>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3"/>
          <p:cNvSpPr/>
          <p:nvPr/>
        </p:nvSpPr>
        <p:spPr>
          <a:xfrm>
            <a:off x="1498600" y="3898702"/>
            <a:ext cx="667131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1F33"/>
                </a:solidFill>
                <a:latin typeface="Calibri" pitchFamily="34" charset="0"/>
                <a:ea typeface="Calibri" pitchFamily="34" charset="-122"/>
                <a:cs typeface="Calibri" pitchFamily="34" charset="-120"/>
              </a:rPr>
              <a:t>Check your account:</a:t>
            </a:r>
            <a:r>
              <a:rPr lang="en-US" sz="1400" dirty="0">
                <a:solidFill>
                  <a:srgbClr val="0B1F33"/>
                </a:solidFill>
                <a:latin typeface="Calibri" pitchFamily="34" charset="0"/>
                <a:ea typeface="Calibri" pitchFamily="34" charset="-122"/>
                <a:cs typeface="Calibri" pitchFamily="34" charset="-120"/>
              </a:rPr>
              <a:t> </a:t>
            </a:r>
            <a:r>
              <a:rPr lang="en-US" sz="1400" dirty="0">
                <a:solidFill>
                  <a:srgbClr val="4A5A6B"/>
                </a:solidFill>
                <a:latin typeface="Calibri" pitchFamily="34" charset="0"/>
                <a:ea typeface="Calibri" pitchFamily="34" charset="-122"/>
                <a:cs typeface="Calibri" pitchFamily="34" charset="-120"/>
              </a:rPr>
              <a:t>Remove unknown inbox rules, apps and devices.</a:t>
            </a:r>
            <a:endParaRPr lang="en-US" sz="1400" dirty="0"/>
          </a:p>
        </p:txBody>
      </p:sp>
      <p:sp>
        <p:nvSpPr>
          <p:cNvPr id="17" name="Shape 14"/>
          <p:cNvSpPr/>
          <p:nvPr/>
        </p:nvSpPr>
        <p:spPr>
          <a:xfrm>
            <a:off x="812800" y="4404122"/>
            <a:ext cx="7340600" cy="584200"/>
          </a:xfrm>
          <a:prstGeom prst="roundRect">
            <a:avLst>
              <a:gd name="adj" fmla="val 17391"/>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18" name="Text 15"/>
          <p:cNvSpPr/>
          <p:nvPr/>
        </p:nvSpPr>
        <p:spPr>
          <a:xfrm>
            <a:off x="990600" y="4518422"/>
            <a:ext cx="355600" cy="355600"/>
          </a:xfrm>
          <a:prstGeom prst="roundRect">
            <a:avLst>
              <a:gd name="adj" fmla="val 50000"/>
            </a:avLst>
          </a:prstGeom>
          <a:solidFill>
            <a:srgbClr val="0078D4"/>
          </a:solidFill>
          <a:ln/>
        </p:spPr>
        <p:txBody>
          <a:bodyPr wrap="square" lIns="0" tIns="0" rIns="0" bIns="0" rtlCol="0" anchor="ctr">
            <a:normAutofit/>
          </a:bodyPr>
          <a:lstStyle/>
          <a:p>
            <a:pPr marL="0" indent="0" algn="ctr">
              <a:lnSpc>
                <a:spcPts val="1960"/>
              </a:lnSpc>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9" name="Text 16"/>
          <p:cNvSpPr/>
          <p:nvPr/>
        </p:nvSpPr>
        <p:spPr>
          <a:xfrm>
            <a:off x="1498600" y="4571802"/>
            <a:ext cx="667131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1F33"/>
                </a:solidFill>
                <a:latin typeface="Calibri" pitchFamily="34" charset="0"/>
                <a:ea typeface="Calibri" pitchFamily="34" charset="-122"/>
                <a:cs typeface="Calibri" pitchFamily="34" charset="-120"/>
              </a:rPr>
              <a:t>Clean the device:</a:t>
            </a:r>
            <a:r>
              <a:rPr lang="en-US" sz="1400" dirty="0">
                <a:solidFill>
                  <a:srgbClr val="0B1F33"/>
                </a:solidFill>
                <a:latin typeface="Calibri" pitchFamily="34" charset="0"/>
                <a:ea typeface="Calibri" pitchFamily="34" charset="-122"/>
                <a:cs typeface="Calibri" pitchFamily="34" charset="-120"/>
              </a:rPr>
              <a:t> </a:t>
            </a:r>
            <a:r>
              <a:rPr lang="en-US" sz="1400" dirty="0">
                <a:solidFill>
                  <a:srgbClr val="4A5A6B"/>
                </a:solidFill>
                <a:latin typeface="Calibri" pitchFamily="34" charset="0"/>
                <a:ea typeface="Calibri" pitchFamily="34" charset="-122"/>
                <a:cs typeface="Calibri" pitchFamily="34" charset="-120"/>
              </a:rPr>
              <a:t>If malware is suspected, IT scans or rebuilds it.</a:t>
            </a:r>
            <a:endParaRPr lang="en-US" sz="1400" dirty="0"/>
          </a:p>
        </p:txBody>
      </p:sp>
      <p:sp>
        <p:nvSpPr>
          <p:cNvPr id="20" name="Shape 17"/>
          <p:cNvSpPr/>
          <p:nvPr/>
        </p:nvSpPr>
        <p:spPr>
          <a:xfrm>
            <a:off x="8458200" y="1927721"/>
            <a:ext cx="2921000" cy="2702520"/>
          </a:xfrm>
          <a:prstGeom prst="roundRect">
            <a:avLst>
              <a:gd name="adj" fmla="val 4699"/>
            </a:avLst>
          </a:prstGeom>
          <a:solidFill>
            <a:srgbClr val="0078D4"/>
          </a:solidFill>
          <a:ln/>
        </p:spPr>
        <p:txBody>
          <a:bodyPr/>
          <a:lstStyle/>
          <a:p>
            <a:endParaRPr lang="en-JP"/>
          </a:p>
        </p:txBody>
      </p:sp>
      <p:sp>
        <p:nvSpPr>
          <p:cNvPr id="21" name="Shape 18"/>
          <p:cNvSpPr/>
          <p:nvPr/>
        </p:nvSpPr>
        <p:spPr>
          <a:xfrm>
            <a:off x="8712200" y="2181721"/>
            <a:ext cx="508000" cy="508000"/>
          </a:xfrm>
          <a:prstGeom prst="roundRect">
            <a:avLst>
              <a:gd name="adj" fmla="val 50000"/>
            </a:avLst>
          </a:prstGeom>
          <a:solidFill>
            <a:srgbClr val="FFFFFF"/>
          </a:solidFill>
          <a:ln/>
        </p:spPr>
        <p:txBody>
          <a:bodyPr/>
          <a:lstStyle/>
          <a:p>
            <a:endParaRPr lang="en-JP"/>
          </a:p>
        </p:txBody>
      </p:sp>
      <p:pic>
        <p:nvPicPr>
          <p:cNvPr id="22" name="Image 1" descr="logout icon"/>
          <p:cNvPicPr>
            <a:picLocks noChangeAspect="1"/>
          </p:cNvPicPr>
          <p:nvPr/>
        </p:nvPicPr>
        <p:blipFill>
          <a:blip r:embed="rId4"/>
          <a:srcRect/>
          <a:stretch/>
        </p:blipFill>
        <p:spPr>
          <a:xfrm>
            <a:off x="8839200" y="2308721"/>
            <a:ext cx="254000" cy="254000"/>
          </a:xfrm>
          <a:prstGeom prst="rect">
            <a:avLst/>
          </a:prstGeom>
        </p:spPr>
      </p:pic>
      <p:sp>
        <p:nvSpPr>
          <p:cNvPr id="23" name="Text 19"/>
          <p:cNvSpPr/>
          <p:nvPr/>
        </p:nvSpPr>
        <p:spPr>
          <a:xfrm>
            <a:off x="8712200" y="2816721"/>
            <a:ext cx="248539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FFFF"/>
                </a:solidFill>
                <a:latin typeface="Calibri" pitchFamily="34" charset="0"/>
                <a:ea typeface="Calibri" pitchFamily="34" charset="-122"/>
                <a:cs typeface="Calibri" pitchFamily="34" charset="-120"/>
              </a:rPr>
              <a:t>REMEMBER</a:t>
            </a:r>
            <a:endParaRPr lang="en-US" sz="1200" dirty="0"/>
          </a:p>
        </p:txBody>
      </p:sp>
      <p:sp>
        <p:nvSpPr>
          <p:cNvPr id="24" name="Text 20"/>
          <p:cNvSpPr/>
          <p:nvPr/>
        </p:nvSpPr>
        <p:spPr>
          <a:xfrm>
            <a:off x="8712200" y="3157041"/>
            <a:ext cx="2485390" cy="12446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A new password doesn't end a stolen session. Revoking it does.</a:t>
            </a:r>
            <a:endParaRPr lang="en-US" sz="2000" dirty="0"/>
          </a:p>
        </p:txBody>
      </p:sp>
      <p:sp>
        <p:nvSpPr>
          <p:cNvPr id="25" name="Text 21"/>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B"/>
                </a:solidFill>
                <a:latin typeface="Calibri" pitchFamily="34" charset="0"/>
                <a:ea typeface="Calibri" pitchFamily="34" charset="-122"/>
                <a:cs typeface="Calibri" pitchFamily="34" charset="-120"/>
              </a:rPr>
              <a:t>ZNexora Tech incident guidance</a:t>
            </a:r>
            <a:endParaRPr lang="en-US" sz="1200" dirty="0"/>
          </a:p>
        </p:txBody>
      </p:sp>
      <p:sp>
        <p:nvSpPr>
          <p:cNvPr id="26" name="Text 22"/>
          <p:cNvSpPr/>
          <p:nvPr/>
        </p:nvSpPr>
        <p:spPr>
          <a:xfrm>
            <a:off x="9855200" y="6238280"/>
            <a:ext cx="15240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A6B"/>
                </a:solidFill>
                <a:latin typeface="Calibri" pitchFamily="34" charset="0"/>
                <a:ea typeface="Calibri" pitchFamily="34" charset="-122"/>
                <a:cs typeface="Calibri" pitchFamily="34" charset="-120"/>
              </a:rPr>
              <a:t>ZNexora Tech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pic>
        <p:nvPicPr>
          <p:cNvPr id="2" name="Image 0" descr="ZNexora Tech logo"/>
          <p:cNvPicPr>
            <a:picLocks noChangeAspect="1"/>
          </p:cNvPicPr>
          <p:nvPr/>
        </p:nvPicPr>
        <p:blipFill>
          <a:blip r:embed="rId3"/>
          <a:srcRect l="-106" r="-106"/>
          <a:stretch/>
        </p:blipFill>
        <p:spPr>
          <a:xfrm>
            <a:off x="10414000" y="114300"/>
            <a:ext cx="1473200" cy="762000"/>
          </a:xfrm>
          <a:prstGeom prst="rect">
            <a:avLst/>
          </a:prstGeom>
        </p:spPr>
      </p:pic>
      <p:pic>
        <p:nvPicPr>
          <p:cNvPr id="3" name="Image 1" descr="rect"/>
          <p:cNvPicPr>
            <a:picLocks noChangeAspect="1"/>
          </p:cNvPicPr>
          <p:nvPr/>
        </p:nvPicPr>
        <p:blipFill>
          <a:blip r:embed="rId4"/>
          <a:srcRect/>
          <a:stretch/>
        </p:blipFill>
        <p:spPr>
          <a:xfrm>
            <a:off x="0" y="0"/>
            <a:ext cx="152400" cy="6858000"/>
          </a:xfrm>
          <a:prstGeom prst="rect">
            <a:avLst/>
          </a:prstGeom>
        </p:spPr>
      </p:pic>
      <p:pic>
        <p:nvPicPr>
          <p:cNvPr id="4" name="Image 2" descr="Padlock protecting a browser cookie"/>
          <p:cNvPicPr>
            <a:picLocks noChangeAspect="1"/>
          </p:cNvPicPr>
          <p:nvPr/>
        </p:nvPicPr>
        <p:blipFill>
          <a:blip r:embed="rId5"/>
          <a:srcRect/>
          <a:stretch/>
        </p:blipFill>
        <p:spPr>
          <a:xfrm>
            <a:off x="8001000" y="1524000"/>
            <a:ext cx="3556000" cy="3810000"/>
          </a:xfrm>
          <a:prstGeom prst="rect">
            <a:avLst/>
          </a:prstGeom>
        </p:spPr>
      </p:pic>
      <p:sp>
        <p:nvSpPr>
          <p:cNvPr id="5" name="Text 0"/>
          <p:cNvSpPr/>
          <p:nvPr/>
        </p:nvSpPr>
        <p:spPr>
          <a:xfrm>
            <a:off x="812800" y="156348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00B7C3"/>
                </a:solidFill>
                <a:latin typeface="Calibri" pitchFamily="34" charset="0"/>
                <a:ea typeface="Calibri" pitchFamily="34" charset="-122"/>
                <a:cs typeface="Calibri" pitchFamily="34" charset="-120"/>
              </a:rPr>
              <a:t>QUESTIONS AND DISCUSSION</a:t>
            </a:r>
            <a:endParaRPr lang="en-US" sz="1400" dirty="0"/>
          </a:p>
        </p:txBody>
      </p:sp>
      <p:sp>
        <p:nvSpPr>
          <p:cNvPr id="6" name="Text 1"/>
          <p:cNvSpPr>
            <a:spLocks noGrp="1"/>
          </p:cNvSpPr>
          <p:nvPr>
            <p:ph type="title"/>
          </p:nvPr>
        </p:nvSpPr>
        <p:spPr>
          <a:xfrm>
            <a:off x="812800" y="2066330"/>
            <a:ext cx="6932930" cy="2105422"/>
          </a:xfrm>
          <a:prstGeom prst="rect">
            <a:avLst/>
          </a:prstGeom>
          <a:noFill/>
          <a:ln/>
        </p:spPr>
        <p:txBody>
          <a:bodyPr wrap="square" lIns="0" tIns="0" rIns="0" bIns="0" rtlCol="0" anchor="t">
            <a:normAutofit/>
          </a:bodyPr>
          <a:lstStyle/>
          <a:p>
            <a:pPr marL="0" indent="0" algn="l">
              <a:lnSpc>
                <a:spcPts val="5460"/>
              </a:lnSpc>
              <a:buNone/>
            </a:pPr>
            <a:r>
              <a:rPr lang="en-US" sz="5200" b="1" i="0" dirty="0">
                <a:solidFill>
                  <a:srgbClr val="FFFFFF"/>
                </a:solidFill>
                <a:latin typeface="Arial" pitchFamily="34" charset="0"/>
                <a:ea typeface="Arial" pitchFamily="34" charset="-122"/>
                <a:cs typeface="Arial" pitchFamily="34" charset="-120"/>
              </a:rPr>
              <a:t>Protect the session, not just the password.</a:t>
            </a:r>
            <a:endParaRPr lang="en-US" sz="5200" dirty="0"/>
          </a:p>
        </p:txBody>
      </p:sp>
      <p:sp>
        <p:nvSpPr>
          <p:cNvPr id="7" name="Text 2"/>
          <p:cNvSpPr/>
          <p:nvPr/>
        </p:nvSpPr>
        <p:spPr>
          <a:xfrm>
            <a:off x="812800" y="4400352"/>
            <a:ext cx="6540500"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CADCFC"/>
                </a:solidFill>
                <a:latin typeface="Calibri" pitchFamily="34" charset="0"/>
                <a:ea typeface="Calibri" pitchFamily="34" charset="-122"/>
                <a:cs typeface="Calibri" pitchFamily="34" charset="-120"/>
              </a:rPr>
              <a:t>Go direct. Check the address. Report anything odd.</a:t>
            </a:r>
            <a:endParaRPr lang="en-US" sz="2000" dirty="0"/>
          </a:p>
        </p:txBody>
      </p:sp>
      <p:sp>
        <p:nvSpPr>
          <p:cNvPr id="8" name="Text 3"/>
          <p:cNvSpPr/>
          <p:nvPr/>
        </p:nvSpPr>
        <p:spPr>
          <a:xfrm>
            <a:off x="812800" y="5009952"/>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9FB3C8"/>
                </a:solidFill>
                <a:latin typeface="Calibri" pitchFamily="34" charset="0"/>
                <a:ea typeface="Calibri" pitchFamily="34" charset="-122"/>
                <a:cs typeface="Calibri" pitchFamily="34" charset="-120"/>
              </a:rPr>
              <a:t>Thank you · Presented by ZNexora Tech</a:t>
            </a:r>
            <a:endParaRPr lang="en-US" sz="1600" dirty="0"/>
          </a:p>
        </p:txBody>
      </p:sp>
    </p:spTree>
  </p:cSld>
  <p:clrMapOvr>
    <a:masterClrMapping/>
  </p:clrMapOvr>
</p:sld>
</file>

<file path=ppt/theme/theme1.xml><?xml version="1.0" encoding="utf-8"?>
<a:theme xmlns:a="http://schemas.openxmlformats.org/drawingml/2006/main" name="Hacked Without a Password">
  <a:themeElements>
    <a:clrScheme name="Hacked Without a Password">
      <a:dk1>
        <a:srgbClr val="0B1F33"/>
      </a:dk1>
      <a:lt1>
        <a:srgbClr val="F4F7FB"/>
      </a:lt1>
      <a:dk2>
        <a:srgbClr val="455565"/>
      </a:dk2>
      <a:lt2>
        <a:srgbClr val="DDE1E7"/>
      </a:lt2>
      <a:accent1>
        <a:srgbClr val="0078D4"/>
      </a:accent1>
      <a:accent2>
        <a:srgbClr val="00B7C3"/>
      </a:accent2>
      <a:accent3>
        <a:srgbClr val="CADCFC"/>
      </a:accent3>
      <a:accent4>
        <a:srgbClr val="C24E06"/>
      </a:accent4>
      <a:accent5>
        <a:srgbClr val="9FB3C8"/>
      </a:accent5>
      <a:accent6>
        <a:srgbClr val="F7630C"/>
      </a:accent6>
      <a:hlink>
        <a:srgbClr val="0563C1"/>
      </a:hlink>
      <a:folHlink>
        <a:srgbClr val="954F72"/>
      </a:folHlink>
    </a:clrScheme>
    <a:fontScheme name="Hacked Without a Passwor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2342</Words>
  <Application>Microsoft Macintosh PowerPoint</Application>
  <PresentationFormat>Widescreen</PresentationFormat>
  <Paragraphs>170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Hacked Without a Password</vt:lpstr>
      <vt:lpstr>Hacked Without a Password</vt:lpstr>
      <vt:lpstr>Your session cookie is a festival wristband</vt:lpstr>
      <vt:lpstr>MFA protects the login, not the session</vt:lpstr>
      <vt:lpstr>Three ways attackers steal your session</vt:lpstr>
      <vt:lpstr>How fake login pages steal sessions</vt:lpstr>
      <vt:lpstr>Infostealers take every session at once</vt:lpstr>
      <vt:lpstr>Signs your session may be stolen</vt:lpstr>
      <vt:lpstr>Six habits that protect your session</vt:lpstr>
      <vt:lpstr>Layered defences against session theft</vt:lpstr>
      <vt:lpstr>Session stolen? Act fast</vt:lpstr>
      <vt:lpstr>Protect the session, not just the password.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Hacked Without a Password</dc:title>
  <dc:subject/>
  <dc:creator/>
  <cp:lastModifiedBy>ZIN MAR LWIN</cp:lastModifiedBy>
  <cp:revision>1</cp:revision>
  <dcterms:created xsi:type="dcterms:W3CDTF">2026-10-16T13:56:20Z</dcterms:created>
  <dcterms:modified xsi:type="dcterms:W3CDTF">2026-10-16T15:51:41Z</dcterms:modified>
</cp:coreProperties>
</file>