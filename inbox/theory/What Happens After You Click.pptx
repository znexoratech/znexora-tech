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4199"/>
  </p:normalViewPr>
  <p:slideViewPr>
    <p:cSldViewPr snapToGrid="0" snapToObjects="1">
      <p:cViewPr varScale="1">
        <p:scale>
          <a:sx n="103" d="100"/>
          <a:sy n="103" d="100"/>
        </p:scale>
        <p:origin x="10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109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0:35] Good [morning/afternoon], everyone. I'm [Presenter] from ZNexora Tech. We often hear 'don't click suspicious links', but rarely what actually happens if you do. So today, we're going to follow one click, minute by minute, from a normal Monday morning to a full company breach. Then we'll rewind and see how the same story ends very differently.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1:25] Meet Alex. Alex works in finance, it's 9 o'clock on a busy Monday, and there are 47 unread emails waiting. One of them looks like it's from HR payroll: 'Action required: confirm your bonus details today.' It's personal, it's about money, and it has a deadline: three classic triggers. If you look closely, the sender's domain isn't our real HR domain. But Alex is busy, the email looks normal, and Alex clicks. Alex is fictional, but this story follows a real and very common attack pattern. Let's see what happens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2:10] Here's the full timeline we'll follow. Minute zero: the click. Minute one: something runs. Minute two: data is stolen. Minute ten: the attacker logs in as Alex. Minute twenty-nine: the attacker spreads to other systems. Days one to three: company data is quietly copied out. And day five: ransomware locks everything. Notice the shape: for the first half hour, the problem is on one laptop. After that, it's a company-wide incident. Keep that 29-minute mark in mind.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 3:10] Minute zero. Alex clicks 'View bonus summary' and lands on a page that looks like a payroll portal. Instead of the document, a box appears: 'Verify you are human.' It says press Windows and R, then Control and V, then Enter. This is the ClickFix trick. The page has already copied a malicious command to Alex's clipboard. By minute one, Alex has pasted and run it. Hidden malware installs silently in the background. The page might even show the real bonus document afterwards. From Alex's point of view, nothing looks wrong at all. And that's the key lesson of this slide: a successful attack usually looks like nothing happened.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 – 4:10] Minute two. The malware is an infostealer. In seconds, it collects Alex's saved browser passwords, session cookies, payment details and recent documents, packages them, and uploads them to the attacker, all before Alex finishes their coffee. Minute ten. The attacker uses the stolen session cookie to log in as Alex. Because a session cookie proves you've already logged in, there's no password prompt and no MFA challenge. The attacker reads finance emails to learn who approves payments, then quietly creates a hidden rule that forwards invoices to themselves. To the company's systems, this looks exactly like Alex working normally.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5:00] Minute twenty-nine. This is the breakout: the moment the attacker moves from Alex's laptop to other systems. Using Alex's access, they reach a shared file server. There they find a script containing an administrator's password, and with admin rights, they can reach almost every system in the company. Is 29 minutes realistic? CrowdStrike's 2026 Global Threat Report found that the average breakout time is exactly that, 29 minutes, and the fastest they observed was just 27 seconds. So if something is going to be stopped cheaply, it has to be stopped in that first half hour.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5:50] Over the next few days, the attacker works quietly. Days one to three: they copy customer records and financial files out of the company, slowly, to avoid setting off alarms. Day four: they find the backups and delete them, so the company can't simply restore. Day five: ransomware runs on every system at once, often overnight or at a weekend when fewer people are watching. On Monday morning, every screen shows a message like this one: your files are encrypted, we've copied your data, pay within 72 hours or it will be published. This is called double extortion, and it all started with one click, one week earlier.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 – 6:30] What does that click cost? IBM's 2026 report puts the global average cost of a breach at 4.99 million dollars, a record high. On average it takes 247 days to identify and contain a breach, which is eight months of disruption. And Verizon found that ransomware is now involved in 48 percent of breaches. On top of that come downtime, lost customers, legal costs and reputational damage. That's the price of a click nobody reported.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 7:30] Now let's rewind and replay the same story with one change. On the left, Alex stays silent: the click, the theft, the spread, and on day five the company stops. On the right, Alex makes exactly the same mistake and clicks and runs the command. But at minute two, Alex thinks, 'That was strange, a real website would never ask me to do that,' and calls IT. By minute ten, IT has isolated the laptop and revoked Alex's sessions, so the stolen cookies are useless. By minute thirty, it's contained: one laptop rebuilt, passwords reset, done. Same click. Thirty minutes of cleanup instead of months of recovery. The difference wasn't the click. It was the report.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8:30] So where could this attack have been stopped? There are five moments. One, before you click: check the sender, the link, and any pressure to act fast. Two, before you run anything: never paste commands a website gives you. Three, protect your logins: use MFA and a password manager, and don't save passwords in your browser. Four, the most important one: report in minutes. If something seems strange, call IT on [contact] straight away. And five, keep your devices updated, because updates and EDR slow attackers down and buy us time. And if you've already clicked something, please report it. You will never be blamed for reporting.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9:00] To wrap up: one click took Alex's company from an ordinary Monday to a full breach in five days. But the same click, reported in two minutes, became a thirty-minute fix. The first minute matters most. Pause before you click, and report the moment something feels wrong. Thank you.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B1F33"/>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41"/>
          </a:xfrm>
          <a:prstGeom prst="rect">
            <a:avLst/>
          </a:prstGeom>
          <a:noFill/>
          <a:ln/>
        </p:spPr>
        <p:txBody>
          <a:bodyPr wrap="square" lIns="0" tIns="0" rIns="0" bIns="0" rtlCol="0" anchor="t"/>
          <a:lstStyle>
            <a:lvl1pPr marL="0" indent="0" algn="l">
              <a:lnSpc>
                <a:spcPct val="115000"/>
              </a:lnSpc>
              <a:buNone/>
              <a:defRPr lang="en-US" sz="3600" dirty="0">
                <a:solidFill>
                  <a:srgbClr val="0B1F33"/>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41"/>
            <a:ext cx="10566400" cy="4424759"/>
          </a:xfrm>
          <a:prstGeom prst="rect">
            <a:avLst/>
          </a:prstGeom>
          <a:noFill/>
          <a:ln/>
        </p:spPr>
        <p:txBody>
          <a:bodyPr wrap="square" lIns="0" tIns="0" rIns="0" bIns="0" rtlCol="0" anchor="t"/>
          <a:lstStyle>
            <a:lvl1pPr marL="0" indent="0" algn="l">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pic>
        <p:nvPicPr>
          <p:cNvPr id="3" name="Image 1" descr="rect"/>
          <p:cNvPicPr>
            <a:picLocks noChangeAspect="1"/>
          </p:cNvPicPr>
          <p:nvPr/>
        </p:nvPicPr>
        <p:blipFill>
          <a:blip r:embed="rId4"/>
          <a:srcRect/>
          <a:stretch/>
        </p:blipFill>
        <p:spPr>
          <a:xfrm>
            <a:off x="0" y="0"/>
            <a:ext cx="152400" cy="6858000"/>
          </a:xfrm>
          <a:prstGeom prst="rect">
            <a:avLst/>
          </a:prstGeom>
        </p:spPr>
      </p:pic>
      <p:pic>
        <p:nvPicPr>
          <p:cNvPr id="4" name="Image 2" descr="A mouse pointer clicking, with a countdown clock and a chain of compromised systems"/>
          <p:cNvPicPr>
            <a:picLocks noChangeAspect="1"/>
          </p:cNvPicPr>
          <p:nvPr/>
        </p:nvPicPr>
        <p:blipFill>
          <a:blip r:embed="rId5"/>
          <a:srcRect/>
          <a:stretch/>
        </p:blipFill>
        <p:spPr>
          <a:xfrm>
            <a:off x="7874000" y="1397000"/>
            <a:ext cx="3810000" cy="3810000"/>
          </a:xfrm>
          <a:prstGeom prst="rect">
            <a:avLst/>
          </a:prstGeom>
        </p:spPr>
      </p:pic>
      <p:sp>
        <p:nvSpPr>
          <p:cNvPr id="5" name="Text 0"/>
          <p:cNvSpPr/>
          <p:nvPr/>
        </p:nvSpPr>
        <p:spPr>
          <a:xfrm>
            <a:off x="812800" y="217943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0B7C3"/>
                </a:solidFill>
                <a:latin typeface="Calibri" pitchFamily="34" charset="0"/>
                <a:ea typeface="Calibri" pitchFamily="34" charset="-122"/>
                <a:cs typeface="Calibri" pitchFamily="34" charset="-120"/>
              </a:rPr>
              <a:t>ZNEXORA TECH | SECURITY AWARENESS</a:t>
            </a:r>
            <a:endParaRPr lang="en-US" sz="1400" dirty="0"/>
          </a:p>
        </p:txBody>
      </p:sp>
      <p:sp>
        <p:nvSpPr>
          <p:cNvPr id="6" name="Text 1"/>
          <p:cNvSpPr>
            <a:spLocks noGrp="1"/>
          </p:cNvSpPr>
          <p:nvPr>
            <p:ph type="title"/>
          </p:nvPr>
        </p:nvSpPr>
        <p:spPr>
          <a:xfrm>
            <a:off x="812800" y="2682280"/>
            <a:ext cx="7063740"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FFFFF"/>
                </a:solidFill>
                <a:latin typeface="Arial" pitchFamily="34" charset="0"/>
                <a:ea typeface="Arial" pitchFamily="34" charset="-122"/>
                <a:cs typeface="Arial" pitchFamily="34" charset="-120"/>
              </a:rPr>
              <a:t>What Happens After You Click?</a:t>
            </a:r>
            <a:endParaRPr lang="en-US" sz="5200" dirty="0"/>
          </a:p>
        </p:txBody>
      </p:sp>
      <p:sp>
        <p:nvSpPr>
          <p:cNvPr id="7" name="Text 2"/>
          <p:cNvSpPr/>
          <p:nvPr/>
        </p:nvSpPr>
        <p:spPr>
          <a:xfrm>
            <a:off x="812800" y="4322961"/>
            <a:ext cx="65405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ADCFC"/>
                </a:solidFill>
                <a:latin typeface="Calibri" pitchFamily="34" charset="0"/>
                <a:ea typeface="Calibri" pitchFamily="34" charset="-122"/>
                <a:cs typeface="Calibri" pitchFamily="34" charset="-120"/>
              </a:rPr>
              <a:t>One click to a full breach, minute by minute</a:t>
            </a:r>
            <a:endParaRPr lang="en-US" sz="2000" dirty="0"/>
          </a:p>
        </p:txBody>
      </p:sp>
      <p:sp>
        <p:nvSpPr>
          <p:cNvPr id="8" name="Text 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01 · THE SETUP</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Monday, 9:00 AM. An ordinary inbox.</a:t>
            </a:r>
            <a:endParaRPr lang="en-US" sz="3600" dirty="0"/>
          </a:p>
        </p:txBody>
      </p:sp>
      <p:sp>
        <p:nvSpPr>
          <p:cNvPr id="5" name="Shape 2"/>
          <p:cNvSpPr/>
          <p:nvPr/>
        </p:nvSpPr>
        <p:spPr>
          <a:xfrm>
            <a:off x="819150" y="1575991"/>
            <a:ext cx="5702300" cy="2629892"/>
          </a:xfrm>
          <a:prstGeom prst="roundRect">
            <a:avLst>
              <a:gd name="adj" fmla="val 4588"/>
            </a:avLst>
          </a:prstGeom>
          <a:solidFill>
            <a:srgbClr val="FFFFFF"/>
          </a:solidFill>
          <a:ln w="12700">
            <a:solidFill>
              <a:srgbClr val="D6E2EE"/>
            </a:solidFill>
            <a:prstDash val="solid"/>
          </a:ln>
        </p:spPr>
        <p:txBody>
          <a:bodyPr/>
          <a:lstStyle/>
          <a:p>
            <a:endParaRPr lang="en-JP"/>
          </a:p>
        </p:txBody>
      </p:sp>
      <p:sp>
        <p:nvSpPr>
          <p:cNvPr id="6" name="Shape 3"/>
          <p:cNvSpPr/>
          <p:nvPr/>
        </p:nvSpPr>
        <p:spPr>
          <a:xfrm>
            <a:off x="825500" y="1582341"/>
            <a:ext cx="5689600" cy="441920"/>
          </a:xfrm>
          <a:prstGeom prst="rect">
            <a:avLst/>
          </a:prstGeom>
          <a:solidFill>
            <a:srgbClr val="13294B"/>
          </a:solidFill>
          <a:ln/>
        </p:spPr>
        <p:txBody>
          <a:bodyPr/>
          <a:lstStyle/>
          <a:p>
            <a:endParaRPr lang="en-JP"/>
          </a:p>
        </p:txBody>
      </p:sp>
      <p:pic>
        <p:nvPicPr>
          <p:cNvPr id="7" name="Image 1" descr="inbox icon"/>
          <p:cNvPicPr>
            <a:picLocks noChangeAspect="1"/>
          </p:cNvPicPr>
          <p:nvPr/>
        </p:nvPicPr>
        <p:blipFill>
          <a:blip r:embed="rId4"/>
          <a:srcRect/>
          <a:stretch/>
        </p:blipFill>
        <p:spPr>
          <a:xfrm>
            <a:off x="1003300" y="1701701"/>
            <a:ext cx="203200" cy="203200"/>
          </a:xfrm>
          <a:prstGeom prst="rect">
            <a:avLst/>
          </a:prstGeom>
        </p:spPr>
      </p:pic>
      <p:sp>
        <p:nvSpPr>
          <p:cNvPr id="8" name="Text 4"/>
          <p:cNvSpPr/>
          <p:nvPr/>
        </p:nvSpPr>
        <p:spPr>
          <a:xfrm>
            <a:off x="1308100" y="1696641"/>
            <a:ext cx="14336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ADCFC"/>
                </a:solidFill>
                <a:latin typeface="Calibri" pitchFamily="34" charset="0"/>
                <a:ea typeface="Calibri" pitchFamily="34" charset="-122"/>
                <a:cs typeface="Calibri" pitchFamily="34" charset="-120"/>
              </a:rPr>
              <a:t>Inbox · 47 unread</a:t>
            </a:r>
            <a:endParaRPr lang="en-US" sz="1200" dirty="0"/>
          </a:p>
        </p:txBody>
      </p:sp>
      <p:sp>
        <p:nvSpPr>
          <p:cNvPr id="9" name="Text 5"/>
          <p:cNvSpPr/>
          <p:nvPr/>
        </p:nvSpPr>
        <p:spPr>
          <a:xfrm>
            <a:off x="1054100" y="2227461"/>
            <a:ext cx="538937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A6B"/>
                </a:solidFill>
                <a:latin typeface="Calibri" pitchFamily="34" charset="0"/>
                <a:ea typeface="Calibri" pitchFamily="34" charset="-122"/>
                <a:cs typeface="Calibri" pitchFamily="34" charset="-120"/>
              </a:rPr>
              <a:t>From:</a:t>
            </a:r>
            <a:r>
              <a:rPr lang="en-US" sz="1200" dirty="0">
                <a:solidFill>
                  <a:srgbClr val="4A5A6B"/>
                </a:solidFill>
                <a:latin typeface="Calibri" pitchFamily="34" charset="0"/>
                <a:ea typeface="Calibri" pitchFamily="34" charset="-122"/>
                <a:cs typeface="Calibri" pitchFamily="34" charset="-120"/>
              </a:rPr>
              <a:t> HR Payroll &lt;payroll@hr-portal-update.com&gt;</a:t>
            </a:r>
            <a:endParaRPr lang="en-US" sz="1200" dirty="0"/>
          </a:p>
        </p:txBody>
      </p:sp>
      <p:sp>
        <p:nvSpPr>
          <p:cNvPr id="10" name="Text 6"/>
          <p:cNvSpPr/>
          <p:nvPr/>
        </p:nvSpPr>
        <p:spPr>
          <a:xfrm>
            <a:off x="1054100" y="2542381"/>
            <a:ext cx="538937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1F33"/>
                </a:solidFill>
                <a:latin typeface="Calibri" pitchFamily="34" charset="0"/>
                <a:ea typeface="Calibri" pitchFamily="34" charset="-122"/>
                <a:cs typeface="Calibri" pitchFamily="34" charset="-120"/>
              </a:rPr>
              <a:t>Action required: confirm your bonus details today</a:t>
            </a:r>
            <a:endParaRPr lang="en-US" sz="1500" dirty="0"/>
          </a:p>
        </p:txBody>
      </p:sp>
      <p:pic>
        <p:nvPicPr>
          <p:cNvPr id="11" name="Image 2" descr="line"/>
          <p:cNvPicPr>
            <a:picLocks noChangeAspect="1"/>
          </p:cNvPicPr>
          <p:nvPr/>
        </p:nvPicPr>
        <p:blipFill>
          <a:blip r:embed="rId5"/>
          <a:srcRect/>
          <a:stretch/>
        </p:blipFill>
        <p:spPr>
          <a:xfrm>
            <a:off x="1054100" y="2910681"/>
            <a:ext cx="5232400" cy="12700"/>
          </a:xfrm>
          <a:prstGeom prst="rect">
            <a:avLst/>
          </a:prstGeom>
        </p:spPr>
      </p:pic>
      <p:sp>
        <p:nvSpPr>
          <p:cNvPr id="12" name="Text 7"/>
          <p:cNvSpPr/>
          <p:nvPr/>
        </p:nvSpPr>
        <p:spPr>
          <a:xfrm>
            <a:off x="1054100" y="3024981"/>
            <a:ext cx="5389372"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A6B"/>
                </a:solidFill>
                <a:latin typeface="Calibri" pitchFamily="34" charset="0"/>
                <a:ea typeface="Calibri" pitchFamily="34" charset="-122"/>
                <a:cs typeface="Calibri" pitchFamily="34" charset="-120"/>
              </a:rPr>
              <a:t>Hi Alex, your Q3 bonus is ready. Please review the attached summary and verify your details by 12:00 to avoid delays.</a:t>
            </a:r>
            <a:endParaRPr lang="en-US" sz="1300" dirty="0"/>
          </a:p>
        </p:txBody>
      </p:sp>
      <p:sp>
        <p:nvSpPr>
          <p:cNvPr id="13" name="Text 8"/>
          <p:cNvSpPr/>
          <p:nvPr/>
        </p:nvSpPr>
        <p:spPr>
          <a:xfrm>
            <a:off x="1054100" y="3605213"/>
            <a:ext cx="1919684" cy="391120"/>
          </a:xfrm>
          <a:prstGeom prst="roundRect">
            <a:avLst>
              <a:gd name="adj" fmla="val 16235"/>
            </a:avLst>
          </a:prstGeom>
          <a:solidFill>
            <a:srgbClr val="0078D4"/>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Calibri" pitchFamily="34" charset="0"/>
                <a:ea typeface="Calibri" pitchFamily="34" charset="-122"/>
                <a:cs typeface="Calibri" pitchFamily="34" charset="-120"/>
              </a:rPr>
              <a:t>View bonus summary</a:t>
            </a:r>
            <a:endParaRPr lang="en-US" sz="1200" dirty="0"/>
          </a:p>
        </p:txBody>
      </p:sp>
      <p:sp>
        <p:nvSpPr>
          <p:cNvPr id="14" name="Shape 9"/>
          <p:cNvSpPr/>
          <p:nvPr/>
        </p:nvSpPr>
        <p:spPr>
          <a:xfrm>
            <a:off x="6781800" y="1569641"/>
            <a:ext cx="4597400" cy="2642592"/>
          </a:xfrm>
          <a:prstGeom prst="roundRect">
            <a:avLst>
              <a:gd name="adj" fmla="val 4806"/>
            </a:avLst>
          </a:prstGeom>
          <a:solidFill>
            <a:srgbClr val="0A1628"/>
          </a:solidFill>
          <a:ln/>
        </p:spPr>
        <p:txBody>
          <a:bodyPr/>
          <a:lstStyle/>
          <a:p>
            <a:endParaRPr lang="en-JP"/>
          </a:p>
        </p:txBody>
      </p:sp>
      <p:sp>
        <p:nvSpPr>
          <p:cNvPr id="15" name="Shape 10"/>
          <p:cNvSpPr/>
          <p:nvPr/>
        </p:nvSpPr>
        <p:spPr>
          <a:xfrm>
            <a:off x="7035800" y="1823641"/>
            <a:ext cx="609600" cy="609600"/>
          </a:xfrm>
          <a:prstGeom prst="roundRect">
            <a:avLst>
              <a:gd name="adj" fmla="val 50000"/>
            </a:avLst>
          </a:prstGeom>
          <a:solidFill>
            <a:srgbClr val="00B7C3"/>
          </a:solidFill>
          <a:ln/>
        </p:spPr>
        <p:txBody>
          <a:bodyPr/>
          <a:lstStyle/>
          <a:p>
            <a:endParaRPr lang="en-JP"/>
          </a:p>
        </p:txBody>
      </p:sp>
      <p:pic>
        <p:nvPicPr>
          <p:cNvPr id="16" name="Image 3" descr="user icon"/>
          <p:cNvPicPr>
            <a:picLocks noChangeAspect="1"/>
          </p:cNvPicPr>
          <p:nvPr/>
        </p:nvPicPr>
        <p:blipFill>
          <a:blip r:embed="rId6"/>
          <a:srcRect/>
          <a:stretch/>
        </p:blipFill>
        <p:spPr>
          <a:xfrm>
            <a:off x="7188200" y="1976041"/>
            <a:ext cx="304800" cy="304800"/>
          </a:xfrm>
          <a:prstGeom prst="rect">
            <a:avLst/>
          </a:prstGeom>
        </p:spPr>
      </p:pic>
      <p:sp>
        <p:nvSpPr>
          <p:cNvPr id="17" name="Text 11"/>
          <p:cNvSpPr/>
          <p:nvPr/>
        </p:nvSpPr>
        <p:spPr>
          <a:xfrm>
            <a:off x="7035800" y="2560241"/>
            <a:ext cx="421208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Meet Alex</a:t>
            </a:r>
            <a:endParaRPr lang="en-US" sz="2000" dirty="0"/>
          </a:p>
        </p:txBody>
      </p:sp>
      <p:sp>
        <p:nvSpPr>
          <p:cNvPr id="18" name="Text 12"/>
          <p:cNvSpPr/>
          <p:nvPr/>
        </p:nvSpPr>
        <p:spPr>
          <a:xfrm>
            <a:off x="7035800" y="2992041"/>
            <a:ext cx="421208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ADCFC"/>
                </a:solidFill>
                <a:latin typeface="Calibri" pitchFamily="34" charset="0"/>
                <a:ea typeface="Calibri" pitchFamily="34" charset="-122"/>
                <a:cs typeface="Calibri" pitchFamily="34" charset="-120"/>
              </a:rPr>
              <a:t>Works in finance. Busy Monday. Coffee in one hand, 47 emails waiting.</a:t>
            </a:r>
            <a:endParaRPr lang="en-US" sz="1400" dirty="0"/>
          </a:p>
        </p:txBody>
      </p:sp>
      <p:sp>
        <p:nvSpPr>
          <p:cNvPr id="19" name="Text 13"/>
          <p:cNvSpPr/>
          <p:nvPr/>
        </p:nvSpPr>
        <p:spPr>
          <a:xfrm>
            <a:off x="7035800" y="3616722"/>
            <a:ext cx="421208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9A5C"/>
                </a:solidFill>
                <a:latin typeface="Calibri" pitchFamily="34" charset="0"/>
                <a:ea typeface="Calibri" pitchFamily="34" charset="-122"/>
                <a:cs typeface="Calibri" pitchFamily="34" charset="-120"/>
              </a:rPr>
              <a:t>The email looks normal. Alex clicks.</a:t>
            </a:r>
            <a:endParaRPr lang="en-US" sz="1400" dirty="0"/>
          </a:p>
        </p:txBody>
      </p:sp>
      <p:sp>
        <p:nvSpPr>
          <p:cNvPr id="20"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Illustrative scenario based on real attack patterns · Alex is fictional</a:t>
            </a:r>
            <a:endParaRPr lang="en-US" sz="1200" dirty="0"/>
          </a:p>
        </p:txBody>
      </p:sp>
      <p:sp>
        <p:nvSpPr>
          <p:cNvPr id="21" name="Text 15"/>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B7C3"/>
                </a:solidFill>
                <a:latin typeface="Calibri" pitchFamily="34" charset="0"/>
                <a:ea typeface="Calibri" pitchFamily="34" charset="-122"/>
                <a:cs typeface="Calibri" pitchFamily="34" charset="-120"/>
              </a:rPr>
              <a:t>02 · THE TIMELINE</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FFF"/>
                </a:solidFill>
                <a:latin typeface="Arial" pitchFamily="34" charset="0"/>
                <a:ea typeface="Arial" pitchFamily="34" charset="-122"/>
                <a:cs typeface="Arial" pitchFamily="34" charset="-120"/>
              </a:rPr>
              <a:t>From one click to a full breach</a:t>
            </a:r>
            <a:endParaRPr lang="en-US" sz="3600" dirty="0"/>
          </a:p>
        </p:txBody>
      </p:sp>
      <p:sp>
        <p:nvSpPr>
          <p:cNvPr id="5" name="Shape 2"/>
          <p:cNvSpPr/>
          <p:nvPr/>
        </p:nvSpPr>
        <p:spPr>
          <a:xfrm>
            <a:off x="812800" y="1569641"/>
            <a:ext cx="10566400" cy="1752501"/>
          </a:xfrm>
          <a:prstGeom prst="roundRect">
            <a:avLst>
              <a:gd name="adj" fmla="val 7247"/>
            </a:avLst>
          </a:prstGeom>
          <a:solidFill>
            <a:srgbClr val="13294B"/>
          </a:solidFill>
          <a:ln/>
        </p:spPr>
        <p:txBody>
          <a:bodyPr/>
          <a:lstStyle/>
          <a:p>
            <a:endParaRPr lang="en-JP"/>
          </a:p>
        </p:txBody>
      </p:sp>
      <p:sp>
        <p:nvSpPr>
          <p:cNvPr id="6" name="Text 3"/>
          <p:cNvSpPr/>
          <p:nvPr/>
        </p:nvSpPr>
        <p:spPr>
          <a:xfrm>
            <a:off x="1541175" y="1925241"/>
            <a:ext cx="48803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00B7C3"/>
                </a:solidFill>
                <a:latin typeface="Arial" pitchFamily="34" charset="0"/>
                <a:ea typeface="Arial" pitchFamily="34" charset="-122"/>
                <a:cs typeface="Arial" pitchFamily="34" charset="-120"/>
              </a:rPr>
              <a:t>0:00</a:t>
            </a:r>
            <a:endParaRPr lang="en-US" sz="1600" dirty="0"/>
          </a:p>
        </p:txBody>
      </p:sp>
      <p:sp>
        <p:nvSpPr>
          <p:cNvPr id="7" name="Shape 4"/>
          <p:cNvSpPr/>
          <p:nvPr/>
        </p:nvSpPr>
        <p:spPr>
          <a:xfrm>
            <a:off x="1067693" y="2444651"/>
            <a:ext cx="565150" cy="38100"/>
          </a:xfrm>
          <a:prstGeom prst="rect">
            <a:avLst/>
          </a:prstGeom>
          <a:solidFill>
            <a:srgbClr val="13294B"/>
          </a:solidFill>
          <a:ln/>
        </p:spPr>
        <p:txBody>
          <a:bodyPr/>
          <a:lstStyle/>
          <a:p>
            <a:endParaRPr lang="en-JP"/>
          </a:p>
        </p:txBody>
      </p:sp>
      <p:sp>
        <p:nvSpPr>
          <p:cNvPr id="8" name="Shape 5"/>
          <p:cNvSpPr/>
          <p:nvPr/>
        </p:nvSpPr>
        <p:spPr>
          <a:xfrm>
            <a:off x="1651893" y="2330351"/>
            <a:ext cx="266700" cy="266700"/>
          </a:xfrm>
          <a:prstGeom prst="roundRect">
            <a:avLst>
              <a:gd name="adj" fmla="val 50000"/>
            </a:avLst>
          </a:prstGeom>
          <a:solidFill>
            <a:srgbClr val="0078D4"/>
          </a:solidFill>
          <a:ln w="38100">
            <a:solidFill>
              <a:srgbClr val="0A1628"/>
            </a:solidFill>
            <a:prstDash val="solid"/>
          </a:ln>
        </p:spPr>
        <p:txBody>
          <a:bodyPr/>
          <a:lstStyle/>
          <a:p>
            <a:endParaRPr lang="en-JP"/>
          </a:p>
        </p:txBody>
      </p:sp>
      <p:sp>
        <p:nvSpPr>
          <p:cNvPr id="9" name="Shape 6"/>
          <p:cNvSpPr/>
          <p:nvPr/>
        </p:nvSpPr>
        <p:spPr>
          <a:xfrm>
            <a:off x="1937643" y="2444651"/>
            <a:ext cx="565150" cy="38100"/>
          </a:xfrm>
          <a:prstGeom prst="rect">
            <a:avLst/>
          </a:prstGeom>
          <a:solidFill>
            <a:srgbClr val="2F80D0"/>
          </a:solidFill>
          <a:ln/>
        </p:spPr>
        <p:txBody>
          <a:bodyPr/>
          <a:lstStyle/>
          <a:p>
            <a:endParaRPr lang="en-JP"/>
          </a:p>
        </p:txBody>
      </p:sp>
      <p:sp>
        <p:nvSpPr>
          <p:cNvPr id="10" name="Text 7"/>
          <p:cNvSpPr/>
          <p:nvPr/>
        </p:nvSpPr>
        <p:spPr>
          <a:xfrm>
            <a:off x="1530211" y="2717701"/>
            <a:ext cx="51006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Click</a:t>
            </a:r>
            <a:endParaRPr lang="en-US" sz="1400" dirty="0"/>
          </a:p>
        </p:txBody>
      </p:sp>
      <p:sp>
        <p:nvSpPr>
          <p:cNvPr id="11" name="Text 8"/>
          <p:cNvSpPr/>
          <p:nvPr/>
        </p:nvSpPr>
        <p:spPr>
          <a:xfrm>
            <a:off x="2978160" y="1925241"/>
            <a:ext cx="48803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00B7C3"/>
                </a:solidFill>
                <a:latin typeface="Arial" pitchFamily="34" charset="0"/>
                <a:ea typeface="Arial" pitchFamily="34" charset="-122"/>
                <a:cs typeface="Arial" pitchFamily="34" charset="-120"/>
              </a:rPr>
              <a:t>0:01</a:t>
            </a:r>
            <a:endParaRPr lang="en-US" sz="1600" dirty="0"/>
          </a:p>
        </p:txBody>
      </p:sp>
      <p:sp>
        <p:nvSpPr>
          <p:cNvPr id="12" name="Shape 9"/>
          <p:cNvSpPr/>
          <p:nvPr/>
        </p:nvSpPr>
        <p:spPr>
          <a:xfrm>
            <a:off x="2504579" y="2444651"/>
            <a:ext cx="565150" cy="38100"/>
          </a:xfrm>
          <a:prstGeom prst="rect">
            <a:avLst/>
          </a:prstGeom>
          <a:solidFill>
            <a:srgbClr val="2F80D0"/>
          </a:solidFill>
          <a:ln/>
        </p:spPr>
        <p:txBody>
          <a:bodyPr/>
          <a:lstStyle/>
          <a:p>
            <a:endParaRPr lang="en-JP"/>
          </a:p>
        </p:txBody>
      </p:sp>
      <p:sp>
        <p:nvSpPr>
          <p:cNvPr id="13" name="Shape 10"/>
          <p:cNvSpPr/>
          <p:nvPr/>
        </p:nvSpPr>
        <p:spPr>
          <a:xfrm>
            <a:off x="3088779" y="2330351"/>
            <a:ext cx="266700" cy="266700"/>
          </a:xfrm>
          <a:prstGeom prst="roundRect">
            <a:avLst>
              <a:gd name="adj" fmla="val 50000"/>
            </a:avLst>
          </a:prstGeom>
          <a:solidFill>
            <a:srgbClr val="0078D4"/>
          </a:solidFill>
          <a:ln w="38100">
            <a:solidFill>
              <a:srgbClr val="0A1628"/>
            </a:solidFill>
            <a:prstDash val="solid"/>
          </a:ln>
        </p:spPr>
        <p:txBody>
          <a:bodyPr/>
          <a:lstStyle/>
          <a:p>
            <a:endParaRPr lang="en-JP"/>
          </a:p>
        </p:txBody>
      </p:sp>
      <p:sp>
        <p:nvSpPr>
          <p:cNvPr id="14" name="Shape 11"/>
          <p:cNvSpPr/>
          <p:nvPr/>
        </p:nvSpPr>
        <p:spPr>
          <a:xfrm>
            <a:off x="3374529" y="2444651"/>
            <a:ext cx="565150" cy="38100"/>
          </a:xfrm>
          <a:prstGeom prst="rect">
            <a:avLst/>
          </a:prstGeom>
          <a:solidFill>
            <a:srgbClr val="2F80D0"/>
          </a:solidFill>
          <a:ln/>
        </p:spPr>
        <p:txBody>
          <a:bodyPr/>
          <a:lstStyle/>
          <a:p>
            <a:endParaRPr lang="en-JP"/>
          </a:p>
        </p:txBody>
      </p:sp>
      <p:sp>
        <p:nvSpPr>
          <p:cNvPr id="15" name="Text 12"/>
          <p:cNvSpPr/>
          <p:nvPr/>
        </p:nvSpPr>
        <p:spPr>
          <a:xfrm>
            <a:off x="3014722" y="2717701"/>
            <a:ext cx="41481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Run</a:t>
            </a:r>
            <a:endParaRPr lang="en-US" sz="1400" dirty="0"/>
          </a:p>
        </p:txBody>
      </p:sp>
      <p:sp>
        <p:nvSpPr>
          <p:cNvPr id="16" name="Text 13"/>
          <p:cNvSpPr/>
          <p:nvPr/>
        </p:nvSpPr>
        <p:spPr>
          <a:xfrm>
            <a:off x="4415046" y="1925241"/>
            <a:ext cx="48803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00B7C3"/>
                </a:solidFill>
                <a:latin typeface="Arial" pitchFamily="34" charset="0"/>
                <a:ea typeface="Arial" pitchFamily="34" charset="-122"/>
                <a:cs typeface="Arial" pitchFamily="34" charset="-120"/>
              </a:rPr>
              <a:t>0:02</a:t>
            </a:r>
            <a:endParaRPr lang="en-US" sz="1600" dirty="0"/>
          </a:p>
        </p:txBody>
      </p:sp>
      <p:sp>
        <p:nvSpPr>
          <p:cNvPr id="17" name="Shape 14"/>
          <p:cNvSpPr/>
          <p:nvPr/>
        </p:nvSpPr>
        <p:spPr>
          <a:xfrm>
            <a:off x="3941564" y="2444651"/>
            <a:ext cx="565150" cy="38100"/>
          </a:xfrm>
          <a:prstGeom prst="rect">
            <a:avLst/>
          </a:prstGeom>
          <a:solidFill>
            <a:srgbClr val="2F80D0"/>
          </a:solidFill>
          <a:ln/>
        </p:spPr>
        <p:txBody>
          <a:bodyPr/>
          <a:lstStyle/>
          <a:p>
            <a:endParaRPr lang="en-JP"/>
          </a:p>
        </p:txBody>
      </p:sp>
      <p:sp>
        <p:nvSpPr>
          <p:cNvPr id="18" name="Shape 15"/>
          <p:cNvSpPr/>
          <p:nvPr/>
        </p:nvSpPr>
        <p:spPr>
          <a:xfrm>
            <a:off x="4525764" y="2330351"/>
            <a:ext cx="266700" cy="266700"/>
          </a:xfrm>
          <a:prstGeom prst="roundRect">
            <a:avLst>
              <a:gd name="adj" fmla="val 50000"/>
            </a:avLst>
          </a:prstGeom>
          <a:solidFill>
            <a:srgbClr val="2F80D0"/>
          </a:solidFill>
          <a:ln w="38100">
            <a:solidFill>
              <a:srgbClr val="0A1628"/>
            </a:solidFill>
            <a:prstDash val="solid"/>
          </a:ln>
        </p:spPr>
        <p:txBody>
          <a:bodyPr/>
          <a:lstStyle/>
          <a:p>
            <a:endParaRPr lang="en-JP"/>
          </a:p>
        </p:txBody>
      </p:sp>
      <p:sp>
        <p:nvSpPr>
          <p:cNvPr id="19" name="Shape 16"/>
          <p:cNvSpPr/>
          <p:nvPr/>
        </p:nvSpPr>
        <p:spPr>
          <a:xfrm>
            <a:off x="4811514" y="2444651"/>
            <a:ext cx="565150" cy="38100"/>
          </a:xfrm>
          <a:prstGeom prst="rect">
            <a:avLst/>
          </a:prstGeom>
          <a:solidFill>
            <a:srgbClr val="2F80D0"/>
          </a:solidFill>
          <a:ln/>
        </p:spPr>
        <p:txBody>
          <a:bodyPr/>
          <a:lstStyle/>
          <a:p>
            <a:endParaRPr lang="en-JP"/>
          </a:p>
        </p:txBody>
      </p:sp>
      <p:sp>
        <p:nvSpPr>
          <p:cNvPr id="20" name="Text 17"/>
          <p:cNvSpPr/>
          <p:nvPr/>
        </p:nvSpPr>
        <p:spPr>
          <a:xfrm>
            <a:off x="4404082" y="2717701"/>
            <a:ext cx="51006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Steal</a:t>
            </a:r>
            <a:endParaRPr lang="en-US" sz="1400" dirty="0"/>
          </a:p>
        </p:txBody>
      </p:sp>
      <p:sp>
        <p:nvSpPr>
          <p:cNvPr id="21" name="Text 18"/>
          <p:cNvSpPr/>
          <p:nvPr/>
        </p:nvSpPr>
        <p:spPr>
          <a:xfrm>
            <a:off x="5852031" y="1925241"/>
            <a:ext cx="48803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00B7C3"/>
                </a:solidFill>
                <a:latin typeface="Arial" pitchFamily="34" charset="0"/>
                <a:ea typeface="Arial" pitchFamily="34" charset="-122"/>
                <a:cs typeface="Arial" pitchFamily="34" charset="-120"/>
              </a:rPr>
              <a:t>0:10</a:t>
            </a:r>
            <a:endParaRPr lang="en-US" sz="1600" dirty="0"/>
          </a:p>
        </p:txBody>
      </p:sp>
      <p:sp>
        <p:nvSpPr>
          <p:cNvPr id="22" name="Shape 19"/>
          <p:cNvSpPr/>
          <p:nvPr/>
        </p:nvSpPr>
        <p:spPr>
          <a:xfrm>
            <a:off x="5378450" y="2444651"/>
            <a:ext cx="565150" cy="38100"/>
          </a:xfrm>
          <a:prstGeom prst="rect">
            <a:avLst/>
          </a:prstGeom>
          <a:solidFill>
            <a:srgbClr val="2F80D0"/>
          </a:solidFill>
          <a:ln/>
        </p:spPr>
        <p:txBody>
          <a:bodyPr/>
          <a:lstStyle/>
          <a:p>
            <a:endParaRPr lang="en-JP"/>
          </a:p>
        </p:txBody>
      </p:sp>
      <p:sp>
        <p:nvSpPr>
          <p:cNvPr id="23" name="Shape 20"/>
          <p:cNvSpPr/>
          <p:nvPr/>
        </p:nvSpPr>
        <p:spPr>
          <a:xfrm>
            <a:off x="5962650" y="2330351"/>
            <a:ext cx="266700" cy="266700"/>
          </a:xfrm>
          <a:prstGeom prst="roundRect">
            <a:avLst>
              <a:gd name="adj" fmla="val 50000"/>
            </a:avLst>
          </a:prstGeom>
          <a:solidFill>
            <a:srgbClr val="2F80D0"/>
          </a:solidFill>
          <a:ln w="38100">
            <a:solidFill>
              <a:srgbClr val="0A1628"/>
            </a:solidFill>
            <a:prstDash val="solid"/>
          </a:ln>
        </p:spPr>
        <p:txBody>
          <a:bodyPr/>
          <a:lstStyle/>
          <a:p>
            <a:endParaRPr lang="en-JP"/>
          </a:p>
        </p:txBody>
      </p:sp>
      <p:sp>
        <p:nvSpPr>
          <p:cNvPr id="24" name="Shape 21"/>
          <p:cNvSpPr/>
          <p:nvPr/>
        </p:nvSpPr>
        <p:spPr>
          <a:xfrm>
            <a:off x="6248400" y="2444651"/>
            <a:ext cx="565150" cy="38100"/>
          </a:xfrm>
          <a:prstGeom prst="rect">
            <a:avLst/>
          </a:prstGeom>
          <a:solidFill>
            <a:srgbClr val="2F80D0"/>
          </a:solidFill>
          <a:ln/>
        </p:spPr>
        <p:txBody>
          <a:bodyPr/>
          <a:lstStyle/>
          <a:p>
            <a:endParaRPr lang="en-JP"/>
          </a:p>
        </p:txBody>
      </p:sp>
      <p:sp>
        <p:nvSpPr>
          <p:cNvPr id="25" name="Text 22"/>
          <p:cNvSpPr/>
          <p:nvPr/>
        </p:nvSpPr>
        <p:spPr>
          <a:xfrm>
            <a:off x="5776069" y="2717701"/>
            <a:ext cx="639961"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Log in</a:t>
            </a:r>
            <a:endParaRPr lang="en-US" sz="1400" dirty="0"/>
          </a:p>
        </p:txBody>
      </p:sp>
      <p:sp>
        <p:nvSpPr>
          <p:cNvPr id="26" name="Text 23"/>
          <p:cNvSpPr/>
          <p:nvPr/>
        </p:nvSpPr>
        <p:spPr>
          <a:xfrm>
            <a:off x="7288917" y="1925241"/>
            <a:ext cx="48803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9A5C"/>
                </a:solidFill>
                <a:latin typeface="Arial" pitchFamily="34" charset="0"/>
                <a:ea typeface="Arial" pitchFamily="34" charset="-122"/>
                <a:cs typeface="Arial" pitchFamily="34" charset="-120"/>
              </a:rPr>
              <a:t>0:29</a:t>
            </a:r>
            <a:endParaRPr lang="en-US" sz="1600" dirty="0"/>
          </a:p>
        </p:txBody>
      </p:sp>
      <p:sp>
        <p:nvSpPr>
          <p:cNvPr id="27" name="Shape 24"/>
          <p:cNvSpPr/>
          <p:nvPr/>
        </p:nvSpPr>
        <p:spPr>
          <a:xfrm>
            <a:off x="6815435" y="2444651"/>
            <a:ext cx="565150" cy="38100"/>
          </a:xfrm>
          <a:prstGeom prst="rect">
            <a:avLst/>
          </a:prstGeom>
          <a:solidFill>
            <a:srgbClr val="2F80D0"/>
          </a:solidFill>
          <a:ln/>
        </p:spPr>
        <p:txBody>
          <a:bodyPr/>
          <a:lstStyle/>
          <a:p>
            <a:endParaRPr lang="en-JP"/>
          </a:p>
        </p:txBody>
      </p:sp>
      <p:sp>
        <p:nvSpPr>
          <p:cNvPr id="28" name="Shape 25"/>
          <p:cNvSpPr/>
          <p:nvPr/>
        </p:nvSpPr>
        <p:spPr>
          <a:xfrm>
            <a:off x="7399635" y="2330351"/>
            <a:ext cx="266700" cy="266700"/>
          </a:xfrm>
          <a:prstGeom prst="roundRect">
            <a:avLst>
              <a:gd name="adj" fmla="val 50000"/>
            </a:avLst>
          </a:prstGeom>
          <a:solidFill>
            <a:srgbClr val="F7630C"/>
          </a:solidFill>
          <a:ln w="38100">
            <a:solidFill>
              <a:srgbClr val="0A1628"/>
            </a:solidFill>
            <a:prstDash val="solid"/>
          </a:ln>
        </p:spPr>
        <p:txBody>
          <a:bodyPr/>
          <a:lstStyle/>
          <a:p>
            <a:endParaRPr lang="en-JP"/>
          </a:p>
        </p:txBody>
      </p:sp>
      <p:sp>
        <p:nvSpPr>
          <p:cNvPr id="29" name="Shape 26"/>
          <p:cNvSpPr/>
          <p:nvPr/>
        </p:nvSpPr>
        <p:spPr>
          <a:xfrm>
            <a:off x="7685385" y="2444651"/>
            <a:ext cx="565150" cy="38100"/>
          </a:xfrm>
          <a:prstGeom prst="rect">
            <a:avLst/>
          </a:prstGeom>
          <a:solidFill>
            <a:srgbClr val="2F80D0"/>
          </a:solidFill>
          <a:ln/>
        </p:spPr>
        <p:txBody>
          <a:bodyPr/>
          <a:lstStyle/>
          <a:p>
            <a:endParaRPr lang="en-JP"/>
          </a:p>
        </p:txBody>
      </p:sp>
      <p:sp>
        <p:nvSpPr>
          <p:cNvPr id="30" name="Text 27"/>
          <p:cNvSpPr/>
          <p:nvPr/>
        </p:nvSpPr>
        <p:spPr>
          <a:xfrm>
            <a:off x="7171273" y="2717701"/>
            <a:ext cx="723424"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Spread</a:t>
            </a:r>
            <a:endParaRPr lang="en-US" sz="1400" dirty="0"/>
          </a:p>
        </p:txBody>
      </p:sp>
      <p:sp>
        <p:nvSpPr>
          <p:cNvPr id="31" name="Text 28"/>
          <p:cNvSpPr/>
          <p:nvPr/>
        </p:nvSpPr>
        <p:spPr>
          <a:xfrm>
            <a:off x="8508871" y="1925241"/>
            <a:ext cx="921901"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9A5C"/>
                </a:solidFill>
                <a:latin typeface="Arial" pitchFamily="34" charset="0"/>
                <a:ea typeface="Arial" pitchFamily="34" charset="-122"/>
                <a:cs typeface="Arial" pitchFamily="34" charset="-120"/>
              </a:rPr>
              <a:t>Day 1–3</a:t>
            </a:r>
            <a:endParaRPr lang="en-US" sz="1600" dirty="0"/>
          </a:p>
        </p:txBody>
      </p:sp>
      <p:sp>
        <p:nvSpPr>
          <p:cNvPr id="32" name="Shape 29"/>
          <p:cNvSpPr/>
          <p:nvPr/>
        </p:nvSpPr>
        <p:spPr>
          <a:xfrm>
            <a:off x="8252321" y="2444651"/>
            <a:ext cx="565150" cy="38100"/>
          </a:xfrm>
          <a:prstGeom prst="rect">
            <a:avLst/>
          </a:prstGeom>
          <a:solidFill>
            <a:srgbClr val="2F80D0"/>
          </a:solidFill>
          <a:ln/>
        </p:spPr>
        <p:txBody>
          <a:bodyPr/>
          <a:lstStyle/>
          <a:p>
            <a:endParaRPr lang="en-JP"/>
          </a:p>
        </p:txBody>
      </p:sp>
      <p:sp>
        <p:nvSpPr>
          <p:cNvPr id="33" name="Shape 30"/>
          <p:cNvSpPr/>
          <p:nvPr/>
        </p:nvSpPr>
        <p:spPr>
          <a:xfrm>
            <a:off x="8836521" y="2330351"/>
            <a:ext cx="266700" cy="266700"/>
          </a:xfrm>
          <a:prstGeom prst="roundRect">
            <a:avLst>
              <a:gd name="adj" fmla="val 50000"/>
            </a:avLst>
          </a:prstGeom>
          <a:solidFill>
            <a:srgbClr val="F7630C"/>
          </a:solidFill>
          <a:ln w="38100">
            <a:solidFill>
              <a:srgbClr val="0A1628"/>
            </a:solidFill>
            <a:prstDash val="solid"/>
          </a:ln>
        </p:spPr>
        <p:txBody>
          <a:bodyPr/>
          <a:lstStyle/>
          <a:p>
            <a:endParaRPr lang="en-JP"/>
          </a:p>
        </p:txBody>
      </p:sp>
      <p:sp>
        <p:nvSpPr>
          <p:cNvPr id="34" name="Shape 31"/>
          <p:cNvSpPr/>
          <p:nvPr/>
        </p:nvSpPr>
        <p:spPr>
          <a:xfrm>
            <a:off x="9122271" y="2444651"/>
            <a:ext cx="565150" cy="38100"/>
          </a:xfrm>
          <a:prstGeom prst="rect">
            <a:avLst/>
          </a:prstGeom>
          <a:solidFill>
            <a:srgbClr val="2F80D0"/>
          </a:solidFill>
          <a:ln/>
        </p:spPr>
        <p:txBody>
          <a:bodyPr/>
          <a:lstStyle/>
          <a:p>
            <a:endParaRPr lang="en-JP"/>
          </a:p>
        </p:txBody>
      </p:sp>
      <p:sp>
        <p:nvSpPr>
          <p:cNvPr id="35" name="Text 32"/>
          <p:cNvSpPr/>
          <p:nvPr/>
        </p:nvSpPr>
        <p:spPr>
          <a:xfrm>
            <a:off x="8513276" y="2717701"/>
            <a:ext cx="913090"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Exfiltrate</a:t>
            </a:r>
            <a:endParaRPr lang="en-US" sz="1400" dirty="0"/>
          </a:p>
        </p:txBody>
      </p:sp>
      <p:sp>
        <p:nvSpPr>
          <p:cNvPr id="36" name="Text 33"/>
          <p:cNvSpPr/>
          <p:nvPr/>
        </p:nvSpPr>
        <p:spPr>
          <a:xfrm>
            <a:off x="10081369" y="1925241"/>
            <a:ext cx="65067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FF9A5C"/>
                </a:solidFill>
                <a:latin typeface="Arial" pitchFamily="34" charset="0"/>
                <a:ea typeface="Arial" pitchFamily="34" charset="-122"/>
                <a:cs typeface="Arial" pitchFamily="34" charset="-120"/>
              </a:rPr>
              <a:t>Day 5</a:t>
            </a:r>
            <a:endParaRPr lang="en-US" sz="1600" dirty="0"/>
          </a:p>
        </p:txBody>
      </p:sp>
      <p:sp>
        <p:nvSpPr>
          <p:cNvPr id="37" name="Shape 34"/>
          <p:cNvSpPr/>
          <p:nvPr/>
        </p:nvSpPr>
        <p:spPr>
          <a:xfrm>
            <a:off x="9689207" y="2444651"/>
            <a:ext cx="565150" cy="38100"/>
          </a:xfrm>
          <a:prstGeom prst="rect">
            <a:avLst/>
          </a:prstGeom>
          <a:solidFill>
            <a:srgbClr val="2F80D0"/>
          </a:solidFill>
          <a:ln/>
        </p:spPr>
        <p:txBody>
          <a:bodyPr/>
          <a:lstStyle/>
          <a:p>
            <a:endParaRPr lang="en-JP"/>
          </a:p>
        </p:txBody>
      </p:sp>
      <p:sp>
        <p:nvSpPr>
          <p:cNvPr id="38" name="Shape 35"/>
          <p:cNvSpPr/>
          <p:nvPr/>
        </p:nvSpPr>
        <p:spPr>
          <a:xfrm>
            <a:off x="10273407" y="2330351"/>
            <a:ext cx="266700" cy="266700"/>
          </a:xfrm>
          <a:prstGeom prst="roundRect">
            <a:avLst>
              <a:gd name="adj" fmla="val 50000"/>
            </a:avLst>
          </a:prstGeom>
          <a:solidFill>
            <a:srgbClr val="C24E06"/>
          </a:solidFill>
          <a:ln w="38100">
            <a:solidFill>
              <a:srgbClr val="0A1628"/>
            </a:solidFill>
            <a:prstDash val="solid"/>
          </a:ln>
        </p:spPr>
        <p:txBody>
          <a:bodyPr/>
          <a:lstStyle/>
          <a:p>
            <a:endParaRPr lang="en-JP"/>
          </a:p>
        </p:txBody>
      </p:sp>
      <p:sp>
        <p:nvSpPr>
          <p:cNvPr id="39" name="Shape 36"/>
          <p:cNvSpPr/>
          <p:nvPr/>
        </p:nvSpPr>
        <p:spPr>
          <a:xfrm>
            <a:off x="10559157" y="2444651"/>
            <a:ext cx="565150" cy="38100"/>
          </a:xfrm>
          <a:prstGeom prst="rect">
            <a:avLst/>
          </a:prstGeom>
          <a:solidFill>
            <a:srgbClr val="13294B"/>
          </a:solidFill>
          <a:ln/>
        </p:spPr>
        <p:txBody>
          <a:bodyPr/>
          <a:lstStyle/>
          <a:p>
            <a:endParaRPr lang="en-JP"/>
          </a:p>
        </p:txBody>
      </p:sp>
      <p:sp>
        <p:nvSpPr>
          <p:cNvPr id="40" name="Text 37"/>
          <p:cNvSpPr/>
          <p:nvPr/>
        </p:nvSpPr>
        <p:spPr>
          <a:xfrm>
            <a:off x="10009565" y="2717701"/>
            <a:ext cx="794385" cy="274241"/>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FFFFFF"/>
                </a:solidFill>
                <a:latin typeface="Calibri" pitchFamily="34" charset="0"/>
                <a:ea typeface="Calibri" pitchFamily="34" charset="-122"/>
                <a:cs typeface="Calibri" pitchFamily="34" charset="-120"/>
              </a:rPr>
              <a:t>Encrypt</a:t>
            </a:r>
            <a:endParaRPr lang="en-US" sz="1400" dirty="0"/>
          </a:p>
        </p:txBody>
      </p:sp>
      <p:sp>
        <p:nvSpPr>
          <p:cNvPr id="41" name="Shape 38"/>
          <p:cNvSpPr/>
          <p:nvPr/>
        </p:nvSpPr>
        <p:spPr>
          <a:xfrm>
            <a:off x="819150" y="3582491"/>
            <a:ext cx="5181600" cy="596900"/>
          </a:xfrm>
          <a:prstGeom prst="roundRect">
            <a:avLst>
              <a:gd name="adj" fmla="val 15957"/>
            </a:avLst>
          </a:prstGeom>
          <a:noFill/>
          <a:ln w="12700">
            <a:solidFill>
              <a:srgbClr val="00B7C3"/>
            </a:solidFill>
            <a:prstDash val="solid"/>
          </a:ln>
        </p:spPr>
        <p:txBody>
          <a:bodyPr/>
          <a:lstStyle/>
          <a:p>
            <a:endParaRPr lang="en-JP"/>
          </a:p>
        </p:txBody>
      </p:sp>
      <p:pic>
        <p:nvPicPr>
          <p:cNvPr id="42" name="Image 1" descr="clock icon"/>
          <p:cNvPicPr>
            <a:picLocks noChangeAspect="1"/>
          </p:cNvPicPr>
          <p:nvPr/>
        </p:nvPicPr>
        <p:blipFill>
          <a:blip r:embed="rId4"/>
          <a:srcRect/>
          <a:stretch/>
        </p:blipFill>
        <p:spPr>
          <a:xfrm>
            <a:off x="1028700" y="3741241"/>
            <a:ext cx="279400" cy="279400"/>
          </a:xfrm>
          <a:prstGeom prst="rect">
            <a:avLst/>
          </a:prstGeom>
        </p:spPr>
      </p:pic>
      <p:sp>
        <p:nvSpPr>
          <p:cNvPr id="43" name="Text 39"/>
          <p:cNvSpPr/>
          <p:nvPr/>
        </p:nvSpPr>
        <p:spPr>
          <a:xfrm>
            <a:off x="1435100" y="3756521"/>
            <a:ext cx="303097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Minutes 0–29: </a:t>
            </a:r>
            <a:r>
              <a:rPr lang="en-US" sz="1400" b="1" dirty="0">
                <a:solidFill>
                  <a:srgbClr val="00B7C3"/>
                </a:solidFill>
                <a:latin typeface="Calibri" pitchFamily="34" charset="0"/>
                <a:ea typeface="Calibri" pitchFamily="34" charset="-122"/>
                <a:cs typeface="Calibri" pitchFamily="34" charset="-120"/>
              </a:rPr>
              <a:t>on Alex's laptop</a:t>
            </a:r>
            <a:endParaRPr lang="en-US" sz="1400" dirty="0"/>
          </a:p>
        </p:txBody>
      </p:sp>
      <p:sp>
        <p:nvSpPr>
          <p:cNvPr id="44" name="Shape 40"/>
          <p:cNvSpPr/>
          <p:nvPr/>
        </p:nvSpPr>
        <p:spPr>
          <a:xfrm>
            <a:off x="6191250" y="3582491"/>
            <a:ext cx="5181600" cy="596900"/>
          </a:xfrm>
          <a:prstGeom prst="roundRect">
            <a:avLst>
              <a:gd name="adj" fmla="val 15957"/>
            </a:avLst>
          </a:prstGeom>
          <a:noFill/>
          <a:ln w="12700">
            <a:solidFill>
              <a:srgbClr val="F7630C"/>
            </a:solidFill>
            <a:prstDash val="solid"/>
          </a:ln>
        </p:spPr>
        <p:txBody>
          <a:bodyPr/>
          <a:lstStyle/>
          <a:p>
            <a:endParaRPr lang="en-JP"/>
          </a:p>
        </p:txBody>
      </p:sp>
      <p:pic>
        <p:nvPicPr>
          <p:cNvPr id="45" name="Image 2" descr="alert icon"/>
          <p:cNvPicPr>
            <a:picLocks noChangeAspect="1"/>
          </p:cNvPicPr>
          <p:nvPr/>
        </p:nvPicPr>
        <p:blipFill>
          <a:blip r:embed="rId5"/>
          <a:srcRect/>
          <a:stretch/>
        </p:blipFill>
        <p:spPr>
          <a:xfrm>
            <a:off x="6400800" y="3741241"/>
            <a:ext cx="279400" cy="279400"/>
          </a:xfrm>
          <a:prstGeom prst="rect">
            <a:avLst/>
          </a:prstGeom>
        </p:spPr>
      </p:pic>
      <p:sp>
        <p:nvSpPr>
          <p:cNvPr id="46" name="Text 41"/>
          <p:cNvSpPr/>
          <p:nvPr/>
        </p:nvSpPr>
        <p:spPr>
          <a:xfrm>
            <a:off x="6807200" y="3756521"/>
            <a:ext cx="4162187"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Day 1 onward: </a:t>
            </a:r>
            <a:r>
              <a:rPr lang="en-US" sz="1400" b="1" dirty="0">
                <a:solidFill>
                  <a:srgbClr val="FF9A5C"/>
                </a:solidFill>
                <a:latin typeface="Calibri" pitchFamily="34" charset="0"/>
                <a:ea typeface="Calibri" pitchFamily="34" charset="-122"/>
                <a:cs typeface="Calibri" pitchFamily="34" charset="-120"/>
              </a:rPr>
              <a:t>across the whole company</a:t>
            </a:r>
            <a:endParaRPr lang="en-US" sz="1400" dirty="0"/>
          </a:p>
        </p:txBody>
      </p:sp>
      <p:sp>
        <p:nvSpPr>
          <p:cNvPr id="47" name="Text 42"/>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Illustrative scenario based on real attack patterns</a:t>
            </a:r>
            <a:endParaRPr lang="en-US" sz="1200" dirty="0"/>
          </a:p>
        </p:txBody>
      </p:sp>
      <p:sp>
        <p:nvSpPr>
          <p:cNvPr id="48" name="Text 43"/>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Calibri" pitchFamily="34" charset="0"/>
                <a:ea typeface="Calibri" pitchFamily="34" charset="-122"/>
                <a:cs typeface="Calibri"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03 · MINUTE 0 TO 1</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The click and the trap</a:t>
            </a:r>
            <a:endParaRPr lang="en-US" sz="3600" dirty="0"/>
          </a:p>
        </p:txBody>
      </p:sp>
      <p:sp>
        <p:nvSpPr>
          <p:cNvPr id="5" name="Shape 2"/>
          <p:cNvSpPr/>
          <p:nvPr/>
        </p:nvSpPr>
        <p:spPr>
          <a:xfrm>
            <a:off x="812800" y="2125663"/>
            <a:ext cx="4318000" cy="2273201"/>
          </a:xfrm>
          <a:prstGeom prst="roundRect">
            <a:avLst>
              <a:gd name="adj" fmla="val 5587"/>
            </a:avLst>
          </a:prstGeom>
          <a:solidFill>
            <a:srgbClr val="FFFFFF"/>
          </a:solidFill>
          <a:ln/>
        </p:spPr>
        <p:txBody>
          <a:bodyPr/>
          <a:lstStyle/>
          <a:p>
            <a:endParaRPr lang="en-JP"/>
          </a:p>
        </p:txBody>
      </p:sp>
      <p:sp>
        <p:nvSpPr>
          <p:cNvPr id="6" name="Shape 3"/>
          <p:cNvSpPr/>
          <p:nvPr/>
        </p:nvSpPr>
        <p:spPr>
          <a:xfrm>
            <a:off x="812800" y="2125663"/>
            <a:ext cx="4318000" cy="492720"/>
          </a:xfrm>
          <a:custGeom>
            <a:avLst/>
            <a:gdLst/>
            <a:ahLst/>
            <a:cxnLst/>
            <a:rect l="l" t="t" r="r" b="b"/>
            <a:pathLst>
              <a:path w="4318000" h="492720">
                <a:moveTo>
                  <a:pt x="127000" y="0"/>
                </a:moveTo>
                <a:lnTo>
                  <a:pt x="4191000" y="0"/>
                </a:lnTo>
                <a:arcTo wR="127000" hR="127000" stAng="16200000" swAng="5400000"/>
                <a:lnTo>
                  <a:pt x="4318000" y="492720"/>
                </a:lnTo>
                <a:lnTo>
                  <a:pt x="0" y="492720"/>
                </a:lnTo>
                <a:lnTo>
                  <a:pt x="0" y="127000"/>
                </a:lnTo>
                <a:arcTo wR="127000" hR="127000" stAng="10800000" swAng="5400000"/>
                <a:close/>
              </a:path>
            </a:pathLst>
          </a:custGeom>
          <a:solidFill>
            <a:srgbClr val="1E4E80"/>
          </a:solidFill>
          <a:ln/>
        </p:spPr>
        <p:txBody>
          <a:bodyPr/>
          <a:lstStyle/>
          <a:p>
            <a:endParaRPr lang="en-JP"/>
          </a:p>
        </p:txBody>
      </p:sp>
      <p:sp>
        <p:nvSpPr>
          <p:cNvPr id="7" name="Text 4"/>
          <p:cNvSpPr/>
          <p:nvPr/>
        </p:nvSpPr>
        <p:spPr>
          <a:xfrm>
            <a:off x="990600" y="2265363"/>
            <a:ext cx="184987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Calibri" pitchFamily="34" charset="0"/>
                <a:ea typeface="Calibri" pitchFamily="34" charset="-122"/>
                <a:cs typeface="Calibri" pitchFamily="34" charset="-120"/>
              </a:rPr>
              <a:t>Verify you are human</a:t>
            </a:r>
            <a:endParaRPr lang="en-US" sz="1200" dirty="0"/>
          </a:p>
        </p:txBody>
      </p:sp>
      <p:sp>
        <p:nvSpPr>
          <p:cNvPr id="8" name="Text 5"/>
          <p:cNvSpPr/>
          <p:nvPr/>
        </p:nvSpPr>
        <p:spPr>
          <a:xfrm>
            <a:off x="4343301" y="2239963"/>
            <a:ext cx="609699" cy="264120"/>
          </a:xfrm>
          <a:custGeom>
            <a:avLst/>
            <a:gdLst/>
            <a:ahLst/>
            <a:cxnLst/>
            <a:rect l="l" t="t" r="r" b="b"/>
            <a:pathLst>
              <a:path w="609699" h="264120">
                <a:moveTo>
                  <a:pt x="127000" y="0"/>
                </a:moveTo>
                <a:lnTo>
                  <a:pt x="482699" y="0"/>
                </a:lnTo>
                <a:arcTo wR="127000" hR="127000" stAng="16200000" swAng="5400000"/>
                <a:lnTo>
                  <a:pt x="609699" y="137120"/>
                </a:lnTo>
                <a:arcTo wR="127000" hR="127000" stAng="0" swAng="5400000"/>
                <a:lnTo>
                  <a:pt x="127000" y="264120"/>
                </a:lnTo>
                <a:arcTo wR="127000" hR="127000" stAng="5400000" swAng="5400000"/>
                <a:lnTo>
                  <a:pt x="0" y="127000"/>
                </a:lnTo>
                <a:arcTo wR="127000" hR="127000" stAng="10800000" swAng="5400000"/>
                <a:close/>
              </a:path>
            </a:pathLst>
          </a:custGeom>
          <a:solidFill>
            <a:srgbClr val="F7630C"/>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Calibri" pitchFamily="34" charset="0"/>
                <a:ea typeface="Calibri" pitchFamily="34" charset="-122"/>
                <a:cs typeface="Calibri" pitchFamily="34" charset="-120"/>
              </a:rPr>
              <a:t>FAKE</a:t>
            </a:r>
            <a:endParaRPr lang="en-US" sz="1200" dirty="0"/>
          </a:p>
        </p:txBody>
      </p:sp>
      <p:sp>
        <p:nvSpPr>
          <p:cNvPr id="9" name="Text 6"/>
          <p:cNvSpPr/>
          <p:nvPr/>
        </p:nvSpPr>
        <p:spPr>
          <a:xfrm>
            <a:off x="1041400" y="2821583"/>
            <a:ext cx="397662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To view your bonus summary:</a:t>
            </a:r>
            <a:endParaRPr lang="en-US" sz="1300" dirty="0"/>
          </a:p>
        </p:txBody>
      </p:sp>
      <p:sp>
        <p:nvSpPr>
          <p:cNvPr id="10" name="Text 7"/>
          <p:cNvSpPr/>
          <p:nvPr/>
        </p:nvSpPr>
        <p:spPr>
          <a:xfrm>
            <a:off x="1041400" y="3154263"/>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0078D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1422400" y="3178373"/>
            <a:ext cx="173414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Press Windows + R</a:t>
            </a:r>
            <a:endParaRPr lang="en-US" sz="1300" dirty="0"/>
          </a:p>
        </p:txBody>
      </p:sp>
      <p:sp>
        <p:nvSpPr>
          <p:cNvPr id="12" name="Text 9"/>
          <p:cNvSpPr/>
          <p:nvPr/>
        </p:nvSpPr>
        <p:spPr>
          <a:xfrm>
            <a:off x="1041400" y="3535263"/>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0078D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0"/>
          <p:cNvSpPr/>
          <p:nvPr/>
        </p:nvSpPr>
        <p:spPr>
          <a:xfrm>
            <a:off x="1422400" y="3559373"/>
            <a:ext cx="122753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Press Ctrl + V</a:t>
            </a:r>
            <a:endParaRPr lang="en-US" sz="1300" dirty="0"/>
          </a:p>
        </p:txBody>
      </p:sp>
      <p:sp>
        <p:nvSpPr>
          <p:cNvPr id="14" name="Text 11"/>
          <p:cNvSpPr/>
          <p:nvPr/>
        </p:nvSpPr>
        <p:spPr>
          <a:xfrm>
            <a:off x="1041400" y="3916263"/>
            <a:ext cx="279400" cy="279400"/>
          </a:xfrm>
          <a:custGeom>
            <a:avLst/>
            <a:gdLst/>
            <a:ahLst/>
            <a:cxnLst/>
            <a:rect l="l" t="t" r="r" b="b"/>
            <a:pathLst>
              <a:path w="279400" h="279400">
                <a:moveTo>
                  <a:pt x="139700" y="0"/>
                </a:moveTo>
                <a:lnTo>
                  <a:pt x="139700" y="0"/>
                </a:lnTo>
                <a:arcTo wR="139700" hR="139700" stAng="16200000" swAng="5400000"/>
                <a:lnTo>
                  <a:pt x="279400" y="139700"/>
                </a:lnTo>
                <a:arcTo wR="139700" hR="139700" stAng="0" swAng="5400000"/>
                <a:lnTo>
                  <a:pt x="139700" y="279400"/>
                </a:lnTo>
                <a:arcTo wR="139700" hR="139700" stAng="5400000" swAng="5400000"/>
                <a:lnTo>
                  <a:pt x="0" y="139700"/>
                </a:lnTo>
                <a:arcTo wR="139700" hR="139700" stAng="10800000" swAng="5400000"/>
                <a:close/>
              </a:path>
            </a:pathLst>
          </a:custGeom>
          <a:solidFill>
            <a:srgbClr val="0078D4"/>
          </a:solidFill>
          <a:ln/>
        </p:spPr>
        <p:txBody>
          <a:bodyPr wrap="square" lIns="0" tIns="0" rIns="0" bIns="0" rtlCol="0" anchor="ctr">
            <a:normAutofit/>
          </a:bodyPr>
          <a:lstStyle/>
          <a:p>
            <a:pPr marL="0" indent="0" algn="ctr">
              <a:lnSpc>
                <a:spcPts val="168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1422400" y="3940373"/>
            <a:ext cx="10350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Press Enter</a:t>
            </a:r>
            <a:endParaRPr lang="en-US" sz="1300" dirty="0"/>
          </a:p>
        </p:txBody>
      </p:sp>
      <p:sp>
        <p:nvSpPr>
          <p:cNvPr id="16" name="Shape 13"/>
          <p:cNvSpPr/>
          <p:nvPr/>
        </p:nvSpPr>
        <p:spPr>
          <a:xfrm>
            <a:off x="5435600" y="1569641"/>
            <a:ext cx="5943600" cy="1043781"/>
          </a:xfrm>
          <a:prstGeom prst="roundRect">
            <a:avLst>
              <a:gd name="adj" fmla="val 9734"/>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7" name="Shape 14"/>
          <p:cNvSpPr/>
          <p:nvPr/>
        </p:nvSpPr>
        <p:spPr>
          <a:xfrm>
            <a:off x="5613400" y="1862931"/>
            <a:ext cx="457200" cy="457200"/>
          </a:xfrm>
          <a:prstGeom prst="roundRect">
            <a:avLst>
              <a:gd name="adj" fmla="val 50000"/>
            </a:avLst>
          </a:prstGeom>
          <a:solidFill>
            <a:srgbClr val="EAF3FC"/>
          </a:solidFill>
          <a:ln/>
        </p:spPr>
        <p:txBody>
          <a:bodyPr/>
          <a:lstStyle/>
          <a:p>
            <a:endParaRPr lang="en-JP"/>
          </a:p>
        </p:txBody>
      </p:sp>
      <p:pic>
        <p:nvPicPr>
          <p:cNvPr id="18" name="Image 1" descr="pointer icon"/>
          <p:cNvPicPr>
            <a:picLocks noChangeAspect="1"/>
          </p:cNvPicPr>
          <p:nvPr/>
        </p:nvPicPr>
        <p:blipFill>
          <a:blip r:embed="rId4"/>
          <a:srcRect/>
          <a:stretch/>
        </p:blipFill>
        <p:spPr>
          <a:xfrm>
            <a:off x="5727700" y="1977231"/>
            <a:ext cx="228600" cy="228600"/>
          </a:xfrm>
          <a:prstGeom prst="rect">
            <a:avLst/>
          </a:prstGeom>
        </p:spPr>
      </p:pic>
      <p:sp>
        <p:nvSpPr>
          <p:cNvPr id="19" name="Text 15"/>
          <p:cNvSpPr/>
          <p:nvPr/>
        </p:nvSpPr>
        <p:spPr>
          <a:xfrm>
            <a:off x="6223000" y="1722041"/>
            <a:ext cx="51277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78D4"/>
                </a:solidFill>
                <a:latin typeface="Calibri" pitchFamily="34" charset="0"/>
                <a:ea typeface="Calibri" pitchFamily="34" charset="-122"/>
                <a:cs typeface="Calibri" pitchFamily="34" charset="-120"/>
              </a:rPr>
              <a:t>0:00</a:t>
            </a:r>
            <a:endParaRPr lang="en-US" sz="1200" dirty="0"/>
          </a:p>
        </p:txBody>
      </p:sp>
      <p:sp>
        <p:nvSpPr>
          <p:cNvPr id="20" name="Text 16"/>
          <p:cNvSpPr/>
          <p:nvPr/>
        </p:nvSpPr>
        <p:spPr>
          <a:xfrm>
            <a:off x="6223000" y="1960761"/>
            <a:ext cx="512775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The click</a:t>
            </a:r>
            <a:endParaRPr lang="en-US" sz="1600" dirty="0"/>
          </a:p>
        </p:txBody>
      </p:sp>
      <p:sp>
        <p:nvSpPr>
          <p:cNvPr id="21" name="Text 17"/>
          <p:cNvSpPr/>
          <p:nvPr/>
        </p:nvSpPr>
        <p:spPr>
          <a:xfrm>
            <a:off x="6223000" y="2229941"/>
            <a:ext cx="51277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Alex opens a page that looks like a payroll portal.</a:t>
            </a:r>
            <a:endParaRPr lang="en-US" sz="1300" dirty="0"/>
          </a:p>
        </p:txBody>
      </p:sp>
      <p:sp>
        <p:nvSpPr>
          <p:cNvPr id="22" name="Shape 18"/>
          <p:cNvSpPr/>
          <p:nvPr/>
        </p:nvSpPr>
        <p:spPr>
          <a:xfrm>
            <a:off x="5435600" y="2740422"/>
            <a:ext cx="5943600" cy="1043781"/>
          </a:xfrm>
          <a:prstGeom prst="roundRect">
            <a:avLst>
              <a:gd name="adj" fmla="val 9734"/>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3" name="Shape 19"/>
          <p:cNvSpPr/>
          <p:nvPr/>
        </p:nvSpPr>
        <p:spPr>
          <a:xfrm>
            <a:off x="5613400" y="3033713"/>
            <a:ext cx="457200" cy="457200"/>
          </a:xfrm>
          <a:prstGeom prst="roundRect">
            <a:avLst>
              <a:gd name="adj" fmla="val 50000"/>
            </a:avLst>
          </a:prstGeom>
          <a:solidFill>
            <a:srgbClr val="EAF3FC"/>
          </a:solidFill>
          <a:ln/>
        </p:spPr>
        <p:txBody>
          <a:bodyPr/>
          <a:lstStyle/>
          <a:p>
            <a:endParaRPr lang="en-JP"/>
          </a:p>
        </p:txBody>
      </p:sp>
      <p:pic>
        <p:nvPicPr>
          <p:cNvPr id="24" name="Image 2" descr="terminal icon"/>
          <p:cNvPicPr>
            <a:picLocks noChangeAspect="1"/>
          </p:cNvPicPr>
          <p:nvPr/>
        </p:nvPicPr>
        <p:blipFill>
          <a:blip r:embed="rId5"/>
          <a:srcRect/>
          <a:stretch/>
        </p:blipFill>
        <p:spPr>
          <a:xfrm>
            <a:off x="5727700" y="3148013"/>
            <a:ext cx="228600" cy="228600"/>
          </a:xfrm>
          <a:prstGeom prst="rect">
            <a:avLst/>
          </a:prstGeom>
        </p:spPr>
      </p:pic>
      <p:sp>
        <p:nvSpPr>
          <p:cNvPr id="25" name="Text 20"/>
          <p:cNvSpPr/>
          <p:nvPr/>
        </p:nvSpPr>
        <p:spPr>
          <a:xfrm>
            <a:off x="6223000" y="2892822"/>
            <a:ext cx="51277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78D4"/>
                </a:solidFill>
                <a:latin typeface="Calibri" pitchFamily="34" charset="0"/>
                <a:ea typeface="Calibri" pitchFamily="34" charset="-122"/>
                <a:cs typeface="Calibri" pitchFamily="34" charset="-120"/>
              </a:rPr>
              <a:t>0:01</a:t>
            </a:r>
            <a:endParaRPr lang="en-US" sz="1200" dirty="0"/>
          </a:p>
        </p:txBody>
      </p:sp>
      <p:sp>
        <p:nvSpPr>
          <p:cNvPr id="26" name="Text 21"/>
          <p:cNvSpPr/>
          <p:nvPr/>
        </p:nvSpPr>
        <p:spPr>
          <a:xfrm>
            <a:off x="6223000" y="3131542"/>
            <a:ext cx="512775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The trick</a:t>
            </a:r>
            <a:endParaRPr lang="en-US" sz="1600" dirty="0"/>
          </a:p>
        </p:txBody>
      </p:sp>
      <p:sp>
        <p:nvSpPr>
          <p:cNvPr id="27" name="Text 22"/>
          <p:cNvSpPr/>
          <p:nvPr/>
        </p:nvSpPr>
        <p:spPr>
          <a:xfrm>
            <a:off x="6223000" y="3400723"/>
            <a:ext cx="51277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A fake check asks Alex to paste and run a command.</a:t>
            </a:r>
            <a:endParaRPr lang="en-US" sz="1300" dirty="0"/>
          </a:p>
        </p:txBody>
      </p:sp>
      <p:sp>
        <p:nvSpPr>
          <p:cNvPr id="28" name="Shape 23"/>
          <p:cNvSpPr/>
          <p:nvPr/>
        </p:nvSpPr>
        <p:spPr>
          <a:xfrm>
            <a:off x="5435600" y="3911203"/>
            <a:ext cx="5943600" cy="1043781"/>
          </a:xfrm>
          <a:prstGeom prst="roundRect">
            <a:avLst>
              <a:gd name="adj" fmla="val 9734"/>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9" name="Shape 24"/>
          <p:cNvSpPr/>
          <p:nvPr/>
        </p:nvSpPr>
        <p:spPr>
          <a:xfrm>
            <a:off x="5613400" y="4204494"/>
            <a:ext cx="457200" cy="457200"/>
          </a:xfrm>
          <a:prstGeom prst="roundRect">
            <a:avLst>
              <a:gd name="adj" fmla="val 50000"/>
            </a:avLst>
          </a:prstGeom>
          <a:solidFill>
            <a:srgbClr val="EAF3FC"/>
          </a:solidFill>
          <a:ln/>
        </p:spPr>
        <p:txBody>
          <a:bodyPr/>
          <a:lstStyle/>
          <a:p>
            <a:endParaRPr lang="en-JP"/>
          </a:p>
        </p:txBody>
      </p:sp>
      <p:pic>
        <p:nvPicPr>
          <p:cNvPr id="30" name="Image 3" descr="download icon"/>
          <p:cNvPicPr>
            <a:picLocks noChangeAspect="1"/>
          </p:cNvPicPr>
          <p:nvPr/>
        </p:nvPicPr>
        <p:blipFill>
          <a:blip r:embed="rId6"/>
          <a:srcRect/>
          <a:stretch/>
        </p:blipFill>
        <p:spPr>
          <a:xfrm>
            <a:off x="5727700" y="4318794"/>
            <a:ext cx="228600" cy="228600"/>
          </a:xfrm>
          <a:prstGeom prst="rect">
            <a:avLst/>
          </a:prstGeom>
        </p:spPr>
      </p:pic>
      <p:sp>
        <p:nvSpPr>
          <p:cNvPr id="31" name="Text 25"/>
          <p:cNvSpPr/>
          <p:nvPr/>
        </p:nvSpPr>
        <p:spPr>
          <a:xfrm>
            <a:off x="6223000" y="4063603"/>
            <a:ext cx="512775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78D4"/>
                </a:solidFill>
                <a:latin typeface="Calibri" pitchFamily="34" charset="0"/>
                <a:ea typeface="Calibri" pitchFamily="34" charset="-122"/>
                <a:cs typeface="Calibri" pitchFamily="34" charset="-120"/>
              </a:rPr>
              <a:t>0:01</a:t>
            </a:r>
            <a:endParaRPr lang="en-US" sz="1200" dirty="0"/>
          </a:p>
        </p:txBody>
      </p:sp>
      <p:sp>
        <p:nvSpPr>
          <p:cNvPr id="32" name="Text 26"/>
          <p:cNvSpPr/>
          <p:nvPr/>
        </p:nvSpPr>
        <p:spPr>
          <a:xfrm>
            <a:off x="6223000" y="4302323"/>
            <a:ext cx="512775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The install</a:t>
            </a:r>
            <a:endParaRPr lang="en-US" sz="1600" dirty="0"/>
          </a:p>
        </p:txBody>
      </p:sp>
      <p:sp>
        <p:nvSpPr>
          <p:cNvPr id="33" name="Text 27"/>
          <p:cNvSpPr/>
          <p:nvPr/>
        </p:nvSpPr>
        <p:spPr>
          <a:xfrm>
            <a:off x="6223000" y="4571504"/>
            <a:ext cx="512775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Hidden malware installs silently. Nothing looks wrong.</a:t>
            </a:r>
            <a:endParaRPr lang="en-US" sz="1300" dirty="0"/>
          </a:p>
        </p:txBody>
      </p:sp>
      <p:sp>
        <p:nvSpPr>
          <p:cNvPr id="34" name="Text 2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Illustrative scenario based on real attack patterns · ClickFix technique</a:t>
            </a:r>
            <a:endParaRPr lang="en-US" sz="1200" dirty="0"/>
          </a:p>
        </p:txBody>
      </p:sp>
      <p:sp>
        <p:nvSpPr>
          <p:cNvPr id="35" name="Text 29"/>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04 · MINUTE 2 TO 10</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Silent theft, then a quiet login</a:t>
            </a:r>
            <a:endParaRPr lang="en-US" sz="3600" dirty="0"/>
          </a:p>
        </p:txBody>
      </p:sp>
      <p:sp>
        <p:nvSpPr>
          <p:cNvPr id="5" name="Shape 2"/>
          <p:cNvSpPr/>
          <p:nvPr/>
        </p:nvSpPr>
        <p:spPr>
          <a:xfrm>
            <a:off x="812800" y="1569641"/>
            <a:ext cx="5181600" cy="2616002"/>
          </a:xfrm>
          <a:prstGeom prst="roundRect">
            <a:avLst>
              <a:gd name="adj" fmla="val 3884"/>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812800" y="1569641"/>
            <a:ext cx="5181600" cy="2616002"/>
          </a:xfrm>
          <a:custGeom>
            <a:avLst/>
            <a:gdLst/>
            <a:ahLst/>
            <a:cxnLst/>
            <a:rect l="l" t="t" r="r" b="b"/>
            <a:pathLst>
              <a:path w="5181600" h="2616002">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F7630C"/>
          </a:solidFill>
          <a:ln/>
        </p:spPr>
        <p:txBody>
          <a:bodyPr/>
          <a:lstStyle/>
          <a:p>
            <a:endParaRPr lang="en-JP"/>
          </a:p>
        </p:txBody>
      </p:sp>
      <p:sp>
        <p:nvSpPr>
          <p:cNvPr id="7" name="Text 4"/>
          <p:cNvSpPr/>
          <p:nvPr/>
        </p:nvSpPr>
        <p:spPr>
          <a:xfrm>
            <a:off x="1041400" y="1823641"/>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4E06"/>
                </a:solidFill>
                <a:latin typeface="Calibri" pitchFamily="34" charset="0"/>
                <a:ea typeface="Calibri" pitchFamily="34" charset="-122"/>
                <a:cs typeface="Calibri" pitchFamily="34" charset="-120"/>
              </a:rPr>
              <a:t>0:02 · STOLEN AND SENT IN SECONDS</a:t>
            </a:r>
            <a:endParaRPr lang="en-US" sz="1200" dirty="0"/>
          </a:p>
        </p:txBody>
      </p:sp>
      <p:sp>
        <p:nvSpPr>
          <p:cNvPr id="8" name="Shape 5"/>
          <p:cNvSpPr/>
          <p:nvPr/>
        </p:nvSpPr>
        <p:spPr>
          <a:xfrm>
            <a:off x="1041400" y="2163961"/>
            <a:ext cx="2311400" cy="508000"/>
          </a:xfrm>
          <a:prstGeom prst="roundRect">
            <a:avLst>
              <a:gd name="adj" fmla="val 15000"/>
            </a:avLst>
          </a:prstGeom>
          <a:solidFill>
            <a:srgbClr val="FDEBDD"/>
          </a:solidFill>
          <a:ln/>
        </p:spPr>
        <p:txBody>
          <a:bodyPr/>
          <a:lstStyle/>
          <a:p>
            <a:endParaRPr lang="en-JP"/>
          </a:p>
        </p:txBody>
      </p:sp>
      <p:pic>
        <p:nvPicPr>
          <p:cNvPr id="9" name="Image 1" descr="key icon"/>
          <p:cNvPicPr>
            <a:picLocks noChangeAspect="1"/>
          </p:cNvPicPr>
          <p:nvPr/>
        </p:nvPicPr>
        <p:blipFill>
          <a:blip r:embed="rId4"/>
          <a:srcRect/>
          <a:stretch/>
        </p:blipFill>
        <p:spPr>
          <a:xfrm>
            <a:off x="1168400" y="2290961"/>
            <a:ext cx="254000" cy="254000"/>
          </a:xfrm>
          <a:prstGeom prst="rect">
            <a:avLst/>
          </a:prstGeom>
        </p:spPr>
      </p:pic>
      <p:sp>
        <p:nvSpPr>
          <p:cNvPr id="10" name="Text 6"/>
          <p:cNvSpPr/>
          <p:nvPr/>
        </p:nvSpPr>
        <p:spPr>
          <a:xfrm>
            <a:off x="1524000" y="2293541"/>
            <a:ext cx="1802606"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Saved passwords</a:t>
            </a:r>
            <a:endParaRPr lang="en-US" sz="1400" dirty="0"/>
          </a:p>
        </p:txBody>
      </p:sp>
      <p:sp>
        <p:nvSpPr>
          <p:cNvPr id="11" name="Shape 7"/>
          <p:cNvSpPr/>
          <p:nvPr/>
        </p:nvSpPr>
        <p:spPr>
          <a:xfrm>
            <a:off x="3454400" y="2163961"/>
            <a:ext cx="2311400" cy="508000"/>
          </a:xfrm>
          <a:prstGeom prst="roundRect">
            <a:avLst>
              <a:gd name="adj" fmla="val 15000"/>
            </a:avLst>
          </a:prstGeom>
          <a:solidFill>
            <a:srgbClr val="FDEBDD"/>
          </a:solidFill>
          <a:ln/>
        </p:spPr>
        <p:txBody>
          <a:bodyPr/>
          <a:lstStyle/>
          <a:p>
            <a:endParaRPr lang="en-JP"/>
          </a:p>
        </p:txBody>
      </p:sp>
      <p:pic>
        <p:nvPicPr>
          <p:cNvPr id="12" name="Image 2" descr="cookie icon"/>
          <p:cNvPicPr>
            <a:picLocks noChangeAspect="1"/>
          </p:cNvPicPr>
          <p:nvPr/>
        </p:nvPicPr>
        <p:blipFill>
          <a:blip r:embed="rId5"/>
          <a:srcRect/>
          <a:stretch/>
        </p:blipFill>
        <p:spPr>
          <a:xfrm>
            <a:off x="3581400" y="2290961"/>
            <a:ext cx="254000" cy="254000"/>
          </a:xfrm>
          <a:prstGeom prst="rect">
            <a:avLst/>
          </a:prstGeom>
        </p:spPr>
      </p:pic>
      <p:sp>
        <p:nvSpPr>
          <p:cNvPr id="13" name="Text 8"/>
          <p:cNvSpPr/>
          <p:nvPr/>
        </p:nvSpPr>
        <p:spPr>
          <a:xfrm>
            <a:off x="3937000" y="2293541"/>
            <a:ext cx="167211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Session cookies</a:t>
            </a:r>
            <a:endParaRPr lang="en-US" sz="1400" dirty="0"/>
          </a:p>
        </p:txBody>
      </p:sp>
      <p:sp>
        <p:nvSpPr>
          <p:cNvPr id="14" name="Shape 9"/>
          <p:cNvSpPr/>
          <p:nvPr/>
        </p:nvSpPr>
        <p:spPr>
          <a:xfrm>
            <a:off x="1041400" y="2773561"/>
            <a:ext cx="2311400" cy="508000"/>
          </a:xfrm>
          <a:prstGeom prst="roundRect">
            <a:avLst>
              <a:gd name="adj" fmla="val 15000"/>
            </a:avLst>
          </a:prstGeom>
          <a:solidFill>
            <a:srgbClr val="FDEBDD"/>
          </a:solidFill>
          <a:ln/>
        </p:spPr>
        <p:txBody>
          <a:bodyPr/>
          <a:lstStyle/>
          <a:p>
            <a:endParaRPr lang="en-JP"/>
          </a:p>
        </p:txBody>
      </p:sp>
      <p:pic>
        <p:nvPicPr>
          <p:cNvPr id="15" name="Image 3" descr="wallet icon"/>
          <p:cNvPicPr>
            <a:picLocks noChangeAspect="1"/>
          </p:cNvPicPr>
          <p:nvPr/>
        </p:nvPicPr>
        <p:blipFill>
          <a:blip r:embed="rId6"/>
          <a:srcRect/>
          <a:stretch/>
        </p:blipFill>
        <p:spPr>
          <a:xfrm>
            <a:off x="1168400" y="2900561"/>
            <a:ext cx="254000" cy="254000"/>
          </a:xfrm>
          <a:prstGeom prst="rect">
            <a:avLst/>
          </a:prstGeom>
        </p:spPr>
      </p:pic>
      <p:sp>
        <p:nvSpPr>
          <p:cNvPr id="16" name="Text 10"/>
          <p:cNvSpPr/>
          <p:nvPr/>
        </p:nvSpPr>
        <p:spPr>
          <a:xfrm>
            <a:off x="1524000" y="2903141"/>
            <a:ext cx="16246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Payment details</a:t>
            </a:r>
            <a:endParaRPr lang="en-US" sz="1400" dirty="0"/>
          </a:p>
        </p:txBody>
      </p:sp>
      <p:sp>
        <p:nvSpPr>
          <p:cNvPr id="17" name="Shape 11"/>
          <p:cNvSpPr/>
          <p:nvPr/>
        </p:nvSpPr>
        <p:spPr>
          <a:xfrm>
            <a:off x="3454400" y="2773561"/>
            <a:ext cx="2311400" cy="508000"/>
          </a:xfrm>
          <a:prstGeom prst="roundRect">
            <a:avLst>
              <a:gd name="adj" fmla="val 15000"/>
            </a:avLst>
          </a:prstGeom>
          <a:solidFill>
            <a:srgbClr val="FDEBDD"/>
          </a:solidFill>
          <a:ln/>
        </p:spPr>
        <p:txBody>
          <a:bodyPr/>
          <a:lstStyle/>
          <a:p>
            <a:endParaRPr lang="en-JP"/>
          </a:p>
        </p:txBody>
      </p:sp>
      <p:pic>
        <p:nvPicPr>
          <p:cNvPr id="18" name="Image 4" descr="file icon"/>
          <p:cNvPicPr>
            <a:picLocks noChangeAspect="1"/>
          </p:cNvPicPr>
          <p:nvPr/>
        </p:nvPicPr>
        <p:blipFill>
          <a:blip r:embed="rId7"/>
          <a:srcRect/>
          <a:stretch/>
        </p:blipFill>
        <p:spPr>
          <a:xfrm>
            <a:off x="3581400" y="2900561"/>
            <a:ext cx="254000" cy="254000"/>
          </a:xfrm>
          <a:prstGeom prst="rect">
            <a:avLst/>
          </a:prstGeom>
        </p:spPr>
      </p:pic>
      <p:sp>
        <p:nvSpPr>
          <p:cNvPr id="19" name="Text 12"/>
          <p:cNvSpPr/>
          <p:nvPr/>
        </p:nvSpPr>
        <p:spPr>
          <a:xfrm>
            <a:off x="3937000" y="2903141"/>
            <a:ext cx="18288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B1F33"/>
                </a:solidFill>
                <a:latin typeface="Calibri" pitchFamily="34" charset="0"/>
                <a:ea typeface="Calibri" pitchFamily="34" charset="-122"/>
                <a:cs typeface="Calibri" pitchFamily="34" charset="-120"/>
              </a:rPr>
              <a:t>Recent documents</a:t>
            </a:r>
            <a:endParaRPr lang="en-US" sz="1400" dirty="0"/>
          </a:p>
        </p:txBody>
      </p:sp>
      <p:sp>
        <p:nvSpPr>
          <p:cNvPr id="20" name="Text 13"/>
          <p:cNvSpPr/>
          <p:nvPr/>
        </p:nvSpPr>
        <p:spPr>
          <a:xfrm>
            <a:off x="1041400" y="3408561"/>
            <a:ext cx="486613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Everything is packaged and uploaded to the attacker before Alex finishes their coffee.</a:t>
            </a:r>
            <a:endParaRPr lang="en-US" sz="1300" dirty="0"/>
          </a:p>
        </p:txBody>
      </p:sp>
      <p:sp>
        <p:nvSpPr>
          <p:cNvPr id="21" name="Shape 14"/>
          <p:cNvSpPr/>
          <p:nvPr/>
        </p:nvSpPr>
        <p:spPr>
          <a:xfrm>
            <a:off x="6197600" y="1569641"/>
            <a:ext cx="5181600" cy="2616002"/>
          </a:xfrm>
          <a:prstGeom prst="roundRect">
            <a:avLst>
              <a:gd name="adj" fmla="val 3884"/>
            </a:avLst>
          </a:prstGeom>
          <a:solidFill>
            <a:srgbClr val="0A1628"/>
          </a:solidFill>
          <a:ln/>
        </p:spPr>
        <p:txBody>
          <a:bodyPr/>
          <a:lstStyle/>
          <a:p>
            <a:endParaRPr lang="en-JP"/>
          </a:p>
        </p:txBody>
      </p:sp>
      <p:sp>
        <p:nvSpPr>
          <p:cNvPr id="22" name="Text 15"/>
          <p:cNvSpPr/>
          <p:nvPr/>
        </p:nvSpPr>
        <p:spPr>
          <a:xfrm>
            <a:off x="6426200" y="1772841"/>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B7C3"/>
                </a:solidFill>
                <a:latin typeface="Calibri" pitchFamily="34" charset="0"/>
                <a:ea typeface="Calibri" pitchFamily="34" charset="-122"/>
                <a:cs typeface="Calibri" pitchFamily="34" charset="-120"/>
              </a:rPr>
              <a:t>0:10 · THE ATTACKER BECOMES ALEX</a:t>
            </a:r>
            <a:endParaRPr lang="en-US" sz="1200" dirty="0"/>
          </a:p>
        </p:txBody>
      </p:sp>
      <p:sp>
        <p:nvSpPr>
          <p:cNvPr id="23" name="Shape 16"/>
          <p:cNvSpPr/>
          <p:nvPr/>
        </p:nvSpPr>
        <p:spPr>
          <a:xfrm>
            <a:off x="6426200" y="2119511"/>
            <a:ext cx="4724400" cy="0"/>
          </a:xfrm>
          <a:prstGeom prst="line">
            <a:avLst/>
          </a:prstGeom>
          <a:noFill/>
          <a:ln w="12700">
            <a:solidFill>
              <a:srgbClr val="13294B"/>
            </a:solidFill>
            <a:prstDash val="solid"/>
          </a:ln>
        </p:spPr>
        <p:txBody>
          <a:bodyPr/>
          <a:lstStyle/>
          <a:p>
            <a:endParaRPr lang="en-JP"/>
          </a:p>
        </p:txBody>
      </p:sp>
      <p:sp>
        <p:nvSpPr>
          <p:cNvPr id="24" name="Shape 17"/>
          <p:cNvSpPr/>
          <p:nvPr/>
        </p:nvSpPr>
        <p:spPr>
          <a:xfrm>
            <a:off x="6426200" y="2259806"/>
            <a:ext cx="381000" cy="381000"/>
          </a:xfrm>
          <a:prstGeom prst="roundRect">
            <a:avLst>
              <a:gd name="adj" fmla="val 50000"/>
            </a:avLst>
          </a:prstGeom>
          <a:solidFill>
            <a:srgbClr val="13294B"/>
          </a:solidFill>
          <a:ln/>
        </p:spPr>
        <p:txBody>
          <a:bodyPr/>
          <a:lstStyle/>
          <a:p>
            <a:endParaRPr lang="en-JP"/>
          </a:p>
        </p:txBody>
      </p:sp>
      <p:pic>
        <p:nvPicPr>
          <p:cNvPr id="25" name="Image 5" descr="key icon"/>
          <p:cNvPicPr>
            <a:picLocks noChangeAspect="1"/>
          </p:cNvPicPr>
          <p:nvPr/>
        </p:nvPicPr>
        <p:blipFill>
          <a:blip r:embed="rId8"/>
          <a:srcRect/>
          <a:stretch/>
        </p:blipFill>
        <p:spPr>
          <a:xfrm>
            <a:off x="6521450" y="2355056"/>
            <a:ext cx="190500" cy="190500"/>
          </a:xfrm>
          <a:prstGeom prst="rect">
            <a:avLst/>
          </a:prstGeom>
        </p:spPr>
      </p:pic>
      <p:sp>
        <p:nvSpPr>
          <p:cNvPr id="26" name="Text 18"/>
          <p:cNvSpPr/>
          <p:nvPr/>
        </p:nvSpPr>
        <p:spPr>
          <a:xfrm>
            <a:off x="6934200" y="2227461"/>
            <a:ext cx="434289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Calibri" pitchFamily="34" charset="0"/>
                <a:ea typeface="Calibri" pitchFamily="34" charset="-122"/>
                <a:cs typeface="Calibri" pitchFamily="34" charset="-120"/>
              </a:rPr>
              <a:t>Logs in as Alex using the stolen session cookie: no password or MFA prompt needed</a:t>
            </a:r>
            <a:endParaRPr lang="en-US" sz="1300" dirty="0"/>
          </a:p>
        </p:txBody>
      </p:sp>
      <p:sp>
        <p:nvSpPr>
          <p:cNvPr id="27" name="Shape 19"/>
          <p:cNvSpPr/>
          <p:nvPr/>
        </p:nvSpPr>
        <p:spPr>
          <a:xfrm>
            <a:off x="6426200" y="2806502"/>
            <a:ext cx="4724400" cy="0"/>
          </a:xfrm>
          <a:prstGeom prst="line">
            <a:avLst/>
          </a:prstGeom>
          <a:noFill/>
          <a:ln w="12700">
            <a:solidFill>
              <a:srgbClr val="13294B"/>
            </a:solidFill>
            <a:prstDash val="solid"/>
          </a:ln>
        </p:spPr>
        <p:txBody>
          <a:bodyPr/>
          <a:lstStyle/>
          <a:p>
            <a:endParaRPr lang="en-JP"/>
          </a:p>
        </p:txBody>
      </p:sp>
      <p:sp>
        <p:nvSpPr>
          <p:cNvPr id="28" name="Shape 20"/>
          <p:cNvSpPr/>
          <p:nvPr/>
        </p:nvSpPr>
        <p:spPr>
          <a:xfrm>
            <a:off x="6426200" y="2946797"/>
            <a:ext cx="381000" cy="381000"/>
          </a:xfrm>
          <a:prstGeom prst="roundRect">
            <a:avLst>
              <a:gd name="adj" fmla="val 50000"/>
            </a:avLst>
          </a:prstGeom>
          <a:solidFill>
            <a:srgbClr val="13294B"/>
          </a:solidFill>
          <a:ln/>
        </p:spPr>
        <p:txBody>
          <a:bodyPr/>
          <a:lstStyle/>
          <a:p>
            <a:endParaRPr lang="en-JP"/>
          </a:p>
        </p:txBody>
      </p:sp>
      <p:pic>
        <p:nvPicPr>
          <p:cNvPr id="29" name="Image 6" descr="inbox icon"/>
          <p:cNvPicPr>
            <a:picLocks noChangeAspect="1"/>
          </p:cNvPicPr>
          <p:nvPr/>
        </p:nvPicPr>
        <p:blipFill>
          <a:blip r:embed="rId9"/>
          <a:srcRect/>
          <a:stretch/>
        </p:blipFill>
        <p:spPr>
          <a:xfrm>
            <a:off x="6521450" y="3042047"/>
            <a:ext cx="190500" cy="190500"/>
          </a:xfrm>
          <a:prstGeom prst="rect">
            <a:avLst/>
          </a:prstGeom>
        </p:spPr>
      </p:pic>
      <p:sp>
        <p:nvSpPr>
          <p:cNvPr id="30" name="Text 21"/>
          <p:cNvSpPr/>
          <p:nvPr/>
        </p:nvSpPr>
        <p:spPr>
          <a:xfrm>
            <a:off x="6934200" y="2914452"/>
            <a:ext cx="434289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Calibri" pitchFamily="34" charset="0"/>
                <a:ea typeface="Calibri" pitchFamily="34" charset="-122"/>
                <a:cs typeface="Calibri" pitchFamily="34" charset="-120"/>
              </a:rPr>
              <a:t>Reads finance emails and learns who approves payments</a:t>
            </a:r>
            <a:endParaRPr lang="en-US" sz="1300" dirty="0"/>
          </a:p>
        </p:txBody>
      </p:sp>
      <p:sp>
        <p:nvSpPr>
          <p:cNvPr id="31" name="Shape 22"/>
          <p:cNvSpPr/>
          <p:nvPr/>
        </p:nvSpPr>
        <p:spPr>
          <a:xfrm>
            <a:off x="6426200" y="3493492"/>
            <a:ext cx="4724400" cy="0"/>
          </a:xfrm>
          <a:prstGeom prst="line">
            <a:avLst/>
          </a:prstGeom>
          <a:noFill/>
          <a:ln w="12700">
            <a:solidFill>
              <a:srgbClr val="13294B"/>
            </a:solidFill>
            <a:prstDash val="solid"/>
          </a:ln>
        </p:spPr>
        <p:txBody>
          <a:bodyPr/>
          <a:lstStyle/>
          <a:p>
            <a:endParaRPr lang="en-JP"/>
          </a:p>
        </p:txBody>
      </p:sp>
      <p:sp>
        <p:nvSpPr>
          <p:cNvPr id="32" name="Shape 23"/>
          <p:cNvSpPr/>
          <p:nvPr/>
        </p:nvSpPr>
        <p:spPr>
          <a:xfrm>
            <a:off x="6426200" y="3601442"/>
            <a:ext cx="381000" cy="381000"/>
          </a:xfrm>
          <a:prstGeom prst="roundRect">
            <a:avLst>
              <a:gd name="adj" fmla="val 50000"/>
            </a:avLst>
          </a:prstGeom>
          <a:solidFill>
            <a:srgbClr val="13294B"/>
          </a:solidFill>
          <a:ln/>
        </p:spPr>
        <p:txBody>
          <a:bodyPr/>
          <a:lstStyle/>
          <a:p>
            <a:endParaRPr lang="en-JP"/>
          </a:p>
        </p:txBody>
      </p:sp>
      <p:pic>
        <p:nvPicPr>
          <p:cNvPr id="33" name="Image 7" descr="mail icon"/>
          <p:cNvPicPr>
            <a:picLocks noChangeAspect="1"/>
          </p:cNvPicPr>
          <p:nvPr/>
        </p:nvPicPr>
        <p:blipFill>
          <a:blip r:embed="rId10"/>
          <a:srcRect/>
          <a:stretch/>
        </p:blipFill>
        <p:spPr>
          <a:xfrm>
            <a:off x="6521450" y="3696692"/>
            <a:ext cx="190500" cy="190500"/>
          </a:xfrm>
          <a:prstGeom prst="rect">
            <a:avLst/>
          </a:prstGeom>
        </p:spPr>
      </p:pic>
      <p:sp>
        <p:nvSpPr>
          <p:cNvPr id="34" name="Text 24"/>
          <p:cNvSpPr/>
          <p:nvPr/>
        </p:nvSpPr>
        <p:spPr>
          <a:xfrm>
            <a:off x="6934200" y="3680520"/>
            <a:ext cx="434289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FFFFF"/>
                </a:solidFill>
                <a:latin typeface="Calibri" pitchFamily="34" charset="0"/>
                <a:ea typeface="Calibri" pitchFamily="34" charset="-122"/>
                <a:cs typeface="Calibri" pitchFamily="34" charset="-120"/>
              </a:rPr>
              <a:t>Creates a hidden rule forwarding invoices to the attacker</a:t>
            </a:r>
            <a:endParaRPr lang="en-US" sz="1300" dirty="0"/>
          </a:p>
        </p:txBody>
      </p:sp>
      <p:sp>
        <p:nvSpPr>
          <p:cNvPr id="35" name="Text 2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Illustrative scenario based on real attack patterns · Infostealer and session hijacking</a:t>
            </a:r>
            <a:endParaRPr lang="en-US" sz="1200" dirty="0"/>
          </a:p>
        </p:txBody>
      </p:sp>
      <p:sp>
        <p:nvSpPr>
          <p:cNvPr id="36" name="Text 26"/>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05 · MINUTE 29</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Breakout: from one laptop to the network</a:t>
            </a:r>
            <a:endParaRPr lang="en-US" sz="3600" dirty="0"/>
          </a:p>
        </p:txBody>
      </p:sp>
      <p:pic>
        <p:nvPicPr>
          <p:cNvPr id="5" name="Image 1" descr="Network diagram: Alex's laptop leads to a file server, then an admin account, then every system"/>
          <p:cNvPicPr>
            <a:picLocks noChangeAspect="1"/>
          </p:cNvPicPr>
          <p:nvPr/>
        </p:nvPicPr>
        <p:blipFill>
          <a:blip r:embed="rId4"/>
          <a:srcRect/>
          <a:stretch/>
        </p:blipFill>
        <p:spPr>
          <a:xfrm>
            <a:off x="812800" y="1569641"/>
            <a:ext cx="5715000" cy="3302000"/>
          </a:xfrm>
          <a:prstGeom prst="rect">
            <a:avLst/>
          </a:prstGeom>
        </p:spPr>
      </p:pic>
      <p:sp>
        <p:nvSpPr>
          <p:cNvPr id="6" name="Shape 2"/>
          <p:cNvSpPr/>
          <p:nvPr/>
        </p:nvSpPr>
        <p:spPr>
          <a:xfrm>
            <a:off x="812800" y="5025231"/>
            <a:ext cx="177800" cy="177800"/>
          </a:xfrm>
          <a:prstGeom prst="roundRect">
            <a:avLst>
              <a:gd name="adj" fmla="val 50000"/>
            </a:avLst>
          </a:prstGeom>
          <a:solidFill>
            <a:srgbClr val="0078D4"/>
          </a:solidFill>
          <a:ln/>
        </p:spPr>
        <p:txBody>
          <a:bodyPr/>
          <a:lstStyle/>
          <a:p>
            <a:endParaRPr lang="en-JP"/>
          </a:p>
        </p:txBody>
      </p:sp>
      <p:sp>
        <p:nvSpPr>
          <p:cNvPr id="7" name="Text 3"/>
          <p:cNvSpPr/>
          <p:nvPr/>
        </p:nvSpPr>
        <p:spPr>
          <a:xfrm>
            <a:off x="1092200" y="4998641"/>
            <a:ext cx="111716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Alex's laptop</a:t>
            </a:r>
            <a:endParaRPr lang="en-US" sz="1300" dirty="0"/>
          </a:p>
        </p:txBody>
      </p:sp>
      <p:sp>
        <p:nvSpPr>
          <p:cNvPr id="8" name="Shape 4"/>
          <p:cNvSpPr/>
          <p:nvPr/>
        </p:nvSpPr>
        <p:spPr>
          <a:xfrm>
            <a:off x="3708400" y="5025231"/>
            <a:ext cx="177800" cy="177800"/>
          </a:xfrm>
          <a:prstGeom prst="roundRect">
            <a:avLst>
              <a:gd name="adj" fmla="val 50000"/>
            </a:avLst>
          </a:prstGeom>
          <a:solidFill>
            <a:srgbClr val="2F80D0"/>
          </a:solidFill>
          <a:ln/>
        </p:spPr>
        <p:txBody>
          <a:bodyPr/>
          <a:lstStyle/>
          <a:p>
            <a:endParaRPr lang="en-JP"/>
          </a:p>
        </p:txBody>
      </p:sp>
      <p:sp>
        <p:nvSpPr>
          <p:cNvPr id="9" name="Text 5"/>
          <p:cNvSpPr/>
          <p:nvPr/>
        </p:nvSpPr>
        <p:spPr>
          <a:xfrm>
            <a:off x="3987800" y="4998641"/>
            <a:ext cx="92475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File server</a:t>
            </a:r>
            <a:endParaRPr lang="en-US" sz="1300" dirty="0"/>
          </a:p>
        </p:txBody>
      </p:sp>
      <p:sp>
        <p:nvSpPr>
          <p:cNvPr id="10" name="Shape 6"/>
          <p:cNvSpPr/>
          <p:nvPr/>
        </p:nvSpPr>
        <p:spPr>
          <a:xfrm>
            <a:off x="812800" y="5332512"/>
            <a:ext cx="177800" cy="177800"/>
          </a:xfrm>
          <a:prstGeom prst="roundRect">
            <a:avLst>
              <a:gd name="adj" fmla="val 50000"/>
            </a:avLst>
          </a:prstGeom>
          <a:solidFill>
            <a:srgbClr val="F7630C"/>
          </a:solidFill>
          <a:ln/>
        </p:spPr>
        <p:txBody>
          <a:bodyPr/>
          <a:lstStyle/>
          <a:p>
            <a:endParaRPr lang="en-JP"/>
          </a:p>
        </p:txBody>
      </p:sp>
      <p:sp>
        <p:nvSpPr>
          <p:cNvPr id="11" name="Text 7"/>
          <p:cNvSpPr/>
          <p:nvPr/>
        </p:nvSpPr>
        <p:spPr>
          <a:xfrm>
            <a:off x="1092200" y="5305921"/>
            <a:ext cx="131052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Admin account</a:t>
            </a:r>
            <a:endParaRPr lang="en-US" sz="1300" dirty="0"/>
          </a:p>
        </p:txBody>
      </p:sp>
      <p:sp>
        <p:nvSpPr>
          <p:cNvPr id="12" name="Shape 8"/>
          <p:cNvSpPr/>
          <p:nvPr/>
        </p:nvSpPr>
        <p:spPr>
          <a:xfrm>
            <a:off x="3708400" y="5332512"/>
            <a:ext cx="177800" cy="177800"/>
          </a:xfrm>
          <a:prstGeom prst="roundRect">
            <a:avLst>
              <a:gd name="adj" fmla="val 50000"/>
            </a:avLst>
          </a:prstGeom>
          <a:solidFill>
            <a:srgbClr val="C24E06"/>
          </a:solidFill>
          <a:ln/>
        </p:spPr>
        <p:txBody>
          <a:bodyPr/>
          <a:lstStyle/>
          <a:p>
            <a:endParaRPr lang="en-JP"/>
          </a:p>
        </p:txBody>
      </p:sp>
      <p:sp>
        <p:nvSpPr>
          <p:cNvPr id="13" name="Text 9"/>
          <p:cNvSpPr/>
          <p:nvPr/>
        </p:nvSpPr>
        <p:spPr>
          <a:xfrm>
            <a:off x="3987800" y="5305921"/>
            <a:ext cx="169556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0B1F33"/>
                </a:solidFill>
                <a:latin typeface="Calibri" pitchFamily="34" charset="0"/>
                <a:ea typeface="Calibri" pitchFamily="34" charset="-122"/>
                <a:cs typeface="Calibri" pitchFamily="34" charset="-120"/>
              </a:rPr>
              <a:t>Every other system</a:t>
            </a:r>
            <a:endParaRPr lang="en-US" sz="1300" dirty="0"/>
          </a:p>
        </p:txBody>
      </p:sp>
      <p:sp>
        <p:nvSpPr>
          <p:cNvPr id="14" name="Shape 10"/>
          <p:cNvSpPr/>
          <p:nvPr/>
        </p:nvSpPr>
        <p:spPr>
          <a:xfrm>
            <a:off x="6832600" y="2286000"/>
            <a:ext cx="4546600" cy="1191121"/>
          </a:xfrm>
          <a:prstGeom prst="roundRect">
            <a:avLst>
              <a:gd name="adj" fmla="val 8530"/>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5" name="Shape 11"/>
          <p:cNvSpPr/>
          <p:nvPr/>
        </p:nvSpPr>
        <p:spPr>
          <a:xfrm>
            <a:off x="6832600" y="2286000"/>
            <a:ext cx="4546600" cy="1191121"/>
          </a:xfrm>
          <a:custGeom>
            <a:avLst/>
            <a:gdLst/>
            <a:ahLst/>
            <a:cxnLst/>
            <a:rect l="l" t="t" r="r" b="b"/>
            <a:pathLst>
              <a:path w="4546600" h="1191121">
                <a:moveTo>
                  <a:pt x="0" y="101600"/>
                </a:moveTo>
                <a:lnTo>
                  <a:pt x="0" y="101600"/>
                </a:lnTo>
                <a:arcTo wR="101600" hR="101600" stAng="10800000" swAng="5400000"/>
                <a:lnTo>
                  <a:pt x="4445000" y="0"/>
                </a:lnTo>
                <a:arcTo wR="101600" hR="101600" stAng="16200000" swAng="5400000"/>
                <a:lnTo>
                  <a:pt x="4546600" y="101600"/>
                </a:lnTo>
                <a:arcTo wR="101600" hR="50800" stAng="0" swAng="-5400000"/>
                <a:lnTo>
                  <a:pt x="101600" y="50800"/>
                </a:lnTo>
                <a:arcTo wR="101600" hR="50800" stAng="16200000" swAng="-5400000"/>
                <a:close/>
              </a:path>
            </a:pathLst>
          </a:custGeom>
          <a:solidFill>
            <a:srgbClr val="F7630C"/>
          </a:solidFill>
          <a:ln/>
        </p:spPr>
        <p:txBody>
          <a:bodyPr/>
          <a:lstStyle/>
          <a:p>
            <a:endParaRPr lang="en-JP"/>
          </a:p>
        </p:txBody>
      </p:sp>
      <p:sp>
        <p:nvSpPr>
          <p:cNvPr id="16" name="Text 12"/>
          <p:cNvSpPr/>
          <p:nvPr/>
        </p:nvSpPr>
        <p:spPr>
          <a:xfrm>
            <a:off x="7035800" y="2514600"/>
            <a:ext cx="4264406"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C24E06"/>
                </a:solidFill>
                <a:latin typeface="Arial" pitchFamily="34" charset="0"/>
                <a:ea typeface="Arial" pitchFamily="34" charset="-122"/>
                <a:cs typeface="Arial" pitchFamily="34" charset="-120"/>
              </a:rPr>
              <a:t>29 min</a:t>
            </a:r>
            <a:endParaRPr lang="en-US" sz="3600" dirty="0"/>
          </a:p>
        </p:txBody>
      </p:sp>
      <p:sp>
        <p:nvSpPr>
          <p:cNvPr id="17" name="Text 13"/>
          <p:cNvSpPr/>
          <p:nvPr/>
        </p:nvSpPr>
        <p:spPr>
          <a:xfrm>
            <a:off x="7035800" y="3068241"/>
            <a:ext cx="43434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average time for attackers to break out to other systems</a:t>
            </a:r>
            <a:endParaRPr lang="en-US" sz="1300" dirty="0"/>
          </a:p>
        </p:txBody>
      </p:sp>
      <p:sp>
        <p:nvSpPr>
          <p:cNvPr id="18" name="Shape 14"/>
          <p:cNvSpPr/>
          <p:nvPr/>
        </p:nvSpPr>
        <p:spPr>
          <a:xfrm>
            <a:off x="6832600" y="3629521"/>
            <a:ext cx="4546600" cy="1191121"/>
          </a:xfrm>
          <a:prstGeom prst="roundRect">
            <a:avLst>
              <a:gd name="adj" fmla="val 8530"/>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9" name="Shape 15"/>
          <p:cNvSpPr/>
          <p:nvPr/>
        </p:nvSpPr>
        <p:spPr>
          <a:xfrm>
            <a:off x="6832600" y="3629521"/>
            <a:ext cx="4546600" cy="1191121"/>
          </a:xfrm>
          <a:custGeom>
            <a:avLst/>
            <a:gdLst/>
            <a:ahLst/>
            <a:cxnLst/>
            <a:rect l="l" t="t" r="r" b="b"/>
            <a:pathLst>
              <a:path w="4546600" h="1191121">
                <a:moveTo>
                  <a:pt x="0" y="101600"/>
                </a:moveTo>
                <a:lnTo>
                  <a:pt x="0" y="101600"/>
                </a:lnTo>
                <a:arcTo wR="101600" hR="101600" stAng="10800000" swAng="5400000"/>
                <a:lnTo>
                  <a:pt x="4445000" y="0"/>
                </a:lnTo>
                <a:arcTo wR="101600" hR="101600" stAng="16200000" swAng="5400000"/>
                <a:lnTo>
                  <a:pt x="4546600" y="101600"/>
                </a:lnTo>
                <a:arcTo wR="101600" hR="50800" stAng="0" swAng="-5400000"/>
                <a:lnTo>
                  <a:pt x="101600" y="50800"/>
                </a:lnTo>
                <a:arcTo wR="101600" hR="50800" stAng="16200000" swAng="-5400000"/>
                <a:close/>
              </a:path>
            </a:pathLst>
          </a:custGeom>
          <a:solidFill>
            <a:srgbClr val="0A1628"/>
          </a:solidFill>
          <a:ln/>
        </p:spPr>
        <p:txBody>
          <a:bodyPr/>
          <a:lstStyle/>
          <a:p>
            <a:endParaRPr lang="en-JP"/>
          </a:p>
        </p:txBody>
      </p:sp>
      <p:sp>
        <p:nvSpPr>
          <p:cNvPr id="20" name="Text 16"/>
          <p:cNvSpPr/>
          <p:nvPr/>
        </p:nvSpPr>
        <p:spPr>
          <a:xfrm>
            <a:off x="7035800" y="3858121"/>
            <a:ext cx="4264406"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0B1F33"/>
                </a:solidFill>
                <a:latin typeface="Arial" pitchFamily="34" charset="0"/>
                <a:ea typeface="Arial" pitchFamily="34" charset="-122"/>
                <a:cs typeface="Arial" pitchFamily="34" charset="-120"/>
              </a:rPr>
              <a:t>27 sec</a:t>
            </a:r>
            <a:endParaRPr lang="en-US" sz="3600" dirty="0"/>
          </a:p>
        </p:txBody>
      </p:sp>
      <p:sp>
        <p:nvSpPr>
          <p:cNvPr id="21" name="Text 17"/>
          <p:cNvSpPr/>
          <p:nvPr/>
        </p:nvSpPr>
        <p:spPr>
          <a:xfrm>
            <a:off x="7035800" y="4411762"/>
            <a:ext cx="426440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fastest breakout observed</a:t>
            </a:r>
            <a:endParaRPr lang="en-US" sz="1300" dirty="0"/>
          </a:p>
        </p:txBody>
      </p:sp>
      <p:sp>
        <p:nvSpPr>
          <p:cNvPr id="22" name="Text 1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Source: CrowdStrike 2026 Global Threat Report</a:t>
            </a:r>
            <a:endParaRPr lang="en-US" sz="1200" dirty="0"/>
          </a:p>
        </p:txBody>
      </p:sp>
      <p:sp>
        <p:nvSpPr>
          <p:cNvPr id="23" name="Text 19"/>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06 · DAY 1 TO 5</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Steal, sabotage, then encrypt</a:t>
            </a:r>
            <a:endParaRPr lang="en-US" sz="3600" dirty="0"/>
          </a:p>
        </p:txBody>
      </p:sp>
      <p:sp>
        <p:nvSpPr>
          <p:cNvPr id="5" name="Shape 2"/>
          <p:cNvSpPr/>
          <p:nvPr/>
        </p:nvSpPr>
        <p:spPr>
          <a:xfrm>
            <a:off x="812800" y="1569641"/>
            <a:ext cx="6324600" cy="1043781"/>
          </a:xfrm>
          <a:prstGeom prst="roundRect">
            <a:avLst>
              <a:gd name="adj" fmla="val 9734"/>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990600" y="1862931"/>
            <a:ext cx="457200" cy="457200"/>
          </a:xfrm>
          <a:prstGeom prst="roundRect">
            <a:avLst>
              <a:gd name="adj" fmla="val 50000"/>
            </a:avLst>
          </a:prstGeom>
          <a:solidFill>
            <a:srgbClr val="FDEBDD"/>
          </a:solidFill>
          <a:ln/>
        </p:spPr>
        <p:txBody>
          <a:bodyPr/>
          <a:lstStyle/>
          <a:p>
            <a:endParaRPr lang="en-JP"/>
          </a:p>
        </p:txBody>
      </p:sp>
      <p:pic>
        <p:nvPicPr>
          <p:cNvPr id="7" name="Image 1" descr="upload icon"/>
          <p:cNvPicPr>
            <a:picLocks noChangeAspect="1"/>
          </p:cNvPicPr>
          <p:nvPr/>
        </p:nvPicPr>
        <p:blipFill>
          <a:blip r:embed="rId4"/>
          <a:srcRect/>
          <a:stretch/>
        </p:blipFill>
        <p:spPr>
          <a:xfrm>
            <a:off x="1104900" y="1977231"/>
            <a:ext cx="228600" cy="228600"/>
          </a:xfrm>
          <a:prstGeom prst="rect">
            <a:avLst/>
          </a:prstGeom>
        </p:spPr>
      </p:pic>
      <p:sp>
        <p:nvSpPr>
          <p:cNvPr id="8" name="Text 4"/>
          <p:cNvSpPr/>
          <p:nvPr/>
        </p:nvSpPr>
        <p:spPr>
          <a:xfrm>
            <a:off x="1600200" y="1722041"/>
            <a:ext cx="552018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DAY 1–3</a:t>
            </a:r>
            <a:endParaRPr lang="en-US" sz="1200" dirty="0"/>
          </a:p>
        </p:txBody>
      </p:sp>
      <p:sp>
        <p:nvSpPr>
          <p:cNvPr id="9" name="Text 5"/>
          <p:cNvSpPr/>
          <p:nvPr/>
        </p:nvSpPr>
        <p:spPr>
          <a:xfrm>
            <a:off x="1600200" y="1960761"/>
            <a:ext cx="552018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Steal the data</a:t>
            </a:r>
            <a:endParaRPr lang="en-US" sz="1600" dirty="0"/>
          </a:p>
        </p:txBody>
      </p:sp>
      <p:sp>
        <p:nvSpPr>
          <p:cNvPr id="10" name="Text 6"/>
          <p:cNvSpPr/>
          <p:nvPr/>
        </p:nvSpPr>
        <p:spPr>
          <a:xfrm>
            <a:off x="1600200" y="2229941"/>
            <a:ext cx="552018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Customer records and financial files copied out slowly, to avoid alarms.</a:t>
            </a:r>
            <a:endParaRPr lang="en-US" sz="1300" dirty="0"/>
          </a:p>
        </p:txBody>
      </p:sp>
      <p:sp>
        <p:nvSpPr>
          <p:cNvPr id="11" name="Shape 7"/>
          <p:cNvSpPr/>
          <p:nvPr/>
        </p:nvSpPr>
        <p:spPr>
          <a:xfrm>
            <a:off x="812800" y="2740422"/>
            <a:ext cx="6324600" cy="1043781"/>
          </a:xfrm>
          <a:prstGeom prst="roundRect">
            <a:avLst>
              <a:gd name="adj" fmla="val 9734"/>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2" name="Shape 8"/>
          <p:cNvSpPr/>
          <p:nvPr/>
        </p:nvSpPr>
        <p:spPr>
          <a:xfrm>
            <a:off x="990600" y="3033713"/>
            <a:ext cx="457200" cy="457200"/>
          </a:xfrm>
          <a:prstGeom prst="roundRect">
            <a:avLst>
              <a:gd name="adj" fmla="val 50000"/>
            </a:avLst>
          </a:prstGeom>
          <a:solidFill>
            <a:srgbClr val="FDEBDD"/>
          </a:solidFill>
          <a:ln/>
        </p:spPr>
        <p:txBody>
          <a:bodyPr/>
          <a:lstStyle/>
          <a:p>
            <a:endParaRPr lang="en-JP"/>
          </a:p>
        </p:txBody>
      </p:sp>
      <p:pic>
        <p:nvPicPr>
          <p:cNvPr id="13" name="Image 2" descr="server icon"/>
          <p:cNvPicPr>
            <a:picLocks noChangeAspect="1"/>
          </p:cNvPicPr>
          <p:nvPr/>
        </p:nvPicPr>
        <p:blipFill>
          <a:blip r:embed="rId5"/>
          <a:srcRect/>
          <a:stretch/>
        </p:blipFill>
        <p:spPr>
          <a:xfrm>
            <a:off x="1104900" y="3148013"/>
            <a:ext cx="228600" cy="228600"/>
          </a:xfrm>
          <a:prstGeom prst="rect">
            <a:avLst/>
          </a:prstGeom>
        </p:spPr>
      </p:pic>
      <p:sp>
        <p:nvSpPr>
          <p:cNvPr id="14" name="Text 9"/>
          <p:cNvSpPr/>
          <p:nvPr/>
        </p:nvSpPr>
        <p:spPr>
          <a:xfrm>
            <a:off x="1600200" y="2892822"/>
            <a:ext cx="552018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DAY 4</a:t>
            </a:r>
            <a:endParaRPr lang="en-US" sz="1200" dirty="0"/>
          </a:p>
        </p:txBody>
      </p:sp>
      <p:sp>
        <p:nvSpPr>
          <p:cNvPr id="15" name="Text 10"/>
          <p:cNvSpPr/>
          <p:nvPr/>
        </p:nvSpPr>
        <p:spPr>
          <a:xfrm>
            <a:off x="1600200" y="3131542"/>
            <a:ext cx="552018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Sabotage recovery</a:t>
            </a:r>
            <a:endParaRPr lang="en-US" sz="1600" dirty="0"/>
          </a:p>
        </p:txBody>
      </p:sp>
      <p:sp>
        <p:nvSpPr>
          <p:cNvPr id="16" name="Text 11"/>
          <p:cNvSpPr/>
          <p:nvPr/>
        </p:nvSpPr>
        <p:spPr>
          <a:xfrm>
            <a:off x="1600200" y="3400723"/>
            <a:ext cx="552018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Backups found and deleted so the company can't simply restore.</a:t>
            </a:r>
            <a:endParaRPr lang="en-US" sz="1300" dirty="0"/>
          </a:p>
        </p:txBody>
      </p:sp>
      <p:sp>
        <p:nvSpPr>
          <p:cNvPr id="17" name="Shape 12"/>
          <p:cNvSpPr/>
          <p:nvPr/>
        </p:nvSpPr>
        <p:spPr>
          <a:xfrm>
            <a:off x="812800" y="3911203"/>
            <a:ext cx="6324600" cy="1274862"/>
          </a:xfrm>
          <a:prstGeom prst="roundRect">
            <a:avLst>
              <a:gd name="adj" fmla="val 7969"/>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8" name="Shape 13"/>
          <p:cNvSpPr/>
          <p:nvPr/>
        </p:nvSpPr>
        <p:spPr>
          <a:xfrm>
            <a:off x="990600" y="4319984"/>
            <a:ext cx="457200" cy="457200"/>
          </a:xfrm>
          <a:prstGeom prst="roundRect">
            <a:avLst>
              <a:gd name="adj" fmla="val 50000"/>
            </a:avLst>
          </a:prstGeom>
          <a:solidFill>
            <a:srgbClr val="FDEBDD"/>
          </a:solidFill>
          <a:ln/>
        </p:spPr>
        <p:txBody>
          <a:bodyPr/>
          <a:lstStyle/>
          <a:p>
            <a:endParaRPr lang="en-JP"/>
          </a:p>
        </p:txBody>
      </p:sp>
      <p:pic>
        <p:nvPicPr>
          <p:cNvPr id="19" name="Image 3" descr="lock icon"/>
          <p:cNvPicPr>
            <a:picLocks noChangeAspect="1"/>
          </p:cNvPicPr>
          <p:nvPr/>
        </p:nvPicPr>
        <p:blipFill>
          <a:blip r:embed="rId6"/>
          <a:srcRect/>
          <a:stretch/>
        </p:blipFill>
        <p:spPr>
          <a:xfrm>
            <a:off x="1104900" y="4434284"/>
            <a:ext cx="228600" cy="228600"/>
          </a:xfrm>
          <a:prstGeom prst="rect">
            <a:avLst/>
          </a:prstGeom>
        </p:spPr>
      </p:pic>
      <p:sp>
        <p:nvSpPr>
          <p:cNvPr id="20" name="Text 14"/>
          <p:cNvSpPr/>
          <p:nvPr/>
        </p:nvSpPr>
        <p:spPr>
          <a:xfrm>
            <a:off x="1600200" y="4063603"/>
            <a:ext cx="552018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E06"/>
                </a:solidFill>
                <a:latin typeface="Calibri" pitchFamily="34" charset="0"/>
                <a:ea typeface="Calibri" pitchFamily="34" charset="-122"/>
                <a:cs typeface="Calibri" pitchFamily="34" charset="-120"/>
              </a:rPr>
              <a:t>DAY 5</a:t>
            </a:r>
            <a:endParaRPr lang="en-US" sz="1200" dirty="0"/>
          </a:p>
        </p:txBody>
      </p:sp>
      <p:sp>
        <p:nvSpPr>
          <p:cNvPr id="21" name="Text 15"/>
          <p:cNvSpPr/>
          <p:nvPr/>
        </p:nvSpPr>
        <p:spPr>
          <a:xfrm>
            <a:off x="1600200" y="4302323"/>
            <a:ext cx="552018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Encrypt everything</a:t>
            </a:r>
            <a:endParaRPr lang="en-US" sz="1600" dirty="0"/>
          </a:p>
        </p:txBody>
      </p:sp>
      <p:sp>
        <p:nvSpPr>
          <p:cNvPr id="22" name="Text 16"/>
          <p:cNvSpPr/>
          <p:nvPr/>
        </p:nvSpPr>
        <p:spPr>
          <a:xfrm>
            <a:off x="1600200" y="4571504"/>
            <a:ext cx="552018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Ransomware runs on every system at once, often overnight or at a weekend.</a:t>
            </a:r>
            <a:endParaRPr lang="en-US" sz="1300" dirty="0"/>
          </a:p>
        </p:txBody>
      </p:sp>
      <p:sp>
        <p:nvSpPr>
          <p:cNvPr id="23" name="Shape 17"/>
          <p:cNvSpPr/>
          <p:nvPr/>
        </p:nvSpPr>
        <p:spPr>
          <a:xfrm>
            <a:off x="7454900" y="1980902"/>
            <a:ext cx="3911600" cy="2793802"/>
          </a:xfrm>
          <a:prstGeom prst="roundRect">
            <a:avLst>
              <a:gd name="adj" fmla="val 4091"/>
            </a:avLst>
          </a:prstGeom>
          <a:solidFill>
            <a:srgbClr val="5A1205"/>
          </a:solidFill>
          <a:ln w="25400">
            <a:solidFill>
              <a:srgbClr val="F7630C"/>
            </a:solidFill>
            <a:prstDash val="solid"/>
          </a:ln>
        </p:spPr>
        <p:txBody>
          <a:bodyPr/>
          <a:lstStyle/>
          <a:p>
            <a:endParaRPr lang="en-JP"/>
          </a:p>
        </p:txBody>
      </p:sp>
      <p:pic>
        <p:nvPicPr>
          <p:cNvPr id="24" name="Image 4" descr="lock icon"/>
          <p:cNvPicPr>
            <a:picLocks noChangeAspect="1"/>
          </p:cNvPicPr>
          <p:nvPr/>
        </p:nvPicPr>
        <p:blipFill>
          <a:blip r:embed="rId7"/>
          <a:srcRect/>
          <a:stretch/>
        </p:blipFill>
        <p:spPr>
          <a:xfrm>
            <a:off x="7721600" y="2222202"/>
            <a:ext cx="406400" cy="406400"/>
          </a:xfrm>
          <a:prstGeom prst="rect">
            <a:avLst/>
          </a:prstGeom>
        </p:spPr>
      </p:pic>
      <p:sp>
        <p:nvSpPr>
          <p:cNvPr id="25" name="Text 18"/>
          <p:cNvSpPr/>
          <p:nvPr/>
        </p:nvSpPr>
        <p:spPr>
          <a:xfrm>
            <a:off x="7721600" y="2730202"/>
            <a:ext cx="3479546" cy="7366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FFFFF"/>
                </a:solidFill>
                <a:latin typeface="Arial" pitchFamily="34" charset="0"/>
                <a:ea typeface="Arial" pitchFamily="34" charset="-122"/>
                <a:cs typeface="Arial" pitchFamily="34" charset="-120"/>
              </a:rPr>
              <a:t>YOUR FILES ARE ENCRYPTED</a:t>
            </a:r>
            <a:endParaRPr lang="en-US" sz="2000" dirty="0"/>
          </a:p>
        </p:txBody>
      </p:sp>
      <p:sp>
        <p:nvSpPr>
          <p:cNvPr id="26" name="Text 19"/>
          <p:cNvSpPr/>
          <p:nvPr/>
        </p:nvSpPr>
        <p:spPr>
          <a:xfrm>
            <a:off x="7721600" y="3543002"/>
            <a:ext cx="347954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D9C4"/>
                </a:solidFill>
                <a:latin typeface="Calibri" pitchFamily="34" charset="0"/>
                <a:ea typeface="Calibri" pitchFamily="34" charset="-122"/>
                <a:cs typeface="Calibri" pitchFamily="34" charset="-120"/>
              </a:rPr>
              <a:t>We also copied your data. Pay within 72 hours or it will be published.</a:t>
            </a:r>
            <a:endParaRPr lang="en-US" sz="1300" dirty="0"/>
          </a:p>
        </p:txBody>
      </p:sp>
      <p:sp>
        <p:nvSpPr>
          <p:cNvPr id="27" name="Shape 20"/>
          <p:cNvSpPr/>
          <p:nvPr/>
        </p:nvSpPr>
        <p:spPr>
          <a:xfrm>
            <a:off x="7721600" y="4106763"/>
            <a:ext cx="3378200" cy="426641"/>
          </a:xfrm>
          <a:prstGeom prst="roundRect">
            <a:avLst>
              <a:gd name="adj" fmla="val 17860"/>
            </a:avLst>
          </a:prstGeom>
          <a:solidFill>
            <a:srgbClr val="3A0B03"/>
          </a:solidFill>
          <a:ln/>
        </p:spPr>
        <p:txBody>
          <a:bodyPr/>
          <a:lstStyle/>
          <a:p>
            <a:endParaRPr lang="en-JP"/>
          </a:p>
        </p:txBody>
      </p:sp>
      <p:pic>
        <p:nvPicPr>
          <p:cNvPr id="28" name="Image 5" descr="clock icon"/>
          <p:cNvPicPr>
            <a:picLocks noChangeAspect="1"/>
          </p:cNvPicPr>
          <p:nvPr/>
        </p:nvPicPr>
        <p:blipFill>
          <a:blip r:embed="rId8"/>
          <a:srcRect/>
          <a:stretch/>
        </p:blipFill>
        <p:spPr>
          <a:xfrm>
            <a:off x="7848600" y="4218484"/>
            <a:ext cx="203200" cy="203200"/>
          </a:xfrm>
          <a:prstGeom prst="rect">
            <a:avLst/>
          </a:prstGeom>
        </p:spPr>
      </p:pic>
      <p:sp>
        <p:nvSpPr>
          <p:cNvPr id="29" name="Text 21"/>
          <p:cNvSpPr/>
          <p:nvPr/>
        </p:nvSpPr>
        <p:spPr>
          <a:xfrm>
            <a:off x="8128000" y="4195663"/>
            <a:ext cx="85415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9A5C"/>
                </a:solidFill>
                <a:latin typeface="Calibri" pitchFamily="34" charset="0"/>
                <a:ea typeface="Calibri" pitchFamily="34" charset="-122"/>
                <a:cs typeface="Calibri" pitchFamily="34" charset="-120"/>
              </a:rPr>
              <a:t>71:59:42</a:t>
            </a:r>
            <a:endParaRPr lang="en-US" sz="1400" dirty="0"/>
          </a:p>
        </p:txBody>
      </p:sp>
      <p:sp>
        <p:nvSpPr>
          <p:cNvPr id="30" name="Text 22"/>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Illustrative scenario based on real attack patterns · Double-extortion ransomware</a:t>
            </a:r>
            <a:endParaRPr lang="en-US" sz="1200" dirty="0"/>
          </a:p>
        </p:txBody>
      </p:sp>
      <p:sp>
        <p:nvSpPr>
          <p:cNvPr id="31" name="Text 23"/>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78D4"/>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FFFF"/>
                </a:solidFill>
                <a:latin typeface="Calibri" pitchFamily="34" charset="0"/>
                <a:ea typeface="Calibri" pitchFamily="34" charset="-122"/>
                <a:cs typeface="Calibri" pitchFamily="34" charset="-120"/>
              </a:rPr>
              <a:t>07 · THE REAL COST</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FFF"/>
                </a:solidFill>
                <a:latin typeface="Arial" pitchFamily="34" charset="0"/>
                <a:ea typeface="Arial" pitchFamily="34" charset="-122"/>
                <a:cs typeface="Arial" pitchFamily="34" charset="-120"/>
              </a:rPr>
              <a:t>What that one click can cost</a:t>
            </a:r>
            <a:endParaRPr lang="en-US" sz="3600" dirty="0"/>
          </a:p>
        </p:txBody>
      </p:sp>
      <p:sp>
        <p:nvSpPr>
          <p:cNvPr id="5" name="Shape 2"/>
          <p:cNvSpPr/>
          <p:nvPr/>
        </p:nvSpPr>
        <p:spPr>
          <a:xfrm>
            <a:off x="812800" y="1569641"/>
            <a:ext cx="3386634" cy="2048470"/>
          </a:xfrm>
          <a:prstGeom prst="roundRect">
            <a:avLst>
              <a:gd name="adj" fmla="val 6200"/>
            </a:avLst>
          </a:prstGeom>
          <a:solidFill>
            <a:srgbClr val="0A1628"/>
          </a:solidFill>
          <a:ln/>
        </p:spPr>
        <p:txBody>
          <a:bodyPr/>
          <a:lstStyle/>
          <a:p>
            <a:endParaRPr lang="en-JP"/>
          </a:p>
        </p:txBody>
      </p:sp>
      <p:sp>
        <p:nvSpPr>
          <p:cNvPr id="6" name="Text 3"/>
          <p:cNvSpPr/>
          <p:nvPr/>
        </p:nvSpPr>
        <p:spPr>
          <a:xfrm>
            <a:off x="1066800" y="1849041"/>
            <a:ext cx="2964993"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$4.99M</a:t>
            </a:r>
            <a:endParaRPr lang="en-US" sz="4400" dirty="0"/>
          </a:p>
        </p:txBody>
      </p:sp>
      <p:sp>
        <p:nvSpPr>
          <p:cNvPr id="7" name="Text 4"/>
          <p:cNvSpPr/>
          <p:nvPr/>
        </p:nvSpPr>
        <p:spPr>
          <a:xfrm>
            <a:off x="1066800" y="2509441"/>
            <a:ext cx="2964993"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global average cost of a breach, a record high</a:t>
            </a:r>
            <a:endParaRPr lang="en-US" sz="1500" dirty="0"/>
          </a:p>
        </p:txBody>
      </p:sp>
      <p:sp>
        <p:nvSpPr>
          <p:cNvPr id="8" name="Text 5"/>
          <p:cNvSpPr/>
          <p:nvPr/>
        </p:nvSpPr>
        <p:spPr>
          <a:xfrm>
            <a:off x="1066800" y="3125391"/>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IBM 2026</a:t>
            </a:r>
            <a:endParaRPr lang="en-US" sz="1200" dirty="0"/>
          </a:p>
        </p:txBody>
      </p:sp>
      <p:sp>
        <p:nvSpPr>
          <p:cNvPr id="9" name="Shape 6"/>
          <p:cNvSpPr/>
          <p:nvPr/>
        </p:nvSpPr>
        <p:spPr>
          <a:xfrm>
            <a:off x="4402634" y="1569641"/>
            <a:ext cx="3386733" cy="2048470"/>
          </a:xfrm>
          <a:prstGeom prst="roundRect">
            <a:avLst>
              <a:gd name="adj" fmla="val 6200"/>
            </a:avLst>
          </a:prstGeom>
          <a:solidFill>
            <a:srgbClr val="0A1628"/>
          </a:solidFill>
          <a:ln/>
        </p:spPr>
        <p:txBody>
          <a:bodyPr/>
          <a:lstStyle/>
          <a:p>
            <a:endParaRPr lang="en-JP"/>
          </a:p>
        </p:txBody>
      </p:sp>
      <p:sp>
        <p:nvSpPr>
          <p:cNvPr id="10" name="Text 7"/>
          <p:cNvSpPr/>
          <p:nvPr/>
        </p:nvSpPr>
        <p:spPr>
          <a:xfrm>
            <a:off x="4656634" y="1849041"/>
            <a:ext cx="2965095"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247 days</a:t>
            </a:r>
            <a:endParaRPr lang="en-US" sz="4400" dirty="0"/>
          </a:p>
        </p:txBody>
      </p:sp>
      <p:sp>
        <p:nvSpPr>
          <p:cNvPr id="11" name="Text 8"/>
          <p:cNvSpPr/>
          <p:nvPr/>
        </p:nvSpPr>
        <p:spPr>
          <a:xfrm>
            <a:off x="4656634" y="2509441"/>
            <a:ext cx="2965095"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average time to identify and contain a breach</a:t>
            </a:r>
            <a:endParaRPr lang="en-US" sz="1500" dirty="0"/>
          </a:p>
        </p:txBody>
      </p:sp>
      <p:sp>
        <p:nvSpPr>
          <p:cNvPr id="12" name="Text 9"/>
          <p:cNvSpPr/>
          <p:nvPr/>
        </p:nvSpPr>
        <p:spPr>
          <a:xfrm>
            <a:off x="4656634" y="3125391"/>
            <a:ext cx="2965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IBM 2026</a:t>
            </a:r>
            <a:endParaRPr lang="en-US" sz="1200" dirty="0"/>
          </a:p>
        </p:txBody>
      </p:sp>
      <p:sp>
        <p:nvSpPr>
          <p:cNvPr id="13" name="Shape 10"/>
          <p:cNvSpPr/>
          <p:nvPr/>
        </p:nvSpPr>
        <p:spPr>
          <a:xfrm>
            <a:off x="7992566" y="1569641"/>
            <a:ext cx="3386634" cy="2048470"/>
          </a:xfrm>
          <a:prstGeom prst="roundRect">
            <a:avLst>
              <a:gd name="adj" fmla="val 6200"/>
            </a:avLst>
          </a:prstGeom>
          <a:solidFill>
            <a:srgbClr val="0A1628"/>
          </a:solidFill>
          <a:ln/>
        </p:spPr>
        <p:txBody>
          <a:bodyPr/>
          <a:lstStyle/>
          <a:p>
            <a:endParaRPr lang="en-JP"/>
          </a:p>
        </p:txBody>
      </p:sp>
      <p:sp>
        <p:nvSpPr>
          <p:cNvPr id="14" name="Text 11"/>
          <p:cNvSpPr/>
          <p:nvPr/>
        </p:nvSpPr>
        <p:spPr>
          <a:xfrm>
            <a:off x="8246566" y="1849041"/>
            <a:ext cx="2964993"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48%</a:t>
            </a:r>
            <a:endParaRPr lang="en-US" sz="4400" dirty="0"/>
          </a:p>
        </p:txBody>
      </p:sp>
      <p:sp>
        <p:nvSpPr>
          <p:cNvPr id="15" name="Text 12"/>
          <p:cNvSpPr/>
          <p:nvPr/>
        </p:nvSpPr>
        <p:spPr>
          <a:xfrm>
            <a:off x="8246566" y="2509441"/>
            <a:ext cx="2964993"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of breaches now involve ransomware</a:t>
            </a:r>
            <a:endParaRPr lang="en-US" sz="1500" dirty="0"/>
          </a:p>
        </p:txBody>
      </p:sp>
      <p:sp>
        <p:nvSpPr>
          <p:cNvPr id="16" name="Text 13"/>
          <p:cNvSpPr/>
          <p:nvPr/>
        </p:nvSpPr>
        <p:spPr>
          <a:xfrm>
            <a:off x="8246566" y="3125391"/>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Verizon DBIR 2026</a:t>
            </a:r>
            <a:endParaRPr lang="en-US" sz="1200" dirty="0"/>
          </a:p>
        </p:txBody>
      </p:sp>
      <p:sp>
        <p:nvSpPr>
          <p:cNvPr id="17" name="Text 14"/>
          <p:cNvSpPr/>
          <p:nvPr/>
        </p:nvSpPr>
        <p:spPr>
          <a:xfrm>
            <a:off x="812800" y="387211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Calibri" pitchFamily="34" charset="0"/>
                <a:ea typeface="Calibri" pitchFamily="34" charset="-122"/>
                <a:cs typeface="Calibri" pitchFamily="34" charset="-120"/>
              </a:rPr>
              <a:t>Plus downtime, lost customers, legal costs and reputational damage.</a:t>
            </a:r>
            <a:endParaRPr lang="en-US" sz="1600" dirty="0"/>
          </a:p>
        </p:txBody>
      </p:sp>
      <p:sp>
        <p:nvSpPr>
          <p:cNvPr id="18" name="Text 1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BFA"/>
                </a:solidFill>
                <a:latin typeface="Calibri" pitchFamily="34" charset="0"/>
                <a:ea typeface="Calibri" pitchFamily="34" charset="-122"/>
                <a:cs typeface="Calibri" pitchFamily="34" charset="-120"/>
              </a:rPr>
              <a:t>Sources: IBM Cost of a Data Breach Report 2026 · Verizon DBIR 2026</a:t>
            </a:r>
            <a:endParaRPr lang="en-US" sz="1200" dirty="0"/>
          </a:p>
        </p:txBody>
      </p:sp>
      <p:sp>
        <p:nvSpPr>
          <p:cNvPr id="19" name="Text 16"/>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DCEBFA"/>
                </a:solidFill>
                <a:latin typeface="Calibri" pitchFamily="34" charset="0"/>
                <a:ea typeface="Calibri" pitchFamily="34" charset="-122"/>
                <a:cs typeface="Calibri"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08 · REWIND</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The alternate ending</a:t>
            </a:r>
            <a:endParaRPr lang="en-US" sz="3600" dirty="0"/>
          </a:p>
        </p:txBody>
      </p:sp>
      <p:sp>
        <p:nvSpPr>
          <p:cNvPr id="5" name="Shape 2"/>
          <p:cNvSpPr/>
          <p:nvPr/>
        </p:nvSpPr>
        <p:spPr>
          <a:xfrm>
            <a:off x="812800" y="1569641"/>
            <a:ext cx="5181600" cy="2620963"/>
          </a:xfrm>
          <a:prstGeom prst="roundRect">
            <a:avLst>
              <a:gd name="adj" fmla="val 4846"/>
            </a:avLst>
          </a:prstGeom>
          <a:solidFill>
            <a:srgbClr val="FFFFFF"/>
          </a:solidFill>
          <a:ln/>
        </p:spPr>
        <p:txBody>
          <a:bodyPr/>
          <a:lstStyle/>
          <a:p>
            <a:endParaRPr lang="en-JP"/>
          </a:p>
        </p:txBody>
      </p:sp>
      <p:sp>
        <p:nvSpPr>
          <p:cNvPr id="6" name="Shape 3"/>
          <p:cNvSpPr/>
          <p:nvPr/>
        </p:nvSpPr>
        <p:spPr>
          <a:xfrm>
            <a:off x="1066800" y="1798241"/>
            <a:ext cx="406400" cy="406400"/>
          </a:xfrm>
          <a:prstGeom prst="roundRect">
            <a:avLst>
              <a:gd name="adj" fmla="val 50000"/>
            </a:avLst>
          </a:prstGeom>
          <a:solidFill>
            <a:srgbClr val="C24E06"/>
          </a:solidFill>
          <a:ln/>
        </p:spPr>
        <p:txBody>
          <a:bodyPr/>
          <a:lstStyle/>
          <a:p>
            <a:endParaRPr lang="en-JP"/>
          </a:p>
        </p:txBody>
      </p:sp>
      <p:pic>
        <p:nvPicPr>
          <p:cNvPr id="7" name="Image 1" descr="x icon"/>
          <p:cNvPicPr>
            <a:picLocks noChangeAspect="1"/>
          </p:cNvPicPr>
          <p:nvPr/>
        </p:nvPicPr>
        <p:blipFill>
          <a:blip r:embed="rId4"/>
          <a:srcRect/>
          <a:stretch/>
        </p:blipFill>
        <p:spPr>
          <a:xfrm>
            <a:off x="1168400" y="1899841"/>
            <a:ext cx="203200" cy="203200"/>
          </a:xfrm>
          <a:prstGeom prst="rect">
            <a:avLst/>
          </a:prstGeom>
        </p:spPr>
      </p:pic>
      <p:sp>
        <p:nvSpPr>
          <p:cNvPr id="8" name="Text 4"/>
          <p:cNvSpPr/>
          <p:nvPr/>
        </p:nvSpPr>
        <p:spPr>
          <a:xfrm>
            <a:off x="1574800" y="1864320"/>
            <a:ext cx="215003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Calibri" pitchFamily="34" charset="0"/>
                <a:ea typeface="Calibri" pitchFamily="34" charset="-122"/>
                <a:cs typeface="Calibri" pitchFamily="34" charset="-120"/>
              </a:rPr>
              <a:t>Alex stays silent</a:t>
            </a:r>
            <a:endParaRPr lang="en-US" sz="1800" dirty="0"/>
          </a:p>
        </p:txBody>
      </p:sp>
      <p:sp>
        <p:nvSpPr>
          <p:cNvPr id="9" name="Shape 5"/>
          <p:cNvSpPr/>
          <p:nvPr/>
        </p:nvSpPr>
        <p:spPr>
          <a:xfrm>
            <a:off x="1066800" y="2287191"/>
            <a:ext cx="4673600" cy="0"/>
          </a:xfrm>
          <a:prstGeom prst="line">
            <a:avLst/>
          </a:prstGeom>
          <a:noFill/>
          <a:ln w="12700">
            <a:solidFill>
              <a:srgbClr val="D6E2EE"/>
            </a:solidFill>
            <a:prstDash val="solid"/>
          </a:ln>
        </p:spPr>
        <p:txBody>
          <a:bodyPr/>
          <a:lstStyle/>
          <a:p>
            <a:endParaRPr lang="en-JP"/>
          </a:p>
        </p:txBody>
      </p:sp>
      <p:sp>
        <p:nvSpPr>
          <p:cNvPr id="10" name="Text 6"/>
          <p:cNvSpPr/>
          <p:nvPr/>
        </p:nvSpPr>
        <p:spPr>
          <a:xfrm>
            <a:off x="1066800" y="2395141"/>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24E06"/>
                </a:solidFill>
                <a:latin typeface="Arial" pitchFamily="34" charset="0"/>
                <a:ea typeface="Arial" pitchFamily="34" charset="-122"/>
                <a:cs typeface="Arial" pitchFamily="34" charset="-120"/>
              </a:rPr>
              <a:t>0:00</a:t>
            </a:r>
            <a:endParaRPr lang="en-US" sz="1400" dirty="0"/>
          </a:p>
        </p:txBody>
      </p:sp>
      <p:sp>
        <p:nvSpPr>
          <p:cNvPr id="11" name="Text 7"/>
          <p:cNvSpPr/>
          <p:nvPr/>
        </p:nvSpPr>
        <p:spPr>
          <a:xfrm>
            <a:off x="1917700" y="2395141"/>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Alex clicks and runs the command</a:t>
            </a:r>
            <a:endParaRPr lang="en-US" sz="1400" dirty="0"/>
          </a:p>
        </p:txBody>
      </p:sp>
      <p:sp>
        <p:nvSpPr>
          <p:cNvPr id="12" name="Shape 8"/>
          <p:cNvSpPr/>
          <p:nvPr/>
        </p:nvSpPr>
        <p:spPr>
          <a:xfrm>
            <a:off x="1066800" y="2726531"/>
            <a:ext cx="4673600" cy="0"/>
          </a:xfrm>
          <a:prstGeom prst="line">
            <a:avLst/>
          </a:prstGeom>
          <a:noFill/>
          <a:ln w="12700">
            <a:solidFill>
              <a:srgbClr val="D6E2EE"/>
            </a:solidFill>
            <a:prstDash val="solid"/>
          </a:ln>
        </p:spPr>
        <p:txBody>
          <a:bodyPr/>
          <a:lstStyle/>
          <a:p>
            <a:endParaRPr lang="en-JP"/>
          </a:p>
        </p:txBody>
      </p:sp>
      <p:sp>
        <p:nvSpPr>
          <p:cNvPr id="13" name="Text 9"/>
          <p:cNvSpPr/>
          <p:nvPr/>
        </p:nvSpPr>
        <p:spPr>
          <a:xfrm>
            <a:off x="1066800" y="2834481"/>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24E06"/>
                </a:solidFill>
                <a:latin typeface="Arial" pitchFamily="34" charset="0"/>
                <a:ea typeface="Arial" pitchFamily="34" charset="-122"/>
                <a:cs typeface="Arial" pitchFamily="34" charset="-120"/>
              </a:rPr>
              <a:t>0:02</a:t>
            </a:r>
            <a:endParaRPr lang="en-US" sz="1400" dirty="0"/>
          </a:p>
        </p:txBody>
      </p:sp>
      <p:sp>
        <p:nvSpPr>
          <p:cNvPr id="14" name="Text 10"/>
          <p:cNvSpPr/>
          <p:nvPr/>
        </p:nvSpPr>
        <p:spPr>
          <a:xfrm>
            <a:off x="1917700" y="2834481"/>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Data stolen; Alex says nothing</a:t>
            </a:r>
            <a:endParaRPr lang="en-US" sz="1400" dirty="0"/>
          </a:p>
        </p:txBody>
      </p:sp>
      <p:sp>
        <p:nvSpPr>
          <p:cNvPr id="15" name="Shape 11"/>
          <p:cNvSpPr/>
          <p:nvPr/>
        </p:nvSpPr>
        <p:spPr>
          <a:xfrm>
            <a:off x="1066800" y="3165872"/>
            <a:ext cx="4673600" cy="0"/>
          </a:xfrm>
          <a:prstGeom prst="line">
            <a:avLst/>
          </a:prstGeom>
          <a:noFill/>
          <a:ln w="12700">
            <a:solidFill>
              <a:srgbClr val="D6E2EE"/>
            </a:solidFill>
            <a:prstDash val="solid"/>
          </a:ln>
        </p:spPr>
        <p:txBody>
          <a:bodyPr/>
          <a:lstStyle/>
          <a:p>
            <a:endParaRPr lang="en-JP"/>
          </a:p>
        </p:txBody>
      </p:sp>
      <p:sp>
        <p:nvSpPr>
          <p:cNvPr id="16" name="Text 12"/>
          <p:cNvSpPr/>
          <p:nvPr/>
        </p:nvSpPr>
        <p:spPr>
          <a:xfrm>
            <a:off x="1066800" y="3273822"/>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24E06"/>
                </a:solidFill>
                <a:latin typeface="Arial" pitchFamily="34" charset="0"/>
                <a:ea typeface="Arial" pitchFamily="34" charset="-122"/>
                <a:cs typeface="Arial" pitchFamily="34" charset="-120"/>
              </a:rPr>
              <a:t>0:29</a:t>
            </a:r>
            <a:endParaRPr lang="en-US" sz="1400" dirty="0"/>
          </a:p>
        </p:txBody>
      </p:sp>
      <p:sp>
        <p:nvSpPr>
          <p:cNvPr id="17" name="Text 13"/>
          <p:cNvSpPr/>
          <p:nvPr/>
        </p:nvSpPr>
        <p:spPr>
          <a:xfrm>
            <a:off x="1917700" y="3273822"/>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Attacker spreads to the network</a:t>
            </a:r>
            <a:endParaRPr lang="en-US" sz="1400" dirty="0"/>
          </a:p>
        </p:txBody>
      </p:sp>
      <p:sp>
        <p:nvSpPr>
          <p:cNvPr id="18" name="Shape 14"/>
          <p:cNvSpPr/>
          <p:nvPr/>
        </p:nvSpPr>
        <p:spPr>
          <a:xfrm>
            <a:off x="1066800" y="3605213"/>
            <a:ext cx="4673600" cy="0"/>
          </a:xfrm>
          <a:prstGeom prst="line">
            <a:avLst/>
          </a:prstGeom>
          <a:noFill/>
          <a:ln w="12700">
            <a:solidFill>
              <a:srgbClr val="D6E2EE"/>
            </a:solidFill>
            <a:prstDash val="solid"/>
          </a:ln>
        </p:spPr>
        <p:txBody>
          <a:bodyPr/>
          <a:lstStyle/>
          <a:p>
            <a:endParaRPr lang="en-JP"/>
          </a:p>
        </p:txBody>
      </p:sp>
      <p:sp>
        <p:nvSpPr>
          <p:cNvPr id="19" name="Text 15"/>
          <p:cNvSpPr/>
          <p:nvPr/>
        </p:nvSpPr>
        <p:spPr>
          <a:xfrm>
            <a:off x="1066800" y="3713163"/>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C24E06"/>
                </a:solidFill>
                <a:latin typeface="Arial" pitchFamily="34" charset="0"/>
                <a:ea typeface="Arial" pitchFamily="34" charset="-122"/>
                <a:cs typeface="Arial" pitchFamily="34" charset="-120"/>
              </a:rPr>
              <a:t>Day 5</a:t>
            </a:r>
            <a:endParaRPr lang="en-US" sz="1400" dirty="0"/>
          </a:p>
        </p:txBody>
      </p:sp>
      <p:sp>
        <p:nvSpPr>
          <p:cNvPr id="20" name="Text 16"/>
          <p:cNvSpPr/>
          <p:nvPr/>
        </p:nvSpPr>
        <p:spPr>
          <a:xfrm>
            <a:off x="1917700" y="3713163"/>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Ransomware; company stops</a:t>
            </a:r>
            <a:endParaRPr lang="en-US" sz="1400" dirty="0"/>
          </a:p>
        </p:txBody>
      </p:sp>
      <p:sp>
        <p:nvSpPr>
          <p:cNvPr id="21" name="Shape 17"/>
          <p:cNvSpPr/>
          <p:nvPr/>
        </p:nvSpPr>
        <p:spPr>
          <a:xfrm>
            <a:off x="6197600" y="1569641"/>
            <a:ext cx="5181600" cy="2620963"/>
          </a:xfrm>
          <a:prstGeom prst="roundRect">
            <a:avLst>
              <a:gd name="adj" fmla="val 4846"/>
            </a:avLst>
          </a:prstGeom>
          <a:solidFill>
            <a:srgbClr val="0A1628"/>
          </a:solidFill>
          <a:ln/>
        </p:spPr>
        <p:txBody>
          <a:bodyPr/>
          <a:lstStyle/>
          <a:p>
            <a:endParaRPr lang="en-JP"/>
          </a:p>
        </p:txBody>
      </p:sp>
      <p:sp>
        <p:nvSpPr>
          <p:cNvPr id="22" name="Shape 18"/>
          <p:cNvSpPr/>
          <p:nvPr/>
        </p:nvSpPr>
        <p:spPr>
          <a:xfrm>
            <a:off x="6451600" y="1798241"/>
            <a:ext cx="406400" cy="406400"/>
          </a:xfrm>
          <a:prstGeom prst="roundRect">
            <a:avLst>
              <a:gd name="adj" fmla="val 50000"/>
            </a:avLst>
          </a:prstGeom>
          <a:solidFill>
            <a:srgbClr val="00B7C3"/>
          </a:solidFill>
          <a:ln/>
        </p:spPr>
        <p:txBody>
          <a:bodyPr/>
          <a:lstStyle/>
          <a:p>
            <a:endParaRPr lang="en-JP"/>
          </a:p>
        </p:txBody>
      </p:sp>
      <p:pic>
        <p:nvPicPr>
          <p:cNvPr id="23" name="Image 2" descr="check icon"/>
          <p:cNvPicPr>
            <a:picLocks noChangeAspect="1"/>
          </p:cNvPicPr>
          <p:nvPr/>
        </p:nvPicPr>
        <p:blipFill>
          <a:blip r:embed="rId5"/>
          <a:srcRect/>
          <a:stretch/>
        </p:blipFill>
        <p:spPr>
          <a:xfrm>
            <a:off x="6553200" y="1899841"/>
            <a:ext cx="203200" cy="203200"/>
          </a:xfrm>
          <a:prstGeom prst="rect">
            <a:avLst/>
          </a:prstGeom>
        </p:spPr>
      </p:pic>
      <p:sp>
        <p:nvSpPr>
          <p:cNvPr id="24" name="Text 19"/>
          <p:cNvSpPr/>
          <p:nvPr/>
        </p:nvSpPr>
        <p:spPr>
          <a:xfrm>
            <a:off x="6959600" y="1864320"/>
            <a:ext cx="312503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FFFFF"/>
                </a:solidFill>
                <a:latin typeface="Calibri" pitchFamily="34" charset="0"/>
                <a:ea typeface="Calibri" pitchFamily="34" charset="-122"/>
                <a:cs typeface="Calibri" pitchFamily="34" charset="-120"/>
              </a:rPr>
              <a:t>Alex reports in minute 2</a:t>
            </a:r>
            <a:endParaRPr lang="en-US" sz="1800" dirty="0"/>
          </a:p>
        </p:txBody>
      </p:sp>
      <p:sp>
        <p:nvSpPr>
          <p:cNvPr id="25" name="Shape 20"/>
          <p:cNvSpPr/>
          <p:nvPr/>
        </p:nvSpPr>
        <p:spPr>
          <a:xfrm>
            <a:off x="6451600" y="2287191"/>
            <a:ext cx="4673600" cy="0"/>
          </a:xfrm>
          <a:prstGeom prst="line">
            <a:avLst/>
          </a:prstGeom>
          <a:noFill/>
          <a:ln w="12700">
            <a:solidFill>
              <a:srgbClr val="13294B"/>
            </a:solidFill>
            <a:prstDash val="solid"/>
          </a:ln>
        </p:spPr>
        <p:txBody>
          <a:bodyPr/>
          <a:lstStyle/>
          <a:p>
            <a:endParaRPr lang="en-JP"/>
          </a:p>
        </p:txBody>
      </p:sp>
      <p:sp>
        <p:nvSpPr>
          <p:cNvPr id="26" name="Text 21"/>
          <p:cNvSpPr/>
          <p:nvPr/>
        </p:nvSpPr>
        <p:spPr>
          <a:xfrm>
            <a:off x="6451600" y="2395141"/>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B7C3"/>
                </a:solidFill>
                <a:latin typeface="Arial" pitchFamily="34" charset="0"/>
                <a:ea typeface="Arial" pitchFamily="34" charset="-122"/>
                <a:cs typeface="Arial" pitchFamily="34" charset="-120"/>
              </a:rPr>
              <a:t>0:00</a:t>
            </a:r>
            <a:endParaRPr lang="en-US" sz="1400" dirty="0"/>
          </a:p>
        </p:txBody>
      </p:sp>
      <p:sp>
        <p:nvSpPr>
          <p:cNvPr id="27" name="Text 22"/>
          <p:cNvSpPr/>
          <p:nvPr/>
        </p:nvSpPr>
        <p:spPr>
          <a:xfrm>
            <a:off x="7302500" y="2395141"/>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Alex clicks and runs the command</a:t>
            </a:r>
            <a:endParaRPr lang="en-US" sz="1400" dirty="0"/>
          </a:p>
        </p:txBody>
      </p:sp>
      <p:sp>
        <p:nvSpPr>
          <p:cNvPr id="28" name="Shape 23"/>
          <p:cNvSpPr/>
          <p:nvPr/>
        </p:nvSpPr>
        <p:spPr>
          <a:xfrm>
            <a:off x="6451600" y="2726531"/>
            <a:ext cx="4673600" cy="0"/>
          </a:xfrm>
          <a:prstGeom prst="line">
            <a:avLst/>
          </a:prstGeom>
          <a:noFill/>
          <a:ln w="12700">
            <a:solidFill>
              <a:srgbClr val="13294B"/>
            </a:solidFill>
            <a:prstDash val="solid"/>
          </a:ln>
        </p:spPr>
        <p:txBody>
          <a:bodyPr/>
          <a:lstStyle/>
          <a:p>
            <a:endParaRPr lang="en-JP"/>
          </a:p>
        </p:txBody>
      </p:sp>
      <p:sp>
        <p:nvSpPr>
          <p:cNvPr id="29" name="Text 24"/>
          <p:cNvSpPr/>
          <p:nvPr/>
        </p:nvSpPr>
        <p:spPr>
          <a:xfrm>
            <a:off x="6451600" y="2834481"/>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B7C3"/>
                </a:solidFill>
                <a:latin typeface="Arial" pitchFamily="34" charset="0"/>
                <a:ea typeface="Arial" pitchFamily="34" charset="-122"/>
                <a:cs typeface="Arial" pitchFamily="34" charset="-120"/>
              </a:rPr>
              <a:t>0:02</a:t>
            </a:r>
            <a:endParaRPr lang="en-US" sz="1400" dirty="0"/>
          </a:p>
        </p:txBody>
      </p:sp>
      <p:sp>
        <p:nvSpPr>
          <p:cNvPr id="30" name="Text 25"/>
          <p:cNvSpPr/>
          <p:nvPr/>
        </p:nvSpPr>
        <p:spPr>
          <a:xfrm>
            <a:off x="7302500" y="2834481"/>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Alex thinks: that was strange. Calls IT.</a:t>
            </a:r>
            <a:endParaRPr lang="en-US" sz="1400" dirty="0"/>
          </a:p>
        </p:txBody>
      </p:sp>
      <p:sp>
        <p:nvSpPr>
          <p:cNvPr id="31" name="Shape 26"/>
          <p:cNvSpPr/>
          <p:nvPr/>
        </p:nvSpPr>
        <p:spPr>
          <a:xfrm>
            <a:off x="6451600" y="3165872"/>
            <a:ext cx="4673600" cy="0"/>
          </a:xfrm>
          <a:prstGeom prst="line">
            <a:avLst/>
          </a:prstGeom>
          <a:noFill/>
          <a:ln w="12700">
            <a:solidFill>
              <a:srgbClr val="13294B"/>
            </a:solidFill>
            <a:prstDash val="solid"/>
          </a:ln>
        </p:spPr>
        <p:txBody>
          <a:bodyPr/>
          <a:lstStyle/>
          <a:p>
            <a:endParaRPr lang="en-JP"/>
          </a:p>
        </p:txBody>
      </p:sp>
      <p:sp>
        <p:nvSpPr>
          <p:cNvPr id="32" name="Text 27"/>
          <p:cNvSpPr/>
          <p:nvPr/>
        </p:nvSpPr>
        <p:spPr>
          <a:xfrm>
            <a:off x="6451600" y="3273822"/>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B7C3"/>
                </a:solidFill>
                <a:latin typeface="Arial" pitchFamily="34" charset="0"/>
                <a:ea typeface="Arial" pitchFamily="34" charset="-122"/>
                <a:cs typeface="Arial" pitchFamily="34" charset="-120"/>
              </a:rPr>
              <a:t>0:10</a:t>
            </a:r>
            <a:endParaRPr lang="en-US" sz="1400" dirty="0"/>
          </a:p>
        </p:txBody>
      </p:sp>
      <p:sp>
        <p:nvSpPr>
          <p:cNvPr id="33" name="Text 28"/>
          <p:cNvSpPr/>
          <p:nvPr/>
        </p:nvSpPr>
        <p:spPr>
          <a:xfrm>
            <a:off x="7302500" y="3273822"/>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IT isolates the laptop, revokes sessions</a:t>
            </a:r>
            <a:endParaRPr lang="en-US" sz="1400" dirty="0"/>
          </a:p>
        </p:txBody>
      </p:sp>
      <p:sp>
        <p:nvSpPr>
          <p:cNvPr id="34" name="Shape 29"/>
          <p:cNvSpPr/>
          <p:nvPr/>
        </p:nvSpPr>
        <p:spPr>
          <a:xfrm>
            <a:off x="6451600" y="3605213"/>
            <a:ext cx="4673600" cy="0"/>
          </a:xfrm>
          <a:prstGeom prst="line">
            <a:avLst/>
          </a:prstGeom>
          <a:noFill/>
          <a:ln w="12700">
            <a:solidFill>
              <a:srgbClr val="13294B"/>
            </a:solidFill>
            <a:prstDash val="solid"/>
          </a:ln>
        </p:spPr>
        <p:txBody>
          <a:bodyPr/>
          <a:lstStyle/>
          <a:p>
            <a:endParaRPr lang="en-JP"/>
          </a:p>
        </p:txBody>
      </p:sp>
      <p:sp>
        <p:nvSpPr>
          <p:cNvPr id="35" name="Text 30"/>
          <p:cNvSpPr/>
          <p:nvPr/>
        </p:nvSpPr>
        <p:spPr>
          <a:xfrm>
            <a:off x="6451600" y="3713163"/>
            <a:ext cx="74930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B7C3"/>
                </a:solidFill>
                <a:latin typeface="Arial" pitchFamily="34" charset="0"/>
                <a:ea typeface="Arial" pitchFamily="34" charset="-122"/>
                <a:cs typeface="Arial" pitchFamily="34" charset="-120"/>
              </a:rPr>
              <a:t>0:30</a:t>
            </a:r>
            <a:endParaRPr lang="en-US" sz="1400" dirty="0"/>
          </a:p>
        </p:txBody>
      </p:sp>
      <p:sp>
        <p:nvSpPr>
          <p:cNvPr id="36" name="Text 31"/>
          <p:cNvSpPr/>
          <p:nvPr/>
        </p:nvSpPr>
        <p:spPr>
          <a:xfrm>
            <a:off x="7302500" y="3713163"/>
            <a:ext cx="393738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Contained. One laptop rebuilt. Done.</a:t>
            </a:r>
            <a:endParaRPr lang="en-US" sz="1400" dirty="0"/>
          </a:p>
        </p:txBody>
      </p:sp>
      <p:sp>
        <p:nvSpPr>
          <p:cNvPr id="37" name="Shape 32"/>
          <p:cNvSpPr/>
          <p:nvPr/>
        </p:nvSpPr>
        <p:spPr>
          <a:xfrm>
            <a:off x="812800" y="4444603"/>
            <a:ext cx="10566400" cy="584200"/>
          </a:xfrm>
          <a:prstGeom prst="roundRect">
            <a:avLst>
              <a:gd name="adj" fmla="val 17391"/>
            </a:avLst>
          </a:prstGeom>
          <a:solidFill>
            <a:srgbClr val="EAF3FC"/>
          </a:solidFill>
          <a:ln/>
        </p:spPr>
        <p:txBody>
          <a:bodyPr/>
          <a:lstStyle/>
          <a:p>
            <a:endParaRPr lang="en-JP"/>
          </a:p>
        </p:txBody>
      </p:sp>
      <p:pic>
        <p:nvPicPr>
          <p:cNvPr id="38" name="Image 3" descr="clock icon"/>
          <p:cNvPicPr>
            <a:picLocks noChangeAspect="1"/>
          </p:cNvPicPr>
          <p:nvPr/>
        </p:nvPicPr>
        <p:blipFill>
          <a:blip r:embed="rId6"/>
          <a:srcRect/>
          <a:stretch/>
        </p:blipFill>
        <p:spPr>
          <a:xfrm>
            <a:off x="1016000" y="4597003"/>
            <a:ext cx="279400" cy="279400"/>
          </a:xfrm>
          <a:prstGeom prst="rect">
            <a:avLst/>
          </a:prstGeom>
        </p:spPr>
      </p:pic>
      <p:sp>
        <p:nvSpPr>
          <p:cNvPr id="39" name="Text 33"/>
          <p:cNvSpPr/>
          <p:nvPr/>
        </p:nvSpPr>
        <p:spPr>
          <a:xfrm>
            <a:off x="1447800" y="4603353"/>
            <a:ext cx="1002004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B1F33"/>
                </a:solidFill>
                <a:latin typeface="Calibri" pitchFamily="34" charset="0"/>
                <a:ea typeface="Calibri" pitchFamily="34" charset="-122"/>
                <a:cs typeface="Calibri" pitchFamily="34" charset="-120"/>
              </a:rPr>
              <a:t>Same click. </a:t>
            </a:r>
            <a:r>
              <a:rPr lang="en-US" sz="1500" b="1" dirty="0">
                <a:solidFill>
                  <a:srgbClr val="0078D4"/>
                </a:solidFill>
                <a:latin typeface="Calibri" pitchFamily="34" charset="0"/>
                <a:ea typeface="Calibri" pitchFamily="34" charset="-122"/>
                <a:cs typeface="Calibri" pitchFamily="34" charset="-120"/>
              </a:rPr>
              <a:t>Thirty minutes</a:t>
            </a:r>
            <a:r>
              <a:rPr lang="en-US" sz="1500" dirty="0">
                <a:solidFill>
                  <a:srgbClr val="0B1F33"/>
                </a:solidFill>
                <a:latin typeface="Calibri" pitchFamily="34" charset="0"/>
                <a:ea typeface="Calibri" pitchFamily="34" charset="-122"/>
                <a:cs typeface="Calibri" pitchFamily="34" charset="-120"/>
              </a:rPr>
              <a:t> of cleanup instead of </a:t>
            </a:r>
            <a:r>
              <a:rPr lang="en-US" sz="1500" b="1" dirty="0">
                <a:solidFill>
                  <a:srgbClr val="C24E06"/>
                </a:solidFill>
                <a:latin typeface="Calibri" pitchFamily="34" charset="0"/>
                <a:ea typeface="Calibri" pitchFamily="34" charset="-122"/>
                <a:cs typeface="Calibri" pitchFamily="34" charset="-120"/>
              </a:rPr>
              <a:t>months</a:t>
            </a:r>
            <a:r>
              <a:rPr lang="en-US" sz="1500" dirty="0">
                <a:solidFill>
                  <a:srgbClr val="0B1F33"/>
                </a:solidFill>
                <a:latin typeface="Calibri" pitchFamily="34" charset="0"/>
                <a:ea typeface="Calibri" pitchFamily="34" charset="-122"/>
                <a:cs typeface="Calibri" pitchFamily="34" charset="-120"/>
              </a:rPr>
              <a:t> of recovery.</a:t>
            </a:r>
            <a:endParaRPr lang="en-US" sz="1500" dirty="0"/>
          </a:p>
        </p:txBody>
      </p:sp>
      <p:sp>
        <p:nvSpPr>
          <p:cNvPr id="40" name="Text 3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Illustrative scenario based on real attack patterns</a:t>
            </a:r>
            <a:endParaRPr lang="en-US" sz="1200" dirty="0"/>
          </a:p>
        </p:txBody>
      </p:sp>
      <p:sp>
        <p:nvSpPr>
          <p:cNvPr id="41" name="Text 35"/>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09 · YOUR CHECKPOINTS</a:t>
            </a:r>
            <a:endParaRPr lang="en-US" sz="1200" dirty="0"/>
          </a:p>
        </p:txBody>
      </p:sp>
      <p:sp>
        <p:nvSpPr>
          <p:cNvPr id="4" name="Text 1"/>
          <p:cNvSpPr>
            <a:spLocks noGrp="1"/>
          </p:cNvSpPr>
          <p:nvPr>
            <p:ph type="title"/>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Five moments you can stop the attack</a:t>
            </a:r>
            <a:endParaRPr lang="en-US" sz="3600" dirty="0"/>
          </a:p>
        </p:txBody>
      </p:sp>
      <p:sp>
        <p:nvSpPr>
          <p:cNvPr id="5" name="Shape 2"/>
          <p:cNvSpPr/>
          <p:nvPr/>
        </p:nvSpPr>
        <p:spPr>
          <a:xfrm>
            <a:off x="812800" y="1569641"/>
            <a:ext cx="1991320" cy="2273697"/>
          </a:xfrm>
          <a:prstGeom prst="roundRect">
            <a:avLst>
              <a:gd name="adj" fmla="val 5102"/>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812800" y="1569641"/>
            <a:ext cx="1991320" cy="2273697"/>
          </a:xfrm>
          <a:custGeom>
            <a:avLst/>
            <a:gdLst/>
            <a:ahLst/>
            <a:cxnLst/>
            <a:rect l="l" t="t" r="r" b="b"/>
            <a:pathLst>
              <a:path w="1991320" h="2273697">
                <a:moveTo>
                  <a:pt x="0" y="101600"/>
                </a:moveTo>
                <a:lnTo>
                  <a:pt x="0" y="101600"/>
                </a:lnTo>
                <a:arcTo wR="101600" hR="101600" stAng="10800000" swAng="5400000"/>
                <a:lnTo>
                  <a:pt x="1889720" y="0"/>
                </a:lnTo>
                <a:arcTo wR="101600" hR="101600" stAng="16200000" swAng="5400000"/>
                <a:lnTo>
                  <a:pt x="199132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7" name="Shape 4"/>
          <p:cNvSpPr/>
          <p:nvPr/>
        </p:nvSpPr>
        <p:spPr>
          <a:xfrm>
            <a:off x="990600" y="1823641"/>
            <a:ext cx="457200" cy="457200"/>
          </a:xfrm>
          <a:prstGeom prst="roundRect">
            <a:avLst>
              <a:gd name="adj" fmla="val 50000"/>
            </a:avLst>
          </a:prstGeom>
          <a:solidFill>
            <a:srgbClr val="EAF3FC"/>
          </a:solidFill>
          <a:ln/>
        </p:spPr>
        <p:txBody>
          <a:bodyPr/>
          <a:lstStyle/>
          <a:p>
            <a:endParaRPr lang="en-JP"/>
          </a:p>
        </p:txBody>
      </p:sp>
      <p:pic>
        <p:nvPicPr>
          <p:cNvPr id="8" name="Image 1" descr="pointer icon"/>
          <p:cNvPicPr>
            <a:picLocks noChangeAspect="1"/>
          </p:cNvPicPr>
          <p:nvPr/>
        </p:nvPicPr>
        <p:blipFill>
          <a:blip r:embed="rId4"/>
          <a:srcRect/>
          <a:stretch/>
        </p:blipFill>
        <p:spPr>
          <a:xfrm>
            <a:off x="1104900" y="1937941"/>
            <a:ext cx="228600" cy="228600"/>
          </a:xfrm>
          <a:prstGeom prst="rect">
            <a:avLst/>
          </a:prstGeom>
        </p:spPr>
      </p:pic>
      <p:sp>
        <p:nvSpPr>
          <p:cNvPr id="9" name="Text 5"/>
          <p:cNvSpPr/>
          <p:nvPr/>
        </p:nvSpPr>
        <p:spPr>
          <a:xfrm>
            <a:off x="2434233" y="1874441"/>
            <a:ext cx="192088"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D6E2EE"/>
                </a:solidFill>
                <a:latin typeface="Arial" pitchFamily="34" charset="0"/>
                <a:ea typeface="Arial" pitchFamily="34" charset="-122"/>
                <a:cs typeface="Arial" pitchFamily="34" charset="-120"/>
              </a:rPr>
              <a:t>1</a:t>
            </a:r>
            <a:endParaRPr lang="en-US" sz="2000" dirty="0"/>
          </a:p>
        </p:txBody>
      </p:sp>
      <p:sp>
        <p:nvSpPr>
          <p:cNvPr id="10" name="Text 6"/>
          <p:cNvSpPr/>
          <p:nvPr/>
        </p:nvSpPr>
        <p:spPr>
          <a:xfrm>
            <a:off x="990600" y="2382441"/>
            <a:ext cx="16865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Before you click</a:t>
            </a:r>
            <a:endParaRPr lang="en-US" sz="1600" dirty="0"/>
          </a:p>
        </p:txBody>
      </p:sp>
      <p:sp>
        <p:nvSpPr>
          <p:cNvPr id="11" name="Text 7"/>
          <p:cNvSpPr/>
          <p:nvPr/>
        </p:nvSpPr>
        <p:spPr>
          <a:xfrm>
            <a:off x="990600" y="2727821"/>
            <a:ext cx="168652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Check the sender, the link and the pressure.</a:t>
            </a:r>
            <a:endParaRPr lang="en-US" sz="1300" dirty="0"/>
          </a:p>
        </p:txBody>
      </p:sp>
      <p:sp>
        <p:nvSpPr>
          <p:cNvPr id="12" name="Shape 8"/>
          <p:cNvSpPr/>
          <p:nvPr/>
        </p:nvSpPr>
        <p:spPr>
          <a:xfrm>
            <a:off x="2956520" y="1569641"/>
            <a:ext cx="1991420" cy="2273697"/>
          </a:xfrm>
          <a:prstGeom prst="roundRect">
            <a:avLst>
              <a:gd name="adj" fmla="val 5102"/>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3" name="Shape 9"/>
          <p:cNvSpPr/>
          <p:nvPr/>
        </p:nvSpPr>
        <p:spPr>
          <a:xfrm>
            <a:off x="2956520" y="1569641"/>
            <a:ext cx="1991420" cy="2273697"/>
          </a:xfrm>
          <a:custGeom>
            <a:avLst/>
            <a:gdLst/>
            <a:ahLst/>
            <a:cxnLst/>
            <a:rect l="l" t="t" r="r" b="b"/>
            <a:pathLst>
              <a:path w="1991420" h="2273697">
                <a:moveTo>
                  <a:pt x="0" y="101600"/>
                </a:moveTo>
                <a:lnTo>
                  <a:pt x="0" y="101600"/>
                </a:lnTo>
                <a:arcTo wR="101600" hR="101600" stAng="10800000" swAng="5400000"/>
                <a:lnTo>
                  <a:pt x="1889820" y="0"/>
                </a:lnTo>
                <a:arcTo wR="101600" hR="101600" stAng="16200000" swAng="5400000"/>
                <a:lnTo>
                  <a:pt x="199142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14" name="Shape 10"/>
          <p:cNvSpPr/>
          <p:nvPr/>
        </p:nvSpPr>
        <p:spPr>
          <a:xfrm>
            <a:off x="3134320" y="1823641"/>
            <a:ext cx="457200" cy="457200"/>
          </a:xfrm>
          <a:prstGeom prst="roundRect">
            <a:avLst>
              <a:gd name="adj" fmla="val 50000"/>
            </a:avLst>
          </a:prstGeom>
          <a:solidFill>
            <a:srgbClr val="EAF3FC"/>
          </a:solidFill>
          <a:ln/>
        </p:spPr>
        <p:txBody>
          <a:bodyPr/>
          <a:lstStyle/>
          <a:p>
            <a:endParaRPr lang="en-JP"/>
          </a:p>
        </p:txBody>
      </p:sp>
      <p:pic>
        <p:nvPicPr>
          <p:cNvPr id="15" name="Image 2" descr="terminal icon"/>
          <p:cNvPicPr>
            <a:picLocks noChangeAspect="1"/>
          </p:cNvPicPr>
          <p:nvPr/>
        </p:nvPicPr>
        <p:blipFill>
          <a:blip r:embed="rId5"/>
          <a:srcRect/>
          <a:stretch/>
        </p:blipFill>
        <p:spPr>
          <a:xfrm>
            <a:off x="3248620" y="1937941"/>
            <a:ext cx="228600" cy="228600"/>
          </a:xfrm>
          <a:prstGeom prst="rect">
            <a:avLst/>
          </a:prstGeom>
        </p:spPr>
      </p:pic>
      <p:sp>
        <p:nvSpPr>
          <p:cNvPr id="16" name="Text 11"/>
          <p:cNvSpPr/>
          <p:nvPr/>
        </p:nvSpPr>
        <p:spPr>
          <a:xfrm>
            <a:off x="4578052" y="1874441"/>
            <a:ext cx="192088"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D6E2EE"/>
                </a:solidFill>
                <a:latin typeface="Arial" pitchFamily="34" charset="0"/>
                <a:ea typeface="Arial" pitchFamily="34" charset="-122"/>
                <a:cs typeface="Arial" pitchFamily="34" charset="-120"/>
              </a:rPr>
              <a:t>2</a:t>
            </a:r>
            <a:endParaRPr lang="en-US" sz="2000" dirty="0"/>
          </a:p>
        </p:txBody>
      </p:sp>
      <p:sp>
        <p:nvSpPr>
          <p:cNvPr id="17" name="Text 12"/>
          <p:cNvSpPr/>
          <p:nvPr/>
        </p:nvSpPr>
        <p:spPr>
          <a:xfrm>
            <a:off x="3134320" y="2382441"/>
            <a:ext cx="16866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Before you run</a:t>
            </a:r>
            <a:endParaRPr lang="en-US" sz="1600" dirty="0"/>
          </a:p>
        </p:txBody>
      </p:sp>
      <p:sp>
        <p:nvSpPr>
          <p:cNvPr id="18" name="Text 13"/>
          <p:cNvSpPr/>
          <p:nvPr/>
        </p:nvSpPr>
        <p:spPr>
          <a:xfrm>
            <a:off x="3134320" y="2727821"/>
            <a:ext cx="168662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Never paste commands a website gives you.</a:t>
            </a:r>
            <a:endParaRPr lang="en-US" sz="1300" dirty="0"/>
          </a:p>
        </p:txBody>
      </p:sp>
      <p:sp>
        <p:nvSpPr>
          <p:cNvPr id="19" name="Shape 14"/>
          <p:cNvSpPr/>
          <p:nvPr/>
        </p:nvSpPr>
        <p:spPr>
          <a:xfrm>
            <a:off x="5100340" y="1569641"/>
            <a:ext cx="1991320" cy="2273697"/>
          </a:xfrm>
          <a:prstGeom prst="roundRect">
            <a:avLst>
              <a:gd name="adj" fmla="val 5102"/>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0" name="Shape 15"/>
          <p:cNvSpPr/>
          <p:nvPr/>
        </p:nvSpPr>
        <p:spPr>
          <a:xfrm>
            <a:off x="5100340" y="1569641"/>
            <a:ext cx="1991320" cy="2273697"/>
          </a:xfrm>
          <a:custGeom>
            <a:avLst/>
            <a:gdLst/>
            <a:ahLst/>
            <a:cxnLst/>
            <a:rect l="l" t="t" r="r" b="b"/>
            <a:pathLst>
              <a:path w="1991320" h="2273697">
                <a:moveTo>
                  <a:pt x="0" y="101600"/>
                </a:moveTo>
                <a:lnTo>
                  <a:pt x="0" y="101600"/>
                </a:lnTo>
                <a:arcTo wR="101600" hR="101600" stAng="10800000" swAng="5400000"/>
                <a:lnTo>
                  <a:pt x="1889720" y="0"/>
                </a:lnTo>
                <a:arcTo wR="101600" hR="101600" stAng="16200000" swAng="5400000"/>
                <a:lnTo>
                  <a:pt x="199132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21" name="Shape 16"/>
          <p:cNvSpPr/>
          <p:nvPr/>
        </p:nvSpPr>
        <p:spPr>
          <a:xfrm>
            <a:off x="5278140" y="1823641"/>
            <a:ext cx="457200" cy="457200"/>
          </a:xfrm>
          <a:prstGeom prst="roundRect">
            <a:avLst>
              <a:gd name="adj" fmla="val 50000"/>
            </a:avLst>
          </a:prstGeom>
          <a:solidFill>
            <a:srgbClr val="EAF3FC"/>
          </a:solidFill>
          <a:ln/>
        </p:spPr>
        <p:txBody>
          <a:bodyPr/>
          <a:lstStyle/>
          <a:p>
            <a:endParaRPr lang="en-JP"/>
          </a:p>
        </p:txBody>
      </p:sp>
      <p:pic>
        <p:nvPicPr>
          <p:cNvPr id="22" name="Image 3" descr="key icon"/>
          <p:cNvPicPr>
            <a:picLocks noChangeAspect="1"/>
          </p:cNvPicPr>
          <p:nvPr/>
        </p:nvPicPr>
        <p:blipFill>
          <a:blip r:embed="rId6"/>
          <a:srcRect/>
          <a:stretch/>
        </p:blipFill>
        <p:spPr>
          <a:xfrm>
            <a:off x="5392440" y="1937941"/>
            <a:ext cx="228600" cy="228600"/>
          </a:xfrm>
          <a:prstGeom prst="rect">
            <a:avLst/>
          </a:prstGeom>
        </p:spPr>
      </p:pic>
      <p:sp>
        <p:nvSpPr>
          <p:cNvPr id="23" name="Text 17"/>
          <p:cNvSpPr/>
          <p:nvPr/>
        </p:nvSpPr>
        <p:spPr>
          <a:xfrm>
            <a:off x="6721773" y="1874441"/>
            <a:ext cx="192088"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D6E2EE"/>
                </a:solidFill>
                <a:latin typeface="Arial" pitchFamily="34" charset="0"/>
                <a:ea typeface="Arial" pitchFamily="34" charset="-122"/>
                <a:cs typeface="Arial" pitchFamily="34" charset="-120"/>
              </a:rPr>
              <a:t>3</a:t>
            </a:r>
            <a:endParaRPr lang="en-US" sz="2000" dirty="0"/>
          </a:p>
        </p:txBody>
      </p:sp>
      <p:sp>
        <p:nvSpPr>
          <p:cNvPr id="24" name="Text 18"/>
          <p:cNvSpPr/>
          <p:nvPr/>
        </p:nvSpPr>
        <p:spPr>
          <a:xfrm>
            <a:off x="5278140" y="2382441"/>
            <a:ext cx="16865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Protect your logins</a:t>
            </a:r>
            <a:endParaRPr lang="en-US" sz="1600" dirty="0"/>
          </a:p>
        </p:txBody>
      </p:sp>
      <p:sp>
        <p:nvSpPr>
          <p:cNvPr id="25" name="Text 19"/>
          <p:cNvSpPr/>
          <p:nvPr/>
        </p:nvSpPr>
        <p:spPr>
          <a:xfrm>
            <a:off x="5278140" y="2971602"/>
            <a:ext cx="168652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MFA, a password manager, no browser-saved passwords.</a:t>
            </a:r>
            <a:endParaRPr lang="en-US" sz="1300" dirty="0"/>
          </a:p>
        </p:txBody>
      </p:sp>
      <p:sp>
        <p:nvSpPr>
          <p:cNvPr id="26" name="Shape 20"/>
          <p:cNvSpPr/>
          <p:nvPr/>
        </p:nvSpPr>
        <p:spPr>
          <a:xfrm>
            <a:off x="7244060" y="1569641"/>
            <a:ext cx="1991420" cy="2273697"/>
          </a:xfrm>
          <a:prstGeom prst="roundRect">
            <a:avLst>
              <a:gd name="adj" fmla="val 5102"/>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7" name="Shape 21"/>
          <p:cNvSpPr/>
          <p:nvPr/>
        </p:nvSpPr>
        <p:spPr>
          <a:xfrm>
            <a:off x="7244060" y="1569641"/>
            <a:ext cx="1991420" cy="2273697"/>
          </a:xfrm>
          <a:custGeom>
            <a:avLst/>
            <a:gdLst/>
            <a:ahLst/>
            <a:cxnLst/>
            <a:rect l="l" t="t" r="r" b="b"/>
            <a:pathLst>
              <a:path w="1991420" h="2273697">
                <a:moveTo>
                  <a:pt x="0" y="101600"/>
                </a:moveTo>
                <a:lnTo>
                  <a:pt x="0" y="101600"/>
                </a:lnTo>
                <a:arcTo wR="101600" hR="101600" stAng="10800000" swAng="5400000"/>
                <a:lnTo>
                  <a:pt x="1889820" y="0"/>
                </a:lnTo>
                <a:arcTo wR="101600" hR="101600" stAng="16200000" swAng="5400000"/>
                <a:lnTo>
                  <a:pt x="1991420" y="101600"/>
                </a:lnTo>
                <a:arcTo wR="101600" hR="50800" stAng="0" swAng="-5400000"/>
                <a:lnTo>
                  <a:pt x="101600" y="50800"/>
                </a:lnTo>
                <a:arcTo wR="101600" hR="50800" stAng="16200000" swAng="-5400000"/>
                <a:close/>
              </a:path>
            </a:pathLst>
          </a:custGeom>
          <a:solidFill>
            <a:srgbClr val="F7630C"/>
          </a:solidFill>
          <a:ln/>
        </p:spPr>
        <p:txBody>
          <a:bodyPr/>
          <a:lstStyle/>
          <a:p>
            <a:endParaRPr lang="en-JP"/>
          </a:p>
        </p:txBody>
      </p:sp>
      <p:sp>
        <p:nvSpPr>
          <p:cNvPr id="28" name="Shape 22"/>
          <p:cNvSpPr/>
          <p:nvPr/>
        </p:nvSpPr>
        <p:spPr>
          <a:xfrm>
            <a:off x="7421860" y="1823641"/>
            <a:ext cx="457200" cy="457200"/>
          </a:xfrm>
          <a:prstGeom prst="roundRect">
            <a:avLst>
              <a:gd name="adj" fmla="val 50000"/>
            </a:avLst>
          </a:prstGeom>
          <a:solidFill>
            <a:srgbClr val="FDEBDD"/>
          </a:solidFill>
          <a:ln/>
        </p:spPr>
        <p:txBody>
          <a:bodyPr/>
          <a:lstStyle/>
          <a:p>
            <a:endParaRPr lang="en-JP"/>
          </a:p>
        </p:txBody>
      </p:sp>
      <p:pic>
        <p:nvPicPr>
          <p:cNvPr id="29" name="Image 4" descr="megaphone icon"/>
          <p:cNvPicPr>
            <a:picLocks noChangeAspect="1"/>
          </p:cNvPicPr>
          <p:nvPr/>
        </p:nvPicPr>
        <p:blipFill>
          <a:blip r:embed="rId7"/>
          <a:srcRect/>
          <a:stretch/>
        </p:blipFill>
        <p:spPr>
          <a:xfrm>
            <a:off x="7536160" y="1937941"/>
            <a:ext cx="228600" cy="228600"/>
          </a:xfrm>
          <a:prstGeom prst="rect">
            <a:avLst/>
          </a:prstGeom>
        </p:spPr>
      </p:pic>
      <p:sp>
        <p:nvSpPr>
          <p:cNvPr id="30" name="Text 23"/>
          <p:cNvSpPr/>
          <p:nvPr/>
        </p:nvSpPr>
        <p:spPr>
          <a:xfrm>
            <a:off x="8865592" y="1874441"/>
            <a:ext cx="192088"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D6E2EE"/>
                </a:solidFill>
                <a:latin typeface="Arial" pitchFamily="34" charset="0"/>
                <a:ea typeface="Arial" pitchFamily="34" charset="-122"/>
                <a:cs typeface="Arial" pitchFamily="34" charset="-120"/>
              </a:rPr>
              <a:t>4</a:t>
            </a:r>
            <a:endParaRPr lang="en-US" sz="2000" dirty="0"/>
          </a:p>
        </p:txBody>
      </p:sp>
      <p:sp>
        <p:nvSpPr>
          <p:cNvPr id="31" name="Text 24"/>
          <p:cNvSpPr/>
          <p:nvPr/>
        </p:nvSpPr>
        <p:spPr>
          <a:xfrm>
            <a:off x="7421860" y="2382441"/>
            <a:ext cx="16866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Report in minutes</a:t>
            </a:r>
            <a:endParaRPr lang="en-US" sz="1600" dirty="0"/>
          </a:p>
        </p:txBody>
      </p:sp>
      <p:sp>
        <p:nvSpPr>
          <p:cNvPr id="32" name="Text 25"/>
          <p:cNvSpPr/>
          <p:nvPr/>
        </p:nvSpPr>
        <p:spPr>
          <a:xfrm>
            <a:off x="7421860" y="2971602"/>
            <a:ext cx="168662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Something strange? Call IT on [contact] now.</a:t>
            </a:r>
            <a:endParaRPr lang="en-US" sz="1300" dirty="0"/>
          </a:p>
        </p:txBody>
      </p:sp>
      <p:sp>
        <p:nvSpPr>
          <p:cNvPr id="33" name="Shape 26"/>
          <p:cNvSpPr/>
          <p:nvPr/>
        </p:nvSpPr>
        <p:spPr>
          <a:xfrm>
            <a:off x="9387880" y="1569641"/>
            <a:ext cx="1991320" cy="2273697"/>
          </a:xfrm>
          <a:prstGeom prst="roundRect">
            <a:avLst>
              <a:gd name="adj" fmla="val 5102"/>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34" name="Shape 27"/>
          <p:cNvSpPr/>
          <p:nvPr/>
        </p:nvSpPr>
        <p:spPr>
          <a:xfrm>
            <a:off x="9387880" y="1569641"/>
            <a:ext cx="1991320" cy="2273697"/>
          </a:xfrm>
          <a:custGeom>
            <a:avLst/>
            <a:gdLst/>
            <a:ahLst/>
            <a:cxnLst/>
            <a:rect l="l" t="t" r="r" b="b"/>
            <a:pathLst>
              <a:path w="1991320" h="2273697">
                <a:moveTo>
                  <a:pt x="0" y="101600"/>
                </a:moveTo>
                <a:lnTo>
                  <a:pt x="0" y="101600"/>
                </a:lnTo>
                <a:arcTo wR="101600" hR="101600" stAng="10800000" swAng="5400000"/>
                <a:lnTo>
                  <a:pt x="1889720" y="0"/>
                </a:lnTo>
                <a:arcTo wR="101600" hR="101600" stAng="16200000" swAng="5400000"/>
                <a:lnTo>
                  <a:pt x="199132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35" name="Shape 28"/>
          <p:cNvSpPr/>
          <p:nvPr/>
        </p:nvSpPr>
        <p:spPr>
          <a:xfrm>
            <a:off x="9565680" y="1823641"/>
            <a:ext cx="457200" cy="457200"/>
          </a:xfrm>
          <a:prstGeom prst="roundRect">
            <a:avLst>
              <a:gd name="adj" fmla="val 50000"/>
            </a:avLst>
          </a:prstGeom>
          <a:solidFill>
            <a:srgbClr val="EAF3FC"/>
          </a:solidFill>
          <a:ln/>
        </p:spPr>
        <p:txBody>
          <a:bodyPr/>
          <a:lstStyle/>
          <a:p>
            <a:endParaRPr lang="en-JP"/>
          </a:p>
        </p:txBody>
      </p:sp>
      <p:pic>
        <p:nvPicPr>
          <p:cNvPr id="36" name="Image 5" descr="refresh icon"/>
          <p:cNvPicPr>
            <a:picLocks noChangeAspect="1"/>
          </p:cNvPicPr>
          <p:nvPr/>
        </p:nvPicPr>
        <p:blipFill>
          <a:blip r:embed="rId8"/>
          <a:srcRect/>
          <a:stretch/>
        </p:blipFill>
        <p:spPr>
          <a:xfrm>
            <a:off x="9679980" y="1937941"/>
            <a:ext cx="228600" cy="228600"/>
          </a:xfrm>
          <a:prstGeom prst="rect">
            <a:avLst/>
          </a:prstGeom>
        </p:spPr>
      </p:pic>
      <p:sp>
        <p:nvSpPr>
          <p:cNvPr id="37" name="Text 29"/>
          <p:cNvSpPr/>
          <p:nvPr/>
        </p:nvSpPr>
        <p:spPr>
          <a:xfrm>
            <a:off x="11009313" y="1874441"/>
            <a:ext cx="192088" cy="381000"/>
          </a:xfrm>
          <a:prstGeom prst="rect">
            <a:avLst/>
          </a:prstGeom>
          <a:noFill/>
          <a:ln/>
        </p:spPr>
        <p:txBody>
          <a:bodyPr wrap="square" lIns="0" tIns="0" rIns="0" bIns="0" rtlCol="0" anchor="t">
            <a:normAutofit/>
          </a:bodyPr>
          <a:lstStyle/>
          <a:p>
            <a:pPr marL="0" indent="0" algn="r">
              <a:lnSpc>
                <a:spcPts val="2800"/>
              </a:lnSpc>
              <a:buNone/>
            </a:pPr>
            <a:r>
              <a:rPr lang="en-US" sz="2000" b="1" dirty="0">
                <a:solidFill>
                  <a:srgbClr val="D6E2EE"/>
                </a:solidFill>
                <a:latin typeface="Arial" pitchFamily="34" charset="0"/>
                <a:ea typeface="Arial" pitchFamily="34" charset="-122"/>
                <a:cs typeface="Arial" pitchFamily="34" charset="-120"/>
              </a:rPr>
              <a:t>5</a:t>
            </a:r>
            <a:endParaRPr lang="en-US" sz="2000" dirty="0"/>
          </a:p>
        </p:txBody>
      </p:sp>
      <p:sp>
        <p:nvSpPr>
          <p:cNvPr id="38" name="Text 30"/>
          <p:cNvSpPr/>
          <p:nvPr/>
        </p:nvSpPr>
        <p:spPr>
          <a:xfrm>
            <a:off x="9565680" y="2382441"/>
            <a:ext cx="16865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1F33"/>
                </a:solidFill>
                <a:latin typeface="Calibri" pitchFamily="34" charset="0"/>
                <a:ea typeface="Calibri" pitchFamily="34" charset="-122"/>
                <a:cs typeface="Calibri" pitchFamily="34" charset="-120"/>
              </a:rPr>
              <a:t>Keep it updated</a:t>
            </a:r>
            <a:endParaRPr lang="en-US" sz="1600" dirty="0"/>
          </a:p>
        </p:txBody>
      </p:sp>
      <p:sp>
        <p:nvSpPr>
          <p:cNvPr id="39" name="Text 31"/>
          <p:cNvSpPr/>
          <p:nvPr/>
        </p:nvSpPr>
        <p:spPr>
          <a:xfrm>
            <a:off x="9565680" y="2727821"/>
            <a:ext cx="168652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A6B"/>
                </a:solidFill>
                <a:latin typeface="Calibri" pitchFamily="34" charset="0"/>
                <a:ea typeface="Calibri" pitchFamily="34" charset="-122"/>
                <a:cs typeface="Calibri" pitchFamily="34" charset="-120"/>
              </a:rPr>
              <a:t>Updates and EDR slow attackers down.</a:t>
            </a:r>
            <a:endParaRPr lang="en-US" sz="1300" dirty="0"/>
          </a:p>
        </p:txBody>
      </p:sp>
      <p:sp>
        <p:nvSpPr>
          <p:cNvPr id="40" name="Shape 32"/>
          <p:cNvSpPr/>
          <p:nvPr/>
        </p:nvSpPr>
        <p:spPr>
          <a:xfrm>
            <a:off x="812800" y="4097338"/>
            <a:ext cx="10566400" cy="762000"/>
          </a:xfrm>
          <a:prstGeom prst="roundRect">
            <a:avLst>
              <a:gd name="adj" fmla="val 13333"/>
            </a:avLst>
          </a:prstGeom>
          <a:solidFill>
            <a:srgbClr val="0A1628"/>
          </a:solidFill>
          <a:ln/>
        </p:spPr>
        <p:txBody>
          <a:bodyPr/>
          <a:lstStyle/>
          <a:p>
            <a:endParaRPr lang="en-JP"/>
          </a:p>
        </p:txBody>
      </p:sp>
      <p:sp>
        <p:nvSpPr>
          <p:cNvPr id="41" name="Shape 33"/>
          <p:cNvSpPr/>
          <p:nvPr/>
        </p:nvSpPr>
        <p:spPr>
          <a:xfrm>
            <a:off x="1041400" y="4275138"/>
            <a:ext cx="406400" cy="406400"/>
          </a:xfrm>
          <a:prstGeom prst="roundRect">
            <a:avLst>
              <a:gd name="adj" fmla="val 50000"/>
            </a:avLst>
          </a:prstGeom>
          <a:solidFill>
            <a:srgbClr val="F7630C"/>
          </a:solidFill>
          <a:ln/>
        </p:spPr>
        <p:txBody>
          <a:bodyPr/>
          <a:lstStyle/>
          <a:p>
            <a:endParaRPr lang="en-JP"/>
          </a:p>
        </p:txBody>
      </p:sp>
      <p:pic>
        <p:nvPicPr>
          <p:cNvPr id="42" name="Image 6" descr="alert icon"/>
          <p:cNvPicPr>
            <a:picLocks noChangeAspect="1"/>
          </p:cNvPicPr>
          <p:nvPr/>
        </p:nvPicPr>
        <p:blipFill>
          <a:blip r:embed="rId9"/>
          <a:srcRect/>
          <a:stretch/>
        </p:blipFill>
        <p:spPr>
          <a:xfrm>
            <a:off x="1143000" y="4376738"/>
            <a:ext cx="203200" cy="203200"/>
          </a:xfrm>
          <a:prstGeom prst="rect">
            <a:avLst/>
          </a:prstGeom>
        </p:spPr>
      </p:pic>
      <p:sp>
        <p:nvSpPr>
          <p:cNvPr id="43" name="Text 34"/>
          <p:cNvSpPr/>
          <p:nvPr/>
        </p:nvSpPr>
        <p:spPr>
          <a:xfrm>
            <a:off x="1600200" y="4344988"/>
            <a:ext cx="983691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FFF"/>
                </a:solidFill>
                <a:latin typeface="Calibri" pitchFamily="34" charset="0"/>
                <a:ea typeface="Calibri" pitchFamily="34" charset="-122"/>
                <a:cs typeface="Calibri" pitchFamily="34" charset="-120"/>
              </a:rPr>
              <a:t>Clicked something already? </a:t>
            </a:r>
            <a:r>
              <a:rPr lang="en-US" sz="1500" b="1" dirty="0">
                <a:solidFill>
                  <a:srgbClr val="FF9A5C"/>
                </a:solidFill>
                <a:latin typeface="Calibri" pitchFamily="34" charset="0"/>
                <a:ea typeface="Calibri" pitchFamily="34" charset="-122"/>
                <a:cs typeface="Calibri" pitchFamily="34" charset="-120"/>
              </a:rPr>
              <a:t>Report it.</a:t>
            </a:r>
            <a:r>
              <a:rPr lang="en-US" sz="1500" dirty="0">
                <a:solidFill>
                  <a:srgbClr val="FFFFFF"/>
                </a:solidFill>
                <a:latin typeface="Calibri" pitchFamily="34" charset="0"/>
                <a:ea typeface="Calibri" pitchFamily="34" charset="-122"/>
                <a:cs typeface="Calibri" pitchFamily="34" charset="-120"/>
              </a:rPr>
              <a:t> You will never be blamed for reporting.</a:t>
            </a:r>
            <a:endParaRPr lang="en-US" sz="1500" dirty="0"/>
          </a:p>
        </p:txBody>
      </p:sp>
      <p:sp>
        <p:nvSpPr>
          <p:cNvPr id="44" name="Text 35"/>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 security guidance</a:t>
            </a:r>
            <a:endParaRPr lang="en-US" sz="1200" dirty="0"/>
          </a:p>
        </p:txBody>
      </p:sp>
      <p:sp>
        <p:nvSpPr>
          <p:cNvPr id="45" name="Text 36"/>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pic>
        <p:nvPicPr>
          <p:cNvPr id="3" name="Image 1" descr="rect"/>
          <p:cNvPicPr>
            <a:picLocks noChangeAspect="1"/>
          </p:cNvPicPr>
          <p:nvPr/>
        </p:nvPicPr>
        <p:blipFill>
          <a:blip r:embed="rId4"/>
          <a:srcRect/>
          <a:stretch/>
        </p:blipFill>
        <p:spPr>
          <a:xfrm>
            <a:off x="0" y="0"/>
            <a:ext cx="152400" cy="6858000"/>
          </a:xfrm>
          <a:prstGeom prst="rect">
            <a:avLst/>
          </a:prstGeom>
        </p:spPr>
      </p:pic>
      <p:pic>
        <p:nvPicPr>
          <p:cNvPr id="4" name="Image 2" descr="Clock showing the first minute highlighted"/>
          <p:cNvPicPr>
            <a:picLocks noChangeAspect="1"/>
          </p:cNvPicPr>
          <p:nvPr/>
        </p:nvPicPr>
        <p:blipFill>
          <a:blip r:embed="rId5"/>
          <a:srcRect/>
          <a:stretch/>
        </p:blipFill>
        <p:spPr>
          <a:xfrm>
            <a:off x="8001000" y="1524000"/>
            <a:ext cx="3556000" cy="3810000"/>
          </a:xfrm>
          <a:prstGeom prst="rect">
            <a:avLst/>
          </a:prstGeom>
        </p:spPr>
      </p:pic>
      <p:sp>
        <p:nvSpPr>
          <p:cNvPr id="5" name="Text 0"/>
          <p:cNvSpPr/>
          <p:nvPr/>
        </p:nvSpPr>
        <p:spPr>
          <a:xfrm>
            <a:off x="812800" y="1732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0B7C3"/>
                </a:solidFill>
                <a:latin typeface="Calibri" pitchFamily="34" charset="0"/>
                <a:ea typeface="Calibri" pitchFamily="34" charset="-122"/>
                <a:cs typeface="Calibri" pitchFamily="34" charset="-120"/>
              </a:rPr>
              <a:t>QUESTIONS AND DISCUSSION</a:t>
            </a:r>
            <a:endParaRPr lang="en-US" sz="1400" dirty="0"/>
          </a:p>
        </p:txBody>
      </p:sp>
      <p:sp>
        <p:nvSpPr>
          <p:cNvPr id="6" name="Text 1"/>
          <p:cNvSpPr>
            <a:spLocks noGrp="1"/>
          </p:cNvSpPr>
          <p:nvPr>
            <p:ph type="title"/>
          </p:nvPr>
        </p:nvSpPr>
        <p:spPr>
          <a:xfrm>
            <a:off x="812800" y="2235200"/>
            <a:ext cx="6932930"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FFFFF"/>
                </a:solidFill>
                <a:latin typeface="Arial" pitchFamily="34" charset="0"/>
                <a:ea typeface="Arial" pitchFamily="34" charset="-122"/>
                <a:cs typeface="Arial" pitchFamily="34" charset="-120"/>
              </a:rPr>
              <a:t>The first minute matters most.</a:t>
            </a:r>
            <a:endParaRPr lang="en-US" sz="5200" dirty="0"/>
          </a:p>
        </p:txBody>
      </p:sp>
      <p:sp>
        <p:nvSpPr>
          <p:cNvPr id="7" name="Text 2"/>
          <p:cNvSpPr/>
          <p:nvPr/>
        </p:nvSpPr>
        <p:spPr>
          <a:xfrm>
            <a:off x="812800" y="3875881"/>
            <a:ext cx="654050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ADCFC"/>
                </a:solidFill>
                <a:latin typeface="Calibri" pitchFamily="34" charset="0"/>
                <a:ea typeface="Calibri" pitchFamily="34" charset="-122"/>
                <a:cs typeface="Calibri" pitchFamily="34" charset="-120"/>
              </a:rPr>
              <a:t>Pause before you click. Report the moment it feels wrong.</a:t>
            </a:r>
            <a:endParaRPr lang="en-US" sz="2000" dirty="0"/>
          </a:p>
        </p:txBody>
      </p:sp>
      <p:sp>
        <p:nvSpPr>
          <p:cNvPr id="8" name="Text 3"/>
          <p:cNvSpPr/>
          <p:nvPr/>
        </p:nvSpPr>
        <p:spPr>
          <a:xfrm>
            <a:off x="812800" y="4841081"/>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ZNexora Tech</a:t>
            </a:r>
            <a:endParaRPr lang="en-US" sz="1600" dirty="0"/>
          </a:p>
        </p:txBody>
      </p:sp>
    </p:spTree>
  </p:cSld>
  <p:clrMapOvr>
    <a:masterClrMapping/>
  </p:clrMapOvr>
</p:sld>
</file>

<file path=ppt/theme/theme1.xml><?xml version="1.0" encoding="utf-8"?>
<a:theme xmlns:a="http://schemas.openxmlformats.org/drawingml/2006/main" name="What Happens After You Click?">
  <a:themeElements>
    <a:clrScheme name="What Happens After You Click?">
      <a:dk1>
        <a:srgbClr val="0B1F33"/>
      </a:dk1>
      <a:lt1>
        <a:srgbClr val="F4F7FB"/>
      </a:lt1>
      <a:dk2>
        <a:srgbClr val="455565"/>
      </a:dk2>
      <a:lt2>
        <a:srgbClr val="DDE1E7"/>
      </a:lt2>
      <a:accent1>
        <a:srgbClr val="0078D4"/>
      </a:accent1>
      <a:accent2>
        <a:srgbClr val="00B7C3"/>
      </a:accent2>
      <a:accent3>
        <a:srgbClr val="2F80D0"/>
      </a:accent3>
      <a:accent4>
        <a:srgbClr val="C24E06"/>
      </a:accent4>
      <a:accent5>
        <a:srgbClr val="CADCFC"/>
      </a:accent5>
      <a:accent6>
        <a:srgbClr val="F7630C"/>
      </a:accent6>
      <a:hlink>
        <a:srgbClr val="0563C1"/>
      </a:hlink>
      <a:folHlink>
        <a:srgbClr val="954F72"/>
      </a:folHlink>
    </a:clrScheme>
    <a:fontScheme name="What Happens After You Cli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2083</Words>
  <Application>Microsoft Macintosh PowerPoint</Application>
  <PresentationFormat>Widescreen</PresentationFormat>
  <Paragraphs>183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What Happens After You Click?</vt:lpstr>
      <vt:lpstr>What Happens After You Click?</vt:lpstr>
      <vt:lpstr>Monday, 9:00 AM. An ordinary inbox.</vt:lpstr>
      <vt:lpstr>From one click to a full breach</vt:lpstr>
      <vt:lpstr>The click and the trap</vt:lpstr>
      <vt:lpstr>Silent theft, then a quiet login</vt:lpstr>
      <vt:lpstr>Breakout: from one laptop to the network</vt:lpstr>
      <vt:lpstr>Steal, sabotage, then encrypt</vt:lpstr>
      <vt:lpstr>What that one click can cost</vt:lpstr>
      <vt:lpstr>The alternate ending</vt:lpstr>
      <vt:lpstr>Five moments you can stop the attack</vt:lpstr>
      <vt:lpstr>The first minute matters most.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Happens After You Click?</dc:title>
  <dc:subject/>
  <dc:creator/>
  <cp:lastModifiedBy>ZIN MAR LWIN</cp:lastModifiedBy>
  <cp:revision>1</cp:revision>
  <dcterms:created xsi:type="dcterms:W3CDTF">2026-10-16T13:50:09Z</dcterms:created>
  <dcterms:modified xsi:type="dcterms:W3CDTF">2026-10-16T14:48:53Z</dcterms:modified>
</cp:coreProperties>
</file>