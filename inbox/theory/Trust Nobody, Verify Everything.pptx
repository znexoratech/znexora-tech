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0:35] Good [morning/afternoon], everyone. I'm [Presenter] from ZNexora Tech. You may have heard the term Zero Trust and assumed it's something only IT needs to understand. Today I want to show you that it's actually a very simple idea, one you already use in everyday life, and that every one of us plays a part in making it work. Our title says it all: trust nobody, verify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 1:30] For decades, security worked like a castle with a moat. The firewall was the wall, and the network was the inside of the castle. If you were inside, at a desk in the office, connected to the company network, you were trusted. That made sense when everyone worked in one building. But it has three big problems today. First, once someone is inside, they're trusted almost everywhere, including an attacker. Second, one stolen key, a single username and password, can open the whole castle. And third, the walls have disappeared. We work from home, use cloud apps, and carry company data on our phones. Much of our work now happens outside the castle.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2:15] Why did security have to change? Look at how attacks happen today. CrowdStrike's 2026 Global Threat Report found that 82 percent of detections were malware-free. In other words, attackers aren't breaking down the walls; they're simply logging in with stolen usernames and passwords. Once inside, the average attacker spreads to other systems in just 29 minutes. And we work everywhere: at home, in the office, in cloud apps and on our phones. When attackers can log in like a normal employee, being 'inside the castle' can't be enough to trust someone.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 – 2:50] So here's the Zero Trust idea in one sentence: never trust, always verify. Every person, every device, every time. No one is trusted automatically just because they're in the office or on the company network. Every request to access something is checked. The term was coined back in 2010 by a Forrester analyst named John Kindervag, and today it's a formal security model defined by the US standards body NIST. But you don't need any of that to understand it, because you already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 – 3:50] Think about staying in a hotel. At check-in, you prove who you are at the desk. That's verifying your identity. Your key card opens your room, but not every room in the hotel. That's least privilege: you only get access to what you need. Your card stops working at checkout. That's time-limited access. And every swipe is logged, so if a card is used strangely, say on every door at 3 a.m., the hotel notices. That's continuous monitoring. Nobody finds this offensive. It doesn't mean the hotel thinks you're a criminal. It just means a lost key card can't open the whole building. Zero Trust is exactly the same idea, applied to our systems and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 – 4:50] Zero Trust comes down to three simple rules. One: verify explicitly. Before granting access, always check who you are, which device you're using and the situation, for example where you're signing in from. It's like the MFA code you enter when you sign in. Two: least privilege. Each person gets only the access they need for their job, only for as long as they need it. Like a key card for your room, not the whole hotel. Three: assume breach. We design our systems as if an attacker might already be inside, so that one problem can't spread everywhere. Like fire doors in a building: they don't stop a fire from starting, but they stop it from spreading.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 – 5:50] So what actually happens when you sign in to a system under Zero Trust? Behind the scenes, five quick checks happen, usually in under a second. Who are you? Your identity and MFA. Is your device healthy? Is it updated, encrypted and managed by the company? Where and when? Are you signing in from a usual location, at a usual time? What do you need? You only get the access your role requires. And is anything unusual? Your behaviour is monitored for anything out of place. If all checks pass, you're in, but only for now, because checks repeat. If something looks wrong, you might get an extra check like an MFA prompt, or be blocked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 – 6:50] So what will you actually notice in your working day? MFA prompts, especially when you sign in from a new place. Device checks that block unmanaged or outdated devices. Access to only what you need, rather than every shared folder. Requests to sign in again after a while, because sessions expire. Unapproved apps and USB drives being blocked. And alerts about unusual sign-ins that ask you to confirm it was really you. I know some of these can feel annoying. But they're not IT being difficult. Each one is a check that stops an attacker who has stolen a password from walking straight in. That's Zero Trust protecting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[6:50 – 7:40] Here's the difference side by side. Who is trusted? In the old model, anyone inside the network. With Zero Trust, no one by default. How often are you checked? The old way checks you once at the door; Zero Trust checks every request, continuously. How much access do you get? The old way often gave broad access to almost everything; Zero Trust gives only what you need. If a password is stolen, the old way lets the attacker walk in, while Zero Trust's MFA and device checks stop them. And if one device is infected, in the old model it can spread across the network, while Zero Trust contains it to a small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 – 8:40] Zero Trust isn't just technology. It only works if we all play our part. Here are six ways you make it work. One, the most important: approve only your own MFA prompts. If you get a prompt you didn't start, never accept it; that's an attacker with your password. Report it. Two: keep your devices updated, so they pass the health checks. Three: use approved apps only, not personal cloud storage or unknown tools. Four: ask only for the access you need, and give back access you no longer use. Five: lock your screen every time you step away. And six: report anything odd, whether it's a strange prompt, an alert, or access you shouldn't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[8:40 – 9:10] To wrap up: Zero Trust doesn't mean we don't trust our colleagues. It means trust is earned every time, through quick checks that keep a stolen password or one infected laptop from becoming a company-wide breach. Remember the hotel key card, and remember: never trust, always verify, and report anything odd. Thank you.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B1F33"/>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0B1F33"/>
                </a:solidFill>
                <a:latin typeface="Calibri" pitchFamily="34" charset="0"/>
                <a:ea typeface="Calibri" pitchFamily="34" charset="-122"/>
                <a:cs typeface="Calibri"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B1F33"/>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0B1F33"/>
                </a:solidFill>
                <a:latin typeface="Calibri" pitchFamily="34" charset="0"/>
                <a:ea typeface="Calibri" pitchFamily="34" charset="-122"/>
                <a:cs typeface="Calibri"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2.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2.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rect">    </p:cNvPr>
          <p:cNvPicPr>
            <a:picLocks noChangeAspect="1"/>
          </p:cNvPicPr>
          <p:nvPr/>
        </p:nvPicPr>
        <p:blipFill>
          <a:blip r:embed="rId2"/>
          <a:srcRect l="0" r="0" t="0" b="0"/>
          <a:stretch/>
        </p:blipFill>
        <p:spPr>
          <a:xfrm>
            <a:off x="0" y="0"/>
            <a:ext cx="152400" cy="6858000"/>
          </a:xfrm>
          <a:prstGeom prst="rect">
            <a:avLst/>
          </a:prstGeom>
        </p:spPr>
      </p:pic>
      <p:pic>
        <p:nvPicPr>
          <p:cNvPr id="4" name="Image 2" descr="A magnifying glass checking a person, a laptop and a cloud before granting access">    </p:cNvPr>
          <p:cNvPicPr>
            <a:picLocks noChangeAspect="1"/>
          </p:cNvPicPr>
          <p:nvPr/>
        </p:nvPicPr>
        <p:blipFill>
          <a:blip r:embed="rId3"/>
          <a:srcRect l="0" r="0" t="0" b="0"/>
          <a:stretch/>
        </p:blipFill>
        <p:spPr>
          <a:xfrm>
            <a:off x="7874000" y="1397000"/>
            <a:ext cx="3810000" cy="3810000"/>
          </a:xfrm>
          <a:prstGeom prst="rect">
            <a:avLst/>
          </a:prstGeom>
        </p:spPr>
      </p:pic>
      <p:sp>
        <p:nvSpPr>
          <p:cNvPr id="5" name="Text 0"/>
          <p:cNvSpPr/>
          <p:nvPr/>
        </p:nvSpPr>
        <p:spPr>
          <a:xfrm>
            <a:off x="812800" y="217943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0B7C3"/>
                </a:solidFill>
                <a:latin typeface="Calibri" pitchFamily="34" charset="0"/>
                <a:ea typeface="Calibri" pitchFamily="34" charset="-122"/>
                <a:cs typeface="Calibri" pitchFamily="34" charset="-120"/>
              </a:rPr>
              <a:t>ZNEXORA TECH | SECURITY AWARENESS</a:t>
            </a:r>
            <a:endParaRPr lang="en-US" sz="1400" dirty="0"/>
          </a:p>
        </p:txBody>
      </p:sp>
      <p:sp>
        <p:nvSpPr>
          <p:cNvPr id="6" name="Text 1"/>
          <p:cNvSpPr/>
          <p:nvPr>
            <p:ph type="title"/>
          </p:nvPr>
        </p:nvSpPr>
        <p:spPr>
          <a:xfrm>
            <a:off x="812800" y="2682280"/>
            <a:ext cx="7063740" cy="1412081"/>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FFFFF"/>
                </a:solidFill>
                <a:latin typeface="Arial" pitchFamily="34" charset="0"/>
                <a:ea typeface="Arial" pitchFamily="34" charset="-122"/>
                <a:cs typeface="Arial" pitchFamily="34" charset="-120"/>
              </a:rPr>
              <a:t>Trust Nobody, Verify Everything</a:t>
            </a:r>
            <a:endParaRPr lang="en-US" sz="5200" dirty="0"/>
          </a:p>
        </p:txBody>
      </p:sp>
      <p:sp>
        <p:nvSpPr>
          <p:cNvPr id="7" name="Text 2"/>
          <p:cNvSpPr/>
          <p:nvPr/>
        </p:nvSpPr>
        <p:spPr>
          <a:xfrm>
            <a:off x="812800" y="4322961"/>
            <a:ext cx="65405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ADCFC"/>
                </a:solidFill>
                <a:latin typeface="Calibri" pitchFamily="34" charset="0"/>
                <a:ea typeface="Calibri" pitchFamily="34" charset="-122"/>
                <a:cs typeface="Calibri" pitchFamily="34" charset="-120"/>
              </a:rPr>
              <a:t>Zero Trust explained simply, for everyone</a:t>
            </a:r>
            <a:endParaRPr lang="en-US" sz="2000" dirty="0"/>
          </a:p>
        </p:txBody>
      </p:sp>
      <p:sp>
        <p:nvSpPr>
          <p:cNvPr id="8"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alibri" pitchFamily="34" charset="0"/>
                <a:ea typeface="Calibri" pitchFamily="34" charset="-122"/>
                <a:cs typeface="Calibri" pitchFamily="34" charset="-120"/>
              </a:rPr>
              <a:t>Presented by: </a:t>
            </a:r>
            <a:r>
              <a:rPr lang="en-US" sz="1200" b="1" dirty="0">
                <a:solidFill>
                  <a:srgbClr val="FFFFFF"/>
                </a:solidFill>
                <a:latin typeface="Calibri" pitchFamily="34" charset="0"/>
                <a:ea typeface="Calibri" pitchFamily="34" charset="-122"/>
                <a:cs typeface="Calibri" pitchFamily="34" charset="-120"/>
              </a:rPr>
              <a:t>ZNexora Tech</a:t>
            </a:r>
            <a:r>
              <a:rPr lang="en-US" sz="1200" dirty="0">
                <a:solidFill>
                  <a:srgbClr val="9FB3C8"/>
                </a:solidFill>
                <a:latin typeface="Calibri" pitchFamily="34" charset="0"/>
                <a:ea typeface="Calibri" pitchFamily="34" charset="-122"/>
                <a:cs typeface="Calibri" pitchFamily="34" charset="-120"/>
              </a:rPr>
              <a:t> · [Presenter]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01 · THE OLD WAY</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Castle and moat security</a:t>
            </a:r>
            <a:endParaRPr lang="en-US" sz="3600" dirty="0"/>
          </a:p>
        </p:txBody>
      </p:sp>
      <p:pic>
        <p:nvPicPr>
          <p:cNvPr id="5" name="Image 1" descr="A castle with walls and a moat: once inside the gate, everyone is trusted">    </p:cNvPr>
          <p:cNvPicPr>
            <a:picLocks noChangeAspect="1"/>
          </p:cNvPicPr>
          <p:nvPr/>
        </p:nvPicPr>
        <p:blipFill>
          <a:blip r:embed="rId2"/>
          <a:srcRect l="0" r="0" t="0" b="0"/>
          <a:stretch/>
        </p:blipFill>
        <p:spPr>
          <a:xfrm>
            <a:off x="812800" y="1569641"/>
            <a:ext cx="4826000" cy="3556000"/>
          </a:xfrm>
          <a:prstGeom prst="rect">
            <a:avLst/>
          </a:prstGeom>
        </p:spPr>
      </p:pic>
      <p:sp>
        <p:nvSpPr>
          <p:cNvPr id="6" name="Shape 2"/>
          <p:cNvSpPr/>
          <p:nvPr/>
        </p:nvSpPr>
        <p:spPr>
          <a:xfrm>
            <a:off x="5943600" y="1936750"/>
            <a:ext cx="5435600" cy="781645"/>
          </a:xfrm>
          <a:prstGeom prst="roundRect">
            <a:avLst>
              <a:gd name="adj" fmla="val 12998"/>
            </a:avLst>
          </a:prstGeom>
          <a:solidFill>
            <a:srgbClr val="FFFFFF"/>
          </a:solidFill>
          <a:ln/>
          <a:effectLst>
            <a:outerShdw sx="100000" sy="100000" kx="0" ky="0" algn="bl" rotWithShape="0" blurRad="101600" dist="25400" dir="5400000">
              <a:srgbClr val="C9D6E3">
                <a:alpha val="100000"/>
              </a:srgbClr>
            </a:outerShdw>
          </a:effectLst>
        </p:spPr>
      </p:sp>
      <p:sp>
        <p:nvSpPr>
          <p:cNvPr id="7" name="Shape 3"/>
          <p:cNvSpPr/>
          <p:nvPr/>
        </p:nvSpPr>
        <p:spPr>
          <a:xfrm>
            <a:off x="6121400" y="2124373"/>
            <a:ext cx="406400" cy="406400"/>
          </a:xfrm>
          <a:prstGeom prst="roundRect">
            <a:avLst>
              <a:gd name="adj" fmla="val 50000"/>
            </a:avLst>
          </a:prstGeom>
          <a:solidFill>
            <a:srgbClr val="FDEBDD"/>
          </a:solidFill>
          <a:ln/>
        </p:spPr>
      </p:sp>
      <p:pic>
        <p:nvPicPr>
          <p:cNvPr id="8" name="Image 2" descr="door icon">    </p:cNvPr>
          <p:cNvPicPr>
            <a:picLocks noChangeAspect="1"/>
          </p:cNvPicPr>
          <p:nvPr/>
        </p:nvPicPr>
        <p:blipFill>
          <a:blip r:embed="rId3"/>
          <a:srcRect l="0" r="0" t="0" b="0"/>
          <a:stretch/>
        </p:blipFill>
        <p:spPr>
          <a:xfrm>
            <a:off x="6223000" y="2225973"/>
            <a:ext cx="203200" cy="203200"/>
          </a:xfrm>
          <a:prstGeom prst="rect">
            <a:avLst/>
          </a:prstGeom>
        </p:spPr>
      </p:pic>
      <p:sp>
        <p:nvSpPr>
          <p:cNvPr id="9" name="Text 4"/>
          <p:cNvSpPr/>
          <p:nvPr/>
        </p:nvSpPr>
        <p:spPr>
          <a:xfrm>
            <a:off x="6680200" y="2089150"/>
            <a:ext cx="46568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Once inside, trusted everywhere</a:t>
            </a:r>
            <a:endParaRPr lang="en-US" sz="1500" dirty="0"/>
          </a:p>
        </p:txBody>
      </p:sp>
      <p:sp>
        <p:nvSpPr>
          <p:cNvPr id="10" name="Text 5"/>
          <p:cNvSpPr/>
          <p:nvPr/>
        </p:nvSpPr>
        <p:spPr>
          <a:xfrm>
            <a:off x="6680200" y="2343150"/>
            <a:ext cx="465683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Anyone past the gate can reach almost anything.</a:t>
            </a:r>
            <a:endParaRPr lang="en-US" sz="1300" dirty="0"/>
          </a:p>
        </p:txBody>
      </p:sp>
      <p:sp>
        <p:nvSpPr>
          <p:cNvPr id="11" name="Shape 6"/>
          <p:cNvSpPr/>
          <p:nvPr/>
        </p:nvSpPr>
        <p:spPr>
          <a:xfrm>
            <a:off x="5943600" y="2845395"/>
            <a:ext cx="5435600" cy="781645"/>
          </a:xfrm>
          <a:prstGeom prst="roundRect">
            <a:avLst>
              <a:gd name="adj" fmla="val 12998"/>
            </a:avLst>
          </a:prstGeom>
          <a:solidFill>
            <a:srgbClr val="FFFFFF"/>
          </a:solidFill>
          <a:ln/>
          <a:effectLst>
            <a:outerShdw sx="100000" sy="100000" kx="0" ky="0" algn="bl" rotWithShape="0" blurRad="101600" dist="25400" dir="5400000">
              <a:srgbClr val="C9D6E3">
                <a:alpha val="100000"/>
              </a:srgbClr>
            </a:outerShdw>
          </a:effectLst>
        </p:spPr>
      </p:sp>
      <p:sp>
        <p:nvSpPr>
          <p:cNvPr id="12" name="Shape 7"/>
          <p:cNvSpPr/>
          <p:nvPr/>
        </p:nvSpPr>
        <p:spPr>
          <a:xfrm>
            <a:off x="6121400" y="3033018"/>
            <a:ext cx="406400" cy="406400"/>
          </a:xfrm>
          <a:prstGeom prst="roundRect">
            <a:avLst>
              <a:gd name="adj" fmla="val 50000"/>
            </a:avLst>
          </a:prstGeom>
          <a:solidFill>
            <a:srgbClr val="FDEBDD"/>
          </a:solidFill>
          <a:ln/>
        </p:spPr>
      </p:sp>
      <p:pic>
        <p:nvPicPr>
          <p:cNvPr id="13" name="Image 3" descr="key icon">    </p:cNvPr>
          <p:cNvPicPr>
            <a:picLocks noChangeAspect="1"/>
          </p:cNvPicPr>
          <p:nvPr/>
        </p:nvPicPr>
        <p:blipFill>
          <a:blip r:embed="rId4"/>
          <a:srcRect l="0" r="0" t="0" b="0"/>
          <a:stretch/>
        </p:blipFill>
        <p:spPr>
          <a:xfrm>
            <a:off x="6223000" y="3134618"/>
            <a:ext cx="203200" cy="203200"/>
          </a:xfrm>
          <a:prstGeom prst="rect">
            <a:avLst/>
          </a:prstGeom>
        </p:spPr>
      </p:pic>
      <p:sp>
        <p:nvSpPr>
          <p:cNvPr id="14" name="Text 8"/>
          <p:cNvSpPr/>
          <p:nvPr/>
        </p:nvSpPr>
        <p:spPr>
          <a:xfrm>
            <a:off x="6680200" y="2997795"/>
            <a:ext cx="46568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One stolen key opens the castle</a:t>
            </a:r>
            <a:endParaRPr lang="en-US" sz="1500" dirty="0"/>
          </a:p>
        </p:txBody>
      </p:sp>
      <p:sp>
        <p:nvSpPr>
          <p:cNvPr id="15" name="Text 9"/>
          <p:cNvSpPr/>
          <p:nvPr/>
        </p:nvSpPr>
        <p:spPr>
          <a:xfrm>
            <a:off x="6680200" y="3251795"/>
            <a:ext cx="465683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A single stolen login lets attackers walk straight in.</a:t>
            </a:r>
            <a:endParaRPr lang="en-US" sz="1300" dirty="0"/>
          </a:p>
        </p:txBody>
      </p:sp>
      <p:sp>
        <p:nvSpPr>
          <p:cNvPr id="16" name="Shape 10"/>
          <p:cNvSpPr/>
          <p:nvPr/>
        </p:nvSpPr>
        <p:spPr>
          <a:xfrm>
            <a:off x="5943600" y="3754041"/>
            <a:ext cx="5435600" cy="1004491"/>
          </a:xfrm>
          <a:prstGeom prst="roundRect">
            <a:avLst>
              <a:gd name="adj" fmla="val 10115"/>
            </a:avLst>
          </a:prstGeom>
          <a:solidFill>
            <a:srgbClr val="FFFFFF"/>
          </a:solidFill>
          <a:ln/>
          <a:effectLst>
            <a:outerShdw sx="100000" sy="100000" kx="0" ky="0" algn="bl" rotWithShape="0" blurRad="101600" dist="25400" dir="5400000">
              <a:srgbClr val="C9D6E3">
                <a:alpha val="100000"/>
              </a:srgbClr>
            </a:outerShdw>
          </a:effectLst>
        </p:spPr>
      </p:sp>
      <p:sp>
        <p:nvSpPr>
          <p:cNvPr id="17" name="Shape 11"/>
          <p:cNvSpPr/>
          <p:nvPr/>
        </p:nvSpPr>
        <p:spPr>
          <a:xfrm>
            <a:off x="6121400" y="4053086"/>
            <a:ext cx="406400" cy="406400"/>
          </a:xfrm>
          <a:prstGeom prst="roundRect">
            <a:avLst>
              <a:gd name="adj" fmla="val 50000"/>
            </a:avLst>
          </a:prstGeom>
          <a:solidFill>
            <a:srgbClr val="FDEBDD"/>
          </a:solidFill>
          <a:ln/>
        </p:spPr>
      </p:sp>
      <p:pic>
        <p:nvPicPr>
          <p:cNvPr id="18" name="Image 4" descr="cloud icon">    </p:cNvPr>
          <p:cNvPicPr>
            <a:picLocks noChangeAspect="1"/>
          </p:cNvPicPr>
          <p:nvPr/>
        </p:nvPicPr>
        <p:blipFill>
          <a:blip r:embed="rId5"/>
          <a:srcRect l="0" r="0" t="0" b="0"/>
          <a:stretch/>
        </p:blipFill>
        <p:spPr>
          <a:xfrm>
            <a:off x="6223000" y="4154686"/>
            <a:ext cx="203200" cy="203200"/>
          </a:xfrm>
          <a:prstGeom prst="rect">
            <a:avLst/>
          </a:prstGeom>
        </p:spPr>
      </p:pic>
      <p:sp>
        <p:nvSpPr>
          <p:cNvPr id="19" name="Text 12"/>
          <p:cNvSpPr/>
          <p:nvPr/>
        </p:nvSpPr>
        <p:spPr>
          <a:xfrm>
            <a:off x="6680200" y="3906441"/>
            <a:ext cx="46568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The walls have disappeared</a:t>
            </a:r>
            <a:endParaRPr lang="en-US" sz="1500" dirty="0"/>
          </a:p>
        </p:txBody>
      </p:sp>
      <p:sp>
        <p:nvSpPr>
          <p:cNvPr id="20" name="Text 13"/>
          <p:cNvSpPr/>
          <p:nvPr/>
        </p:nvSpPr>
        <p:spPr>
          <a:xfrm>
            <a:off x="6680200" y="4160441"/>
            <a:ext cx="465683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A6B"/>
                </a:solidFill>
                <a:latin typeface="Calibri" pitchFamily="34" charset="0"/>
                <a:ea typeface="Calibri" pitchFamily="34" charset="-122"/>
                <a:cs typeface="Calibri" pitchFamily="34" charset="-120"/>
              </a:rPr>
              <a:t>Home working, cloud apps and phones live outside the castle.</a:t>
            </a:r>
            <a:endParaRPr lang="en-US" sz="1300" dirty="0"/>
          </a:p>
        </p:txBody>
      </p:sp>
      <p:sp>
        <p:nvSpPr>
          <p:cNvPr id="21" name="Text 1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Traditional perimeter security</a:t>
            </a:r>
            <a:endParaRPr lang="en-US" sz="1200" dirty="0"/>
          </a:p>
        </p:txBody>
      </p:sp>
      <p:sp>
        <p:nvSpPr>
          <p:cNvPr id="22" name="Text 15"/>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B7C3"/>
                </a:solidFill>
                <a:latin typeface="Calibri" pitchFamily="34" charset="0"/>
                <a:ea typeface="Calibri" pitchFamily="34" charset="-122"/>
                <a:cs typeface="Calibri" pitchFamily="34" charset="-120"/>
              </a:rPr>
              <a:t>02 · WHY IT HAD TO CHANGE</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FFFF"/>
                </a:solidFill>
                <a:latin typeface="Arial" pitchFamily="34" charset="0"/>
                <a:ea typeface="Arial" pitchFamily="34" charset="-122"/>
                <a:cs typeface="Arial" pitchFamily="34" charset="-120"/>
              </a:rPr>
              <a:t>Attackers don't break in. They log in.</a:t>
            </a:r>
            <a:endParaRPr lang="en-US" sz="3600" dirty="0"/>
          </a:p>
        </p:txBody>
      </p:sp>
      <p:sp>
        <p:nvSpPr>
          <p:cNvPr id="5" name="Shape 2"/>
          <p:cNvSpPr/>
          <p:nvPr/>
        </p:nvSpPr>
        <p:spPr>
          <a:xfrm>
            <a:off x="812800" y="1569641"/>
            <a:ext cx="3403600" cy="2808883"/>
          </a:xfrm>
          <a:prstGeom prst="roundRect">
            <a:avLst>
              <a:gd name="adj" fmla="val 4521"/>
            </a:avLst>
          </a:prstGeom>
          <a:solidFill>
            <a:srgbClr val="13294B"/>
          </a:solidFill>
          <a:ln/>
        </p:spPr>
      </p:sp>
      <p:sp>
        <p:nvSpPr>
          <p:cNvPr id="6" name="Shape 3"/>
          <p:cNvSpPr/>
          <p:nvPr/>
        </p:nvSpPr>
        <p:spPr>
          <a:xfrm>
            <a:off x="1041400" y="1823641"/>
            <a:ext cx="457200" cy="457200"/>
          </a:xfrm>
          <a:prstGeom prst="roundRect">
            <a:avLst>
              <a:gd name="adj" fmla="val 50000"/>
            </a:avLst>
          </a:prstGeom>
          <a:solidFill>
            <a:srgbClr val="F7630C"/>
          </a:solidFill>
          <a:ln/>
        </p:spPr>
      </p:sp>
      <p:pic>
        <p:nvPicPr>
          <p:cNvPr id="7" name="Image 1" descr="key icon">    </p:cNvPr>
          <p:cNvPicPr>
            <a:picLocks noChangeAspect="1"/>
          </p:cNvPicPr>
          <p:nvPr/>
        </p:nvPicPr>
        <p:blipFill>
          <a:blip r:embed="rId2"/>
          <a:srcRect l="0" r="0" t="0" b="0"/>
          <a:stretch/>
        </p:blipFill>
        <p:spPr>
          <a:xfrm>
            <a:off x="1155700" y="1937941"/>
            <a:ext cx="228600" cy="228600"/>
          </a:xfrm>
          <a:prstGeom prst="rect">
            <a:avLst/>
          </a:prstGeom>
        </p:spPr>
      </p:pic>
      <p:sp>
        <p:nvSpPr>
          <p:cNvPr id="8" name="Text 4"/>
          <p:cNvSpPr/>
          <p:nvPr/>
        </p:nvSpPr>
        <p:spPr>
          <a:xfrm>
            <a:off x="1041400" y="2407841"/>
            <a:ext cx="303479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FFFF"/>
                </a:solidFill>
                <a:latin typeface="Arial" pitchFamily="34" charset="0"/>
                <a:ea typeface="Arial" pitchFamily="34" charset="-122"/>
                <a:cs typeface="Arial" pitchFamily="34" charset="-120"/>
              </a:rPr>
              <a:t>82%</a:t>
            </a:r>
            <a:endParaRPr lang="en-US" sz="3600" dirty="0"/>
          </a:p>
        </p:txBody>
      </p:sp>
      <p:sp>
        <p:nvSpPr>
          <p:cNvPr id="9" name="Text 5"/>
          <p:cNvSpPr/>
          <p:nvPr/>
        </p:nvSpPr>
        <p:spPr>
          <a:xfrm>
            <a:off x="1041400" y="3037681"/>
            <a:ext cx="303479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ADCFC"/>
                </a:solidFill>
                <a:latin typeface="Calibri" pitchFamily="34" charset="0"/>
                <a:ea typeface="Calibri" pitchFamily="34" charset="-122"/>
                <a:cs typeface="Calibri" pitchFamily="34" charset="-120"/>
              </a:rPr>
              <a:t>of detections were malware-free: attackers log in with stolen credentials instead of breaking in</a:t>
            </a:r>
            <a:endParaRPr lang="en-US" sz="1400" dirty="0"/>
          </a:p>
        </p:txBody>
      </p:sp>
      <p:sp>
        <p:nvSpPr>
          <p:cNvPr id="10" name="Text 6"/>
          <p:cNvSpPr/>
          <p:nvPr/>
        </p:nvSpPr>
        <p:spPr>
          <a:xfrm>
            <a:off x="1041400" y="3911203"/>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B7C3"/>
                </a:solidFill>
                <a:latin typeface="Calibri" pitchFamily="34" charset="0"/>
                <a:ea typeface="Calibri" pitchFamily="34" charset="-122"/>
                <a:cs typeface="Calibri" pitchFamily="34" charset="-120"/>
              </a:rPr>
              <a:t>CrowdStrike 2026</a:t>
            </a:r>
            <a:endParaRPr lang="en-US" sz="1200" dirty="0"/>
          </a:p>
        </p:txBody>
      </p:sp>
      <p:sp>
        <p:nvSpPr>
          <p:cNvPr id="11" name="Shape 7"/>
          <p:cNvSpPr/>
          <p:nvPr/>
        </p:nvSpPr>
        <p:spPr>
          <a:xfrm>
            <a:off x="4394200" y="1569641"/>
            <a:ext cx="3403600" cy="2808883"/>
          </a:xfrm>
          <a:prstGeom prst="roundRect">
            <a:avLst>
              <a:gd name="adj" fmla="val 4521"/>
            </a:avLst>
          </a:prstGeom>
          <a:solidFill>
            <a:srgbClr val="13294B"/>
          </a:solidFill>
          <a:ln/>
        </p:spPr>
      </p:sp>
      <p:sp>
        <p:nvSpPr>
          <p:cNvPr id="12" name="Shape 8"/>
          <p:cNvSpPr/>
          <p:nvPr/>
        </p:nvSpPr>
        <p:spPr>
          <a:xfrm>
            <a:off x="4622800" y="1823641"/>
            <a:ext cx="457200" cy="457200"/>
          </a:xfrm>
          <a:prstGeom prst="roundRect">
            <a:avLst>
              <a:gd name="adj" fmla="val 50000"/>
            </a:avLst>
          </a:prstGeom>
          <a:solidFill>
            <a:srgbClr val="F7630C"/>
          </a:solidFill>
          <a:ln/>
        </p:spPr>
      </p:sp>
      <p:pic>
        <p:nvPicPr>
          <p:cNvPr id="13" name="Image 2" descr="clock icon">    </p:cNvPr>
          <p:cNvPicPr>
            <a:picLocks noChangeAspect="1"/>
          </p:cNvPicPr>
          <p:nvPr/>
        </p:nvPicPr>
        <p:blipFill>
          <a:blip r:embed="rId3"/>
          <a:srcRect l="0" r="0" t="0" b="0"/>
          <a:stretch/>
        </p:blipFill>
        <p:spPr>
          <a:xfrm>
            <a:off x="4737100" y="1937941"/>
            <a:ext cx="228600" cy="228600"/>
          </a:xfrm>
          <a:prstGeom prst="rect">
            <a:avLst/>
          </a:prstGeom>
        </p:spPr>
      </p:pic>
      <p:sp>
        <p:nvSpPr>
          <p:cNvPr id="14" name="Text 9"/>
          <p:cNvSpPr/>
          <p:nvPr/>
        </p:nvSpPr>
        <p:spPr>
          <a:xfrm>
            <a:off x="4622800" y="2407841"/>
            <a:ext cx="303479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FFFF"/>
                </a:solidFill>
                <a:latin typeface="Arial" pitchFamily="34" charset="0"/>
                <a:ea typeface="Arial" pitchFamily="34" charset="-122"/>
                <a:cs typeface="Arial" pitchFamily="34" charset="-120"/>
              </a:rPr>
              <a:t>29 min</a:t>
            </a:r>
            <a:endParaRPr lang="en-US" sz="3600" dirty="0"/>
          </a:p>
        </p:txBody>
      </p:sp>
      <p:sp>
        <p:nvSpPr>
          <p:cNvPr id="15" name="Text 10"/>
          <p:cNvSpPr/>
          <p:nvPr/>
        </p:nvSpPr>
        <p:spPr>
          <a:xfrm>
            <a:off x="4622800" y="3037681"/>
            <a:ext cx="30347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ADCFC"/>
                </a:solidFill>
                <a:latin typeface="Calibri" pitchFamily="34" charset="0"/>
                <a:ea typeface="Calibri" pitchFamily="34" charset="-122"/>
                <a:cs typeface="Calibri" pitchFamily="34" charset="-120"/>
              </a:rPr>
              <a:t>average time for an attacker to spread once inside</a:t>
            </a:r>
            <a:endParaRPr lang="en-US" sz="1400" dirty="0"/>
          </a:p>
        </p:txBody>
      </p:sp>
      <p:sp>
        <p:nvSpPr>
          <p:cNvPr id="16" name="Text 11"/>
          <p:cNvSpPr/>
          <p:nvPr/>
        </p:nvSpPr>
        <p:spPr>
          <a:xfrm>
            <a:off x="4622800" y="3662362"/>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B7C3"/>
                </a:solidFill>
                <a:latin typeface="Calibri" pitchFamily="34" charset="0"/>
                <a:ea typeface="Calibri" pitchFamily="34" charset="-122"/>
                <a:cs typeface="Calibri" pitchFamily="34" charset="-120"/>
              </a:rPr>
              <a:t>CrowdStrike 2026</a:t>
            </a:r>
            <a:endParaRPr lang="en-US" sz="1200" dirty="0"/>
          </a:p>
        </p:txBody>
      </p:sp>
      <p:sp>
        <p:nvSpPr>
          <p:cNvPr id="17" name="Shape 12"/>
          <p:cNvSpPr/>
          <p:nvPr/>
        </p:nvSpPr>
        <p:spPr>
          <a:xfrm>
            <a:off x="7975600" y="1569641"/>
            <a:ext cx="3403600" cy="2808883"/>
          </a:xfrm>
          <a:prstGeom prst="roundRect">
            <a:avLst>
              <a:gd name="adj" fmla="val 4521"/>
            </a:avLst>
          </a:prstGeom>
          <a:solidFill>
            <a:srgbClr val="13294B"/>
          </a:solidFill>
          <a:ln/>
        </p:spPr>
      </p:sp>
      <p:sp>
        <p:nvSpPr>
          <p:cNvPr id="18" name="Shape 13"/>
          <p:cNvSpPr/>
          <p:nvPr/>
        </p:nvSpPr>
        <p:spPr>
          <a:xfrm>
            <a:off x="8204200" y="1823641"/>
            <a:ext cx="457200" cy="457200"/>
          </a:xfrm>
          <a:prstGeom prst="roundRect">
            <a:avLst>
              <a:gd name="adj" fmla="val 50000"/>
            </a:avLst>
          </a:prstGeom>
          <a:solidFill>
            <a:srgbClr val="00B7C3"/>
          </a:solidFill>
          <a:ln/>
        </p:spPr>
      </p:sp>
      <p:pic>
        <p:nvPicPr>
          <p:cNvPr id="19" name="Image 3" descr="home icon">    </p:cNvPr>
          <p:cNvPicPr>
            <a:picLocks noChangeAspect="1"/>
          </p:cNvPicPr>
          <p:nvPr/>
        </p:nvPicPr>
        <p:blipFill>
          <a:blip r:embed="rId4"/>
          <a:srcRect l="0" r="0" t="0" b="0"/>
          <a:stretch/>
        </p:blipFill>
        <p:spPr>
          <a:xfrm>
            <a:off x="8318500" y="1937941"/>
            <a:ext cx="228600" cy="228600"/>
          </a:xfrm>
          <a:prstGeom prst="rect">
            <a:avLst/>
          </a:prstGeom>
        </p:spPr>
      </p:pic>
      <p:sp>
        <p:nvSpPr>
          <p:cNvPr id="20" name="Text 14"/>
          <p:cNvSpPr/>
          <p:nvPr/>
        </p:nvSpPr>
        <p:spPr>
          <a:xfrm>
            <a:off x="8204200" y="2407841"/>
            <a:ext cx="303479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FFFF"/>
                </a:solidFill>
                <a:latin typeface="Arial" pitchFamily="34" charset="0"/>
                <a:ea typeface="Arial" pitchFamily="34" charset="-122"/>
                <a:cs typeface="Arial" pitchFamily="34" charset="-120"/>
              </a:rPr>
              <a:t>Everywhere</a:t>
            </a:r>
            <a:endParaRPr lang="en-US" sz="3600" dirty="0"/>
          </a:p>
        </p:txBody>
      </p:sp>
      <p:sp>
        <p:nvSpPr>
          <p:cNvPr id="21" name="Text 15"/>
          <p:cNvSpPr/>
          <p:nvPr/>
        </p:nvSpPr>
        <p:spPr>
          <a:xfrm>
            <a:off x="8204200" y="3037681"/>
            <a:ext cx="30347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ADCFC"/>
                </a:solidFill>
                <a:latin typeface="Calibri" pitchFamily="34" charset="0"/>
                <a:ea typeface="Calibri" pitchFamily="34" charset="-122"/>
                <a:cs typeface="Calibri" pitchFamily="34" charset="-120"/>
              </a:rPr>
              <a:t>we now work: home, office, cloud apps and mobile phones</a:t>
            </a:r>
            <a:endParaRPr lang="en-US" sz="1400" dirty="0"/>
          </a:p>
        </p:txBody>
      </p:sp>
      <p:sp>
        <p:nvSpPr>
          <p:cNvPr id="22" name="Text 1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alibri" pitchFamily="34" charset="0"/>
                <a:ea typeface="Calibri" pitchFamily="34" charset="-122"/>
                <a:cs typeface="Calibri" pitchFamily="34" charset="-120"/>
              </a:rPr>
              <a:t>Source: CrowdStrike 2026 Global Threat Report</a:t>
            </a:r>
            <a:endParaRPr lang="en-US" sz="1200" dirty="0"/>
          </a:p>
        </p:txBody>
      </p:sp>
      <p:sp>
        <p:nvSpPr>
          <p:cNvPr id="23" name="Text 17"/>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3C8"/>
                </a:solidFill>
                <a:latin typeface="Calibri" pitchFamily="34" charset="0"/>
                <a:ea typeface="Calibri" pitchFamily="34" charset="-122"/>
                <a:cs typeface="Calibri" pitchFamily="34" charset="-120"/>
              </a:rPr>
              <a:t>ZNexora Tech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78D4"/>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A key card unlocking a single door">    </p:cNvPr>
          <p:cNvPicPr>
            <a:picLocks noChangeAspect="1"/>
          </p:cNvPicPr>
          <p:nvPr/>
        </p:nvPicPr>
        <p:blipFill>
          <a:blip r:embed="rId2"/>
          <a:srcRect l="0" r="0" t="0" b="0"/>
          <a:stretch/>
        </p:blipFill>
        <p:spPr>
          <a:xfrm>
            <a:off x="8255000" y="1524000"/>
            <a:ext cx="3302000" cy="3810000"/>
          </a:xfrm>
          <a:prstGeom prst="rect">
            <a:avLst/>
          </a:prstGeom>
        </p:spPr>
      </p:pic>
      <p:sp>
        <p:nvSpPr>
          <p:cNvPr id="4" name="Text 0"/>
          <p:cNvSpPr/>
          <p:nvPr/>
        </p:nvSpPr>
        <p:spPr>
          <a:xfrm>
            <a:off x="812800" y="1449487"/>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FFFFF"/>
                </a:solidFill>
                <a:latin typeface="Calibri" pitchFamily="34" charset="0"/>
                <a:ea typeface="Calibri" pitchFamily="34" charset="-122"/>
                <a:cs typeface="Calibri" pitchFamily="34" charset="-120"/>
              </a:rPr>
              <a:t>THE ZERO TRUST IDEA</a:t>
            </a:r>
            <a:endParaRPr lang="en-US" sz="1400" dirty="0"/>
          </a:p>
        </p:txBody>
      </p:sp>
      <p:sp>
        <p:nvSpPr>
          <p:cNvPr id="5" name="Text 1"/>
          <p:cNvSpPr/>
          <p:nvPr>
            <p:ph type="title"/>
          </p:nvPr>
        </p:nvSpPr>
        <p:spPr>
          <a:xfrm>
            <a:off x="812800" y="1952327"/>
            <a:ext cx="7194550" cy="2658666"/>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FFFFF"/>
                </a:solidFill>
                <a:latin typeface="Arial" pitchFamily="34" charset="0"/>
                <a:ea typeface="Arial" pitchFamily="34" charset="-122"/>
                <a:cs typeface="Arial" pitchFamily="34" charset="-120"/>
              </a:rPr>
              <a:t>Never trust. Always verify. Every person, every device, every time.</a:t>
            </a:r>
            <a:endParaRPr lang="en-US" sz="4800" dirty="0"/>
          </a:p>
        </p:txBody>
      </p:sp>
      <p:sp>
        <p:nvSpPr>
          <p:cNvPr id="6" name="Text 2"/>
          <p:cNvSpPr/>
          <p:nvPr/>
        </p:nvSpPr>
        <p:spPr>
          <a:xfrm>
            <a:off x="812800" y="4839593"/>
            <a:ext cx="693293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BFA"/>
                </a:solidFill>
                <a:latin typeface="Calibri" pitchFamily="34" charset="0"/>
                <a:ea typeface="Calibri" pitchFamily="34" charset="-122"/>
                <a:cs typeface="Calibri" pitchFamily="34" charset="-120"/>
              </a:rPr>
              <a:t>The term was coined in 2010 by Forrester analyst John Kindervag, and is now defined in NIST standard SP 800-207.</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03 · YOU ALREADY USE IT</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Zero Trust is a hotel key card</a:t>
            </a:r>
            <a:endParaRPr lang="en-US" sz="3600" dirty="0"/>
          </a:p>
        </p:txBody>
      </p:sp>
      <p:pic>
        <p:nvPicPr>
          <p:cNvPr id="5" name="Image 1" descr="Hotel corridor where a key card opens only room 204">    </p:cNvPr>
          <p:cNvPicPr>
            <a:picLocks noChangeAspect="1"/>
          </p:cNvPicPr>
          <p:nvPr/>
        </p:nvPicPr>
        <p:blipFill>
          <a:blip r:embed="rId2"/>
          <a:srcRect l="0" r="0" t="0" b="0"/>
          <a:stretch/>
        </p:blipFill>
        <p:spPr>
          <a:xfrm>
            <a:off x="812800" y="1569641"/>
            <a:ext cx="4445000" cy="3556000"/>
          </a:xfrm>
          <a:prstGeom prst="rect">
            <a:avLst/>
          </a:prstGeom>
        </p:spPr>
      </p:pic>
      <p:sp>
        <p:nvSpPr>
          <p:cNvPr id="6" name="Shape 2"/>
          <p:cNvSpPr/>
          <p:nvPr/>
        </p:nvSpPr>
        <p:spPr>
          <a:xfrm>
            <a:off x="5562600" y="1808559"/>
            <a:ext cx="5816600" cy="693341"/>
          </a:xfrm>
          <a:prstGeom prst="roundRect">
            <a:avLst>
              <a:gd name="adj" fmla="val 14654"/>
            </a:avLst>
          </a:prstGeom>
          <a:solidFill>
            <a:srgbClr val="FFFFFF"/>
          </a:solidFill>
          <a:ln/>
          <a:effectLst>
            <a:outerShdw sx="100000" sy="100000" kx="0" ky="0" algn="bl" rotWithShape="0" blurRad="101600" dist="25400" dir="5400000">
              <a:srgbClr val="C9D6E3">
                <a:alpha val="100000"/>
              </a:srgbClr>
            </a:outerShdw>
          </a:effectLst>
        </p:spPr>
      </p:sp>
      <p:sp>
        <p:nvSpPr>
          <p:cNvPr id="7" name="Shape 3"/>
          <p:cNvSpPr/>
          <p:nvPr/>
        </p:nvSpPr>
        <p:spPr>
          <a:xfrm>
            <a:off x="5740400" y="1964730"/>
            <a:ext cx="381000" cy="381000"/>
          </a:xfrm>
          <a:prstGeom prst="roundRect">
            <a:avLst>
              <a:gd name="adj" fmla="val 50000"/>
            </a:avLst>
          </a:prstGeom>
          <a:solidFill>
            <a:srgbClr val="EAF3FC"/>
          </a:solidFill>
          <a:ln/>
        </p:spPr>
      </p:sp>
      <p:pic>
        <p:nvPicPr>
          <p:cNvPr id="8" name="Image 2" descr="user icon">    </p:cNvPr>
          <p:cNvPicPr>
            <a:picLocks noChangeAspect="1"/>
          </p:cNvPicPr>
          <p:nvPr/>
        </p:nvPicPr>
        <p:blipFill>
          <a:blip r:embed="rId3"/>
          <a:srcRect l="0" r="0" t="0" b="0"/>
          <a:stretch/>
        </p:blipFill>
        <p:spPr>
          <a:xfrm>
            <a:off x="5835650" y="2059980"/>
            <a:ext cx="190500" cy="190500"/>
          </a:xfrm>
          <a:prstGeom prst="rect">
            <a:avLst/>
          </a:prstGeom>
        </p:spPr>
      </p:pic>
      <p:sp>
        <p:nvSpPr>
          <p:cNvPr id="9" name="Text 4"/>
          <p:cNvSpPr/>
          <p:nvPr/>
        </p:nvSpPr>
        <p:spPr>
          <a:xfrm>
            <a:off x="6273800" y="1935559"/>
            <a:ext cx="235458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1F33"/>
                </a:solidFill>
                <a:latin typeface="Calibri" pitchFamily="34" charset="0"/>
                <a:ea typeface="Calibri" pitchFamily="34" charset="-122"/>
                <a:cs typeface="Calibri" pitchFamily="34" charset="-120"/>
              </a:rPr>
              <a:t>Check-in at the desk</a:t>
            </a:r>
            <a:endParaRPr lang="en-US" sz="1400" dirty="0"/>
          </a:p>
        </p:txBody>
      </p:sp>
      <p:sp>
        <p:nvSpPr>
          <p:cNvPr id="10" name="Text 5"/>
          <p:cNvSpPr/>
          <p:nvPr/>
        </p:nvSpPr>
        <p:spPr>
          <a:xfrm>
            <a:off x="6273800" y="2161580"/>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Prove who you are</a:t>
            </a:r>
            <a:endParaRPr lang="en-US" sz="1200" dirty="0"/>
          </a:p>
        </p:txBody>
      </p:sp>
      <p:pic>
        <p:nvPicPr>
          <p:cNvPr id="11" name="Image 3" descr="arrow icon">    </p:cNvPr>
          <p:cNvPicPr>
            <a:picLocks noChangeAspect="1"/>
          </p:cNvPicPr>
          <p:nvPr/>
        </p:nvPicPr>
        <p:blipFill>
          <a:blip r:embed="rId4"/>
          <a:srcRect l="0" r="0" t="0" b="0"/>
          <a:stretch/>
        </p:blipFill>
        <p:spPr>
          <a:xfrm>
            <a:off x="8712200" y="2053630"/>
            <a:ext cx="203200" cy="203200"/>
          </a:xfrm>
          <a:prstGeom prst="rect">
            <a:avLst/>
          </a:prstGeom>
        </p:spPr>
      </p:pic>
      <p:sp>
        <p:nvSpPr>
          <p:cNvPr id="12" name="Text 6"/>
          <p:cNvSpPr/>
          <p:nvPr/>
        </p:nvSpPr>
        <p:spPr>
          <a:xfrm>
            <a:off x="9067800" y="2039640"/>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78D4"/>
                </a:solidFill>
                <a:latin typeface="Calibri" pitchFamily="34" charset="0"/>
                <a:ea typeface="Calibri" pitchFamily="34" charset="-122"/>
                <a:cs typeface="Calibri" pitchFamily="34" charset="-120"/>
              </a:rPr>
              <a:t>Verify identity, with MFA</a:t>
            </a:r>
            <a:endParaRPr lang="en-US" sz="1300" dirty="0"/>
          </a:p>
        </p:txBody>
      </p:sp>
      <p:sp>
        <p:nvSpPr>
          <p:cNvPr id="13" name="Shape 7"/>
          <p:cNvSpPr/>
          <p:nvPr/>
        </p:nvSpPr>
        <p:spPr>
          <a:xfrm>
            <a:off x="5562600" y="2603500"/>
            <a:ext cx="5816600" cy="693341"/>
          </a:xfrm>
          <a:prstGeom prst="roundRect">
            <a:avLst>
              <a:gd name="adj" fmla="val 14654"/>
            </a:avLst>
          </a:prstGeom>
          <a:solidFill>
            <a:srgbClr val="FFFFFF"/>
          </a:solidFill>
          <a:ln/>
          <a:effectLst>
            <a:outerShdw sx="100000" sy="100000" kx="0" ky="0" algn="bl" rotWithShape="0" blurRad="101600" dist="25400" dir="5400000">
              <a:srgbClr val="C9D6E3">
                <a:alpha val="100000"/>
              </a:srgbClr>
            </a:outerShdw>
          </a:effectLst>
        </p:spPr>
      </p:sp>
      <p:sp>
        <p:nvSpPr>
          <p:cNvPr id="14" name="Shape 8"/>
          <p:cNvSpPr/>
          <p:nvPr/>
        </p:nvSpPr>
        <p:spPr>
          <a:xfrm>
            <a:off x="5740400" y="2759670"/>
            <a:ext cx="381000" cy="381000"/>
          </a:xfrm>
          <a:prstGeom prst="roundRect">
            <a:avLst>
              <a:gd name="adj" fmla="val 50000"/>
            </a:avLst>
          </a:prstGeom>
          <a:solidFill>
            <a:srgbClr val="EAF3FC"/>
          </a:solidFill>
          <a:ln/>
        </p:spPr>
      </p:sp>
      <p:pic>
        <p:nvPicPr>
          <p:cNvPr id="15" name="Image 4" descr="door icon">    </p:cNvPr>
          <p:cNvPicPr>
            <a:picLocks noChangeAspect="1"/>
          </p:cNvPicPr>
          <p:nvPr/>
        </p:nvPicPr>
        <p:blipFill>
          <a:blip r:embed="rId5"/>
          <a:srcRect l="0" r="0" t="0" b="0"/>
          <a:stretch/>
        </p:blipFill>
        <p:spPr>
          <a:xfrm>
            <a:off x="5835650" y="2854920"/>
            <a:ext cx="190500" cy="190500"/>
          </a:xfrm>
          <a:prstGeom prst="rect">
            <a:avLst/>
          </a:prstGeom>
        </p:spPr>
      </p:pic>
      <p:sp>
        <p:nvSpPr>
          <p:cNvPr id="16" name="Text 9"/>
          <p:cNvSpPr/>
          <p:nvPr/>
        </p:nvSpPr>
        <p:spPr>
          <a:xfrm>
            <a:off x="6273800" y="2730500"/>
            <a:ext cx="235458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1F33"/>
                </a:solidFill>
                <a:latin typeface="Calibri" pitchFamily="34" charset="0"/>
                <a:ea typeface="Calibri" pitchFamily="34" charset="-122"/>
                <a:cs typeface="Calibri" pitchFamily="34" charset="-120"/>
              </a:rPr>
              <a:t>Your room only</a:t>
            </a:r>
            <a:endParaRPr lang="en-US" sz="1400" dirty="0"/>
          </a:p>
        </p:txBody>
      </p:sp>
      <p:sp>
        <p:nvSpPr>
          <p:cNvPr id="17" name="Text 10"/>
          <p:cNvSpPr/>
          <p:nvPr/>
        </p:nvSpPr>
        <p:spPr>
          <a:xfrm>
            <a:off x="6273800" y="2956520"/>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Not every room in the hotel</a:t>
            </a:r>
            <a:endParaRPr lang="en-US" sz="1200" dirty="0"/>
          </a:p>
        </p:txBody>
      </p:sp>
      <p:pic>
        <p:nvPicPr>
          <p:cNvPr id="18" name="Image 5" descr="arrow icon">    </p:cNvPr>
          <p:cNvPicPr>
            <a:picLocks noChangeAspect="1"/>
          </p:cNvPicPr>
          <p:nvPr/>
        </p:nvPicPr>
        <p:blipFill>
          <a:blip r:embed="rId6"/>
          <a:srcRect l="0" r="0" t="0" b="0"/>
          <a:stretch/>
        </p:blipFill>
        <p:spPr>
          <a:xfrm>
            <a:off x="8712200" y="2848570"/>
            <a:ext cx="203200" cy="203200"/>
          </a:xfrm>
          <a:prstGeom prst="rect">
            <a:avLst/>
          </a:prstGeom>
        </p:spPr>
      </p:pic>
      <p:sp>
        <p:nvSpPr>
          <p:cNvPr id="19" name="Text 11"/>
          <p:cNvSpPr/>
          <p:nvPr/>
        </p:nvSpPr>
        <p:spPr>
          <a:xfrm>
            <a:off x="9067800" y="2834580"/>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78D4"/>
                </a:solidFill>
                <a:latin typeface="Calibri" pitchFamily="34" charset="0"/>
                <a:ea typeface="Calibri" pitchFamily="34" charset="-122"/>
                <a:cs typeface="Calibri" pitchFamily="34" charset="-120"/>
              </a:rPr>
              <a:t>Least-privilege access</a:t>
            </a:r>
            <a:endParaRPr lang="en-US" sz="1300" dirty="0"/>
          </a:p>
        </p:txBody>
      </p:sp>
      <p:sp>
        <p:nvSpPr>
          <p:cNvPr id="20" name="Shape 12"/>
          <p:cNvSpPr/>
          <p:nvPr/>
        </p:nvSpPr>
        <p:spPr>
          <a:xfrm>
            <a:off x="5562600" y="3398441"/>
            <a:ext cx="5816600" cy="693341"/>
          </a:xfrm>
          <a:prstGeom prst="roundRect">
            <a:avLst>
              <a:gd name="adj" fmla="val 14654"/>
            </a:avLst>
          </a:prstGeom>
          <a:solidFill>
            <a:srgbClr val="FFFFFF"/>
          </a:solidFill>
          <a:ln/>
          <a:effectLst>
            <a:outerShdw sx="100000" sy="100000" kx="0" ky="0" algn="bl" rotWithShape="0" blurRad="101600" dist="25400" dir="5400000">
              <a:srgbClr val="C9D6E3">
                <a:alpha val="100000"/>
              </a:srgbClr>
            </a:outerShdw>
          </a:effectLst>
        </p:spPr>
      </p:sp>
      <p:sp>
        <p:nvSpPr>
          <p:cNvPr id="21" name="Shape 13"/>
          <p:cNvSpPr/>
          <p:nvPr/>
        </p:nvSpPr>
        <p:spPr>
          <a:xfrm>
            <a:off x="5740400" y="3554611"/>
            <a:ext cx="381000" cy="381000"/>
          </a:xfrm>
          <a:prstGeom prst="roundRect">
            <a:avLst>
              <a:gd name="adj" fmla="val 50000"/>
            </a:avLst>
          </a:prstGeom>
          <a:solidFill>
            <a:srgbClr val="EAF3FC"/>
          </a:solidFill>
          <a:ln/>
        </p:spPr>
      </p:sp>
      <p:pic>
        <p:nvPicPr>
          <p:cNvPr id="22" name="Image 6" descr="clock icon">    </p:cNvPr>
          <p:cNvPicPr>
            <a:picLocks noChangeAspect="1"/>
          </p:cNvPicPr>
          <p:nvPr/>
        </p:nvPicPr>
        <p:blipFill>
          <a:blip r:embed="rId7"/>
          <a:srcRect l="0" r="0" t="0" b="0"/>
          <a:stretch/>
        </p:blipFill>
        <p:spPr>
          <a:xfrm>
            <a:off x="5835650" y="3649861"/>
            <a:ext cx="190500" cy="190500"/>
          </a:xfrm>
          <a:prstGeom prst="rect">
            <a:avLst/>
          </a:prstGeom>
        </p:spPr>
      </p:pic>
      <p:sp>
        <p:nvSpPr>
          <p:cNvPr id="23" name="Text 14"/>
          <p:cNvSpPr/>
          <p:nvPr/>
        </p:nvSpPr>
        <p:spPr>
          <a:xfrm>
            <a:off x="6273800" y="3525441"/>
            <a:ext cx="235458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1F33"/>
                </a:solidFill>
                <a:latin typeface="Calibri" pitchFamily="34" charset="0"/>
                <a:ea typeface="Calibri" pitchFamily="34" charset="-122"/>
                <a:cs typeface="Calibri" pitchFamily="34" charset="-120"/>
              </a:rPr>
              <a:t>Expires at checkout</a:t>
            </a:r>
            <a:endParaRPr lang="en-US" sz="1400" dirty="0"/>
          </a:p>
        </p:txBody>
      </p:sp>
      <p:sp>
        <p:nvSpPr>
          <p:cNvPr id="24" name="Text 15"/>
          <p:cNvSpPr/>
          <p:nvPr/>
        </p:nvSpPr>
        <p:spPr>
          <a:xfrm>
            <a:off x="6273800" y="3751461"/>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Access stops when you leave</a:t>
            </a:r>
            <a:endParaRPr lang="en-US" sz="1200" dirty="0"/>
          </a:p>
        </p:txBody>
      </p:sp>
      <p:pic>
        <p:nvPicPr>
          <p:cNvPr id="25" name="Image 7" descr="arrow icon">    </p:cNvPr>
          <p:cNvPicPr>
            <a:picLocks noChangeAspect="1"/>
          </p:cNvPicPr>
          <p:nvPr/>
        </p:nvPicPr>
        <p:blipFill>
          <a:blip r:embed="rId8"/>
          <a:srcRect l="0" r="0" t="0" b="0"/>
          <a:stretch/>
        </p:blipFill>
        <p:spPr>
          <a:xfrm>
            <a:off x="8712200" y="3643511"/>
            <a:ext cx="203200" cy="203200"/>
          </a:xfrm>
          <a:prstGeom prst="rect">
            <a:avLst/>
          </a:prstGeom>
        </p:spPr>
      </p:pic>
      <p:sp>
        <p:nvSpPr>
          <p:cNvPr id="26" name="Text 16"/>
          <p:cNvSpPr/>
          <p:nvPr/>
        </p:nvSpPr>
        <p:spPr>
          <a:xfrm>
            <a:off x="9067800" y="3629521"/>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78D4"/>
                </a:solidFill>
                <a:latin typeface="Calibri" pitchFamily="34" charset="0"/>
                <a:ea typeface="Calibri" pitchFamily="34" charset="-122"/>
                <a:cs typeface="Calibri" pitchFamily="34" charset="-120"/>
              </a:rPr>
              <a:t>Time-limited sessions</a:t>
            </a:r>
            <a:endParaRPr lang="en-US" sz="1300" dirty="0"/>
          </a:p>
        </p:txBody>
      </p:sp>
      <p:sp>
        <p:nvSpPr>
          <p:cNvPr id="27" name="Shape 17"/>
          <p:cNvSpPr/>
          <p:nvPr/>
        </p:nvSpPr>
        <p:spPr>
          <a:xfrm>
            <a:off x="5562600" y="4193381"/>
            <a:ext cx="5816600" cy="693341"/>
          </a:xfrm>
          <a:prstGeom prst="roundRect">
            <a:avLst>
              <a:gd name="adj" fmla="val 14654"/>
            </a:avLst>
          </a:prstGeom>
          <a:solidFill>
            <a:srgbClr val="FFFFFF"/>
          </a:solidFill>
          <a:ln/>
          <a:effectLst>
            <a:outerShdw sx="100000" sy="100000" kx="0" ky="0" algn="bl" rotWithShape="0" blurRad="101600" dist="25400" dir="5400000">
              <a:srgbClr val="C9D6E3">
                <a:alpha val="100000"/>
              </a:srgbClr>
            </a:outerShdw>
          </a:effectLst>
        </p:spPr>
      </p:sp>
      <p:sp>
        <p:nvSpPr>
          <p:cNvPr id="28" name="Shape 18"/>
          <p:cNvSpPr/>
          <p:nvPr/>
        </p:nvSpPr>
        <p:spPr>
          <a:xfrm>
            <a:off x="5740400" y="4349552"/>
            <a:ext cx="381000" cy="381000"/>
          </a:xfrm>
          <a:prstGeom prst="roundRect">
            <a:avLst>
              <a:gd name="adj" fmla="val 50000"/>
            </a:avLst>
          </a:prstGeom>
          <a:solidFill>
            <a:srgbClr val="EAF3FC"/>
          </a:solidFill>
          <a:ln/>
        </p:spPr>
      </p:sp>
      <p:pic>
        <p:nvPicPr>
          <p:cNvPr id="29" name="Image 8" descr="eye icon">    </p:cNvPr>
          <p:cNvPicPr>
            <a:picLocks noChangeAspect="1"/>
          </p:cNvPicPr>
          <p:nvPr/>
        </p:nvPicPr>
        <p:blipFill>
          <a:blip r:embed="rId9"/>
          <a:srcRect l="0" r="0" t="0" b="0"/>
          <a:stretch/>
        </p:blipFill>
        <p:spPr>
          <a:xfrm>
            <a:off x="5835650" y="4444802"/>
            <a:ext cx="190500" cy="190500"/>
          </a:xfrm>
          <a:prstGeom prst="rect">
            <a:avLst/>
          </a:prstGeom>
        </p:spPr>
      </p:pic>
      <p:sp>
        <p:nvSpPr>
          <p:cNvPr id="30" name="Text 19"/>
          <p:cNvSpPr/>
          <p:nvPr/>
        </p:nvSpPr>
        <p:spPr>
          <a:xfrm>
            <a:off x="6273800" y="4320381"/>
            <a:ext cx="235458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1F33"/>
                </a:solidFill>
                <a:latin typeface="Calibri" pitchFamily="34" charset="0"/>
                <a:ea typeface="Calibri" pitchFamily="34" charset="-122"/>
                <a:cs typeface="Calibri" pitchFamily="34" charset="-120"/>
              </a:rPr>
              <a:t>Every swipe is logged</a:t>
            </a:r>
            <a:endParaRPr lang="en-US" sz="1400" dirty="0"/>
          </a:p>
        </p:txBody>
      </p:sp>
      <p:sp>
        <p:nvSpPr>
          <p:cNvPr id="31" name="Text 20"/>
          <p:cNvSpPr/>
          <p:nvPr/>
        </p:nvSpPr>
        <p:spPr>
          <a:xfrm>
            <a:off x="6273800" y="4546402"/>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Unusual use is noticed</a:t>
            </a:r>
            <a:endParaRPr lang="en-US" sz="1200" dirty="0"/>
          </a:p>
        </p:txBody>
      </p:sp>
      <p:pic>
        <p:nvPicPr>
          <p:cNvPr id="32" name="Image 9" descr="arrow icon">    </p:cNvPr>
          <p:cNvPicPr>
            <a:picLocks noChangeAspect="1"/>
          </p:cNvPicPr>
          <p:nvPr/>
        </p:nvPicPr>
        <p:blipFill>
          <a:blip r:embed="rId10"/>
          <a:srcRect l="0" r="0" t="0" b="0"/>
          <a:stretch/>
        </p:blipFill>
        <p:spPr>
          <a:xfrm>
            <a:off x="8712200" y="4438452"/>
            <a:ext cx="203200" cy="203200"/>
          </a:xfrm>
          <a:prstGeom prst="rect">
            <a:avLst/>
          </a:prstGeom>
        </p:spPr>
      </p:pic>
      <p:sp>
        <p:nvSpPr>
          <p:cNvPr id="33" name="Text 21"/>
          <p:cNvSpPr/>
          <p:nvPr/>
        </p:nvSpPr>
        <p:spPr>
          <a:xfrm>
            <a:off x="9067800" y="4424462"/>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78D4"/>
                </a:solidFill>
                <a:latin typeface="Calibri" pitchFamily="34" charset="0"/>
                <a:ea typeface="Calibri" pitchFamily="34" charset="-122"/>
                <a:cs typeface="Calibri" pitchFamily="34" charset="-120"/>
              </a:rPr>
              <a:t>Continuous monitoring</a:t>
            </a:r>
            <a:endParaRPr lang="en-US" sz="1300" dirty="0"/>
          </a:p>
        </p:txBody>
      </p:sp>
      <p:sp>
        <p:nvSpPr>
          <p:cNvPr id="34" name="Text 2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A simple way to remember Zero Trust</a:t>
            </a:r>
            <a:endParaRPr lang="en-US" sz="1200" dirty="0"/>
          </a:p>
        </p:txBody>
      </p:sp>
      <p:sp>
        <p:nvSpPr>
          <p:cNvPr id="35" name="Text 23"/>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04 · THE THREE PRINCIPLES</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Three simple rules behind Zero Trust</a:t>
            </a:r>
            <a:endParaRPr lang="en-US" sz="3600" dirty="0"/>
          </a:p>
        </p:txBody>
      </p:sp>
      <p:sp>
        <p:nvSpPr>
          <p:cNvPr id="5" name="Shape 2"/>
          <p:cNvSpPr/>
          <p:nvPr/>
        </p:nvSpPr>
        <p:spPr>
          <a:xfrm>
            <a:off x="812800" y="1569641"/>
            <a:ext cx="3403600" cy="3296543"/>
          </a:xfrm>
          <a:prstGeom prst="roundRect">
            <a:avLst>
              <a:gd name="adj" fmla="val 3082"/>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812800" y="1569641"/>
            <a:ext cx="3403600" cy="3296543"/>
          </a:xfrm>
          <a:custGeom>
            <a:avLst/>
            <a:gdLst/>
            <a:ahLst/>
            <a:cxnLst/>
            <a:rect l="l" t="t" r="r" b="b"/>
            <a:pathLst>
              <a:path w="3403600" h="3296543">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0078D4"/>
          </a:solidFill>
          <a:ln/>
        </p:spPr>
      </p:sp>
      <p:sp>
        <p:nvSpPr>
          <p:cNvPr id="7" name="Shape 4"/>
          <p:cNvSpPr/>
          <p:nvPr/>
        </p:nvSpPr>
        <p:spPr>
          <a:xfrm>
            <a:off x="1041400" y="1940421"/>
            <a:ext cx="508000" cy="508000"/>
          </a:xfrm>
          <a:prstGeom prst="roundRect">
            <a:avLst>
              <a:gd name="adj" fmla="val 50000"/>
            </a:avLst>
          </a:prstGeom>
          <a:solidFill>
            <a:srgbClr val="0078D4"/>
          </a:solidFill>
          <a:ln/>
        </p:spPr>
      </p:sp>
      <p:pic>
        <p:nvPicPr>
          <p:cNvPr id="8" name="Image 1" descr="check icon">    </p:cNvPr>
          <p:cNvPicPr>
            <a:picLocks noChangeAspect="1"/>
          </p:cNvPicPr>
          <p:nvPr/>
        </p:nvPicPr>
        <p:blipFill>
          <a:blip r:embed="rId2"/>
          <a:srcRect l="0" r="0" t="0" b="0"/>
          <a:stretch/>
        </p:blipFill>
        <p:spPr>
          <a:xfrm>
            <a:off x="1168400" y="2067421"/>
            <a:ext cx="254000" cy="254000"/>
          </a:xfrm>
          <a:prstGeom prst="rect">
            <a:avLst/>
          </a:prstGeom>
        </p:spPr>
      </p:pic>
      <p:sp>
        <p:nvSpPr>
          <p:cNvPr id="9" name="Text 5"/>
          <p:cNvSpPr/>
          <p:nvPr/>
        </p:nvSpPr>
        <p:spPr>
          <a:xfrm>
            <a:off x="3682643" y="1874441"/>
            <a:ext cx="305157" cy="665460"/>
          </a:xfrm>
          <a:prstGeom prst="rect">
            <a:avLst/>
          </a:prstGeom>
          <a:noFill/>
          <a:ln/>
        </p:spPr>
        <p:txBody>
          <a:bodyPr wrap="square" lIns="0" tIns="0" rIns="0" bIns="0" rtlCol="0" anchor="t">
            <a:normAutofit/>
          </a:bodyPr>
          <a:lstStyle/>
          <a:p>
            <a:pPr algn="r" indent="0" marL="0">
              <a:lnSpc>
                <a:spcPts val="5040"/>
              </a:lnSpc>
              <a:buNone/>
            </a:pPr>
            <a:r>
              <a:rPr lang="en-US" sz="3600" b="1" dirty="0">
                <a:solidFill>
                  <a:srgbClr val="D6E2EE"/>
                </a:solidFill>
                <a:latin typeface="Arial" pitchFamily="34" charset="0"/>
                <a:ea typeface="Arial" pitchFamily="34" charset="-122"/>
                <a:cs typeface="Arial" pitchFamily="34" charset="-120"/>
              </a:rPr>
              <a:t>1</a:t>
            </a:r>
            <a:endParaRPr lang="en-US" sz="3600" dirty="0"/>
          </a:p>
        </p:txBody>
      </p:sp>
      <p:sp>
        <p:nvSpPr>
          <p:cNvPr id="10" name="Text 6"/>
          <p:cNvSpPr/>
          <p:nvPr/>
        </p:nvSpPr>
        <p:spPr>
          <a:xfrm>
            <a:off x="1041400" y="2641501"/>
            <a:ext cx="30347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F33"/>
                </a:solidFill>
                <a:latin typeface="Arial" pitchFamily="34" charset="0"/>
                <a:ea typeface="Arial" pitchFamily="34" charset="-122"/>
                <a:cs typeface="Arial" pitchFamily="34" charset="-120"/>
              </a:rPr>
              <a:t>Verify explicitly</a:t>
            </a:r>
            <a:endParaRPr lang="en-US" sz="2000" dirty="0"/>
          </a:p>
        </p:txBody>
      </p:sp>
      <p:sp>
        <p:nvSpPr>
          <p:cNvPr id="11" name="Text 7"/>
          <p:cNvSpPr/>
          <p:nvPr/>
        </p:nvSpPr>
        <p:spPr>
          <a:xfrm>
            <a:off x="1041400" y="3073301"/>
            <a:ext cx="303479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Always check who you are, your device and the situation, before granting access.</a:t>
            </a:r>
            <a:endParaRPr lang="en-US" sz="1400" dirty="0"/>
          </a:p>
        </p:txBody>
      </p:sp>
      <p:sp>
        <p:nvSpPr>
          <p:cNvPr id="12" name="Text 8"/>
          <p:cNvSpPr/>
          <p:nvPr/>
        </p:nvSpPr>
        <p:spPr>
          <a:xfrm>
            <a:off x="1041400" y="3946823"/>
            <a:ext cx="2946400" cy="665361"/>
          </a:xfrm>
          <a:prstGeom prst="roundRect">
            <a:avLst>
              <a:gd name="adj" fmla="val 11452"/>
            </a:avLst>
          </a:prstGeom>
          <a:solidFill>
            <a:srgbClr val="EAF3FC"/>
          </a:solidFill>
          <a:ln/>
        </p:spPr>
        <p:txBody>
          <a:bodyPr wrap="square" lIns="104682" tIns="79282" rIns="23910" bIns="53882" rtlCol="0" anchor="t">
            <a:normAutofit/>
          </a:bodyPr>
          <a:lstStyle/>
          <a:p>
            <a:pPr algn="l" indent="0" marL="0">
              <a:lnSpc>
                <a:spcPts val="1820"/>
              </a:lnSpc>
              <a:buNone/>
            </a:pPr>
            <a:r>
              <a:rPr lang="en-US" sz="1300" b="1" dirty="0">
                <a:solidFill>
                  <a:srgbClr val="0078D4"/>
                </a:solidFill>
                <a:latin typeface="Calibri" pitchFamily="34" charset="0"/>
                <a:ea typeface="Calibri" pitchFamily="34" charset="-122"/>
                <a:cs typeface="Calibri" pitchFamily="34" charset="-120"/>
              </a:rPr>
              <a:t>Like an MFA code when you sign in</a:t>
            </a:r>
            <a:endParaRPr lang="en-US" sz="1300" dirty="0"/>
          </a:p>
        </p:txBody>
      </p:sp>
      <p:sp>
        <p:nvSpPr>
          <p:cNvPr id="13" name="Shape 9"/>
          <p:cNvSpPr/>
          <p:nvPr/>
        </p:nvSpPr>
        <p:spPr>
          <a:xfrm>
            <a:off x="4394200" y="1569641"/>
            <a:ext cx="3403600" cy="3296543"/>
          </a:xfrm>
          <a:prstGeom prst="roundRect">
            <a:avLst>
              <a:gd name="adj" fmla="val 3082"/>
            </a:avLst>
          </a:prstGeom>
          <a:solidFill>
            <a:srgbClr val="FFFFFF"/>
          </a:solidFill>
          <a:ln/>
          <a:effectLst>
            <a:outerShdw sx="100000" sy="100000" kx="0" ky="0" algn="bl" rotWithShape="0" blurRad="101600" dist="25400" dir="5400000">
              <a:srgbClr val="C9D6E3">
                <a:alpha val="100000"/>
              </a:srgbClr>
            </a:outerShdw>
          </a:effectLst>
        </p:spPr>
      </p:sp>
      <p:sp>
        <p:nvSpPr>
          <p:cNvPr id="14" name="Shape 10"/>
          <p:cNvSpPr/>
          <p:nvPr/>
        </p:nvSpPr>
        <p:spPr>
          <a:xfrm>
            <a:off x="4394200" y="1569641"/>
            <a:ext cx="3403600" cy="3296543"/>
          </a:xfrm>
          <a:custGeom>
            <a:avLst/>
            <a:gdLst/>
            <a:ahLst/>
            <a:cxnLst/>
            <a:rect l="l" t="t" r="r" b="b"/>
            <a:pathLst>
              <a:path w="3403600" h="3296543">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0078D4"/>
          </a:solidFill>
          <a:ln/>
        </p:spPr>
      </p:sp>
      <p:sp>
        <p:nvSpPr>
          <p:cNvPr id="15" name="Shape 11"/>
          <p:cNvSpPr/>
          <p:nvPr/>
        </p:nvSpPr>
        <p:spPr>
          <a:xfrm>
            <a:off x="4622800" y="1940421"/>
            <a:ext cx="508000" cy="508000"/>
          </a:xfrm>
          <a:prstGeom prst="roundRect">
            <a:avLst>
              <a:gd name="adj" fmla="val 50000"/>
            </a:avLst>
          </a:prstGeom>
          <a:solidFill>
            <a:srgbClr val="0078D4"/>
          </a:solidFill>
          <a:ln/>
        </p:spPr>
      </p:sp>
      <p:pic>
        <p:nvPicPr>
          <p:cNvPr id="16" name="Image 2" descr="lock icon">    </p:cNvPr>
          <p:cNvPicPr>
            <a:picLocks noChangeAspect="1"/>
          </p:cNvPicPr>
          <p:nvPr/>
        </p:nvPicPr>
        <p:blipFill>
          <a:blip r:embed="rId3"/>
          <a:srcRect l="0" r="0" t="0" b="0"/>
          <a:stretch/>
        </p:blipFill>
        <p:spPr>
          <a:xfrm>
            <a:off x="4749800" y="2067421"/>
            <a:ext cx="254000" cy="254000"/>
          </a:xfrm>
          <a:prstGeom prst="rect">
            <a:avLst/>
          </a:prstGeom>
        </p:spPr>
      </p:pic>
      <p:sp>
        <p:nvSpPr>
          <p:cNvPr id="17" name="Text 12"/>
          <p:cNvSpPr/>
          <p:nvPr/>
        </p:nvSpPr>
        <p:spPr>
          <a:xfrm>
            <a:off x="7264043" y="1874441"/>
            <a:ext cx="305157" cy="665460"/>
          </a:xfrm>
          <a:prstGeom prst="rect">
            <a:avLst/>
          </a:prstGeom>
          <a:noFill/>
          <a:ln/>
        </p:spPr>
        <p:txBody>
          <a:bodyPr wrap="square" lIns="0" tIns="0" rIns="0" bIns="0" rtlCol="0" anchor="t">
            <a:normAutofit/>
          </a:bodyPr>
          <a:lstStyle/>
          <a:p>
            <a:pPr algn="r" indent="0" marL="0">
              <a:lnSpc>
                <a:spcPts val="5040"/>
              </a:lnSpc>
              <a:buNone/>
            </a:pPr>
            <a:r>
              <a:rPr lang="en-US" sz="3600" b="1" dirty="0">
                <a:solidFill>
                  <a:srgbClr val="D6E2EE"/>
                </a:solidFill>
                <a:latin typeface="Arial" pitchFamily="34" charset="0"/>
                <a:ea typeface="Arial" pitchFamily="34" charset="-122"/>
                <a:cs typeface="Arial" pitchFamily="34" charset="-120"/>
              </a:rPr>
              <a:t>2</a:t>
            </a:r>
            <a:endParaRPr lang="en-US" sz="3600" dirty="0"/>
          </a:p>
        </p:txBody>
      </p:sp>
      <p:sp>
        <p:nvSpPr>
          <p:cNvPr id="18" name="Text 13"/>
          <p:cNvSpPr/>
          <p:nvPr/>
        </p:nvSpPr>
        <p:spPr>
          <a:xfrm>
            <a:off x="4622800" y="2641501"/>
            <a:ext cx="30347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F33"/>
                </a:solidFill>
                <a:latin typeface="Arial" pitchFamily="34" charset="0"/>
                <a:ea typeface="Arial" pitchFamily="34" charset="-122"/>
                <a:cs typeface="Arial" pitchFamily="34" charset="-120"/>
              </a:rPr>
              <a:t>Least privilege</a:t>
            </a:r>
            <a:endParaRPr lang="en-US" sz="2000" dirty="0"/>
          </a:p>
        </p:txBody>
      </p:sp>
      <p:sp>
        <p:nvSpPr>
          <p:cNvPr id="19" name="Text 14"/>
          <p:cNvSpPr/>
          <p:nvPr/>
        </p:nvSpPr>
        <p:spPr>
          <a:xfrm>
            <a:off x="4622800" y="3073301"/>
            <a:ext cx="303479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Give each person only the access they need, only for as long as they need it.</a:t>
            </a:r>
            <a:endParaRPr lang="en-US" sz="1400" dirty="0"/>
          </a:p>
        </p:txBody>
      </p:sp>
      <p:sp>
        <p:nvSpPr>
          <p:cNvPr id="20" name="Text 15"/>
          <p:cNvSpPr/>
          <p:nvPr/>
        </p:nvSpPr>
        <p:spPr>
          <a:xfrm>
            <a:off x="4622800" y="3946823"/>
            <a:ext cx="2946400" cy="665361"/>
          </a:xfrm>
          <a:prstGeom prst="roundRect">
            <a:avLst>
              <a:gd name="adj" fmla="val 11452"/>
            </a:avLst>
          </a:prstGeom>
          <a:solidFill>
            <a:srgbClr val="EAF3FC"/>
          </a:solidFill>
          <a:ln/>
        </p:spPr>
        <p:txBody>
          <a:bodyPr wrap="square" lIns="104682" tIns="79282" rIns="23910" bIns="53882" rtlCol="0" anchor="t">
            <a:normAutofit/>
          </a:bodyPr>
          <a:lstStyle/>
          <a:p>
            <a:pPr algn="l" indent="0" marL="0">
              <a:lnSpc>
                <a:spcPts val="1820"/>
              </a:lnSpc>
              <a:buNone/>
            </a:pPr>
            <a:r>
              <a:rPr lang="en-US" sz="1300" b="1" dirty="0">
                <a:solidFill>
                  <a:srgbClr val="0078D4"/>
                </a:solidFill>
                <a:latin typeface="Calibri" pitchFamily="34" charset="0"/>
                <a:ea typeface="Calibri" pitchFamily="34" charset="-122"/>
                <a:cs typeface="Calibri" pitchFamily="34" charset="-120"/>
              </a:rPr>
              <a:t>Like a key card for one room, not the whole hotel</a:t>
            </a:r>
            <a:endParaRPr lang="en-US" sz="1300" dirty="0"/>
          </a:p>
        </p:txBody>
      </p:sp>
      <p:sp>
        <p:nvSpPr>
          <p:cNvPr id="21" name="Shape 16"/>
          <p:cNvSpPr/>
          <p:nvPr/>
        </p:nvSpPr>
        <p:spPr>
          <a:xfrm>
            <a:off x="7975600" y="1569641"/>
            <a:ext cx="3403600" cy="3296543"/>
          </a:xfrm>
          <a:prstGeom prst="roundRect">
            <a:avLst>
              <a:gd name="adj" fmla="val 3082"/>
            </a:avLst>
          </a:prstGeom>
          <a:solidFill>
            <a:srgbClr val="FFFFFF"/>
          </a:solidFill>
          <a:ln/>
          <a:effectLst>
            <a:outerShdw sx="100000" sy="100000" kx="0" ky="0" algn="bl" rotWithShape="0" blurRad="101600" dist="25400" dir="5400000">
              <a:srgbClr val="C9D6E3">
                <a:alpha val="100000"/>
              </a:srgbClr>
            </a:outerShdw>
          </a:effectLst>
        </p:spPr>
      </p:sp>
      <p:sp>
        <p:nvSpPr>
          <p:cNvPr id="22" name="Shape 17"/>
          <p:cNvSpPr/>
          <p:nvPr/>
        </p:nvSpPr>
        <p:spPr>
          <a:xfrm>
            <a:off x="7975600" y="1569641"/>
            <a:ext cx="3403600" cy="3296543"/>
          </a:xfrm>
          <a:custGeom>
            <a:avLst/>
            <a:gdLst/>
            <a:ahLst/>
            <a:cxnLst/>
            <a:rect l="l" t="t" r="r" b="b"/>
            <a:pathLst>
              <a:path w="3403600" h="3296543">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0078D4"/>
          </a:solidFill>
          <a:ln/>
        </p:spPr>
      </p:sp>
      <p:sp>
        <p:nvSpPr>
          <p:cNvPr id="23" name="Shape 18"/>
          <p:cNvSpPr/>
          <p:nvPr/>
        </p:nvSpPr>
        <p:spPr>
          <a:xfrm>
            <a:off x="8204200" y="1940421"/>
            <a:ext cx="508000" cy="508000"/>
          </a:xfrm>
          <a:prstGeom prst="roundRect">
            <a:avLst>
              <a:gd name="adj" fmla="val 50000"/>
            </a:avLst>
          </a:prstGeom>
          <a:solidFill>
            <a:srgbClr val="0078D4"/>
          </a:solidFill>
          <a:ln/>
        </p:spPr>
      </p:sp>
      <p:pic>
        <p:nvPicPr>
          <p:cNvPr id="24" name="Image 3" descr="alert icon">    </p:cNvPr>
          <p:cNvPicPr>
            <a:picLocks noChangeAspect="1"/>
          </p:cNvPicPr>
          <p:nvPr/>
        </p:nvPicPr>
        <p:blipFill>
          <a:blip r:embed="rId4"/>
          <a:srcRect l="0" r="0" t="0" b="0"/>
          <a:stretch/>
        </p:blipFill>
        <p:spPr>
          <a:xfrm>
            <a:off x="8331200" y="2067421"/>
            <a:ext cx="254000" cy="254000"/>
          </a:xfrm>
          <a:prstGeom prst="rect">
            <a:avLst/>
          </a:prstGeom>
        </p:spPr>
      </p:pic>
      <p:sp>
        <p:nvSpPr>
          <p:cNvPr id="25" name="Text 19"/>
          <p:cNvSpPr/>
          <p:nvPr/>
        </p:nvSpPr>
        <p:spPr>
          <a:xfrm>
            <a:off x="10845443" y="1874441"/>
            <a:ext cx="305157" cy="665460"/>
          </a:xfrm>
          <a:prstGeom prst="rect">
            <a:avLst/>
          </a:prstGeom>
          <a:noFill/>
          <a:ln/>
        </p:spPr>
        <p:txBody>
          <a:bodyPr wrap="square" lIns="0" tIns="0" rIns="0" bIns="0" rtlCol="0" anchor="t">
            <a:normAutofit/>
          </a:bodyPr>
          <a:lstStyle/>
          <a:p>
            <a:pPr algn="r" indent="0" marL="0">
              <a:lnSpc>
                <a:spcPts val="5040"/>
              </a:lnSpc>
              <a:buNone/>
            </a:pPr>
            <a:r>
              <a:rPr lang="en-US" sz="3600" b="1" dirty="0">
                <a:solidFill>
                  <a:srgbClr val="D6E2EE"/>
                </a:solidFill>
                <a:latin typeface="Arial" pitchFamily="34" charset="0"/>
                <a:ea typeface="Arial" pitchFamily="34" charset="-122"/>
                <a:cs typeface="Arial" pitchFamily="34" charset="-120"/>
              </a:rPr>
              <a:t>3</a:t>
            </a:r>
            <a:endParaRPr lang="en-US" sz="3600" dirty="0"/>
          </a:p>
        </p:txBody>
      </p:sp>
      <p:sp>
        <p:nvSpPr>
          <p:cNvPr id="26" name="Text 20"/>
          <p:cNvSpPr/>
          <p:nvPr/>
        </p:nvSpPr>
        <p:spPr>
          <a:xfrm>
            <a:off x="8204200" y="2641501"/>
            <a:ext cx="303479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F33"/>
                </a:solidFill>
                <a:latin typeface="Arial" pitchFamily="34" charset="0"/>
                <a:ea typeface="Arial" pitchFamily="34" charset="-122"/>
                <a:cs typeface="Arial" pitchFamily="34" charset="-120"/>
              </a:rPr>
              <a:t>Assume breach</a:t>
            </a:r>
            <a:endParaRPr lang="en-US" sz="2000" dirty="0"/>
          </a:p>
        </p:txBody>
      </p:sp>
      <p:sp>
        <p:nvSpPr>
          <p:cNvPr id="27" name="Text 21"/>
          <p:cNvSpPr/>
          <p:nvPr/>
        </p:nvSpPr>
        <p:spPr>
          <a:xfrm>
            <a:off x="8204200" y="3073301"/>
            <a:ext cx="303479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Design as if an attacker may already be inside, so one problem can't spread.</a:t>
            </a:r>
            <a:endParaRPr lang="en-US" sz="1400" dirty="0"/>
          </a:p>
        </p:txBody>
      </p:sp>
      <p:sp>
        <p:nvSpPr>
          <p:cNvPr id="28" name="Text 22"/>
          <p:cNvSpPr/>
          <p:nvPr/>
        </p:nvSpPr>
        <p:spPr>
          <a:xfrm>
            <a:off x="8204200" y="3946823"/>
            <a:ext cx="2946400" cy="665361"/>
          </a:xfrm>
          <a:prstGeom prst="roundRect">
            <a:avLst>
              <a:gd name="adj" fmla="val 11452"/>
            </a:avLst>
          </a:prstGeom>
          <a:solidFill>
            <a:srgbClr val="EAF3FC"/>
          </a:solidFill>
          <a:ln/>
        </p:spPr>
        <p:txBody>
          <a:bodyPr wrap="square" lIns="104682" tIns="79282" rIns="23910" bIns="53882" rtlCol="0" anchor="t">
            <a:normAutofit/>
          </a:bodyPr>
          <a:lstStyle/>
          <a:p>
            <a:pPr algn="l" indent="0" marL="0">
              <a:lnSpc>
                <a:spcPts val="1820"/>
              </a:lnSpc>
              <a:buNone/>
            </a:pPr>
            <a:r>
              <a:rPr lang="en-US" sz="1300" b="1" dirty="0">
                <a:solidFill>
                  <a:srgbClr val="0078D4"/>
                </a:solidFill>
                <a:latin typeface="Calibri" pitchFamily="34" charset="0"/>
                <a:ea typeface="Calibri" pitchFamily="34" charset="-122"/>
                <a:cs typeface="Calibri" pitchFamily="34" charset="-120"/>
              </a:rPr>
              <a:t>Like fire doors that stop a fire from spreading</a:t>
            </a:r>
            <a:endParaRPr lang="en-US" sz="1300" dirty="0"/>
          </a:p>
        </p:txBody>
      </p:sp>
      <p:sp>
        <p:nvSpPr>
          <p:cNvPr id="29" name="Text 2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Based on NIST SP 800-207 Zero Trust Architecture</a:t>
            </a:r>
            <a:endParaRPr lang="en-US" sz="1200" dirty="0"/>
          </a:p>
        </p:txBody>
      </p:sp>
      <p:sp>
        <p:nvSpPr>
          <p:cNvPr id="30" name="Text 24"/>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B7C3"/>
                </a:solidFill>
                <a:latin typeface="Calibri" pitchFamily="34" charset="0"/>
                <a:ea typeface="Calibri" pitchFamily="34" charset="-122"/>
                <a:cs typeface="Calibri" pitchFamily="34" charset="-120"/>
              </a:rPr>
              <a:t>05 · BEHIND EVERY LOGIN</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FFFF"/>
                </a:solidFill>
                <a:latin typeface="Arial" pitchFamily="34" charset="0"/>
                <a:ea typeface="Arial" pitchFamily="34" charset="-122"/>
                <a:cs typeface="Arial" pitchFamily="34" charset="-120"/>
              </a:rPr>
              <a:t>Five checks before access is granted</a:t>
            </a:r>
            <a:endParaRPr lang="en-US" sz="3600" dirty="0"/>
          </a:p>
        </p:txBody>
      </p:sp>
      <p:sp>
        <p:nvSpPr>
          <p:cNvPr id="5" name="Shape 2"/>
          <p:cNvSpPr/>
          <p:nvPr/>
        </p:nvSpPr>
        <p:spPr>
          <a:xfrm>
            <a:off x="812800" y="1782961"/>
            <a:ext cx="1828800" cy="1417241"/>
          </a:xfrm>
          <a:prstGeom prst="roundRect">
            <a:avLst>
              <a:gd name="adj" fmla="val 7169"/>
            </a:avLst>
          </a:prstGeom>
          <a:solidFill>
            <a:srgbClr val="13294B"/>
          </a:solidFill>
          <a:ln/>
        </p:spPr>
      </p:sp>
      <p:sp>
        <p:nvSpPr>
          <p:cNvPr id="6" name="Shape 3"/>
          <p:cNvSpPr/>
          <p:nvPr/>
        </p:nvSpPr>
        <p:spPr>
          <a:xfrm>
            <a:off x="1498600" y="1960761"/>
            <a:ext cx="457200" cy="457200"/>
          </a:xfrm>
          <a:prstGeom prst="roundRect">
            <a:avLst>
              <a:gd name="adj" fmla="val 50000"/>
            </a:avLst>
          </a:prstGeom>
          <a:solidFill>
            <a:srgbClr val="00B7C3"/>
          </a:solidFill>
          <a:ln/>
        </p:spPr>
      </p:sp>
      <p:pic>
        <p:nvPicPr>
          <p:cNvPr id="7" name="Image 1" descr="user icon">    </p:cNvPr>
          <p:cNvPicPr>
            <a:picLocks noChangeAspect="1"/>
          </p:cNvPicPr>
          <p:nvPr/>
        </p:nvPicPr>
        <p:blipFill>
          <a:blip r:embed="rId2"/>
          <a:srcRect l="0" r="0" t="0" b="0"/>
          <a:stretch/>
        </p:blipFill>
        <p:spPr>
          <a:xfrm>
            <a:off x="1612900" y="2075061"/>
            <a:ext cx="228600" cy="228600"/>
          </a:xfrm>
          <a:prstGeom prst="rect">
            <a:avLst/>
          </a:prstGeom>
        </p:spPr>
      </p:pic>
      <p:sp>
        <p:nvSpPr>
          <p:cNvPr id="8" name="Text 4"/>
          <p:cNvSpPr/>
          <p:nvPr/>
        </p:nvSpPr>
        <p:spPr>
          <a:xfrm>
            <a:off x="1021874" y="2506861"/>
            <a:ext cx="1410652" cy="23872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FFFFFF"/>
                </a:solidFill>
                <a:latin typeface="Calibri" pitchFamily="34" charset="0"/>
                <a:ea typeface="Calibri" pitchFamily="34" charset="-122"/>
                <a:cs typeface="Calibri" pitchFamily="34" charset="-120"/>
              </a:rPr>
              <a:t>Who are you?</a:t>
            </a:r>
            <a:endParaRPr lang="en-US" sz="1400" dirty="0"/>
          </a:p>
        </p:txBody>
      </p:sp>
      <p:sp>
        <p:nvSpPr>
          <p:cNvPr id="9" name="Text 5"/>
          <p:cNvSpPr/>
          <p:nvPr/>
        </p:nvSpPr>
        <p:spPr>
          <a:xfrm>
            <a:off x="1041043" y="2809081"/>
            <a:ext cx="137231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ADCFC"/>
                </a:solidFill>
                <a:latin typeface="Calibri" pitchFamily="34" charset="0"/>
                <a:ea typeface="Calibri" pitchFamily="34" charset="-122"/>
                <a:cs typeface="Calibri" pitchFamily="34" charset="-120"/>
              </a:rPr>
              <a:t>Identity and MFA</a:t>
            </a:r>
            <a:endParaRPr lang="en-US" sz="1200" dirty="0"/>
          </a:p>
        </p:txBody>
      </p:sp>
      <p:pic>
        <p:nvPicPr>
          <p:cNvPr id="10" name="Image 2" descr="arrow-right">    </p:cNvPr>
          <p:cNvPicPr>
            <a:picLocks noChangeAspect="1"/>
          </p:cNvPicPr>
          <p:nvPr/>
        </p:nvPicPr>
        <p:blipFill>
          <a:blip r:embed="rId3"/>
          <a:srcRect l="0" r="0" t="0" b="0"/>
          <a:stretch/>
        </p:blipFill>
        <p:spPr>
          <a:xfrm>
            <a:off x="2717800" y="2402681"/>
            <a:ext cx="203200" cy="177800"/>
          </a:xfrm>
          <a:prstGeom prst="rect">
            <a:avLst/>
          </a:prstGeom>
        </p:spPr>
      </p:pic>
      <p:sp>
        <p:nvSpPr>
          <p:cNvPr id="11" name="Shape 6"/>
          <p:cNvSpPr/>
          <p:nvPr/>
        </p:nvSpPr>
        <p:spPr>
          <a:xfrm>
            <a:off x="2997200" y="1569641"/>
            <a:ext cx="1828800" cy="1843881"/>
          </a:xfrm>
          <a:prstGeom prst="roundRect">
            <a:avLst>
              <a:gd name="adj" fmla="val 5556"/>
            </a:avLst>
          </a:prstGeom>
          <a:solidFill>
            <a:srgbClr val="13294B"/>
          </a:solidFill>
          <a:ln/>
        </p:spPr>
      </p:sp>
      <p:sp>
        <p:nvSpPr>
          <p:cNvPr id="12" name="Shape 7"/>
          <p:cNvSpPr/>
          <p:nvPr/>
        </p:nvSpPr>
        <p:spPr>
          <a:xfrm>
            <a:off x="3683000" y="1747441"/>
            <a:ext cx="457200" cy="457200"/>
          </a:xfrm>
          <a:prstGeom prst="roundRect">
            <a:avLst>
              <a:gd name="adj" fmla="val 50000"/>
            </a:avLst>
          </a:prstGeom>
          <a:solidFill>
            <a:srgbClr val="00B7C3"/>
          </a:solidFill>
          <a:ln/>
        </p:spPr>
      </p:sp>
      <p:pic>
        <p:nvPicPr>
          <p:cNvPr id="13" name="Image 3" descr="laptop icon">    </p:cNvPr>
          <p:cNvPicPr>
            <a:picLocks noChangeAspect="1"/>
          </p:cNvPicPr>
          <p:nvPr/>
        </p:nvPicPr>
        <p:blipFill>
          <a:blip r:embed="rId4"/>
          <a:srcRect l="0" r="0" t="0" b="0"/>
          <a:stretch/>
        </p:blipFill>
        <p:spPr>
          <a:xfrm>
            <a:off x="3797300" y="1861741"/>
            <a:ext cx="228600" cy="228600"/>
          </a:xfrm>
          <a:prstGeom prst="rect">
            <a:avLst/>
          </a:prstGeom>
        </p:spPr>
      </p:pic>
      <p:sp>
        <p:nvSpPr>
          <p:cNvPr id="14" name="Text 8"/>
          <p:cNvSpPr/>
          <p:nvPr/>
        </p:nvSpPr>
        <p:spPr>
          <a:xfrm>
            <a:off x="3098800" y="2293541"/>
            <a:ext cx="167640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Calibri" pitchFamily="34" charset="0"/>
                <a:ea typeface="Calibri" pitchFamily="34" charset="-122"/>
                <a:cs typeface="Calibri" pitchFamily="34" charset="-120"/>
              </a:rPr>
              <a:t>Is your device healthy?</a:t>
            </a:r>
            <a:endParaRPr lang="en-US" sz="1400" dirty="0"/>
          </a:p>
        </p:txBody>
      </p:sp>
      <p:sp>
        <p:nvSpPr>
          <p:cNvPr id="15" name="Text 9"/>
          <p:cNvSpPr/>
          <p:nvPr/>
        </p:nvSpPr>
        <p:spPr>
          <a:xfrm>
            <a:off x="3098800" y="2809081"/>
            <a:ext cx="16764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ADCFC"/>
                </a:solidFill>
                <a:latin typeface="Calibri" pitchFamily="34" charset="0"/>
                <a:ea typeface="Calibri" pitchFamily="34" charset="-122"/>
                <a:cs typeface="Calibri" pitchFamily="34" charset="-120"/>
              </a:rPr>
              <a:t>Updated, encrypted, managed</a:t>
            </a:r>
            <a:endParaRPr lang="en-US" sz="1200" dirty="0"/>
          </a:p>
        </p:txBody>
      </p:sp>
      <p:pic>
        <p:nvPicPr>
          <p:cNvPr id="16" name="Image 4" descr="arrow-right">    </p:cNvPr>
          <p:cNvPicPr>
            <a:picLocks noChangeAspect="1"/>
          </p:cNvPicPr>
          <p:nvPr/>
        </p:nvPicPr>
        <p:blipFill>
          <a:blip r:embed="rId5"/>
          <a:srcRect l="0" r="0" t="0" b="0"/>
          <a:stretch/>
        </p:blipFill>
        <p:spPr>
          <a:xfrm>
            <a:off x="4902200" y="2402681"/>
            <a:ext cx="203200" cy="177800"/>
          </a:xfrm>
          <a:prstGeom prst="rect">
            <a:avLst/>
          </a:prstGeom>
        </p:spPr>
      </p:pic>
      <p:sp>
        <p:nvSpPr>
          <p:cNvPr id="17" name="Shape 10"/>
          <p:cNvSpPr/>
          <p:nvPr/>
        </p:nvSpPr>
        <p:spPr>
          <a:xfrm>
            <a:off x="5181600" y="1782961"/>
            <a:ext cx="1828800" cy="1417241"/>
          </a:xfrm>
          <a:prstGeom prst="roundRect">
            <a:avLst>
              <a:gd name="adj" fmla="val 7169"/>
            </a:avLst>
          </a:prstGeom>
          <a:solidFill>
            <a:srgbClr val="13294B"/>
          </a:solidFill>
          <a:ln/>
        </p:spPr>
      </p:sp>
      <p:sp>
        <p:nvSpPr>
          <p:cNvPr id="18" name="Shape 11"/>
          <p:cNvSpPr/>
          <p:nvPr/>
        </p:nvSpPr>
        <p:spPr>
          <a:xfrm>
            <a:off x="5867400" y="1960761"/>
            <a:ext cx="457200" cy="457200"/>
          </a:xfrm>
          <a:prstGeom prst="roundRect">
            <a:avLst>
              <a:gd name="adj" fmla="val 50000"/>
            </a:avLst>
          </a:prstGeom>
          <a:solidFill>
            <a:srgbClr val="00B7C3"/>
          </a:solidFill>
          <a:ln/>
        </p:spPr>
      </p:sp>
      <p:pic>
        <p:nvPicPr>
          <p:cNvPr id="19" name="Image 5" descr="map icon">    </p:cNvPr>
          <p:cNvPicPr>
            <a:picLocks noChangeAspect="1"/>
          </p:cNvPicPr>
          <p:nvPr/>
        </p:nvPicPr>
        <p:blipFill>
          <a:blip r:embed="rId6"/>
          <a:srcRect l="0" r="0" t="0" b="0"/>
          <a:stretch/>
        </p:blipFill>
        <p:spPr>
          <a:xfrm>
            <a:off x="5981700" y="2075061"/>
            <a:ext cx="228600" cy="228600"/>
          </a:xfrm>
          <a:prstGeom prst="rect">
            <a:avLst/>
          </a:prstGeom>
        </p:spPr>
      </p:pic>
      <p:sp>
        <p:nvSpPr>
          <p:cNvPr id="20" name="Text 12"/>
          <p:cNvSpPr/>
          <p:nvPr/>
        </p:nvSpPr>
        <p:spPr>
          <a:xfrm>
            <a:off x="5183158" y="2506861"/>
            <a:ext cx="1825585" cy="23872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FFFFFF"/>
                </a:solidFill>
                <a:latin typeface="Calibri" pitchFamily="34" charset="0"/>
                <a:ea typeface="Calibri" pitchFamily="34" charset="-122"/>
                <a:cs typeface="Calibri" pitchFamily="34" charset="-120"/>
              </a:rPr>
              <a:t>Where and when?</a:t>
            </a:r>
            <a:endParaRPr lang="en-US" sz="1400" dirty="0"/>
          </a:p>
        </p:txBody>
      </p:sp>
      <p:sp>
        <p:nvSpPr>
          <p:cNvPr id="21" name="Text 13"/>
          <p:cNvSpPr/>
          <p:nvPr/>
        </p:nvSpPr>
        <p:spPr>
          <a:xfrm>
            <a:off x="5181600" y="2809081"/>
            <a:ext cx="182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ADCFC"/>
                </a:solidFill>
                <a:latin typeface="Calibri" pitchFamily="34" charset="0"/>
                <a:ea typeface="Calibri" pitchFamily="34" charset="-122"/>
                <a:cs typeface="Calibri" pitchFamily="34" charset="-120"/>
              </a:rPr>
              <a:t>Location, time and risk</a:t>
            </a:r>
            <a:endParaRPr lang="en-US" sz="1200" dirty="0"/>
          </a:p>
        </p:txBody>
      </p:sp>
      <p:pic>
        <p:nvPicPr>
          <p:cNvPr id="22" name="Image 6" descr="arrow-right">    </p:cNvPr>
          <p:cNvPicPr>
            <a:picLocks noChangeAspect="1"/>
          </p:cNvPicPr>
          <p:nvPr/>
        </p:nvPicPr>
        <p:blipFill>
          <a:blip r:embed="rId7"/>
          <a:srcRect l="0" r="0" t="0" b="0"/>
          <a:stretch/>
        </p:blipFill>
        <p:spPr>
          <a:xfrm>
            <a:off x="7086600" y="2402681"/>
            <a:ext cx="203200" cy="177800"/>
          </a:xfrm>
          <a:prstGeom prst="rect">
            <a:avLst/>
          </a:prstGeom>
        </p:spPr>
      </p:pic>
      <p:sp>
        <p:nvSpPr>
          <p:cNvPr id="23" name="Shape 14"/>
          <p:cNvSpPr/>
          <p:nvPr/>
        </p:nvSpPr>
        <p:spPr>
          <a:xfrm>
            <a:off x="7366000" y="1569641"/>
            <a:ext cx="1828800" cy="1843881"/>
          </a:xfrm>
          <a:prstGeom prst="roundRect">
            <a:avLst>
              <a:gd name="adj" fmla="val 5556"/>
            </a:avLst>
          </a:prstGeom>
          <a:solidFill>
            <a:srgbClr val="13294B"/>
          </a:solidFill>
          <a:ln/>
        </p:spPr>
      </p:sp>
      <p:sp>
        <p:nvSpPr>
          <p:cNvPr id="24" name="Shape 15"/>
          <p:cNvSpPr/>
          <p:nvPr/>
        </p:nvSpPr>
        <p:spPr>
          <a:xfrm>
            <a:off x="8051800" y="1747441"/>
            <a:ext cx="457200" cy="457200"/>
          </a:xfrm>
          <a:prstGeom prst="roundRect">
            <a:avLst>
              <a:gd name="adj" fmla="val 50000"/>
            </a:avLst>
          </a:prstGeom>
          <a:solidFill>
            <a:srgbClr val="00B7C3"/>
          </a:solidFill>
          <a:ln/>
        </p:spPr>
      </p:sp>
      <p:pic>
        <p:nvPicPr>
          <p:cNvPr id="25" name="Image 7" descr="lock icon">    </p:cNvPr>
          <p:cNvPicPr>
            <a:picLocks noChangeAspect="1"/>
          </p:cNvPicPr>
          <p:nvPr/>
        </p:nvPicPr>
        <p:blipFill>
          <a:blip r:embed="rId8"/>
          <a:srcRect l="0" r="0" t="0" b="0"/>
          <a:stretch/>
        </p:blipFill>
        <p:spPr>
          <a:xfrm>
            <a:off x="8166100" y="1861741"/>
            <a:ext cx="228600" cy="228600"/>
          </a:xfrm>
          <a:prstGeom prst="rect">
            <a:avLst/>
          </a:prstGeom>
        </p:spPr>
      </p:pic>
      <p:sp>
        <p:nvSpPr>
          <p:cNvPr id="26" name="Text 16"/>
          <p:cNvSpPr/>
          <p:nvPr/>
        </p:nvSpPr>
        <p:spPr>
          <a:xfrm>
            <a:off x="7467600" y="2293541"/>
            <a:ext cx="167640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Calibri" pitchFamily="34" charset="0"/>
                <a:ea typeface="Calibri" pitchFamily="34" charset="-122"/>
                <a:cs typeface="Calibri" pitchFamily="34" charset="-120"/>
              </a:rPr>
              <a:t>What do you need?</a:t>
            </a:r>
            <a:endParaRPr lang="en-US" sz="1400" dirty="0"/>
          </a:p>
        </p:txBody>
      </p:sp>
      <p:sp>
        <p:nvSpPr>
          <p:cNvPr id="27" name="Text 17"/>
          <p:cNvSpPr/>
          <p:nvPr/>
        </p:nvSpPr>
        <p:spPr>
          <a:xfrm>
            <a:off x="7467600" y="2809081"/>
            <a:ext cx="16764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ADCFC"/>
                </a:solidFill>
                <a:latin typeface="Calibri" pitchFamily="34" charset="0"/>
                <a:ea typeface="Calibri" pitchFamily="34" charset="-122"/>
                <a:cs typeface="Calibri" pitchFamily="34" charset="-120"/>
              </a:rPr>
              <a:t>Only the access required</a:t>
            </a:r>
            <a:endParaRPr lang="en-US" sz="1200" dirty="0"/>
          </a:p>
        </p:txBody>
      </p:sp>
      <p:pic>
        <p:nvPicPr>
          <p:cNvPr id="28" name="Image 8" descr="arrow-right">    </p:cNvPr>
          <p:cNvPicPr>
            <a:picLocks noChangeAspect="1"/>
          </p:cNvPicPr>
          <p:nvPr/>
        </p:nvPicPr>
        <p:blipFill>
          <a:blip r:embed="rId9"/>
          <a:srcRect l="0" r="0" t="0" b="0"/>
          <a:stretch/>
        </p:blipFill>
        <p:spPr>
          <a:xfrm>
            <a:off x="9271000" y="2402681"/>
            <a:ext cx="203200" cy="177800"/>
          </a:xfrm>
          <a:prstGeom prst="rect">
            <a:avLst/>
          </a:prstGeom>
        </p:spPr>
      </p:pic>
      <p:sp>
        <p:nvSpPr>
          <p:cNvPr id="29" name="Shape 18"/>
          <p:cNvSpPr/>
          <p:nvPr/>
        </p:nvSpPr>
        <p:spPr>
          <a:xfrm>
            <a:off x="9550400" y="1782961"/>
            <a:ext cx="1828800" cy="1417241"/>
          </a:xfrm>
          <a:prstGeom prst="roundRect">
            <a:avLst>
              <a:gd name="adj" fmla="val 7169"/>
            </a:avLst>
          </a:prstGeom>
          <a:solidFill>
            <a:srgbClr val="13294B"/>
          </a:solidFill>
          <a:ln/>
        </p:spPr>
      </p:sp>
      <p:sp>
        <p:nvSpPr>
          <p:cNvPr id="30" name="Shape 19"/>
          <p:cNvSpPr/>
          <p:nvPr/>
        </p:nvSpPr>
        <p:spPr>
          <a:xfrm>
            <a:off x="10236200" y="1960761"/>
            <a:ext cx="457200" cy="457200"/>
          </a:xfrm>
          <a:prstGeom prst="roundRect">
            <a:avLst>
              <a:gd name="adj" fmla="val 50000"/>
            </a:avLst>
          </a:prstGeom>
          <a:solidFill>
            <a:srgbClr val="00B7C3"/>
          </a:solidFill>
          <a:ln/>
        </p:spPr>
      </p:sp>
      <p:pic>
        <p:nvPicPr>
          <p:cNvPr id="31" name="Image 9" descr="eye icon">    </p:cNvPr>
          <p:cNvPicPr>
            <a:picLocks noChangeAspect="1"/>
          </p:cNvPicPr>
          <p:nvPr/>
        </p:nvPicPr>
        <p:blipFill>
          <a:blip r:embed="rId10"/>
          <a:srcRect l="0" r="0" t="0" b="0"/>
          <a:stretch/>
        </p:blipFill>
        <p:spPr>
          <a:xfrm>
            <a:off x="10350500" y="2075061"/>
            <a:ext cx="228600" cy="228600"/>
          </a:xfrm>
          <a:prstGeom prst="rect">
            <a:avLst/>
          </a:prstGeom>
        </p:spPr>
      </p:pic>
      <p:sp>
        <p:nvSpPr>
          <p:cNvPr id="32" name="Text 20"/>
          <p:cNvSpPr/>
          <p:nvPr/>
        </p:nvSpPr>
        <p:spPr>
          <a:xfrm>
            <a:off x="9659838" y="2506861"/>
            <a:ext cx="171936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Calibri" pitchFamily="34" charset="0"/>
                <a:ea typeface="Calibri" pitchFamily="34" charset="-122"/>
                <a:cs typeface="Calibri" pitchFamily="34" charset="-120"/>
              </a:rPr>
              <a:t>Anything unusual?</a:t>
            </a:r>
            <a:endParaRPr lang="en-US" sz="1400" dirty="0"/>
          </a:p>
        </p:txBody>
      </p:sp>
      <p:sp>
        <p:nvSpPr>
          <p:cNvPr id="33" name="Text 21"/>
          <p:cNvSpPr/>
          <p:nvPr/>
        </p:nvSpPr>
        <p:spPr>
          <a:xfrm>
            <a:off x="9550400" y="2809081"/>
            <a:ext cx="1828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ADCFC"/>
                </a:solidFill>
                <a:latin typeface="Calibri" pitchFamily="34" charset="0"/>
                <a:ea typeface="Calibri" pitchFamily="34" charset="-122"/>
                <a:cs typeface="Calibri" pitchFamily="34" charset="-120"/>
              </a:rPr>
              <a:t>Behaviour is monitored</a:t>
            </a:r>
            <a:endParaRPr lang="en-US" sz="1200" dirty="0"/>
          </a:p>
        </p:txBody>
      </p:sp>
      <p:sp>
        <p:nvSpPr>
          <p:cNvPr id="34" name="Shape 22"/>
          <p:cNvSpPr/>
          <p:nvPr/>
        </p:nvSpPr>
        <p:spPr>
          <a:xfrm>
            <a:off x="819150" y="3673872"/>
            <a:ext cx="5181600" cy="622300"/>
          </a:xfrm>
          <a:prstGeom prst="roundRect">
            <a:avLst>
              <a:gd name="adj" fmla="val 15306"/>
            </a:avLst>
          </a:prstGeom>
          <a:noFill/>
          <a:ln w="12700">
            <a:solidFill>
              <a:srgbClr val="00B7C3"/>
            </a:solidFill>
            <a:prstDash val="solid"/>
          </a:ln>
        </p:spPr>
      </p:sp>
      <p:pic>
        <p:nvPicPr>
          <p:cNvPr id="35" name="Image 10" descr="check icon">    </p:cNvPr>
          <p:cNvPicPr>
            <a:picLocks noChangeAspect="1"/>
          </p:cNvPicPr>
          <p:nvPr/>
        </p:nvPicPr>
        <p:blipFill>
          <a:blip r:embed="rId11"/>
          <a:srcRect l="0" r="0" t="0" b="0"/>
          <a:stretch/>
        </p:blipFill>
        <p:spPr>
          <a:xfrm>
            <a:off x="1028700" y="3832622"/>
            <a:ext cx="304800" cy="304800"/>
          </a:xfrm>
          <a:prstGeom prst="rect">
            <a:avLst/>
          </a:prstGeom>
        </p:spPr>
      </p:pic>
      <p:sp>
        <p:nvSpPr>
          <p:cNvPr id="36" name="Text 23"/>
          <p:cNvSpPr/>
          <p:nvPr/>
        </p:nvSpPr>
        <p:spPr>
          <a:xfrm>
            <a:off x="1460500" y="3860602"/>
            <a:ext cx="396097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Calibri" pitchFamily="34" charset="0"/>
                <a:ea typeface="Calibri" pitchFamily="34" charset="-122"/>
                <a:cs typeface="Calibri" pitchFamily="34" charset="-120"/>
              </a:rPr>
              <a:t>All checks pass: </a:t>
            </a:r>
            <a:r>
              <a:rPr lang="en-US" sz="1400" b="1" dirty="0">
                <a:solidFill>
                  <a:srgbClr val="00B7C3"/>
                </a:solidFill>
                <a:latin typeface="Calibri" pitchFamily="34" charset="0"/>
                <a:ea typeface="Calibri" pitchFamily="34" charset="-122"/>
                <a:cs typeface="Calibri" pitchFamily="34" charset="-120"/>
              </a:rPr>
              <a:t>access granted</a:t>
            </a:r>
            <a:r>
              <a:rPr lang="en-US" sz="1400" dirty="0">
                <a:solidFill>
                  <a:srgbClr val="FFFFFF"/>
                </a:solidFill>
                <a:latin typeface="Calibri" pitchFamily="34" charset="0"/>
                <a:ea typeface="Calibri" pitchFamily="34" charset="-122"/>
                <a:cs typeface="Calibri" pitchFamily="34" charset="-120"/>
              </a:rPr>
              <a:t>, for now</a:t>
            </a:r>
            <a:endParaRPr lang="en-US" sz="1400" dirty="0"/>
          </a:p>
        </p:txBody>
      </p:sp>
      <p:sp>
        <p:nvSpPr>
          <p:cNvPr id="37" name="Shape 24"/>
          <p:cNvSpPr/>
          <p:nvPr/>
        </p:nvSpPr>
        <p:spPr>
          <a:xfrm>
            <a:off x="6191250" y="3673872"/>
            <a:ext cx="5181600" cy="622300"/>
          </a:xfrm>
          <a:prstGeom prst="roundRect">
            <a:avLst>
              <a:gd name="adj" fmla="val 15306"/>
            </a:avLst>
          </a:prstGeom>
          <a:noFill/>
          <a:ln w="12700">
            <a:solidFill>
              <a:srgbClr val="F7630C"/>
            </a:solidFill>
            <a:prstDash val="solid"/>
          </a:ln>
        </p:spPr>
      </p:sp>
      <p:pic>
        <p:nvPicPr>
          <p:cNvPr id="38" name="Image 11" descr="ban icon">    </p:cNvPr>
          <p:cNvPicPr>
            <a:picLocks noChangeAspect="1"/>
          </p:cNvPicPr>
          <p:nvPr/>
        </p:nvPicPr>
        <p:blipFill>
          <a:blip r:embed="rId12"/>
          <a:srcRect l="0" r="0" t="0" b="0"/>
          <a:stretch/>
        </p:blipFill>
        <p:spPr>
          <a:xfrm>
            <a:off x="6400800" y="3832622"/>
            <a:ext cx="304800" cy="304800"/>
          </a:xfrm>
          <a:prstGeom prst="rect">
            <a:avLst/>
          </a:prstGeom>
        </p:spPr>
      </p:pic>
      <p:sp>
        <p:nvSpPr>
          <p:cNvPr id="39" name="Text 25"/>
          <p:cNvSpPr/>
          <p:nvPr/>
        </p:nvSpPr>
        <p:spPr>
          <a:xfrm>
            <a:off x="6832600" y="3860602"/>
            <a:ext cx="45339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Calibri" pitchFamily="34" charset="0"/>
                <a:ea typeface="Calibri" pitchFamily="34" charset="-122"/>
                <a:cs typeface="Calibri" pitchFamily="34" charset="-120"/>
              </a:rPr>
              <a:t>Something looks wrong: </a:t>
            </a:r>
            <a:r>
              <a:rPr lang="en-US" sz="1400" b="1" dirty="0">
                <a:solidFill>
                  <a:srgbClr val="FF9A5C"/>
                </a:solidFill>
                <a:latin typeface="Calibri" pitchFamily="34" charset="0"/>
                <a:ea typeface="Calibri" pitchFamily="34" charset="-122"/>
                <a:cs typeface="Calibri" pitchFamily="34" charset="-120"/>
              </a:rPr>
              <a:t>extra check or blocked</a:t>
            </a:r>
            <a:endParaRPr lang="en-US" sz="1400" dirty="0"/>
          </a:p>
        </p:txBody>
      </p:sp>
      <p:sp>
        <p:nvSpPr>
          <p:cNvPr id="40" name="Text 2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alibri" pitchFamily="34" charset="0"/>
                <a:ea typeface="Calibri" pitchFamily="34" charset="-122"/>
                <a:cs typeface="Calibri" pitchFamily="34" charset="-120"/>
              </a:rPr>
              <a:t>How Zero Trust decides, every time you sign in</a:t>
            </a:r>
            <a:endParaRPr lang="en-US" sz="1200" dirty="0"/>
          </a:p>
        </p:txBody>
      </p:sp>
      <p:sp>
        <p:nvSpPr>
          <p:cNvPr id="41" name="Text 27"/>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3C8"/>
                </a:solidFill>
                <a:latin typeface="Calibri" pitchFamily="34" charset="0"/>
                <a:ea typeface="Calibri" pitchFamily="34" charset="-122"/>
                <a:cs typeface="Calibri" pitchFamily="34" charset="-120"/>
              </a:rPr>
              <a:t>ZNexora Tech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06 · WHAT YOU WILL NOTICE</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Zero Trust in your working day</a:t>
            </a:r>
            <a:endParaRPr lang="en-US" sz="3600" dirty="0"/>
          </a:p>
        </p:txBody>
      </p:sp>
      <p:sp>
        <p:nvSpPr>
          <p:cNvPr id="5" name="Shape 2"/>
          <p:cNvSpPr/>
          <p:nvPr/>
        </p:nvSpPr>
        <p:spPr>
          <a:xfrm>
            <a:off x="812800" y="1569641"/>
            <a:ext cx="3420467" cy="1071761"/>
          </a:xfrm>
          <a:prstGeom prst="roundRect">
            <a:avLst>
              <a:gd name="adj" fmla="val 9480"/>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990600" y="1876921"/>
            <a:ext cx="457200" cy="457200"/>
          </a:xfrm>
          <a:prstGeom prst="roundRect">
            <a:avLst>
              <a:gd name="adj" fmla="val 50000"/>
            </a:avLst>
          </a:prstGeom>
          <a:solidFill>
            <a:srgbClr val="EAF3FC"/>
          </a:solidFill>
          <a:ln/>
        </p:spPr>
      </p:sp>
      <p:pic>
        <p:nvPicPr>
          <p:cNvPr id="7" name="Image 1" descr="phone icon">    </p:cNvPr>
          <p:cNvPicPr>
            <a:picLocks noChangeAspect="1"/>
          </p:cNvPicPr>
          <p:nvPr/>
        </p:nvPicPr>
        <p:blipFill>
          <a:blip r:embed="rId2"/>
          <a:srcRect l="0" r="0" t="0" b="0"/>
          <a:stretch/>
        </p:blipFill>
        <p:spPr>
          <a:xfrm>
            <a:off x="1104900" y="1991221"/>
            <a:ext cx="228600" cy="228600"/>
          </a:xfrm>
          <a:prstGeom prst="rect">
            <a:avLst/>
          </a:prstGeom>
        </p:spPr>
      </p:pic>
      <p:sp>
        <p:nvSpPr>
          <p:cNvPr id="8" name="Text 4"/>
          <p:cNvSpPr/>
          <p:nvPr/>
        </p:nvSpPr>
        <p:spPr>
          <a:xfrm>
            <a:off x="1574800" y="1747441"/>
            <a:ext cx="25550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MFA prompts</a:t>
            </a:r>
            <a:endParaRPr lang="en-US" sz="1500" dirty="0"/>
          </a:p>
        </p:txBody>
      </p:sp>
      <p:sp>
        <p:nvSpPr>
          <p:cNvPr id="9" name="Text 5"/>
          <p:cNvSpPr/>
          <p:nvPr/>
        </p:nvSpPr>
        <p:spPr>
          <a:xfrm>
            <a:off x="1574800" y="2001441"/>
            <a:ext cx="255508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when you sign in from a new place</a:t>
            </a:r>
            <a:endParaRPr lang="en-US" sz="1300" dirty="0"/>
          </a:p>
        </p:txBody>
      </p:sp>
      <p:sp>
        <p:nvSpPr>
          <p:cNvPr id="10" name="Shape 6"/>
          <p:cNvSpPr/>
          <p:nvPr/>
        </p:nvSpPr>
        <p:spPr>
          <a:xfrm>
            <a:off x="4385667" y="1569641"/>
            <a:ext cx="3420566" cy="1071761"/>
          </a:xfrm>
          <a:prstGeom prst="roundRect">
            <a:avLst>
              <a:gd name="adj" fmla="val 9480"/>
            </a:avLst>
          </a:prstGeom>
          <a:solidFill>
            <a:srgbClr val="FFFFFF"/>
          </a:solidFill>
          <a:ln/>
          <a:effectLst>
            <a:outerShdw sx="100000" sy="100000" kx="0" ky="0" algn="bl" rotWithShape="0" blurRad="101600" dist="25400" dir="5400000">
              <a:srgbClr val="C9D6E3">
                <a:alpha val="100000"/>
              </a:srgbClr>
            </a:outerShdw>
          </a:effectLst>
        </p:spPr>
      </p:sp>
      <p:sp>
        <p:nvSpPr>
          <p:cNvPr id="11" name="Shape 7"/>
          <p:cNvSpPr/>
          <p:nvPr/>
        </p:nvSpPr>
        <p:spPr>
          <a:xfrm>
            <a:off x="4563467" y="1876921"/>
            <a:ext cx="457200" cy="457200"/>
          </a:xfrm>
          <a:prstGeom prst="roundRect">
            <a:avLst>
              <a:gd name="adj" fmla="val 50000"/>
            </a:avLst>
          </a:prstGeom>
          <a:solidFill>
            <a:srgbClr val="EAF3FC"/>
          </a:solidFill>
          <a:ln/>
        </p:spPr>
      </p:sp>
      <p:pic>
        <p:nvPicPr>
          <p:cNvPr id="12" name="Image 2" descr="laptop icon">    </p:cNvPr>
          <p:cNvPicPr>
            <a:picLocks noChangeAspect="1"/>
          </p:cNvPicPr>
          <p:nvPr/>
        </p:nvPicPr>
        <p:blipFill>
          <a:blip r:embed="rId3"/>
          <a:srcRect l="0" r="0" t="0" b="0"/>
          <a:stretch/>
        </p:blipFill>
        <p:spPr>
          <a:xfrm>
            <a:off x="4677767" y="1991221"/>
            <a:ext cx="228600" cy="228600"/>
          </a:xfrm>
          <a:prstGeom prst="rect">
            <a:avLst/>
          </a:prstGeom>
        </p:spPr>
      </p:pic>
      <p:sp>
        <p:nvSpPr>
          <p:cNvPr id="13" name="Text 8"/>
          <p:cNvSpPr/>
          <p:nvPr/>
        </p:nvSpPr>
        <p:spPr>
          <a:xfrm>
            <a:off x="5147667" y="1747441"/>
            <a:ext cx="25551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Device checks</a:t>
            </a:r>
            <a:endParaRPr lang="en-US" sz="1500" dirty="0"/>
          </a:p>
        </p:txBody>
      </p:sp>
      <p:sp>
        <p:nvSpPr>
          <p:cNvPr id="14" name="Text 9"/>
          <p:cNvSpPr/>
          <p:nvPr/>
        </p:nvSpPr>
        <p:spPr>
          <a:xfrm>
            <a:off x="5147667" y="2001441"/>
            <a:ext cx="255518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blocking unmanaged or outdated devices</a:t>
            </a:r>
            <a:endParaRPr lang="en-US" sz="1300" dirty="0"/>
          </a:p>
        </p:txBody>
      </p:sp>
      <p:sp>
        <p:nvSpPr>
          <p:cNvPr id="15" name="Shape 10"/>
          <p:cNvSpPr/>
          <p:nvPr/>
        </p:nvSpPr>
        <p:spPr>
          <a:xfrm>
            <a:off x="7958634" y="1569641"/>
            <a:ext cx="3420566" cy="1071761"/>
          </a:xfrm>
          <a:prstGeom prst="roundRect">
            <a:avLst>
              <a:gd name="adj" fmla="val 9480"/>
            </a:avLst>
          </a:prstGeom>
          <a:solidFill>
            <a:srgbClr val="FFFFFF"/>
          </a:solidFill>
          <a:ln/>
          <a:effectLst>
            <a:outerShdw sx="100000" sy="100000" kx="0" ky="0" algn="bl" rotWithShape="0" blurRad="101600" dist="25400" dir="5400000">
              <a:srgbClr val="C9D6E3">
                <a:alpha val="100000"/>
              </a:srgbClr>
            </a:outerShdw>
          </a:effectLst>
        </p:spPr>
      </p:sp>
      <p:sp>
        <p:nvSpPr>
          <p:cNvPr id="16" name="Shape 11"/>
          <p:cNvSpPr/>
          <p:nvPr/>
        </p:nvSpPr>
        <p:spPr>
          <a:xfrm>
            <a:off x="8136434" y="1876921"/>
            <a:ext cx="457200" cy="457200"/>
          </a:xfrm>
          <a:prstGeom prst="roundRect">
            <a:avLst>
              <a:gd name="adj" fmla="val 50000"/>
            </a:avLst>
          </a:prstGeom>
          <a:solidFill>
            <a:srgbClr val="EAF3FC"/>
          </a:solidFill>
          <a:ln/>
        </p:spPr>
      </p:sp>
      <p:pic>
        <p:nvPicPr>
          <p:cNvPr id="17" name="Image 3" descr="lock icon">    </p:cNvPr>
          <p:cNvPicPr>
            <a:picLocks noChangeAspect="1"/>
          </p:cNvPicPr>
          <p:nvPr/>
        </p:nvPicPr>
        <p:blipFill>
          <a:blip r:embed="rId4"/>
          <a:srcRect l="0" r="0" t="0" b="0"/>
          <a:stretch/>
        </p:blipFill>
        <p:spPr>
          <a:xfrm>
            <a:off x="8250734" y="1991221"/>
            <a:ext cx="228600" cy="228600"/>
          </a:xfrm>
          <a:prstGeom prst="rect">
            <a:avLst/>
          </a:prstGeom>
        </p:spPr>
      </p:pic>
      <p:sp>
        <p:nvSpPr>
          <p:cNvPr id="18" name="Text 12"/>
          <p:cNvSpPr/>
          <p:nvPr/>
        </p:nvSpPr>
        <p:spPr>
          <a:xfrm>
            <a:off x="8720634" y="1748631"/>
            <a:ext cx="2555189"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Access to only what you need</a:t>
            </a:r>
            <a:endParaRPr lang="en-US" sz="1500" dirty="0"/>
          </a:p>
        </p:txBody>
      </p:sp>
      <p:sp>
        <p:nvSpPr>
          <p:cNvPr id="19" name="Text 13"/>
          <p:cNvSpPr/>
          <p:nvPr/>
        </p:nvSpPr>
        <p:spPr>
          <a:xfrm>
            <a:off x="8720634" y="2231231"/>
            <a:ext cx="25551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not every shared folder</a:t>
            </a:r>
            <a:endParaRPr lang="en-US" sz="1300" dirty="0"/>
          </a:p>
        </p:txBody>
      </p:sp>
      <p:sp>
        <p:nvSpPr>
          <p:cNvPr id="20" name="Shape 14"/>
          <p:cNvSpPr/>
          <p:nvPr/>
        </p:nvSpPr>
        <p:spPr>
          <a:xfrm>
            <a:off x="812800" y="2793802"/>
            <a:ext cx="3420467" cy="840680"/>
          </a:xfrm>
          <a:prstGeom prst="roundRect">
            <a:avLst>
              <a:gd name="adj" fmla="val 12085"/>
            </a:avLst>
          </a:prstGeom>
          <a:solidFill>
            <a:srgbClr val="FFFFFF"/>
          </a:solidFill>
          <a:ln/>
          <a:effectLst>
            <a:outerShdw sx="100000" sy="100000" kx="0" ky="0" algn="bl" rotWithShape="0" blurRad="101600" dist="25400" dir="5400000">
              <a:srgbClr val="C9D6E3">
                <a:alpha val="100000"/>
              </a:srgbClr>
            </a:outerShdw>
          </a:effectLst>
        </p:spPr>
      </p:sp>
      <p:sp>
        <p:nvSpPr>
          <p:cNvPr id="21" name="Shape 15"/>
          <p:cNvSpPr/>
          <p:nvPr/>
        </p:nvSpPr>
        <p:spPr>
          <a:xfrm>
            <a:off x="990600" y="2985492"/>
            <a:ext cx="457200" cy="457200"/>
          </a:xfrm>
          <a:prstGeom prst="roundRect">
            <a:avLst>
              <a:gd name="adj" fmla="val 50000"/>
            </a:avLst>
          </a:prstGeom>
          <a:solidFill>
            <a:srgbClr val="EAF3FC"/>
          </a:solidFill>
          <a:ln/>
        </p:spPr>
      </p:sp>
      <p:pic>
        <p:nvPicPr>
          <p:cNvPr id="22" name="Image 4" descr="refresh icon">    </p:cNvPr>
          <p:cNvPicPr>
            <a:picLocks noChangeAspect="1"/>
          </p:cNvPicPr>
          <p:nvPr/>
        </p:nvPicPr>
        <p:blipFill>
          <a:blip r:embed="rId5"/>
          <a:srcRect l="0" r="0" t="0" b="0"/>
          <a:stretch/>
        </p:blipFill>
        <p:spPr>
          <a:xfrm>
            <a:off x="1104900" y="3099792"/>
            <a:ext cx="228600" cy="228600"/>
          </a:xfrm>
          <a:prstGeom prst="rect">
            <a:avLst/>
          </a:prstGeom>
        </p:spPr>
      </p:pic>
      <p:sp>
        <p:nvSpPr>
          <p:cNvPr id="23" name="Text 16"/>
          <p:cNvSpPr/>
          <p:nvPr/>
        </p:nvSpPr>
        <p:spPr>
          <a:xfrm>
            <a:off x="1574800" y="2971602"/>
            <a:ext cx="25550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Re-login requests</a:t>
            </a:r>
            <a:endParaRPr lang="en-US" sz="1500" dirty="0"/>
          </a:p>
        </p:txBody>
      </p:sp>
      <p:sp>
        <p:nvSpPr>
          <p:cNvPr id="24" name="Text 17"/>
          <p:cNvSpPr/>
          <p:nvPr/>
        </p:nvSpPr>
        <p:spPr>
          <a:xfrm>
            <a:off x="1574800" y="3225602"/>
            <a:ext cx="255508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sessions that expire after a while</a:t>
            </a:r>
            <a:endParaRPr lang="en-US" sz="1300" dirty="0"/>
          </a:p>
        </p:txBody>
      </p:sp>
      <p:sp>
        <p:nvSpPr>
          <p:cNvPr id="25" name="Shape 18"/>
          <p:cNvSpPr/>
          <p:nvPr/>
        </p:nvSpPr>
        <p:spPr>
          <a:xfrm>
            <a:off x="4385667" y="2793802"/>
            <a:ext cx="3420566" cy="840680"/>
          </a:xfrm>
          <a:prstGeom prst="roundRect">
            <a:avLst>
              <a:gd name="adj" fmla="val 12085"/>
            </a:avLst>
          </a:prstGeom>
          <a:solidFill>
            <a:srgbClr val="FFFFFF"/>
          </a:solidFill>
          <a:ln/>
          <a:effectLst>
            <a:outerShdw sx="100000" sy="100000" kx="0" ky="0" algn="bl" rotWithShape="0" blurRad="101600" dist="25400" dir="5400000">
              <a:srgbClr val="C9D6E3">
                <a:alpha val="100000"/>
              </a:srgbClr>
            </a:outerShdw>
          </a:effectLst>
        </p:spPr>
      </p:sp>
      <p:sp>
        <p:nvSpPr>
          <p:cNvPr id="26" name="Shape 19"/>
          <p:cNvSpPr/>
          <p:nvPr/>
        </p:nvSpPr>
        <p:spPr>
          <a:xfrm>
            <a:off x="4563467" y="2985492"/>
            <a:ext cx="457200" cy="457200"/>
          </a:xfrm>
          <a:prstGeom prst="roundRect">
            <a:avLst>
              <a:gd name="adj" fmla="val 50000"/>
            </a:avLst>
          </a:prstGeom>
          <a:solidFill>
            <a:srgbClr val="EAF3FC"/>
          </a:solidFill>
          <a:ln/>
        </p:spPr>
      </p:sp>
      <p:pic>
        <p:nvPicPr>
          <p:cNvPr id="27" name="Image 5" descr="ban icon">    </p:cNvPr>
          <p:cNvPicPr>
            <a:picLocks noChangeAspect="1"/>
          </p:cNvPicPr>
          <p:nvPr/>
        </p:nvPicPr>
        <p:blipFill>
          <a:blip r:embed="rId6"/>
          <a:srcRect l="0" r="0" t="0" b="0"/>
          <a:stretch/>
        </p:blipFill>
        <p:spPr>
          <a:xfrm>
            <a:off x="4677767" y="3099792"/>
            <a:ext cx="228600" cy="228600"/>
          </a:xfrm>
          <a:prstGeom prst="rect">
            <a:avLst/>
          </a:prstGeom>
        </p:spPr>
      </p:pic>
      <p:sp>
        <p:nvSpPr>
          <p:cNvPr id="28" name="Text 20"/>
          <p:cNvSpPr/>
          <p:nvPr/>
        </p:nvSpPr>
        <p:spPr>
          <a:xfrm>
            <a:off x="5147667" y="2971602"/>
            <a:ext cx="25551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Blocked unapproved apps</a:t>
            </a:r>
            <a:endParaRPr lang="en-US" sz="1500" dirty="0"/>
          </a:p>
        </p:txBody>
      </p:sp>
      <p:sp>
        <p:nvSpPr>
          <p:cNvPr id="29" name="Text 21"/>
          <p:cNvSpPr/>
          <p:nvPr/>
        </p:nvSpPr>
        <p:spPr>
          <a:xfrm>
            <a:off x="5147667" y="3225602"/>
            <a:ext cx="25551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and USB drives</a:t>
            </a:r>
            <a:endParaRPr lang="en-US" sz="1300" dirty="0"/>
          </a:p>
        </p:txBody>
      </p:sp>
      <p:sp>
        <p:nvSpPr>
          <p:cNvPr id="30" name="Shape 22"/>
          <p:cNvSpPr/>
          <p:nvPr/>
        </p:nvSpPr>
        <p:spPr>
          <a:xfrm>
            <a:off x="7958634" y="2793802"/>
            <a:ext cx="3420566" cy="840680"/>
          </a:xfrm>
          <a:prstGeom prst="roundRect">
            <a:avLst>
              <a:gd name="adj" fmla="val 12085"/>
            </a:avLst>
          </a:prstGeom>
          <a:solidFill>
            <a:srgbClr val="FFFFFF"/>
          </a:solidFill>
          <a:ln/>
          <a:effectLst>
            <a:outerShdw sx="100000" sy="100000" kx="0" ky="0" algn="bl" rotWithShape="0" blurRad="101600" dist="25400" dir="5400000">
              <a:srgbClr val="C9D6E3">
                <a:alpha val="100000"/>
              </a:srgbClr>
            </a:outerShdw>
          </a:effectLst>
        </p:spPr>
      </p:sp>
      <p:sp>
        <p:nvSpPr>
          <p:cNvPr id="31" name="Shape 23"/>
          <p:cNvSpPr/>
          <p:nvPr/>
        </p:nvSpPr>
        <p:spPr>
          <a:xfrm>
            <a:off x="8136434" y="2985492"/>
            <a:ext cx="457200" cy="457200"/>
          </a:xfrm>
          <a:prstGeom prst="roundRect">
            <a:avLst>
              <a:gd name="adj" fmla="val 50000"/>
            </a:avLst>
          </a:prstGeom>
          <a:solidFill>
            <a:srgbClr val="EAF3FC"/>
          </a:solidFill>
          <a:ln/>
        </p:spPr>
      </p:sp>
      <p:pic>
        <p:nvPicPr>
          <p:cNvPr id="32" name="Image 6" descr="alert icon">    </p:cNvPr>
          <p:cNvPicPr>
            <a:picLocks noChangeAspect="1"/>
          </p:cNvPicPr>
          <p:nvPr/>
        </p:nvPicPr>
        <p:blipFill>
          <a:blip r:embed="rId7"/>
          <a:srcRect l="0" r="0" t="0" b="0"/>
          <a:stretch/>
        </p:blipFill>
        <p:spPr>
          <a:xfrm>
            <a:off x="8250734" y="3099792"/>
            <a:ext cx="228600" cy="228600"/>
          </a:xfrm>
          <a:prstGeom prst="rect">
            <a:avLst/>
          </a:prstGeom>
        </p:spPr>
      </p:pic>
      <p:sp>
        <p:nvSpPr>
          <p:cNvPr id="33" name="Text 24"/>
          <p:cNvSpPr/>
          <p:nvPr/>
        </p:nvSpPr>
        <p:spPr>
          <a:xfrm>
            <a:off x="8720634" y="2971602"/>
            <a:ext cx="25551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Unusual sign-in alerts</a:t>
            </a:r>
            <a:endParaRPr lang="en-US" sz="1500" dirty="0"/>
          </a:p>
        </p:txBody>
      </p:sp>
      <p:sp>
        <p:nvSpPr>
          <p:cNvPr id="34" name="Text 25"/>
          <p:cNvSpPr/>
          <p:nvPr/>
        </p:nvSpPr>
        <p:spPr>
          <a:xfrm>
            <a:off x="8720634" y="3225602"/>
            <a:ext cx="265856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that ask you to confirm it was you</a:t>
            </a:r>
            <a:endParaRPr lang="en-US" sz="1300" dirty="0"/>
          </a:p>
        </p:txBody>
      </p:sp>
      <p:sp>
        <p:nvSpPr>
          <p:cNvPr id="35" name="Shape 26"/>
          <p:cNvSpPr/>
          <p:nvPr/>
        </p:nvSpPr>
        <p:spPr>
          <a:xfrm>
            <a:off x="812800" y="3888482"/>
            <a:ext cx="10566400" cy="762000"/>
          </a:xfrm>
          <a:prstGeom prst="roundRect">
            <a:avLst>
              <a:gd name="adj" fmla="val 13333"/>
            </a:avLst>
          </a:prstGeom>
          <a:solidFill>
            <a:srgbClr val="0A1628"/>
          </a:solidFill>
          <a:ln/>
        </p:spPr>
      </p:sp>
      <p:sp>
        <p:nvSpPr>
          <p:cNvPr id="36" name="Shape 27"/>
          <p:cNvSpPr/>
          <p:nvPr/>
        </p:nvSpPr>
        <p:spPr>
          <a:xfrm>
            <a:off x="1041400" y="4066282"/>
            <a:ext cx="406400" cy="406400"/>
          </a:xfrm>
          <a:prstGeom prst="roundRect">
            <a:avLst>
              <a:gd name="adj" fmla="val 50000"/>
            </a:avLst>
          </a:prstGeom>
          <a:solidFill>
            <a:srgbClr val="00B7C3"/>
          </a:solidFill>
          <a:ln/>
        </p:spPr>
      </p:sp>
      <p:pic>
        <p:nvPicPr>
          <p:cNvPr id="37" name="Image 7" descr="shield icon">    </p:cNvPr>
          <p:cNvPicPr>
            <a:picLocks noChangeAspect="1"/>
          </p:cNvPicPr>
          <p:nvPr/>
        </p:nvPicPr>
        <p:blipFill>
          <a:blip r:embed="rId8"/>
          <a:srcRect l="0" r="0" t="0" b="0"/>
          <a:stretch/>
        </p:blipFill>
        <p:spPr>
          <a:xfrm>
            <a:off x="1143000" y="4167882"/>
            <a:ext cx="203200" cy="203200"/>
          </a:xfrm>
          <a:prstGeom prst="rect">
            <a:avLst/>
          </a:prstGeom>
        </p:spPr>
      </p:pic>
      <p:sp>
        <p:nvSpPr>
          <p:cNvPr id="38" name="Text 28"/>
          <p:cNvSpPr/>
          <p:nvPr/>
        </p:nvSpPr>
        <p:spPr>
          <a:xfrm>
            <a:off x="1600200" y="4127202"/>
            <a:ext cx="983691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alibri" pitchFamily="34" charset="0"/>
                <a:ea typeface="Calibri" pitchFamily="34" charset="-122"/>
                <a:cs typeface="Calibri" pitchFamily="34" charset="-120"/>
              </a:rPr>
              <a:t>These aren't IT being difficult. </a:t>
            </a:r>
            <a:r>
              <a:rPr lang="en-US" sz="1600" b="1" dirty="0">
                <a:solidFill>
                  <a:srgbClr val="00B7C3"/>
                </a:solidFill>
                <a:latin typeface="Calibri" pitchFamily="34" charset="0"/>
                <a:ea typeface="Calibri" pitchFamily="34" charset="-122"/>
                <a:cs typeface="Calibri" pitchFamily="34" charset="-120"/>
              </a:rPr>
              <a:t>That's Zero Trust protecting you.</a:t>
            </a:r>
            <a:endParaRPr lang="en-US" sz="1600" dirty="0"/>
          </a:p>
        </p:txBody>
      </p:sp>
      <p:sp>
        <p:nvSpPr>
          <p:cNvPr id="39" name="Text 2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security guidance</a:t>
            </a:r>
            <a:endParaRPr lang="en-US" sz="1200" dirty="0"/>
          </a:p>
        </p:txBody>
      </p:sp>
      <p:sp>
        <p:nvSpPr>
          <p:cNvPr id="40" name="Text 30"/>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07 · SIDE BY SIDE</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The old way vs Zero Trust</a:t>
            </a:r>
            <a:endParaRPr lang="en-US" sz="3600" dirty="0"/>
          </a:p>
        </p:txBody>
      </p:sp>
      <p:sp>
        <p:nvSpPr>
          <p:cNvPr id="5" name="Shape 2"/>
          <p:cNvSpPr/>
          <p:nvPr/>
        </p:nvSpPr>
        <p:spPr>
          <a:xfrm>
            <a:off x="812800" y="1569641"/>
            <a:ext cx="10566400" cy="3025973"/>
          </a:xfrm>
          <a:prstGeom prst="roundRect">
            <a:avLst>
              <a:gd name="adj" fmla="val 3358"/>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1066800" y="2046486"/>
            <a:ext cx="10058400" cy="0"/>
          </a:xfrm>
          <a:prstGeom prst="line">
            <a:avLst/>
          </a:prstGeom>
          <a:noFill/>
          <a:ln w="19050">
            <a:solidFill>
              <a:srgbClr val="D6E2EE"/>
            </a:solidFill>
            <a:prstDash val="solid"/>
          </a:ln>
        </p:spPr>
      </p:sp>
      <p:sp>
        <p:nvSpPr>
          <p:cNvPr id="7" name="Text 4"/>
          <p:cNvSpPr/>
          <p:nvPr/>
        </p:nvSpPr>
        <p:spPr>
          <a:xfrm>
            <a:off x="4064000" y="1747441"/>
            <a:ext cx="34010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24E06"/>
                </a:solidFill>
                <a:latin typeface="Calibri" pitchFamily="34" charset="0"/>
                <a:ea typeface="Calibri" pitchFamily="34" charset="-122"/>
                <a:cs typeface="Calibri" pitchFamily="34" charset="-120"/>
              </a:rPr>
              <a:t>CASTLE AND MOAT</a:t>
            </a:r>
            <a:endParaRPr lang="en-US" sz="1200" dirty="0"/>
          </a:p>
        </p:txBody>
      </p:sp>
      <p:sp>
        <p:nvSpPr>
          <p:cNvPr id="8" name="Text 5"/>
          <p:cNvSpPr/>
          <p:nvPr/>
        </p:nvSpPr>
        <p:spPr>
          <a:xfrm>
            <a:off x="7569200" y="1747441"/>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ZERO TRUST</a:t>
            </a:r>
            <a:endParaRPr lang="en-US" sz="1200" dirty="0"/>
          </a:p>
        </p:txBody>
      </p:sp>
      <p:sp>
        <p:nvSpPr>
          <p:cNvPr id="9" name="Shape 6"/>
          <p:cNvSpPr/>
          <p:nvPr/>
        </p:nvSpPr>
        <p:spPr>
          <a:xfrm>
            <a:off x="1066800" y="2539802"/>
            <a:ext cx="10058400" cy="0"/>
          </a:xfrm>
          <a:prstGeom prst="line">
            <a:avLst/>
          </a:prstGeom>
          <a:noFill/>
          <a:ln w="12700">
            <a:solidFill>
              <a:srgbClr val="D6E2EE"/>
            </a:solidFill>
            <a:prstDash val="solid"/>
          </a:ln>
        </p:spPr>
      </p:sp>
      <p:sp>
        <p:nvSpPr>
          <p:cNvPr id="10" name="Text 7"/>
          <p:cNvSpPr/>
          <p:nvPr/>
        </p:nvSpPr>
        <p:spPr>
          <a:xfrm>
            <a:off x="1066800" y="2170311"/>
            <a:ext cx="28778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Who is trusted?</a:t>
            </a:r>
            <a:endParaRPr lang="en-US" sz="1400" dirty="0"/>
          </a:p>
        </p:txBody>
      </p:sp>
      <p:pic>
        <p:nvPicPr>
          <p:cNvPr id="11" name="Image 1" descr="x icon">    </p:cNvPr>
          <p:cNvPicPr>
            <a:picLocks noChangeAspect="1"/>
          </p:cNvPicPr>
          <p:nvPr/>
        </p:nvPicPr>
        <p:blipFill>
          <a:blip r:embed="rId2"/>
          <a:srcRect l="0" r="0" t="0" b="0"/>
          <a:stretch/>
        </p:blipFill>
        <p:spPr>
          <a:xfrm>
            <a:off x="4064000" y="2193131"/>
            <a:ext cx="203200" cy="203200"/>
          </a:xfrm>
          <a:prstGeom prst="rect">
            <a:avLst/>
          </a:prstGeom>
        </p:spPr>
      </p:pic>
      <p:sp>
        <p:nvSpPr>
          <p:cNvPr id="12" name="Text 8"/>
          <p:cNvSpPr/>
          <p:nvPr/>
        </p:nvSpPr>
        <p:spPr>
          <a:xfrm>
            <a:off x="4368800" y="2170311"/>
            <a:ext cx="250269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Anyone inside the network</a:t>
            </a:r>
            <a:endParaRPr lang="en-US" sz="1400" dirty="0"/>
          </a:p>
        </p:txBody>
      </p:sp>
      <p:pic>
        <p:nvPicPr>
          <p:cNvPr id="13" name="Image 2" descr="check icon">    </p:cNvPr>
          <p:cNvPicPr>
            <a:picLocks noChangeAspect="1"/>
          </p:cNvPicPr>
          <p:nvPr/>
        </p:nvPicPr>
        <p:blipFill>
          <a:blip r:embed="rId3"/>
          <a:srcRect l="0" r="0" t="0" b="0"/>
          <a:stretch/>
        </p:blipFill>
        <p:spPr>
          <a:xfrm>
            <a:off x="7569200" y="2193131"/>
            <a:ext cx="203200" cy="203200"/>
          </a:xfrm>
          <a:prstGeom prst="rect">
            <a:avLst/>
          </a:prstGeom>
        </p:spPr>
      </p:pic>
      <p:sp>
        <p:nvSpPr>
          <p:cNvPr id="14" name="Text 9"/>
          <p:cNvSpPr/>
          <p:nvPr/>
        </p:nvSpPr>
        <p:spPr>
          <a:xfrm>
            <a:off x="7874000" y="2170311"/>
            <a:ext cx="178998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78D4"/>
                </a:solidFill>
                <a:latin typeface="Calibri" pitchFamily="34" charset="0"/>
                <a:ea typeface="Calibri" pitchFamily="34" charset="-122"/>
                <a:cs typeface="Calibri" pitchFamily="34" charset="-120"/>
              </a:rPr>
              <a:t>No one by default</a:t>
            </a:r>
            <a:endParaRPr lang="en-US" sz="1400" dirty="0"/>
          </a:p>
        </p:txBody>
      </p:sp>
      <p:sp>
        <p:nvSpPr>
          <p:cNvPr id="15" name="Shape 10"/>
          <p:cNvSpPr/>
          <p:nvPr/>
        </p:nvSpPr>
        <p:spPr>
          <a:xfrm>
            <a:off x="1066800" y="3029942"/>
            <a:ext cx="10058400" cy="0"/>
          </a:xfrm>
          <a:prstGeom prst="line">
            <a:avLst/>
          </a:prstGeom>
          <a:noFill/>
          <a:ln w="12700">
            <a:solidFill>
              <a:srgbClr val="D6E2EE"/>
            </a:solidFill>
            <a:prstDash val="solid"/>
          </a:ln>
        </p:spPr>
      </p:sp>
      <p:sp>
        <p:nvSpPr>
          <p:cNvPr id="16" name="Text 11"/>
          <p:cNvSpPr/>
          <p:nvPr/>
        </p:nvSpPr>
        <p:spPr>
          <a:xfrm>
            <a:off x="1066800" y="2660452"/>
            <a:ext cx="28778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How often is it checked?</a:t>
            </a:r>
            <a:endParaRPr lang="en-US" sz="1400" dirty="0"/>
          </a:p>
        </p:txBody>
      </p:sp>
      <p:pic>
        <p:nvPicPr>
          <p:cNvPr id="17" name="Image 3" descr="x icon">    </p:cNvPr>
          <p:cNvPicPr>
            <a:picLocks noChangeAspect="1"/>
          </p:cNvPicPr>
          <p:nvPr/>
        </p:nvPicPr>
        <p:blipFill>
          <a:blip r:embed="rId4"/>
          <a:srcRect l="0" r="0" t="0" b="0"/>
          <a:stretch/>
        </p:blipFill>
        <p:spPr>
          <a:xfrm>
            <a:off x="4064000" y="2683272"/>
            <a:ext cx="203200" cy="203200"/>
          </a:xfrm>
          <a:prstGeom prst="rect">
            <a:avLst/>
          </a:prstGeom>
        </p:spPr>
      </p:pic>
      <p:sp>
        <p:nvSpPr>
          <p:cNvPr id="18" name="Text 12"/>
          <p:cNvSpPr/>
          <p:nvPr/>
        </p:nvSpPr>
        <p:spPr>
          <a:xfrm>
            <a:off x="4368800" y="2660452"/>
            <a:ext cx="164865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Once, at the door</a:t>
            </a:r>
            <a:endParaRPr lang="en-US" sz="1400" dirty="0"/>
          </a:p>
        </p:txBody>
      </p:sp>
      <p:pic>
        <p:nvPicPr>
          <p:cNvPr id="19" name="Image 4" descr="check icon">    </p:cNvPr>
          <p:cNvPicPr>
            <a:picLocks noChangeAspect="1"/>
          </p:cNvPicPr>
          <p:nvPr/>
        </p:nvPicPr>
        <p:blipFill>
          <a:blip r:embed="rId5"/>
          <a:srcRect l="0" r="0" t="0" b="0"/>
          <a:stretch/>
        </p:blipFill>
        <p:spPr>
          <a:xfrm>
            <a:off x="7569200" y="2683272"/>
            <a:ext cx="203200" cy="203200"/>
          </a:xfrm>
          <a:prstGeom prst="rect">
            <a:avLst/>
          </a:prstGeom>
        </p:spPr>
      </p:pic>
      <p:sp>
        <p:nvSpPr>
          <p:cNvPr id="20" name="Text 13"/>
          <p:cNvSpPr/>
          <p:nvPr/>
        </p:nvSpPr>
        <p:spPr>
          <a:xfrm>
            <a:off x="7874000" y="2660452"/>
            <a:ext cx="28575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78D4"/>
                </a:solidFill>
                <a:latin typeface="Calibri" pitchFamily="34" charset="0"/>
                <a:ea typeface="Calibri" pitchFamily="34" charset="-122"/>
                <a:cs typeface="Calibri" pitchFamily="34" charset="-120"/>
              </a:rPr>
              <a:t>Every request, continuously</a:t>
            </a:r>
            <a:endParaRPr lang="en-US" sz="1400" dirty="0"/>
          </a:p>
        </p:txBody>
      </p:sp>
      <p:sp>
        <p:nvSpPr>
          <p:cNvPr id="21" name="Shape 14"/>
          <p:cNvSpPr/>
          <p:nvPr/>
        </p:nvSpPr>
        <p:spPr>
          <a:xfrm>
            <a:off x="1066800" y="3520083"/>
            <a:ext cx="10058400" cy="0"/>
          </a:xfrm>
          <a:prstGeom prst="line">
            <a:avLst/>
          </a:prstGeom>
          <a:noFill/>
          <a:ln w="12700">
            <a:solidFill>
              <a:srgbClr val="D6E2EE"/>
            </a:solidFill>
            <a:prstDash val="solid"/>
          </a:ln>
        </p:spPr>
      </p:sp>
      <p:sp>
        <p:nvSpPr>
          <p:cNvPr id="22" name="Text 15"/>
          <p:cNvSpPr/>
          <p:nvPr/>
        </p:nvSpPr>
        <p:spPr>
          <a:xfrm>
            <a:off x="1066800" y="3150592"/>
            <a:ext cx="28778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How much access?</a:t>
            </a:r>
            <a:endParaRPr lang="en-US" sz="1400" dirty="0"/>
          </a:p>
        </p:txBody>
      </p:sp>
      <p:pic>
        <p:nvPicPr>
          <p:cNvPr id="23" name="Image 5" descr="x icon">    </p:cNvPr>
          <p:cNvPicPr>
            <a:picLocks noChangeAspect="1"/>
          </p:cNvPicPr>
          <p:nvPr/>
        </p:nvPicPr>
        <p:blipFill>
          <a:blip r:embed="rId6"/>
          <a:srcRect l="0" r="0" t="0" b="0"/>
          <a:stretch/>
        </p:blipFill>
        <p:spPr>
          <a:xfrm>
            <a:off x="4064000" y="3173413"/>
            <a:ext cx="203200" cy="203200"/>
          </a:xfrm>
          <a:prstGeom prst="rect">
            <a:avLst/>
          </a:prstGeom>
        </p:spPr>
      </p:pic>
      <p:sp>
        <p:nvSpPr>
          <p:cNvPr id="24" name="Text 16"/>
          <p:cNvSpPr/>
          <p:nvPr/>
        </p:nvSpPr>
        <p:spPr>
          <a:xfrm>
            <a:off x="4368800" y="3150592"/>
            <a:ext cx="220610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Broad, often everything</a:t>
            </a:r>
            <a:endParaRPr lang="en-US" sz="1400" dirty="0"/>
          </a:p>
        </p:txBody>
      </p:sp>
      <p:pic>
        <p:nvPicPr>
          <p:cNvPr id="25" name="Image 6" descr="check icon">    </p:cNvPr>
          <p:cNvPicPr>
            <a:picLocks noChangeAspect="1"/>
          </p:cNvPicPr>
          <p:nvPr/>
        </p:nvPicPr>
        <p:blipFill>
          <a:blip r:embed="rId7"/>
          <a:srcRect l="0" r="0" t="0" b="0"/>
          <a:stretch/>
        </p:blipFill>
        <p:spPr>
          <a:xfrm>
            <a:off x="7569200" y="3173413"/>
            <a:ext cx="203200" cy="203200"/>
          </a:xfrm>
          <a:prstGeom prst="rect">
            <a:avLst/>
          </a:prstGeom>
        </p:spPr>
      </p:pic>
      <p:sp>
        <p:nvSpPr>
          <p:cNvPr id="26" name="Text 17"/>
          <p:cNvSpPr/>
          <p:nvPr/>
        </p:nvSpPr>
        <p:spPr>
          <a:xfrm>
            <a:off x="7874000" y="3150592"/>
            <a:ext cx="201537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78D4"/>
                </a:solidFill>
                <a:latin typeface="Calibri" pitchFamily="34" charset="0"/>
                <a:ea typeface="Calibri" pitchFamily="34" charset="-122"/>
                <a:cs typeface="Calibri" pitchFamily="34" charset="-120"/>
              </a:rPr>
              <a:t>Only what you need</a:t>
            </a:r>
            <a:endParaRPr lang="en-US" sz="1400" dirty="0"/>
          </a:p>
        </p:txBody>
      </p:sp>
      <p:sp>
        <p:nvSpPr>
          <p:cNvPr id="27" name="Shape 18"/>
          <p:cNvSpPr/>
          <p:nvPr/>
        </p:nvSpPr>
        <p:spPr>
          <a:xfrm>
            <a:off x="1066800" y="4010223"/>
            <a:ext cx="10058400" cy="0"/>
          </a:xfrm>
          <a:prstGeom prst="line">
            <a:avLst/>
          </a:prstGeom>
          <a:noFill/>
          <a:ln w="12700">
            <a:solidFill>
              <a:srgbClr val="D6E2EE"/>
            </a:solidFill>
            <a:prstDash val="solid"/>
          </a:ln>
        </p:spPr>
      </p:sp>
      <p:sp>
        <p:nvSpPr>
          <p:cNvPr id="28" name="Text 19"/>
          <p:cNvSpPr/>
          <p:nvPr/>
        </p:nvSpPr>
        <p:spPr>
          <a:xfrm>
            <a:off x="1066800" y="3640733"/>
            <a:ext cx="28778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Stolen password?</a:t>
            </a:r>
            <a:endParaRPr lang="en-US" sz="1400" dirty="0"/>
          </a:p>
        </p:txBody>
      </p:sp>
      <p:pic>
        <p:nvPicPr>
          <p:cNvPr id="29" name="Image 7" descr="x icon">    </p:cNvPr>
          <p:cNvPicPr>
            <a:picLocks noChangeAspect="1"/>
          </p:cNvPicPr>
          <p:nvPr/>
        </p:nvPicPr>
        <p:blipFill>
          <a:blip r:embed="rId8"/>
          <a:srcRect l="0" r="0" t="0" b="0"/>
          <a:stretch/>
        </p:blipFill>
        <p:spPr>
          <a:xfrm>
            <a:off x="4064000" y="3663553"/>
            <a:ext cx="203200" cy="203200"/>
          </a:xfrm>
          <a:prstGeom prst="rect">
            <a:avLst/>
          </a:prstGeom>
        </p:spPr>
      </p:pic>
      <p:sp>
        <p:nvSpPr>
          <p:cNvPr id="30" name="Text 20"/>
          <p:cNvSpPr/>
          <p:nvPr/>
        </p:nvSpPr>
        <p:spPr>
          <a:xfrm>
            <a:off x="4368800" y="3640733"/>
            <a:ext cx="160079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Attacker walks in</a:t>
            </a:r>
            <a:endParaRPr lang="en-US" sz="1400" dirty="0"/>
          </a:p>
        </p:txBody>
      </p:sp>
      <p:pic>
        <p:nvPicPr>
          <p:cNvPr id="31" name="Image 8" descr="check icon">    </p:cNvPr>
          <p:cNvPicPr>
            <a:picLocks noChangeAspect="1"/>
          </p:cNvPicPr>
          <p:nvPr/>
        </p:nvPicPr>
        <p:blipFill>
          <a:blip r:embed="rId9"/>
          <a:srcRect l="0" r="0" t="0" b="0"/>
          <a:stretch/>
        </p:blipFill>
        <p:spPr>
          <a:xfrm>
            <a:off x="7569200" y="3663553"/>
            <a:ext cx="203200" cy="203200"/>
          </a:xfrm>
          <a:prstGeom prst="rect">
            <a:avLst/>
          </a:prstGeom>
        </p:spPr>
      </p:pic>
      <p:sp>
        <p:nvSpPr>
          <p:cNvPr id="32" name="Text 21"/>
          <p:cNvSpPr/>
          <p:nvPr/>
        </p:nvSpPr>
        <p:spPr>
          <a:xfrm>
            <a:off x="7874000" y="3640733"/>
            <a:ext cx="32512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78D4"/>
                </a:solidFill>
                <a:latin typeface="Calibri" pitchFamily="34" charset="0"/>
                <a:ea typeface="Calibri" pitchFamily="34" charset="-122"/>
                <a:cs typeface="Calibri" pitchFamily="34" charset="-120"/>
              </a:rPr>
              <a:t>MFA and device checks stop them</a:t>
            </a:r>
            <a:endParaRPr lang="en-US" sz="1400" dirty="0"/>
          </a:p>
        </p:txBody>
      </p:sp>
      <p:sp>
        <p:nvSpPr>
          <p:cNvPr id="33" name="Text 22"/>
          <p:cNvSpPr/>
          <p:nvPr/>
        </p:nvSpPr>
        <p:spPr>
          <a:xfrm>
            <a:off x="1066800" y="4130873"/>
            <a:ext cx="28778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One device infected?</a:t>
            </a:r>
            <a:endParaRPr lang="en-US" sz="1400" dirty="0"/>
          </a:p>
        </p:txBody>
      </p:sp>
      <p:pic>
        <p:nvPicPr>
          <p:cNvPr id="34" name="Image 9" descr="x icon">    </p:cNvPr>
          <p:cNvPicPr>
            <a:picLocks noChangeAspect="1"/>
          </p:cNvPicPr>
          <p:nvPr/>
        </p:nvPicPr>
        <p:blipFill>
          <a:blip r:embed="rId10"/>
          <a:srcRect l="0" r="0" t="0" b="0"/>
          <a:stretch/>
        </p:blipFill>
        <p:spPr>
          <a:xfrm>
            <a:off x="4064000" y="4153694"/>
            <a:ext cx="203200" cy="203200"/>
          </a:xfrm>
          <a:prstGeom prst="rect">
            <a:avLst/>
          </a:prstGeom>
        </p:spPr>
      </p:pic>
      <p:sp>
        <p:nvSpPr>
          <p:cNvPr id="35" name="Text 23"/>
          <p:cNvSpPr/>
          <p:nvPr/>
        </p:nvSpPr>
        <p:spPr>
          <a:xfrm>
            <a:off x="4368800" y="4130873"/>
            <a:ext cx="264461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Spreads across the network</a:t>
            </a:r>
            <a:endParaRPr lang="en-US" sz="1400" dirty="0"/>
          </a:p>
        </p:txBody>
      </p:sp>
      <p:pic>
        <p:nvPicPr>
          <p:cNvPr id="36" name="Image 10" descr="check icon">    </p:cNvPr>
          <p:cNvPicPr>
            <a:picLocks noChangeAspect="1"/>
          </p:cNvPicPr>
          <p:nvPr/>
        </p:nvPicPr>
        <p:blipFill>
          <a:blip r:embed="rId11"/>
          <a:srcRect l="0" r="0" t="0" b="0"/>
          <a:stretch/>
        </p:blipFill>
        <p:spPr>
          <a:xfrm>
            <a:off x="7569200" y="4153694"/>
            <a:ext cx="203200" cy="203200"/>
          </a:xfrm>
          <a:prstGeom prst="rect">
            <a:avLst/>
          </a:prstGeom>
        </p:spPr>
      </p:pic>
      <p:sp>
        <p:nvSpPr>
          <p:cNvPr id="37" name="Text 24"/>
          <p:cNvSpPr/>
          <p:nvPr/>
        </p:nvSpPr>
        <p:spPr>
          <a:xfrm>
            <a:off x="7874000" y="4130873"/>
            <a:ext cx="258484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78D4"/>
                </a:solidFill>
                <a:latin typeface="Calibri" pitchFamily="34" charset="0"/>
                <a:ea typeface="Calibri" pitchFamily="34" charset="-122"/>
                <a:cs typeface="Calibri" pitchFamily="34" charset="-120"/>
              </a:rPr>
              <a:t>Contained to a small area</a:t>
            </a:r>
            <a:endParaRPr lang="en-US" sz="1400" dirty="0"/>
          </a:p>
        </p:txBody>
      </p:sp>
      <p:sp>
        <p:nvSpPr>
          <p:cNvPr id="38" name="Text 2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a:t>
            </a:r>
            <a:endParaRPr lang="en-US" sz="1200" dirty="0"/>
          </a:p>
        </p:txBody>
      </p:sp>
      <p:sp>
        <p:nvSpPr>
          <p:cNvPr id="39" name="Text 26"/>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08 · YOUR ROLE</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Six ways you make Zero Trust work</a:t>
            </a:r>
            <a:endParaRPr lang="en-US" sz="3600" dirty="0"/>
          </a:p>
        </p:txBody>
      </p:sp>
      <p:sp>
        <p:nvSpPr>
          <p:cNvPr id="5" name="Shape 2"/>
          <p:cNvSpPr/>
          <p:nvPr/>
        </p:nvSpPr>
        <p:spPr>
          <a:xfrm>
            <a:off x="812800" y="1569641"/>
            <a:ext cx="3420467" cy="1450280"/>
          </a:xfrm>
          <a:prstGeom prst="roundRect">
            <a:avLst>
              <a:gd name="adj" fmla="val 7006"/>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812800" y="1569641"/>
            <a:ext cx="3420467" cy="1450280"/>
          </a:xfrm>
          <a:custGeom>
            <a:avLst/>
            <a:gdLst/>
            <a:ahLst/>
            <a:cxnLst/>
            <a:rect l="l" t="t" r="r" b="b"/>
            <a:pathLst>
              <a:path w="3420467" h="1450280">
                <a:moveTo>
                  <a:pt x="0" y="101600"/>
                </a:moveTo>
                <a:lnTo>
                  <a:pt x="0" y="101600"/>
                </a:lnTo>
                <a:arcTo hR="101600" wR="101600" stAng="10800000" swAng="5400000"/>
                <a:lnTo>
                  <a:pt x="3318867" y="0"/>
                </a:lnTo>
                <a:arcTo hR="101600" wR="101600" stAng="16200000" swAng="5400000"/>
                <a:lnTo>
                  <a:pt x="3420467" y="101600"/>
                </a:lnTo>
                <a:arcTo hR="50800" wR="101600" stAng="0" swAng="-5400000"/>
                <a:lnTo>
                  <a:pt x="101600" y="50800"/>
                </a:lnTo>
                <a:arcTo hR="50800" wR="101600" stAng="16200000" swAng="-5400000"/>
                <a:close/>
              </a:path>
            </a:pathLst>
          </a:custGeom>
          <a:solidFill>
            <a:srgbClr val="F7630C"/>
          </a:solidFill>
          <a:ln/>
        </p:spPr>
      </p:sp>
      <p:sp>
        <p:nvSpPr>
          <p:cNvPr id="7" name="Shape 4"/>
          <p:cNvSpPr/>
          <p:nvPr/>
        </p:nvSpPr>
        <p:spPr>
          <a:xfrm>
            <a:off x="1016000" y="1798241"/>
            <a:ext cx="406400" cy="406400"/>
          </a:xfrm>
          <a:prstGeom prst="roundRect">
            <a:avLst>
              <a:gd name="adj" fmla="val 50000"/>
            </a:avLst>
          </a:prstGeom>
          <a:solidFill>
            <a:srgbClr val="FDEBDD"/>
          </a:solidFill>
          <a:ln/>
        </p:spPr>
      </p:sp>
      <p:pic>
        <p:nvPicPr>
          <p:cNvPr id="8" name="Image 1" descr="phone icon">    </p:cNvPr>
          <p:cNvPicPr>
            <a:picLocks noChangeAspect="1"/>
          </p:cNvPicPr>
          <p:nvPr/>
        </p:nvPicPr>
        <p:blipFill>
          <a:blip r:embed="rId2"/>
          <a:srcRect l="0" r="0" t="0" b="0"/>
          <a:stretch/>
        </p:blipFill>
        <p:spPr>
          <a:xfrm>
            <a:off x="1117600" y="1899841"/>
            <a:ext cx="203200" cy="203200"/>
          </a:xfrm>
          <a:prstGeom prst="rect">
            <a:avLst/>
          </a:prstGeom>
        </p:spPr>
      </p:pic>
      <p:sp>
        <p:nvSpPr>
          <p:cNvPr id="9" name="Text 5"/>
          <p:cNvSpPr/>
          <p:nvPr/>
        </p:nvSpPr>
        <p:spPr>
          <a:xfrm>
            <a:off x="1016000" y="2293541"/>
            <a:ext cx="31044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Approve only your own MFA</a:t>
            </a:r>
            <a:endParaRPr lang="en-US" sz="1500" dirty="0"/>
          </a:p>
        </p:txBody>
      </p:sp>
      <p:sp>
        <p:nvSpPr>
          <p:cNvPr id="10" name="Text 6"/>
          <p:cNvSpPr/>
          <p:nvPr/>
        </p:nvSpPr>
        <p:spPr>
          <a:xfrm>
            <a:off x="1016000" y="2611041"/>
            <a:ext cx="31044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Never accept a prompt you didn't start</a:t>
            </a:r>
            <a:endParaRPr lang="en-US" sz="1300" dirty="0"/>
          </a:p>
        </p:txBody>
      </p:sp>
      <p:sp>
        <p:nvSpPr>
          <p:cNvPr id="11" name="Shape 7"/>
          <p:cNvSpPr/>
          <p:nvPr/>
        </p:nvSpPr>
        <p:spPr>
          <a:xfrm>
            <a:off x="4385667" y="1569641"/>
            <a:ext cx="3420566" cy="1450280"/>
          </a:xfrm>
          <a:prstGeom prst="roundRect">
            <a:avLst>
              <a:gd name="adj" fmla="val 7006"/>
            </a:avLst>
          </a:prstGeom>
          <a:solidFill>
            <a:srgbClr val="FFFFFF"/>
          </a:solidFill>
          <a:ln/>
          <a:effectLst>
            <a:outerShdw sx="100000" sy="100000" kx="0" ky="0" algn="bl" rotWithShape="0" blurRad="101600" dist="25400" dir="5400000">
              <a:srgbClr val="C9D6E3">
                <a:alpha val="100000"/>
              </a:srgbClr>
            </a:outerShdw>
          </a:effectLst>
        </p:spPr>
      </p:sp>
      <p:sp>
        <p:nvSpPr>
          <p:cNvPr id="12" name="Shape 8"/>
          <p:cNvSpPr/>
          <p:nvPr/>
        </p:nvSpPr>
        <p:spPr>
          <a:xfrm>
            <a:off x="4385667" y="1569641"/>
            <a:ext cx="3420566" cy="1450280"/>
          </a:xfrm>
          <a:custGeom>
            <a:avLst/>
            <a:gdLst/>
            <a:ahLst/>
            <a:cxnLst/>
            <a:rect l="l" t="t" r="r" b="b"/>
            <a:pathLst>
              <a:path w="3420566" h="1450280">
                <a:moveTo>
                  <a:pt x="0" y="101600"/>
                </a:moveTo>
                <a:lnTo>
                  <a:pt x="0" y="101600"/>
                </a:lnTo>
                <a:arcTo hR="101600" wR="101600" stAng="10800000" swAng="5400000"/>
                <a:lnTo>
                  <a:pt x="3318966" y="0"/>
                </a:lnTo>
                <a:arcTo hR="101600" wR="101600" stAng="16200000" swAng="5400000"/>
                <a:lnTo>
                  <a:pt x="3420566" y="101600"/>
                </a:lnTo>
                <a:arcTo hR="50800" wR="101600" stAng="0" swAng="-5400000"/>
                <a:lnTo>
                  <a:pt x="101600" y="50800"/>
                </a:lnTo>
                <a:arcTo hR="50800" wR="101600" stAng="16200000" swAng="-5400000"/>
                <a:close/>
              </a:path>
            </a:pathLst>
          </a:custGeom>
          <a:solidFill>
            <a:srgbClr val="0078D4"/>
          </a:solidFill>
          <a:ln/>
        </p:spPr>
      </p:sp>
      <p:sp>
        <p:nvSpPr>
          <p:cNvPr id="13" name="Shape 9"/>
          <p:cNvSpPr/>
          <p:nvPr/>
        </p:nvSpPr>
        <p:spPr>
          <a:xfrm>
            <a:off x="4588867" y="1798241"/>
            <a:ext cx="406400" cy="406400"/>
          </a:xfrm>
          <a:prstGeom prst="roundRect">
            <a:avLst>
              <a:gd name="adj" fmla="val 50000"/>
            </a:avLst>
          </a:prstGeom>
          <a:solidFill>
            <a:srgbClr val="EAF3FC"/>
          </a:solidFill>
          <a:ln/>
        </p:spPr>
      </p:sp>
      <p:pic>
        <p:nvPicPr>
          <p:cNvPr id="14" name="Image 2" descr="refresh icon">    </p:cNvPr>
          <p:cNvPicPr>
            <a:picLocks noChangeAspect="1"/>
          </p:cNvPicPr>
          <p:nvPr/>
        </p:nvPicPr>
        <p:blipFill>
          <a:blip r:embed="rId3"/>
          <a:srcRect l="0" r="0" t="0" b="0"/>
          <a:stretch/>
        </p:blipFill>
        <p:spPr>
          <a:xfrm>
            <a:off x="4690467" y="1899841"/>
            <a:ext cx="203200" cy="203200"/>
          </a:xfrm>
          <a:prstGeom prst="rect">
            <a:avLst/>
          </a:prstGeom>
        </p:spPr>
      </p:pic>
      <p:sp>
        <p:nvSpPr>
          <p:cNvPr id="15" name="Text 10"/>
          <p:cNvSpPr/>
          <p:nvPr/>
        </p:nvSpPr>
        <p:spPr>
          <a:xfrm>
            <a:off x="4588867" y="2293541"/>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Keep devices updated</a:t>
            </a:r>
            <a:endParaRPr lang="en-US" sz="1500" dirty="0"/>
          </a:p>
        </p:txBody>
      </p:sp>
      <p:sp>
        <p:nvSpPr>
          <p:cNvPr id="16" name="Text 11"/>
          <p:cNvSpPr/>
          <p:nvPr/>
        </p:nvSpPr>
        <p:spPr>
          <a:xfrm>
            <a:off x="4588867" y="2611041"/>
            <a:ext cx="31045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Healthy devices pass the checks</a:t>
            </a:r>
            <a:endParaRPr lang="en-US" sz="1300" dirty="0"/>
          </a:p>
        </p:txBody>
      </p:sp>
      <p:sp>
        <p:nvSpPr>
          <p:cNvPr id="17" name="Shape 12"/>
          <p:cNvSpPr/>
          <p:nvPr/>
        </p:nvSpPr>
        <p:spPr>
          <a:xfrm>
            <a:off x="7958634" y="1569641"/>
            <a:ext cx="3420566" cy="1450280"/>
          </a:xfrm>
          <a:prstGeom prst="roundRect">
            <a:avLst>
              <a:gd name="adj" fmla="val 7006"/>
            </a:avLst>
          </a:prstGeom>
          <a:solidFill>
            <a:srgbClr val="FFFFFF"/>
          </a:solidFill>
          <a:ln/>
          <a:effectLst>
            <a:outerShdw sx="100000" sy="100000" kx="0" ky="0" algn="bl" rotWithShape="0" blurRad="101600" dist="25400" dir="5400000">
              <a:srgbClr val="C9D6E3">
                <a:alpha val="100000"/>
              </a:srgbClr>
            </a:outerShdw>
          </a:effectLst>
        </p:spPr>
      </p:sp>
      <p:sp>
        <p:nvSpPr>
          <p:cNvPr id="18" name="Shape 13"/>
          <p:cNvSpPr/>
          <p:nvPr/>
        </p:nvSpPr>
        <p:spPr>
          <a:xfrm>
            <a:off x="7958634" y="1569641"/>
            <a:ext cx="3420566" cy="1450280"/>
          </a:xfrm>
          <a:custGeom>
            <a:avLst/>
            <a:gdLst/>
            <a:ahLst/>
            <a:cxnLst/>
            <a:rect l="l" t="t" r="r" b="b"/>
            <a:pathLst>
              <a:path w="3420566" h="1450280">
                <a:moveTo>
                  <a:pt x="0" y="101600"/>
                </a:moveTo>
                <a:lnTo>
                  <a:pt x="0" y="101600"/>
                </a:lnTo>
                <a:arcTo hR="101600" wR="101600" stAng="10800000" swAng="5400000"/>
                <a:lnTo>
                  <a:pt x="3318966" y="0"/>
                </a:lnTo>
                <a:arcTo hR="101600" wR="101600" stAng="16200000" swAng="5400000"/>
                <a:lnTo>
                  <a:pt x="3420566" y="101600"/>
                </a:lnTo>
                <a:arcTo hR="50800" wR="101600" stAng="0" swAng="-5400000"/>
                <a:lnTo>
                  <a:pt x="101600" y="50800"/>
                </a:lnTo>
                <a:arcTo hR="50800" wR="101600" stAng="16200000" swAng="-5400000"/>
                <a:close/>
              </a:path>
            </a:pathLst>
          </a:custGeom>
          <a:solidFill>
            <a:srgbClr val="0078D4"/>
          </a:solidFill>
          <a:ln/>
        </p:spPr>
      </p:sp>
      <p:sp>
        <p:nvSpPr>
          <p:cNvPr id="19" name="Shape 14"/>
          <p:cNvSpPr/>
          <p:nvPr/>
        </p:nvSpPr>
        <p:spPr>
          <a:xfrm>
            <a:off x="8161834" y="1798241"/>
            <a:ext cx="406400" cy="406400"/>
          </a:xfrm>
          <a:prstGeom prst="roundRect">
            <a:avLst>
              <a:gd name="adj" fmla="val 50000"/>
            </a:avLst>
          </a:prstGeom>
          <a:solidFill>
            <a:srgbClr val="EAF3FC"/>
          </a:solidFill>
          <a:ln/>
        </p:spPr>
      </p:sp>
      <p:pic>
        <p:nvPicPr>
          <p:cNvPr id="20" name="Image 3" descr="ban icon">    </p:cNvPr>
          <p:cNvPicPr>
            <a:picLocks noChangeAspect="1"/>
          </p:cNvPicPr>
          <p:nvPr/>
        </p:nvPicPr>
        <p:blipFill>
          <a:blip r:embed="rId4"/>
          <a:srcRect l="0" r="0" t="0" b="0"/>
          <a:stretch/>
        </p:blipFill>
        <p:spPr>
          <a:xfrm>
            <a:off x="8263434" y="1899841"/>
            <a:ext cx="203200" cy="203200"/>
          </a:xfrm>
          <a:prstGeom prst="rect">
            <a:avLst/>
          </a:prstGeom>
        </p:spPr>
      </p:pic>
      <p:sp>
        <p:nvSpPr>
          <p:cNvPr id="21" name="Text 15"/>
          <p:cNvSpPr/>
          <p:nvPr/>
        </p:nvSpPr>
        <p:spPr>
          <a:xfrm>
            <a:off x="8161834" y="2293541"/>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Use approved apps only</a:t>
            </a:r>
            <a:endParaRPr lang="en-US" sz="1500" dirty="0"/>
          </a:p>
        </p:txBody>
      </p:sp>
      <p:sp>
        <p:nvSpPr>
          <p:cNvPr id="22" name="Text 16"/>
          <p:cNvSpPr/>
          <p:nvPr/>
        </p:nvSpPr>
        <p:spPr>
          <a:xfrm>
            <a:off x="8161834" y="2611041"/>
            <a:ext cx="31045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No personal cloud or unknown tools</a:t>
            </a:r>
            <a:endParaRPr lang="en-US" sz="1300" dirty="0"/>
          </a:p>
        </p:txBody>
      </p:sp>
      <p:sp>
        <p:nvSpPr>
          <p:cNvPr id="23" name="Shape 17"/>
          <p:cNvSpPr/>
          <p:nvPr/>
        </p:nvSpPr>
        <p:spPr>
          <a:xfrm>
            <a:off x="812800" y="3172321"/>
            <a:ext cx="3420467" cy="1450280"/>
          </a:xfrm>
          <a:prstGeom prst="roundRect">
            <a:avLst>
              <a:gd name="adj" fmla="val 7006"/>
            </a:avLst>
          </a:prstGeom>
          <a:solidFill>
            <a:srgbClr val="FFFFFF"/>
          </a:solidFill>
          <a:ln/>
          <a:effectLst>
            <a:outerShdw sx="100000" sy="100000" kx="0" ky="0" algn="bl" rotWithShape="0" blurRad="101600" dist="25400" dir="5400000">
              <a:srgbClr val="C9D6E3">
                <a:alpha val="100000"/>
              </a:srgbClr>
            </a:outerShdw>
          </a:effectLst>
        </p:spPr>
      </p:sp>
      <p:sp>
        <p:nvSpPr>
          <p:cNvPr id="24" name="Shape 18"/>
          <p:cNvSpPr/>
          <p:nvPr/>
        </p:nvSpPr>
        <p:spPr>
          <a:xfrm>
            <a:off x="812800" y="3172321"/>
            <a:ext cx="3420467" cy="1450280"/>
          </a:xfrm>
          <a:custGeom>
            <a:avLst/>
            <a:gdLst/>
            <a:ahLst/>
            <a:cxnLst/>
            <a:rect l="l" t="t" r="r" b="b"/>
            <a:pathLst>
              <a:path w="3420467" h="1450280">
                <a:moveTo>
                  <a:pt x="0" y="101600"/>
                </a:moveTo>
                <a:lnTo>
                  <a:pt x="0" y="101600"/>
                </a:lnTo>
                <a:arcTo hR="101600" wR="101600" stAng="10800000" swAng="5400000"/>
                <a:lnTo>
                  <a:pt x="3318867" y="0"/>
                </a:lnTo>
                <a:arcTo hR="101600" wR="101600" stAng="16200000" swAng="5400000"/>
                <a:lnTo>
                  <a:pt x="3420467" y="101600"/>
                </a:lnTo>
                <a:arcTo hR="50800" wR="101600" stAng="0" swAng="-5400000"/>
                <a:lnTo>
                  <a:pt x="101600" y="50800"/>
                </a:lnTo>
                <a:arcTo hR="50800" wR="101600" stAng="16200000" swAng="-5400000"/>
                <a:close/>
              </a:path>
            </a:pathLst>
          </a:custGeom>
          <a:solidFill>
            <a:srgbClr val="0078D4"/>
          </a:solidFill>
          <a:ln/>
        </p:spPr>
      </p:sp>
      <p:sp>
        <p:nvSpPr>
          <p:cNvPr id="25" name="Shape 19"/>
          <p:cNvSpPr/>
          <p:nvPr/>
        </p:nvSpPr>
        <p:spPr>
          <a:xfrm>
            <a:off x="1016000" y="3400921"/>
            <a:ext cx="406400" cy="406400"/>
          </a:xfrm>
          <a:prstGeom prst="roundRect">
            <a:avLst>
              <a:gd name="adj" fmla="val 50000"/>
            </a:avLst>
          </a:prstGeom>
          <a:solidFill>
            <a:srgbClr val="EAF3FC"/>
          </a:solidFill>
          <a:ln/>
        </p:spPr>
      </p:sp>
      <p:pic>
        <p:nvPicPr>
          <p:cNvPr id="26" name="Image 4" descr="lock icon">    </p:cNvPr>
          <p:cNvPicPr>
            <a:picLocks noChangeAspect="1"/>
          </p:cNvPicPr>
          <p:nvPr/>
        </p:nvPicPr>
        <p:blipFill>
          <a:blip r:embed="rId5"/>
          <a:srcRect l="0" r="0" t="0" b="0"/>
          <a:stretch/>
        </p:blipFill>
        <p:spPr>
          <a:xfrm>
            <a:off x="1117600" y="3502521"/>
            <a:ext cx="203200" cy="203200"/>
          </a:xfrm>
          <a:prstGeom prst="rect">
            <a:avLst/>
          </a:prstGeom>
        </p:spPr>
      </p:pic>
      <p:sp>
        <p:nvSpPr>
          <p:cNvPr id="27" name="Text 20"/>
          <p:cNvSpPr/>
          <p:nvPr/>
        </p:nvSpPr>
        <p:spPr>
          <a:xfrm>
            <a:off x="1016000" y="3896221"/>
            <a:ext cx="31044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Ask only for what you need</a:t>
            </a:r>
            <a:endParaRPr lang="en-US" sz="1500" dirty="0"/>
          </a:p>
        </p:txBody>
      </p:sp>
      <p:sp>
        <p:nvSpPr>
          <p:cNvPr id="28" name="Text 21"/>
          <p:cNvSpPr/>
          <p:nvPr/>
        </p:nvSpPr>
        <p:spPr>
          <a:xfrm>
            <a:off x="1016000" y="4213721"/>
            <a:ext cx="32172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And give back access you no longer use</a:t>
            </a:r>
            <a:endParaRPr lang="en-US" sz="1300" dirty="0"/>
          </a:p>
        </p:txBody>
      </p:sp>
      <p:sp>
        <p:nvSpPr>
          <p:cNvPr id="29" name="Shape 22"/>
          <p:cNvSpPr/>
          <p:nvPr/>
        </p:nvSpPr>
        <p:spPr>
          <a:xfrm>
            <a:off x="4385667" y="3172321"/>
            <a:ext cx="3420566" cy="1450280"/>
          </a:xfrm>
          <a:prstGeom prst="roundRect">
            <a:avLst>
              <a:gd name="adj" fmla="val 7006"/>
            </a:avLst>
          </a:prstGeom>
          <a:solidFill>
            <a:srgbClr val="FFFFFF"/>
          </a:solidFill>
          <a:ln/>
          <a:effectLst>
            <a:outerShdw sx="100000" sy="100000" kx="0" ky="0" algn="bl" rotWithShape="0" blurRad="101600" dist="25400" dir="5400000">
              <a:srgbClr val="C9D6E3">
                <a:alpha val="100000"/>
              </a:srgbClr>
            </a:outerShdw>
          </a:effectLst>
        </p:spPr>
      </p:sp>
      <p:sp>
        <p:nvSpPr>
          <p:cNvPr id="30" name="Shape 23"/>
          <p:cNvSpPr/>
          <p:nvPr/>
        </p:nvSpPr>
        <p:spPr>
          <a:xfrm>
            <a:off x="4385667" y="3172321"/>
            <a:ext cx="3420566" cy="1450280"/>
          </a:xfrm>
          <a:custGeom>
            <a:avLst/>
            <a:gdLst/>
            <a:ahLst/>
            <a:cxnLst/>
            <a:rect l="l" t="t" r="r" b="b"/>
            <a:pathLst>
              <a:path w="3420566" h="1450280">
                <a:moveTo>
                  <a:pt x="0" y="101600"/>
                </a:moveTo>
                <a:lnTo>
                  <a:pt x="0" y="101600"/>
                </a:lnTo>
                <a:arcTo hR="101600" wR="101600" stAng="10800000" swAng="5400000"/>
                <a:lnTo>
                  <a:pt x="3318966" y="0"/>
                </a:lnTo>
                <a:arcTo hR="101600" wR="101600" stAng="16200000" swAng="5400000"/>
                <a:lnTo>
                  <a:pt x="3420566" y="101600"/>
                </a:lnTo>
                <a:arcTo hR="50800" wR="101600" stAng="0" swAng="-5400000"/>
                <a:lnTo>
                  <a:pt x="101600" y="50800"/>
                </a:lnTo>
                <a:arcTo hR="50800" wR="101600" stAng="16200000" swAng="-5400000"/>
                <a:close/>
              </a:path>
            </a:pathLst>
          </a:custGeom>
          <a:solidFill>
            <a:srgbClr val="0078D4"/>
          </a:solidFill>
          <a:ln/>
        </p:spPr>
      </p:sp>
      <p:sp>
        <p:nvSpPr>
          <p:cNvPr id="31" name="Shape 24"/>
          <p:cNvSpPr/>
          <p:nvPr/>
        </p:nvSpPr>
        <p:spPr>
          <a:xfrm>
            <a:off x="4588867" y="3400921"/>
            <a:ext cx="406400" cy="406400"/>
          </a:xfrm>
          <a:prstGeom prst="roundRect">
            <a:avLst>
              <a:gd name="adj" fmla="val 50000"/>
            </a:avLst>
          </a:prstGeom>
          <a:solidFill>
            <a:srgbClr val="EAF3FC"/>
          </a:solidFill>
          <a:ln/>
        </p:spPr>
      </p:sp>
      <p:pic>
        <p:nvPicPr>
          <p:cNvPr id="32" name="Image 5" descr="monitor icon">    </p:cNvPr>
          <p:cNvPicPr>
            <a:picLocks noChangeAspect="1"/>
          </p:cNvPicPr>
          <p:nvPr/>
        </p:nvPicPr>
        <p:blipFill>
          <a:blip r:embed="rId6"/>
          <a:srcRect l="0" r="0" t="0" b="0"/>
          <a:stretch/>
        </p:blipFill>
        <p:spPr>
          <a:xfrm>
            <a:off x="4690467" y="3502521"/>
            <a:ext cx="203200" cy="203200"/>
          </a:xfrm>
          <a:prstGeom prst="rect">
            <a:avLst/>
          </a:prstGeom>
        </p:spPr>
      </p:pic>
      <p:sp>
        <p:nvSpPr>
          <p:cNvPr id="33" name="Text 25"/>
          <p:cNvSpPr/>
          <p:nvPr/>
        </p:nvSpPr>
        <p:spPr>
          <a:xfrm>
            <a:off x="4588867" y="3896221"/>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Lock your screen</a:t>
            </a:r>
            <a:endParaRPr lang="en-US" sz="1500" dirty="0"/>
          </a:p>
        </p:txBody>
      </p:sp>
      <p:sp>
        <p:nvSpPr>
          <p:cNvPr id="34" name="Text 26"/>
          <p:cNvSpPr/>
          <p:nvPr/>
        </p:nvSpPr>
        <p:spPr>
          <a:xfrm>
            <a:off x="4588867" y="4213721"/>
            <a:ext cx="31045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Every time you step away</a:t>
            </a:r>
            <a:endParaRPr lang="en-US" sz="1300" dirty="0"/>
          </a:p>
        </p:txBody>
      </p:sp>
      <p:sp>
        <p:nvSpPr>
          <p:cNvPr id="35" name="Shape 27"/>
          <p:cNvSpPr/>
          <p:nvPr/>
        </p:nvSpPr>
        <p:spPr>
          <a:xfrm>
            <a:off x="7958634" y="3172321"/>
            <a:ext cx="3420566" cy="1450280"/>
          </a:xfrm>
          <a:prstGeom prst="roundRect">
            <a:avLst>
              <a:gd name="adj" fmla="val 7006"/>
            </a:avLst>
          </a:prstGeom>
          <a:solidFill>
            <a:srgbClr val="FFFFFF"/>
          </a:solidFill>
          <a:ln/>
          <a:effectLst>
            <a:outerShdw sx="100000" sy="100000" kx="0" ky="0" algn="bl" rotWithShape="0" blurRad="101600" dist="25400" dir="5400000">
              <a:srgbClr val="C9D6E3">
                <a:alpha val="100000"/>
              </a:srgbClr>
            </a:outerShdw>
          </a:effectLst>
        </p:spPr>
      </p:sp>
      <p:sp>
        <p:nvSpPr>
          <p:cNvPr id="36" name="Shape 28"/>
          <p:cNvSpPr/>
          <p:nvPr/>
        </p:nvSpPr>
        <p:spPr>
          <a:xfrm>
            <a:off x="7958634" y="3172321"/>
            <a:ext cx="3420566" cy="1450280"/>
          </a:xfrm>
          <a:custGeom>
            <a:avLst/>
            <a:gdLst/>
            <a:ahLst/>
            <a:cxnLst/>
            <a:rect l="l" t="t" r="r" b="b"/>
            <a:pathLst>
              <a:path w="3420566" h="1450280">
                <a:moveTo>
                  <a:pt x="0" y="101600"/>
                </a:moveTo>
                <a:lnTo>
                  <a:pt x="0" y="101600"/>
                </a:lnTo>
                <a:arcTo hR="101600" wR="101600" stAng="10800000" swAng="5400000"/>
                <a:lnTo>
                  <a:pt x="3318966" y="0"/>
                </a:lnTo>
                <a:arcTo hR="101600" wR="101600" stAng="16200000" swAng="5400000"/>
                <a:lnTo>
                  <a:pt x="3420566" y="101600"/>
                </a:lnTo>
                <a:arcTo hR="50800" wR="101600" stAng="0" swAng="-5400000"/>
                <a:lnTo>
                  <a:pt x="101600" y="50800"/>
                </a:lnTo>
                <a:arcTo hR="50800" wR="101600" stAng="16200000" swAng="-5400000"/>
                <a:close/>
              </a:path>
            </a:pathLst>
          </a:custGeom>
          <a:solidFill>
            <a:srgbClr val="0078D4"/>
          </a:solidFill>
          <a:ln/>
        </p:spPr>
      </p:sp>
      <p:sp>
        <p:nvSpPr>
          <p:cNvPr id="37" name="Shape 29"/>
          <p:cNvSpPr/>
          <p:nvPr/>
        </p:nvSpPr>
        <p:spPr>
          <a:xfrm>
            <a:off x="8161834" y="3400921"/>
            <a:ext cx="406400" cy="406400"/>
          </a:xfrm>
          <a:prstGeom prst="roundRect">
            <a:avLst>
              <a:gd name="adj" fmla="val 50000"/>
            </a:avLst>
          </a:prstGeom>
          <a:solidFill>
            <a:srgbClr val="EAF3FC"/>
          </a:solidFill>
          <a:ln/>
        </p:spPr>
      </p:sp>
      <p:pic>
        <p:nvPicPr>
          <p:cNvPr id="38" name="Image 6" descr="megaphone icon">    </p:cNvPr>
          <p:cNvPicPr>
            <a:picLocks noChangeAspect="1"/>
          </p:cNvPicPr>
          <p:nvPr/>
        </p:nvPicPr>
        <p:blipFill>
          <a:blip r:embed="rId7"/>
          <a:srcRect l="0" r="0" t="0" b="0"/>
          <a:stretch/>
        </p:blipFill>
        <p:spPr>
          <a:xfrm>
            <a:off x="8263434" y="3502521"/>
            <a:ext cx="203200" cy="203200"/>
          </a:xfrm>
          <a:prstGeom prst="rect">
            <a:avLst/>
          </a:prstGeom>
        </p:spPr>
      </p:pic>
      <p:sp>
        <p:nvSpPr>
          <p:cNvPr id="39" name="Text 30"/>
          <p:cNvSpPr/>
          <p:nvPr/>
        </p:nvSpPr>
        <p:spPr>
          <a:xfrm>
            <a:off x="8161834" y="3896221"/>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Report anything odd</a:t>
            </a:r>
            <a:endParaRPr lang="en-US" sz="1500" dirty="0"/>
          </a:p>
        </p:txBody>
      </p:sp>
      <p:sp>
        <p:nvSpPr>
          <p:cNvPr id="40" name="Text 31"/>
          <p:cNvSpPr/>
          <p:nvPr/>
        </p:nvSpPr>
        <p:spPr>
          <a:xfrm>
            <a:off x="8161834" y="4213721"/>
            <a:ext cx="31045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Strange prompts, alerts or access</a:t>
            </a:r>
            <a:endParaRPr lang="en-US" sz="1300" dirty="0"/>
          </a:p>
        </p:txBody>
      </p:sp>
      <p:sp>
        <p:nvSpPr>
          <p:cNvPr id="41" name="Text 3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security guidance</a:t>
            </a:r>
            <a:endParaRPr lang="en-US" sz="1200" dirty="0"/>
          </a:p>
        </p:txBody>
      </p:sp>
      <p:sp>
        <p:nvSpPr>
          <p:cNvPr id="42" name="Text 33"/>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rect">    </p:cNvPr>
          <p:cNvPicPr>
            <a:picLocks noChangeAspect="1"/>
          </p:cNvPicPr>
          <p:nvPr/>
        </p:nvPicPr>
        <p:blipFill>
          <a:blip r:embed="rId2"/>
          <a:srcRect l="0" r="0" t="0" b="0"/>
          <a:stretch/>
        </p:blipFill>
        <p:spPr>
          <a:xfrm>
            <a:off x="0" y="0"/>
            <a:ext cx="152400" cy="6858000"/>
          </a:xfrm>
          <a:prstGeom prst="rect">
            <a:avLst/>
          </a:prstGeom>
        </p:spPr>
      </p:pic>
      <p:pic>
        <p:nvPicPr>
          <p:cNvPr id="4" name="Image 2" descr="Shield with a check mark">    </p:cNvPr>
          <p:cNvPicPr>
            <a:picLocks noChangeAspect="1"/>
          </p:cNvPicPr>
          <p:nvPr/>
        </p:nvPicPr>
        <p:blipFill>
          <a:blip r:embed="rId3"/>
          <a:srcRect l="0" r="0" t="0" b="0"/>
          <a:stretch/>
        </p:blipFill>
        <p:spPr>
          <a:xfrm>
            <a:off x="8001000" y="1524000"/>
            <a:ext cx="3556000" cy="3810000"/>
          </a:xfrm>
          <a:prstGeom prst="rect">
            <a:avLst/>
          </a:prstGeom>
        </p:spPr>
      </p:pic>
      <p:sp>
        <p:nvSpPr>
          <p:cNvPr id="5" name="Text 0"/>
          <p:cNvSpPr/>
          <p:nvPr/>
        </p:nvSpPr>
        <p:spPr>
          <a:xfrm>
            <a:off x="812800" y="19101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0B7C3"/>
                </a:solidFill>
                <a:latin typeface="Calibri" pitchFamily="34" charset="0"/>
                <a:ea typeface="Calibri" pitchFamily="34" charset="-122"/>
                <a:cs typeface="Calibri" pitchFamily="34" charset="-120"/>
              </a:rPr>
              <a:t>QUESTIONS AND DISCUSSION</a:t>
            </a:r>
            <a:endParaRPr lang="en-US" sz="1400" dirty="0"/>
          </a:p>
        </p:txBody>
      </p:sp>
      <p:sp>
        <p:nvSpPr>
          <p:cNvPr id="6" name="Text 1"/>
          <p:cNvSpPr/>
          <p:nvPr>
            <p:ph type="title"/>
          </p:nvPr>
        </p:nvSpPr>
        <p:spPr>
          <a:xfrm>
            <a:off x="812800" y="2413000"/>
            <a:ext cx="6932930" cy="1412081"/>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FFFFF"/>
                </a:solidFill>
                <a:latin typeface="Arial" pitchFamily="34" charset="0"/>
                <a:ea typeface="Arial" pitchFamily="34" charset="-122"/>
                <a:cs typeface="Arial" pitchFamily="34" charset="-120"/>
              </a:rPr>
              <a:t>Trust is earned, every time.</a:t>
            </a:r>
            <a:endParaRPr lang="en-US" sz="5200" dirty="0"/>
          </a:p>
        </p:txBody>
      </p:sp>
      <p:sp>
        <p:nvSpPr>
          <p:cNvPr id="7" name="Text 2"/>
          <p:cNvSpPr/>
          <p:nvPr/>
        </p:nvSpPr>
        <p:spPr>
          <a:xfrm>
            <a:off x="812800" y="4053681"/>
            <a:ext cx="65405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ADCFC"/>
                </a:solidFill>
                <a:latin typeface="Calibri" pitchFamily="34" charset="0"/>
                <a:ea typeface="Calibri" pitchFamily="34" charset="-122"/>
                <a:cs typeface="Calibri" pitchFamily="34" charset="-120"/>
              </a:rPr>
              <a:t>Never trust. Always verify. Report anything odd.</a:t>
            </a:r>
            <a:endParaRPr lang="en-US" sz="2000" dirty="0"/>
          </a:p>
        </p:txBody>
      </p:sp>
      <p:sp>
        <p:nvSpPr>
          <p:cNvPr id="8" name="Text 3"/>
          <p:cNvSpPr/>
          <p:nvPr/>
        </p:nvSpPr>
        <p:spPr>
          <a:xfrm>
            <a:off x="812800" y="466328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3C8"/>
                </a:solidFill>
                <a:latin typeface="Calibri" pitchFamily="34" charset="0"/>
                <a:ea typeface="Calibri" pitchFamily="34" charset="-122"/>
                <a:cs typeface="Calibri" pitchFamily="34" charset="-120"/>
              </a:rPr>
              <a:t>Thank you · Presented by ZNexora Tech</a:t>
            </a:r>
            <a:endParaRPr lang="en-US" sz="1600" dirty="0"/>
          </a:p>
        </p:txBody>
      </p:sp>
    </p:spTree>
  </p:cSld>
  <p:clrMapOvr>
    <a:masterClrMapping/>
  </p:clrMapOvr>
</p:sld>
</file>

<file path=ppt/theme/theme1.xml><?xml version="1.0" encoding="utf-8"?>
<a:theme xmlns:a="http://schemas.openxmlformats.org/drawingml/2006/main" name="Trust Nobody, Verify Everything">
  <a:themeElements>
    <a:clrScheme name="Trust Nobody, Verify Everything">
      <a:dk1>
        <a:srgbClr val="0B1F33"/>
      </a:dk1>
      <a:lt1>
        <a:srgbClr val="F4F7FB"/>
      </a:lt1>
      <a:dk2>
        <a:srgbClr val="455565"/>
      </a:dk2>
      <a:lt2>
        <a:srgbClr val="DDE1E7"/>
      </a:lt2>
      <a:accent1>
        <a:srgbClr val="0078D4"/>
      </a:accent1>
      <a:accent2>
        <a:srgbClr val="00B7C3"/>
      </a:accent2>
      <a:accent3>
        <a:srgbClr val="CADCFC"/>
      </a:accent3>
      <a:accent4>
        <a:srgbClr val="9FB3C8"/>
      </a:accent4>
      <a:accent5>
        <a:srgbClr val="F7630C"/>
      </a:accent5>
      <a:accent6>
        <a:srgbClr val="C24E06"/>
      </a:accent6>
      <a:hlink>
        <a:srgbClr val="0563C1"/>
      </a:hlink>
      <a:folHlink>
        <a:srgbClr val="954F72"/>
      </a:folHlink>
    </a:clrScheme>
    <a:fontScheme name="Trust Nobody, Verify Everyth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 Nobody, Verify Everything</dc:title>
  <dc:subject/>
  <dc:creator/>
  <cp:lastModifiedBy/>
  <cp:revision>1</cp:revision>
  <dcterms:created xsi:type="dcterms:W3CDTF">2026-10-15T11:10:23Z</dcterms:created>
  <dcterms:modified xsi:type="dcterms:W3CDTF">2026-10-15T11:10:23Z</dcterms:modified>
</cp:coreProperties>
</file>