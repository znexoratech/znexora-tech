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1952"/>
  </p:normalViewPr>
  <p:slideViewPr>
    <p:cSldViewPr snapToGrid="0" snapToObjects="1">
      <p:cViewPr varScale="1">
        <p:scale>
          <a:sx n="100" d="100"/>
          <a:sy n="100" d="100"/>
        </p:scale>
        <p:origin x="119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03444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0:40] Good [morning/afternoon], everyone. I'm [Presenter] from ZNexora Tech. In our previous sessions we've looked at some fairly dramatic threats: ransomware, stolen sessions, insider threats. Today is different. Today is about the small, everyday habits that quietly stop most of those attacks before they start. We call it cyber hygiene. None of it is complicated, and most of it takes seconds. But done consistently, these small habits give us big protection.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 1:40] So what is cyber hygiene? It's exactly like personal hygiene, but for your digital life: small routines, done every day, that keep you, your devices and our data healthy. You already do the physical versions without thinking. You wash your hands to remove germs; installing updates removes known weaknesses. You lock your front door; locking your screen stops casual access. You keep copies of important papers; backing up your work lets you recover when things go wrong. And you keep your home tidy; a clean desk leaves nothing for others to find. None of these feel like a big deal, and that's the point. They become automatic.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 – 2:30] Why do the basics matter so much? Because most attacks exploit them. Verizon's 2026 report found that 31 percent of breaches now start by exploiting an unpatched vulnerability: a weakness that an update would already have fixed. Microsoft reports that phishing-resistant MFA blocks over 99 percent of identity attacks. And when the basics fail, IBM puts the global average cost of a breach at 4.99 million dollars. Attackers aren't usually looking for the hardest way in. They look for the easiest. Good habits simply close those easy doors.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 – 3:00] Here are the eight habits that make the difference: update, lock, back up, keep a clean desk, use strong logins, think before you click, use approved tools, and report. We'll look closely at the first four, which are the everyday basics this session is about, and then quickly cover the other four, which we've explored in more depth in earlier sessions.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 – 4:00] Habit one: install updates promptly. When your computer or phone asks to update, don't keep clicking 'remind me later'. Restart your computer at least once a week, because many updates only finish when you restart. Update your phone and its apps too, since they hold your email, chats and MFA codes. And remove apps you no longer use, because every app is something else that needs patching. Why does it matter? Updates fix security holes that attackers already know about, and often already exploit. Every day you delay is a day that door stays open. A quick tip: if you can't restart right now, pick a time today, like lunchtime, and do it then.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 – 5:00] Habit two: lock it when you leave it. Every time you step away from your desk, even for a minute, lock your screen. On Windows, press the Windows key and L. On a Mac, press Control, Command and Q. Set your phone to auto-lock quickly, and never share your PIN or password, even with colleagues. Why does it matter? An unlocked screen lets anyone read your email, send messages as you, or copy files, and it takes only seconds. It's also one of the easiest ways for a visitor or an insider to cause harm. The tip: make it muscle memory. Stand up, lock, then walk away.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 – 6:00] Habit three: back up so you can bounce back. Ransomware, a lost laptop, a spilled coffee or an accidental delete can all wipe out your work. A simple rule is 3-2-1: three copies of important data, on two different types of storage, with one kept off-site or in the cloud. At work, that mostly happens for you, as long as you save your work to [OneDrive, SharePoint or the company drive], not only on your desktop or a USB drive. Back up your phone and personal files too. And if files suddenly go missing or won't open, report it straight away. One last point, mostly for IT: a backup you've never restored is only a hope. Test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[6:00 – 7:00] Habit four: keep a clean desk and a clear screen. No passwords written on sticky notes, under keyboards or on monitors. Lock away papers and devices when you leave your desk at the end of the day. Collect printouts straight away, and put confidential paper in the shredding bin, not the normal bin. And wipe whiteboards after meetings. Why does it matter? Visitors, cleaners, delivery staff and even people on your video calls can see what's on your desk or screen. Paper leaks data just as easily as email. The tip: before you leave each day, clear the desk, lock the drawer and log off.</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[7:00 – 7:50] Here are the other four habits, in brief. Strong logins: use a password manager, a unique password for every account, and MFA, and never approve an MFA prompt you didn't start. Think before you click: pause on urgent or unexpected messages, and check the sender and the link. Use approved tools: no personal email, personal cloud storage, USB drives or public AI tools for company data. And report: if something seems odd, tell IT on [contact] straight away. You will never be blamed for reporting. We've covered these in more depth in our phishing, session theft and insider threat sessions.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[7:50 – 8:40] Let's put it together into a simple daily routine. At the start of the day, install any pending updates and glance at any unusual sign-in alerts. Every time you step away, lock your screen. During the day, pause before clicking and save your work to approved storage. At the end of the day, clear your desk, lock your drawer and log off or lock. And once a month, restart, review the apps you have installed, and check your backups are working. Altogether, that takes just a few minutes a day.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[8:40 – 9:30] Let's finish with a quick self-check. Count how many of these are true for you. My devices are fully updated. I lock my screen every time I leave. My work is saved to approved storage. There are no passwords on notes or my desk. I use a password manager and MFA. I never approve MFA prompts I didn't start. I use only approved apps and storage. And I know how to report a problem. If you ticked all eight, great work. If you missed any, don't worry: pick one habit and start it today. Small changes add up quickly.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[9:30 – 10:00] To wrap up: cyber hygiene isn't about being a security expert. It's about small habits, done every day: update, lock, back up, and keep it clean. They take seconds, but together they stop most attacks before they start. Small habits, big protection. Start today. Thank you. I'm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7F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0B1F33"/>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90"/>
            <a:ext cx="10566400" cy="4424710"/>
          </a:xfrm>
          <a:prstGeom prst="rect">
            <a:avLst/>
          </a:prstGeom>
          <a:noFill/>
          <a:ln/>
        </p:spPr>
        <p:txBody>
          <a:bodyPr wrap="square" lIns="0" tIns="0" rIns="0" bIns="0" rtlCol="0" anchor="t"/>
          <a:lstStyle>
            <a:lvl1pPr marL="0" indent="0" algn="l">
              <a:lnSpc>
                <a:spcPct val="140000"/>
              </a:lnSpc>
              <a:buNone/>
              <a:defRPr lang="en-US" sz="1600" dirty="0">
                <a:solidFill>
                  <a:srgbClr val="0B1F33"/>
                </a:solidFill>
                <a:latin typeface="Calibri" pitchFamily="34" charset="0"/>
                <a:ea typeface="Calibri" pitchFamily="34" charset="-122"/>
                <a:cs typeface="Calibri"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0B1F33"/>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90"/>
            <a:ext cx="10566400" cy="4424710"/>
          </a:xfrm>
          <a:prstGeom prst="rect">
            <a:avLst/>
          </a:prstGeom>
          <a:noFill/>
          <a:ln/>
        </p:spPr>
        <p:txBody>
          <a:bodyPr wrap="square" lIns="0" tIns="0" rIns="0" bIns="0" rtlCol="0" anchor="t"/>
          <a:lstStyle>
            <a:lvl1pPr marL="0" indent="0" algn="l">
              <a:lnSpc>
                <a:spcPct val="140000"/>
              </a:lnSpc>
              <a:buNone/>
              <a:defRPr lang="en-US" sz="1600" dirty="0">
                <a:solidFill>
                  <a:srgbClr val="0B1F33"/>
                </a:solidFill>
                <a:latin typeface="Calibri" pitchFamily="34" charset="0"/>
                <a:ea typeface="Calibri" pitchFamily="34" charset="-122"/>
                <a:cs typeface="Calibri"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png"/><Relationship Id="rId7"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png"/><Relationship Id="rId7"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3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pic>
        <p:nvPicPr>
          <p:cNvPr id="2" name="Image 0" descr="ZNexora Tech logo"/>
          <p:cNvPicPr>
            <a:picLocks noChangeAspect="1"/>
          </p:cNvPicPr>
          <p:nvPr/>
        </p:nvPicPr>
        <p:blipFill>
          <a:blip r:embed="rId3"/>
          <a:srcRect l="-106" r="-106"/>
          <a:stretch/>
        </p:blipFill>
        <p:spPr>
          <a:xfrm>
            <a:off x="10414000" y="114300"/>
            <a:ext cx="1473200" cy="762000"/>
          </a:xfrm>
          <a:prstGeom prst="rect">
            <a:avLst/>
          </a:prstGeom>
        </p:spPr>
      </p:pic>
      <p:pic>
        <p:nvPicPr>
          <p:cNvPr id="3" name="Image 1" descr="rect"/>
          <p:cNvPicPr>
            <a:picLocks noChangeAspect="1"/>
          </p:cNvPicPr>
          <p:nvPr/>
        </p:nvPicPr>
        <p:blipFill>
          <a:blip r:embed="rId4"/>
          <a:srcRect/>
          <a:stretch/>
        </p:blipFill>
        <p:spPr>
          <a:xfrm>
            <a:off x="0" y="0"/>
            <a:ext cx="152400" cy="6858000"/>
          </a:xfrm>
          <a:prstGeom prst="rect">
            <a:avLst/>
          </a:prstGeom>
        </p:spPr>
      </p:pic>
      <p:pic>
        <p:nvPicPr>
          <p:cNvPr id="4" name="Image 2" descr="Four everyday habits orbiting a shield: update, lock, back up and tidy desk"/>
          <p:cNvPicPr>
            <a:picLocks noChangeAspect="1"/>
          </p:cNvPicPr>
          <p:nvPr/>
        </p:nvPicPr>
        <p:blipFill>
          <a:blip r:embed="rId5"/>
          <a:srcRect/>
          <a:stretch/>
        </p:blipFill>
        <p:spPr>
          <a:xfrm>
            <a:off x="7874000" y="1397000"/>
            <a:ext cx="3810000" cy="3810000"/>
          </a:xfrm>
          <a:prstGeom prst="rect">
            <a:avLst/>
          </a:prstGeom>
        </p:spPr>
      </p:pic>
      <p:sp>
        <p:nvSpPr>
          <p:cNvPr id="5" name="Text 0"/>
          <p:cNvSpPr/>
          <p:nvPr/>
        </p:nvSpPr>
        <p:spPr>
          <a:xfrm>
            <a:off x="812800" y="227077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00B7C3"/>
                </a:solidFill>
                <a:latin typeface="Calibri" pitchFamily="34" charset="0"/>
                <a:ea typeface="Calibri" pitchFamily="34" charset="-122"/>
                <a:cs typeface="Calibri" pitchFamily="34" charset="-120"/>
              </a:rPr>
              <a:t>ZNEXORA TECH | SECURITY AWARENESS</a:t>
            </a:r>
            <a:endParaRPr lang="en-US" sz="1400" dirty="0"/>
          </a:p>
        </p:txBody>
      </p:sp>
      <p:sp>
        <p:nvSpPr>
          <p:cNvPr id="6" name="Text 1"/>
          <p:cNvSpPr>
            <a:spLocks noGrp="1"/>
          </p:cNvSpPr>
          <p:nvPr>
            <p:ph type="title"/>
          </p:nvPr>
        </p:nvSpPr>
        <p:spPr>
          <a:xfrm>
            <a:off x="812800" y="2722860"/>
            <a:ext cx="7063740" cy="718790"/>
          </a:xfrm>
          <a:prstGeom prst="rect">
            <a:avLst/>
          </a:prstGeom>
          <a:noFill/>
          <a:ln/>
        </p:spPr>
        <p:txBody>
          <a:bodyPr wrap="square" lIns="0" tIns="0" rIns="0" bIns="0" rtlCol="0" anchor="t">
            <a:normAutofit/>
          </a:bodyPr>
          <a:lstStyle/>
          <a:p>
            <a:pPr marL="0" indent="0" algn="l">
              <a:lnSpc>
                <a:spcPts val="5460"/>
              </a:lnSpc>
              <a:buNone/>
            </a:pPr>
            <a:r>
              <a:rPr lang="en-US" sz="5200" b="1" i="0" dirty="0">
                <a:solidFill>
                  <a:srgbClr val="FFFFFF"/>
                </a:solidFill>
                <a:latin typeface="Arial" pitchFamily="34" charset="0"/>
                <a:ea typeface="Arial" pitchFamily="34" charset="-122"/>
                <a:cs typeface="Arial" pitchFamily="34" charset="-120"/>
              </a:rPr>
              <a:t>Cyber Hygiene</a:t>
            </a:r>
            <a:endParaRPr lang="en-US" sz="5200" dirty="0"/>
          </a:p>
        </p:txBody>
      </p:sp>
      <p:sp>
        <p:nvSpPr>
          <p:cNvPr id="7" name="Text 2"/>
          <p:cNvSpPr/>
          <p:nvPr/>
        </p:nvSpPr>
        <p:spPr>
          <a:xfrm>
            <a:off x="812800" y="3619450"/>
            <a:ext cx="6932930" cy="43433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FF9A5C"/>
                </a:solidFill>
                <a:latin typeface="Arial" pitchFamily="34" charset="0"/>
                <a:ea typeface="Arial" pitchFamily="34" charset="-122"/>
                <a:cs typeface="Arial" pitchFamily="34" charset="-120"/>
              </a:rPr>
              <a:t>Small Habits, Big Protection</a:t>
            </a:r>
            <a:endParaRPr lang="en-US" sz="2800" dirty="0"/>
          </a:p>
        </p:txBody>
      </p:sp>
      <p:sp>
        <p:nvSpPr>
          <p:cNvPr id="8" name="Text 3"/>
          <p:cNvSpPr/>
          <p:nvPr/>
        </p:nvSpPr>
        <p:spPr>
          <a:xfrm>
            <a:off x="812800" y="4231580"/>
            <a:ext cx="6540500"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CADCFC"/>
                </a:solidFill>
                <a:latin typeface="Calibri" pitchFamily="34" charset="0"/>
                <a:ea typeface="Calibri" pitchFamily="34" charset="-122"/>
                <a:cs typeface="Calibri" pitchFamily="34" charset="-120"/>
              </a:rPr>
              <a:t>The everyday basics that stop most attacks</a:t>
            </a:r>
            <a:endParaRPr lang="en-US" sz="2000" dirty="0"/>
          </a:p>
        </p:txBody>
      </p:sp>
      <p:sp>
        <p:nvSpPr>
          <p:cNvPr id="9" name="Text 4"/>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3C8"/>
                </a:solidFill>
                <a:latin typeface="Calibri" pitchFamily="34" charset="0"/>
                <a:ea typeface="Calibri" pitchFamily="34" charset="-122"/>
                <a:cs typeface="Calibri" pitchFamily="34" charset="-120"/>
              </a:rPr>
              <a:t>Presented by: </a:t>
            </a:r>
            <a:r>
              <a:rPr lang="en-US" sz="1200" b="1" dirty="0" err="1">
                <a:solidFill>
                  <a:srgbClr val="FFFFFF"/>
                </a:solidFill>
                <a:latin typeface="Calibri" pitchFamily="34" charset="0"/>
                <a:ea typeface="Calibri" pitchFamily="34" charset="-122"/>
                <a:cs typeface="Calibri" pitchFamily="34" charset="-120"/>
              </a:rPr>
              <a:t>ZNexora</a:t>
            </a:r>
            <a:r>
              <a:rPr lang="en-US" sz="1200" b="1" dirty="0">
                <a:solidFill>
                  <a:srgbClr val="FFFFFF"/>
                </a:solidFill>
                <a:latin typeface="Calibri" pitchFamily="34" charset="0"/>
                <a:ea typeface="Calibri" pitchFamily="34" charset="-122"/>
                <a:cs typeface="Calibri" pitchFamily="34" charset="-120"/>
              </a:rPr>
              <a:t> Tech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a:effectLst/>
      </p:bgPr>
    </p:bg>
    <p:spTree>
      <p:nvGrpSpPr>
        <p:cNvPr id="1" name=""/>
        <p:cNvGrpSpPr/>
        <p:nvPr/>
      </p:nvGrpSpPr>
      <p:grpSpPr>
        <a:xfrm>
          <a:off x="0" y="0"/>
          <a:ext cx="0" cy="0"/>
          <a:chOff x="0" y="0"/>
          <a:chExt cx="0" cy="0"/>
        </a:xfrm>
      </p:grpSpPr>
      <p:pic>
        <p:nvPicPr>
          <p:cNvPr id="2" name="Image 0" descr="ZNexora Tech logo"/>
          <p:cNvPicPr>
            <a:picLocks noChangeAspect="1"/>
          </p:cNvPicPr>
          <p:nvPr/>
        </p:nvPicPr>
        <p:blipFill>
          <a:blip r:embed="rId3"/>
          <a:srcRect l="-106" r="-106"/>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78D4"/>
                </a:solidFill>
                <a:latin typeface="Calibri" pitchFamily="34" charset="0"/>
                <a:ea typeface="Calibri" pitchFamily="34" charset="-122"/>
                <a:cs typeface="Calibri" pitchFamily="34" charset="-120"/>
              </a:rPr>
              <a:t>01 · WHAT IS CYBER HYGIENE?</a:t>
            </a:r>
            <a:endParaRPr lang="en-US" sz="1200" dirty="0"/>
          </a:p>
        </p:txBody>
      </p:sp>
      <p:sp>
        <p:nvSpPr>
          <p:cNvPr id="4" name="Text 1"/>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1F33"/>
                </a:solidFill>
                <a:latin typeface="Arial" pitchFamily="34" charset="0"/>
                <a:ea typeface="Arial" pitchFamily="34" charset="-122"/>
                <a:cs typeface="Arial" pitchFamily="34" charset="-120"/>
              </a:rPr>
              <a:t>Personal hygiene for your digital life</a:t>
            </a:r>
            <a:endParaRPr lang="en-US" sz="3600" dirty="0"/>
          </a:p>
        </p:txBody>
      </p:sp>
      <p:sp>
        <p:nvSpPr>
          <p:cNvPr id="5" name="Shape 2"/>
          <p:cNvSpPr/>
          <p:nvPr/>
        </p:nvSpPr>
        <p:spPr>
          <a:xfrm>
            <a:off x="812800" y="1569690"/>
            <a:ext cx="10566400" cy="812800"/>
          </a:xfrm>
          <a:prstGeom prst="roundRect">
            <a:avLst>
              <a:gd name="adj" fmla="val 15625"/>
            </a:avLst>
          </a:prstGeom>
          <a:solidFill>
            <a:srgbClr val="EAF3FC"/>
          </a:solidFill>
          <a:ln/>
        </p:spPr>
        <p:txBody>
          <a:bodyPr/>
          <a:lstStyle/>
          <a:p>
            <a:endParaRPr lang="en-JP"/>
          </a:p>
        </p:txBody>
      </p:sp>
      <p:sp>
        <p:nvSpPr>
          <p:cNvPr id="6" name="Shape 3"/>
          <p:cNvSpPr/>
          <p:nvPr/>
        </p:nvSpPr>
        <p:spPr>
          <a:xfrm>
            <a:off x="1066800" y="1722090"/>
            <a:ext cx="508000" cy="508000"/>
          </a:xfrm>
          <a:prstGeom prst="roundRect">
            <a:avLst>
              <a:gd name="adj" fmla="val 50000"/>
            </a:avLst>
          </a:prstGeom>
          <a:solidFill>
            <a:srgbClr val="0078D4"/>
          </a:solidFill>
          <a:ln/>
        </p:spPr>
        <p:txBody>
          <a:bodyPr/>
          <a:lstStyle/>
          <a:p>
            <a:endParaRPr lang="en-JP"/>
          </a:p>
        </p:txBody>
      </p:sp>
      <p:pic>
        <p:nvPicPr>
          <p:cNvPr id="7" name="Image 1" descr="shield icon"/>
          <p:cNvPicPr>
            <a:picLocks noChangeAspect="1"/>
          </p:cNvPicPr>
          <p:nvPr/>
        </p:nvPicPr>
        <p:blipFill>
          <a:blip r:embed="rId4"/>
          <a:srcRect/>
          <a:stretch/>
        </p:blipFill>
        <p:spPr>
          <a:xfrm>
            <a:off x="1193800" y="1849090"/>
            <a:ext cx="254000" cy="254000"/>
          </a:xfrm>
          <a:prstGeom prst="rect">
            <a:avLst/>
          </a:prstGeom>
        </p:spPr>
      </p:pic>
      <p:sp>
        <p:nvSpPr>
          <p:cNvPr id="8" name="Text 4"/>
          <p:cNvSpPr/>
          <p:nvPr/>
        </p:nvSpPr>
        <p:spPr>
          <a:xfrm>
            <a:off x="1752600" y="1827510"/>
            <a:ext cx="9653778" cy="32256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0B1F33"/>
                </a:solidFill>
                <a:latin typeface="Arial" pitchFamily="34" charset="0"/>
                <a:ea typeface="Arial" pitchFamily="34" charset="-122"/>
                <a:cs typeface="Arial" pitchFamily="34" charset="-120"/>
              </a:rPr>
              <a:t>Small routines, done every day, that keep you, your devices and our data healthy.</a:t>
            </a:r>
            <a:endParaRPr lang="en-US" sz="1800" dirty="0"/>
          </a:p>
        </p:txBody>
      </p:sp>
      <p:sp>
        <p:nvSpPr>
          <p:cNvPr id="9" name="Text 5"/>
          <p:cNvSpPr/>
          <p:nvPr/>
        </p:nvSpPr>
        <p:spPr>
          <a:xfrm>
            <a:off x="1016000" y="2636490"/>
            <a:ext cx="26162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4A5A6B"/>
                </a:solidFill>
                <a:latin typeface="Calibri" pitchFamily="34" charset="0"/>
                <a:ea typeface="Calibri" pitchFamily="34" charset="-122"/>
                <a:cs typeface="Calibri" pitchFamily="34" charset="-120"/>
              </a:rPr>
              <a:t>AT HOME</a:t>
            </a:r>
            <a:endParaRPr lang="en-US" sz="1200" dirty="0"/>
          </a:p>
        </p:txBody>
      </p:sp>
      <p:sp>
        <p:nvSpPr>
          <p:cNvPr id="10" name="Text 6"/>
          <p:cNvSpPr/>
          <p:nvPr/>
        </p:nvSpPr>
        <p:spPr>
          <a:xfrm>
            <a:off x="4140200" y="2636490"/>
            <a:ext cx="7246874"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78D4"/>
                </a:solidFill>
                <a:latin typeface="Calibri" pitchFamily="34" charset="0"/>
                <a:ea typeface="Calibri" pitchFamily="34" charset="-122"/>
                <a:cs typeface="Calibri" pitchFamily="34" charset="-120"/>
              </a:rPr>
              <a:t>AT WORK</a:t>
            </a:r>
            <a:endParaRPr lang="en-US" sz="1200" dirty="0"/>
          </a:p>
        </p:txBody>
      </p:sp>
      <p:sp>
        <p:nvSpPr>
          <p:cNvPr id="11" name="Shape 7"/>
          <p:cNvSpPr/>
          <p:nvPr/>
        </p:nvSpPr>
        <p:spPr>
          <a:xfrm>
            <a:off x="812800" y="2938711"/>
            <a:ext cx="10566400" cy="584200"/>
          </a:xfrm>
          <a:prstGeom prst="roundRect">
            <a:avLst>
              <a:gd name="adj" fmla="val 17391"/>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12" name="Text 8"/>
          <p:cNvSpPr/>
          <p:nvPr/>
        </p:nvSpPr>
        <p:spPr>
          <a:xfrm>
            <a:off x="1016000" y="3106341"/>
            <a:ext cx="261620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B"/>
                </a:solidFill>
                <a:latin typeface="Calibri" pitchFamily="34" charset="0"/>
                <a:ea typeface="Calibri" pitchFamily="34" charset="-122"/>
                <a:cs typeface="Calibri" pitchFamily="34" charset="-120"/>
              </a:rPr>
              <a:t>Wash your hands</a:t>
            </a:r>
            <a:endParaRPr lang="en-US" sz="1400" dirty="0"/>
          </a:p>
        </p:txBody>
      </p:sp>
      <p:pic>
        <p:nvPicPr>
          <p:cNvPr id="13" name="Image 2" descr="arrow icon"/>
          <p:cNvPicPr>
            <a:picLocks noChangeAspect="1"/>
          </p:cNvPicPr>
          <p:nvPr/>
        </p:nvPicPr>
        <p:blipFill>
          <a:blip r:embed="rId5"/>
          <a:srcRect/>
          <a:stretch/>
        </p:blipFill>
        <p:spPr>
          <a:xfrm>
            <a:off x="3733800" y="3116511"/>
            <a:ext cx="228600" cy="228600"/>
          </a:xfrm>
          <a:prstGeom prst="rect">
            <a:avLst/>
          </a:prstGeom>
        </p:spPr>
      </p:pic>
      <p:sp>
        <p:nvSpPr>
          <p:cNvPr id="14" name="Shape 9"/>
          <p:cNvSpPr/>
          <p:nvPr/>
        </p:nvSpPr>
        <p:spPr>
          <a:xfrm>
            <a:off x="4140200" y="3040311"/>
            <a:ext cx="381000" cy="381000"/>
          </a:xfrm>
          <a:prstGeom prst="roundRect">
            <a:avLst>
              <a:gd name="adj" fmla="val 50000"/>
            </a:avLst>
          </a:prstGeom>
          <a:solidFill>
            <a:srgbClr val="EAF3FC"/>
          </a:solidFill>
          <a:ln/>
        </p:spPr>
        <p:txBody>
          <a:bodyPr/>
          <a:lstStyle/>
          <a:p>
            <a:endParaRPr lang="en-JP"/>
          </a:p>
        </p:txBody>
      </p:sp>
      <p:pic>
        <p:nvPicPr>
          <p:cNvPr id="15" name="Image 3" descr="refresh icon"/>
          <p:cNvPicPr>
            <a:picLocks noChangeAspect="1"/>
          </p:cNvPicPr>
          <p:nvPr/>
        </p:nvPicPr>
        <p:blipFill>
          <a:blip r:embed="rId6"/>
          <a:srcRect/>
          <a:stretch/>
        </p:blipFill>
        <p:spPr>
          <a:xfrm>
            <a:off x="4235450" y="3135561"/>
            <a:ext cx="190500" cy="190500"/>
          </a:xfrm>
          <a:prstGeom prst="rect">
            <a:avLst/>
          </a:prstGeom>
        </p:spPr>
      </p:pic>
      <p:sp>
        <p:nvSpPr>
          <p:cNvPr id="16" name="Text 10"/>
          <p:cNvSpPr/>
          <p:nvPr/>
        </p:nvSpPr>
        <p:spPr>
          <a:xfrm>
            <a:off x="4699000" y="3097461"/>
            <a:ext cx="274701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B1F33"/>
                </a:solidFill>
                <a:latin typeface="Calibri" pitchFamily="34" charset="0"/>
                <a:ea typeface="Calibri" pitchFamily="34" charset="-122"/>
                <a:cs typeface="Calibri" pitchFamily="34" charset="-120"/>
              </a:rPr>
              <a:t>Install updates</a:t>
            </a:r>
            <a:endParaRPr lang="en-US" sz="1500" dirty="0"/>
          </a:p>
        </p:txBody>
      </p:sp>
      <p:sp>
        <p:nvSpPr>
          <p:cNvPr id="17" name="Text 11"/>
          <p:cNvSpPr/>
          <p:nvPr/>
        </p:nvSpPr>
        <p:spPr>
          <a:xfrm>
            <a:off x="7543800" y="3115221"/>
            <a:ext cx="3741166"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6B"/>
                </a:solidFill>
                <a:latin typeface="Calibri" pitchFamily="34" charset="0"/>
                <a:ea typeface="Calibri" pitchFamily="34" charset="-122"/>
                <a:cs typeface="Calibri" pitchFamily="34" charset="-120"/>
              </a:rPr>
              <a:t>Removes known weaknesses</a:t>
            </a:r>
            <a:endParaRPr lang="en-US" sz="1300" dirty="0"/>
          </a:p>
        </p:txBody>
      </p:sp>
      <p:sp>
        <p:nvSpPr>
          <p:cNvPr id="18" name="Shape 12"/>
          <p:cNvSpPr/>
          <p:nvPr/>
        </p:nvSpPr>
        <p:spPr>
          <a:xfrm>
            <a:off x="812800" y="3611811"/>
            <a:ext cx="10566400" cy="584200"/>
          </a:xfrm>
          <a:prstGeom prst="roundRect">
            <a:avLst>
              <a:gd name="adj" fmla="val 17391"/>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19" name="Text 13"/>
          <p:cNvSpPr/>
          <p:nvPr/>
        </p:nvSpPr>
        <p:spPr>
          <a:xfrm>
            <a:off x="1016000" y="3779441"/>
            <a:ext cx="261620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B"/>
                </a:solidFill>
                <a:latin typeface="Calibri" pitchFamily="34" charset="0"/>
                <a:ea typeface="Calibri" pitchFamily="34" charset="-122"/>
                <a:cs typeface="Calibri" pitchFamily="34" charset="-120"/>
              </a:rPr>
              <a:t>Lock your front door</a:t>
            </a:r>
            <a:endParaRPr lang="en-US" sz="1400" dirty="0"/>
          </a:p>
        </p:txBody>
      </p:sp>
      <p:pic>
        <p:nvPicPr>
          <p:cNvPr id="20" name="Image 4" descr="arrow icon"/>
          <p:cNvPicPr>
            <a:picLocks noChangeAspect="1"/>
          </p:cNvPicPr>
          <p:nvPr/>
        </p:nvPicPr>
        <p:blipFill>
          <a:blip r:embed="rId5"/>
          <a:srcRect/>
          <a:stretch/>
        </p:blipFill>
        <p:spPr>
          <a:xfrm>
            <a:off x="3733800" y="3789611"/>
            <a:ext cx="228600" cy="228600"/>
          </a:xfrm>
          <a:prstGeom prst="rect">
            <a:avLst/>
          </a:prstGeom>
        </p:spPr>
      </p:pic>
      <p:sp>
        <p:nvSpPr>
          <p:cNvPr id="21" name="Shape 14"/>
          <p:cNvSpPr/>
          <p:nvPr/>
        </p:nvSpPr>
        <p:spPr>
          <a:xfrm>
            <a:off x="4140200" y="3713411"/>
            <a:ext cx="381000" cy="381000"/>
          </a:xfrm>
          <a:prstGeom prst="roundRect">
            <a:avLst>
              <a:gd name="adj" fmla="val 50000"/>
            </a:avLst>
          </a:prstGeom>
          <a:solidFill>
            <a:srgbClr val="EAF3FC"/>
          </a:solidFill>
          <a:ln/>
        </p:spPr>
        <p:txBody>
          <a:bodyPr/>
          <a:lstStyle/>
          <a:p>
            <a:endParaRPr lang="en-JP"/>
          </a:p>
        </p:txBody>
      </p:sp>
      <p:pic>
        <p:nvPicPr>
          <p:cNvPr id="22" name="Image 5" descr="lock icon"/>
          <p:cNvPicPr>
            <a:picLocks noChangeAspect="1"/>
          </p:cNvPicPr>
          <p:nvPr/>
        </p:nvPicPr>
        <p:blipFill>
          <a:blip r:embed="rId7"/>
          <a:srcRect/>
          <a:stretch/>
        </p:blipFill>
        <p:spPr>
          <a:xfrm>
            <a:off x="4235450" y="3808661"/>
            <a:ext cx="190500" cy="190500"/>
          </a:xfrm>
          <a:prstGeom prst="rect">
            <a:avLst/>
          </a:prstGeom>
        </p:spPr>
      </p:pic>
      <p:sp>
        <p:nvSpPr>
          <p:cNvPr id="23" name="Text 15"/>
          <p:cNvSpPr/>
          <p:nvPr/>
        </p:nvSpPr>
        <p:spPr>
          <a:xfrm>
            <a:off x="4699000" y="3770561"/>
            <a:ext cx="274701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B1F33"/>
                </a:solidFill>
                <a:latin typeface="Calibri" pitchFamily="34" charset="0"/>
                <a:ea typeface="Calibri" pitchFamily="34" charset="-122"/>
                <a:cs typeface="Calibri" pitchFamily="34" charset="-120"/>
              </a:rPr>
              <a:t>Lock your screen</a:t>
            </a:r>
            <a:endParaRPr lang="en-US" sz="1500" dirty="0"/>
          </a:p>
        </p:txBody>
      </p:sp>
      <p:sp>
        <p:nvSpPr>
          <p:cNvPr id="24" name="Text 16"/>
          <p:cNvSpPr/>
          <p:nvPr/>
        </p:nvSpPr>
        <p:spPr>
          <a:xfrm>
            <a:off x="7543800" y="3788321"/>
            <a:ext cx="3741166"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6B"/>
                </a:solidFill>
                <a:latin typeface="Calibri" pitchFamily="34" charset="0"/>
                <a:ea typeface="Calibri" pitchFamily="34" charset="-122"/>
                <a:cs typeface="Calibri" pitchFamily="34" charset="-120"/>
              </a:rPr>
              <a:t>Stops casual access</a:t>
            </a:r>
            <a:endParaRPr lang="en-US" sz="1300" dirty="0"/>
          </a:p>
        </p:txBody>
      </p:sp>
      <p:sp>
        <p:nvSpPr>
          <p:cNvPr id="25" name="Shape 17"/>
          <p:cNvSpPr/>
          <p:nvPr/>
        </p:nvSpPr>
        <p:spPr>
          <a:xfrm>
            <a:off x="812800" y="4284911"/>
            <a:ext cx="10566400" cy="584200"/>
          </a:xfrm>
          <a:prstGeom prst="roundRect">
            <a:avLst>
              <a:gd name="adj" fmla="val 17391"/>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26" name="Text 18"/>
          <p:cNvSpPr/>
          <p:nvPr/>
        </p:nvSpPr>
        <p:spPr>
          <a:xfrm>
            <a:off x="1016000" y="4452541"/>
            <a:ext cx="261620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B"/>
                </a:solidFill>
                <a:latin typeface="Calibri" pitchFamily="34" charset="0"/>
                <a:ea typeface="Calibri" pitchFamily="34" charset="-122"/>
                <a:cs typeface="Calibri" pitchFamily="34" charset="-120"/>
              </a:rPr>
              <a:t>Copy important papers</a:t>
            </a:r>
            <a:endParaRPr lang="en-US" sz="1400" dirty="0"/>
          </a:p>
        </p:txBody>
      </p:sp>
      <p:pic>
        <p:nvPicPr>
          <p:cNvPr id="27" name="Image 6" descr="arrow icon"/>
          <p:cNvPicPr>
            <a:picLocks noChangeAspect="1"/>
          </p:cNvPicPr>
          <p:nvPr/>
        </p:nvPicPr>
        <p:blipFill>
          <a:blip r:embed="rId5"/>
          <a:srcRect/>
          <a:stretch/>
        </p:blipFill>
        <p:spPr>
          <a:xfrm>
            <a:off x="3733800" y="4462711"/>
            <a:ext cx="228600" cy="228600"/>
          </a:xfrm>
          <a:prstGeom prst="rect">
            <a:avLst/>
          </a:prstGeom>
        </p:spPr>
      </p:pic>
      <p:sp>
        <p:nvSpPr>
          <p:cNvPr id="28" name="Shape 19"/>
          <p:cNvSpPr/>
          <p:nvPr/>
        </p:nvSpPr>
        <p:spPr>
          <a:xfrm>
            <a:off x="4140200" y="4386511"/>
            <a:ext cx="381000" cy="381000"/>
          </a:xfrm>
          <a:prstGeom prst="roundRect">
            <a:avLst>
              <a:gd name="adj" fmla="val 50000"/>
            </a:avLst>
          </a:prstGeom>
          <a:solidFill>
            <a:srgbClr val="EAF3FC"/>
          </a:solidFill>
          <a:ln/>
        </p:spPr>
        <p:txBody>
          <a:bodyPr/>
          <a:lstStyle/>
          <a:p>
            <a:endParaRPr lang="en-JP"/>
          </a:p>
        </p:txBody>
      </p:sp>
      <p:pic>
        <p:nvPicPr>
          <p:cNvPr id="29" name="Image 7" descr="save icon"/>
          <p:cNvPicPr>
            <a:picLocks noChangeAspect="1"/>
          </p:cNvPicPr>
          <p:nvPr/>
        </p:nvPicPr>
        <p:blipFill>
          <a:blip r:embed="rId8"/>
          <a:srcRect/>
          <a:stretch/>
        </p:blipFill>
        <p:spPr>
          <a:xfrm>
            <a:off x="4235450" y="4481761"/>
            <a:ext cx="190500" cy="190500"/>
          </a:xfrm>
          <a:prstGeom prst="rect">
            <a:avLst/>
          </a:prstGeom>
        </p:spPr>
      </p:pic>
      <p:sp>
        <p:nvSpPr>
          <p:cNvPr id="30" name="Text 20"/>
          <p:cNvSpPr/>
          <p:nvPr/>
        </p:nvSpPr>
        <p:spPr>
          <a:xfrm>
            <a:off x="4699000" y="4443661"/>
            <a:ext cx="274701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B1F33"/>
                </a:solidFill>
                <a:latin typeface="Calibri" pitchFamily="34" charset="0"/>
                <a:ea typeface="Calibri" pitchFamily="34" charset="-122"/>
                <a:cs typeface="Calibri" pitchFamily="34" charset="-120"/>
              </a:rPr>
              <a:t>Back up your work</a:t>
            </a:r>
            <a:endParaRPr lang="en-US" sz="1500" dirty="0"/>
          </a:p>
        </p:txBody>
      </p:sp>
      <p:sp>
        <p:nvSpPr>
          <p:cNvPr id="31" name="Text 21"/>
          <p:cNvSpPr/>
          <p:nvPr/>
        </p:nvSpPr>
        <p:spPr>
          <a:xfrm>
            <a:off x="7543800" y="4461421"/>
            <a:ext cx="3741166"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6B"/>
                </a:solidFill>
                <a:latin typeface="Calibri" pitchFamily="34" charset="0"/>
                <a:ea typeface="Calibri" pitchFamily="34" charset="-122"/>
                <a:cs typeface="Calibri" pitchFamily="34" charset="-120"/>
              </a:rPr>
              <a:t>Recover when things go wrong</a:t>
            </a:r>
            <a:endParaRPr lang="en-US" sz="1300" dirty="0"/>
          </a:p>
        </p:txBody>
      </p:sp>
      <p:sp>
        <p:nvSpPr>
          <p:cNvPr id="32" name="Shape 22"/>
          <p:cNvSpPr/>
          <p:nvPr/>
        </p:nvSpPr>
        <p:spPr>
          <a:xfrm>
            <a:off x="812800" y="4958011"/>
            <a:ext cx="10566400" cy="584200"/>
          </a:xfrm>
          <a:prstGeom prst="roundRect">
            <a:avLst>
              <a:gd name="adj" fmla="val 17391"/>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33" name="Text 23"/>
          <p:cNvSpPr/>
          <p:nvPr/>
        </p:nvSpPr>
        <p:spPr>
          <a:xfrm>
            <a:off x="1016000" y="5125641"/>
            <a:ext cx="261620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B"/>
                </a:solidFill>
                <a:latin typeface="Calibri" pitchFamily="34" charset="0"/>
                <a:ea typeface="Calibri" pitchFamily="34" charset="-122"/>
                <a:cs typeface="Calibri" pitchFamily="34" charset="-120"/>
              </a:rPr>
              <a:t>Keep your home tidy</a:t>
            </a:r>
            <a:endParaRPr lang="en-US" sz="1400" dirty="0"/>
          </a:p>
        </p:txBody>
      </p:sp>
      <p:pic>
        <p:nvPicPr>
          <p:cNvPr id="34" name="Image 8" descr="arrow icon"/>
          <p:cNvPicPr>
            <a:picLocks noChangeAspect="1"/>
          </p:cNvPicPr>
          <p:nvPr/>
        </p:nvPicPr>
        <p:blipFill>
          <a:blip r:embed="rId5"/>
          <a:srcRect/>
          <a:stretch/>
        </p:blipFill>
        <p:spPr>
          <a:xfrm>
            <a:off x="3733800" y="5135811"/>
            <a:ext cx="228600" cy="228600"/>
          </a:xfrm>
          <a:prstGeom prst="rect">
            <a:avLst/>
          </a:prstGeom>
        </p:spPr>
      </p:pic>
      <p:sp>
        <p:nvSpPr>
          <p:cNvPr id="35" name="Shape 24"/>
          <p:cNvSpPr/>
          <p:nvPr/>
        </p:nvSpPr>
        <p:spPr>
          <a:xfrm>
            <a:off x="4140200" y="5059611"/>
            <a:ext cx="381000" cy="381000"/>
          </a:xfrm>
          <a:prstGeom prst="roundRect">
            <a:avLst>
              <a:gd name="adj" fmla="val 50000"/>
            </a:avLst>
          </a:prstGeom>
          <a:solidFill>
            <a:srgbClr val="EAF3FC"/>
          </a:solidFill>
          <a:ln/>
        </p:spPr>
        <p:txBody>
          <a:bodyPr/>
          <a:lstStyle/>
          <a:p>
            <a:endParaRPr lang="en-JP"/>
          </a:p>
        </p:txBody>
      </p:sp>
      <p:pic>
        <p:nvPicPr>
          <p:cNvPr id="36" name="Image 9" descr="file icon"/>
          <p:cNvPicPr>
            <a:picLocks noChangeAspect="1"/>
          </p:cNvPicPr>
          <p:nvPr/>
        </p:nvPicPr>
        <p:blipFill>
          <a:blip r:embed="rId9"/>
          <a:srcRect/>
          <a:stretch/>
        </p:blipFill>
        <p:spPr>
          <a:xfrm>
            <a:off x="4235450" y="5154861"/>
            <a:ext cx="190500" cy="190500"/>
          </a:xfrm>
          <a:prstGeom prst="rect">
            <a:avLst/>
          </a:prstGeom>
        </p:spPr>
      </p:pic>
      <p:sp>
        <p:nvSpPr>
          <p:cNvPr id="37" name="Text 25"/>
          <p:cNvSpPr/>
          <p:nvPr/>
        </p:nvSpPr>
        <p:spPr>
          <a:xfrm>
            <a:off x="4699000" y="5116761"/>
            <a:ext cx="2747010"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B1F33"/>
                </a:solidFill>
                <a:latin typeface="Calibri" pitchFamily="34" charset="0"/>
                <a:ea typeface="Calibri" pitchFamily="34" charset="-122"/>
                <a:cs typeface="Calibri" pitchFamily="34" charset="-120"/>
              </a:rPr>
              <a:t>Clean desk</a:t>
            </a:r>
            <a:endParaRPr lang="en-US" sz="1500" dirty="0"/>
          </a:p>
        </p:txBody>
      </p:sp>
      <p:sp>
        <p:nvSpPr>
          <p:cNvPr id="38" name="Text 26"/>
          <p:cNvSpPr/>
          <p:nvPr/>
        </p:nvSpPr>
        <p:spPr>
          <a:xfrm>
            <a:off x="7543800" y="5134521"/>
            <a:ext cx="3741166"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A6B"/>
                </a:solidFill>
                <a:latin typeface="Calibri" pitchFamily="34" charset="0"/>
                <a:ea typeface="Calibri" pitchFamily="34" charset="-122"/>
                <a:cs typeface="Calibri" pitchFamily="34" charset="-120"/>
              </a:rPr>
              <a:t>Nothing left for others to find</a:t>
            </a:r>
            <a:endParaRPr lang="en-US" sz="1300" dirty="0"/>
          </a:p>
        </p:txBody>
      </p:sp>
      <p:sp>
        <p:nvSpPr>
          <p:cNvPr id="39" name="Text 27"/>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B"/>
                </a:solidFill>
                <a:latin typeface="Calibri" pitchFamily="34" charset="0"/>
                <a:ea typeface="Calibri" pitchFamily="34" charset="-122"/>
                <a:cs typeface="Calibri" pitchFamily="34" charset="-120"/>
              </a:rPr>
              <a:t>ZNexora Tech</a:t>
            </a:r>
            <a:endParaRPr lang="en-US" sz="1200" dirty="0"/>
          </a:p>
        </p:txBody>
      </p:sp>
      <p:sp>
        <p:nvSpPr>
          <p:cNvPr id="40" name="Text 28"/>
          <p:cNvSpPr/>
          <p:nvPr/>
        </p:nvSpPr>
        <p:spPr>
          <a:xfrm>
            <a:off x="9855200" y="6238280"/>
            <a:ext cx="15240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A6B"/>
                </a:solidFill>
                <a:latin typeface="Calibri" pitchFamily="34" charset="0"/>
                <a:ea typeface="Calibri" pitchFamily="34" charset="-122"/>
                <a:cs typeface="Calibri" pitchFamily="34" charset="-120"/>
              </a:rPr>
              <a:t>ZNexora Tech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pic>
        <p:nvPicPr>
          <p:cNvPr id="2" name="Image 0" descr="ZNexora Tech logo"/>
          <p:cNvPicPr>
            <a:picLocks noChangeAspect="1"/>
          </p:cNvPicPr>
          <p:nvPr/>
        </p:nvPicPr>
        <p:blipFill>
          <a:blip r:embed="rId3"/>
          <a:srcRect l="-106" r="-106"/>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B7C3"/>
                </a:solidFill>
                <a:latin typeface="Calibri" pitchFamily="34" charset="0"/>
                <a:ea typeface="Calibri" pitchFamily="34" charset="-122"/>
                <a:cs typeface="Calibri" pitchFamily="34" charset="-120"/>
              </a:rPr>
              <a:t>02 · WHY BASICS MATTER</a:t>
            </a:r>
            <a:endParaRPr lang="en-US" sz="1200" dirty="0"/>
          </a:p>
        </p:txBody>
      </p:sp>
      <p:sp>
        <p:nvSpPr>
          <p:cNvPr id="4" name="Text 1"/>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FFFFF"/>
                </a:solidFill>
                <a:latin typeface="Arial" pitchFamily="34" charset="0"/>
                <a:ea typeface="Arial" pitchFamily="34" charset="-122"/>
                <a:cs typeface="Arial" pitchFamily="34" charset="-120"/>
              </a:rPr>
              <a:t>Most attacks exploit the basics</a:t>
            </a:r>
            <a:endParaRPr lang="en-US" sz="3600" dirty="0"/>
          </a:p>
        </p:txBody>
      </p:sp>
      <p:sp>
        <p:nvSpPr>
          <p:cNvPr id="5" name="Shape 2"/>
          <p:cNvSpPr/>
          <p:nvPr/>
        </p:nvSpPr>
        <p:spPr>
          <a:xfrm>
            <a:off x="812800" y="1569690"/>
            <a:ext cx="3403600" cy="2505670"/>
          </a:xfrm>
          <a:prstGeom prst="roundRect">
            <a:avLst>
              <a:gd name="adj" fmla="val 5069"/>
            </a:avLst>
          </a:prstGeom>
          <a:solidFill>
            <a:srgbClr val="13294B"/>
          </a:solidFill>
          <a:ln/>
        </p:spPr>
        <p:txBody>
          <a:bodyPr/>
          <a:lstStyle/>
          <a:p>
            <a:endParaRPr lang="en-JP"/>
          </a:p>
        </p:txBody>
      </p:sp>
      <p:sp>
        <p:nvSpPr>
          <p:cNvPr id="6" name="Shape 3"/>
          <p:cNvSpPr/>
          <p:nvPr/>
        </p:nvSpPr>
        <p:spPr>
          <a:xfrm>
            <a:off x="1041400" y="1823690"/>
            <a:ext cx="406400" cy="406400"/>
          </a:xfrm>
          <a:prstGeom prst="roundRect">
            <a:avLst>
              <a:gd name="adj" fmla="val 50000"/>
            </a:avLst>
          </a:prstGeom>
          <a:solidFill>
            <a:srgbClr val="F7630C"/>
          </a:solidFill>
          <a:ln/>
        </p:spPr>
        <p:txBody>
          <a:bodyPr/>
          <a:lstStyle/>
          <a:p>
            <a:endParaRPr lang="en-JP"/>
          </a:p>
        </p:txBody>
      </p:sp>
      <p:pic>
        <p:nvPicPr>
          <p:cNvPr id="7" name="Image 1" descr="refresh icon"/>
          <p:cNvPicPr>
            <a:picLocks noChangeAspect="1"/>
          </p:cNvPicPr>
          <p:nvPr/>
        </p:nvPicPr>
        <p:blipFill>
          <a:blip r:embed="rId4"/>
          <a:srcRect/>
          <a:stretch/>
        </p:blipFill>
        <p:spPr>
          <a:xfrm>
            <a:off x="1143000" y="1925290"/>
            <a:ext cx="203200" cy="203200"/>
          </a:xfrm>
          <a:prstGeom prst="rect">
            <a:avLst/>
          </a:prstGeom>
        </p:spPr>
      </p:pic>
      <p:sp>
        <p:nvSpPr>
          <p:cNvPr id="8" name="Text 4"/>
          <p:cNvSpPr/>
          <p:nvPr/>
        </p:nvSpPr>
        <p:spPr>
          <a:xfrm>
            <a:off x="1041400" y="2331690"/>
            <a:ext cx="3034792" cy="584200"/>
          </a:xfrm>
          <a:prstGeom prst="rect">
            <a:avLst/>
          </a:prstGeom>
          <a:noFill/>
          <a:ln/>
        </p:spPr>
        <p:txBody>
          <a:bodyPr wrap="square" lIns="0" tIns="0" rIns="0" bIns="0" rtlCol="0" anchor="t">
            <a:normAutofit/>
          </a:bodyPr>
          <a:lstStyle/>
          <a:p>
            <a:pPr marL="0" indent="0" algn="l">
              <a:lnSpc>
                <a:spcPts val="4400"/>
              </a:lnSpc>
              <a:buNone/>
            </a:pPr>
            <a:r>
              <a:rPr lang="en-US" sz="4400" b="1" dirty="0">
                <a:solidFill>
                  <a:srgbClr val="FFFFFF"/>
                </a:solidFill>
                <a:latin typeface="Arial" pitchFamily="34" charset="0"/>
                <a:ea typeface="Arial" pitchFamily="34" charset="-122"/>
                <a:cs typeface="Arial" pitchFamily="34" charset="-120"/>
              </a:rPr>
              <a:t>31%</a:t>
            </a:r>
            <a:endParaRPr lang="en-US" sz="4400" dirty="0"/>
          </a:p>
        </p:txBody>
      </p:sp>
      <p:sp>
        <p:nvSpPr>
          <p:cNvPr id="9" name="Text 5"/>
          <p:cNvSpPr/>
          <p:nvPr/>
        </p:nvSpPr>
        <p:spPr>
          <a:xfrm>
            <a:off x="1041400" y="2992090"/>
            <a:ext cx="3034792"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CADCFC"/>
                </a:solidFill>
                <a:latin typeface="Calibri" pitchFamily="34" charset="0"/>
                <a:ea typeface="Calibri" pitchFamily="34" charset="-122"/>
                <a:cs typeface="Calibri" pitchFamily="34" charset="-120"/>
              </a:rPr>
              <a:t>of breaches now start by exploiting an unpatched vulnerability</a:t>
            </a:r>
            <a:endParaRPr lang="en-US" sz="1500" dirty="0"/>
          </a:p>
        </p:txBody>
      </p:sp>
      <p:sp>
        <p:nvSpPr>
          <p:cNvPr id="10" name="Text 6"/>
          <p:cNvSpPr/>
          <p:nvPr/>
        </p:nvSpPr>
        <p:spPr>
          <a:xfrm>
            <a:off x="1041400" y="3608040"/>
            <a:ext cx="30347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0B7C3"/>
                </a:solidFill>
                <a:latin typeface="Calibri" pitchFamily="34" charset="0"/>
                <a:ea typeface="Calibri" pitchFamily="34" charset="-122"/>
                <a:cs typeface="Calibri" pitchFamily="34" charset="-120"/>
              </a:rPr>
              <a:t>Verizon DBIR 2026</a:t>
            </a:r>
            <a:endParaRPr lang="en-US" sz="1200" dirty="0"/>
          </a:p>
        </p:txBody>
      </p:sp>
      <p:sp>
        <p:nvSpPr>
          <p:cNvPr id="11" name="Shape 7"/>
          <p:cNvSpPr/>
          <p:nvPr/>
        </p:nvSpPr>
        <p:spPr>
          <a:xfrm>
            <a:off x="4394200" y="1569690"/>
            <a:ext cx="3403600" cy="2505670"/>
          </a:xfrm>
          <a:prstGeom prst="roundRect">
            <a:avLst>
              <a:gd name="adj" fmla="val 5069"/>
            </a:avLst>
          </a:prstGeom>
          <a:solidFill>
            <a:srgbClr val="13294B"/>
          </a:solidFill>
          <a:ln/>
        </p:spPr>
        <p:txBody>
          <a:bodyPr/>
          <a:lstStyle/>
          <a:p>
            <a:endParaRPr lang="en-JP"/>
          </a:p>
        </p:txBody>
      </p:sp>
      <p:sp>
        <p:nvSpPr>
          <p:cNvPr id="12" name="Shape 8"/>
          <p:cNvSpPr/>
          <p:nvPr/>
        </p:nvSpPr>
        <p:spPr>
          <a:xfrm>
            <a:off x="4622800" y="1823690"/>
            <a:ext cx="406400" cy="406400"/>
          </a:xfrm>
          <a:prstGeom prst="roundRect">
            <a:avLst>
              <a:gd name="adj" fmla="val 50000"/>
            </a:avLst>
          </a:prstGeom>
          <a:solidFill>
            <a:srgbClr val="00B7C3"/>
          </a:solidFill>
          <a:ln/>
        </p:spPr>
        <p:txBody>
          <a:bodyPr/>
          <a:lstStyle/>
          <a:p>
            <a:endParaRPr lang="en-JP"/>
          </a:p>
        </p:txBody>
      </p:sp>
      <p:pic>
        <p:nvPicPr>
          <p:cNvPr id="13" name="Image 2" descr="key icon"/>
          <p:cNvPicPr>
            <a:picLocks noChangeAspect="1"/>
          </p:cNvPicPr>
          <p:nvPr/>
        </p:nvPicPr>
        <p:blipFill>
          <a:blip r:embed="rId5"/>
          <a:srcRect/>
          <a:stretch/>
        </p:blipFill>
        <p:spPr>
          <a:xfrm>
            <a:off x="4724400" y="1925290"/>
            <a:ext cx="203200" cy="203200"/>
          </a:xfrm>
          <a:prstGeom prst="rect">
            <a:avLst/>
          </a:prstGeom>
        </p:spPr>
      </p:pic>
      <p:sp>
        <p:nvSpPr>
          <p:cNvPr id="14" name="Text 9"/>
          <p:cNvSpPr/>
          <p:nvPr/>
        </p:nvSpPr>
        <p:spPr>
          <a:xfrm>
            <a:off x="4622800" y="2331690"/>
            <a:ext cx="3034792" cy="584200"/>
          </a:xfrm>
          <a:prstGeom prst="rect">
            <a:avLst/>
          </a:prstGeom>
          <a:noFill/>
          <a:ln/>
        </p:spPr>
        <p:txBody>
          <a:bodyPr wrap="square" lIns="0" tIns="0" rIns="0" bIns="0" rtlCol="0" anchor="t">
            <a:normAutofit/>
          </a:bodyPr>
          <a:lstStyle/>
          <a:p>
            <a:pPr marL="0" indent="0" algn="l">
              <a:lnSpc>
                <a:spcPts val="4400"/>
              </a:lnSpc>
              <a:buNone/>
            </a:pPr>
            <a:r>
              <a:rPr lang="en-US" sz="4400" b="1" dirty="0">
                <a:solidFill>
                  <a:srgbClr val="FFFFFF"/>
                </a:solidFill>
                <a:latin typeface="Arial" pitchFamily="34" charset="0"/>
                <a:ea typeface="Arial" pitchFamily="34" charset="-122"/>
                <a:cs typeface="Arial" pitchFamily="34" charset="-120"/>
              </a:rPr>
              <a:t>99%+</a:t>
            </a:r>
            <a:endParaRPr lang="en-US" sz="4400" dirty="0"/>
          </a:p>
        </p:txBody>
      </p:sp>
      <p:sp>
        <p:nvSpPr>
          <p:cNvPr id="15" name="Text 10"/>
          <p:cNvSpPr/>
          <p:nvPr/>
        </p:nvSpPr>
        <p:spPr>
          <a:xfrm>
            <a:off x="4622800" y="2992090"/>
            <a:ext cx="3034792"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CADCFC"/>
                </a:solidFill>
                <a:latin typeface="Calibri" pitchFamily="34" charset="0"/>
                <a:ea typeface="Calibri" pitchFamily="34" charset="-122"/>
                <a:cs typeface="Calibri" pitchFamily="34" charset="-120"/>
              </a:rPr>
              <a:t>of identity attacks blocked by phishing-resistant MFA</a:t>
            </a:r>
            <a:endParaRPr lang="en-US" sz="1500" dirty="0"/>
          </a:p>
        </p:txBody>
      </p:sp>
      <p:sp>
        <p:nvSpPr>
          <p:cNvPr id="16" name="Text 11"/>
          <p:cNvSpPr/>
          <p:nvPr/>
        </p:nvSpPr>
        <p:spPr>
          <a:xfrm>
            <a:off x="4622800" y="3608040"/>
            <a:ext cx="30347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0B7C3"/>
                </a:solidFill>
                <a:latin typeface="Calibri" pitchFamily="34" charset="0"/>
                <a:ea typeface="Calibri" pitchFamily="34" charset="-122"/>
                <a:cs typeface="Calibri" pitchFamily="34" charset="-120"/>
              </a:rPr>
              <a:t>Microsoft Digital Defense Report 2025</a:t>
            </a:r>
            <a:endParaRPr lang="en-US" sz="1200" dirty="0"/>
          </a:p>
        </p:txBody>
      </p:sp>
      <p:sp>
        <p:nvSpPr>
          <p:cNvPr id="17" name="Shape 12"/>
          <p:cNvSpPr/>
          <p:nvPr/>
        </p:nvSpPr>
        <p:spPr>
          <a:xfrm>
            <a:off x="7975600" y="1569690"/>
            <a:ext cx="3403600" cy="2505670"/>
          </a:xfrm>
          <a:prstGeom prst="roundRect">
            <a:avLst>
              <a:gd name="adj" fmla="val 5069"/>
            </a:avLst>
          </a:prstGeom>
          <a:solidFill>
            <a:srgbClr val="13294B"/>
          </a:solidFill>
          <a:ln/>
        </p:spPr>
        <p:txBody>
          <a:bodyPr/>
          <a:lstStyle/>
          <a:p>
            <a:endParaRPr lang="en-JP"/>
          </a:p>
        </p:txBody>
      </p:sp>
      <p:sp>
        <p:nvSpPr>
          <p:cNvPr id="18" name="Shape 13"/>
          <p:cNvSpPr/>
          <p:nvPr/>
        </p:nvSpPr>
        <p:spPr>
          <a:xfrm>
            <a:off x="8204200" y="1823690"/>
            <a:ext cx="406400" cy="406400"/>
          </a:xfrm>
          <a:prstGeom prst="roundRect">
            <a:avLst>
              <a:gd name="adj" fmla="val 50000"/>
            </a:avLst>
          </a:prstGeom>
          <a:solidFill>
            <a:srgbClr val="F7630C"/>
          </a:solidFill>
          <a:ln/>
        </p:spPr>
        <p:txBody>
          <a:bodyPr/>
          <a:lstStyle/>
          <a:p>
            <a:endParaRPr lang="en-JP"/>
          </a:p>
        </p:txBody>
      </p:sp>
      <p:pic>
        <p:nvPicPr>
          <p:cNvPr id="19" name="Image 3" descr="alert icon"/>
          <p:cNvPicPr>
            <a:picLocks noChangeAspect="1"/>
          </p:cNvPicPr>
          <p:nvPr/>
        </p:nvPicPr>
        <p:blipFill>
          <a:blip r:embed="rId6"/>
          <a:srcRect/>
          <a:stretch/>
        </p:blipFill>
        <p:spPr>
          <a:xfrm>
            <a:off x="8305800" y="1925290"/>
            <a:ext cx="203200" cy="203200"/>
          </a:xfrm>
          <a:prstGeom prst="rect">
            <a:avLst/>
          </a:prstGeom>
        </p:spPr>
      </p:pic>
      <p:sp>
        <p:nvSpPr>
          <p:cNvPr id="20" name="Text 14"/>
          <p:cNvSpPr/>
          <p:nvPr/>
        </p:nvSpPr>
        <p:spPr>
          <a:xfrm>
            <a:off x="8204200" y="2331690"/>
            <a:ext cx="3034792" cy="584200"/>
          </a:xfrm>
          <a:prstGeom prst="rect">
            <a:avLst/>
          </a:prstGeom>
          <a:noFill/>
          <a:ln/>
        </p:spPr>
        <p:txBody>
          <a:bodyPr wrap="square" lIns="0" tIns="0" rIns="0" bIns="0" rtlCol="0" anchor="t">
            <a:normAutofit/>
          </a:bodyPr>
          <a:lstStyle/>
          <a:p>
            <a:pPr marL="0" indent="0" algn="l">
              <a:lnSpc>
                <a:spcPts val="4400"/>
              </a:lnSpc>
              <a:buNone/>
            </a:pPr>
            <a:r>
              <a:rPr lang="en-US" sz="4400" b="1" dirty="0">
                <a:solidFill>
                  <a:srgbClr val="FFFFFF"/>
                </a:solidFill>
                <a:latin typeface="Arial" pitchFamily="34" charset="0"/>
                <a:ea typeface="Arial" pitchFamily="34" charset="-122"/>
                <a:cs typeface="Arial" pitchFamily="34" charset="-120"/>
              </a:rPr>
              <a:t>$4.99M</a:t>
            </a:r>
            <a:endParaRPr lang="en-US" sz="4400" dirty="0"/>
          </a:p>
        </p:txBody>
      </p:sp>
      <p:sp>
        <p:nvSpPr>
          <p:cNvPr id="21" name="Text 15"/>
          <p:cNvSpPr/>
          <p:nvPr/>
        </p:nvSpPr>
        <p:spPr>
          <a:xfrm>
            <a:off x="8204200" y="2992090"/>
            <a:ext cx="3034792" cy="539750"/>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CADCFC"/>
                </a:solidFill>
                <a:latin typeface="Calibri" pitchFamily="34" charset="0"/>
                <a:ea typeface="Calibri" pitchFamily="34" charset="-122"/>
                <a:cs typeface="Calibri" pitchFamily="34" charset="-120"/>
              </a:rPr>
              <a:t>global average cost of a data breach</a:t>
            </a:r>
            <a:endParaRPr lang="en-US" sz="1500" dirty="0"/>
          </a:p>
        </p:txBody>
      </p:sp>
      <p:sp>
        <p:nvSpPr>
          <p:cNvPr id="22" name="Text 16"/>
          <p:cNvSpPr/>
          <p:nvPr/>
        </p:nvSpPr>
        <p:spPr>
          <a:xfrm>
            <a:off x="8204200" y="3608040"/>
            <a:ext cx="3034792"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0B7C3"/>
                </a:solidFill>
                <a:latin typeface="Calibri" pitchFamily="34" charset="0"/>
                <a:ea typeface="Calibri" pitchFamily="34" charset="-122"/>
                <a:cs typeface="Calibri" pitchFamily="34" charset="-120"/>
              </a:rPr>
              <a:t>IBM 2026</a:t>
            </a:r>
            <a:endParaRPr lang="en-US" sz="1200" dirty="0"/>
          </a:p>
        </p:txBody>
      </p:sp>
      <p:sp>
        <p:nvSpPr>
          <p:cNvPr id="23" name="Shape 17"/>
          <p:cNvSpPr/>
          <p:nvPr/>
        </p:nvSpPr>
        <p:spPr>
          <a:xfrm>
            <a:off x="819150" y="4335711"/>
            <a:ext cx="10553700" cy="673100"/>
          </a:xfrm>
          <a:prstGeom prst="roundRect">
            <a:avLst>
              <a:gd name="adj" fmla="val 14151"/>
            </a:avLst>
          </a:prstGeom>
          <a:noFill/>
          <a:ln w="12700">
            <a:solidFill>
              <a:srgbClr val="00B7C3"/>
            </a:solidFill>
            <a:prstDash val="solid"/>
          </a:ln>
        </p:spPr>
        <p:txBody>
          <a:bodyPr/>
          <a:lstStyle/>
          <a:p>
            <a:endParaRPr lang="en-JP"/>
          </a:p>
        </p:txBody>
      </p:sp>
      <p:pic>
        <p:nvPicPr>
          <p:cNvPr id="24" name="Image 4" descr="check icon"/>
          <p:cNvPicPr>
            <a:picLocks noChangeAspect="1"/>
          </p:cNvPicPr>
          <p:nvPr/>
        </p:nvPicPr>
        <p:blipFill>
          <a:blip r:embed="rId7"/>
          <a:srcRect/>
          <a:stretch/>
        </p:blipFill>
        <p:spPr>
          <a:xfrm>
            <a:off x="1054100" y="4519861"/>
            <a:ext cx="304800" cy="304800"/>
          </a:xfrm>
          <a:prstGeom prst="rect">
            <a:avLst/>
          </a:prstGeom>
        </p:spPr>
      </p:pic>
      <p:sp>
        <p:nvSpPr>
          <p:cNvPr id="25" name="Text 18"/>
          <p:cNvSpPr/>
          <p:nvPr/>
        </p:nvSpPr>
        <p:spPr>
          <a:xfrm>
            <a:off x="1511300" y="4538911"/>
            <a:ext cx="991539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FFFFF"/>
                </a:solidFill>
                <a:latin typeface="Calibri" pitchFamily="34" charset="0"/>
                <a:ea typeface="Calibri" pitchFamily="34" charset="-122"/>
                <a:cs typeface="Calibri" pitchFamily="34" charset="-120"/>
              </a:rPr>
              <a:t>Attackers look for </a:t>
            </a:r>
            <a:r>
              <a:rPr lang="en-US" sz="1500" b="1" dirty="0">
                <a:solidFill>
                  <a:srgbClr val="00B7C3"/>
                </a:solidFill>
                <a:latin typeface="Calibri" pitchFamily="34" charset="0"/>
                <a:ea typeface="Calibri" pitchFamily="34" charset="-122"/>
                <a:cs typeface="Calibri" pitchFamily="34" charset="-120"/>
              </a:rPr>
              <a:t>the easiest way in</a:t>
            </a:r>
            <a:r>
              <a:rPr lang="en-US" sz="1500" dirty="0">
                <a:solidFill>
                  <a:srgbClr val="FFFFFF"/>
                </a:solidFill>
                <a:latin typeface="Calibri" pitchFamily="34" charset="0"/>
                <a:ea typeface="Calibri" pitchFamily="34" charset="-122"/>
                <a:cs typeface="Calibri" pitchFamily="34" charset="-120"/>
              </a:rPr>
              <a:t>. Good habits close those doors.</a:t>
            </a:r>
            <a:endParaRPr lang="en-US" sz="1500" dirty="0"/>
          </a:p>
        </p:txBody>
      </p:sp>
      <p:sp>
        <p:nvSpPr>
          <p:cNvPr id="26" name="Text 19"/>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3C8"/>
                </a:solidFill>
                <a:latin typeface="Calibri" pitchFamily="34" charset="0"/>
                <a:ea typeface="Calibri" pitchFamily="34" charset="-122"/>
                <a:cs typeface="Calibri" pitchFamily="34" charset="-120"/>
              </a:rPr>
              <a:t>Sources: Verizon DBIR 2026 · Microsoft Digital Defense Report 2025 · IBM Cost of a Data Breach 2026</a:t>
            </a:r>
            <a:endParaRPr lang="en-US" sz="1200" dirty="0"/>
          </a:p>
        </p:txBody>
      </p:sp>
      <p:sp>
        <p:nvSpPr>
          <p:cNvPr id="27" name="Text 20"/>
          <p:cNvSpPr/>
          <p:nvPr/>
        </p:nvSpPr>
        <p:spPr>
          <a:xfrm>
            <a:off x="9855200" y="6238280"/>
            <a:ext cx="15240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B3C8"/>
                </a:solidFill>
                <a:latin typeface="Calibri" pitchFamily="34" charset="0"/>
                <a:ea typeface="Calibri" pitchFamily="34" charset="-122"/>
                <a:cs typeface="Calibri" pitchFamily="34" charset="-120"/>
              </a:rPr>
              <a:t>ZNexora Tech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a:effectLst/>
      </p:bgPr>
    </p:bg>
    <p:spTree>
      <p:nvGrpSpPr>
        <p:cNvPr id="1" name=""/>
        <p:cNvGrpSpPr/>
        <p:nvPr/>
      </p:nvGrpSpPr>
      <p:grpSpPr>
        <a:xfrm>
          <a:off x="0" y="0"/>
          <a:ext cx="0" cy="0"/>
          <a:chOff x="0" y="0"/>
          <a:chExt cx="0" cy="0"/>
        </a:xfrm>
      </p:grpSpPr>
      <p:pic>
        <p:nvPicPr>
          <p:cNvPr id="2" name="Image 0" descr="ZNexora Tech logo"/>
          <p:cNvPicPr>
            <a:picLocks noChangeAspect="1"/>
          </p:cNvPicPr>
          <p:nvPr/>
        </p:nvPicPr>
        <p:blipFill>
          <a:blip r:embed="rId3"/>
          <a:srcRect l="-106" r="-106"/>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78D4"/>
                </a:solidFill>
                <a:latin typeface="Calibri" pitchFamily="34" charset="0"/>
                <a:ea typeface="Calibri" pitchFamily="34" charset="-122"/>
                <a:cs typeface="Calibri" pitchFamily="34" charset="-120"/>
              </a:rPr>
              <a:t>03 · THE HABITS</a:t>
            </a:r>
            <a:endParaRPr lang="en-US" sz="1200" dirty="0"/>
          </a:p>
        </p:txBody>
      </p:sp>
      <p:sp>
        <p:nvSpPr>
          <p:cNvPr id="4" name="Text 1"/>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1F33"/>
                </a:solidFill>
                <a:latin typeface="Arial" pitchFamily="34" charset="0"/>
                <a:ea typeface="Arial" pitchFamily="34" charset="-122"/>
                <a:cs typeface="Arial" pitchFamily="34" charset="-120"/>
              </a:rPr>
              <a:t>Eight habits that make the difference</a:t>
            </a:r>
            <a:endParaRPr lang="en-US" sz="3600" dirty="0"/>
          </a:p>
        </p:txBody>
      </p:sp>
      <p:sp>
        <p:nvSpPr>
          <p:cNvPr id="5" name="Shape 2"/>
          <p:cNvSpPr/>
          <p:nvPr/>
        </p:nvSpPr>
        <p:spPr>
          <a:xfrm>
            <a:off x="812800" y="1569690"/>
            <a:ext cx="2527300" cy="1417290"/>
          </a:xfrm>
          <a:prstGeom prst="roundRect">
            <a:avLst>
              <a:gd name="adj" fmla="val 7169"/>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6" name="Shape 3"/>
          <p:cNvSpPr/>
          <p:nvPr/>
        </p:nvSpPr>
        <p:spPr>
          <a:xfrm>
            <a:off x="812800" y="1569690"/>
            <a:ext cx="2527300" cy="1417290"/>
          </a:xfrm>
          <a:custGeom>
            <a:avLst/>
            <a:gdLst/>
            <a:ahLst/>
            <a:cxnLst/>
            <a:rect l="l" t="t" r="r" b="b"/>
            <a:pathLst>
              <a:path w="2527300" h="1417290">
                <a:moveTo>
                  <a:pt x="0" y="101600"/>
                </a:moveTo>
                <a:lnTo>
                  <a:pt x="0" y="101600"/>
                </a:lnTo>
                <a:arcTo wR="101600" hR="101600" stAng="10800000" swAng="5400000"/>
                <a:lnTo>
                  <a:pt x="2425700" y="0"/>
                </a:lnTo>
                <a:arcTo wR="101600" hR="101600" stAng="16200000" swAng="5400000"/>
                <a:lnTo>
                  <a:pt x="2527300" y="101600"/>
                </a:lnTo>
                <a:arcTo wR="101600" hR="50800" stAng="0" swAng="-5400000"/>
                <a:lnTo>
                  <a:pt x="101600" y="50800"/>
                </a:lnTo>
                <a:arcTo wR="101600" hR="50800" stAng="16200000" swAng="-5400000"/>
                <a:close/>
              </a:path>
            </a:pathLst>
          </a:custGeom>
          <a:solidFill>
            <a:srgbClr val="0078D4"/>
          </a:solidFill>
          <a:ln/>
        </p:spPr>
        <p:txBody>
          <a:bodyPr/>
          <a:lstStyle/>
          <a:p>
            <a:endParaRPr lang="en-JP"/>
          </a:p>
        </p:txBody>
      </p:sp>
      <p:sp>
        <p:nvSpPr>
          <p:cNvPr id="7" name="Shape 4"/>
          <p:cNvSpPr/>
          <p:nvPr/>
        </p:nvSpPr>
        <p:spPr>
          <a:xfrm>
            <a:off x="1016000" y="1849090"/>
            <a:ext cx="508000" cy="508000"/>
          </a:xfrm>
          <a:prstGeom prst="roundRect">
            <a:avLst>
              <a:gd name="adj" fmla="val 50000"/>
            </a:avLst>
          </a:prstGeom>
          <a:solidFill>
            <a:srgbClr val="0078D4"/>
          </a:solidFill>
          <a:ln/>
        </p:spPr>
        <p:txBody>
          <a:bodyPr/>
          <a:lstStyle/>
          <a:p>
            <a:endParaRPr lang="en-JP"/>
          </a:p>
        </p:txBody>
      </p:sp>
      <p:pic>
        <p:nvPicPr>
          <p:cNvPr id="8" name="Image 1" descr="refresh icon"/>
          <p:cNvPicPr>
            <a:picLocks noChangeAspect="1"/>
          </p:cNvPicPr>
          <p:nvPr/>
        </p:nvPicPr>
        <p:blipFill>
          <a:blip r:embed="rId4"/>
          <a:srcRect/>
          <a:stretch/>
        </p:blipFill>
        <p:spPr>
          <a:xfrm>
            <a:off x="1143000" y="1976090"/>
            <a:ext cx="254000" cy="254000"/>
          </a:xfrm>
          <a:prstGeom prst="rect">
            <a:avLst/>
          </a:prstGeom>
        </p:spPr>
      </p:pic>
      <p:sp>
        <p:nvSpPr>
          <p:cNvPr id="9" name="Text 5"/>
          <p:cNvSpPr/>
          <p:nvPr/>
        </p:nvSpPr>
        <p:spPr>
          <a:xfrm>
            <a:off x="2888307" y="1854150"/>
            <a:ext cx="248593" cy="523230"/>
          </a:xfrm>
          <a:prstGeom prst="rect">
            <a:avLst/>
          </a:prstGeom>
          <a:noFill/>
          <a:ln/>
        </p:spPr>
        <p:txBody>
          <a:bodyPr wrap="square" lIns="0" tIns="0" rIns="0" bIns="0" rtlCol="0" anchor="t">
            <a:normAutofit/>
          </a:bodyPr>
          <a:lstStyle/>
          <a:p>
            <a:pPr marL="0" indent="0" algn="r">
              <a:lnSpc>
                <a:spcPts val="3920"/>
              </a:lnSpc>
              <a:buNone/>
            </a:pPr>
            <a:r>
              <a:rPr lang="en-US" sz="2800" b="1" dirty="0">
                <a:solidFill>
                  <a:srgbClr val="D6E2EE"/>
                </a:solidFill>
                <a:latin typeface="Arial" pitchFamily="34" charset="0"/>
                <a:ea typeface="Arial" pitchFamily="34" charset="-122"/>
                <a:cs typeface="Arial" pitchFamily="34" charset="-120"/>
              </a:rPr>
              <a:t>1</a:t>
            </a:r>
            <a:endParaRPr lang="en-US" sz="2800" dirty="0"/>
          </a:p>
        </p:txBody>
      </p:sp>
      <p:sp>
        <p:nvSpPr>
          <p:cNvPr id="10" name="Text 6"/>
          <p:cNvSpPr/>
          <p:nvPr/>
        </p:nvSpPr>
        <p:spPr>
          <a:xfrm>
            <a:off x="1016000" y="2484090"/>
            <a:ext cx="2184527"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1F33"/>
                </a:solidFill>
                <a:latin typeface="Arial" pitchFamily="34" charset="0"/>
                <a:ea typeface="Arial" pitchFamily="34" charset="-122"/>
                <a:cs typeface="Arial" pitchFamily="34" charset="-120"/>
              </a:rPr>
              <a:t>Update</a:t>
            </a:r>
            <a:endParaRPr lang="en-US" sz="1800" dirty="0"/>
          </a:p>
        </p:txBody>
      </p:sp>
      <p:sp>
        <p:nvSpPr>
          <p:cNvPr id="11" name="Shape 7"/>
          <p:cNvSpPr/>
          <p:nvPr/>
        </p:nvSpPr>
        <p:spPr>
          <a:xfrm>
            <a:off x="3492500" y="1569690"/>
            <a:ext cx="2527300" cy="1417290"/>
          </a:xfrm>
          <a:prstGeom prst="roundRect">
            <a:avLst>
              <a:gd name="adj" fmla="val 7169"/>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12" name="Shape 8"/>
          <p:cNvSpPr/>
          <p:nvPr/>
        </p:nvSpPr>
        <p:spPr>
          <a:xfrm>
            <a:off x="3492500" y="1569690"/>
            <a:ext cx="2527300" cy="1417290"/>
          </a:xfrm>
          <a:custGeom>
            <a:avLst/>
            <a:gdLst/>
            <a:ahLst/>
            <a:cxnLst/>
            <a:rect l="l" t="t" r="r" b="b"/>
            <a:pathLst>
              <a:path w="2527300" h="1417290">
                <a:moveTo>
                  <a:pt x="0" y="101600"/>
                </a:moveTo>
                <a:lnTo>
                  <a:pt x="0" y="101600"/>
                </a:lnTo>
                <a:arcTo wR="101600" hR="101600" stAng="10800000" swAng="5400000"/>
                <a:lnTo>
                  <a:pt x="2425700" y="0"/>
                </a:lnTo>
                <a:arcTo wR="101600" hR="101600" stAng="16200000" swAng="5400000"/>
                <a:lnTo>
                  <a:pt x="2527300" y="101600"/>
                </a:lnTo>
                <a:arcTo wR="101600" hR="50800" stAng="0" swAng="-5400000"/>
                <a:lnTo>
                  <a:pt x="101600" y="50800"/>
                </a:lnTo>
                <a:arcTo wR="101600" hR="50800" stAng="16200000" swAng="-5400000"/>
                <a:close/>
              </a:path>
            </a:pathLst>
          </a:custGeom>
          <a:solidFill>
            <a:srgbClr val="0078D4"/>
          </a:solidFill>
          <a:ln/>
        </p:spPr>
        <p:txBody>
          <a:bodyPr/>
          <a:lstStyle/>
          <a:p>
            <a:endParaRPr lang="en-JP"/>
          </a:p>
        </p:txBody>
      </p:sp>
      <p:sp>
        <p:nvSpPr>
          <p:cNvPr id="13" name="Shape 9"/>
          <p:cNvSpPr/>
          <p:nvPr/>
        </p:nvSpPr>
        <p:spPr>
          <a:xfrm>
            <a:off x="3695700" y="1849090"/>
            <a:ext cx="508000" cy="508000"/>
          </a:xfrm>
          <a:prstGeom prst="roundRect">
            <a:avLst>
              <a:gd name="adj" fmla="val 50000"/>
            </a:avLst>
          </a:prstGeom>
          <a:solidFill>
            <a:srgbClr val="0078D4"/>
          </a:solidFill>
          <a:ln/>
        </p:spPr>
        <p:txBody>
          <a:bodyPr/>
          <a:lstStyle/>
          <a:p>
            <a:endParaRPr lang="en-JP"/>
          </a:p>
        </p:txBody>
      </p:sp>
      <p:pic>
        <p:nvPicPr>
          <p:cNvPr id="14" name="Image 2" descr="lock icon"/>
          <p:cNvPicPr>
            <a:picLocks noChangeAspect="1"/>
          </p:cNvPicPr>
          <p:nvPr/>
        </p:nvPicPr>
        <p:blipFill>
          <a:blip r:embed="rId5"/>
          <a:srcRect/>
          <a:stretch/>
        </p:blipFill>
        <p:spPr>
          <a:xfrm>
            <a:off x="3822700" y="1976090"/>
            <a:ext cx="254000" cy="254000"/>
          </a:xfrm>
          <a:prstGeom prst="rect">
            <a:avLst/>
          </a:prstGeom>
        </p:spPr>
      </p:pic>
      <p:sp>
        <p:nvSpPr>
          <p:cNvPr id="15" name="Text 10"/>
          <p:cNvSpPr/>
          <p:nvPr/>
        </p:nvSpPr>
        <p:spPr>
          <a:xfrm>
            <a:off x="5568007" y="1854150"/>
            <a:ext cx="248593" cy="523230"/>
          </a:xfrm>
          <a:prstGeom prst="rect">
            <a:avLst/>
          </a:prstGeom>
          <a:noFill/>
          <a:ln/>
        </p:spPr>
        <p:txBody>
          <a:bodyPr wrap="square" lIns="0" tIns="0" rIns="0" bIns="0" rtlCol="0" anchor="t">
            <a:normAutofit/>
          </a:bodyPr>
          <a:lstStyle/>
          <a:p>
            <a:pPr marL="0" indent="0" algn="r">
              <a:lnSpc>
                <a:spcPts val="3920"/>
              </a:lnSpc>
              <a:buNone/>
            </a:pPr>
            <a:r>
              <a:rPr lang="en-US" sz="2800" b="1" dirty="0">
                <a:solidFill>
                  <a:srgbClr val="D6E2EE"/>
                </a:solidFill>
                <a:latin typeface="Arial" pitchFamily="34" charset="0"/>
                <a:ea typeface="Arial" pitchFamily="34" charset="-122"/>
                <a:cs typeface="Arial" pitchFamily="34" charset="-120"/>
              </a:rPr>
              <a:t>2</a:t>
            </a:r>
            <a:endParaRPr lang="en-US" sz="2800" dirty="0"/>
          </a:p>
        </p:txBody>
      </p:sp>
      <p:sp>
        <p:nvSpPr>
          <p:cNvPr id="16" name="Text 11"/>
          <p:cNvSpPr/>
          <p:nvPr/>
        </p:nvSpPr>
        <p:spPr>
          <a:xfrm>
            <a:off x="3695700" y="2484090"/>
            <a:ext cx="2184527"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1F33"/>
                </a:solidFill>
                <a:latin typeface="Arial" pitchFamily="34" charset="0"/>
                <a:ea typeface="Arial" pitchFamily="34" charset="-122"/>
                <a:cs typeface="Arial" pitchFamily="34" charset="-120"/>
              </a:rPr>
              <a:t>Lock</a:t>
            </a:r>
            <a:endParaRPr lang="en-US" sz="1800" dirty="0"/>
          </a:p>
        </p:txBody>
      </p:sp>
      <p:sp>
        <p:nvSpPr>
          <p:cNvPr id="17" name="Shape 12"/>
          <p:cNvSpPr/>
          <p:nvPr/>
        </p:nvSpPr>
        <p:spPr>
          <a:xfrm>
            <a:off x="6172200" y="1569690"/>
            <a:ext cx="2527300" cy="1417290"/>
          </a:xfrm>
          <a:prstGeom prst="roundRect">
            <a:avLst>
              <a:gd name="adj" fmla="val 7169"/>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18" name="Shape 13"/>
          <p:cNvSpPr/>
          <p:nvPr/>
        </p:nvSpPr>
        <p:spPr>
          <a:xfrm>
            <a:off x="6172200" y="1569690"/>
            <a:ext cx="2527300" cy="1417290"/>
          </a:xfrm>
          <a:custGeom>
            <a:avLst/>
            <a:gdLst/>
            <a:ahLst/>
            <a:cxnLst/>
            <a:rect l="l" t="t" r="r" b="b"/>
            <a:pathLst>
              <a:path w="2527300" h="1417290">
                <a:moveTo>
                  <a:pt x="0" y="101600"/>
                </a:moveTo>
                <a:lnTo>
                  <a:pt x="0" y="101600"/>
                </a:lnTo>
                <a:arcTo wR="101600" hR="101600" stAng="10800000" swAng="5400000"/>
                <a:lnTo>
                  <a:pt x="2425700" y="0"/>
                </a:lnTo>
                <a:arcTo wR="101600" hR="101600" stAng="16200000" swAng="5400000"/>
                <a:lnTo>
                  <a:pt x="2527300" y="101600"/>
                </a:lnTo>
                <a:arcTo wR="101600" hR="50800" stAng="0" swAng="-5400000"/>
                <a:lnTo>
                  <a:pt x="101600" y="50800"/>
                </a:lnTo>
                <a:arcTo wR="101600" hR="50800" stAng="16200000" swAng="-5400000"/>
                <a:close/>
              </a:path>
            </a:pathLst>
          </a:custGeom>
          <a:solidFill>
            <a:srgbClr val="0078D4"/>
          </a:solidFill>
          <a:ln/>
        </p:spPr>
        <p:txBody>
          <a:bodyPr/>
          <a:lstStyle/>
          <a:p>
            <a:endParaRPr lang="en-JP"/>
          </a:p>
        </p:txBody>
      </p:sp>
      <p:sp>
        <p:nvSpPr>
          <p:cNvPr id="19" name="Shape 14"/>
          <p:cNvSpPr/>
          <p:nvPr/>
        </p:nvSpPr>
        <p:spPr>
          <a:xfrm>
            <a:off x="6375400" y="1849090"/>
            <a:ext cx="508000" cy="508000"/>
          </a:xfrm>
          <a:prstGeom prst="roundRect">
            <a:avLst>
              <a:gd name="adj" fmla="val 50000"/>
            </a:avLst>
          </a:prstGeom>
          <a:solidFill>
            <a:srgbClr val="0078D4"/>
          </a:solidFill>
          <a:ln/>
        </p:spPr>
        <p:txBody>
          <a:bodyPr/>
          <a:lstStyle/>
          <a:p>
            <a:endParaRPr lang="en-JP"/>
          </a:p>
        </p:txBody>
      </p:sp>
      <p:pic>
        <p:nvPicPr>
          <p:cNvPr id="20" name="Image 3" descr="save icon"/>
          <p:cNvPicPr>
            <a:picLocks noChangeAspect="1"/>
          </p:cNvPicPr>
          <p:nvPr/>
        </p:nvPicPr>
        <p:blipFill>
          <a:blip r:embed="rId6"/>
          <a:srcRect/>
          <a:stretch/>
        </p:blipFill>
        <p:spPr>
          <a:xfrm>
            <a:off x="6502400" y="1976090"/>
            <a:ext cx="254000" cy="254000"/>
          </a:xfrm>
          <a:prstGeom prst="rect">
            <a:avLst/>
          </a:prstGeom>
        </p:spPr>
      </p:pic>
      <p:sp>
        <p:nvSpPr>
          <p:cNvPr id="21" name="Text 15"/>
          <p:cNvSpPr/>
          <p:nvPr/>
        </p:nvSpPr>
        <p:spPr>
          <a:xfrm>
            <a:off x="8247707" y="1854150"/>
            <a:ext cx="248593" cy="523230"/>
          </a:xfrm>
          <a:prstGeom prst="rect">
            <a:avLst/>
          </a:prstGeom>
          <a:noFill/>
          <a:ln/>
        </p:spPr>
        <p:txBody>
          <a:bodyPr wrap="square" lIns="0" tIns="0" rIns="0" bIns="0" rtlCol="0" anchor="t">
            <a:normAutofit/>
          </a:bodyPr>
          <a:lstStyle/>
          <a:p>
            <a:pPr marL="0" indent="0" algn="r">
              <a:lnSpc>
                <a:spcPts val="3920"/>
              </a:lnSpc>
              <a:buNone/>
            </a:pPr>
            <a:r>
              <a:rPr lang="en-US" sz="2800" b="1" dirty="0">
                <a:solidFill>
                  <a:srgbClr val="D6E2EE"/>
                </a:solidFill>
                <a:latin typeface="Arial" pitchFamily="34" charset="0"/>
                <a:ea typeface="Arial" pitchFamily="34" charset="-122"/>
                <a:cs typeface="Arial" pitchFamily="34" charset="-120"/>
              </a:rPr>
              <a:t>3</a:t>
            </a:r>
            <a:endParaRPr lang="en-US" sz="2800" dirty="0"/>
          </a:p>
        </p:txBody>
      </p:sp>
      <p:sp>
        <p:nvSpPr>
          <p:cNvPr id="22" name="Text 16"/>
          <p:cNvSpPr/>
          <p:nvPr/>
        </p:nvSpPr>
        <p:spPr>
          <a:xfrm>
            <a:off x="6375400" y="2484090"/>
            <a:ext cx="2184527"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1F33"/>
                </a:solidFill>
                <a:latin typeface="Arial" pitchFamily="34" charset="0"/>
                <a:ea typeface="Arial" pitchFamily="34" charset="-122"/>
                <a:cs typeface="Arial" pitchFamily="34" charset="-120"/>
              </a:rPr>
              <a:t>Back up</a:t>
            </a:r>
            <a:endParaRPr lang="en-US" sz="1800" dirty="0"/>
          </a:p>
        </p:txBody>
      </p:sp>
      <p:sp>
        <p:nvSpPr>
          <p:cNvPr id="23" name="Shape 17"/>
          <p:cNvSpPr/>
          <p:nvPr/>
        </p:nvSpPr>
        <p:spPr>
          <a:xfrm>
            <a:off x="8851900" y="1569690"/>
            <a:ext cx="2527300" cy="1417290"/>
          </a:xfrm>
          <a:prstGeom prst="roundRect">
            <a:avLst>
              <a:gd name="adj" fmla="val 7169"/>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24" name="Shape 18"/>
          <p:cNvSpPr/>
          <p:nvPr/>
        </p:nvSpPr>
        <p:spPr>
          <a:xfrm>
            <a:off x="8851900" y="1569690"/>
            <a:ext cx="2527300" cy="1417290"/>
          </a:xfrm>
          <a:custGeom>
            <a:avLst/>
            <a:gdLst/>
            <a:ahLst/>
            <a:cxnLst/>
            <a:rect l="l" t="t" r="r" b="b"/>
            <a:pathLst>
              <a:path w="2527300" h="1417290">
                <a:moveTo>
                  <a:pt x="0" y="101600"/>
                </a:moveTo>
                <a:lnTo>
                  <a:pt x="0" y="101600"/>
                </a:lnTo>
                <a:arcTo wR="101600" hR="101600" stAng="10800000" swAng="5400000"/>
                <a:lnTo>
                  <a:pt x="2425700" y="0"/>
                </a:lnTo>
                <a:arcTo wR="101600" hR="101600" stAng="16200000" swAng="5400000"/>
                <a:lnTo>
                  <a:pt x="2527300" y="101600"/>
                </a:lnTo>
                <a:arcTo wR="101600" hR="50800" stAng="0" swAng="-5400000"/>
                <a:lnTo>
                  <a:pt x="101600" y="50800"/>
                </a:lnTo>
                <a:arcTo wR="101600" hR="50800" stAng="16200000" swAng="-5400000"/>
                <a:close/>
              </a:path>
            </a:pathLst>
          </a:custGeom>
          <a:solidFill>
            <a:srgbClr val="0078D4"/>
          </a:solidFill>
          <a:ln/>
        </p:spPr>
        <p:txBody>
          <a:bodyPr/>
          <a:lstStyle/>
          <a:p>
            <a:endParaRPr lang="en-JP"/>
          </a:p>
        </p:txBody>
      </p:sp>
      <p:sp>
        <p:nvSpPr>
          <p:cNvPr id="25" name="Shape 19"/>
          <p:cNvSpPr/>
          <p:nvPr/>
        </p:nvSpPr>
        <p:spPr>
          <a:xfrm>
            <a:off x="9055100" y="1849090"/>
            <a:ext cx="508000" cy="508000"/>
          </a:xfrm>
          <a:prstGeom prst="roundRect">
            <a:avLst>
              <a:gd name="adj" fmla="val 50000"/>
            </a:avLst>
          </a:prstGeom>
          <a:solidFill>
            <a:srgbClr val="0078D4"/>
          </a:solidFill>
          <a:ln/>
        </p:spPr>
        <p:txBody>
          <a:bodyPr/>
          <a:lstStyle/>
          <a:p>
            <a:endParaRPr lang="en-JP"/>
          </a:p>
        </p:txBody>
      </p:sp>
      <p:pic>
        <p:nvPicPr>
          <p:cNvPr id="26" name="Image 4" descr="file icon"/>
          <p:cNvPicPr>
            <a:picLocks noChangeAspect="1"/>
          </p:cNvPicPr>
          <p:nvPr/>
        </p:nvPicPr>
        <p:blipFill>
          <a:blip r:embed="rId7"/>
          <a:srcRect/>
          <a:stretch/>
        </p:blipFill>
        <p:spPr>
          <a:xfrm>
            <a:off x="9182100" y="1976090"/>
            <a:ext cx="254000" cy="254000"/>
          </a:xfrm>
          <a:prstGeom prst="rect">
            <a:avLst/>
          </a:prstGeom>
        </p:spPr>
      </p:pic>
      <p:sp>
        <p:nvSpPr>
          <p:cNvPr id="27" name="Text 20"/>
          <p:cNvSpPr/>
          <p:nvPr/>
        </p:nvSpPr>
        <p:spPr>
          <a:xfrm>
            <a:off x="10927407" y="1854150"/>
            <a:ext cx="248593" cy="523230"/>
          </a:xfrm>
          <a:prstGeom prst="rect">
            <a:avLst/>
          </a:prstGeom>
          <a:noFill/>
          <a:ln/>
        </p:spPr>
        <p:txBody>
          <a:bodyPr wrap="square" lIns="0" tIns="0" rIns="0" bIns="0" rtlCol="0" anchor="t">
            <a:normAutofit/>
          </a:bodyPr>
          <a:lstStyle/>
          <a:p>
            <a:pPr marL="0" indent="0" algn="r">
              <a:lnSpc>
                <a:spcPts val="3920"/>
              </a:lnSpc>
              <a:buNone/>
            </a:pPr>
            <a:r>
              <a:rPr lang="en-US" sz="2800" b="1" dirty="0">
                <a:solidFill>
                  <a:srgbClr val="D6E2EE"/>
                </a:solidFill>
                <a:latin typeface="Arial" pitchFamily="34" charset="0"/>
                <a:ea typeface="Arial" pitchFamily="34" charset="-122"/>
                <a:cs typeface="Arial" pitchFamily="34" charset="-120"/>
              </a:rPr>
              <a:t>4</a:t>
            </a:r>
            <a:endParaRPr lang="en-US" sz="2800" dirty="0"/>
          </a:p>
        </p:txBody>
      </p:sp>
      <p:sp>
        <p:nvSpPr>
          <p:cNvPr id="28" name="Text 21"/>
          <p:cNvSpPr/>
          <p:nvPr/>
        </p:nvSpPr>
        <p:spPr>
          <a:xfrm>
            <a:off x="9055100" y="2484090"/>
            <a:ext cx="2184527"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1F33"/>
                </a:solidFill>
                <a:latin typeface="Arial" pitchFamily="34" charset="0"/>
                <a:ea typeface="Arial" pitchFamily="34" charset="-122"/>
                <a:cs typeface="Arial" pitchFamily="34" charset="-120"/>
              </a:rPr>
              <a:t>Clean desk</a:t>
            </a:r>
            <a:endParaRPr lang="en-US" sz="1800" dirty="0"/>
          </a:p>
        </p:txBody>
      </p:sp>
      <p:sp>
        <p:nvSpPr>
          <p:cNvPr id="29" name="Shape 22"/>
          <p:cNvSpPr/>
          <p:nvPr/>
        </p:nvSpPr>
        <p:spPr>
          <a:xfrm>
            <a:off x="812800" y="3139380"/>
            <a:ext cx="2527300" cy="1691580"/>
          </a:xfrm>
          <a:prstGeom prst="roundRect">
            <a:avLst>
              <a:gd name="adj" fmla="val 6006"/>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30" name="Shape 23"/>
          <p:cNvSpPr/>
          <p:nvPr/>
        </p:nvSpPr>
        <p:spPr>
          <a:xfrm>
            <a:off x="812800" y="3139380"/>
            <a:ext cx="2527300" cy="1691580"/>
          </a:xfrm>
          <a:custGeom>
            <a:avLst/>
            <a:gdLst/>
            <a:ahLst/>
            <a:cxnLst/>
            <a:rect l="l" t="t" r="r" b="b"/>
            <a:pathLst>
              <a:path w="2527300" h="1691580">
                <a:moveTo>
                  <a:pt x="0" y="101600"/>
                </a:moveTo>
                <a:lnTo>
                  <a:pt x="0" y="101600"/>
                </a:lnTo>
                <a:arcTo wR="101600" hR="101600" stAng="10800000" swAng="5400000"/>
                <a:lnTo>
                  <a:pt x="2425700" y="0"/>
                </a:lnTo>
                <a:arcTo wR="101600" hR="101600" stAng="16200000" swAng="5400000"/>
                <a:lnTo>
                  <a:pt x="2527300" y="101600"/>
                </a:lnTo>
                <a:arcTo wR="101600" hR="50800" stAng="0" swAng="-5400000"/>
                <a:lnTo>
                  <a:pt x="101600" y="50800"/>
                </a:lnTo>
                <a:arcTo wR="101600" hR="50800" stAng="16200000" swAng="-5400000"/>
                <a:close/>
              </a:path>
            </a:pathLst>
          </a:custGeom>
          <a:solidFill>
            <a:srgbClr val="5DA9E9"/>
          </a:solidFill>
          <a:ln/>
        </p:spPr>
        <p:txBody>
          <a:bodyPr/>
          <a:lstStyle/>
          <a:p>
            <a:endParaRPr lang="en-JP"/>
          </a:p>
        </p:txBody>
      </p:sp>
      <p:sp>
        <p:nvSpPr>
          <p:cNvPr id="31" name="Shape 24"/>
          <p:cNvSpPr/>
          <p:nvPr/>
        </p:nvSpPr>
        <p:spPr>
          <a:xfrm>
            <a:off x="1016000" y="3418780"/>
            <a:ext cx="508000" cy="508000"/>
          </a:xfrm>
          <a:prstGeom prst="roundRect">
            <a:avLst>
              <a:gd name="adj" fmla="val 50000"/>
            </a:avLst>
          </a:prstGeom>
          <a:solidFill>
            <a:srgbClr val="EAF3FC"/>
          </a:solidFill>
          <a:ln/>
        </p:spPr>
        <p:txBody>
          <a:bodyPr/>
          <a:lstStyle/>
          <a:p>
            <a:endParaRPr lang="en-JP"/>
          </a:p>
        </p:txBody>
      </p:sp>
      <p:pic>
        <p:nvPicPr>
          <p:cNvPr id="32" name="Image 5" descr="key icon"/>
          <p:cNvPicPr>
            <a:picLocks noChangeAspect="1"/>
          </p:cNvPicPr>
          <p:nvPr/>
        </p:nvPicPr>
        <p:blipFill>
          <a:blip r:embed="rId8"/>
          <a:srcRect/>
          <a:stretch/>
        </p:blipFill>
        <p:spPr>
          <a:xfrm>
            <a:off x="1143000" y="3545780"/>
            <a:ext cx="254000" cy="254000"/>
          </a:xfrm>
          <a:prstGeom prst="rect">
            <a:avLst/>
          </a:prstGeom>
        </p:spPr>
      </p:pic>
      <p:sp>
        <p:nvSpPr>
          <p:cNvPr id="33" name="Text 25"/>
          <p:cNvSpPr/>
          <p:nvPr/>
        </p:nvSpPr>
        <p:spPr>
          <a:xfrm>
            <a:off x="2888307" y="3423841"/>
            <a:ext cx="248593" cy="523230"/>
          </a:xfrm>
          <a:prstGeom prst="rect">
            <a:avLst/>
          </a:prstGeom>
          <a:noFill/>
          <a:ln/>
        </p:spPr>
        <p:txBody>
          <a:bodyPr wrap="square" lIns="0" tIns="0" rIns="0" bIns="0" rtlCol="0" anchor="t">
            <a:normAutofit/>
          </a:bodyPr>
          <a:lstStyle/>
          <a:p>
            <a:pPr marL="0" indent="0" algn="r">
              <a:lnSpc>
                <a:spcPts val="3920"/>
              </a:lnSpc>
              <a:buNone/>
            </a:pPr>
            <a:r>
              <a:rPr lang="en-US" sz="2800" b="1" dirty="0">
                <a:solidFill>
                  <a:srgbClr val="D6E2EE"/>
                </a:solidFill>
                <a:latin typeface="Arial" pitchFamily="34" charset="0"/>
                <a:ea typeface="Arial" pitchFamily="34" charset="-122"/>
                <a:cs typeface="Arial" pitchFamily="34" charset="-120"/>
              </a:rPr>
              <a:t>5</a:t>
            </a:r>
            <a:endParaRPr lang="en-US" sz="2800" dirty="0"/>
          </a:p>
        </p:txBody>
      </p:sp>
      <p:sp>
        <p:nvSpPr>
          <p:cNvPr id="34" name="Text 26"/>
          <p:cNvSpPr/>
          <p:nvPr/>
        </p:nvSpPr>
        <p:spPr>
          <a:xfrm>
            <a:off x="1016000" y="4053780"/>
            <a:ext cx="2184527"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1F33"/>
                </a:solidFill>
                <a:latin typeface="Arial" pitchFamily="34" charset="0"/>
                <a:ea typeface="Arial" pitchFamily="34" charset="-122"/>
                <a:cs typeface="Arial" pitchFamily="34" charset="-120"/>
              </a:rPr>
              <a:t>Strong logins</a:t>
            </a:r>
            <a:endParaRPr lang="en-US" sz="1800" dirty="0"/>
          </a:p>
        </p:txBody>
      </p:sp>
      <p:sp>
        <p:nvSpPr>
          <p:cNvPr id="35" name="Shape 27"/>
          <p:cNvSpPr/>
          <p:nvPr/>
        </p:nvSpPr>
        <p:spPr>
          <a:xfrm>
            <a:off x="3492500" y="3139380"/>
            <a:ext cx="2527300" cy="1691580"/>
          </a:xfrm>
          <a:prstGeom prst="roundRect">
            <a:avLst>
              <a:gd name="adj" fmla="val 6006"/>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36" name="Shape 28"/>
          <p:cNvSpPr/>
          <p:nvPr/>
        </p:nvSpPr>
        <p:spPr>
          <a:xfrm>
            <a:off x="3492500" y="3139380"/>
            <a:ext cx="2527300" cy="1691580"/>
          </a:xfrm>
          <a:custGeom>
            <a:avLst/>
            <a:gdLst/>
            <a:ahLst/>
            <a:cxnLst/>
            <a:rect l="l" t="t" r="r" b="b"/>
            <a:pathLst>
              <a:path w="2527300" h="1691580">
                <a:moveTo>
                  <a:pt x="0" y="101600"/>
                </a:moveTo>
                <a:lnTo>
                  <a:pt x="0" y="101600"/>
                </a:lnTo>
                <a:arcTo wR="101600" hR="101600" stAng="10800000" swAng="5400000"/>
                <a:lnTo>
                  <a:pt x="2425700" y="0"/>
                </a:lnTo>
                <a:arcTo wR="101600" hR="101600" stAng="16200000" swAng="5400000"/>
                <a:lnTo>
                  <a:pt x="2527300" y="101600"/>
                </a:lnTo>
                <a:arcTo wR="101600" hR="50800" stAng="0" swAng="-5400000"/>
                <a:lnTo>
                  <a:pt x="101600" y="50800"/>
                </a:lnTo>
                <a:arcTo wR="101600" hR="50800" stAng="16200000" swAng="-5400000"/>
                <a:close/>
              </a:path>
            </a:pathLst>
          </a:custGeom>
          <a:solidFill>
            <a:srgbClr val="5DA9E9"/>
          </a:solidFill>
          <a:ln/>
        </p:spPr>
        <p:txBody>
          <a:bodyPr/>
          <a:lstStyle/>
          <a:p>
            <a:endParaRPr lang="en-JP"/>
          </a:p>
        </p:txBody>
      </p:sp>
      <p:sp>
        <p:nvSpPr>
          <p:cNvPr id="37" name="Shape 29"/>
          <p:cNvSpPr/>
          <p:nvPr/>
        </p:nvSpPr>
        <p:spPr>
          <a:xfrm>
            <a:off x="3695700" y="3418780"/>
            <a:ext cx="508000" cy="508000"/>
          </a:xfrm>
          <a:prstGeom prst="roundRect">
            <a:avLst>
              <a:gd name="adj" fmla="val 50000"/>
            </a:avLst>
          </a:prstGeom>
          <a:solidFill>
            <a:srgbClr val="EAF3FC"/>
          </a:solidFill>
          <a:ln/>
        </p:spPr>
        <p:txBody>
          <a:bodyPr/>
          <a:lstStyle/>
          <a:p>
            <a:endParaRPr lang="en-JP"/>
          </a:p>
        </p:txBody>
      </p:sp>
      <p:pic>
        <p:nvPicPr>
          <p:cNvPr id="38" name="Image 6" descr="pointer icon"/>
          <p:cNvPicPr>
            <a:picLocks noChangeAspect="1"/>
          </p:cNvPicPr>
          <p:nvPr/>
        </p:nvPicPr>
        <p:blipFill>
          <a:blip r:embed="rId9"/>
          <a:srcRect/>
          <a:stretch/>
        </p:blipFill>
        <p:spPr>
          <a:xfrm>
            <a:off x="3822700" y="3545780"/>
            <a:ext cx="254000" cy="254000"/>
          </a:xfrm>
          <a:prstGeom prst="rect">
            <a:avLst/>
          </a:prstGeom>
        </p:spPr>
      </p:pic>
      <p:sp>
        <p:nvSpPr>
          <p:cNvPr id="39" name="Text 30"/>
          <p:cNvSpPr/>
          <p:nvPr/>
        </p:nvSpPr>
        <p:spPr>
          <a:xfrm>
            <a:off x="5568007" y="3423841"/>
            <a:ext cx="248593" cy="523230"/>
          </a:xfrm>
          <a:prstGeom prst="rect">
            <a:avLst/>
          </a:prstGeom>
          <a:noFill/>
          <a:ln/>
        </p:spPr>
        <p:txBody>
          <a:bodyPr wrap="square" lIns="0" tIns="0" rIns="0" bIns="0" rtlCol="0" anchor="t">
            <a:normAutofit/>
          </a:bodyPr>
          <a:lstStyle/>
          <a:p>
            <a:pPr marL="0" indent="0" algn="r">
              <a:lnSpc>
                <a:spcPts val="3920"/>
              </a:lnSpc>
              <a:buNone/>
            </a:pPr>
            <a:r>
              <a:rPr lang="en-US" sz="2800" b="1" dirty="0">
                <a:solidFill>
                  <a:srgbClr val="D6E2EE"/>
                </a:solidFill>
                <a:latin typeface="Arial" pitchFamily="34" charset="0"/>
                <a:ea typeface="Arial" pitchFamily="34" charset="-122"/>
                <a:cs typeface="Arial" pitchFamily="34" charset="-120"/>
              </a:rPr>
              <a:t>6</a:t>
            </a:r>
            <a:endParaRPr lang="en-US" sz="2800" dirty="0"/>
          </a:p>
        </p:txBody>
      </p:sp>
      <p:sp>
        <p:nvSpPr>
          <p:cNvPr id="40" name="Text 31"/>
          <p:cNvSpPr/>
          <p:nvPr/>
        </p:nvSpPr>
        <p:spPr>
          <a:xfrm>
            <a:off x="3695700" y="4053780"/>
            <a:ext cx="2184527" cy="57398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1F33"/>
                </a:solidFill>
                <a:latin typeface="Arial" pitchFamily="34" charset="0"/>
                <a:ea typeface="Arial" pitchFamily="34" charset="-122"/>
                <a:cs typeface="Arial" pitchFamily="34" charset="-120"/>
              </a:rPr>
              <a:t>Think before you click</a:t>
            </a:r>
            <a:endParaRPr lang="en-US" sz="1800" dirty="0"/>
          </a:p>
        </p:txBody>
      </p:sp>
      <p:sp>
        <p:nvSpPr>
          <p:cNvPr id="41" name="Shape 32"/>
          <p:cNvSpPr/>
          <p:nvPr/>
        </p:nvSpPr>
        <p:spPr>
          <a:xfrm>
            <a:off x="6172200" y="3139380"/>
            <a:ext cx="2527300" cy="1691580"/>
          </a:xfrm>
          <a:prstGeom prst="roundRect">
            <a:avLst>
              <a:gd name="adj" fmla="val 6006"/>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42" name="Shape 33"/>
          <p:cNvSpPr/>
          <p:nvPr/>
        </p:nvSpPr>
        <p:spPr>
          <a:xfrm>
            <a:off x="6172200" y="3139380"/>
            <a:ext cx="2527300" cy="1691580"/>
          </a:xfrm>
          <a:custGeom>
            <a:avLst/>
            <a:gdLst/>
            <a:ahLst/>
            <a:cxnLst/>
            <a:rect l="l" t="t" r="r" b="b"/>
            <a:pathLst>
              <a:path w="2527300" h="1691580">
                <a:moveTo>
                  <a:pt x="0" y="101600"/>
                </a:moveTo>
                <a:lnTo>
                  <a:pt x="0" y="101600"/>
                </a:lnTo>
                <a:arcTo wR="101600" hR="101600" stAng="10800000" swAng="5400000"/>
                <a:lnTo>
                  <a:pt x="2425700" y="0"/>
                </a:lnTo>
                <a:arcTo wR="101600" hR="101600" stAng="16200000" swAng="5400000"/>
                <a:lnTo>
                  <a:pt x="2527300" y="101600"/>
                </a:lnTo>
                <a:arcTo wR="101600" hR="50800" stAng="0" swAng="-5400000"/>
                <a:lnTo>
                  <a:pt x="101600" y="50800"/>
                </a:lnTo>
                <a:arcTo wR="101600" hR="50800" stAng="16200000" swAng="-5400000"/>
                <a:close/>
              </a:path>
            </a:pathLst>
          </a:custGeom>
          <a:solidFill>
            <a:srgbClr val="5DA9E9"/>
          </a:solidFill>
          <a:ln/>
        </p:spPr>
        <p:txBody>
          <a:bodyPr/>
          <a:lstStyle/>
          <a:p>
            <a:endParaRPr lang="en-JP"/>
          </a:p>
        </p:txBody>
      </p:sp>
      <p:sp>
        <p:nvSpPr>
          <p:cNvPr id="43" name="Shape 34"/>
          <p:cNvSpPr/>
          <p:nvPr/>
        </p:nvSpPr>
        <p:spPr>
          <a:xfrm>
            <a:off x="6375400" y="3418780"/>
            <a:ext cx="508000" cy="508000"/>
          </a:xfrm>
          <a:prstGeom prst="roundRect">
            <a:avLst>
              <a:gd name="adj" fmla="val 50000"/>
            </a:avLst>
          </a:prstGeom>
          <a:solidFill>
            <a:srgbClr val="EAF3FC"/>
          </a:solidFill>
          <a:ln/>
        </p:spPr>
        <p:txBody>
          <a:bodyPr/>
          <a:lstStyle/>
          <a:p>
            <a:endParaRPr lang="en-JP"/>
          </a:p>
        </p:txBody>
      </p:sp>
      <p:pic>
        <p:nvPicPr>
          <p:cNvPr id="44" name="Image 7" descr="box icon"/>
          <p:cNvPicPr>
            <a:picLocks noChangeAspect="1"/>
          </p:cNvPicPr>
          <p:nvPr/>
        </p:nvPicPr>
        <p:blipFill>
          <a:blip r:embed="rId10"/>
          <a:srcRect/>
          <a:stretch/>
        </p:blipFill>
        <p:spPr>
          <a:xfrm>
            <a:off x="6502400" y="3545780"/>
            <a:ext cx="254000" cy="254000"/>
          </a:xfrm>
          <a:prstGeom prst="rect">
            <a:avLst/>
          </a:prstGeom>
        </p:spPr>
      </p:pic>
      <p:sp>
        <p:nvSpPr>
          <p:cNvPr id="45" name="Text 35"/>
          <p:cNvSpPr/>
          <p:nvPr/>
        </p:nvSpPr>
        <p:spPr>
          <a:xfrm>
            <a:off x="8247707" y="3423841"/>
            <a:ext cx="248593" cy="523230"/>
          </a:xfrm>
          <a:prstGeom prst="rect">
            <a:avLst/>
          </a:prstGeom>
          <a:noFill/>
          <a:ln/>
        </p:spPr>
        <p:txBody>
          <a:bodyPr wrap="square" lIns="0" tIns="0" rIns="0" bIns="0" rtlCol="0" anchor="t">
            <a:normAutofit/>
          </a:bodyPr>
          <a:lstStyle/>
          <a:p>
            <a:pPr marL="0" indent="0" algn="r">
              <a:lnSpc>
                <a:spcPts val="3920"/>
              </a:lnSpc>
              <a:buNone/>
            </a:pPr>
            <a:r>
              <a:rPr lang="en-US" sz="2800" b="1" dirty="0">
                <a:solidFill>
                  <a:srgbClr val="D6E2EE"/>
                </a:solidFill>
                <a:latin typeface="Arial" pitchFamily="34" charset="0"/>
                <a:ea typeface="Arial" pitchFamily="34" charset="-122"/>
                <a:cs typeface="Arial" pitchFamily="34" charset="-120"/>
              </a:rPr>
              <a:t>7</a:t>
            </a:r>
            <a:endParaRPr lang="en-US" sz="2800" dirty="0"/>
          </a:p>
        </p:txBody>
      </p:sp>
      <p:sp>
        <p:nvSpPr>
          <p:cNvPr id="46" name="Text 36"/>
          <p:cNvSpPr/>
          <p:nvPr/>
        </p:nvSpPr>
        <p:spPr>
          <a:xfrm>
            <a:off x="6375400" y="4053780"/>
            <a:ext cx="2184527" cy="57398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1F33"/>
                </a:solidFill>
                <a:latin typeface="Arial" pitchFamily="34" charset="0"/>
                <a:ea typeface="Arial" pitchFamily="34" charset="-122"/>
                <a:cs typeface="Arial" pitchFamily="34" charset="-120"/>
              </a:rPr>
              <a:t>Use approved tools</a:t>
            </a:r>
            <a:endParaRPr lang="en-US" sz="1800" dirty="0"/>
          </a:p>
        </p:txBody>
      </p:sp>
      <p:sp>
        <p:nvSpPr>
          <p:cNvPr id="47" name="Shape 37"/>
          <p:cNvSpPr/>
          <p:nvPr/>
        </p:nvSpPr>
        <p:spPr>
          <a:xfrm>
            <a:off x="8851900" y="3139380"/>
            <a:ext cx="2527300" cy="1691580"/>
          </a:xfrm>
          <a:prstGeom prst="roundRect">
            <a:avLst>
              <a:gd name="adj" fmla="val 6006"/>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48" name="Shape 38"/>
          <p:cNvSpPr/>
          <p:nvPr/>
        </p:nvSpPr>
        <p:spPr>
          <a:xfrm>
            <a:off x="8851900" y="3139380"/>
            <a:ext cx="2527300" cy="1691580"/>
          </a:xfrm>
          <a:custGeom>
            <a:avLst/>
            <a:gdLst/>
            <a:ahLst/>
            <a:cxnLst/>
            <a:rect l="l" t="t" r="r" b="b"/>
            <a:pathLst>
              <a:path w="2527300" h="1691580">
                <a:moveTo>
                  <a:pt x="0" y="101600"/>
                </a:moveTo>
                <a:lnTo>
                  <a:pt x="0" y="101600"/>
                </a:lnTo>
                <a:arcTo wR="101600" hR="101600" stAng="10800000" swAng="5400000"/>
                <a:lnTo>
                  <a:pt x="2425700" y="0"/>
                </a:lnTo>
                <a:arcTo wR="101600" hR="101600" stAng="16200000" swAng="5400000"/>
                <a:lnTo>
                  <a:pt x="2527300" y="101600"/>
                </a:lnTo>
                <a:arcTo wR="101600" hR="50800" stAng="0" swAng="-5400000"/>
                <a:lnTo>
                  <a:pt x="101600" y="50800"/>
                </a:lnTo>
                <a:arcTo wR="101600" hR="50800" stAng="16200000" swAng="-5400000"/>
                <a:close/>
              </a:path>
            </a:pathLst>
          </a:custGeom>
          <a:solidFill>
            <a:srgbClr val="5DA9E9"/>
          </a:solidFill>
          <a:ln/>
        </p:spPr>
        <p:txBody>
          <a:bodyPr/>
          <a:lstStyle/>
          <a:p>
            <a:endParaRPr lang="en-JP"/>
          </a:p>
        </p:txBody>
      </p:sp>
      <p:sp>
        <p:nvSpPr>
          <p:cNvPr id="49" name="Shape 39"/>
          <p:cNvSpPr/>
          <p:nvPr/>
        </p:nvSpPr>
        <p:spPr>
          <a:xfrm>
            <a:off x="9055100" y="3418780"/>
            <a:ext cx="508000" cy="508000"/>
          </a:xfrm>
          <a:prstGeom prst="roundRect">
            <a:avLst>
              <a:gd name="adj" fmla="val 50000"/>
            </a:avLst>
          </a:prstGeom>
          <a:solidFill>
            <a:srgbClr val="EAF3FC"/>
          </a:solidFill>
          <a:ln/>
        </p:spPr>
        <p:txBody>
          <a:bodyPr/>
          <a:lstStyle/>
          <a:p>
            <a:endParaRPr lang="en-JP"/>
          </a:p>
        </p:txBody>
      </p:sp>
      <p:pic>
        <p:nvPicPr>
          <p:cNvPr id="50" name="Image 8" descr="megaphone icon"/>
          <p:cNvPicPr>
            <a:picLocks noChangeAspect="1"/>
          </p:cNvPicPr>
          <p:nvPr/>
        </p:nvPicPr>
        <p:blipFill>
          <a:blip r:embed="rId11"/>
          <a:srcRect/>
          <a:stretch/>
        </p:blipFill>
        <p:spPr>
          <a:xfrm>
            <a:off x="9182100" y="3545780"/>
            <a:ext cx="254000" cy="254000"/>
          </a:xfrm>
          <a:prstGeom prst="rect">
            <a:avLst/>
          </a:prstGeom>
        </p:spPr>
      </p:pic>
      <p:sp>
        <p:nvSpPr>
          <p:cNvPr id="51" name="Text 40"/>
          <p:cNvSpPr/>
          <p:nvPr/>
        </p:nvSpPr>
        <p:spPr>
          <a:xfrm>
            <a:off x="10927407" y="3423841"/>
            <a:ext cx="248593" cy="523230"/>
          </a:xfrm>
          <a:prstGeom prst="rect">
            <a:avLst/>
          </a:prstGeom>
          <a:noFill/>
          <a:ln/>
        </p:spPr>
        <p:txBody>
          <a:bodyPr wrap="square" lIns="0" tIns="0" rIns="0" bIns="0" rtlCol="0" anchor="t">
            <a:normAutofit/>
          </a:bodyPr>
          <a:lstStyle/>
          <a:p>
            <a:pPr marL="0" indent="0" algn="r">
              <a:lnSpc>
                <a:spcPts val="3920"/>
              </a:lnSpc>
              <a:buNone/>
            </a:pPr>
            <a:r>
              <a:rPr lang="en-US" sz="2800" b="1" dirty="0">
                <a:solidFill>
                  <a:srgbClr val="D6E2EE"/>
                </a:solidFill>
                <a:latin typeface="Arial" pitchFamily="34" charset="0"/>
                <a:ea typeface="Arial" pitchFamily="34" charset="-122"/>
                <a:cs typeface="Arial" pitchFamily="34" charset="-120"/>
              </a:rPr>
              <a:t>8</a:t>
            </a:r>
            <a:endParaRPr lang="en-US" sz="2800" dirty="0"/>
          </a:p>
        </p:txBody>
      </p:sp>
      <p:sp>
        <p:nvSpPr>
          <p:cNvPr id="52" name="Text 41"/>
          <p:cNvSpPr/>
          <p:nvPr/>
        </p:nvSpPr>
        <p:spPr>
          <a:xfrm>
            <a:off x="9055100" y="4053780"/>
            <a:ext cx="2184527"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1F33"/>
                </a:solidFill>
                <a:latin typeface="Arial" pitchFamily="34" charset="0"/>
                <a:ea typeface="Arial" pitchFamily="34" charset="-122"/>
                <a:cs typeface="Arial" pitchFamily="34" charset="-120"/>
              </a:rPr>
              <a:t>Report</a:t>
            </a:r>
            <a:endParaRPr lang="en-US" sz="1800" dirty="0"/>
          </a:p>
        </p:txBody>
      </p:sp>
      <p:sp>
        <p:nvSpPr>
          <p:cNvPr id="53" name="Text 42"/>
          <p:cNvSpPr/>
          <p:nvPr/>
        </p:nvSpPr>
        <p:spPr>
          <a:xfrm>
            <a:off x="812800" y="5084961"/>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B"/>
                </a:solidFill>
                <a:latin typeface="Calibri" pitchFamily="34" charset="0"/>
                <a:ea typeface="Calibri" pitchFamily="34" charset="-122"/>
                <a:cs typeface="Calibri" pitchFamily="34" charset="-120"/>
              </a:rPr>
              <a:t>We'll look closely at the </a:t>
            </a:r>
            <a:r>
              <a:rPr lang="en-US" sz="1400" b="1" dirty="0">
                <a:solidFill>
                  <a:srgbClr val="0078D4"/>
                </a:solidFill>
                <a:latin typeface="Calibri" pitchFamily="34" charset="0"/>
                <a:ea typeface="Calibri" pitchFamily="34" charset="-122"/>
                <a:cs typeface="Calibri" pitchFamily="34" charset="-120"/>
              </a:rPr>
              <a:t>first four</a:t>
            </a:r>
            <a:r>
              <a:rPr lang="en-US" sz="1400" dirty="0">
                <a:solidFill>
                  <a:srgbClr val="4A5A6B"/>
                </a:solidFill>
                <a:latin typeface="Calibri" pitchFamily="34" charset="0"/>
                <a:ea typeface="Calibri" pitchFamily="34" charset="-122"/>
                <a:cs typeface="Calibri" pitchFamily="34" charset="-120"/>
              </a:rPr>
              <a:t>, then quickly at the rest.</a:t>
            </a:r>
            <a:endParaRPr lang="en-US" sz="1400" dirty="0"/>
          </a:p>
        </p:txBody>
      </p:sp>
      <p:sp>
        <p:nvSpPr>
          <p:cNvPr id="54" name="Text 43"/>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B"/>
                </a:solidFill>
                <a:latin typeface="Calibri" pitchFamily="34" charset="0"/>
                <a:ea typeface="Calibri" pitchFamily="34" charset="-122"/>
                <a:cs typeface="Calibri" pitchFamily="34" charset="-120"/>
              </a:rPr>
              <a:t>ZNexora Tech</a:t>
            </a:r>
            <a:endParaRPr lang="en-US" sz="1200" dirty="0"/>
          </a:p>
        </p:txBody>
      </p:sp>
      <p:sp>
        <p:nvSpPr>
          <p:cNvPr id="55" name="Text 44"/>
          <p:cNvSpPr/>
          <p:nvPr/>
        </p:nvSpPr>
        <p:spPr>
          <a:xfrm>
            <a:off x="9855200" y="6238280"/>
            <a:ext cx="15240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A6B"/>
                </a:solidFill>
                <a:latin typeface="Calibri" pitchFamily="34" charset="0"/>
                <a:ea typeface="Calibri" pitchFamily="34" charset="-122"/>
                <a:cs typeface="Calibri" pitchFamily="34" charset="-120"/>
              </a:rPr>
              <a:t>ZNexora Tech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a:effectLst/>
      </p:bgPr>
    </p:bg>
    <p:spTree>
      <p:nvGrpSpPr>
        <p:cNvPr id="1" name=""/>
        <p:cNvGrpSpPr/>
        <p:nvPr/>
      </p:nvGrpSpPr>
      <p:grpSpPr>
        <a:xfrm>
          <a:off x="0" y="0"/>
          <a:ext cx="0" cy="0"/>
          <a:chOff x="0" y="0"/>
          <a:chExt cx="0" cy="0"/>
        </a:xfrm>
      </p:grpSpPr>
      <p:pic>
        <p:nvPicPr>
          <p:cNvPr id="2" name="Image 0" descr="ZNexora Tech logo"/>
          <p:cNvPicPr>
            <a:picLocks noChangeAspect="1"/>
          </p:cNvPicPr>
          <p:nvPr/>
        </p:nvPicPr>
        <p:blipFill>
          <a:blip r:embed="rId3"/>
          <a:srcRect l="-106" r="-106"/>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78D4"/>
                </a:solidFill>
                <a:latin typeface="Calibri" pitchFamily="34" charset="0"/>
                <a:ea typeface="Calibri" pitchFamily="34" charset="-122"/>
                <a:cs typeface="Calibri" pitchFamily="34" charset="-120"/>
              </a:rPr>
              <a:t>HABIT 1 · UPDATE</a:t>
            </a:r>
            <a:endParaRPr lang="en-US" sz="1200" dirty="0"/>
          </a:p>
        </p:txBody>
      </p:sp>
      <p:sp>
        <p:nvSpPr>
          <p:cNvPr id="4" name="Text 1"/>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1F33"/>
                </a:solidFill>
                <a:latin typeface="Arial" pitchFamily="34" charset="0"/>
                <a:ea typeface="Arial" pitchFamily="34" charset="-122"/>
                <a:cs typeface="Arial" pitchFamily="34" charset="-120"/>
              </a:rPr>
              <a:t>Install updates promptly</a:t>
            </a:r>
            <a:endParaRPr lang="en-US" sz="3600" dirty="0"/>
          </a:p>
        </p:txBody>
      </p:sp>
      <p:sp>
        <p:nvSpPr>
          <p:cNvPr id="5" name="Shape 2"/>
          <p:cNvSpPr/>
          <p:nvPr/>
        </p:nvSpPr>
        <p:spPr>
          <a:xfrm>
            <a:off x="812800" y="1569690"/>
            <a:ext cx="6553200" cy="2864892"/>
          </a:xfrm>
          <a:prstGeom prst="roundRect">
            <a:avLst>
              <a:gd name="adj" fmla="val 3546"/>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6" name="Shape 3"/>
          <p:cNvSpPr/>
          <p:nvPr/>
        </p:nvSpPr>
        <p:spPr>
          <a:xfrm>
            <a:off x="1066800" y="1798290"/>
            <a:ext cx="457200" cy="457200"/>
          </a:xfrm>
          <a:prstGeom prst="roundRect">
            <a:avLst>
              <a:gd name="adj" fmla="val 50000"/>
            </a:avLst>
          </a:prstGeom>
          <a:solidFill>
            <a:srgbClr val="0078D4"/>
          </a:solidFill>
          <a:ln/>
        </p:spPr>
        <p:txBody>
          <a:bodyPr/>
          <a:lstStyle/>
          <a:p>
            <a:endParaRPr lang="en-JP"/>
          </a:p>
        </p:txBody>
      </p:sp>
      <p:pic>
        <p:nvPicPr>
          <p:cNvPr id="7" name="Image 1" descr="refresh icon"/>
          <p:cNvPicPr>
            <a:picLocks noChangeAspect="1"/>
          </p:cNvPicPr>
          <p:nvPr/>
        </p:nvPicPr>
        <p:blipFill>
          <a:blip r:embed="rId4"/>
          <a:srcRect/>
          <a:stretch/>
        </p:blipFill>
        <p:spPr>
          <a:xfrm>
            <a:off x="1181100" y="1912590"/>
            <a:ext cx="228600" cy="228600"/>
          </a:xfrm>
          <a:prstGeom prst="rect">
            <a:avLst/>
          </a:prstGeom>
        </p:spPr>
      </p:pic>
      <p:sp>
        <p:nvSpPr>
          <p:cNvPr id="8" name="Text 4"/>
          <p:cNvSpPr/>
          <p:nvPr/>
        </p:nvSpPr>
        <p:spPr>
          <a:xfrm>
            <a:off x="1651000" y="1920230"/>
            <a:ext cx="1583710" cy="238720"/>
          </a:xfrm>
          <a:prstGeom prst="rect">
            <a:avLst/>
          </a:prstGeom>
          <a:noFill/>
          <a:ln/>
        </p:spPr>
        <p:txBody>
          <a:bodyPr wrap="square" lIns="0" tIns="0" rIns="0" bIns="0" rtlCol="0" anchor="t">
            <a:normAutofit/>
          </a:bodyPr>
          <a:lstStyle/>
          <a:p>
            <a:pPr marL="0" indent="0" algn="l">
              <a:lnSpc>
                <a:spcPts val="1680"/>
              </a:lnSpc>
              <a:buNone/>
            </a:pPr>
            <a:r>
              <a:rPr lang="en-US" sz="1400" b="1" kern="0" spc="150" dirty="0">
                <a:solidFill>
                  <a:srgbClr val="0078D4"/>
                </a:solidFill>
                <a:latin typeface="Calibri" pitchFamily="34" charset="0"/>
                <a:ea typeface="Calibri" pitchFamily="34" charset="-122"/>
                <a:cs typeface="Calibri" pitchFamily="34" charset="-120"/>
              </a:rPr>
              <a:t>WHAT TO DO</a:t>
            </a:r>
            <a:endParaRPr lang="en-US" sz="1400" dirty="0"/>
          </a:p>
        </p:txBody>
      </p:sp>
      <p:sp>
        <p:nvSpPr>
          <p:cNvPr id="9" name="Shape 5"/>
          <p:cNvSpPr/>
          <p:nvPr/>
        </p:nvSpPr>
        <p:spPr>
          <a:xfrm>
            <a:off x="1066800" y="2363440"/>
            <a:ext cx="6045200" cy="0"/>
          </a:xfrm>
          <a:prstGeom prst="line">
            <a:avLst/>
          </a:prstGeom>
          <a:noFill/>
          <a:ln w="12700">
            <a:solidFill>
              <a:srgbClr val="D6E2EE"/>
            </a:solidFill>
            <a:prstDash val="solid"/>
          </a:ln>
        </p:spPr>
        <p:txBody>
          <a:bodyPr/>
          <a:lstStyle/>
          <a:p>
            <a:endParaRPr lang="en-JP"/>
          </a:p>
        </p:txBody>
      </p:sp>
      <p:pic>
        <p:nvPicPr>
          <p:cNvPr id="10" name="Image 2" descr="check icon"/>
          <p:cNvPicPr>
            <a:picLocks noChangeAspect="1"/>
          </p:cNvPicPr>
          <p:nvPr/>
        </p:nvPicPr>
        <p:blipFill>
          <a:blip r:embed="rId5"/>
          <a:srcRect/>
          <a:stretch/>
        </p:blipFill>
        <p:spPr>
          <a:xfrm>
            <a:off x="1066800" y="2494211"/>
            <a:ext cx="203200" cy="203200"/>
          </a:xfrm>
          <a:prstGeom prst="rect">
            <a:avLst/>
          </a:prstGeom>
        </p:spPr>
      </p:pic>
      <p:sp>
        <p:nvSpPr>
          <p:cNvPr id="11" name="Text 6"/>
          <p:cNvSpPr/>
          <p:nvPr/>
        </p:nvSpPr>
        <p:spPr>
          <a:xfrm>
            <a:off x="1397000" y="2471390"/>
            <a:ext cx="588645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B1F33"/>
                </a:solidFill>
                <a:latin typeface="Calibri" pitchFamily="34" charset="0"/>
                <a:ea typeface="Calibri" pitchFamily="34" charset="-122"/>
                <a:cs typeface="Calibri" pitchFamily="34" charset="-120"/>
              </a:rPr>
              <a:t>Install updates when prompted, don't postpone</a:t>
            </a:r>
            <a:endParaRPr lang="en-US" sz="1400" dirty="0"/>
          </a:p>
        </p:txBody>
      </p:sp>
      <p:sp>
        <p:nvSpPr>
          <p:cNvPr id="12" name="Shape 7"/>
          <p:cNvSpPr/>
          <p:nvPr/>
        </p:nvSpPr>
        <p:spPr>
          <a:xfrm>
            <a:off x="1066800" y="2828230"/>
            <a:ext cx="6045200" cy="0"/>
          </a:xfrm>
          <a:prstGeom prst="line">
            <a:avLst/>
          </a:prstGeom>
          <a:noFill/>
          <a:ln w="12700">
            <a:solidFill>
              <a:srgbClr val="D6E2EE"/>
            </a:solidFill>
            <a:prstDash val="solid"/>
          </a:ln>
        </p:spPr>
        <p:txBody>
          <a:bodyPr/>
          <a:lstStyle/>
          <a:p>
            <a:endParaRPr lang="en-JP"/>
          </a:p>
        </p:txBody>
      </p:sp>
      <p:pic>
        <p:nvPicPr>
          <p:cNvPr id="13" name="Image 3" descr="check icon"/>
          <p:cNvPicPr>
            <a:picLocks noChangeAspect="1"/>
          </p:cNvPicPr>
          <p:nvPr/>
        </p:nvPicPr>
        <p:blipFill>
          <a:blip r:embed="rId5"/>
          <a:srcRect/>
          <a:stretch/>
        </p:blipFill>
        <p:spPr>
          <a:xfrm>
            <a:off x="1066800" y="2959001"/>
            <a:ext cx="203200" cy="203200"/>
          </a:xfrm>
          <a:prstGeom prst="rect">
            <a:avLst/>
          </a:prstGeom>
        </p:spPr>
      </p:pic>
      <p:sp>
        <p:nvSpPr>
          <p:cNvPr id="14" name="Text 8"/>
          <p:cNvSpPr/>
          <p:nvPr/>
        </p:nvSpPr>
        <p:spPr>
          <a:xfrm>
            <a:off x="1397000" y="2936180"/>
            <a:ext cx="588645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B1F33"/>
                </a:solidFill>
                <a:latin typeface="Calibri" pitchFamily="34" charset="0"/>
                <a:ea typeface="Calibri" pitchFamily="34" charset="-122"/>
                <a:cs typeface="Calibri" pitchFamily="34" charset="-120"/>
              </a:rPr>
              <a:t>Restart your computer at least once a week</a:t>
            </a:r>
            <a:endParaRPr lang="en-US" sz="1400" dirty="0"/>
          </a:p>
        </p:txBody>
      </p:sp>
      <p:sp>
        <p:nvSpPr>
          <p:cNvPr id="15" name="Shape 9"/>
          <p:cNvSpPr/>
          <p:nvPr/>
        </p:nvSpPr>
        <p:spPr>
          <a:xfrm>
            <a:off x="1066800" y="3293021"/>
            <a:ext cx="6045200" cy="0"/>
          </a:xfrm>
          <a:prstGeom prst="line">
            <a:avLst/>
          </a:prstGeom>
          <a:noFill/>
          <a:ln w="12700">
            <a:solidFill>
              <a:srgbClr val="D6E2EE"/>
            </a:solidFill>
            <a:prstDash val="solid"/>
          </a:ln>
        </p:spPr>
        <p:txBody>
          <a:bodyPr/>
          <a:lstStyle/>
          <a:p>
            <a:endParaRPr lang="en-JP"/>
          </a:p>
        </p:txBody>
      </p:sp>
      <p:pic>
        <p:nvPicPr>
          <p:cNvPr id="16" name="Image 4" descr="check icon"/>
          <p:cNvPicPr>
            <a:picLocks noChangeAspect="1"/>
          </p:cNvPicPr>
          <p:nvPr/>
        </p:nvPicPr>
        <p:blipFill>
          <a:blip r:embed="rId5"/>
          <a:srcRect/>
          <a:stretch/>
        </p:blipFill>
        <p:spPr>
          <a:xfrm>
            <a:off x="1066800" y="3423791"/>
            <a:ext cx="203200" cy="203200"/>
          </a:xfrm>
          <a:prstGeom prst="rect">
            <a:avLst/>
          </a:prstGeom>
        </p:spPr>
      </p:pic>
      <p:sp>
        <p:nvSpPr>
          <p:cNvPr id="17" name="Text 10"/>
          <p:cNvSpPr/>
          <p:nvPr/>
        </p:nvSpPr>
        <p:spPr>
          <a:xfrm>
            <a:off x="1397000" y="3400971"/>
            <a:ext cx="588645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B1F33"/>
                </a:solidFill>
                <a:latin typeface="Calibri" pitchFamily="34" charset="0"/>
                <a:ea typeface="Calibri" pitchFamily="34" charset="-122"/>
                <a:cs typeface="Calibri" pitchFamily="34" charset="-120"/>
              </a:rPr>
              <a:t>Update your phone and its apps too</a:t>
            </a:r>
            <a:endParaRPr lang="en-US" sz="1400" dirty="0"/>
          </a:p>
        </p:txBody>
      </p:sp>
      <p:sp>
        <p:nvSpPr>
          <p:cNvPr id="18" name="Shape 11"/>
          <p:cNvSpPr/>
          <p:nvPr/>
        </p:nvSpPr>
        <p:spPr>
          <a:xfrm>
            <a:off x="1066800" y="3757811"/>
            <a:ext cx="6045200" cy="0"/>
          </a:xfrm>
          <a:prstGeom prst="line">
            <a:avLst/>
          </a:prstGeom>
          <a:noFill/>
          <a:ln w="12700">
            <a:solidFill>
              <a:srgbClr val="D6E2EE"/>
            </a:solidFill>
            <a:prstDash val="solid"/>
          </a:ln>
        </p:spPr>
        <p:txBody>
          <a:bodyPr/>
          <a:lstStyle/>
          <a:p>
            <a:endParaRPr lang="en-JP"/>
          </a:p>
        </p:txBody>
      </p:sp>
      <p:pic>
        <p:nvPicPr>
          <p:cNvPr id="19" name="Image 5" descr="check icon"/>
          <p:cNvPicPr>
            <a:picLocks noChangeAspect="1"/>
          </p:cNvPicPr>
          <p:nvPr/>
        </p:nvPicPr>
        <p:blipFill>
          <a:blip r:embed="rId5"/>
          <a:srcRect/>
          <a:stretch/>
        </p:blipFill>
        <p:spPr>
          <a:xfrm>
            <a:off x="1066800" y="3888581"/>
            <a:ext cx="203200" cy="203200"/>
          </a:xfrm>
          <a:prstGeom prst="rect">
            <a:avLst/>
          </a:prstGeom>
        </p:spPr>
      </p:pic>
      <p:sp>
        <p:nvSpPr>
          <p:cNvPr id="20" name="Text 12"/>
          <p:cNvSpPr/>
          <p:nvPr/>
        </p:nvSpPr>
        <p:spPr>
          <a:xfrm>
            <a:off x="1397000" y="3865761"/>
            <a:ext cx="588645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B1F33"/>
                </a:solidFill>
                <a:latin typeface="Calibri" pitchFamily="34" charset="0"/>
                <a:ea typeface="Calibri" pitchFamily="34" charset="-122"/>
                <a:cs typeface="Calibri" pitchFamily="34" charset="-120"/>
              </a:rPr>
              <a:t>Remove apps you no longer use</a:t>
            </a:r>
            <a:endParaRPr lang="en-US" sz="1400" dirty="0"/>
          </a:p>
        </p:txBody>
      </p:sp>
      <p:sp>
        <p:nvSpPr>
          <p:cNvPr id="21" name="Shape 13"/>
          <p:cNvSpPr/>
          <p:nvPr/>
        </p:nvSpPr>
        <p:spPr>
          <a:xfrm>
            <a:off x="7569200" y="1569690"/>
            <a:ext cx="3810000" cy="1518791"/>
          </a:xfrm>
          <a:prstGeom prst="roundRect">
            <a:avLst>
              <a:gd name="adj" fmla="val 8362"/>
            </a:avLst>
          </a:prstGeom>
          <a:solidFill>
            <a:srgbClr val="0A1628"/>
          </a:solidFill>
          <a:ln/>
        </p:spPr>
        <p:txBody>
          <a:bodyPr/>
          <a:lstStyle/>
          <a:p>
            <a:endParaRPr lang="en-JP"/>
          </a:p>
        </p:txBody>
      </p:sp>
      <p:sp>
        <p:nvSpPr>
          <p:cNvPr id="22" name="Text 14"/>
          <p:cNvSpPr/>
          <p:nvPr/>
        </p:nvSpPr>
        <p:spPr>
          <a:xfrm>
            <a:off x="7823200" y="1798290"/>
            <a:ext cx="34010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9A5C"/>
                </a:solidFill>
                <a:latin typeface="Calibri" pitchFamily="34" charset="0"/>
                <a:ea typeface="Calibri" pitchFamily="34" charset="-122"/>
                <a:cs typeface="Calibri" pitchFamily="34" charset="-120"/>
              </a:rPr>
              <a:t>WHY IT MATTERS</a:t>
            </a:r>
            <a:endParaRPr lang="en-US" sz="1200" dirty="0"/>
          </a:p>
        </p:txBody>
      </p:sp>
      <p:sp>
        <p:nvSpPr>
          <p:cNvPr id="23" name="Text 15"/>
          <p:cNvSpPr/>
          <p:nvPr/>
        </p:nvSpPr>
        <p:spPr>
          <a:xfrm>
            <a:off x="7823200" y="2113211"/>
            <a:ext cx="3401060"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FFFF"/>
                </a:solidFill>
                <a:latin typeface="Calibri" pitchFamily="34" charset="0"/>
                <a:ea typeface="Calibri" pitchFamily="34" charset="-122"/>
                <a:cs typeface="Calibri" pitchFamily="34" charset="-120"/>
              </a:rPr>
              <a:t>Updates fix security holes that attackers already know about. Every day you delay is a day the door stays open.</a:t>
            </a:r>
            <a:endParaRPr lang="en-US" sz="1400" dirty="0"/>
          </a:p>
        </p:txBody>
      </p:sp>
      <p:sp>
        <p:nvSpPr>
          <p:cNvPr id="24" name="Shape 16"/>
          <p:cNvSpPr/>
          <p:nvPr/>
        </p:nvSpPr>
        <p:spPr>
          <a:xfrm>
            <a:off x="7569200" y="3240881"/>
            <a:ext cx="3810000" cy="1193701"/>
          </a:xfrm>
          <a:prstGeom prst="roundRect">
            <a:avLst>
              <a:gd name="adj" fmla="val 10639"/>
            </a:avLst>
          </a:prstGeom>
          <a:solidFill>
            <a:srgbClr val="EAF3FC"/>
          </a:solidFill>
          <a:ln/>
        </p:spPr>
        <p:txBody>
          <a:bodyPr/>
          <a:lstStyle/>
          <a:p>
            <a:endParaRPr lang="en-JP"/>
          </a:p>
        </p:txBody>
      </p:sp>
      <p:sp>
        <p:nvSpPr>
          <p:cNvPr id="25" name="Text 17"/>
          <p:cNvSpPr/>
          <p:nvPr/>
        </p:nvSpPr>
        <p:spPr>
          <a:xfrm>
            <a:off x="7823200" y="3444081"/>
            <a:ext cx="34010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78D4"/>
                </a:solidFill>
                <a:latin typeface="Calibri" pitchFamily="34" charset="0"/>
                <a:ea typeface="Calibri" pitchFamily="34" charset="-122"/>
                <a:cs typeface="Calibri" pitchFamily="34" charset="-120"/>
              </a:rPr>
              <a:t>QUICK TIP</a:t>
            </a:r>
            <a:endParaRPr lang="en-US" sz="1200" dirty="0"/>
          </a:p>
        </p:txBody>
      </p:sp>
      <p:sp>
        <p:nvSpPr>
          <p:cNvPr id="26" name="Text 18"/>
          <p:cNvSpPr/>
          <p:nvPr/>
        </p:nvSpPr>
        <p:spPr>
          <a:xfrm>
            <a:off x="7823200" y="3733602"/>
            <a:ext cx="3401060"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B1F33"/>
                </a:solidFill>
                <a:latin typeface="Calibri" pitchFamily="34" charset="0"/>
                <a:ea typeface="Calibri" pitchFamily="34" charset="-122"/>
                <a:cs typeface="Calibri" pitchFamily="34" charset="-120"/>
              </a:rPr>
              <a:t>Postponing? Pick a time today, like lunch, and restart then.</a:t>
            </a:r>
            <a:endParaRPr lang="en-US" sz="1400" dirty="0"/>
          </a:p>
        </p:txBody>
      </p:sp>
      <p:sp>
        <p:nvSpPr>
          <p:cNvPr id="27" name="Text 19"/>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B"/>
                </a:solidFill>
                <a:latin typeface="Calibri" pitchFamily="34" charset="0"/>
                <a:ea typeface="Calibri" pitchFamily="34" charset="-122"/>
                <a:cs typeface="Calibri" pitchFamily="34" charset="-120"/>
              </a:rPr>
              <a:t>ZNexora Tech</a:t>
            </a:r>
            <a:endParaRPr lang="en-US" sz="1200" dirty="0"/>
          </a:p>
        </p:txBody>
      </p:sp>
      <p:sp>
        <p:nvSpPr>
          <p:cNvPr id="28" name="Text 20"/>
          <p:cNvSpPr/>
          <p:nvPr/>
        </p:nvSpPr>
        <p:spPr>
          <a:xfrm>
            <a:off x="9855200" y="6238280"/>
            <a:ext cx="15240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A6B"/>
                </a:solidFill>
                <a:latin typeface="Calibri" pitchFamily="34" charset="0"/>
                <a:ea typeface="Calibri" pitchFamily="34" charset="-122"/>
                <a:cs typeface="Calibri" pitchFamily="34" charset="-120"/>
              </a:rPr>
              <a:t>ZNexora Tech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a:effectLst/>
      </p:bgPr>
    </p:bg>
    <p:spTree>
      <p:nvGrpSpPr>
        <p:cNvPr id="1" name=""/>
        <p:cNvGrpSpPr/>
        <p:nvPr/>
      </p:nvGrpSpPr>
      <p:grpSpPr>
        <a:xfrm>
          <a:off x="0" y="0"/>
          <a:ext cx="0" cy="0"/>
          <a:chOff x="0" y="0"/>
          <a:chExt cx="0" cy="0"/>
        </a:xfrm>
      </p:grpSpPr>
      <p:pic>
        <p:nvPicPr>
          <p:cNvPr id="2" name="Image 0" descr="ZNexora Tech logo"/>
          <p:cNvPicPr>
            <a:picLocks noChangeAspect="1"/>
          </p:cNvPicPr>
          <p:nvPr/>
        </p:nvPicPr>
        <p:blipFill>
          <a:blip r:embed="rId3"/>
          <a:srcRect l="-106" r="-106"/>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78D4"/>
                </a:solidFill>
                <a:latin typeface="Calibri" pitchFamily="34" charset="0"/>
                <a:ea typeface="Calibri" pitchFamily="34" charset="-122"/>
                <a:cs typeface="Calibri" pitchFamily="34" charset="-120"/>
              </a:rPr>
              <a:t>HABIT 2 · LOCK</a:t>
            </a:r>
            <a:endParaRPr lang="en-US" sz="1200" dirty="0"/>
          </a:p>
        </p:txBody>
      </p:sp>
      <p:sp>
        <p:nvSpPr>
          <p:cNvPr id="4" name="Text 1"/>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1F33"/>
                </a:solidFill>
                <a:latin typeface="Arial" pitchFamily="34" charset="0"/>
                <a:ea typeface="Arial" pitchFamily="34" charset="-122"/>
                <a:cs typeface="Arial" pitchFamily="34" charset="-120"/>
              </a:rPr>
              <a:t>Lock it when you leave it</a:t>
            </a:r>
            <a:endParaRPr lang="en-US" sz="3600" dirty="0"/>
          </a:p>
        </p:txBody>
      </p:sp>
      <p:sp>
        <p:nvSpPr>
          <p:cNvPr id="5" name="Shape 2"/>
          <p:cNvSpPr/>
          <p:nvPr/>
        </p:nvSpPr>
        <p:spPr>
          <a:xfrm>
            <a:off x="812800" y="1569690"/>
            <a:ext cx="6553200" cy="2864892"/>
          </a:xfrm>
          <a:prstGeom prst="roundRect">
            <a:avLst>
              <a:gd name="adj" fmla="val 3546"/>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6" name="Shape 3"/>
          <p:cNvSpPr/>
          <p:nvPr/>
        </p:nvSpPr>
        <p:spPr>
          <a:xfrm>
            <a:off x="1066800" y="1798290"/>
            <a:ext cx="457200" cy="457200"/>
          </a:xfrm>
          <a:prstGeom prst="roundRect">
            <a:avLst>
              <a:gd name="adj" fmla="val 50000"/>
            </a:avLst>
          </a:prstGeom>
          <a:solidFill>
            <a:srgbClr val="0078D4"/>
          </a:solidFill>
          <a:ln/>
        </p:spPr>
        <p:txBody>
          <a:bodyPr/>
          <a:lstStyle/>
          <a:p>
            <a:endParaRPr lang="en-JP"/>
          </a:p>
        </p:txBody>
      </p:sp>
      <p:pic>
        <p:nvPicPr>
          <p:cNvPr id="7" name="Image 1" descr="lock icon"/>
          <p:cNvPicPr>
            <a:picLocks noChangeAspect="1"/>
          </p:cNvPicPr>
          <p:nvPr/>
        </p:nvPicPr>
        <p:blipFill>
          <a:blip r:embed="rId4"/>
          <a:srcRect/>
          <a:stretch/>
        </p:blipFill>
        <p:spPr>
          <a:xfrm>
            <a:off x="1181100" y="1912590"/>
            <a:ext cx="228600" cy="228600"/>
          </a:xfrm>
          <a:prstGeom prst="rect">
            <a:avLst/>
          </a:prstGeom>
        </p:spPr>
      </p:pic>
      <p:sp>
        <p:nvSpPr>
          <p:cNvPr id="8" name="Text 4"/>
          <p:cNvSpPr/>
          <p:nvPr/>
        </p:nvSpPr>
        <p:spPr>
          <a:xfrm>
            <a:off x="1651000" y="1920230"/>
            <a:ext cx="1583710" cy="238720"/>
          </a:xfrm>
          <a:prstGeom prst="rect">
            <a:avLst/>
          </a:prstGeom>
          <a:noFill/>
          <a:ln/>
        </p:spPr>
        <p:txBody>
          <a:bodyPr wrap="square" lIns="0" tIns="0" rIns="0" bIns="0" rtlCol="0" anchor="t">
            <a:normAutofit/>
          </a:bodyPr>
          <a:lstStyle/>
          <a:p>
            <a:pPr marL="0" indent="0" algn="l">
              <a:lnSpc>
                <a:spcPts val="1680"/>
              </a:lnSpc>
              <a:buNone/>
            </a:pPr>
            <a:r>
              <a:rPr lang="en-US" sz="1400" b="1" kern="0" spc="150" dirty="0">
                <a:solidFill>
                  <a:srgbClr val="0078D4"/>
                </a:solidFill>
                <a:latin typeface="Calibri" pitchFamily="34" charset="0"/>
                <a:ea typeface="Calibri" pitchFamily="34" charset="-122"/>
                <a:cs typeface="Calibri" pitchFamily="34" charset="-120"/>
              </a:rPr>
              <a:t>WHAT TO DO</a:t>
            </a:r>
            <a:endParaRPr lang="en-US" sz="1400" dirty="0"/>
          </a:p>
        </p:txBody>
      </p:sp>
      <p:sp>
        <p:nvSpPr>
          <p:cNvPr id="9" name="Shape 5"/>
          <p:cNvSpPr/>
          <p:nvPr/>
        </p:nvSpPr>
        <p:spPr>
          <a:xfrm>
            <a:off x="1066800" y="2363440"/>
            <a:ext cx="6045200" cy="0"/>
          </a:xfrm>
          <a:prstGeom prst="line">
            <a:avLst/>
          </a:prstGeom>
          <a:noFill/>
          <a:ln w="12700">
            <a:solidFill>
              <a:srgbClr val="D6E2EE"/>
            </a:solidFill>
            <a:prstDash val="solid"/>
          </a:ln>
        </p:spPr>
        <p:txBody>
          <a:bodyPr/>
          <a:lstStyle/>
          <a:p>
            <a:endParaRPr lang="en-JP"/>
          </a:p>
        </p:txBody>
      </p:sp>
      <p:pic>
        <p:nvPicPr>
          <p:cNvPr id="10" name="Image 2" descr="check icon"/>
          <p:cNvPicPr>
            <a:picLocks noChangeAspect="1"/>
          </p:cNvPicPr>
          <p:nvPr/>
        </p:nvPicPr>
        <p:blipFill>
          <a:blip r:embed="rId5"/>
          <a:srcRect/>
          <a:stretch/>
        </p:blipFill>
        <p:spPr>
          <a:xfrm>
            <a:off x="1066800" y="2494211"/>
            <a:ext cx="203200" cy="203200"/>
          </a:xfrm>
          <a:prstGeom prst="rect">
            <a:avLst/>
          </a:prstGeom>
        </p:spPr>
      </p:pic>
      <p:sp>
        <p:nvSpPr>
          <p:cNvPr id="11" name="Text 6"/>
          <p:cNvSpPr/>
          <p:nvPr/>
        </p:nvSpPr>
        <p:spPr>
          <a:xfrm>
            <a:off x="1397000" y="2471390"/>
            <a:ext cx="588645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B1F33"/>
                </a:solidFill>
                <a:latin typeface="Calibri" pitchFamily="34" charset="0"/>
                <a:ea typeface="Calibri" pitchFamily="34" charset="-122"/>
                <a:cs typeface="Calibri" pitchFamily="34" charset="-120"/>
              </a:rPr>
              <a:t>Windows: press </a:t>
            </a:r>
            <a:r>
              <a:rPr lang="en-US" sz="1400" b="1" dirty="0">
                <a:solidFill>
                  <a:srgbClr val="FFFFFF"/>
                </a:solidFill>
                <a:latin typeface="Calibri" pitchFamily="34" charset="0"/>
                <a:ea typeface="Calibri" pitchFamily="34" charset="-122"/>
                <a:cs typeface="Calibri" pitchFamily="34" charset="-120"/>
              </a:rPr>
              <a:t>Win + L</a:t>
            </a:r>
            <a:endParaRPr lang="en-US" sz="1400" dirty="0"/>
          </a:p>
        </p:txBody>
      </p:sp>
      <p:sp>
        <p:nvSpPr>
          <p:cNvPr id="12" name="Shape 7"/>
          <p:cNvSpPr/>
          <p:nvPr/>
        </p:nvSpPr>
        <p:spPr>
          <a:xfrm>
            <a:off x="1066800" y="2828230"/>
            <a:ext cx="6045200" cy="0"/>
          </a:xfrm>
          <a:prstGeom prst="line">
            <a:avLst/>
          </a:prstGeom>
          <a:noFill/>
          <a:ln w="12700">
            <a:solidFill>
              <a:srgbClr val="D6E2EE"/>
            </a:solidFill>
            <a:prstDash val="solid"/>
          </a:ln>
        </p:spPr>
        <p:txBody>
          <a:bodyPr/>
          <a:lstStyle/>
          <a:p>
            <a:endParaRPr lang="en-JP"/>
          </a:p>
        </p:txBody>
      </p:sp>
      <p:pic>
        <p:nvPicPr>
          <p:cNvPr id="13" name="Image 3" descr="check icon"/>
          <p:cNvPicPr>
            <a:picLocks noChangeAspect="1"/>
          </p:cNvPicPr>
          <p:nvPr/>
        </p:nvPicPr>
        <p:blipFill>
          <a:blip r:embed="rId5"/>
          <a:srcRect/>
          <a:stretch/>
        </p:blipFill>
        <p:spPr>
          <a:xfrm>
            <a:off x="1066800" y="2959001"/>
            <a:ext cx="203200" cy="203200"/>
          </a:xfrm>
          <a:prstGeom prst="rect">
            <a:avLst/>
          </a:prstGeom>
        </p:spPr>
      </p:pic>
      <p:sp>
        <p:nvSpPr>
          <p:cNvPr id="14" name="Text 8"/>
          <p:cNvSpPr/>
          <p:nvPr/>
        </p:nvSpPr>
        <p:spPr>
          <a:xfrm>
            <a:off x="1397000" y="2936180"/>
            <a:ext cx="588645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B1F33"/>
                </a:solidFill>
                <a:latin typeface="Calibri" pitchFamily="34" charset="0"/>
                <a:ea typeface="Calibri" pitchFamily="34" charset="-122"/>
                <a:cs typeface="Calibri" pitchFamily="34" charset="-120"/>
              </a:rPr>
              <a:t>Mac: press </a:t>
            </a:r>
            <a:r>
              <a:rPr lang="en-US" sz="1400" b="1" dirty="0">
                <a:solidFill>
                  <a:srgbClr val="FFFFFF"/>
                </a:solidFill>
                <a:latin typeface="Calibri" pitchFamily="34" charset="0"/>
                <a:ea typeface="Calibri" pitchFamily="34" charset="-122"/>
                <a:cs typeface="Calibri" pitchFamily="34" charset="-120"/>
              </a:rPr>
              <a:t>Ctrl + Cmd + Q</a:t>
            </a:r>
            <a:endParaRPr lang="en-US" sz="1400" dirty="0"/>
          </a:p>
        </p:txBody>
      </p:sp>
      <p:sp>
        <p:nvSpPr>
          <p:cNvPr id="15" name="Shape 9"/>
          <p:cNvSpPr/>
          <p:nvPr/>
        </p:nvSpPr>
        <p:spPr>
          <a:xfrm>
            <a:off x="1066800" y="3293021"/>
            <a:ext cx="6045200" cy="0"/>
          </a:xfrm>
          <a:prstGeom prst="line">
            <a:avLst/>
          </a:prstGeom>
          <a:noFill/>
          <a:ln w="12700">
            <a:solidFill>
              <a:srgbClr val="D6E2EE"/>
            </a:solidFill>
            <a:prstDash val="solid"/>
          </a:ln>
        </p:spPr>
        <p:txBody>
          <a:bodyPr/>
          <a:lstStyle/>
          <a:p>
            <a:endParaRPr lang="en-JP"/>
          </a:p>
        </p:txBody>
      </p:sp>
      <p:pic>
        <p:nvPicPr>
          <p:cNvPr id="16" name="Image 4" descr="check icon"/>
          <p:cNvPicPr>
            <a:picLocks noChangeAspect="1"/>
          </p:cNvPicPr>
          <p:nvPr/>
        </p:nvPicPr>
        <p:blipFill>
          <a:blip r:embed="rId5"/>
          <a:srcRect/>
          <a:stretch/>
        </p:blipFill>
        <p:spPr>
          <a:xfrm>
            <a:off x="1066800" y="3423791"/>
            <a:ext cx="203200" cy="203200"/>
          </a:xfrm>
          <a:prstGeom prst="rect">
            <a:avLst/>
          </a:prstGeom>
        </p:spPr>
      </p:pic>
      <p:sp>
        <p:nvSpPr>
          <p:cNvPr id="17" name="Text 10"/>
          <p:cNvSpPr/>
          <p:nvPr/>
        </p:nvSpPr>
        <p:spPr>
          <a:xfrm>
            <a:off x="1397000" y="3400971"/>
            <a:ext cx="588645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B1F33"/>
                </a:solidFill>
                <a:latin typeface="Calibri" pitchFamily="34" charset="0"/>
                <a:ea typeface="Calibri" pitchFamily="34" charset="-122"/>
                <a:cs typeface="Calibri" pitchFamily="34" charset="-120"/>
              </a:rPr>
              <a:t>Set your phone to auto-lock quickly</a:t>
            </a:r>
            <a:endParaRPr lang="en-US" sz="1400" dirty="0"/>
          </a:p>
        </p:txBody>
      </p:sp>
      <p:sp>
        <p:nvSpPr>
          <p:cNvPr id="18" name="Shape 11"/>
          <p:cNvSpPr/>
          <p:nvPr/>
        </p:nvSpPr>
        <p:spPr>
          <a:xfrm>
            <a:off x="1066800" y="3757811"/>
            <a:ext cx="6045200" cy="0"/>
          </a:xfrm>
          <a:prstGeom prst="line">
            <a:avLst/>
          </a:prstGeom>
          <a:noFill/>
          <a:ln w="12700">
            <a:solidFill>
              <a:srgbClr val="D6E2EE"/>
            </a:solidFill>
            <a:prstDash val="solid"/>
          </a:ln>
        </p:spPr>
        <p:txBody>
          <a:bodyPr/>
          <a:lstStyle/>
          <a:p>
            <a:endParaRPr lang="en-JP"/>
          </a:p>
        </p:txBody>
      </p:sp>
      <p:pic>
        <p:nvPicPr>
          <p:cNvPr id="19" name="Image 5" descr="check icon"/>
          <p:cNvPicPr>
            <a:picLocks noChangeAspect="1"/>
          </p:cNvPicPr>
          <p:nvPr/>
        </p:nvPicPr>
        <p:blipFill>
          <a:blip r:embed="rId5"/>
          <a:srcRect/>
          <a:stretch/>
        </p:blipFill>
        <p:spPr>
          <a:xfrm>
            <a:off x="1066800" y="3888581"/>
            <a:ext cx="203200" cy="203200"/>
          </a:xfrm>
          <a:prstGeom prst="rect">
            <a:avLst/>
          </a:prstGeom>
        </p:spPr>
      </p:pic>
      <p:sp>
        <p:nvSpPr>
          <p:cNvPr id="20" name="Text 12"/>
          <p:cNvSpPr/>
          <p:nvPr/>
        </p:nvSpPr>
        <p:spPr>
          <a:xfrm>
            <a:off x="1397000" y="3865761"/>
            <a:ext cx="588645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B1F33"/>
                </a:solidFill>
                <a:latin typeface="Calibri" pitchFamily="34" charset="0"/>
                <a:ea typeface="Calibri" pitchFamily="34" charset="-122"/>
                <a:cs typeface="Calibri" pitchFamily="34" charset="-120"/>
              </a:rPr>
              <a:t>Never share your PIN or password</a:t>
            </a:r>
            <a:endParaRPr lang="en-US" sz="1400" dirty="0"/>
          </a:p>
        </p:txBody>
      </p:sp>
      <p:sp>
        <p:nvSpPr>
          <p:cNvPr id="21" name="Shape 13"/>
          <p:cNvSpPr/>
          <p:nvPr/>
        </p:nvSpPr>
        <p:spPr>
          <a:xfrm>
            <a:off x="7569200" y="1569690"/>
            <a:ext cx="3810000" cy="1518791"/>
          </a:xfrm>
          <a:prstGeom prst="roundRect">
            <a:avLst>
              <a:gd name="adj" fmla="val 8362"/>
            </a:avLst>
          </a:prstGeom>
          <a:solidFill>
            <a:srgbClr val="0A1628"/>
          </a:solidFill>
          <a:ln/>
        </p:spPr>
        <p:txBody>
          <a:bodyPr/>
          <a:lstStyle/>
          <a:p>
            <a:endParaRPr lang="en-JP"/>
          </a:p>
        </p:txBody>
      </p:sp>
      <p:sp>
        <p:nvSpPr>
          <p:cNvPr id="22" name="Text 14"/>
          <p:cNvSpPr/>
          <p:nvPr/>
        </p:nvSpPr>
        <p:spPr>
          <a:xfrm>
            <a:off x="7823200" y="1798290"/>
            <a:ext cx="34010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9A5C"/>
                </a:solidFill>
                <a:latin typeface="Calibri" pitchFamily="34" charset="0"/>
                <a:ea typeface="Calibri" pitchFamily="34" charset="-122"/>
                <a:cs typeface="Calibri" pitchFamily="34" charset="-120"/>
              </a:rPr>
              <a:t>WHY IT MATTERS</a:t>
            </a:r>
            <a:endParaRPr lang="en-US" sz="1200" dirty="0"/>
          </a:p>
        </p:txBody>
      </p:sp>
      <p:sp>
        <p:nvSpPr>
          <p:cNvPr id="23" name="Text 15"/>
          <p:cNvSpPr/>
          <p:nvPr/>
        </p:nvSpPr>
        <p:spPr>
          <a:xfrm>
            <a:off x="7823200" y="2113211"/>
            <a:ext cx="3401060"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FFFF"/>
                </a:solidFill>
                <a:latin typeface="Calibri" pitchFamily="34" charset="0"/>
                <a:ea typeface="Calibri" pitchFamily="34" charset="-122"/>
                <a:cs typeface="Calibri" pitchFamily="34" charset="-120"/>
              </a:rPr>
              <a:t>An unlocked screen lets anyone read your email, send messages as you, or copy files, in seconds.</a:t>
            </a:r>
            <a:endParaRPr lang="en-US" sz="1400" dirty="0"/>
          </a:p>
        </p:txBody>
      </p:sp>
      <p:sp>
        <p:nvSpPr>
          <p:cNvPr id="24" name="Shape 16"/>
          <p:cNvSpPr/>
          <p:nvPr/>
        </p:nvSpPr>
        <p:spPr>
          <a:xfrm>
            <a:off x="7569200" y="3240881"/>
            <a:ext cx="3810000" cy="1193701"/>
          </a:xfrm>
          <a:prstGeom prst="roundRect">
            <a:avLst>
              <a:gd name="adj" fmla="val 10639"/>
            </a:avLst>
          </a:prstGeom>
          <a:solidFill>
            <a:srgbClr val="EAF3FC"/>
          </a:solidFill>
          <a:ln/>
        </p:spPr>
        <p:txBody>
          <a:bodyPr/>
          <a:lstStyle/>
          <a:p>
            <a:endParaRPr lang="en-JP"/>
          </a:p>
        </p:txBody>
      </p:sp>
      <p:sp>
        <p:nvSpPr>
          <p:cNvPr id="25" name="Text 17"/>
          <p:cNvSpPr/>
          <p:nvPr/>
        </p:nvSpPr>
        <p:spPr>
          <a:xfrm>
            <a:off x="7823200" y="3444081"/>
            <a:ext cx="34010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78D4"/>
                </a:solidFill>
                <a:latin typeface="Calibri" pitchFamily="34" charset="0"/>
                <a:ea typeface="Calibri" pitchFamily="34" charset="-122"/>
                <a:cs typeface="Calibri" pitchFamily="34" charset="-120"/>
              </a:rPr>
              <a:t>QUICK TIP</a:t>
            </a:r>
            <a:endParaRPr lang="en-US" sz="1200" dirty="0"/>
          </a:p>
        </p:txBody>
      </p:sp>
      <p:sp>
        <p:nvSpPr>
          <p:cNvPr id="26" name="Text 18"/>
          <p:cNvSpPr/>
          <p:nvPr/>
        </p:nvSpPr>
        <p:spPr>
          <a:xfrm>
            <a:off x="7823200" y="3733602"/>
            <a:ext cx="3401060"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B1F33"/>
                </a:solidFill>
                <a:latin typeface="Calibri" pitchFamily="34" charset="0"/>
                <a:ea typeface="Calibri" pitchFamily="34" charset="-122"/>
                <a:cs typeface="Calibri" pitchFamily="34" charset="-120"/>
              </a:rPr>
              <a:t>Make it muscle memory: stand up, lock, then walk away.</a:t>
            </a:r>
            <a:endParaRPr lang="en-US" sz="1400" dirty="0"/>
          </a:p>
        </p:txBody>
      </p:sp>
      <p:sp>
        <p:nvSpPr>
          <p:cNvPr id="27" name="Text 19"/>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B"/>
                </a:solidFill>
                <a:latin typeface="Calibri" pitchFamily="34" charset="0"/>
                <a:ea typeface="Calibri" pitchFamily="34" charset="-122"/>
                <a:cs typeface="Calibri" pitchFamily="34" charset="-120"/>
              </a:rPr>
              <a:t>ZNexora Tech</a:t>
            </a:r>
            <a:endParaRPr lang="en-US" sz="1200" dirty="0"/>
          </a:p>
        </p:txBody>
      </p:sp>
      <p:sp>
        <p:nvSpPr>
          <p:cNvPr id="28" name="Text 20"/>
          <p:cNvSpPr/>
          <p:nvPr/>
        </p:nvSpPr>
        <p:spPr>
          <a:xfrm>
            <a:off x="9855200" y="6238280"/>
            <a:ext cx="15240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A6B"/>
                </a:solidFill>
                <a:latin typeface="Calibri" pitchFamily="34" charset="0"/>
                <a:ea typeface="Calibri" pitchFamily="34" charset="-122"/>
                <a:cs typeface="Calibri" pitchFamily="34" charset="-120"/>
              </a:rPr>
              <a:t>ZNexora Tech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a:effectLst/>
      </p:bgPr>
    </p:bg>
    <p:spTree>
      <p:nvGrpSpPr>
        <p:cNvPr id="1" name=""/>
        <p:cNvGrpSpPr/>
        <p:nvPr/>
      </p:nvGrpSpPr>
      <p:grpSpPr>
        <a:xfrm>
          <a:off x="0" y="0"/>
          <a:ext cx="0" cy="0"/>
          <a:chOff x="0" y="0"/>
          <a:chExt cx="0" cy="0"/>
        </a:xfrm>
      </p:grpSpPr>
      <p:pic>
        <p:nvPicPr>
          <p:cNvPr id="2" name="Image 0" descr="ZNexora Tech logo"/>
          <p:cNvPicPr>
            <a:picLocks noChangeAspect="1"/>
          </p:cNvPicPr>
          <p:nvPr/>
        </p:nvPicPr>
        <p:blipFill>
          <a:blip r:embed="rId3"/>
          <a:srcRect l="-106" r="-106"/>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78D4"/>
                </a:solidFill>
                <a:latin typeface="Calibri" pitchFamily="34" charset="0"/>
                <a:ea typeface="Calibri" pitchFamily="34" charset="-122"/>
                <a:cs typeface="Calibri" pitchFamily="34" charset="-120"/>
              </a:rPr>
              <a:t>HABIT 3 · BACK UP</a:t>
            </a:r>
            <a:endParaRPr lang="en-US" sz="1200" dirty="0"/>
          </a:p>
        </p:txBody>
      </p:sp>
      <p:sp>
        <p:nvSpPr>
          <p:cNvPr id="4" name="Text 1"/>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1F33"/>
                </a:solidFill>
                <a:latin typeface="Arial" pitchFamily="34" charset="0"/>
                <a:ea typeface="Arial" pitchFamily="34" charset="-122"/>
                <a:cs typeface="Arial" pitchFamily="34" charset="-120"/>
              </a:rPr>
              <a:t>Back up so you can bounce back</a:t>
            </a:r>
            <a:endParaRPr lang="en-US" sz="3600" dirty="0"/>
          </a:p>
        </p:txBody>
      </p:sp>
      <p:sp>
        <p:nvSpPr>
          <p:cNvPr id="5" name="Shape 2"/>
          <p:cNvSpPr/>
          <p:nvPr/>
        </p:nvSpPr>
        <p:spPr>
          <a:xfrm>
            <a:off x="812800" y="1569690"/>
            <a:ext cx="5181600" cy="2529681"/>
          </a:xfrm>
          <a:prstGeom prst="roundRect">
            <a:avLst>
              <a:gd name="adj" fmla="val 4016"/>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6" name="Text 3"/>
          <p:cNvSpPr/>
          <p:nvPr/>
        </p:nvSpPr>
        <p:spPr>
          <a:xfrm>
            <a:off x="1066800" y="1798290"/>
            <a:ext cx="4813808" cy="238720"/>
          </a:xfrm>
          <a:prstGeom prst="rect">
            <a:avLst/>
          </a:prstGeom>
          <a:noFill/>
          <a:ln/>
        </p:spPr>
        <p:txBody>
          <a:bodyPr wrap="square" lIns="0" tIns="0" rIns="0" bIns="0" rtlCol="0" anchor="t">
            <a:normAutofit/>
          </a:bodyPr>
          <a:lstStyle/>
          <a:p>
            <a:pPr marL="0" indent="0" algn="l">
              <a:lnSpc>
                <a:spcPts val="1680"/>
              </a:lnSpc>
              <a:buNone/>
            </a:pPr>
            <a:r>
              <a:rPr lang="en-US" sz="1400" b="1" kern="0" spc="150" dirty="0">
                <a:solidFill>
                  <a:srgbClr val="0078D4"/>
                </a:solidFill>
                <a:latin typeface="Calibri" pitchFamily="34" charset="0"/>
                <a:ea typeface="Calibri" pitchFamily="34" charset="-122"/>
                <a:cs typeface="Calibri" pitchFamily="34" charset="-120"/>
              </a:rPr>
              <a:t>THE 3-2-1 RULE</a:t>
            </a:r>
            <a:endParaRPr lang="en-US" sz="1400" dirty="0"/>
          </a:p>
        </p:txBody>
      </p:sp>
      <p:sp>
        <p:nvSpPr>
          <p:cNvPr id="7" name="Shape 4"/>
          <p:cNvSpPr/>
          <p:nvPr/>
        </p:nvSpPr>
        <p:spPr>
          <a:xfrm>
            <a:off x="1066800" y="2138611"/>
            <a:ext cx="1490117" cy="1069330"/>
          </a:xfrm>
          <a:prstGeom prst="roundRect">
            <a:avLst>
              <a:gd name="adj" fmla="val 9501"/>
            </a:avLst>
          </a:prstGeom>
          <a:solidFill>
            <a:srgbClr val="EAF3FC"/>
          </a:solidFill>
          <a:ln/>
        </p:spPr>
        <p:txBody>
          <a:bodyPr/>
          <a:lstStyle/>
          <a:p>
            <a:endParaRPr lang="en-JP"/>
          </a:p>
        </p:txBody>
      </p:sp>
      <p:sp>
        <p:nvSpPr>
          <p:cNvPr id="8" name="Text 5"/>
          <p:cNvSpPr/>
          <p:nvPr/>
        </p:nvSpPr>
        <p:spPr>
          <a:xfrm>
            <a:off x="1659255" y="2291011"/>
            <a:ext cx="305157" cy="482600"/>
          </a:xfrm>
          <a:prstGeom prst="rect">
            <a:avLst/>
          </a:prstGeom>
          <a:noFill/>
          <a:ln/>
        </p:spPr>
        <p:txBody>
          <a:bodyPr wrap="square" lIns="0" tIns="0" rIns="0" bIns="0" rtlCol="0" anchor="t">
            <a:normAutofit/>
          </a:bodyPr>
          <a:lstStyle/>
          <a:p>
            <a:pPr marL="0" indent="0" algn="ctr">
              <a:lnSpc>
                <a:spcPts val="3600"/>
              </a:lnSpc>
              <a:buNone/>
            </a:pPr>
            <a:r>
              <a:rPr lang="en-US" sz="3600" b="1" dirty="0">
                <a:solidFill>
                  <a:srgbClr val="0078D4"/>
                </a:solidFill>
                <a:latin typeface="Arial" pitchFamily="34" charset="0"/>
                <a:ea typeface="Arial" pitchFamily="34" charset="-122"/>
                <a:cs typeface="Arial" pitchFamily="34" charset="-120"/>
              </a:rPr>
              <a:t>3</a:t>
            </a:r>
            <a:endParaRPr lang="en-US" sz="3600" dirty="0"/>
          </a:p>
        </p:txBody>
      </p:sp>
      <p:sp>
        <p:nvSpPr>
          <p:cNvPr id="9" name="Text 6"/>
          <p:cNvSpPr/>
          <p:nvPr/>
        </p:nvSpPr>
        <p:spPr>
          <a:xfrm>
            <a:off x="1498039" y="2824411"/>
            <a:ext cx="627638" cy="25653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0B1F33"/>
                </a:solidFill>
                <a:latin typeface="Calibri" pitchFamily="34" charset="0"/>
                <a:ea typeface="Calibri" pitchFamily="34" charset="-122"/>
                <a:cs typeface="Calibri" pitchFamily="34" charset="-120"/>
              </a:rPr>
              <a:t>copies</a:t>
            </a:r>
            <a:endParaRPr lang="en-US" sz="1300" dirty="0"/>
          </a:p>
        </p:txBody>
      </p:sp>
      <p:sp>
        <p:nvSpPr>
          <p:cNvPr id="10" name="Shape 7"/>
          <p:cNvSpPr/>
          <p:nvPr/>
        </p:nvSpPr>
        <p:spPr>
          <a:xfrm>
            <a:off x="2658517" y="2138611"/>
            <a:ext cx="1490166" cy="1069330"/>
          </a:xfrm>
          <a:prstGeom prst="roundRect">
            <a:avLst>
              <a:gd name="adj" fmla="val 9501"/>
            </a:avLst>
          </a:prstGeom>
          <a:solidFill>
            <a:srgbClr val="EAF3FC"/>
          </a:solidFill>
          <a:ln/>
        </p:spPr>
        <p:txBody>
          <a:bodyPr/>
          <a:lstStyle/>
          <a:p>
            <a:endParaRPr lang="en-JP"/>
          </a:p>
        </p:txBody>
      </p:sp>
      <p:sp>
        <p:nvSpPr>
          <p:cNvPr id="11" name="Text 8"/>
          <p:cNvSpPr/>
          <p:nvPr/>
        </p:nvSpPr>
        <p:spPr>
          <a:xfrm>
            <a:off x="3251021" y="2291011"/>
            <a:ext cx="305157" cy="482600"/>
          </a:xfrm>
          <a:prstGeom prst="rect">
            <a:avLst/>
          </a:prstGeom>
          <a:noFill/>
          <a:ln/>
        </p:spPr>
        <p:txBody>
          <a:bodyPr wrap="square" lIns="0" tIns="0" rIns="0" bIns="0" rtlCol="0" anchor="t">
            <a:normAutofit/>
          </a:bodyPr>
          <a:lstStyle/>
          <a:p>
            <a:pPr marL="0" indent="0" algn="ctr">
              <a:lnSpc>
                <a:spcPts val="3600"/>
              </a:lnSpc>
              <a:buNone/>
            </a:pPr>
            <a:r>
              <a:rPr lang="en-US" sz="3600" b="1" dirty="0">
                <a:solidFill>
                  <a:srgbClr val="0078D4"/>
                </a:solidFill>
                <a:latin typeface="Arial" pitchFamily="34" charset="0"/>
                <a:ea typeface="Arial" pitchFamily="34" charset="-122"/>
                <a:cs typeface="Arial" pitchFamily="34" charset="-120"/>
              </a:rPr>
              <a:t>2</a:t>
            </a:r>
            <a:endParaRPr lang="en-US" sz="3600" dirty="0"/>
          </a:p>
        </p:txBody>
      </p:sp>
      <p:sp>
        <p:nvSpPr>
          <p:cNvPr id="12" name="Text 9"/>
          <p:cNvSpPr/>
          <p:nvPr/>
        </p:nvSpPr>
        <p:spPr>
          <a:xfrm>
            <a:off x="2759417" y="2824411"/>
            <a:ext cx="1288316" cy="25653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0B1F33"/>
                </a:solidFill>
                <a:latin typeface="Calibri" pitchFamily="34" charset="0"/>
                <a:ea typeface="Calibri" pitchFamily="34" charset="-122"/>
                <a:cs typeface="Calibri" pitchFamily="34" charset="-120"/>
              </a:rPr>
              <a:t>storage types</a:t>
            </a:r>
            <a:endParaRPr lang="en-US" sz="1300" dirty="0"/>
          </a:p>
        </p:txBody>
      </p:sp>
      <p:sp>
        <p:nvSpPr>
          <p:cNvPr id="13" name="Shape 10"/>
          <p:cNvSpPr/>
          <p:nvPr/>
        </p:nvSpPr>
        <p:spPr>
          <a:xfrm>
            <a:off x="4250283" y="2138611"/>
            <a:ext cx="1490117" cy="1069330"/>
          </a:xfrm>
          <a:prstGeom prst="roundRect">
            <a:avLst>
              <a:gd name="adj" fmla="val 9501"/>
            </a:avLst>
          </a:prstGeom>
          <a:solidFill>
            <a:srgbClr val="EAF3FC"/>
          </a:solidFill>
          <a:ln/>
        </p:spPr>
        <p:txBody>
          <a:bodyPr/>
          <a:lstStyle/>
          <a:p>
            <a:endParaRPr lang="en-JP"/>
          </a:p>
        </p:txBody>
      </p:sp>
      <p:sp>
        <p:nvSpPr>
          <p:cNvPr id="14" name="Text 11"/>
          <p:cNvSpPr/>
          <p:nvPr/>
        </p:nvSpPr>
        <p:spPr>
          <a:xfrm>
            <a:off x="4842738" y="2291011"/>
            <a:ext cx="305157" cy="482600"/>
          </a:xfrm>
          <a:prstGeom prst="rect">
            <a:avLst/>
          </a:prstGeom>
          <a:noFill/>
          <a:ln/>
        </p:spPr>
        <p:txBody>
          <a:bodyPr wrap="square" lIns="0" tIns="0" rIns="0" bIns="0" rtlCol="0" anchor="t">
            <a:normAutofit/>
          </a:bodyPr>
          <a:lstStyle/>
          <a:p>
            <a:pPr marL="0" indent="0" algn="ctr">
              <a:lnSpc>
                <a:spcPts val="3600"/>
              </a:lnSpc>
              <a:buNone/>
            </a:pPr>
            <a:r>
              <a:rPr lang="en-US" sz="3600" b="1" dirty="0">
                <a:solidFill>
                  <a:srgbClr val="0078D4"/>
                </a:solidFill>
                <a:latin typeface="Arial" pitchFamily="34" charset="0"/>
                <a:ea typeface="Arial" pitchFamily="34" charset="-122"/>
                <a:cs typeface="Arial" pitchFamily="34" charset="-120"/>
              </a:rPr>
              <a:t>1</a:t>
            </a:r>
            <a:endParaRPr lang="en-US" sz="3600" dirty="0"/>
          </a:p>
        </p:txBody>
      </p:sp>
      <p:sp>
        <p:nvSpPr>
          <p:cNvPr id="15" name="Text 12"/>
          <p:cNvSpPr/>
          <p:nvPr/>
        </p:nvSpPr>
        <p:spPr>
          <a:xfrm>
            <a:off x="4665152" y="2824411"/>
            <a:ext cx="660380" cy="256530"/>
          </a:xfrm>
          <a:prstGeom prst="rect">
            <a:avLst/>
          </a:prstGeom>
          <a:noFill/>
          <a:ln/>
        </p:spPr>
        <p:txBody>
          <a:bodyPr wrap="square" lIns="0" tIns="0" rIns="0" bIns="0" rtlCol="0" anchor="t">
            <a:normAutofit/>
          </a:bodyPr>
          <a:lstStyle/>
          <a:p>
            <a:pPr marL="0" indent="0" algn="ctr">
              <a:lnSpc>
                <a:spcPts val="1820"/>
              </a:lnSpc>
              <a:buNone/>
            </a:pPr>
            <a:r>
              <a:rPr lang="en-US" sz="1300" b="1" dirty="0">
                <a:solidFill>
                  <a:srgbClr val="0B1F33"/>
                </a:solidFill>
                <a:latin typeface="Calibri" pitchFamily="34" charset="0"/>
                <a:ea typeface="Calibri" pitchFamily="34" charset="-122"/>
                <a:cs typeface="Calibri" pitchFamily="34" charset="-120"/>
              </a:rPr>
              <a:t>off-site</a:t>
            </a:r>
            <a:endParaRPr lang="en-US" sz="1300" dirty="0"/>
          </a:p>
        </p:txBody>
      </p:sp>
      <p:sp>
        <p:nvSpPr>
          <p:cNvPr id="16" name="Text 13"/>
          <p:cNvSpPr/>
          <p:nvPr/>
        </p:nvSpPr>
        <p:spPr>
          <a:xfrm>
            <a:off x="1066800" y="3334941"/>
            <a:ext cx="4813808"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B"/>
                </a:solidFill>
                <a:latin typeface="Calibri" pitchFamily="34" charset="0"/>
                <a:ea typeface="Calibri" pitchFamily="34" charset="-122"/>
                <a:cs typeface="Calibri" pitchFamily="34" charset="-120"/>
              </a:rPr>
              <a:t>Three copies of important data, on two types of storage, with one kept off-site or in the cloud.</a:t>
            </a:r>
            <a:endParaRPr lang="en-US" sz="1400" dirty="0"/>
          </a:p>
        </p:txBody>
      </p:sp>
      <p:sp>
        <p:nvSpPr>
          <p:cNvPr id="17" name="Shape 14"/>
          <p:cNvSpPr/>
          <p:nvPr/>
        </p:nvSpPr>
        <p:spPr>
          <a:xfrm>
            <a:off x="6197600" y="1569690"/>
            <a:ext cx="5181600" cy="2529681"/>
          </a:xfrm>
          <a:prstGeom prst="roundRect">
            <a:avLst>
              <a:gd name="adj" fmla="val 4016"/>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18" name="Text 15"/>
          <p:cNvSpPr/>
          <p:nvPr/>
        </p:nvSpPr>
        <p:spPr>
          <a:xfrm>
            <a:off x="6451600" y="1798290"/>
            <a:ext cx="4813808" cy="238720"/>
          </a:xfrm>
          <a:prstGeom prst="rect">
            <a:avLst/>
          </a:prstGeom>
          <a:noFill/>
          <a:ln/>
        </p:spPr>
        <p:txBody>
          <a:bodyPr wrap="square" lIns="0" tIns="0" rIns="0" bIns="0" rtlCol="0" anchor="t">
            <a:normAutofit/>
          </a:bodyPr>
          <a:lstStyle/>
          <a:p>
            <a:pPr marL="0" indent="0" algn="l">
              <a:lnSpc>
                <a:spcPts val="1680"/>
              </a:lnSpc>
              <a:buNone/>
            </a:pPr>
            <a:r>
              <a:rPr lang="en-US" sz="1400" b="1" kern="0" spc="150" dirty="0">
                <a:solidFill>
                  <a:srgbClr val="0078D4"/>
                </a:solidFill>
                <a:latin typeface="Calibri" pitchFamily="34" charset="0"/>
                <a:ea typeface="Calibri" pitchFamily="34" charset="-122"/>
                <a:cs typeface="Calibri" pitchFamily="34" charset="-120"/>
              </a:rPr>
              <a:t>AT WORK</a:t>
            </a:r>
            <a:endParaRPr lang="en-US" sz="1400" dirty="0"/>
          </a:p>
        </p:txBody>
      </p:sp>
      <p:sp>
        <p:nvSpPr>
          <p:cNvPr id="19" name="Shape 16"/>
          <p:cNvSpPr/>
          <p:nvPr/>
        </p:nvSpPr>
        <p:spPr>
          <a:xfrm>
            <a:off x="6451600" y="2119561"/>
            <a:ext cx="4673600" cy="0"/>
          </a:xfrm>
          <a:prstGeom prst="line">
            <a:avLst/>
          </a:prstGeom>
          <a:noFill/>
          <a:ln w="12700">
            <a:solidFill>
              <a:srgbClr val="D6E2EE"/>
            </a:solidFill>
            <a:prstDash val="solid"/>
          </a:ln>
        </p:spPr>
        <p:txBody>
          <a:bodyPr/>
          <a:lstStyle/>
          <a:p>
            <a:endParaRPr lang="en-JP"/>
          </a:p>
        </p:txBody>
      </p:sp>
      <p:pic>
        <p:nvPicPr>
          <p:cNvPr id="20" name="Image 1" descr="check icon"/>
          <p:cNvPicPr>
            <a:picLocks noChangeAspect="1"/>
          </p:cNvPicPr>
          <p:nvPr/>
        </p:nvPicPr>
        <p:blipFill>
          <a:blip r:embed="rId4"/>
          <a:srcRect/>
          <a:stretch/>
        </p:blipFill>
        <p:spPr>
          <a:xfrm>
            <a:off x="6451600" y="2250331"/>
            <a:ext cx="203200" cy="203200"/>
          </a:xfrm>
          <a:prstGeom prst="rect">
            <a:avLst/>
          </a:prstGeom>
        </p:spPr>
      </p:pic>
      <p:sp>
        <p:nvSpPr>
          <p:cNvPr id="21" name="Text 17"/>
          <p:cNvSpPr/>
          <p:nvPr/>
        </p:nvSpPr>
        <p:spPr>
          <a:xfrm>
            <a:off x="6781800" y="2227511"/>
            <a:ext cx="447370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B1F33"/>
                </a:solidFill>
                <a:latin typeface="Calibri" pitchFamily="34" charset="0"/>
                <a:ea typeface="Calibri" pitchFamily="34" charset="-122"/>
                <a:cs typeface="Calibri" pitchFamily="34" charset="-120"/>
              </a:rPr>
              <a:t>Save work to [OneDrive / SharePoint / company drive]</a:t>
            </a:r>
            <a:endParaRPr lang="en-US" sz="1400" dirty="0"/>
          </a:p>
        </p:txBody>
      </p:sp>
      <p:sp>
        <p:nvSpPr>
          <p:cNvPr id="22" name="Shape 18"/>
          <p:cNvSpPr/>
          <p:nvPr/>
        </p:nvSpPr>
        <p:spPr>
          <a:xfrm>
            <a:off x="6451600" y="2584351"/>
            <a:ext cx="4673600" cy="0"/>
          </a:xfrm>
          <a:prstGeom prst="line">
            <a:avLst/>
          </a:prstGeom>
          <a:noFill/>
          <a:ln w="12700">
            <a:solidFill>
              <a:srgbClr val="D6E2EE"/>
            </a:solidFill>
            <a:prstDash val="solid"/>
          </a:ln>
        </p:spPr>
        <p:txBody>
          <a:bodyPr/>
          <a:lstStyle/>
          <a:p>
            <a:endParaRPr lang="en-JP"/>
          </a:p>
        </p:txBody>
      </p:sp>
      <p:pic>
        <p:nvPicPr>
          <p:cNvPr id="23" name="Image 2" descr="check icon"/>
          <p:cNvPicPr>
            <a:picLocks noChangeAspect="1"/>
          </p:cNvPicPr>
          <p:nvPr/>
        </p:nvPicPr>
        <p:blipFill>
          <a:blip r:embed="rId4"/>
          <a:srcRect/>
          <a:stretch/>
        </p:blipFill>
        <p:spPr>
          <a:xfrm>
            <a:off x="6451600" y="2715121"/>
            <a:ext cx="203200" cy="203200"/>
          </a:xfrm>
          <a:prstGeom prst="rect">
            <a:avLst/>
          </a:prstGeom>
        </p:spPr>
      </p:pic>
      <p:sp>
        <p:nvSpPr>
          <p:cNvPr id="24" name="Text 19"/>
          <p:cNvSpPr/>
          <p:nvPr/>
        </p:nvSpPr>
        <p:spPr>
          <a:xfrm>
            <a:off x="6781800" y="2692301"/>
            <a:ext cx="447370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B1F33"/>
                </a:solidFill>
                <a:latin typeface="Calibri" pitchFamily="34" charset="0"/>
                <a:ea typeface="Calibri" pitchFamily="34" charset="-122"/>
                <a:cs typeface="Calibri" pitchFamily="34" charset="-120"/>
              </a:rPr>
              <a:t>Not only on your desktop or a USB drive</a:t>
            </a:r>
            <a:endParaRPr lang="en-US" sz="1400" dirty="0"/>
          </a:p>
        </p:txBody>
      </p:sp>
      <p:sp>
        <p:nvSpPr>
          <p:cNvPr id="25" name="Shape 20"/>
          <p:cNvSpPr/>
          <p:nvPr/>
        </p:nvSpPr>
        <p:spPr>
          <a:xfrm>
            <a:off x="6451600" y="3049141"/>
            <a:ext cx="4673600" cy="0"/>
          </a:xfrm>
          <a:prstGeom prst="line">
            <a:avLst/>
          </a:prstGeom>
          <a:noFill/>
          <a:ln w="12700">
            <a:solidFill>
              <a:srgbClr val="D6E2EE"/>
            </a:solidFill>
            <a:prstDash val="solid"/>
          </a:ln>
        </p:spPr>
        <p:txBody>
          <a:bodyPr/>
          <a:lstStyle/>
          <a:p>
            <a:endParaRPr lang="en-JP"/>
          </a:p>
        </p:txBody>
      </p:sp>
      <p:pic>
        <p:nvPicPr>
          <p:cNvPr id="26" name="Image 3" descr="check icon"/>
          <p:cNvPicPr>
            <a:picLocks noChangeAspect="1"/>
          </p:cNvPicPr>
          <p:nvPr/>
        </p:nvPicPr>
        <p:blipFill>
          <a:blip r:embed="rId4"/>
          <a:srcRect/>
          <a:stretch/>
        </p:blipFill>
        <p:spPr>
          <a:xfrm>
            <a:off x="6451600" y="3179911"/>
            <a:ext cx="203200" cy="203200"/>
          </a:xfrm>
          <a:prstGeom prst="rect">
            <a:avLst/>
          </a:prstGeom>
        </p:spPr>
      </p:pic>
      <p:sp>
        <p:nvSpPr>
          <p:cNvPr id="27" name="Text 21"/>
          <p:cNvSpPr/>
          <p:nvPr/>
        </p:nvSpPr>
        <p:spPr>
          <a:xfrm>
            <a:off x="6781800" y="3157091"/>
            <a:ext cx="447370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B1F33"/>
                </a:solidFill>
                <a:latin typeface="Calibri" pitchFamily="34" charset="0"/>
                <a:ea typeface="Calibri" pitchFamily="34" charset="-122"/>
                <a:cs typeface="Calibri" pitchFamily="34" charset="-120"/>
              </a:rPr>
              <a:t>Back up your phone and personal files too</a:t>
            </a:r>
            <a:endParaRPr lang="en-US" sz="1400" dirty="0"/>
          </a:p>
        </p:txBody>
      </p:sp>
      <p:sp>
        <p:nvSpPr>
          <p:cNvPr id="28" name="Shape 22"/>
          <p:cNvSpPr/>
          <p:nvPr/>
        </p:nvSpPr>
        <p:spPr>
          <a:xfrm>
            <a:off x="6451600" y="3513931"/>
            <a:ext cx="4673600" cy="0"/>
          </a:xfrm>
          <a:prstGeom prst="line">
            <a:avLst/>
          </a:prstGeom>
          <a:noFill/>
          <a:ln w="12700">
            <a:solidFill>
              <a:srgbClr val="D6E2EE"/>
            </a:solidFill>
            <a:prstDash val="solid"/>
          </a:ln>
        </p:spPr>
        <p:txBody>
          <a:bodyPr/>
          <a:lstStyle/>
          <a:p>
            <a:endParaRPr lang="en-JP"/>
          </a:p>
        </p:txBody>
      </p:sp>
      <p:pic>
        <p:nvPicPr>
          <p:cNvPr id="29" name="Image 4" descr="check icon"/>
          <p:cNvPicPr>
            <a:picLocks noChangeAspect="1"/>
          </p:cNvPicPr>
          <p:nvPr/>
        </p:nvPicPr>
        <p:blipFill>
          <a:blip r:embed="rId4"/>
          <a:srcRect/>
          <a:stretch/>
        </p:blipFill>
        <p:spPr>
          <a:xfrm>
            <a:off x="6451600" y="3644702"/>
            <a:ext cx="203200" cy="203200"/>
          </a:xfrm>
          <a:prstGeom prst="rect">
            <a:avLst/>
          </a:prstGeom>
        </p:spPr>
      </p:pic>
      <p:sp>
        <p:nvSpPr>
          <p:cNvPr id="30" name="Text 23"/>
          <p:cNvSpPr/>
          <p:nvPr/>
        </p:nvSpPr>
        <p:spPr>
          <a:xfrm>
            <a:off x="6781800" y="3621881"/>
            <a:ext cx="447370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B1F33"/>
                </a:solidFill>
                <a:latin typeface="Calibri" pitchFamily="34" charset="0"/>
                <a:ea typeface="Calibri" pitchFamily="34" charset="-122"/>
                <a:cs typeface="Calibri" pitchFamily="34" charset="-120"/>
              </a:rPr>
              <a:t>Report anything missing or locked straight away</a:t>
            </a:r>
            <a:endParaRPr lang="en-US" sz="1400" dirty="0"/>
          </a:p>
        </p:txBody>
      </p:sp>
      <p:sp>
        <p:nvSpPr>
          <p:cNvPr id="31" name="Shape 24"/>
          <p:cNvSpPr/>
          <p:nvPr/>
        </p:nvSpPr>
        <p:spPr>
          <a:xfrm>
            <a:off x="812800" y="4353371"/>
            <a:ext cx="10566400" cy="762000"/>
          </a:xfrm>
          <a:prstGeom prst="roundRect">
            <a:avLst>
              <a:gd name="adj" fmla="val 13333"/>
            </a:avLst>
          </a:prstGeom>
          <a:solidFill>
            <a:srgbClr val="0A1628"/>
          </a:solidFill>
          <a:ln/>
        </p:spPr>
        <p:txBody>
          <a:bodyPr/>
          <a:lstStyle/>
          <a:p>
            <a:endParaRPr lang="en-JP"/>
          </a:p>
        </p:txBody>
      </p:sp>
      <p:sp>
        <p:nvSpPr>
          <p:cNvPr id="32" name="Shape 25"/>
          <p:cNvSpPr/>
          <p:nvPr/>
        </p:nvSpPr>
        <p:spPr>
          <a:xfrm>
            <a:off x="1041400" y="4531171"/>
            <a:ext cx="406400" cy="406400"/>
          </a:xfrm>
          <a:prstGeom prst="roundRect">
            <a:avLst>
              <a:gd name="adj" fmla="val 50000"/>
            </a:avLst>
          </a:prstGeom>
          <a:solidFill>
            <a:srgbClr val="F7630C"/>
          </a:solidFill>
          <a:ln/>
        </p:spPr>
        <p:txBody>
          <a:bodyPr/>
          <a:lstStyle/>
          <a:p>
            <a:endParaRPr lang="en-JP"/>
          </a:p>
        </p:txBody>
      </p:sp>
      <p:pic>
        <p:nvPicPr>
          <p:cNvPr id="33" name="Image 5" descr="alert icon"/>
          <p:cNvPicPr>
            <a:picLocks noChangeAspect="1"/>
          </p:cNvPicPr>
          <p:nvPr/>
        </p:nvPicPr>
        <p:blipFill>
          <a:blip r:embed="rId5"/>
          <a:srcRect/>
          <a:stretch/>
        </p:blipFill>
        <p:spPr>
          <a:xfrm>
            <a:off x="1143000" y="4632771"/>
            <a:ext cx="203200" cy="203200"/>
          </a:xfrm>
          <a:prstGeom prst="rect">
            <a:avLst/>
          </a:prstGeom>
        </p:spPr>
      </p:pic>
      <p:sp>
        <p:nvSpPr>
          <p:cNvPr id="34" name="Text 26"/>
          <p:cNvSpPr/>
          <p:nvPr/>
        </p:nvSpPr>
        <p:spPr>
          <a:xfrm>
            <a:off x="1600200" y="4601021"/>
            <a:ext cx="983691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FFFFF"/>
                </a:solidFill>
                <a:latin typeface="Calibri" pitchFamily="34" charset="0"/>
                <a:ea typeface="Calibri" pitchFamily="34" charset="-122"/>
                <a:cs typeface="Calibri" pitchFamily="34" charset="-120"/>
              </a:rPr>
              <a:t>A backup you've never restored is only a hope. </a:t>
            </a:r>
            <a:r>
              <a:rPr lang="en-US" sz="1500" b="1" dirty="0">
                <a:solidFill>
                  <a:srgbClr val="FF9A5C"/>
                </a:solidFill>
                <a:latin typeface="Calibri" pitchFamily="34" charset="0"/>
                <a:ea typeface="Calibri" pitchFamily="34" charset="-122"/>
                <a:cs typeface="Calibri" pitchFamily="34" charset="-120"/>
              </a:rPr>
              <a:t>Test it.</a:t>
            </a:r>
            <a:endParaRPr lang="en-US" sz="1500" dirty="0"/>
          </a:p>
        </p:txBody>
      </p:sp>
      <p:sp>
        <p:nvSpPr>
          <p:cNvPr id="35" name="Text 27"/>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B"/>
                </a:solidFill>
                <a:latin typeface="Calibri" pitchFamily="34" charset="0"/>
                <a:ea typeface="Calibri" pitchFamily="34" charset="-122"/>
                <a:cs typeface="Calibri" pitchFamily="34" charset="-120"/>
              </a:rPr>
              <a:t>ZNexora Tech</a:t>
            </a:r>
            <a:endParaRPr lang="en-US" sz="1200" dirty="0"/>
          </a:p>
        </p:txBody>
      </p:sp>
      <p:sp>
        <p:nvSpPr>
          <p:cNvPr id="36" name="Text 28"/>
          <p:cNvSpPr/>
          <p:nvPr/>
        </p:nvSpPr>
        <p:spPr>
          <a:xfrm>
            <a:off x="9855200" y="6238280"/>
            <a:ext cx="15240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A6B"/>
                </a:solidFill>
                <a:latin typeface="Calibri" pitchFamily="34" charset="0"/>
                <a:ea typeface="Calibri" pitchFamily="34" charset="-122"/>
                <a:cs typeface="Calibri" pitchFamily="34" charset="-120"/>
              </a:rPr>
              <a:t>ZNexora Tech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a:effectLst/>
      </p:bgPr>
    </p:bg>
    <p:spTree>
      <p:nvGrpSpPr>
        <p:cNvPr id="1" name=""/>
        <p:cNvGrpSpPr/>
        <p:nvPr/>
      </p:nvGrpSpPr>
      <p:grpSpPr>
        <a:xfrm>
          <a:off x="0" y="0"/>
          <a:ext cx="0" cy="0"/>
          <a:chOff x="0" y="0"/>
          <a:chExt cx="0" cy="0"/>
        </a:xfrm>
      </p:grpSpPr>
      <p:pic>
        <p:nvPicPr>
          <p:cNvPr id="2" name="Image 0" descr="ZNexora Tech logo"/>
          <p:cNvPicPr>
            <a:picLocks noChangeAspect="1"/>
          </p:cNvPicPr>
          <p:nvPr/>
        </p:nvPicPr>
        <p:blipFill>
          <a:blip r:embed="rId3"/>
          <a:srcRect l="-106" r="-106"/>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78D4"/>
                </a:solidFill>
                <a:latin typeface="Calibri" pitchFamily="34" charset="0"/>
                <a:ea typeface="Calibri" pitchFamily="34" charset="-122"/>
                <a:cs typeface="Calibri" pitchFamily="34" charset="-120"/>
              </a:rPr>
              <a:t>HABIT 4 · CLEAN DESK</a:t>
            </a:r>
            <a:endParaRPr lang="en-US" sz="1200" dirty="0"/>
          </a:p>
        </p:txBody>
      </p:sp>
      <p:sp>
        <p:nvSpPr>
          <p:cNvPr id="4" name="Text 1"/>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1F33"/>
                </a:solidFill>
                <a:latin typeface="Arial" pitchFamily="34" charset="0"/>
                <a:ea typeface="Arial" pitchFamily="34" charset="-122"/>
                <a:cs typeface="Arial" pitchFamily="34" charset="-120"/>
              </a:rPr>
              <a:t>Keep a clean desk and clear screen</a:t>
            </a:r>
            <a:endParaRPr lang="en-US" sz="3600" dirty="0"/>
          </a:p>
        </p:txBody>
      </p:sp>
      <p:sp>
        <p:nvSpPr>
          <p:cNvPr id="5" name="Shape 2"/>
          <p:cNvSpPr/>
          <p:nvPr/>
        </p:nvSpPr>
        <p:spPr>
          <a:xfrm>
            <a:off x="812800" y="1569690"/>
            <a:ext cx="6553200" cy="2864892"/>
          </a:xfrm>
          <a:prstGeom prst="roundRect">
            <a:avLst>
              <a:gd name="adj" fmla="val 3546"/>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6" name="Shape 3"/>
          <p:cNvSpPr/>
          <p:nvPr/>
        </p:nvSpPr>
        <p:spPr>
          <a:xfrm>
            <a:off x="1066800" y="1798290"/>
            <a:ext cx="457200" cy="457200"/>
          </a:xfrm>
          <a:prstGeom prst="roundRect">
            <a:avLst>
              <a:gd name="adj" fmla="val 50000"/>
            </a:avLst>
          </a:prstGeom>
          <a:solidFill>
            <a:srgbClr val="0078D4"/>
          </a:solidFill>
          <a:ln/>
        </p:spPr>
        <p:txBody>
          <a:bodyPr/>
          <a:lstStyle/>
          <a:p>
            <a:endParaRPr lang="en-JP"/>
          </a:p>
        </p:txBody>
      </p:sp>
      <p:pic>
        <p:nvPicPr>
          <p:cNvPr id="7" name="Image 1" descr="file icon"/>
          <p:cNvPicPr>
            <a:picLocks noChangeAspect="1"/>
          </p:cNvPicPr>
          <p:nvPr/>
        </p:nvPicPr>
        <p:blipFill>
          <a:blip r:embed="rId4"/>
          <a:srcRect/>
          <a:stretch/>
        </p:blipFill>
        <p:spPr>
          <a:xfrm>
            <a:off x="1181100" y="1912590"/>
            <a:ext cx="228600" cy="228600"/>
          </a:xfrm>
          <a:prstGeom prst="rect">
            <a:avLst/>
          </a:prstGeom>
        </p:spPr>
      </p:pic>
      <p:sp>
        <p:nvSpPr>
          <p:cNvPr id="8" name="Text 4"/>
          <p:cNvSpPr/>
          <p:nvPr/>
        </p:nvSpPr>
        <p:spPr>
          <a:xfrm>
            <a:off x="1651000" y="1920230"/>
            <a:ext cx="1583710" cy="238720"/>
          </a:xfrm>
          <a:prstGeom prst="rect">
            <a:avLst/>
          </a:prstGeom>
          <a:noFill/>
          <a:ln/>
        </p:spPr>
        <p:txBody>
          <a:bodyPr wrap="square" lIns="0" tIns="0" rIns="0" bIns="0" rtlCol="0" anchor="t">
            <a:normAutofit/>
          </a:bodyPr>
          <a:lstStyle/>
          <a:p>
            <a:pPr marL="0" indent="0" algn="l">
              <a:lnSpc>
                <a:spcPts val="1680"/>
              </a:lnSpc>
              <a:buNone/>
            </a:pPr>
            <a:r>
              <a:rPr lang="en-US" sz="1400" b="1" kern="0" spc="150" dirty="0">
                <a:solidFill>
                  <a:srgbClr val="0078D4"/>
                </a:solidFill>
                <a:latin typeface="Calibri" pitchFamily="34" charset="0"/>
                <a:ea typeface="Calibri" pitchFamily="34" charset="-122"/>
                <a:cs typeface="Calibri" pitchFamily="34" charset="-120"/>
              </a:rPr>
              <a:t>WHAT TO DO</a:t>
            </a:r>
            <a:endParaRPr lang="en-US" sz="1400" dirty="0"/>
          </a:p>
        </p:txBody>
      </p:sp>
      <p:sp>
        <p:nvSpPr>
          <p:cNvPr id="9" name="Shape 5"/>
          <p:cNvSpPr/>
          <p:nvPr/>
        </p:nvSpPr>
        <p:spPr>
          <a:xfrm>
            <a:off x="1066800" y="2363440"/>
            <a:ext cx="6045200" cy="0"/>
          </a:xfrm>
          <a:prstGeom prst="line">
            <a:avLst/>
          </a:prstGeom>
          <a:noFill/>
          <a:ln w="12700">
            <a:solidFill>
              <a:srgbClr val="D6E2EE"/>
            </a:solidFill>
            <a:prstDash val="solid"/>
          </a:ln>
        </p:spPr>
        <p:txBody>
          <a:bodyPr/>
          <a:lstStyle/>
          <a:p>
            <a:endParaRPr lang="en-JP"/>
          </a:p>
        </p:txBody>
      </p:sp>
      <p:pic>
        <p:nvPicPr>
          <p:cNvPr id="10" name="Image 2" descr="check icon"/>
          <p:cNvPicPr>
            <a:picLocks noChangeAspect="1"/>
          </p:cNvPicPr>
          <p:nvPr/>
        </p:nvPicPr>
        <p:blipFill>
          <a:blip r:embed="rId5"/>
          <a:srcRect/>
          <a:stretch/>
        </p:blipFill>
        <p:spPr>
          <a:xfrm>
            <a:off x="1066800" y="2494211"/>
            <a:ext cx="203200" cy="203200"/>
          </a:xfrm>
          <a:prstGeom prst="rect">
            <a:avLst/>
          </a:prstGeom>
        </p:spPr>
      </p:pic>
      <p:sp>
        <p:nvSpPr>
          <p:cNvPr id="11" name="Text 6"/>
          <p:cNvSpPr/>
          <p:nvPr/>
        </p:nvSpPr>
        <p:spPr>
          <a:xfrm>
            <a:off x="1397000" y="2471390"/>
            <a:ext cx="588645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B1F33"/>
                </a:solidFill>
                <a:latin typeface="Calibri" pitchFamily="34" charset="0"/>
                <a:ea typeface="Calibri" pitchFamily="34" charset="-122"/>
                <a:cs typeface="Calibri" pitchFamily="34" charset="-120"/>
              </a:rPr>
              <a:t>No passwords on sticky notes</a:t>
            </a:r>
            <a:endParaRPr lang="en-US" sz="1400" dirty="0"/>
          </a:p>
        </p:txBody>
      </p:sp>
      <p:sp>
        <p:nvSpPr>
          <p:cNvPr id="12" name="Shape 7"/>
          <p:cNvSpPr/>
          <p:nvPr/>
        </p:nvSpPr>
        <p:spPr>
          <a:xfrm>
            <a:off x="1066800" y="2828230"/>
            <a:ext cx="6045200" cy="0"/>
          </a:xfrm>
          <a:prstGeom prst="line">
            <a:avLst/>
          </a:prstGeom>
          <a:noFill/>
          <a:ln w="12700">
            <a:solidFill>
              <a:srgbClr val="D6E2EE"/>
            </a:solidFill>
            <a:prstDash val="solid"/>
          </a:ln>
        </p:spPr>
        <p:txBody>
          <a:bodyPr/>
          <a:lstStyle/>
          <a:p>
            <a:endParaRPr lang="en-JP"/>
          </a:p>
        </p:txBody>
      </p:sp>
      <p:pic>
        <p:nvPicPr>
          <p:cNvPr id="13" name="Image 3" descr="check icon"/>
          <p:cNvPicPr>
            <a:picLocks noChangeAspect="1"/>
          </p:cNvPicPr>
          <p:nvPr/>
        </p:nvPicPr>
        <p:blipFill>
          <a:blip r:embed="rId5"/>
          <a:srcRect/>
          <a:stretch/>
        </p:blipFill>
        <p:spPr>
          <a:xfrm>
            <a:off x="1066800" y="2959001"/>
            <a:ext cx="203200" cy="203200"/>
          </a:xfrm>
          <a:prstGeom prst="rect">
            <a:avLst/>
          </a:prstGeom>
        </p:spPr>
      </p:pic>
      <p:sp>
        <p:nvSpPr>
          <p:cNvPr id="14" name="Text 8"/>
          <p:cNvSpPr/>
          <p:nvPr/>
        </p:nvSpPr>
        <p:spPr>
          <a:xfrm>
            <a:off x="1397000" y="2936180"/>
            <a:ext cx="588645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B1F33"/>
                </a:solidFill>
                <a:latin typeface="Calibri" pitchFamily="34" charset="0"/>
                <a:ea typeface="Calibri" pitchFamily="34" charset="-122"/>
                <a:cs typeface="Calibri" pitchFamily="34" charset="-120"/>
              </a:rPr>
              <a:t>Lock away papers and devices when you leave</a:t>
            </a:r>
            <a:endParaRPr lang="en-US" sz="1400" dirty="0"/>
          </a:p>
        </p:txBody>
      </p:sp>
      <p:sp>
        <p:nvSpPr>
          <p:cNvPr id="15" name="Shape 9"/>
          <p:cNvSpPr/>
          <p:nvPr/>
        </p:nvSpPr>
        <p:spPr>
          <a:xfrm>
            <a:off x="1066800" y="3293021"/>
            <a:ext cx="6045200" cy="0"/>
          </a:xfrm>
          <a:prstGeom prst="line">
            <a:avLst/>
          </a:prstGeom>
          <a:noFill/>
          <a:ln w="12700">
            <a:solidFill>
              <a:srgbClr val="D6E2EE"/>
            </a:solidFill>
            <a:prstDash val="solid"/>
          </a:ln>
        </p:spPr>
        <p:txBody>
          <a:bodyPr/>
          <a:lstStyle/>
          <a:p>
            <a:endParaRPr lang="en-JP"/>
          </a:p>
        </p:txBody>
      </p:sp>
      <p:pic>
        <p:nvPicPr>
          <p:cNvPr id="16" name="Image 4" descr="check icon"/>
          <p:cNvPicPr>
            <a:picLocks noChangeAspect="1"/>
          </p:cNvPicPr>
          <p:nvPr/>
        </p:nvPicPr>
        <p:blipFill>
          <a:blip r:embed="rId5"/>
          <a:srcRect/>
          <a:stretch/>
        </p:blipFill>
        <p:spPr>
          <a:xfrm>
            <a:off x="1066800" y="3423791"/>
            <a:ext cx="203200" cy="203200"/>
          </a:xfrm>
          <a:prstGeom prst="rect">
            <a:avLst/>
          </a:prstGeom>
        </p:spPr>
      </p:pic>
      <p:sp>
        <p:nvSpPr>
          <p:cNvPr id="17" name="Text 10"/>
          <p:cNvSpPr/>
          <p:nvPr/>
        </p:nvSpPr>
        <p:spPr>
          <a:xfrm>
            <a:off x="1397000" y="3400971"/>
            <a:ext cx="588645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B1F33"/>
                </a:solidFill>
                <a:latin typeface="Calibri" pitchFamily="34" charset="0"/>
                <a:ea typeface="Calibri" pitchFamily="34" charset="-122"/>
                <a:cs typeface="Calibri" pitchFamily="34" charset="-120"/>
              </a:rPr>
              <a:t>Collect printouts straight away; shred, don't bin</a:t>
            </a:r>
            <a:endParaRPr lang="en-US" sz="1400" dirty="0"/>
          </a:p>
        </p:txBody>
      </p:sp>
      <p:sp>
        <p:nvSpPr>
          <p:cNvPr id="18" name="Shape 11"/>
          <p:cNvSpPr/>
          <p:nvPr/>
        </p:nvSpPr>
        <p:spPr>
          <a:xfrm>
            <a:off x="1066800" y="3757811"/>
            <a:ext cx="6045200" cy="0"/>
          </a:xfrm>
          <a:prstGeom prst="line">
            <a:avLst/>
          </a:prstGeom>
          <a:noFill/>
          <a:ln w="12700">
            <a:solidFill>
              <a:srgbClr val="D6E2EE"/>
            </a:solidFill>
            <a:prstDash val="solid"/>
          </a:ln>
        </p:spPr>
        <p:txBody>
          <a:bodyPr/>
          <a:lstStyle/>
          <a:p>
            <a:endParaRPr lang="en-JP"/>
          </a:p>
        </p:txBody>
      </p:sp>
      <p:pic>
        <p:nvPicPr>
          <p:cNvPr id="19" name="Image 5" descr="check icon"/>
          <p:cNvPicPr>
            <a:picLocks noChangeAspect="1"/>
          </p:cNvPicPr>
          <p:nvPr/>
        </p:nvPicPr>
        <p:blipFill>
          <a:blip r:embed="rId5"/>
          <a:srcRect/>
          <a:stretch/>
        </p:blipFill>
        <p:spPr>
          <a:xfrm>
            <a:off x="1066800" y="3888581"/>
            <a:ext cx="203200" cy="203200"/>
          </a:xfrm>
          <a:prstGeom prst="rect">
            <a:avLst/>
          </a:prstGeom>
        </p:spPr>
      </p:pic>
      <p:sp>
        <p:nvSpPr>
          <p:cNvPr id="20" name="Text 12"/>
          <p:cNvSpPr/>
          <p:nvPr/>
        </p:nvSpPr>
        <p:spPr>
          <a:xfrm>
            <a:off x="1397000" y="3865761"/>
            <a:ext cx="588645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B1F33"/>
                </a:solidFill>
                <a:latin typeface="Calibri" pitchFamily="34" charset="0"/>
                <a:ea typeface="Calibri" pitchFamily="34" charset="-122"/>
                <a:cs typeface="Calibri" pitchFamily="34" charset="-120"/>
              </a:rPr>
              <a:t>Wipe whiteboards after meetings</a:t>
            </a:r>
            <a:endParaRPr lang="en-US" sz="1400" dirty="0"/>
          </a:p>
        </p:txBody>
      </p:sp>
      <p:sp>
        <p:nvSpPr>
          <p:cNvPr id="21" name="Shape 13"/>
          <p:cNvSpPr/>
          <p:nvPr/>
        </p:nvSpPr>
        <p:spPr>
          <a:xfrm>
            <a:off x="7569200" y="1569690"/>
            <a:ext cx="3810000" cy="1518791"/>
          </a:xfrm>
          <a:prstGeom prst="roundRect">
            <a:avLst>
              <a:gd name="adj" fmla="val 8362"/>
            </a:avLst>
          </a:prstGeom>
          <a:solidFill>
            <a:srgbClr val="0A1628"/>
          </a:solidFill>
          <a:ln/>
        </p:spPr>
        <p:txBody>
          <a:bodyPr/>
          <a:lstStyle/>
          <a:p>
            <a:endParaRPr lang="en-JP"/>
          </a:p>
        </p:txBody>
      </p:sp>
      <p:sp>
        <p:nvSpPr>
          <p:cNvPr id="22" name="Text 14"/>
          <p:cNvSpPr/>
          <p:nvPr/>
        </p:nvSpPr>
        <p:spPr>
          <a:xfrm>
            <a:off x="7823200" y="1798290"/>
            <a:ext cx="34010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F9A5C"/>
                </a:solidFill>
                <a:latin typeface="Calibri" pitchFamily="34" charset="0"/>
                <a:ea typeface="Calibri" pitchFamily="34" charset="-122"/>
                <a:cs typeface="Calibri" pitchFamily="34" charset="-120"/>
              </a:rPr>
              <a:t>WHY IT MATTERS</a:t>
            </a:r>
            <a:endParaRPr lang="en-US" sz="1200" dirty="0"/>
          </a:p>
        </p:txBody>
      </p:sp>
      <p:sp>
        <p:nvSpPr>
          <p:cNvPr id="23" name="Text 15"/>
          <p:cNvSpPr/>
          <p:nvPr/>
        </p:nvSpPr>
        <p:spPr>
          <a:xfrm>
            <a:off x="7823200" y="2113211"/>
            <a:ext cx="3401060" cy="77207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FFFFF"/>
                </a:solidFill>
                <a:latin typeface="Calibri" pitchFamily="34" charset="0"/>
                <a:ea typeface="Calibri" pitchFamily="34" charset="-122"/>
                <a:cs typeface="Calibri" pitchFamily="34" charset="-120"/>
              </a:rPr>
              <a:t>Visitors, cleaners and video calls can all see what's on your desk or screen. Paper leaks data too.</a:t>
            </a:r>
            <a:endParaRPr lang="en-US" sz="1400" dirty="0"/>
          </a:p>
        </p:txBody>
      </p:sp>
      <p:sp>
        <p:nvSpPr>
          <p:cNvPr id="24" name="Shape 16"/>
          <p:cNvSpPr/>
          <p:nvPr/>
        </p:nvSpPr>
        <p:spPr>
          <a:xfrm>
            <a:off x="7569200" y="3240881"/>
            <a:ext cx="3810000" cy="1193701"/>
          </a:xfrm>
          <a:prstGeom prst="roundRect">
            <a:avLst>
              <a:gd name="adj" fmla="val 10639"/>
            </a:avLst>
          </a:prstGeom>
          <a:solidFill>
            <a:srgbClr val="EAF3FC"/>
          </a:solidFill>
          <a:ln/>
        </p:spPr>
        <p:txBody>
          <a:bodyPr/>
          <a:lstStyle/>
          <a:p>
            <a:endParaRPr lang="en-JP"/>
          </a:p>
        </p:txBody>
      </p:sp>
      <p:sp>
        <p:nvSpPr>
          <p:cNvPr id="25" name="Text 17"/>
          <p:cNvSpPr/>
          <p:nvPr/>
        </p:nvSpPr>
        <p:spPr>
          <a:xfrm>
            <a:off x="7823200" y="3444081"/>
            <a:ext cx="340106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78D4"/>
                </a:solidFill>
                <a:latin typeface="Calibri" pitchFamily="34" charset="0"/>
                <a:ea typeface="Calibri" pitchFamily="34" charset="-122"/>
                <a:cs typeface="Calibri" pitchFamily="34" charset="-120"/>
              </a:rPr>
              <a:t>QUICK TIP</a:t>
            </a:r>
            <a:endParaRPr lang="en-US" sz="1200" dirty="0"/>
          </a:p>
        </p:txBody>
      </p:sp>
      <p:sp>
        <p:nvSpPr>
          <p:cNvPr id="26" name="Text 18"/>
          <p:cNvSpPr/>
          <p:nvPr/>
        </p:nvSpPr>
        <p:spPr>
          <a:xfrm>
            <a:off x="7823200" y="3733602"/>
            <a:ext cx="3401060"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B1F33"/>
                </a:solidFill>
                <a:latin typeface="Calibri" pitchFamily="34" charset="0"/>
                <a:ea typeface="Calibri" pitchFamily="34" charset="-122"/>
                <a:cs typeface="Calibri" pitchFamily="34" charset="-120"/>
              </a:rPr>
              <a:t>Before you leave each day: clear the desk, lock the drawer, log off.</a:t>
            </a:r>
            <a:endParaRPr lang="en-US" sz="1400" dirty="0"/>
          </a:p>
        </p:txBody>
      </p:sp>
      <p:sp>
        <p:nvSpPr>
          <p:cNvPr id="27" name="Text 19"/>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B"/>
                </a:solidFill>
                <a:latin typeface="Calibri" pitchFamily="34" charset="0"/>
                <a:ea typeface="Calibri" pitchFamily="34" charset="-122"/>
                <a:cs typeface="Calibri" pitchFamily="34" charset="-120"/>
              </a:rPr>
              <a:t>ZNexora Tech</a:t>
            </a:r>
            <a:endParaRPr lang="en-US" sz="1200" dirty="0"/>
          </a:p>
        </p:txBody>
      </p:sp>
      <p:sp>
        <p:nvSpPr>
          <p:cNvPr id="28" name="Text 20"/>
          <p:cNvSpPr/>
          <p:nvPr/>
        </p:nvSpPr>
        <p:spPr>
          <a:xfrm>
            <a:off x="9855200" y="6238280"/>
            <a:ext cx="15240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A6B"/>
                </a:solidFill>
                <a:latin typeface="Calibri" pitchFamily="34" charset="0"/>
                <a:ea typeface="Calibri" pitchFamily="34" charset="-122"/>
                <a:cs typeface="Calibri" pitchFamily="34" charset="-120"/>
              </a:rPr>
              <a:t>ZNexora Tech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a:effectLst/>
      </p:bgPr>
    </p:bg>
    <p:spTree>
      <p:nvGrpSpPr>
        <p:cNvPr id="1" name=""/>
        <p:cNvGrpSpPr/>
        <p:nvPr/>
      </p:nvGrpSpPr>
      <p:grpSpPr>
        <a:xfrm>
          <a:off x="0" y="0"/>
          <a:ext cx="0" cy="0"/>
          <a:chOff x="0" y="0"/>
          <a:chExt cx="0" cy="0"/>
        </a:xfrm>
      </p:grpSpPr>
      <p:pic>
        <p:nvPicPr>
          <p:cNvPr id="2" name="Image 0" descr="ZNexora Tech logo"/>
          <p:cNvPicPr>
            <a:picLocks noChangeAspect="1"/>
          </p:cNvPicPr>
          <p:nvPr/>
        </p:nvPicPr>
        <p:blipFill>
          <a:blip r:embed="rId3"/>
          <a:srcRect l="-106" r="-106"/>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78D4"/>
                </a:solidFill>
                <a:latin typeface="Calibri" pitchFamily="34" charset="0"/>
                <a:ea typeface="Calibri" pitchFamily="34" charset="-122"/>
                <a:cs typeface="Calibri" pitchFamily="34" charset="-120"/>
              </a:rPr>
              <a:t>HABITS 5 TO 8</a:t>
            </a:r>
            <a:endParaRPr lang="en-US" sz="1200" dirty="0"/>
          </a:p>
        </p:txBody>
      </p:sp>
      <p:sp>
        <p:nvSpPr>
          <p:cNvPr id="4" name="Text 1"/>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1F33"/>
                </a:solidFill>
                <a:latin typeface="Arial" pitchFamily="34" charset="0"/>
                <a:ea typeface="Arial" pitchFamily="34" charset="-122"/>
                <a:cs typeface="Arial" pitchFamily="34" charset="-120"/>
              </a:rPr>
              <a:t>Four more habits, in brief</a:t>
            </a:r>
            <a:endParaRPr lang="en-US" sz="3600" dirty="0"/>
          </a:p>
        </p:txBody>
      </p:sp>
      <p:sp>
        <p:nvSpPr>
          <p:cNvPr id="5" name="Shape 2"/>
          <p:cNvSpPr/>
          <p:nvPr/>
        </p:nvSpPr>
        <p:spPr>
          <a:xfrm>
            <a:off x="812800" y="1569690"/>
            <a:ext cx="5207000" cy="1229271"/>
          </a:xfrm>
          <a:prstGeom prst="roundRect">
            <a:avLst>
              <a:gd name="adj" fmla="val 8265"/>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6" name="Shape 3"/>
          <p:cNvSpPr/>
          <p:nvPr/>
        </p:nvSpPr>
        <p:spPr>
          <a:xfrm>
            <a:off x="1041400" y="1930301"/>
            <a:ext cx="508000" cy="508000"/>
          </a:xfrm>
          <a:prstGeom prst="roundRect">
            <a:avLst>
              <a:gd name="adj" fmla="val 50000"/>
            </a:avLst>
          </a:prstGeom>
          <a:solidFill>
            <a:srgbClr val="EAF3FC"/>
          </a:solidFill>
          <a:ln/>
        </p:spPr>
        <p:txBody>
          <a:bodyPr/>
          <a:lstStyle/>
          <a:p>
            <a:endParaRPr lang="en-JP"/>
          </a:p>
        </p:txBody>
      </p:sp>
      <p:pic>
        <p:nvPicPr>
          <p:cNvPr id="7" name="Image 1" descr="key icon"/>
          <p:cNvPicPr>
            <a:picLocks noChangeAspect="1"/>
          </p:cNvPicPr>
          <p:nvPr/>
        </p:nvPicPr>
        <p:blipFill>
          <a:blip r:embed="rId4"/>
          <a:srcRect/>
          <a:stretch/>
        </p:blipFill>
        <p:spPr>
          <a:xfrm>
            <a:off x="1168400" y="2057301"/>
            <a:ext cx="254000" cy="254000"/>
          </a:xfrm>
          <a:prstGeom prst="rect">
            <a:avLst/>
          </a:prstGeom>
        </p:spPr>
      </p:pic>
      <p:sp>
        <p:nvSpPr>
          <p:cNvPr id="8" name="Text 4"/>
          <p:cNvSpPr/>
          <p:nvPr/>
        </p:nvSpPr>
        <p:spPr>
          <a:xfrm>
            <a:off x="1727200" y="1772890"/>
            <a:ext cx="418592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1F33"/>
                </a:solidFill>
                <a:latin typeface="Arial" pitchFamily="34" charset="0"/>
                <a:ea typeface="Arial" pitchFamily="34" charset="-122"/>
                <a:cs typeface="Arial" pitchFamily="34" charset="-120"/>
              </a:rPr>
              <a:t>Strong logins</a:t>
            </a:r>
            <a:endParaRPr lang="en-US" sz="1800" dirty="0"/>
          </a:p>
        </p:txBody>
      </p:sp>
      <p:sp>
        <p:nvSpPr>
          <p:cNvPr id="9" name="Text 5"/>
          <p:cNvSpPr/>
          <p:nvPr/>
        </p:nvSpPr>
        <p:spPr>
          <a:xfrm>
            <a:off x="1727200" y="2097980"/>
            <a:ext cx="4185920"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B"/>
                </a:solidFill>
                <a:latin typeface="Calibri" pitchFamily="34" charset="0"/>
                <a:ea typeface="Calibri" pitchFamily="34" charset="-122"/>
                <a:cs typeface="Calibri" pitchFamily="34" charset="-120"/>
              </a:rPr>
              <a:t>Use a password manager, unique passwords and MFA. Never approve a prompt you didn't start.</a:t>
            </a:r>
            <a:endParaRPr lang="en-US" sz="1400" dirty="0"/>
          </a:p>
        </p:txBody>
      </p:sp>
      <p:sp>
        <p:nvSpPr>
          <p:cNvPr id="10" name="Shape 6"/>
          <p:cNvSpPr/>
          <p:nvPr/>
        </p:nvSpPr>
        <p:spPr>
          <a:xfrm>
            <a:off x="6172200" y="1569690"/>
            <a:ext cx="5207000" cy="1229271"/>
          </a:xfrm>
          <a:prstGeom prst="roundRect">
            <a:avLst>
              <a:gd name="adj" fmla="val 8265"/>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11" name="Shape 7"/>
          <p:cNvSpPr/>
          <p:nvPr/>
        </p:nvSpPr>
        <p:spPr>
          <a:xfrm>
            <a:off x="6400800" y="1930301"/>
            <a:ext cx="508000" cy="508000"/>
          </a:xfrm>
          <a:prstGeom prst="roundRect">
            <a:avLst>
              <a:gd name="adj" fmla="val 50000"/>
            </a:avLst>
          </a:prstGeom>
          <a:solidFill>
            <a:srgbClr val="EAF3FC"/>
          </a:solidFill>
          <a:ln/>
        </p:spPr>
        <p:txBody>
          <a:bodyPr/>
          <a:lstStyle/>
          <a:p>
            <a:endParaRPr lang="en-JP"/>
          </a:p>
        </p:txBody>
      </p:sp>
      <p:pic>
        <p:nvPicPr>
          <p:cNvPr id="12" name="Image 2" descr="pointer icon"/>
          <p:cNvPicPr>
            <a:picLocks noChangeAspect="1"/>
          </p:cNvPicPr>
          <p:nvPr/>
        </p:nvPicPr>
        <p:blipFill>
          <a:blip r:embed="rId5"/>
          <a:srcRect/>
          <a:stretch/>
        </p:blipFill>
        <p:spPr>
          <a:xfrm>
            <a:off x="6527800" y="2057301"/>
            <a:ext cx="254000" cy="254000"/>
          </a:xfrm>
          <a:prstGeom prst="rect">
            <a:avLst/>
          </a:prstGeom>
        </p:spPr>
      </p:pic>
      <p:sp>
        <p:nvSpPr>
          <p:cNvPr id="13" name="Text 8"/>
          <p:cNvSpPr/>
          <p:nvPr/>
        </p:nvSpPr>
        <p:spPr>
          <a:xfrm>
            <a:off x="7086600" y="1772890"/>
            <a:ext cx="418592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1F33"/>
                </a:solidFill>
                <a:latin typeface="Arial" pitchFamily="34" charset="0"/>
                <a:ea typeface="Arial" pitchFamily="34" charset="-122"/>
                <a:cs typeface="Arial" pitchFamily="34" charset="-120"/>
              </a:rPr>
              <a:t>Think before you click</a:t>
            </a:r>
            <a:endParaRPr lang="en-US" sz="1800" dirty="0"/>
          </a:p>
        </p:txBody>
      </p:sp>
      <p:sp>
        <p:nvSpPr>
          <p:cNvPr id="14" name="Text 9"/>
          <p:cNvSpPr/>
          <p:nvPr/>
        </p:nvSpPr>
        <p:spPr>
          <a:xfrm>
            <a:off x="7086600" y="2097980"/>
            <a:ext cx="4185920"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B"/>
                </a:solidFill>
                <a:latin typeface="Calibri" pitchFamily="34" charset="0"/>
                <a:ea typeface="Calibri" pitchFamily="34" charset="-122"/>
                <a:cs typeface="Calibri" pitchFamily="34" charset="-120"/>
              </a:rPr>
              <a:t>Pause on urgent or unexpected messages. Check the sender and the link.</a:t>
            </a:r>
            <a:endParaRPr lang="en-US" sz="1400" dirty="0"/>
          </a:p>
        </p:txBody>
      </p:sp>
      <p:sp>
        <p:nvSpPr>
          <p:cNvPr id="15" name="Shape 10"/>
          <p:cNvSpPr/>
          <p:nvPr/>
        </p:nvSpPr>
        <p:spPr>
          <a:xfrm>
            <a:off x="812800" y="2951361"/>
            <a:ext cx="5207000" cy="1229271"/>
          </a:xfrm>
          <a:prstGeom prst="roundRect">
            <a:avLst>
              <a:gd name="adj" fmla="val 8265"/>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16" name="Shape 11"/>
          <p:cNvSpPr/>
          <p:nvPr/>
        </p:nvSpPr>
        <p:spPr>
          <a:xfrm>
            <a:off x="1041400" y="3311971"/>
            <a:ext cx="508000" cy="508000"/>
          </a:xfrm>
          <a:prstGeom prst="roundRect">
            <a:avLst>
              <a:gd name="adj" fmla="val 50000"/>
            </a:avLst>
          </a:prstGeom>
          <a:solidFill>
            <a:srgbClr val="EAF3FC"/>
          </a:solidFill>
          <a:ln/>
        </p:spPr>
        <p:txBody>
          <a:bodyPr/>
          <a:lstStyle/>
          <a:p>
            <a:endParaRPr lang="en-JP"/>
          </a:p>
        </p:txBody>
      </p:sp>
      <p:pic>
        <p:nvPicPr>
          <p:cNvPr id="17" name="Image 3" descr="box icon"/>
          <p:cNvPicPr>
            <a:picLocks noChangeAspect="1"/>
          </p:cNvPicPr>
          <p:nvPr/>
        </p:nvPicPr>
        <p:blipFill>
          <a:blip r:embed="rId6"/>
          <a:srcRect/>
          <a:stretch/>
        </p:blipFill>
        <p:spPr>
          <a:xfrm>
            <a:off x="1168400" y="3438971"/>
            <a:ext cx="254000" cy="254000"/>
          </a:xfrm>
          <a:prstGeom prst="rect">
            <a:avLst/>
          </a:prstGeom>
        </p:spPr>
      </p:pic>
      <p:sp>
        <p:nvSpPr>
          <p:cNvPr id="18" name="Text 12"/>
          <p:cNvSpPr/>
          <p:nvPr/>
        </p:nvSpPr>
        <p:spPr>
          <a:xfrm>
            <a:off x="1727200" y="3154561"/>
            <a:ext cx="418592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1F33"/>
                </a:solidFill>
                <a:latin typeface="Arial" pitchFamily="34" charset="0"/>
                <a:ea typeface="Arial" pitchFamily="34" charset="-122"/>
                <a:cs typeface="Arial" pitchFamily="34" charset="-120"/>
              </a:rPr>
              <a:t>Use approved tools</a:t>
            </a:r>
            <a:endParaRPr lang="en-US" sz="1800" dirty="0"/>
          </a:p>
        </p:txBody>
      </p:sp>
      <p:sp>
        <p:nvSpPr>
          <p:cNvPr id="19" name="Text 13"/>
          <p:cNvSpPr/>
          <p:nvPr/>
        </p:nvSpPr>
        <p:spPr>
          <a:xfrm>
            <a:off x="1727200" y="3479651"/>
            <a:ext cx="4185920"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B"/>
                </a:solidFill>
                <a:latin typeface="Calibri" pitchFamily="34" charset="0"/>
                <a:ea typeface="Calibri" pitchFamily="34" charset="-122"/>
                <a:cs typeface="Calibri" pitchFamily="34" charset="-120"/>
              </a:rPr>
              <a:t>No personal email, cloud, USB or public AI tools for company data.</a:t>
            </a:r>
            <a:endParaRPr lang="en-US" sz="1400" dirty="0"/>
          </a:p>
        </p:txBody>
      </p:sp>
      <p:sp>
        <p:nvSpPr>
          <p:cNvPr id="20" name="Shape 14"/>
          <p:cNvSpPr/>
          <p:nvPr/>
        </p:nvSpPr>
        <p:spPr>
          <a:xfrm>
            <a:off x="6172200" y="2951361"/>
            <a:ext cx="5207000" cy="1229271"/>
          </a:xfrm>
          <a:prstGeom prst="roundRect">
            <a:avLst>
              <a:gd name="adj" fmla="val 8265"/>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21" name="Shape 15"/>
          <p:cNvSpPr/>
          <p:nvPr/>
        </p:nvSpPr>
        <p:spPr>
          <a:xfrm>
            <a:off x="6400800" y="3311971"/>
            <a:ext cx="508000" cy="508000"/>
          </a:xfrm>
          <a:prstGeom prst="roundRect">
            <a:avLst>
              <a:gd name="adj" fmla="val 50000"/>
            </a:avLst>
          </a:prstGeom>
          <a:solidFill>
            <a:srgbClr val="FDEBDD"/>
          </a:solidFill>
          <a:ln/>
        </p:spPr>
        <p:txBody>
          <a:bodyPr/>
          <a:lstStyle/>
          <a:p>
            <a:endParaRPr lang="en-JP"/>
          </a:p>
        </p:txBody>
      </p:sp>
      <p:pic>
        <p:nvPicPr>
          <p:cNvPr id="22" name="Image 4" descr="megaphone icon"/>
          <p:cNvPicPr>
            <a:picLocks noChangeAspect="1"/>
          </p:cNvPicPr>
          <p:nvPr/>
        </p:nvPicPr>
        <p:blipFill>
          <a:blip r:embed="rId7"/>
          <a:srcRect/>
          <a:stretch/>
        </p:blipFill>
        <p:spPr>
          <a:xfrm>
            <a:off x="6527800" y="3438971"/>
            <a:ext cx="254000" cy="254000"/>
          </a:xfrm>
          <a:prstGeom prst="rect">
            <a:avLst/>
          </a:prstGeom>
        </p:spPr>
      </p:pic>
      <p:sp>
        <p:nvSpPr>
          <p:cNvPr id="23" name="Text 16"/>
          <p:cNvSpPr/>
          <p:nvPr/>
        </p:nvSpPr>
        <p:spPr>
          <a:xfrm>
            <a:off x="7086600" y="3154561"/>
            <a:ext cx="4185920"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B1F33"/>
                </a:solidFill>
                <a:latin typeface="Arial" pitchFamily="34" charset="0"/>
                <a:ea typeface="Arial" pitchFamily="34" charset="-122"/>
                <a:cs typeface="Arial" pitchFamily="34" charset="-120"/>
              </a:rPr>
              <a:t>Report</a:t>
            </a:r>
            <a:endParaRPr lang="en-US" sz="1800" dirty="0"/>
          </a:p>
        </p:txBody>
      </p:sp>
      <p:sp>
        <p:nvSpPr>
          <p:cNvPr id="24" name="Text 17"/>
          <p:cNvSpPr/>
          <p:nvPr/>
        </p:nvSpPr>
        <p:spPr>
          <a:xfrm>
            <a:off x="7086600" y="3479651"/>
            <a:ext cx="4185920"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B"/>
                </a:solidFill>
                <a:latin typeface="Calibri" pitchFamily="34" charset="0"/>
                <a:ea typeface="Calibri" pitchFamily="34" charset="-122"/>
                <a:cs typeface="Calibri" pitchFamily="34" charset="-120"/>
              </a:rPr>
              <a:t>Something odd? Tell IT on [contact] straight away. No blame.</a:t>
            </a:r>
            <a:endParaRPr lang="en-US" sz="1400" dirty="0"/>
          </a:p>
        </p:txBody>
      </p:sp>
      <p:sp>
        <p:nvSpPr>
          <p:cNvPr id="25" name="Text 18"/>
          <p:cNvSpPr/>
          <p:nvPr/>
        </p:nvSpPr>
        <p:spPr>
          <a:xfrm>
            <a:off x="812800" y="4434632"/>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A6B"/>
                </a:solidFill>
                <a:latin typeface="Calibri" pitchFamily="34" charset="0"/>
                <a:ea typeface="Calibri" pitchFamily="34" charset="-122"/>
                <a:cs typeface="Calibri" pitchFamily="34" charset="-120"/>
              </a:rPr>
              <a:t>Covered in depth in our phishing, session theft and insider threat sessions.</a:t>
            </a:r>
            <a:endParaRPr lang="en-US" sz="1400" dirty="0"/>
          </a:p>
        </p:txBody>
      </p:sp>
      <p:sp>
        <p:nvSpPr>
          <p:cNvPr id="26" name="Text 19"/>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B"/>
                </a:solidFill>
                <a:latin typeface="Calibri" pitchFamily="34" charset="0"/>
                <a:ea typeface="Calibri" pitchFamily="34" charset="-122"/>
                <a:cs typeface="Calibri" pitchFamily="34" charset="-120"/>
              </a:rPr>
              <a:t>ZNexora Tech</a:t>
            </a:r>
            <a:endParaRPr lang="en-US" sz="1200" dirty="0"/>
          </a:p>
        </p:txBody>
      </p:sp>
      <p:sp>
        <p:nvSpPr>
          <p:cNvPr id="27" name="Text 20"/>
          <p:cNvSpPr/>
          <p:nvPr/>
        </p:nvSpPr>
        <p:spPr>
          <a:xfrm>
            <a:off x="9855200" y="6238280"/>
            <a:ext cx="15240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A6B"/>
                </a:solidFill>
                <a:latin typeface="Calibri" pitchFamily="34" charset="0"/>
                <a:ea typeface="Calibri" pitchFamily="34" charset="-122"/>
                <a:cs typeface="Calibri" pitchFamily="34" charset="-120"/>
              </a:rPr>
              <a:t>ZNexora Tech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a:effectLst/>
      </p:bgPr>
    </p:bg>
    <p:spTree>
      <p:nvGrpSpPr>
        <p:cNvPr id="1" name=""/>
        <p:cNvGrpSpPr/>
        <p:nvPr/>
      </p:nvGrpSpPr>
      <p:grpSpPr>
        <a:xfrm>
          <a:off x="0" y="0"/>
          <a:ext cx="0" cy="0"/>
          <a:chOff x="0" y="0"/>
          <a:chExt cx="0" cy="0"/>
        </a:xfrm>
      </p:grpSpPr>
      <p:pic>
        <p:nvPicPr>
          <p:cNvPr id="2" name="Image 0" descr="ZNexora Tech logo"/>
          <p:cNvPicPr>
            <a:picLocks noChangeAspect="1"/>
          </p:cNvPicPr>
          <p:nvPr/>
        </p:nvPicPr>
        <p:blipFill>
          <a:blip r:embed="rId3"/>
          <a:srcRect l="-106" r="-106"/>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B7C3"/>
                </a:solidFill>
                <a:latin typeface="Calibri" pitchFamily="34" charset="0"/>
                <a:ea typeface="Calibri" pitchFamily="34" charset="-122"/>
                <a:cs typeface="Calibri" pitchFamily="34" charset="-120"/>
              </a:rPr>
              <a:t>04 · PUTTING IT TOGETHER</a:t>
            </a:r>
            <a:endParaRPr lang="en-US" sz="1200" dirty="0"/>
          </a:p>
        </p:txBody>
      </p:sp>
      <p:sp>
        <p:nvSpPr>
          <p:cNvPr id="4" name="Text 1"/>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FFFFF"/>
                </a:solidFill>
                <a:latin typeface="Arial" pitchFamily="34" charset="0"/>
                <a:ea typeface="Arial" pitchFamily="34" charset="-122"/>
                <a:cs typeface="Arial" pitchFamily="34" charset="-120"/>
              </a:rPr>
              <a:t>Your daily cyber hygiene routine</a:t>
            </a:r>
            <a:endParaRPr lang="en-US" sz="3600" dirty="0"/>
          </a:p>
        </p:txBody>
      </p:sp>
      <p:sp>
        <p:nvSpPr>
          <p:cNvPr id="5" name="Shape 2"/>
          <p:cNvSpPr/>
          <p:nvPr/>
        </p:nvSpPr>
        <p:spPr>
          <a:xfrm>
            <a:off x="812800" y="1569690"/>
            <a:ext cx="2011660" cy="1836936"/>
          </a:xfrm>
          <a:prstGeom prst="roundRect">
            <a:avLst>
              <a:gd name="adj" fmla="val 5531"/>
            </a:avLst>
          </a:prstGeom>
          <a:solidFill>
            <a:srgbClr val="13294B"/>
          </a:solidFill>
          <a:ln/>
        </p:spPr>
        <p:txBody>
          <a:bodyPr/>
          <a:lstStyle/>
          <a:p>
            <a:endParaRPr lang="en-JP"/>
          </a:p>
        </p:txBody>
      </p:sp>
      <p:sp>
        <p:nvSpPr>
          <p:cNvPr id="6" name="Shape 3"/>
          <p:cNvSpPr/>
          <p:nvPr/>
        </p:nvSpPr>
        <p:spPr>
          <a:xfrm>
            <a:off x="965200" y="1747490"/>
            <a:ext cx="406400" cy="406400"/>
          </a:xfrm>
          <a:prstGeom prst="roundRect">
            <a:avLst>
              <a:gd name="adj" fmla="val 50000"/>
            </a:avLst>
          </a:prstGeom>
          <a:solidFill>
            <a:srgbClr val="00B7C3"/>
          </a:solidFill>
          <a:ln/>
        </p:spPr>
        <p:txBody>
          <a:bodyPr/>
          <a:lstStyle/>
          <a:p>
            <a:endParaRPr lang="en-JP"/>
          </a:p>
        </p:txBody>
      </p:sp>
      <p:pic>
        <p:nvPicPr>
          <p:cNvPr id="7" name="Image 1" descr="sun icon"/>
          <p:cNvPicPr>
            <a:picLocks noChangeAspect="1"/>
          </p:cNvPicPr>
          <p:nvPr/>
        </p:nvPicPr>
        <p:blipFill>
          <a:blip r:embed="rId4"/>
          <a:srcRect/>
          <a:stretch/>
        </p:blipFill>
        <p:spPr>
          <a:xfrm>
            <a:off x="1066800" y="1849090"/>
            <a:ext cx="203200" cy="203200"/>
          </a:xfrm>
          <a:prstGeom prst="rect">
            <a:avLst/>
          </a:prstGeom>
        </p:spPr>
      </p:pic>
      <p:sp>
        <p:nvSpPr>
          <p:cNvPr id="8" name="Text 4"/>
          <p:cNvSpPr/>
          <p:nvPr/>
        </p:nvSpPr>
        <p:spPr>
          <a:xfrm>
            <a:off x="965200" y="2242790"/>
            <a:ext cx="125753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FFFFF"/>
                </a:solidFill>
                <a:latin typeface="Calibri" pitchFamily="34" charset="0"/>
                <a:ea typeface="Calibri" pitchFamily="34" charset="-122"/>
                <a:cs typeface="Calibri" pitchFamily="34" charset="-120"/>
              </a:rPr>
              <a:t>Start of day</a:t>
            </a:r>
            <a:endParaRPr lang="en-US" sz="1500" dirty="0"/>
          </a:p>
        </p:txBody>
      </p:sp>
      <p:sp>
        <p:nvSpPr>
          <p:cNvPr id="9" name="Text 5"/>
          <p:cNvSpPr/>
          <p:nvPr/>
        </p:nvSpPr>
        <p:spPr>
          <a:xfrm>
            <a:off x="965200" y="2560290"/>
            <a:ext cx="1758066"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CADCFC"/>
                </a:solidFill>
                <a:latin typeface="Calibri" pitchFamily="34" charset="0"/>
                <a:ea typeface="Calibri" pitchFamily="34" charset="-122"/>
                <a:cs typeface="Calibri" pitchFamily="34" charset="-120"/>
              </a:rPr>
              <a:t>Install pending updates; check for odd sign-in alerts</a:t>
            </a:r>
            <a:endParaRPr lang="en-US" sz="1300" dirty="0"/>
          </a:p>
        </p:txBody>
      </p:sp>
      <p:sp>
        <p:nvSpPr>
          <p:cNvPr id="10" name="Shape 6"/>
          <p:cNvSpPr/>
          <p:nvPr/>
        </p:nvSpPr>
        <p:spPr>
          <a:xfrm>
            <a:off x="2951460" y="1569690"/>
            <a:ext cx="2011710" cy="1836936"/>
          </a:xfrm>
          <a:prstGeom prst="roundRect">
            <a:avLst>
              <a:gd name="adj" fmla="val 5531"/>
            </a:avLst>
          </a:prstGeom>
          <a:solidFill>
            <a:srgbClr val="13294B"/>
          </a:solidFill>
          <a:ln/>
        </p:spPr>
        <p:txBody>
          <a:bodyPr/>
          <a:lstStyle/>
          <a:p>
            <a:endParaRPr lang="en-JP"/>
          </a:p>
        </p:txBody>
      </p:sp>
      <p:sp>
        <p:nvSpPr>
          <p:cNvPr id="11" name="Shape 7"/>
          <p:cNvSpPr/>
          <p:nvPr/>
        </p:nvSpPr>
        <p:spPr>
          <a:xfrm>
            <a:off x="3103860" y="1747490"/>
            <a:ext cx="406400" cy="406400"/>
          </a:xfrm>
          <a:prstGeom prst="roundRect">
            <a:avLst>
              <a:gd name="adj" fmla="val 50000"/>
            </a:avLst>
          </a:prstGeom>
          <a:solidFill>
            <a:srgbClr val="00B7C3"/>
          </a:solidFill>
          <a:ln/>
        </p:spPr>
        <p:txBody>
          <a:bodyPr/>
          <a:lstStyle/>
          <a:p>
            <a:endParaRPr lang="en-JP"/>
          </a:p>
        </p:txBody>
      </p:sp>
      <p:pic>
        <p:nvPicPr>
          <p:cNvPr id="12" name="Image 2" descr="coffee icon"/>
          <p:cNvPicPr>
            <a:picLocks noChangeAspect="1"/>
          </p:cNvPicPr>
          <p:nvPr/>
        </p:nvPicPr>
        <p:blipFill>
          <a:blip r:embed="rId5"/>
          <a:srcRect/>
          <a:stretch/>
        </p:blipFill>
        <p:spPr>
          <a:xfrm>
            <a:off x="3205460" y="1849090"/>
            <a:ext cx="203200" cy="203200"/>
          </a:xfrm>
          <a:prstGeom prst="rect">
            <a:avLst/>
          </a:prstGeom>
        </p:spPr>
      </p:pic>
      <p:sp>
        <p:nvSpPr>
          <p:cNvPr id="13" name="Text 8"/>
          <p:cNvSpPr/>
          <p:nvPr/>
        </p:nvSpPr>
        <p:spPr>
          <a:xfrm>
            <a:off x="3103860" y="2242790"/>
            <a:ext cx="160055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FFFFF"/>
                </a:solidFill>
                <a:latin typeface="Calibri" pitchFamily="34" charset="0"/>
                <a:ea typeface="Calibri" pitchFamily="34" charset="-122"/>
                <a:cs typeface="Calibri" pitchFamily="34" charset="-120"/>
              </a:rPr>
              <a:t>Stepping away</a:t>
            </a:r>
            <a:endParaRPr lang="en-US" sz="1500" dirty="0"/>
          </a:p>
        </p:txBody>
      </p:sp>
      <p:sp>
        <p:nvSpPr>
          <p:cNvPr id="14" name="Text 9"/>
          <p:cNvSpPr/>
          <p:nvPr/>
        </p:nvSpPr>
        <p:spPr>
          <a:xfrm>
            <a:off x="3103860" y="2560290"/>
            <a:ext cx="1758117"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CADCFC"/>
                </a:solidFill>
                <a:latin typeface="Calibri" pitchFamily="34" charset="0"/>
                <a:ea typeface="Calibri" pitchFamily="34" charset="-122"/>
                <a:cs typeface="Calibri" pitchFamily="34" charset="-120"/>
              </a:rPr>
              <a:t>Lock your screen, every time</a:t>
            </a:r>
            <a:endParaRPr lang="en-US" sz="1300" dirty="0"/>
          </a:p>
        </p:txBody>
      </p:sp>
      <p:sp>
        <p:nvSpPr>
          <p:cNvPr id="15" name="Shape 10"/>
          <p:cNvSpPr/>
          <p:nvPr/>
        </p:nvSpPr>
        <p:spPr>
          <a:xfrm>
            <a:off x="5090170" y="1569690"/>
            <a:ext cx="2011660" cy="1836936"/>
          </a:xfrm>
          <a:prstGeom prst="roundRect">
            <a:avLst>
              <a:gd name="adj" fmla="val 5531"/>
            </a:avLst>
          </a:prstGeom>
          <a:solidFill>
            <a:srgbClr val="13294B"/>
          </a:solidFill>
          <a:ln/>
        </p:spPr>
        <p:txBody>
          <a:bodyPr/>
          <a:lstStyle/>
          <a:p>
            <a:endParaRPr lang="en-JP"/>
          </a:p>
        </p:txBody>
      </p:sp>
      <p:sp>
        <p:nvSpPr>
          <p:cNvPr id="16" name="Shape 11"/>
          <p:cNvSpPr/>
          <p:nvPr/>
        </p:nvSpPr>
        <p:spPr>
          <a:xfrm>
            <a:off x="5242570" y="1747490"/>
            <a:ext cx="406400" cy="406400"/>
          </a:xfrm>
          <a:prstGeom prst="roundRect">
            <a:avLst>
              <a:gd name="adj" fmla="val 50000"/>
            </a:avLst>
          </a:prstGeom>
          <a:solidFill>
            <a:srgbClr val="00B7C3"/>
          </a:solidFill>
          <a:ln/>
        </p:spPr>
        <p:txBody>
          <a:bodyPr/>
          <a:lstStyle/>
          <a:p>
            <a:endParaRPr lang="en-JP"/>
          </a:p>
        </p:txBody>
      </p:sp>
      <p:pic>
        <p:nvPicPr>
          <p:cNvPr id="17" name="Image 3" descr="pointer icon"/>
          <p:cNvPicPr>
            <a:picLocks noChangeAspect="1"/>
          </p:cNvPicPr>
          <p:nvPr/>
        </p:nvPicPr>
        <p:blipFill>
          <a:blip r:embed="rId6"/>
          <a:srcRect/>
          <a:stretch/>
        </p:blipFill>
        <p:spPr>
          <a:xfrm>
            <a:off x="5344170" y="1849090"/>
            <a:ext cx="203200" cy="203200"/>
          </a:xfrm>
          <a:prstGeom prst="rect">
            <a:avLst/>
          </a:prstGeom>
        </p:spPr>
      </p:pic>
      <p:sp>
        <p:nvSpPr>
          <p:cNvPr id="18" name="Text 12"/>
          <p:cNvSpPr/>
          <p:nvPr/>
        </p:nvSpPr>
        <p:spPr>
          <a:xfrm>
            <a:off x="5242570" y="2242790"/>
            <a:ext cx="160031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FFFFF"/>
                </a:solidFill>
                <a:latin typeface="Calibri" pitchFamily="34" charset="0"/>
                <a:ea typeface="Calibri" pitchFamily="34" charset="-122"/>
                <a:cs typeface="Calibri" pitchFamily="34" charset="-120"/>
              </a:rPr>
              <a:t>During the day</a:t>
            </a:r>
            <a:endParaRPr lang="en-US" sz="1500" dirty="0"/>
          </a:p>
        </p:txBody>
      </p:sp>
      <p:sp>
        <p:nvSpPr>
          <p:cNvPr id="19" name="Text 13"/>
          <p:cNvSpPr/>
          <p:nvPr/>
        </p:nvSpPr>
        <p:spPr>
          <a:xfrm>
            <a:off x="5242570" y="2560290"/>
            <a:ext cx="1758066"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CADCFC"/>
                </a:solidFill>
                <a:latin typeface="Calibri" pitchFamily="34" charset="0"/>
                <a:ea typeface="Calibri" pitchFamily="34" charset="-122"/>
                <a:cs typeface="Calibri" pitchFamily="34" charset="-120"/>
              </a:rPr>
              <a:t>Pause before clicking; save to approved storage</a:t>
            </a:r>
            <a:endParaRPr lang="en-US" sz="1300" dirty="0"/>
          </a:p>
        </p:txBody>
      </p:sp>
      <p:sp>
        <p:nvSpPr>
          <p:cNvPr id="20" name="Shape 14"/>
          <p:cNvSpPr/>
          <p:nvPr/>
        </p:nvSpPr>
        <p:spPr>
          <a:xfrm>
            <a:off x="7228830" y="1569690"/>
            <a:ext cx="2011710" cy="1836936"/>
          </a:xfrm>
          <a:prstGeom prst="roundRect">
            <a:avLst>
              <a:gd name="adj" fmla="val 5531"/>
            </a:avLst>
          </a:prstGeom>
          <a:solidFill>
            <a:srgbClr val="13294B"/>
          </a:solidFill>
          <a:ln/>
        </p:spPr>
        <p:txBody>
          <a:bodyPr/>
          <a:lstStyle/>
          <a:p>
            <a:endParaRPr lang="en-JP"/>
          </a:p>
        </p:txBody>
      </p:sp>
      <p:sp>
        <p:nvSpPr>
          <p:cNvPr id="21" name="Shape 15"/>
          <p:cNvSpPr/>
          <p:nvPr/>
        </p:nvSpPr>
        <p:spPr>
          <a:xfrm>
            <a:off x="7381230" y="1747490"/>
            <a:ext cx="406400" cy="406400"/>
          </a:xfrm>
          <a:prstGeom prst="roundRect">
            <a:avLst>
              <a:gd name="adj" fmla="val 50000"/>
            </a:avLst>
          </a:prstGeom>
          <a:solidFill>
            <a:srgbClr val="00B7C3"/>
          </a:solidFill>
          <a:ln/>
        </p:spPr>
        <p:txBody>
          <a:bodyPr/>
          <a:lstStyle/>
          <a:p>
            <a:endParaRPr lang="en-JP"/>
          </a:p>
        </p:txBody>
      </p:sp>
      <p:pic>
        <p:nvPicPr>
          <p:cNvPr id="22" name="Image 4" descr="walk icon"/>
          <p:cNvPicPr>
            <a:picLocks noChangeAspect="1"/>
          </p:cNvPicPr>
          <p:nvPr/>
        </p:nvPicPr>
        <p:blipFill>
          <a:blip r:embed="rId7"/>
          <a:srcRect/>
          <a:stretch/>
        </p:blipFill>
        <p:spPr>
          <a:xfrm>
            <a:off x="7482830" y="1849090"/>
            <a:ext cx="203200" cy="203200"/>
          </a:xfrm>
          <a:prstGeom prst="rect">
            <a:avLst/>
          </a:prstGeom>
        </p:spPr>
      </p:pic>
      <p:sp>
        <p:nvSpPr>
          <p:cNvPr id="23" name="Text 16"/>
          <p:cNvSpPr/>
          <p:nvPr/>
        </p:nvSpPr>
        <p:spPr>
          <a:xfrm>
            <a:off x="7381230" y="2242790"/>
            <a:ext cx="1168479"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FFFFF"/>
                </a:solidFill>
                <a:latin typeface="Calibri" pitchFamily="34" charset="0"/>
                <a:ea typeface="Calibri" pitchFamily="34" charset="-122"/>
                <a:cs typeface="Calibri" pitchFamily="34" charset="-120"/>
              </a:rPr>
              <a:t>End of day</a:t>
            </a:r>
            <a:endParaRPr lang="en-US" sz="1500" dirty="0"/>
          </a:p>
        </p:txBody>
      </p:sp>
      <p:sp>
        <p:nvSpPr>
          <p:cNvPr id="24" name="Text 17"/>
          <p:cNvSpPr/>
          <p:nvPr/>
        </p:nvSpPr>
        <p:spPr>
          <a:xfrm>
            <a:off x="7381230" y="2560290"/>
            <a:ext cx="1758117"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CADCFC"/>
                </a:solidFill>
                <a:latin typeface="Calibri" pitchFamily="34" charset="0"/>
                <a:ea typeface="Calibri" pitchFamily="34" charset="-122"/>
                <a:cs typeface="Calibri" pitchFamily="34" charset="-120"/>
              </a:rPr>
              <a:t>Clear desk, lock drawer, log off or lock</a:t>
            </a:r>
            <a:endParaRPr lang="en-US" sz="1300" dirty="0"/>
          </a:p>
        </p:txBody>
      </p:sp>
      <p:sp>
        <p:nvSpPr>
          <p:cNvPr id="25" name="Shape 18"/>
          <p:cNvSpPr/>
          <p:nvPr/>
        </p:nvSpPr>
        <p:spPr>
          <a:xfrm>
            <a:off x="9367540" y="1569690"/>
            <a:ext cx="2011660" cy="1836936"/>
          </a:xfrm>
          <a:prstGeom prst="roundRect">
            <a:avLst>
              <a:gd name="adj" fmla="val 5531"/>
            </a:avLst>
          </a:prstGeom>
          <a:solidFill>
            <a:srgbClr val="13294B"/>
          </a:solidFill>
          <a:ln/>
        </p:spPr>
        <p:txBody>
          <a:bodyPr/>
          <a:lstStyle/>
          <a:p>
            <a:endParaRPr lang="en-JP"/>
          </a:p>
        </p:txBody>
      </p:sp>
      <p:sp>
        <p:nvSpPr>
          <p:cNvPr id="26" name="Shape 19"/>
          <p:cNvSpPr/>
          <p:nvPr/>
        </p:nvSpPr>
        <p:spPr>
          <a:xfrm>
            <a:off x="9519940" y="1747490"/>
            <a:ext cx="406400" cy="406400"/>
          </a:xfrm>
          <a:prstGeom prst="roundRect">
            <a:avLst>
              <a:gd name="adj" fmla="val 50000"/>
            </a:avLst>
          </a:prstGeom>
          <a:solidFill>
            <a:srgbClr val="00B7C3"/>
          </a:solidFill>
          <a:ln/>
        </p:spPr>
        <p:txBody>
          <a:bodyPr/>
          <a:lstStyle/>
          <a:p>
            <a:endParaRPr lang="en-JP"/>
          </a:p>
        </p:txBody>
      </p:sp>
      <p:pic>
        <p:nvPicPr>
          <p:cNvPr id="27" name="Image 5" descr="calendar icon"/>
          <p:cNvPicPr>
            <a:picLocks noChangeAspect="1"/>
          </p:cNvPicPr>
          <p:nvPr/>
        </p:nvPicPr>
        <p:blipFill>
          <a:blip r:embed="rId8"/>
          <a:srcRect/>
          <a:stretch/>
        </p:blipFill>
        <p:spPr>
          <a:xfrm>
            <a:off x="9621540" y="1849090"/>
            <a:ext cx="203200" cy="203200"/>
          </a:xfrm>
          <a:prstGeom prst="rect">
            <a:avLst/>
          </a:prstGeom>
        </p:spPr>
      </p:pic>
      <p:sp>
        <p:nvSpPr>
          <p:cNvPr id="28" name="Text 20"/>
          <p:cNvSpPr/>
          <p:nvPr/>
        </p:nvSpPr>
        <p:spPr>
          <a:xfrm>
            <a:off x="9519940" y="2242790"/>
            <a:ext cx="87612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FFFFF"/>
                </a:solidFill>
                <a:latin typeface="Calibri" pitchFamily="34" charset="0"/>
                <a:ea typeface="Calibri" pitchFamily="34" charset="-122"/>
                <a:cs typeface="Calibri" pitchFamily="34" charset="-120"/>
              </a:rPr>
              <a:t>Monthly</a:t>
            </a:r>
            <a:endParaRPr lang="en-US" sz="1500" dirty="0"/>
          </a:p>
        </p:txBody>
      </p:sp>
      <p:sp>
        <p:nvSpPr>
          <p:cNvPr id="29" name="Text 21"/>
          <p:cNvSpPr/>
          <p:nvPr/>
        </p:nvSpPr>
        <p:spPr>
          <a:xfrm>
            <a:off x="9519940" y="2560290"/>
            <a:ext cx="1758066"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CADCFC"/>
                </a:solidFill>
                <a:latin typeface="Calibri" pitchFamily="34" charset="0"/>
                <a:ea typeface="Calibri" pitchFamily="34" charset="-122"/>
                <a:cs typeface="Calibri" pitchFamily="34" charset="-120"/>
              </a:rPr>
              <a:t>Restart, review apps, check your backups</a:t>
            </a:r>
            <a:endParaRPr lang="en-US" sz="1300" dirty="0"/>
          </a:p>
        </p:txBody>
      </p:sp>
      <p:sp>
        <p:nvSpPr>
          <p:cNvPr id="30" name="Shape 22"/>
          <p:cNvSpPr/>
          <p:nvPr/>
        </p:nvSpPr>
        <p:spPr>
          <a:xfrm>
            <a:off x="819150" y="3666976"/>
            <a:ext cx="10553700" cy="673100"/>
          </a:xfrm>
          <a:prstGeom prst="roundRect">
            <a:avLst>
              <a:gd name="adj" fmla="val 14151"/>
            </a:avLst>
          </a:prstGeom>
          <a:noFill/>
          <a:ln w="12700">
            <a:solidFill>
              <a:srgbClr val="00B7C3"/>
            </a:solidFill>
            <a:prstDash val="solid"/>
          </a:ln>
        </p:spPr>
        <p:txBody>
          <a:bodyPr/>
          <a:lstStyle/>
          <a:p>
            <a:endParaRPr lang="en-JP"/>
          </a:p>
        </p:txBody>
      </p:sp>
      <p:pic>
        <p:nvPicPr>
          <p:cNvPr id="31" name="Image 6" descr="clock icon"/>
          <p:cNvPicPr>
            <a:picLocks noChangeAspect="1"/>
          </p:cNvPicPr>
          <p:nvPr/>
        </p:nvPicPr>
        <p:blipFill>
          <a:blip r:embed="rId9"/>
          <a:srcRect/>
          <a:stretch/>
        </p:blipFill>
        <p:spPr>
          <a:xfrm>
            <a:off x="1054100" y="3851126"/>
            <a:ext cx="304800" cy="304800"/>
          </a:xfrm>
          <a:prstGeom prst="rect">
            <a:avLst/>
          </a:prstGeom>
        </p:spPr>
      </p:pic>
      <p:sp>
        <p:nvSpPr>
          <p:cNvPr id="32" name="Text 23"/>
          <p:cNvSpPr/>
          <p:nvPr/>
        </p:nvSpPr>
        <p:spPr>
          <a:xfrm>
            <a:off x="1511300" y="3870176"/>
            <a:ext cx="991539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FFFFF"/>
                </a:solidFill>
                <a:latin typeface="Calibri" pitchFamily="34" charset="0"/>
                <a:ea typeface="Calibri" pitchFamily="34" charset="-122"/>
                <a:cs typeface="Calibri" pitchFamily="34" charset="-120"/>
              </a:rPr>
              <a:t>Altogether, it takes </a:t>
            </a:r>
            <a:r>
              <a:rPr lang="en-US" sz="1500" b="1" dirty="0">
                <a:solidFill>
                  <a:srgbClr val="00B7C3"/>
                </a:solidFill>
                <a:latin typeface="Calibri" pitchFamily="34" charset="0"/>
                <a:ea typeface="Calibri" pitchFamily="34" charset="-122"/>
                <a:cs typeface="Calibri" pitchFamily="34" charset="-120"/>
              </a:rPr>
              <a:t>just a few minutes a day</a:t>
            </a:r>
            <a:r>
              <a:rPr lang="en-US" sz="1500" dirty="0">
                <a:solidFill>
                  <a:srgbClr val="FFFFFF"/>
                </a:solidFill>
                <a:latin typeface="Calibri" pitchFamily="34" charset="0"/>
                <a:ea typeface="Calibri" pitchFamily="34" charset="-122"/>
                <a:cs typeface="Calibri" pitchFamily="34" charset="-120"/>
              </a:rPr>
              <a:t>.</a:t>
            </a:r>
            <a:endParaRPr lang="en-US" sz="1500" dirty="0"/>
          </a:p>
        </p:txBody>
      </p:sp>
      <p:sp>
        <p:nvSpPr>
          <p:cNvPr id="33" name="Text 24"/>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FB3C8"/>
                </a:solidFill>
                <a:latin typeface="Calibri" pitchFamily="34" charset="0"/>
                <a:ea typeface="Calibri" pitchFamily="34" charset="-122"/>
                <a:cs typeface="Calibri" pitchFamily="34" charset="-120"/>
              </a:rPr>
              <a:t>ZNexora Tech</a:t>
            </a:r>
            <a:endParaRPr lang="en-US" sz="1200" dirty="0"/>
          </a:p>
        </p:txBody>
      </p:sp>
      <p:sp>
        <p:nvSpPr>
          <p:cNvPr id="34" name="Text 25"/>
          <p:cNvSpPr/>
          <p:nvPr/>
        </p:nvSpPr>
        <p:spPr>
          <a:xfrm>
            <a:off x="9855200" y="6238280"/>
            <a:ext cx="15240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9FB3C8"/>
                </a:solidFill>
                <a:latin typeface="Calibri" pitchFamily="34" charset="0"/>
                <a:ea typeface="Calibri" pitchFamily="34" charset="-122"/>
                <a:cs typeface="Calibri" pitchFamily="34" charset="-120"/>
              </a:rPr>
              <a:t>ZNexora Tech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a:effectLst/>
      </p:bgPr>
    </p:bg>
    <p:spTree>
      <p:nvGrpSpPr>
        <p:cNvPr id="1" name=""/>
        <p:cNvGrpSpPr/>
        <p:nvPr/>
      </p:nvGrpSpPr>
      <p:grpSpPr>
        <a:xfrm>
          <a:off x="0" y="0"/>
          <a:ext cx="0" cy="0"/>
          <a:chOff x="0" y="0"/>
          <a:chExt cx="0" cy="0"/>
        </a:xfrm>
      </p:grpSpPr>
      <p:pic>
        <p:nvPicPr>
          <p:cNvPr id="2" name="Image 0" descr="ZNexora Tech logo"/>
          <p:cNvPicPr>
            <a:picLocks noChangeAspect="1"/>
          </p:cNvPicPr>
          <p:nvPr/>
        </p:nvPicPr>
        <p:blipFill>
          <a:blip r:embed="rId3"/>
          <a:srcRect l="-106" r="-106"/>
          <a:stretch/>
        </p:blipFill>
        <p:spPr>
          <a:xfrm>
            <a:off x="10414000" y="114300"/>
            <a:ext cx="1473200" cy="762000"/>
          </a:xfrm>
          <a:prstGeom prst="rect">
            <a:avLst/>
          </a:prstGeom>
        </p:spPr>
      </p:pic>
      <p:sp>
        <p:nvSpPr>
          <p:cNvPr id="3" name="Text 0"/>
          <p:cNvSpPr/>
          <p:nvPr/>
        </p:nvSpPr>
        <p:spPr>
          <a:xfrm>
            <a:off x="812800" y="457200"/>
            <a:ext cx="9156700"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78D4"/>
                </a:solidFill>
                <a:latin typeface="Calibri" pitchFamily="34" charset="0"/>
                <a:ea typeface="Calibri" pitchFamily="34" charset="-122"/>
                <a:cs typeface="Calibri" pitchFamily="34" charset="-120"/>
              </a:rPr>
              <a:t>05 · SELF-CHECK</a:t>
            </a:r>
            <a:endParaRPr lang="en-US" sz="1200" dirty="0"/>
          </a:p>
        </p:txBody>
      </p:sp>
      <p:sp>
        <p:nvSpPr>
          <p:cNvPr id="4" name="Text 1"/>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0B1F33"/>
                </a:solidFill>
                <a:latin typeface="Arial" pitchFamily="34" charset="0"/>
                <a:ea typeface="Arial" pitchFamily="34" charset="-122"/>
                <a:cs typeface="Arial" pitchFamily="34" charset="-120"/>
              </a:rPr>
              <a:t>How healthy is your cyber hygiene?</a:t>
            </a:r>
            <a:endParaRPr lang="en-US" sz="3600" dirty="0"/>
          </a:p>
        </p:txBody>
      </p:sp>
      <p:sp>
        <p:nvSpPr>
          <p:cNvPr id="5" name="Shape 2"/>
          <p:cNvSpPr/>
          <p:nvPr/>
        </p:nvSpPr>
        <p:spPr>
          <a:xfrm>
            <a:off x="812800" y="1569690"/>
            <a:ext cx="5283200" cy="533400"/>
          </a:xfrm>
          <a:prstGeom prst="roundRect">
            <a:avLst>
              <a:gd name="adj" fmla="val 19048"/>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6" name="Shape 3"/>
          <p:cNvSpPr/>
          <p:nvPr/>
        </p:nvSpPr>
        <p:spPr>
          <a:xfrm>
            <a:off x="1000125" y="1718915"/>
            <a:ext cx="234950" cy="234950"/>
          </a:xfrm>
          <a:prstGeom prst="roundRect">
            <a:avLst>
              <a:gd name="adj" fmla="val 17568"/>
            </a:avLst>
          </a:prstGeom>
          <a:noFill/>
          <a:ln w="19050">
            <a:solidFill>
              <a:srgbClr val="0078D4"/>
            </a:solidFill>
            <a:prstDash val="solid"/>
          </a:ln>
        </p:spPr>
        <p:txBody>
          <a:bodyPr/>
          <a:lstStyle/>
          <a:p>
            <a:endParaRPr lang="en-JP"/>
          </a:p>
        </p:txBody>
      </p:sp>
      <p:sp>
        <p:nvSpPr>
          <p:cNvPr id="7" name="Text 4"/>
          <p:cNvSpPr/>
          <p:nvPr/>
        </p:nvSpPr>
        <p:spPr>
          <a:xfrm>
            <a:off x="1371600" y="1711920"/>
            <a:ext cx="468299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B1F33"/>
                </a:solidFill>
                <a:latin typeface="Calibri" pitchFamily="34" charset="0"/>
                <a:ea typeface="Calibri" pitchFamily="34" charset="-122"/>
                <a:cs typeface="Calibri" pitchFamily="34" charset="-120"/>
              </a:rPr>
              <a:t>My devices are fully updated</a:t>
            </a:r>
            <a:endParaRPr lang="en-US" sz="1400" dirty="0"/>
          </a:p>
        </p:txBody>
      </p:sp>
      <p:sp>
        <p:nvSpPr>
          <p:cNvPr id="8" name="Shape 5"/>
          <p:cNvSpPr/>
          <p:nvPr/>
        </p:nvSpPr>
        <p:spPr>
          <a:xfrm>
            <a:off x="6096000" y="1569690"/>
            <a:ext cx="5283200" cy="533400"/>
          </a:xfrm>
          <a:prstGeom prst="roundRect">
            <a:avLst>
              <a:gd name="adj" fmla="val 19048"/>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9" name="Shape 6"/>
          <p:cNvSpPr/>
          <p:nvPr/>
        </p:nvSpPr>
        <p:spPr>
          <a:xfrm>
            <a:off x="6283325" y="1718915"/>
            <a:ext cx="234950" cy="234950"/>
          </a:xfrm>
          <a:prstGeom prst="roundRect">
            <a:avLst>
              <a:gd name="adj" fmla="val 17568"/>
            </a:avLst>
          </a:prstGeom>
          <a:noFill/>
          <a:ln w="19050">
            <a:solidFill>
              <a:srgbClr val="0078D4"/>
            </a:solidFill>
            <a:prstDash val="solid"/>
          </a:ln>
        </p:spPr>
        <p:txBody>
          <a:bodyPr/>
          <a:lstStyle/>
          <a:p>
            <a:endParaRPr lang="en-JP"/>
          </a:p>
        </p:txBody>
      </p:sp>
      <p:sp>
        <p:nvSpPr>
          <p:cNvPr id="10" name="Text 7"/>
          <p:cNvSpPr/>
          <p:nvPr/>
        </p:nvSpPr>
        <p:spPr>
          <a:xfrm>
            <a:off x="6654800" y="1711920"/>
            <a:ext cx="468299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B1F33"/>
                </a:solidFill>
                <a:latin typeface="Calibri" pitchFamily="34" charset="0"/>
                <a:ea typeface="Calibri" pitchFamily="34" charset="-122"/>
                <a:cs typeface="Calibri" pitchFamily="34" charset="-120"/>
              </a:rPr>
              <a:t>I lock my screen every time I leave</a:t>
            </a:r>
            <a:endParaRPr lang="en-US" sz="1400" dirty="0"/>
          </a:p>
        </p:txBody>
      </p:sp>
      <p:sp>
        <p:nvSpPr>
          <p:cNvPr id="11" name="Shape 8"/>
          <p:cNvSpPr/>
          <p:nvPr/>
        </p:nvSpPr>
        <p:spPr>
          <a:xfrm>
            <a:off x="812800" y="2103090"/>
            <a:ext cx="5283200" cy="533400"/>
          </a:xfrm>
          <a:prstGeom prst="roundRect">
            <a:avLst>
              <a:gd name="adj" fmla="val 19048"/>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12" name="Shape 9"/>
          <p:cNvSpPr/>
          <p:nvPr/>
        </p:nvSpPr>
        <p:spPr>
          <a:xfrm>
            <a:off x="1000125" y="2252315"/>
            <a:ext cx="234950" cy="234950"/>
          </a:xfrm>
          <a:prstGeom prst="roundRect">
            <a:avLst>
              <a:gd name="adj" fmla="val 17568"/>
            </a:avLst>
          </a:prstGeom>
          <a:noFill/>
          <a:ln w="19050">
            <a:solidFill>
              <a:srgbClr val="0078D4"/>
            </a:solidFill>
            <a:prstDash val="solid"/>
          </a:ln>
        </p:spPr>
        <p:txBody>
          <a:bodyPr/>
          <a:lstStyle/>
          <a:p>
            <a:endParaRPr lang="en-JP"/>
          </a:p>
        </p:txBody>
      </p:sp>
      <p:sp>
        <p:nvSpPr>
          <p:cNvPr id="13" name="Text 10"/>
          <p:cNvSpPr/>
          <p:nvPr/>
        </p:nvSpPr>
        <p:spPr>
          <a:xfrm>
            <a:off x="1371600" y="2245320"/>
            <a:ext cx="468299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B1F33"/>
                </a:solidFill>
                <a:latin typeface="Calibri" pitchFamily="34" charset="0"/>
                <a:ea typeface="Calibri" pitchFamily="34" charset="-122"/>
                <a:cs typeface="Calibri" pitchFamily="34" charset="-120"/>
              </a:rPr>
              <a:t>My work is saved to approved storage</a:t>
            </a:r>
            <a:endParaRPr lang="en-US" sz="1400" dirty="0"/>
          </a:p>
        </p:txBody>
      </p:sp>
      <p:sp>
        <p:nvSpPr>
          <p:cNvPr id="14" name="Shape 11"/>
          <p:cNvSpPr/>
          <p:nvPr/>
        </p:nvSpPr>
        <p:spPr>
          <a:xfrm>
            <a:off x="6096000" y="2103090"/>
            <a:ext cx="5283200" cy="533400"/>
          </a:xfrm>
          <a:prstGeom prst="roundRect">
            <a:avLst>
              <a:gd name="adj" fmla="val 19048"/>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15" name="Shape 12"/>
          <p:cNvSpPr/>
          <p:nvPr/>
        </p:nvSpPr>
        <p:spPr>
          <a:xfrm>
            <a:off x="6283325" y="2252315"/>
            <a:ext cx="234950" cy="234950"/>
          </a:xfrm>
          <a:prstGeom prst="roundRect">
            <a:avLst>
              <a:gd name="adj" fmla="val 17568"/>
            </a:avLst>
          </a:prstGeom>
          <a:noFill/>
          <a:ln w="19050">
            <a:solidFill>
              <a:srgbClr val="0078D4"/>
            </a:solidFill>
            <a:prstDash val="solid"/>
          </a:ln>
        </p:spPr>
        <p:txBody>
          <a:bodyPr/>
          <a:lstStyle/>
          <a:p>
            <a:endParaRPr lang="en-JP"/>
          </a:p>
        </p:txBody>
      </p:sp>
      <p:sp>
        <p:nvSpPr>
          <p:cNvPr id="16" name="Text 13"/>
          <p:cNvSpPr/>
          <p:nvPr/>
        </p:nvSpPr>
        <p:spPr>
          <a:xfrm>
            <a:off x="6654800" y="2245320"/>
            <a:ext cx="468299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B1F33"/>
                </a:solidFill>
                <a:latin typeface="Calibri" pitchFamily="34" charset="0"/>
                <a:ea typeface="Calibri" pitchFamily="34" charset="-122"/>
                <a:cs typeface="Calibri" pitchFamily="34" charset="-120"/>
              </a:rPr>
              <a:t>No passwords on notes or my desk</a:t>
            </a:r>
            <a:endParaRPr lang="en-US" sz="1400" dirty="0"/>
          </a:p>
        </p:txBody>
      </p:sp>
      <p:sp>
        <p:nvSpPr>
          <p:cNvPr id="17" name="Shape 14"/>
          <p:cNvSpPr/>
          <p:nvPr/>
        </p:nvSpPr>
        <p:spPr>
          <a:xfrm>
            <a:off x="812800" y="2636490"/>
            <a:ext cx="5283200" cy="533400"/>
          </a:xfrm>
          <a:prstGeom prst="roundRect">
            <a:avLst>
              <a:gd name="adj" fmla="val 19048"/>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18" name="Shape 15"/>
          <p:cNvSpPr/>
          <p:nvPr/>
        </p:nvSpPr>
        <p:spPr>
          <a:xfrm>
            <a:off x="1000125" y="2785715"/>
            <a:ext cx="234950" cy="234950"/>
          </a:xfrm>
          <a:prstGeom prst="roundRect">
            <a:avLst>
              <a:gd name="adj" fmla="val 17568"/>
            </a:avLst>
          </a:prstGeom>
          <a:noFill/>
          <a:ln w="19050">
            <a:solidFill>
              <a:srgbClr val="0078D4"/>
            </a:solidFill>
            <a:prstDash val="solid"/>
          </a:ln>
        </p:spPr>
        <p:txBody>
          <a:bodyPr/>
          <a:lstStyle/>
          <a:p>
            <a:endParaRPr lang="en-JP"/>
          </a:p>
        </p:txBody>
      </p:sp>
      <p:sp>
        <p:nvSpPr>
          <p:cNvPr id="19" name="Text 16"/>
          <p:cNvSpPr/>
          <p:nvPr/>
        </p:nvSpPr>
        <p:spPr>
          <a:xfrm>
            <a:off x="1371600" y="2778720"/>
            <a:ext cx="468299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B1F33"/>
                </a:solidFill>
                <a:latin typeface="Calibri" pitchFamily="34" charset="0"/>
                <a:ea typeface="Calibri" pitchFamily="34" charset="-122"/>
                <a:cs typeface="Calibri" pitchFamily="34" charset="-120"/>
              </a:rPr>
              <a:t>I use a password manager and MFA</a:t>
            </a:r>
            <a:endParaRPr lang="en-US" sz="1400" dirty="0"/>
          </a:p>
        </p:txBody>
      </p:sp>
      <p:sp>
        <p:nvSpPr>
          <p:cNvPr id="20" name="Shape 17"/>
          <p:cNvSpPr/>
          <p:nvPr/>
        </p:nvSpPr>
        <p:spPr>
          <a:xfrm>
            <a:off x="6096000" y="2636490"/>
            <a:ext cx="5283200" cy="533400"/>
          </a:xfrm>
          <a:prstGeom prst="roundRect">
            <a:avLst>
              <a:gd name="adj" fmla="val 19048"/>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21" name="Shape 18"/>
          <p:cNvSpPr/>
          <p:nvPr/>
        </p:nvSpPr>
        <p:spPr>
          <a:xfrm>
            <a:off x="6283325" y="2785715"/>
            <a:ext cx="234950" cy="234950"/>
          </a:xfrm>
          <a:prstGeom prst="roundRect">
            <a:avLst>
              <a:gd name="adj" fmla="val 17568"/>
            </a:avLst>
          </a:prstGeom>
          <a:noFill/>
          <a:ln w="19050">
            <a:solidFill>
              <a:srgbClr val="0078D4"/>
            </a:solidFill>
            <a:prstDash val="solid"/>
          </a:ln>
        </p:spPr>
        <p:txBody>
          <a:bodyPr/>
          <a:lstStyle/>
          <a:p>
            <a:endParaRPr lang="en-JP"/>
          </a:p>
        </p:txBody>
      </p:sp>
      <p:sp>
        <p:nvSpPr>
          <p:cNvPr id="22" name="Text 19"/>
          <p:cNvSpPr/>
          <p:nvPr/>
        </p:nvSpPr>
        <p:spPr>
          <a:xfrm>
            <a:off x="6654800" y="2778720"/>
            <a:ext cx="468299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B1F33"/>
                </a:solidFill>
                <a:latin typeface="Calibri" pitchFamily="34" charset="0"/>
                <a:ea typeface="Calibri" pitchFamily="34" charset="-122"/>
                <a:cs typeface="Calibri" pitchFamily="34" charset="-120"/>
              </a:rPr>
              <a:t>I never approve MFA prompts I didn't start</a:t>
            </a:r>
            <a:endParaRPr lang="en-US" sz="1400" dirty="0"/>
          </a:p>
        </p:txBody>
      </p:sp>
      <p:sp>
        <p:nvSpPr>
          <p:cNvPr id="23" name="Shape 20"/>
          <p:cNvSpPr/>
          <p:nvPr/>
        </p:nvSpPr>
        <p:spPr>
          <a:xfrm>
            <a:off x="812800" y="3169890"/>
            <a:ext cx="5283200" cy="533400"/>
          </a:xfrm>
          <a:prstGeom prst="roundRect">
            <a:avLst>
              <a:gd name="adj" fmla="val 19048"/>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24" name="Shape 21"/>
          <p:cNvSpPr/>
          <p:nvPr/>
        </p:nvSpPr>
        <p:spPr>
          <a:xfrm>
            <a:off x="1000125" y="3319115"/>
            <a:ext cx="234950" cy="234950"/>
          </a:xfrm>
          <a:prstGeom prst="roundRect">
            <a:avLst>
              <a:gd name="adj" fmla="val 17568"/>
            </a:avLst>
          </a:prstGeom>
          <a:noFill/>
          <a:ln w="19050">
            <a:solidFill>
              <a:srgbClr val="0078D4"/>
            </a:solidFill>
            <a:prstDash val="solid"/>
          </a:ln>
        </p:spPr>
        <p:txBody>
          <a:bodyPr/>
          <a:lstStyle/>
          <a:p>
            <a:endParaRPr lang="en-JP"/>
          </a:p>
        </p:txBody>
      </p:sp>
      <p:sp>
        <p:nvSpPr>
          <p:cNvPr id="25" name="Text 22"/>
          <p:cNvSpPr/>
          <p:nvPr/>
        </p:nvSpPr>
        <p:spPr>
          <a:xfrm>
            <a:off x="1371600" y="3312120"/>
            <a:ext cx="468299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B1F33"/>
                </a:solidFill>
                <a:latin typeface="Calibri" pitchFamily="34" charset="0"/>
                <a:ea typeface="Calibri" pitchFamily="34" charset="-122"/>
                <a:cs typeface="Calibri" pitchFamily="34" charset="-120"/>
              </a:rPr>
              <a:t>I use only approved apps and storage</a:t>
            </a:r>
            <a:endParaRPr lang="en-US" sz="1400" dirty="0"/>
          </a:p>
        </p:txBody>
      </p:sp>
      <p:sp>
        <p:nvSpPr>
          <p:cNvPr id="26" name="Shape 23"/>
          <p:cNvSpPr/>
          <p:nvPr/>
        </p:nvSpPr>
        <p:spPr>
          <a:xfrm>
            <a:off x="6096000" y="3169890"/>
            <a:ext cx="5283200" cy="533400"/>
          </a:xfrm>
          <a:prstGeom prst="roundRect">
            <a:avLst>
              <a:gd name="adj" fmla="val 19048"/>
            </a:avLst>
          </a:prstGeom>
          <a:solidFill>
            <a:srgbClr val="FFFFFF"/>
          </a:solidFill>
          <a:ln/>
          <a:effectLst>
            <a:outerShdw blurRad="101600" dist="25400" dir="5400000" algn="bl" rotWithShape="0">
              <a:srgbClr val="C9D6E3">
                <a:alpha val="100000"/>
              </a:srgbClr>
            </a:outerShdw>
          </a:effectLst>
        </p:spPr>
        <p:txBody>
          <a:bodyPr/>
          <a:lstStyle/>
          <a:p>
            <a:endParaRPr lang="en-JP"/>
          </a:p>
        </p:txBody>
      </p:sp>
      <p:sp>
        <p:nvSpPr>
          <p:cNvPr id="27" name="Shape 24"/>
          <p:cNvSpPr/>
          <p:nvPr/>
        </p:nvSpPr>
        <p:spPr>
          <a:xfrm>
            <a:off x="6283325" y="3319115"/>
            <a:ext cx="234950" cy="234950"/>
          </a:xfrm>
          <a:prstGeom prst="roundRect">
            <a:avLst>
              <a:gd name="adj" fmla="val 17568"/>
            </a:avLst>
          </a:prstGeom>
          <a:noFill/>
          <a:ln w="19050">
            <a:solidFill>
              <a:srgbClr val="0078D4"/>
            </a:solidFill>
            <a:prstDash val="solid"/>
          </a:ln>
        </p:spPr>
        <p:txBody>
          <a:bodyPr/>
          <a:lstStyle/>
          <a:p>
            <a:endParaRPr lang="en-JP"/>
          </a:p>
        </p:txBody>
      </p:sp>
      <p:sp>
        <p:nvSpPr>
          <p:cNvPr id="28" name="Text 25"/>
          <p:cNvSpPr/>
          <p:nvPr/>
        </p:nvSpPr>
        <p:spPr>
          <a:xfrm>
            <a:off x="6654800" y="3312120"/>
            <a:ext cx="468299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B1F33"/>
                </a:solidFill>
                <a:latin typeface="Calibri" pitchFamily="34" charset="0"/>
                <a:ea typeface="Calibri" pitchFamily="34" charset="-122"/>
                <a:cs typeface="Calibri" pitchFamily="34" charset="-120"/>
              </a:rPr>
              <a:t>I know how to report a problem</a:t>
            </a:r>
            <a:endParaRPr lang="en-US" sz="1400" dirty="0"/>
          </a:p>
        </p:txBody>
      </p:sp>
      <p:sp>
        <p:nvSpPr>
          <p:cNvPr id="29" name="Shape 26"/>
          <p:cNvSpPr/>
          <p:nvPr/>
        </p:nvSpPr>
        <p:spPr>
          <a:xfrm>
            <a:off x="812800" y="3957290"/>
            <a:ext cx="10566400" cy="584200"/>
          </a:xfrm>
          <a:prstGeom prst="roundRect">
            <a:avLst>
              <a:gd name="adj" fmla="val 17391"/>
            </a:avLst>
          </a:prstGeom>
          <a:solidFill>
            <a:srgbClr val="EAF3FC"/>
          </a:solidFill>
          <a:ln/>
        </p:spPr>
        <p:txBody>
          <a:bodyPr/>
          <a:lstStyle/>
          <a:p>
            <a:endParaRPr lang="en-JP"/>
          </a:p>
        </p:txBody>
      </p:sp>
      <p:pic>
        <p:nvPicPr>
          <p:cNvPr id="30" name="Image 1" descr="check icon"/>
          <p:cNvPicPr>
            <a:picLocks noChangeAspect="1"/>
          </p:cNvPicPr>
          <p:nvPr/>
        </p:nvPicPr>
        <p:blipFill>
          <a:blip r:embed="rId4"/>
          <a:srcRect/>
          <a:stretch/>
        </p:blipFill>
        <p:spPr>
          <a:xfrm>
            <a:off x="1016000" y="4109690"/>
            <a:ext cx="279400" cy="279400"/>
          </a:xfrm>
          <a:prstGeom prst="rect">
            <a:avLst/>
          </a:prstGeom>
        </p:spPr>
      </p:pic>
      <p:sp>
        <p:nvSpPr>
          <p:cNvPr id="31" name="Text 27"/>
          <p:cNvSpPr/>
          <p:nvPr/>
        </p:nvSpPr>
        <p:spPr>
          <a:xfrm>
            <a:off x="1447800" y="4124920"/>
            <a:ext cx="10020046"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B1F33"/>
                </a:solidFill>
                <a:latin typeface="Calibri" pitchFamily="34" charset="0"/>
                <a:ea typeface="Calibri" pitchFamily="34" charset="-122"/>
                <a:cs typeface="Calibri" pitchFamily="34" charset="-120"/>
              </a:rPr>
              <a:t>Missed any? </a:t>
            </a:r>
            <a:r>
              <a:rPr lang="en-US" sz="1400" b="1" dirty="0">
                <a:solidFill>
                  <a:srgbClr val="0078D4"/>
                </a:solidFill>
                <a:latin typeface="Calibri" pitchFamily="34" charset="0"/>
                <a:ea typeface="Calibri" pitchFamily="34" charset="-122"/>
                <a:cs typeface="Calibri" pitchFamily="34" charset="-120"/>
              </a:rPr>
              <a:t>Pick one habit and start it today.</a:t>
            </a:r>
            <a:endParaRPr lang="en-US" sz="1400" dirty="0"/>
          </a:p>
        </p:txBody>
      </p:sp>
      <p:sp>
        <p:nvSpPr>
          <p:cNvPr id="32" name="Text 28"/>
          <p:cNvSpPr/>
          <p:nvPr/>
        </p:nvSpPr>
        <p:spPr>
          <a:xfrm>
            <a:off x="812800" y="6238280"/>
            <a:ext cx="91567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A6B"/>
                </a:solidFill>
                <a:latin typeface="Calibri" pitchFamily="34" charset="0"/>
                <a:ea typeface="Calibri" pitchFamily="34" charset="-122"/>
                <a:cs typeface="Calibri" pitchFamily="34" charset="-120"/>
              </a:rPr>
              <a:t>ZNexora Tech</a:t>
            </a:r>
            <a:endParaRPr lang="en-US" sz="1200" dirty="0"/>
          </a:p>
        </p:txBody>
      </p:sp>
      <p:sp>
        <p:nvSpPr>
          <p:cNvPr id="33" name="Text 29"/>
          <p:cNvSpPr/>
          <p:nvPr/>
        </p:nvSpPr>
        <p:spPr>
          <a:xfrm>
            <a:off x="9855200" y="6238280"/>
            <a:ext cx="15240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4A5A6B"/>
                </a:solidFill>
                <a:latin typeface="Calibri" pitchFamily="34" charset="0"/>
                <a:ea typeface="Calibri" pitchFamily="34" charset="-122"/>
                <a:cs typeface="Calibri" pitchFamily="34" charset="-120"/>
              </a:rPr>
              <a:t>ZNexora Tech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a:effectLst/>
      </p:bgPr>
    </p:bg>
    <p:spTree>
      <p:nvGrpSpPr>
        <p:cNvPr id="1" name=""/>
        <p:cNvGrpSpPr/>
        <p:nvPr/>
      </p:nvGrpSpPr>
      <p:grpSpPr>
        <a:xfrm>
          <a:off x="0" y="0"/>
          <a:ext cx="0" cy="0"/>
          <a:chOff x="0" y="0"/>
          <a:chExt cx="0" cy="0"/>
        </a:xfrm>
      </p:grpSpPr>
      <p:pic>
        <p:nvPicPr>
          <p:cNvPr id="2" name="Image 0" descr="ZNexora Tech logo"/>
          <p:cNvPicPr>
            <a:picLocks noChangeAspect="1"/>
          </p:cNvPicPr>
          <p:nvPr/>
        </p:nvPicPr>
        <p:blipFill>
          <a:blip r:embed="rId3"/>
          <a:srcRect l="-106" r="-106"/>
          <a:stretch/>
        </p:blipFill>
        <p:spPr>
          <a:xfrm>
            <a:off x="10414000" y="114300"/>
            <a:ext cx="1473200" cy="762000"/>
          </a:xfrm>
          <a:prstGeom prst="rect">
            <a:avLst/>
          </a:prstGeom>
        </p:spPr>
      </p:pic>
      <p:pic>
        <p:nvPicPr>
          <p:cNvPr id="3" name="Image 1" descr="rect"/>
          <p:cNvPicPr>
            <a:picLocks noChangeAspect="1"/>
          </p:cNvPicPr>
          <p:nvPr/>
        </p:nvPicPr>
        <p:blipFill>
          <a:blip r:embed="rId4"/>
          <a:srcRect/>
          <a:stretch/>
        </p:blipFill>
        <p:spPr>
          <a:xfrm>
            <a:off x="0" y="0"/>
            <a:ext cx="152400" cy="6858000"/>
          </a:xfrm>
          <a:prstGeom prst="rect">
            <a:avLst/>
          </a:prstGeom>
        </p:spPr>
      </p:pic>
      <p:pic>
        <p:nvPicPr>
          <p:cNvPr id="4" name="Image 2" descr="Shield with a check mark"/>
          <p:cNvPicPr>
            <a:picLocks noChangeAspect="1"/>
          </p:cNvPicPr>
          <p:nvPr/>
        </p:nvPicPr>
        <p:blipFill>
          <a:blip r:embed="rId5"/>
          <a:srcRect/>
          <a:stretch/>
        </p:blipFill>
        <p:spPr>
          <a:xfrm>
            <a:off x="8001000" y="1524000"/>
            <a:ext cx="3556000" cy="3810000"/>
          </a:xfrm>
          <a:prstGeom prst="rect">
            <a:avLst/>
          </a:prstGeom>
        </p:spPr>
      </p:pic>
      <p:sp>
        <p:nvSpPr>
          <p:cNvPr id="5" name="Text 0"/>
          <p:cNvSpPr/>
          <p:nvPr/>
        </p:nvSpPr>
        <p:spPr>
          <a:xfrm>
            <a:off x="812800" y="191011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00B7C3"/>
                </a:solidFill>
                <a:latin typeface="Calibri" pitchFamily="34" charset="0"/>
                <a:ea typeface="Calibri" pitchFamily="34" charset="-122"/>
                <a:cs typeface="Calibri" pitchFamily="34" charset="-120"/>
              </a:rPr>
              <a:t>QUESTIONS AND DISCUSSION</a:t>
            </a:r>
            <a:endParaRPr lang="en-US" sz="1400" dirty="0"/>
          </a:p>
        </p:txBody>
      </p:sp>
      <p:sp>
        <p:nvSpPr>
          <p:cNvPr id="6" name="Text 1"/>
          <p:cNvSpPr>
            <a:spLocks noGrp="1"/>
          </p:cNvSpPr>
          <p:nvPr>
            <p:ph type="title"/>
          </p:nvPr>
        </p:nvSpPr>
        <p:spPr>
          <a:xfrm>
            <a:off x="812800" y="2413000"/>
            <a:ext cx="6932930" cy="1412180"/>
          </a:xfrm>
          <a:prstGeom prst="rect">
            <a:avLst/>
          </a:prstGeom>
          <a:noFill/>
          <a:ln/>
        </p:spPr>
        <p:txBody>
          <a:bodyPr wrap="square" lIns="0" tIns="0" rIns="0" bIns="0" rtlCol="0" anchor="t">
            <a:normAutofit/>
          </a:bodyPr>
          <a:lstStyle/>
          <a:p>
            <a:pPr marL="0" indent="0" algn="l">
              <a:lnSpc>
                <a:spcPts val="5460"/>
              </a:lnSpc>
              <a:buNone/>
            </a:pPr>
            <a:r>
              <a:rPr lang="en-US" sz="5200" b="1" i="0" dirty="0">
                <a:solidFill>
                  <a:srgbClr val="FFFFFF"/>
                </a:solidFill>
                <a:latin typeface="Arial" pitchFamily="34" charset="0"/>
                <a:ea typeface="Arial" pitchFamily="34" charset="-122"/>
                <a:cs typeface="Arial" pitchFamily="34" charset="-120"/>
              </a:rPr>
              <a:t>Small habits. Big protection.</a:t>
            </a:r>
            <a:endParaRPr lang="en-US" sz="5200" dirty="0"/>
          </a:p>
        </p:txBody>
      </p:sp>
      <p:sp>
        <p:nvSpPr>
          <p:cNvPr id="7" name="Text 2"/>
          <p:cNvSpPr/>
          <p:nvPr/>
        </p:nvSpPr>
        <p:spPr>
          <a:xfrm>
            <a:off x="812800" y="4053780"/>
            <a:ext cx="6540500" cy="3810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CADCFC"/>
                </a:solidFill>
                <a:latin typeface="Calibri" pitchFamily="34" charset="0"/>
                <a:ea typeface="Calibri" pitchFamily="34" charset="-122"/>
                <a:cs typeface="Calibri" pitchFamily="34" charset="-120"/>
              </a:rPr>
              <a:t>Update. Lock. Back up. Keep it clean. Start today.</a:t>
            </a:r>
            <a:endParaRPr lang="en-US" sz="2000" dirty="0"/>
          </a:p>
        </p:txBody>
      </p:sp>
      <p:sp>
        <p:nvSpPr>
          <p:cNvPr id="8" name="Text 3"/>
          <p:cNvSpPr/>
          <p:nvPr/>
        </p:nvSpPr>
        <p:spPr>
          <a:xfrm>
            <a:off x="812800" y="466338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9FB3C8"/>
                </a:solidFill>
                <a:latin typeface="Calibri" pitchFamily="34" charset="0"/>
                <a:ea typeface="Calibri" pitchFamily="34" charset="-122"/>
                <a:cs typeface="Calibri" pitchFamily="34" charset="-120"/>
              </a:rPr>
              <a:t>Thank you · Presented by ZNexora Tech</a:t>
            </a:r>
            <a:endParaRPr lang="en-US" sz="1600" dirty="0"/>
          </a:p>
        </p:txBody>
      </p:sp>
    </p:spTree>
  </p:cSld>
  <p:clrMapOvr>
    <a:masterClrMapping/>
  </p:clrMapOvr>
</p:sld>
</file>

<file path=ppt/theme/theme1.xml><?xml version="1.0" encoding="utf-8"?>
<a:theme xmlns:a="http://schemas.openxmlformats.org/drawingml/2006/main" name="Cyber Hygiene: Small Habits, Big Protection">
  <a:themeElements>
    <a:clrScheme name="Cyber Hygiene: Small Habits, Big Protection">
      <a:dk1>
        <a:srgbClr val="0B1F33"/>
      </a:dk1>
      <a:lt1>
        <a:srgbClr val="F4F7FB"/>
      </a:lt1>
      <a:dk2>
        <a:srgbClr val="455565"/>
      </a:dk2>
      <a:lt2>
        <a:srgbClr val="DDE1E7"/>
      </a:lt2>
      <a:accent1>
        <a:srgbClr val="0078D4"/>
      </a:accent1>
      <a:accent2>
        <a:srgbClr val="00B7C3"/>
      </a:accent2>
      <a:accent3>
        <a:srgbClr val="CADCFC"/>
      </a:accent3>
      <a:accent4>
        <a:srgbClr val="9FB3C8"/>
      </a:accent4>
      <a:accent5>
        <a:srgbClr val="FF9A5C"/>
      </a:accent5>
      <a:accent6>
        <a:srgbClr val="F7630C"/>
      </a:accent6>
      <a:hlink>
        <a:srgbClr val="0563C1"/>
      </a:hlink>
      <a:folHlink>
        <a:srgbClr val="954F72"/>
      </a:folHlink>
    </a:clrScheme>
    <a:fontScheme name="Cyber Hygiene: Small Habits, Big Protection">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2299</Words>
  <Application>Microsoft Macintosh PowerPoint</Application>
  <PresentationFormat>Widescreen</PresentationFormat>
  <Paragraphs>185</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Cyber Hygiene: Small Habits, Big Protection</vt:lpstr>
      <vt:lpstr>Cyber Hygiene</vt:lpstr>
      <vt:lpstr>Personal hygiene for your digital life</vt:lpstr>
      <vt:lpstr>Most attacks exploit the basics</vt:lpstr>
      <vt:lpstr>Eight habits that make the difference</vt:lpstr>
      <vt:lpstr>Install updates promptly</vt:lpstr>
      <vt:lpstr>Lock it when you leave it</vt:lpstr>
      <vt:lpstr>Back up so you can bounce back</vt:lpstr>
      <vt:lpstr>Keep a clean desk and clear screen</vt:lpstr>
      <vt:lpstr>Four more habits, in brief</vt:lpstr>
      <vt:lpstr>Your daily cyber hygiene routine</vt:lpstr>
      <vt:lpstr>How healthy is your cyber hygiene?</vt:lpstr>
      <vt:lpstr>Small habits. Big protection.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Hygiene: Small Habits, Big Protection</dc:title>
  <dc:subject/>
  <dc:creator/>
  <cp:lastModifiedBy>ZIN MAR LWIN</cp:lastModifiedBy>
  <cp:revision>2</cp:revision>
  <dcterms:created xsi:type="dcterms:W3CDTF">2026-10-18T12:58:58Z</dcterms:created>
  <dcterms:modified xsi:type="dcterms:W3CDTF">2026-10-21T13:35:39Z</dcterms:modified>
</cp:coreProperties>
</file>