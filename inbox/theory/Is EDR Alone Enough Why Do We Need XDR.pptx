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Inter" panose="02000503000000020004" pitchFamily="2" charset="0"/>
      <p:regular r:id="rId16"/>
      <p:bold r:id="rId17"/>
      <p:italic r:id="rId18"/>
      <p:boldItalic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615"/>
  </p:normalViewPr>
  <p:slideViewPr>
    <p:cSldViewPr snapToGrid="0" snapToObjects="1">
      <p:cViewPr varScale="1">
        <p:scale>
          <a:sx n="107" d="100"/>
          <a:sy n="107" d="100"/>
        </p:scale>
        <p:origin x="92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503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joining. Today I want to answer a question I hear often from organizations: if we have EDR, are we protected? EDR has become one of the most popular security investments, and for good reason. But modern attacks rarely stay in one place. Over the next ten minutes, I'll explain what EDR does well, where its visibility ends, why XDR has become important, and how both fit into a bigger strategy called Defense in Depth.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First, a quick look at what EDR actually does. Second, the honest answer to whether EDR alone is enough. Third, why XDR has become so important. And finally, how everything fits together in a layered security strategy. Whether you're new to cybersecurity or already working in a SOC, I hope you'll leave with a clearer picture of where each tool belongs.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 stands for Endpoint Detection and Response. Endpoints are the devices connected to our environment: laptops, desktops, servers and mobile devices. EDR works through a lightweight agent installed on each device. That agent monitors activity such as processes, file changes and network connections, and sends it to a central console. From there, EDR detects suspicious behavior and lets the team respond, for example by isolating an infected laptop. One quick clarification: an EDR agent is not spyware. Its only purpose is legitimate security monitoring. And if a device temporarily loses connection, many products keep protecting it locally. (About 50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 can be deployed in two main ways. On-premises means the management server sits in your own office or data center. You get direct control over the infrastructure and the data, but you also own the hardware, patching, backups and availability. Remote devices usually need a VPN to report in. Cloud-based EDR is hosted by the vendor. It's easier to scale and makes it simple to manage devices anywhere in the world. But it's not automatically cheaper. You still pay subscriptions, and you must think about data residency and compliance. The right choice depends on your requirements, regulations, team and budget. (About 50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is EDR alone enough? The honest answer is no. EDR is critical, but its visibility is limited to the devices it protects. Real attacks don't stay on one laptop. They arrive by email, steal identities, move across the network and reach into cloud services. When an incident happens, the security team needs to answer: where did the attack start? Which accounts were compromised? Which systems were accessed? How did the attacker move? EDR alone can't answer all of those questions. And what a security team cannot see, it cannot defend. (About 45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sums up the problem. On the left is EDR. It has deep visibility into the endpoint, but email, identity, network, cloud and applications are outside its view. On the right is XDR. XDR keeps the endpoint data, but it also brings in data from all those other domains and connects the events together. Important point: XDR does not replace EDR. It extends visibility beyond the endpoint.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Defense in Depth comes in. Think of an onion with layers around the core. If one layer fails, the others still prevent, detect or limit the attack. Layer one is policies and people: training, awareness and clear procedures. Layer two is the perimeter: firewalls, IDS and IPS, and email gateways. Layer three is the internal network: segmentation and Zero Trust, so one compromised device can't reach everything. Layer four, in orange, is the endpoint. This is where EDR lives. Then application security, and finally data security: encryption, DLP and backups. Notice that EDR is just one of six layers. This is an illustrative model, and organizations may structure it differently. (About 60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XDR concrete with a phishing attack. A malicious email lands in several inboxes. One employee opens the attachment, and the malicious code runs. This is the step EDR catches, highlighted in orange. But the attack doesn't stop there. Credentials are stolen, an account is compromised, and the attacker moves to other systems. EDR alone can't tell us whether other employees got the same email, or whether the attacker used the stolen account elsewhere. XDR correlates email, endpoint, identity and network events into one incident, so analysts see the whole attack chain. One caveat: XDR only sees what is connected to it, so integrations matter. (About 60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XDR brings four main benefits. First, cross-layer visibility: one view across endpoints, email, identities, networks and cloud. Second, correlation: instead of investigating dozens of separate alerts, analysts see related events as a single incident. Third, automated response: XDR can isolate a device or disable a compromised account quickly. But automation needs careful tuning, because a false positive can disrupt the business. Fourth, less operational complexity: analysts don't have to jump between many consoles. Still, XDR doesn't remove the need for every other tool. Some specialized solutions remain necessary. (About 50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XDR is not magic, and it has trade-offs. First, vendor lock-in. It's like the Apple ecosystem: an iPhone, iPad and Apple Watch work beautifully together, but switching away is hard. Before committing, check interoperability, data portability and exit terms. Second, integration limits. Some third-party tools share only limited data or support limited response actions, so verify the integrations you need before you buy. Third, cost and licensing. Look beyond the first price at licensing tiers, data ingestion limits and add-ons. Saving money is fine, as long as it doesn't create security gaps. (About 50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share a Burmese proverb: a snail that tries to imitate a frog's leap may end up stranded in the pond. In cybersecurity, this happens when organizations buy whatever is popular without assessing their own needs. Assuming EDR alone protects everything, or that a firewall alone secures every application, leaves gaps. Security decisions should be based on risk assessments, business priorities, existing capabilities and available resources, not on trends.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it all together: cybersecurity can't be achieved simply by buying and deploying products. EDR is critical for endpoint protection. XDR improves visibility, correlation and coordinated response across domains. But neither is a complete solution on its own. Real security needs three things. Technology: the right controls across every layer. People: skilled professionals who configure the tools, investigate alerts and respond. Organizations should also clearly define the different but complementary roles of Cybersecurity Engineers and Cybersecurity Analysts. And strategy: a Defense in Depth approach based on real risk, with continuous monitoring and improvement. (About 50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 hope this helps, whether you're beginning your cybersecurity journey or strengthening your understanding of EDR, XDR and Defense in Depth. I'm happy to take any questions. (About 15 seconds, then Q and 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B1F3A"/>
                </a:solidFill>
                <a:latin typeface="Inter" pitchFamily="34" charset="0"/>
                <a:ea typeface="Inter" pitchFamily="34" charset="-122"/>
                <a:cs typeface="Inter"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38561"/>
            <a:ext cx="10566400" cy="3906639"/>
          </a:xfrm>
          <a:prstGeom prst="rect">
            <a:avLst/>
          </a:prstGeom>
          <a:noFill/>
          <a:ln/>
        </p:spPr>
        <p:txBody>
          <a:bodyPr wrap="square" lIns="0" tIns="0" rIns="0" bIns="0" rtlCol="0" anchor="t"/>
          <a:lstStyle>
            <a:lvl1pPr marL="0" indent="0" algn="l">
              <a:lnSpc>
                <a:spcPct val="140000"/>
              </a:lnSpc>
              <a:buNone/>
              <a:defRPr lang="en-US" sz="1600" dirty="0">
                <a:solidFill>
                  <a:srgbClr val="0B1F3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B1F3A"/>
                </a:solidFill>
                <a:latin typeface="Inter" pitchFamily="34" charset="0"/>
                <a:ea typeface="Inter" pitchFamily="34" charset="-122"/>
                <a:cs typeface="Inter"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38561"/>
            <a:ext cx="10566400" cy="3906639"/>
          </a:xfrm>
          <a:prstGeom prst="rect">
            <a:avLst/>
          </a:prstGeom>
          <a:noFill/>
          <a:ln/>
        </p:spPr>
        <p:txBody>
          <a:bodyPr wrap="square" lIns="0" tIns="0" rIns="0" bIns="0" rtlCol="0" anchor="t"/>
          <a:lstStyle>
            <a:lvl1pPr marL="0" indent="0" algn="l">
              <a:lnSpc>
                <a:spcPct val="140000"/>
              </a:lnSpc>
              <a:buNone/>
              <a:defRPr lang="en-US" sz="1600" dirty="0">
                <a:solidFill>
                  <a:srgbClr val="0B1F3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1F3A"/>
              </a:gs>
              <a:gs pos="60000">
                <a:srgbClr val="12386B"/>
              </a:gs>
              <a:gs pos="100000">
                <a:srgbClr val="1F6FD1"/>
              </a:gs>
            </a:gsLst>
            <a:lin ang="1800000" scaled="0"/>
          </a:gradFill>
          <a:ln/>
        </p:spPr>
        <p:txBody>
          <a:bodyPr/>
          <a:lstStyle/>
          <a:p>
            <a:endParaRPr lang="en-JP"/>
          </a:p>
        </p:txBody>
      </p:sp>
      <p:pic>
        <p:nvPicPr>
          <p:cNvPr id="3" name="Image 0" descr="Trust"/>
          <p:cNvPicPr>
            <a:picLocks noChangeAspect="1"/>
          </p:cNvPicPr>
          <p:nvPr/>
        </p:nvPicPr>
        <p:blipFill>
          <a:blip r:embed="rId3"/>
          <a:srcRect/>
          <a:stretch/>
        </p:blipFill>
        <p:spPr>
          <a:xfrm>
            <a:off x="9144000" y="2159000"/>
            <a:ext cx="2032000" cy="2032000"/>
          </a:xfrm>
          <a:prstGeom prst="rect">
            <a:avLst/>
          </a:prstGeom>
        </p:spPr>
      </p:pic>
      <p:sp>
        <p:nvSpPr>
          <p:cNvPr id="4" name="Text 1"/>
          <p:cNvSpPr/>
          <p:nvPr/>
        </p:nvSpPr>
        <p:spPr>
          <a:xfrm>
            <a:off x="812800" y="119568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9CC3EE"/>
                </a:solidFill>
                <a:latin typeface="Inter" pitchFamily="34" charset="0"/>
                <a:ea typeface="Inter" pitchFamily="34" charset="-122"/>
                <a:cs typeface="Inter" pitchFamily="34" charset="-120"/>
              </a:rPr>
              <a:t>CYBERSECURITY INSIGHTS</a:t>
            </a:r>
            <a:endParaRPr lang="en-US" sz="1400" dirty="0"/>
          </a:p>
        </p:txBody>
      </p:sp>
      <p:sp>
        <p:nvSpPr>
          <p:cNvPr id="5" name="Text 2"/>
          <p:cNvSpPr>
            <a:spLocks noGrp="1"/>
          </p:cNvSpPr>
          <p:nvPr>
            <p:ph type="title"/>
          </p:nvPr>
        </p:nvSpPr>
        <p:spPr>
          <a:xfrm>
            <a:off x="812800" y="1698526"/>
            <a:ext cx="7848600" cy="3097609"/>
          </a:xfrm>
          <a:prstGeom prst="rect">
            <a:avLst/>
          </a:prstGeom>
          <a:noFill/>
          <a:ln/>
        </p:spPr>
        <p:txBody>
          <a:bodyPr wrap="square" lIns="0" tIns="0" rIns="0" bIns="0" rtlCol="0" anchor="t">
            <a:normAutofit/>
          </a:bodyPr>
          <a:lstStyle/>
          <a:p>
            <a:pPr marL="0" indent="0" algn="l">
              <a:lnSpc>
                <a:spcPts val="6048"/>
              </a:lnSpc>
              <a:buNone/>
            </a:pPr>
            <a:r>
              <a:rPr lang="en-US" sz="5600" b="1" i="0" dirty="0">
                <a:solidFill>
                  <a:srgbClr val="F5F7FA"/>
                </a:solidFill>
                <a:latin typeface="Inter" pitchFamily="34" charset="0"/>
                <a:ea typeface="Inter" pitchFamily="34" charset="-122"/>
                <a:cs typeface="Inter" pitchFamily="34" charset="-120"/>
              </a:rPr>
              <a:t>Is EDR Alone Enough?</a:t>
            </a:r>
            <a:endParaRPr lang="en-US" sz="5600" dirty="0"/>
          </a:p>
          <a:p>
            <a:pPr marL="0" indent="0" algn="l">
              <a:lnSpc>
                <a:spcPts val="6048"/>
              </a:lnSpc>
              <a:buNone/>
            </a:pPr>
            <a:r>
              <a:rPr lang="en-US" sz="5600" b="1" i="0" dirty="0">
                <a:solidFill>
                  <a:srgbClr val="F5F7FA"/>
                </a:solidFill>
                <a:latin typeface="Inter" pitchFamily="34" charset="0"/>
                <a:ea typeface="Inter" pitchFamily="34" charset="-122"/>
                <a:cs typeface="Inter" pitchFamily="34" charset="-120"/>
              </a:rPr>
              <a:t>Why Do We Need XDR?</a:t>
            </a:r>
            <a:endParaRPr lang="en-US" sz="5600" dirty="0"/>
          </a:p>
        </p:txBody>
      </p:sp>
      <p:sp>
        <p:nvSpPr>
          <p:cNvPr id="6" name="Shape 3"/>
          <p:cNvSpPr/>
          <p:nvPr/>
        </p:nvSpPr>
        <p:spPr>
          <a:xfrm>
            <a:off x="812800" y="5024735"/>
            <a:ext cx="1143000" cy="63500"/>
          </a:xfrm>
          <a:prstGeom prst="roundRect">
            <a:avLst>
              <a:gd name="adj" fmla="val 50000"/>
            </a:avLst>
          </a:prstGeom>
          <a:solidFill>
            <a:srgbClr val="F59E0B"/>
          </a:solidFill>
          <a:ln/>
        </p:spPr>
        <p:txBody>
          <a:bodyPr/>
          <a:lstStyle/>
          <a:p>
            <a:endParaRPr lang="en-JP"/>
          </a:p>
        </p:txBody>
      </p:sp>
      <p:sp>
        <p:nvSpPr>
          <p:cNvPr id="7" name="Text 4"/>
          <p:cNvSpPr/>
          <p:nvPr/>
        </p:nvSpPr>
        <p:spPr>
          <a:xfrm>
            <a:off x="812800" y="5342235"/>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DCE9F8"/>
                </a:solidFill>
                <a:latin typeface="Inter" pitchFamily="34" charset="0"/>
                <a:ea typeface="Inter" pitchFamily="34" charset="-122"/>
                <a:cs typeface="Inter" pitchFamily="34" charset="-120"/>
              </a:rPr>
              <a:t>EDR · XDR · Defense in Depth</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6FD1"/>
                </a:solidFill>
                <a:latin typeface="Inter" pitchFamily="34" charset="0"/>
                <a:ea typeface="Inter" pitchFamily="34" charset="-122"/>
                <a:cs typeface="Inter" pitchFamily="34" charset="-120"/>
              </a:rPr>
              <a:t>TODAY'S AGENDA</a:t>
            </a:r>
            <a:endParaRPr lang="en-US" sz="1200" dirty="0"/>
          </a:p>
        </p:txBody>
      </p:sp>
      <p:sp>
        <p:nvSpPr>
          <p:cNvPr id="3" name="Text 1"/>
          <p:cNvSpPr>
            <a:spLocks noGrp="1"/>
          </p:cNvSpPr>
          <p:nvPr>
            <p:ph type="title"/>
          </p:nvPr>
        </p:nvSpPr>
        <p:spPr>
          <a:xfrm>
            <a:off x="812800" y="1381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Four questions in ten minutes</a:t>
            </a:r>
            <a:endParaRPr lang="en-US" sz="3600" dirty="0"/>
          </a:p>
        </p:txBody>
      </p:sp>
      <p:sp>
        <p:nvSpPr>
          <p:cNvPr id="4" name="Shape 2"/>
          <p:cNvSpPr/>
          <p:nvPr/>
        </p:nvSpPr>
        <p:spPr>
          <a:xfrm>
            <a:off x="812800" y="2240161"/>
            <a:ext cx="5181600" cy="1102320"/>
          </a:xfrm>
          <a:prstGeom prst="roundRect">
            <a:avLst>
              <a:gd name="adj" fmla="val 6913"/>
            </a:avLst>
          </a:prstGeom>
          <a:solidFill>
            <a:srgbClr val="FFFFFF"/>
          </a:solidFill>
          <a:ln/>
        </p:spPr>
        <p:txBody>
          <a:bodyPr/>
          <a:lstStyle/>
          <a:p>
            <a:endParaRPr lang="en-JP"/>
          </a:p>
        </p:txBody>
      </p:sp>
      <p:sp>
        <p:nvSpPr>
          <p:cNvPr id="5" name="Shape 3"/>
          <p:cNvSpPr/>
          <p:nvPr/>
        </p:nvSpPr>
        <p:spPr>
          <a:xfrm>
            <a:off x="812800" y="2240161"/>
            <a:ext cx="5181600" cy="1102320"/>
          </a:xfrm>
          <a:custGeom>
            <a:avLst/>
            <a:gdLst/>
            <a:ahLst/>
            <a:cxnLst/>
            <a:rect l="l" t="t" r="r" b="b"/>
            <a:pathLst>
              <a:path w="5181600" h="1102320">
                <a:moveTo>
                  <a:pt x="76200" y="1102320"/>
                </a:moveTo>
                <a:lnTo>
                  <a:pt x="76200" y="1102320"/>
                </a:lnTo>
                <a:arcTo wR="76200" hR="76200" stAng="5400000" swAng="5400000"/>
                <a:lnTo>
                  <a:pt x="0" y="76200"/>
                </a:lnTo>
                <a:arcTo wR="76200" hR="76200" stAng="10800000" swAng="5400000"/>
                <a:lnTo>
                  <a:pt x="76200" y="0"/>
                </a:lnTo>
                <a:arcTo wR="25400" hR="76200" stAng="16200000" swAng="-5400000"/>
                <a:lnTo>
                  <a:pt x="50800" y="1026120"/>
                </a:lnTo>
                <a:arcTo wR="25400" hR="76200" stAng="10800000" swAng="-5400000"/>
                <a:close/>
              </a:path>
            </a:pathLst>
          </a:custGeom>
          <a:solidFill>
            <a:srgbClr val="1F6FD1"/>
          </a:solidFill>
          <a:ln/>
        </p:spPr>
        <p:txBody>
          <a:bodyPr/>
          <a:lstStyle/>
          <a:p>
            <a:endParaRPr lang="en-JP"/>
          </a:p>
        </p:txBody>
      </p:sp>
      <p:sp>
        <p:nvSpPr>
          <p:cNvPr id="6" name="Text 4"/>
          <p:cNvSpPr/>
          <p:nvPr/>
        </p:nvSpPr>
        <p:spPr>
          <a:xfrm>
            <a:off x="1117600" y="2494161"/>
            <a:ext cx="47614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6FD1"/>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1117600" y="2783681"/>
            <a:ext cx="476148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What does EDR do?</a:t>
            </a:r>
            <a:endParaRPr lang="en-US" sz="2000" dirty="0"/>
          </a:p>
        </p:txBody>
      </p:sp>
      <p:sp>
        <p:nvSpPr>
          <p:cNvPr id="8" name="Shape 6"/>
          <p:cNvSpPr/>
          <p:nvPr/>
        </p:nvSpPr>
        <p:spPr>
          <a:xfrm>
            <a:off x="6197600" y="2240161"/>
            <a:ext cx="5181600" cy="1102320"/>
          </a:xfrm>
          <a:prstGeom prst="roundRect">
            <a:avLst>
              <a:gd name="adj" fmla="val 6913"/>
            </a:avLst>
          </a:prstGeom>
          <a:solidFill>
            <a:srgbClr val="FFFFFF"/>
          </a:solidFill>
          <a:ln/>
        </p:spPr>
        <p:txBody>
          <a:bodyPr/>
          <a:lstStyle/>
          <a:p>
            <a:endParaRPr lang="en-JP"/>
          </a:p>
        </p:txBody>
      </p:sp>
      <p:sp>
        <p:nvSpPr>
          <p:cNvPr id="9" name="Shape 7"/>
          <p:cNvSpPr/>
          <p:nvPr/>
        </p:nvSpPr>
        <p:spPr>
          <a:xfrm>
            <a:off x="6197600" y="2240161"/>
            <a:ext cx="5181600" cy="1102320"/>
          </a:xfrm>
          <a:custGeom>
            <a:avLst/>
            <a:gdLst/>
            <a:ahLst/>
            <a:cxnLst/>
            <a:rect l="l" t="t" r="r" b="b"/>
            <a:pathLst>
              <a:path w="5181600" h="1102320">
                <a:moveTo>
                  <a:pt x="76200" y="1102320"/>
                </a:moveTo>
                <a:lnTo>
                  <a:pt x="76200" y="1102320"/>
                </a:lnTo>
                <a:arcTo wR="76200" hR="76200" stAng="5400000" swAng="5400000"/>
                <a:lnTo>
                  <a:pt x="0" y="76200"/>
                </a:lnTo>
                <a:arcTo wR="76200" hR="76200" stAng="10800000" swAng="5400000"/>
                <a:lnTo>
                  <a:pt x="76200" y="0"/>
                </a:lnTo>
                <a:arcTo wR="25400" hR="76200" stAng="16200000" swAng="-5400000"/>
                <a:lnTo>
                  <a:pt x="50800" y="1026120"/>
                </a:lnTo>
                <a:arcTo wR="25400" hR="76200" stAng="10800000" swAng="-5400000"/>
                <a:close/>
              </a:path>
            </a:pathLst>
          </a:custGeom>
          <a:solidFill>
            <a:srgbClr val="1F6FD1"/>
          </a:solidFill>
          <a:ln/>
        </p:spPr>
        <p:txBody>
          <a:bodyPr/>
          <a:lstStyle/>
          <a:p>
            <a:endParaRPr lang="en-JP"/>
          </a:p>
        </p:txBody>
      </p:sp>
      <p:sp>
        <p:nvSpPr>
          <p:cNvPr id="10" name="Text 8"/>
          <p:cNvSpPr/>
          <p:nvPr/>
        </p:nvSpPr>
        <p:spPr>
          <a:xfrm>
            <a:off x="6502400" y="2494161"/>
            <a:ext cx="47614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6FD1"/>
                </a:solidFill>
                <a:latin typeface="Inter" pitchFamily="34" charset="0"/>
                <a:ea typeface="Inter" pitchFamily="34" charset="-122"/>
                <a:cs typeface="Inter" pitchFamily="34" charset="-120"/>
              </a:rPr>
              <a:t>02</a:t>
            </a:r>
            <a:endParaRPr lang="en-US" sz="1200" dirty="0"/>
          </a:p>
        </p:txBody>
      </p:sp>
      <p:sp>
        <p:nvSpPr>
          <p:cNvPr id="11" name="Text 9"/>
          <p:cNvSpPr/>
          <p:nvPr/>
        </p:nvSpPr>
        <p:spPr>
          <a:xfrm>
            <a:off x="6502400" y="2783681"/>
            <a:ext cx="476148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Is EDR alone enough?</a:t>
            </a:r>
            <a:endParaRPr lang="en-US" sz="2000" dirty="0"/>
          </a:p>
        </p:txBody>
      </p:sp>
      <p:sp>
        <p:nvSpPr>
          <p:cNvPr id="12" name="Shape 10"/>
          <p:cNvSpPr/>
          <p:nvPr/>
        </p:nvSpPr>
        <p:spPr>
          <a:xfrm>
            <a:off x="812800" y="3545681"/>
            <a:ext cx="5181600" cy="1102320"/>
          </a:xfrm>
          <a:prstGeom prst="roundRect">
            <a:avLst>
              <a:gd name="adj" fmla="val 6913"/>
            </a:avLst>
          </a:prstGeom>
          <a:solidFill>
            <a:srgbClr val="FFFFFF"/>
          </a:solidFill>
          <a:ln/>
        </p:spPr>
        <p:txBody>
          <a:bodyPr/>
          <a:lstStyle/>
          <a:p>
            <a:endParaRPr lang="en-JP"/>
          </a:p>
        </p:txBody>
      </p:sp>
      <p:sp>
        <p:nvSpPr>
          <p:cNvPr id="13" name="Shape 11"/>
          <p:cNvSpPr/>
          <p:nvPr/>
        </p:nvSpPr>
        <p:spPr>
          <a:xfrm>
            <a:off x="812800" y="3545681"/>
            <a:ext cx="5181600" cy="1102320"/>
          </a:xfrm>
          <a:custGeom>
            <a:avLst/>
            <a:gdLst/>
            <a:ahLst/>
            <a:cxnLst/>
            <a:rect l="l" t="t" r="r" b="b"/>
            <a:pathLst>
              <a:path w="5181600" h="1102320">
                <a:moveTo>
                  <a:pt x="76200" y="1102320"/>
                </a:moveTo>
                <a:lnTo>
                  <a:pt x="76200" y="1102320"/>
                </a:lnTo>
                <a:arcTo wR="76200" hR="76200" stAng="5400000" swAng="5400000"/>
                <a:lnTo>
                  <a:pt x="0" y="76200"/>
                </a:lnTo>
                <a:arcTo wR="76200" hR="76200" stAng="10800000" swAng="5400000"/>
                <a:lnTo>
                  <a:pt x="76200" y="0"/>
                </a:lnTo>
                <a:arcTo wR="25400" hR="76200" stAng="16200000" swAng="-5400000"/>
                <a:lnTo>
                  <a:pt x="50800" y="1026120"/>
                </a:lnTo>
                <a:arcTo wR="25400" hR="76200" stAng="10800000" swAng="-5400000"/>
                <a:close/>
              </a:path>
            </a:pathLst>
          </a:custGeom>
          <a:solidFill>
            <a:srgbClr val="0B7A6E"/>
          </a:solidFill>
          <a:ln/>
        </p:spPr>
        <p:txBody>
          <a:bodyPr/>
          <a:lstStyle/>
          <a:p>
            <a:endParaRPr lang="en-JP"/>
          </a:p>
        </p:txBody>
      </p:sp>
      <p:sp>
        <p:nvSpPr>
          <p:cNvPr id="14" name="Text 12"/>
          <p:cNvSpPr/>
          <p:nvPr/>
        </p:nvSpPr>
        <p:spPr>
          <a:xfrm>
            <a:off x="1117600" y="3799681"/>
            <a:ext cx="47614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A6E"/>
                </a:solidFill>
                <a:latin typeface="Inter" pitchFamily="34" charset="0"/>
                <a:ea typeface="Inter" pitchFamily="34" charset="-122"/>
                <a:cs typeface="Inter" pitchFamily="34" charset="-120"/>
              </a:rPr>
              <a:t>03</a:t>
            </a:r>
            <a:endParaRPr lang="en-US" sz="1200" dirty="0"/>
          </a:p>
        </p:txBody>
      </p:sp>
      <p:sp>
        <p:nvSpPr>
          <p:cNvPr id="15" name="Text 13"/>
          <p:cNvSpPr/>
          <p:nvPr/>
        </p:nvSpPr>
        <p:spPr>
          <a:xfrm>
            <a:off x="1117600" y="4089202"/>
            <a:ext cx="476148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Why do we need XDR?</a:t>
            </a:r>
            <a:endParaRPr lang="en-US" sz="2000" dirty="0"/>
          </a:p>
        </p:txBody>
      </p:sp>
      <p:sp>
        <p:nvSpPr>
          <p:cNvPr id="16" name="Shape 14"/>
          <p:cNvSpPr/>
          <p:nvPr/>
        </p:nvSpPr>
        <p:spPr>
          <a:xfrm>
            <a:off x="6197600" y="3545681"/>
            <a:ext cx="5181600" cy="1102320"/>
          </a:xfrm>
          <a:prstGeom prst="roundRect">
            <a:avLst>
              <a:gd name="adj" fmla="val 6913"/>
            </a:avLst>
          </a:prstGeom>
          <a:solidFill>
            <a:srgbClr val="FFFFFF"/>
          </a:solidFill>
          <a:ln/>
        </p:spPr>
        <p:txBody>
          <a:bodyPr/>
          <a:lstStyle/>
          <a:p>
            <a:endParaRPr lang="en-JP"/>
          </a:p>
        </p:txBody>
      </p:sp>
      <p:sp>
        <p:nvSpPr>
          <p:cNvPr id="17" name="Shape 15"/>
          <p:cNvSpPr/>
          <p:nvPr/>
        </p:nvSpPr>
        <p:spPr>
          <a:xfrm>
            <a:off x="6197600" y="3545681"/>
            <a:ext cx="5181600" cy="1102320"/>
          </a:xfrm>
          <a:custGeom>
            <a:avLst/>
            <a:gdLst/>
            <a:ahLst/>
            <a:cxnLst/>
            <a:rect l="l" t="t" r="r" b="b"/>
            <a:pathLst>
              <a:path w="5181600" h="1102320">
                <a:moveTo>
                  <a:pt x="76200" y="1102320"/>
                </a:moveTo>
                <a:lnTo>
                  <a:pt x="76200" y="1102320"/>
                </a:lnTo>
                <a:arcTo wR="76200" hR="76200" stAng="5400000" swAng="5400000"/>
                <a:lnTo>
                  <a:pt x="0" y="76200"/>
                </a:lnTo>
                <a:arcTo wR="76200" hR="76200" stAng="10800000" swAng="5400000"/>
                <a:lnTo>
                  <a:pt x="76200" y="0"/>
                </a:lnTo>
                <a:arcTo wR="25400" hR="76200" stAng="16200000" swAng="-5400000"/>
                <a:lnTo>
                  <a:pt x="50800" y="1026120"/>
                </a:lnTo>
                <a:arcTo wR="25400" hR="76200" stAng="10800000" swAng="-5400000"/>
                <a:close/>
              </a:path>
            </a:pathLst>
          </a:custGeom>
          <a:solidFill>
            <a:srgbClr val="0B7A6E"/>
          </a:solidFill>
          <a:ln/>
        </p:spPr>
        <p:txBody>
          <a:bodyPr/>
          <a:lstStyle/>
          <a:p>
            <a:endParaRPr lang="en-JP"/>
          </a:p>
        </p:txBody>
      </p:sp>
      <p:sp>
        <p:nvSpPr>
          <p:cNvPr id="18" name="Text 16"/>
          <p:cNvSpPr/>
          <p:nvPr/>
        </p:nvSpPr>
        <p:spPr>
          <a:xfrm>
            <a:off x="6502400" y="3799681"/>
            <a:ext cx="47614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A6E"/>
                </a:solidFill>
                <a:latin typeface="Inter" pitchFamily="34" charset="0"/>
                <a:ea typeface="Inter" pitchFamily="34" charset="-122"/>
                <a:cs typeface="Inter" pitchFamily="34" charset="-120"/>
              </a:rPr>
              <a:t>04</a:t>
            </a:r>
            <a:endParaRPr lang="en-US" sz="1200" dirty="0"/>
          </a:p>
        </p:txBody>
      </p:sp>
      <p:sp>
        <p:nvSpPr>
          <p:cNvPr id="19" name="Text 17"/>
          <p:cNvSpPr/>
          <p:nvPr/>
        </p:nvSpPr>
        <p:spPr>
          <a:xfrm>
            <a:off x="6502400" y="4089202"/>
            <a:ext cx="476148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How does it all fit together?</a:t>
            </a:r>
            <a:endParaRPr lang="en-US" sz="20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6FD1"/>
                </a:solidFill>
                <a:latin typeface="Inter" pitchFamily="34" charset="0"/>
                <a:ea typeface="Inter" pitchFamily="34" charset="-122"/>
                <a:cs typeface="Inter" pitchFamily="34" charset="-120"/>
              </a:rPr>
              <a:t>01 · ENDPOINT DETECTION AND RESPONSE</a:t>
            </a:r>
            <a:endParaRPr lang="en-US" sz="1200" dirty="0"/>
          </a:p>
        </p:txBody>
      </p:sp>
      <p:sp>
        <p:nvSpPr>
          <p:cNvPr id="3" name="Text 1"/>
          <p:cNvSpPr>
            <a:spLocks noGrp="1"/>
          </p:cNvSpPr>
          <p:nvPr>
            <p:ph type="title"/>
          </p:nvPr>
        </p:nvSpPr>
        <p:spPr>
          <a:xfrm>
            <a:off x="812800" y="1330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What EDR does</a:t>
            </a:r>
            <a:endParaRPr lang="en-US" sz="3600" dirty="0"/>
          </a:p>
        </p:txBody>
      </p:sp>
      <p:sp>
        <p:nvSpPr>
          <p:cNvPr id="4" name="Text 2"/>
          <p:cNvSpPr/>
          <p:nvPr/>
        </p:nvSpPr>
        <p:spPr>
          <a:xfrm>
            <a:off x="812800" y="2138561"/>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3445C"/>
                </a:solidFill>
                <a:latin typeface="Inter" pitchFamily="34" charset="0"/>
                <a:ea typeface="Inter" pitchFamily="34" charset="-122"/>
                <a:cs typeface="Inter" pitchFamily="34" charset="-120"/>
              </a:rPr>
              <a:t>A lightweight agent on each laptop, desktop, server and mobile device sends security telemetry to a central console.</a:t>
            </a:r>
            <a:endParaRPr lang="en-US" sz="1600" dirty="0"/>
          </a:p>
        </p:txBody>
      </p:sp>
      <p:sp>
        <p:nvSpPr>
          <p:cNvPr id="5" name="Shape 3"/>
          <p:cNvSpPr/>
          <p:nvPr/>
        </p:nvSpPr>
        <p:spPr>
          <a:xfrm>
            <a:off x="812800" y="3012281"/>
            <a:ext cx="3386634" cy="2072481"/>
          </a:xfrm>
          <a:prstGeom prst="roundRect">
            <a:avLst>
              <a:gd name="adj" fmla="val 4902"/>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6" name="Image 0" descr="Search"/>
          <p:cNvPicPr>
            <a:picLocks noChangeAspect="1"/>
          </p:cNvPicPr>
          <p:nvPr/>
        </p:nvPicPr>
        <p:blipFill>
          <a:blip r:embed="rId3"/>
          <a:srcRect/>
          <a:stretch/>
        </p:blipFill>
        <p:spPr>
          <a:xfrm>
            <a:off x="1117600" y="3317081"/>
            <a:ext cx="406400" cy="406400"/>
          </a:xfrm>
          <a:prstGeom prst="rect">
            <a:avLst/>
          </a:prstGeom>
        </p:spPr>
      </p:pic>
      <p:sp>
        <p:nvSpPr>
          <p:cNvPr id="7" name="Text 4"/>
          <p:cNvSpPr/>
          <p:nvPr/>
        </p:nvSpPr>
        <p:spPr>
          <a:xfrm>
            <a:off x="1117600" y="3850481"/>
            <a:ext cx="286034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Monitor</a:t>
            </a:r>
            <a:endParaRPr lang="en-US" sz="2000" dirty="0"/>
          </a:p>
        </p:txBody>
      </p:sp>
      <p:sp>
        <p:nvSpPr>
          <p:cNvPr id="8" name="Text 5"/>
          <p:cNvSpPr/>
          <p:nvPr/>
        </p:nvSpPr>
        <p:spPr>
          <a:xfrm>
            <a:off x="1117600" y="4282281"/>
            <a:ext cx="286034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Processes, files, network connections and system events</a:t>
            </a:r>
            <a:endParaRPr lang="en-US" sz="1400" dirty="0"/>
          </a:p>
        </p:txBody>
      </p:sp>
      <p:sp>
        <p:nvSpPr>
          <p:cNvPr id="9" name="Shape 6"/>
          <p:cNvSpPr/>
          <p:nvPr/>
        </p:nvSpPr>
        <p:spPr>
          <a:xfrm>
            <a:off x="4402634" y="3012281"/>
            <a:ext cx="3386733" cy="2072481"/>
          </a:xfrm>
          <a:prstGeom prst="roundRect">
            <a:avLst>
              <a:gd name="adj" fmla="val 4902"/>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10" name="Image 1" descr="Warning"/>
          <p:cNvPicPr>
            <a:picLocks noChangeAspect="1"/>
          </p:cNvPicPr>
          <p:nvPr/>
        </p:nvPicPr>
        <p:blipFill>
          <a:blip r:embed="rId4"/>
          <a:srcRect/>
          <a:stretch/>
        </p:blipFill>
        <p:spPr>
          <a:xfrm>
            <a:off x="4707434" y="3317081"/>
            <a:ext cx="406400" cy="406400"/>
          </a:xfrm>
          <a:prstGeom prst="rect">
            <a:avLst/>
          </a:prstGeom>
        </p:spPr>
      </p:pic>
      <p:sp>
        <p:nvSpPr>
          <p:cNvPr id="11" name="Text 7"/>
          <p:cNvSpPr/>
          <p:nvPr/>
        </p:nvSpPr>
        <p:spPr>
          <a:xfrm>
            <a:off x="4707434" y="3850481"/>
            <a:ext cx="286044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Detect</a:t>
            </a:r>
            <a:endParaRPr lang="en-US" sz="2000" dirty="0"/>
          </a:p>
        </p:txBody>
      </p:sp>
      <p:sp>
        <p:nvSpPr>
          <p:cNvPr id="12" name="Text 8"/>
          <p:cNvSpPr/>
          <p:nvPr/>
        </p:nvSpPr>
        <p:spPr>
          <a:xfrm>
            <a:off x="4707434" y="4282281"/>
            <a:ext cx="286044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Suspicious behavior and malware execution</a:t>
            </a:r>
            <a:endParaRPr lang="en-US" sz="1400" dirty="0"/>
          </a:p>
        </p:txBody>
      </p:sp>
      <p:sp>
        <p:nvSpPr>
          <p:cNvPr id="13" name="Shape 9"/>
          <p:cNvSpPr/>
          <p:nvPr/>
        </p:nvSpPr>
        <p:spPr>
          <a:xfrm>
            <a:off x="7992566" y="3012281"/>
            <a:ext cx="3386634" cy="2072481"/>
          </a:xfrm>
          <a:prstGeom prst="roundRect">
            <a:avLst>
              <a:gd name="adj" fmla="val 4902"/>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14" name="Image 2" descr="Lock"/>
          <p:cNvPicPr>
            <a:picLocks noChangeAspect="1"/>
          </p:cNvPicPr>
          <p:nvPr/>
        </p:nvPicPr>
        <p:blipFill>
          <a:blip r:embed="rId5"/>
          <a:srcRect/>
          <a:stretch/>
        </p:blipFill>
        <p:spPr>
          <a:xfrm>
            <a:off x="8297366" y="3317081"/>
            <a:ext cx="406400" cy="406400"/>
          </a:xfrm>
          <a:prstGeom prst="rect">
            <a:avLst/>
          </a:prstGeom>
        </p:spPr>
      </p:pic>
      <p:sp>
        <p:nvSpPr>
          <p:cNvPr id="15" name="Text 10"/>
          <p:cNvSpPr/>
          <p:nvPr/>
        </p:nvSpPr>
        <p:spPr>
          <a:xfrm>
            <a:off x="8297366" y="3850481"/>
            <a:ext cx="286034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Respond</a:t>
            </a:r>
            <a:endParaRPr lang="en-US" sz="2000" dirty="0"/>
          </a:p>
        </p:txBody>
      </p:sp>
      <p:sp>
        <p:nvSpPr>
          <p:cNvPr id="16" name="Text 11"/>
          <p:cNvSpPr/>
          <p:nvPr/>
        </p:nvSpPr>
        <p:spPr>
          <a:xfrm>
            <a:off x="8297366" y="4282281"/>
            <a:ext cx="286034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Isolate devices, stop processes, investigate</a:t>
            </a:r>
            <a:endParaRPr lang="en-US" sz="14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6FD1"/>
                </a:solidFill>
                <a:latin typeface="Inter" pitchFamily="34" charset="0"/>
                <a:ea typeface="Inter" pitchFamily="34" charset="-122"/>
                <a:cs typeface="Inter" pitchFamily="34" charset="-120"/>
              </a:rPr>
              <a:t>DEPLOYMENT MODELS</a:t>
            </a:r>
            <a:endParaRPr lang="en-US" sz="1200" dirty="0"/>
          </a:p>
        </p:txBody>
      </p:sp>
      <p:sp>
        <p:nvSpPr>
          <p:cNvPr id="3" name="Text 1"/>
          <p:cNvSpPr>
            <a:spLocks noGrp="1"/>
          </p:cNvSpPr>
          <p:nvPr>
            <p:ph type="title"/>
          </p:nvPr>
        </p:nvSpPr>
        <p:spPr>
          <a:xfrm>
            <a:off x="812800" y="1330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On-premises or cloud-based?</a:t>
            </a:r>
            <a:endParaRPr lang="en-US" sz="3600" dirty="0"/>
          </a:p>
        </p:txBody>
      </p:sp>
      <p:sp>
        <p:nvSpPr>
          <p:cNvPr id="4" name="Shape 2"/>
          <p:cNvSpPr/>
          <p:nvPr/>
        </p:nvSpPr>
        <p:spPr>
          <a:xfrm>
            <a:off x="812800" y="2138561"/>
            <a:ext cx="5181600" cy="2443163"/>
          </a:xfrm>
          <a:prstGeom prst="roundRect">
            <a:avLst>
              <a:gd name="adj" fmla="val 4159"/>
            </a:avLst>
          </a:prstGeom>
          <a:solidFill>
            <a:srgbClr val="FFFFFF"/>
          </a:solidFill>
          <a:ln/>
        </p:spPr>
        <p:txBody>
          <a:bodyPr/>
          <a:lstStyle/>
          <a:p>
            <a:endParaRPr lang="en-JP"/>
          </a:p>
        </p:txBody>
      </p:sp>
      <p:sp>
        <p:nvSpPr>
          <p:cNvPr id="5" name="Shape 3"/>
          <p:cNvSpPr/>
          <p:nvPr/>
        </p:nvSpPr>
        <p:spPr>
          <a:xfrm>
            <a:off x="812800" y="2138561"/>
            <a:ext cx="5181600" cy="2443163"/>
          </a:xfrm>
          <a:custGeom>
            <a:avLst/>
            <a:gdLst/>
            <a:ahLst/>
            <a:cxnLst/>
            <a:rect l="l" t="t" r="r" b="b"/>
            <a:pathLst>
              <a:path w="5181600" h="2443163">
                <a:moveTo>
                  <a:pt x="0" y="101600"/>
                </a:moveTo>
                <a:lnTo>
                  <a:pt x="0" y="101600"/>
                </a:lnTo>
                <a:arcTo wR="101600" hR="101600" stAng="10800000" swAng="5400000"/>
                <a:lnTo>
                  <a:pt x="5080000" y="0"/>
                </a:lnTo>
                <a:arcTo wR="101600" hR="101600" stAng="16200000" swAng="5400000"/>
                <a:lnTo>
                  <a:pt x="5181600" y="101600"/>
                </a:lnTo>
                <a:arcTo wR="101600" hR="25400" stAng="0" swAng="-5400000"/>
                <a:lnTo>
                  <a:pt x="101600" y="76200"/>
                </a:lnTo>
                <a:arcTo wR="101600" hR="25400" stAng="16200000" swAng="-5400000"/>
                <a:close/>
              </a:path>
            </a:pathLst>
          </a:custGeom>
          <a:solidFill>
            <a:srgbClr val="0B1F3A"/>
          </a:solidFill>
          <a:ln/>
        </p:spPr>
        <p:txBody>
          <a:bodyPr/>
          <a:lstStyle/>
          <a:p>
            <a:endParaRPr lang="en-JP"/>
          </a:p>
        </p:txBody>
      </p:sp>
      <p:sp>
        <p:nvSpPr>
          <p:cNvPr id="6" name="Text 4"/>
          <p:cNvSpPr/>
          <p:nvPr/>
        </p:nvSpPr>
        <p:spPr>
          <a:xfrm>
            <a:off x="1117600" y="2519561"/>
            <a:ext cx="47091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On-premises EDR</a:t>
            </a:r>
            <a:endParaRPr lang="en-US" sz="2000" dirty="0"/>
          </a:p>
        </p:txBody>
      </p:sp>
      <p:sp>
        <p:nvSpPr>
          <p:cNvPr id="7" name="Text 5"/>
          <p:cNvSpPr/>
          <p:nvPr/>
        </p:nvSpPr>
        <p:spPr>
          <a:xfrm>
            <a:off x="1117600" y="2976761"/>
            <a:ext cx="47091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Servers in your own office or data center. Remote devices usually need a VPN.</a:t>
            </a:r>
            <a:endParaRPr lang="en-US" sz="1400" dirty="0"/>
          </a:p>
        </p:txBody>
      </p:sp>
      <p:sp>
        <p:nvSpPr>
          <p:cNvPr id="8" name="Text 6"/>
          <p:cNvSpPr/>
          <p:nvPr/>
        </p:nvSpPr>
        <p:spPr>
          <a:xfrm>
            <a:off x="1117600" y="3626842"/>
            <a:ext cx="4709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7A6E"/>
                </a:solidFill>
                <a:latin typeface="Inter" pitchFamily="34" charset="0"/>
                <a:ea typeface="Inter" pitchFamily="34" charset="-122"/>
                <a:cs typeface="Inter" pitchFamily="34" charset="-120"/>
              </a:rPr>
              <a:t>+</a:t>
            </a:r>
            <a:r>
              <a:rPr lang="en-US" sz="1400" dirty="0">
                <a:solidFill>
                  <a:srgbClr val="0B1F3A"/>
                </a:solidFill>
                <a:latin typeface="Inter" pitchFamily="34" charset="0"/>
                <a:ea typeface="Inter" pitchFamily="34" charset="-122"/>
                <a:cs typeface="Inter" pitchFamily="34" charset="-120"/>
              </a:rPr>
              <a:t> Direct control over data and infrastructure</a:t>
            </a:r>
            <a:endParaRPr lang="en-US" sz="1400" dirty="0"/>
          </a:p>
        </p:txBody>
      </p:sp>
      <p:sp>
        <p:nvSpPr>
          <p:cNvPr id="9" name="Text 7"/>
          <p:cNvSpPr/>
          <p:nvPr/>
        </p:nvSpPr>
        <p:spPr>
          <a:xfrm>
            <a:off x="1117600" y="4028083"/>
            <a:ext cx="4709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5309"/>
                </a:solidFill>
                <a:latin typeface="Inter" pitchFamily="34" charset="0"/>
                <a:ea typeface="Inter" pitchFamily="34" charset="-122"/>
                <a:cs typeface="Inter" pitchFamily="34" charset="-120"/>
              </a:rPr>
              <a:t>−</a:t>
            </a:r>
            <a:r>
              <a:rPr lang="en-US" sz="1400" dirty="0">
                <a:solidFill>
                  <a:srgbClr val="0B1F3A"/>
                </a:solidFill>
                <a:latin typeface="Inter" pitchFamily="34" charset="0"/>
                <a:ea typeface="Inter" pitchFamily="34" charset="-122"/>
                <a:cs typeface="Inter" pitchFamily="34" charset="-120"/>
              </a:rPr>
              <a:t> You run hardware, patching and backups</a:t>
            </a:r>
            <a:endParaRPr lang="en-US" sz="1400" dirty="0"/>
          </a:p>
        </p:txBody>
      </p:sp>
      <p:sp>
        <p:nvSpPr>
          <p:cNvPr id="10" name="Shape 8"/>
          <p:cNvSpPr/>
          <p:nvPr/>
        </p:nvSpPr>
        <p:spPr>
          <a:xfrm>
            <a:off x="6197600" y="2138561"/>
            <a:ext cx="5181600" cy="2443163"/>
          </a:xfrm>
          <a:prstGeom prst="roundRect">
            <a:avLst>
              <a:gd name="adj" fmla="val 4159"/>
            </a:avLst>
          </a:prstGeom>
          <a:solidFill>
            <a:srgbClr val="FFFFFF"/>
          </a:solidFill>
          <a:ln/>
        </p:spPr>
        <p:txBody>
          <a:bodyPr/>
          <a:lstStyle/>
          <a:p>
            <a:endParaRPr lang="en-JP"/>
          </a:p>
        </p:txBody>
      </p:sp>
      <p:sp>
        <p:nvSpPr>
          <p:cNvPr id="11" name="Shape 9"/>
          <p:cNvSpPr/>
          <p:nvPr/>
        </p:nvSpPr>
        <p:spPr>
          <a:xfrm>
            <a:off x="6197600" y="2138561"/>
            <a:ext cx="5181600" cy="2443163"/>
          </a:xfrm>
          <a:custGeom>
            <a:avLst/>
            <a:gdLst/>
            <a:ahLst/>
            <a:cxnLst/>
            <a:rect l="l" t="t" r="r" b="b"/>
            <a:pathLst>
              <a:path w="5181600" h="2443163">
                <a:moveTo>
                  <a:pt x="0" y="101600"/>
                </a:moveTo>
                <a:lnTo>
                  <a:pt x="0" y="101600"/>
                </a:lnTo>
                <a:arcTo wR="101600" hR="101600" stAng="10800000" swAng="5400000"/>
                <a:lnTo>
                  <a:pt x="5080000" y="0"/>
                </a:lnTo>
                <a:arcTo wR="101600" hR="101600" stAng="16200000" swAng="5400000"/>
                <a:lnTo>
                  <a:pt x="5181600" y="101600"/>
                </a:lnTo>
                <a:arcTo wR="101600" hR="25400" stAng="0" swAng="-5400000"/>
                <a:lnTo>
                  <a:pt x="101600" y="76200"/>
                </a:lnTo>
                <a:arcTo wR="101600" hR="25400" stAng="16200000" swAng="-5400000"/>
                <a:close/>
              </a:path>
            </a:pathLst>
          </a:custGeom>
          <a:solidFill>
            <a:srgbClr val="1F6FD1"/>
          </a:solidFill>
          <a:ln/>
        </p:spPr>
        <p:txBody>
          <a:bodyPr/>
          <a:lstStyle/>
          <a:p>
            <a:endParaRPr lang="en-JP"/>
          </a:p>
        </p:txBody>
      </p:sp>
      <p:sp>
        <p:nvSpPr>
          <p:cNvPr id="12" name="Text 10"/>
          <p:cNvSpPr/>
          <p:nvPr/>
        </p:nvSpPr>
        <p:spPr>
          <a:xfrm>
            <a:off x="6502400" y="2519561"/>
            <a:ext cx="47091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Cloud-based EDR</a:t>
            </a:r>
            <a:endParaRPr lang="en-US" sz="2000" dirty="0"/>
          </a:p>
        </p:txBody>
      </p:sp>
      <p:sp>
        <p:nvSpPr>
          <p:cNvPr id="13" name="Text 11"/>
          <p:cNvSpPr/>
          <p:nvPr/>
        </p:nvSpPr>
        <p:spPr>
          <a:xfrm>
            <a:off x="6502400" y="2976761"/>
            <a:ext cx="47091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Platform hosted by the vendor. Devices connect securely over the internet.</a:t>
            </a:r>
            <a:endParaRPr lang="en-US" sz="1400" dirty="0"/>
          </a:p>
        </p:txBody>
      </p:sp>
      <p:sp>
        <p:nvSpPr>
          <p:cNvPr id="14" name="Text 12"/>
          <p:cNvSpPr/>
          <p:nvPr/>
        </p:nvSpPr>
        <p:spPr>
          <a:xfrm>
            <a:off x="6502400" y="3626842"/>
            <a:ext cx="4709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7A6E"/>
                </a:solidFill>
                <a:latin typeface="Inter" pitchFamily="34" charset="0"/>
                <a:ea typeface="Inter" pitchFamily="34" charset="-122"/>
                <a:cs typeface="Inter" pitchFamily="34" charset="-120"/>
              </a:rPr>
              <a:t>+</a:t>
            </a:r>
            <a:r>
              <a:rPr lang="en-US" sz="1400" dirty="0">
                <a:solidFill>
                  <a:srgbClr val="0B1F3A"/>
                </a:solidFill>
                <a:latin typeface="Inter" pitchFamily="34" charset="0"/>
                <a:ea typeface="Inter" pitchFamily="34" charset="-122"/>
                <a:cs typeface="Inter" pitchFamily="34" charset="-120"/>
              </a:rPr>
              <a:t> Less overhead, easier scaling</a:t>
            </a:r>
            <a:endParaRPr lang="en-US" sz="1400" dirty="0"/>
          </a:p>
        </p:txBody>
      </p:sp>
      <p:sp>
        <p:nvSpPr>
          <p:cNvPr id="15" name="Text 13"/>
          <p:cNvSpPr/>
          <p:nvPr/>
        </p:nvSpPr>
        <p:spPr>
          <a:xfrm>
            <a:off x="6502400" y="4028083"/>
            <a:ext cx="4709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5309"/>
                </a:solidFill>
                <a:latin typeface="Inter" pitchFamily="34" charset="0"/>
                <a:ea typeface="Inter" pitchFamily="34" charset="-122"/>
                <a:cs typeface="Inter" pitchFamily="34" charset="-120"/>
              </a:rPr>
              <a:t>−</a:t>
            </a:r>
            <a:r>
              <a:rPr lang="en-US" sz="1400" dirty="0">
                <a:solidFill>
                  <a:srgbClr val="0B1F3A"/>
                </a:solidFill>
                <a:latin typeface="Inter" pitchFamily="34" charset="0"/>
                <a:ea typeface="Inter" pitchFamily="34" charset="-122"/>
                <a:cs typeface="Inter" pitchFamily="34" charset="-120"/>
              </a:rPr>
              <a:t> Subscriptions, data residency, compliance</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164980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9CC3EE"/>
                </a:solidFill>
                <a:latin typeface="Inter" pitchFamily="34" charset="0"/>
                <a:ea typeface="Inter" pitchFamily="34" charset="-122"/>
                <a:cs typeface="Inter" pitchFamily="34" charset="-120"/>
              </a:rPr>
              <a:t>02 · IS EDR ALONE ENOUGH?</a:t>
            </a:r>
            <a:endParaRPr lang="en-US" sz="1400" dirty="0"/>
          </a:p>
        </p:txBody>
      </p:sp>
      <p:sp>
        <p:nvSpPr>
          <p:cNvPr id="3" name="Text 1"/>
          <p:cNvSpPr>
            <a:spLocks noGrp="1"/>
          </p:cNvSpPr>
          <p:nvPr>
            <p:ph type="title"/>
          </p:nvPr>
        </p:nvSpPr>
        <p:spPr>
          <a:xfrm>
            <a:off x="812800" y="2152650"/>
            <a:ext cx="10883392" cy="1549400"/>
          </a:xfrm>
          <a:prstGeom prst="rect">
            <a:avLst/>
          </a:prstGeom>
          <a:noFill/>
          <a:ln/>
        </p:spPr>
        <p:txBody>
          <a:bodyPr wrap="square" lIns="0" tIns="0" rIns="0" bIns="0" rtlCol="0" anchor="t">
            <a:normAutofit/>
          </a:bodyPr>
          <a:lstStyle/>
          <a:p>
            <a:pPr marL="0" indent="0" algn="l">
              <a:lnSpc>
                <a:spcPts val="12000"/>
              </a:lnSpc>
              <a:buNone/>
            </a:pPr>
            <a:r>
              <a:rPr lang="en-US" sz="12000" b="1" i="0" dirty="0">
                <a:solidFill>
                  <a:srgbClr val="F59E0B"/>
                </a:solidFill>
                <a:latin typeface="Inter" pitchFamily="34" charset="0"/>
                <a:ea typeface="Inter" pitchFamily="34" charset="-122"/>
                <a:cs typeface="Inter" pitchFamily="34" charset="-120"/>
              </a:rPr>
              <a:t>No.</a:t>
            </a:r>
            <a:endParaRPr lang="en-US" sz="12000" dirty="0"/>
          </a:p>
        </p:txBody>
      </p:sp>
      <p:sp>
        <p:nvSpPr>
          <p:cNvPr id="4" name="Text 2"/>
          <p:cNvSpPr/>
          <p:nvPr/>
        </p:nvSpPr>
        <p:spPr>
          <a:xfrm>
            <a:off x="812800" y="3930650"/>
            <a:ext cx="915670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5F7FA"/>
                </a:solidFill>
                <a:latin typeface="Inter" pitchFamily="34" charset="0"/>
                <a:ea typeface="Inter" pitchFamily="34" charset="-122"/>
                <a:cs typeface="Inter" pitchFamily="34" charset="-120"/>
              </a:rPr>
              <a:t>EDR sees the endpoint. Attacks move across email, identities, networks and the cloud.</a:t>
            </a:r>
            <a:endParaRPr lang="en-US" sz="2200" dirty="0"/>
          </a:p>
        </p:txBody>
      </p:sp>
      <p:sp>
        <p:nvSpPr>
          <p:cNvPr id="5" name="Text 3"/>
          <p:cNvSpPr/>
          <p:nvPr/>
        </p:nvSpPr>
        <p:spPr>
          <a:xfrm>
            <a:off x="812800" y="4910931"/>
            <a:ext cx="9156700" cy="322560"/>
          </a:xfrm>
          <a:prstGeom prst="rect">
            <a:avLst/>
          </a:prstGeom>
          <a:noFill/>
          <a:ln/>
        </p:spPr>
        <p:txBody>
          <a:bodyPr wrap="square" lIns="0" tIns="0" rIns="0" bIns="0" rtlCol="0" anchor="t">
            <a:normAutofit/>
          </a:bodyPr>
          <a:lstStyle/>
          <a:p>
            <a:pPr marL="0" indent="0" algn="l">
              <a:lnSpc>
                <a:spcPts val="2340"/>
              </a:lnSpc>
              <a:buNone/>
            </a:pPr>
            <a:r>
              <a:rPr lang="en-US" sz="1800" i="1" dirty="0">
                <a:solidFill>
                  <a:srgbClr val="9CC3EE"/>
                </a:solidFill>
                <a:latin typeface="Inter" pitchFamily="34" charset="0"/>
                <a:ea typeface="Inter" pitchFamily="34" charset="-122"/>
                <a:cs typeface="Inter" pitchFamily="34" charset="-120"/>
              </a:rPr>
              <a:t>What a security team cannot see, it cannot defend.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522"/>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6FD1"/>
                </a:solidFill>
                <a:latin typeface="Inter" pitchFamily="34" charset="0"/>
                <a:ea typeface="Inter" pitchFamily="34" charset="-122"/>
                <a:cs typeface="Inter" pitchFamily="34" charset="-120"/>
              </a:rPr>
              <a:t>THE VISIBILITY GAP</a:t>
            </a:r>
            <a:endParaRPr lang="en-US" sz="1200" dirty="0"/>
          </a:p>
        </p:txBody>
      </p:sp>
      <p:sp>
        <p:nvSpPr>
          <p:cNvPr id="3" name="Text 1"/>
          <p:cNvSpPr>
            <a:spLocks noGrp="1"/>
          </p:cNvSpPr>
          <p:nvPr>
            <p:ph type="title"/>
          </p:nvPr>
        </p:nvSpPr>
        <p:spPr>
          <a:xfrm>
            <a:off x="812800" y="1279922"/>
            <a:ext cx="10883392" cy="527645"/>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EDR sees one piece. XDR connects the story.</a:t>
            </a:r>
            <a:endParaRPr lang="en-US" sz="3600" dirty="0"/>
          </a:p>
        </p:txBody>
      </p:sp>
      <p:sp>
        <p:nvSpPr>
          <p:cNvPr id="4" name="Shape 2"/>
          <p:cNvSpPr/>
          <p:nvPr/>
        </p:nvSpPr>
        <p:spPr>
          <a:xfrm>
            <a:off x="812800" y="2036167"/>
            <a:ext cx="10566400" cy="3805833"/>
          </a:xfrm>
          <a:prstGeom prst="roundRect">
            <a:avLst>
              <a:gd name="adj" fmla="val 2670"/>
            </a:avLst>
          </a:prstGeom>
          <a:solidFill>
            <a:srgbClr val="FFFFFF"/>
          </a:solidFill>
          <a:ln/>
        </p:spPr>
        <p:txBody>
          <a:bodyPr/>
          <a:lstStyle/>
          <a:p>
            <a:endParaRPr lang="en-JP"/>
          </a:p>
        </p:txBody>
      </p:sp>
      <p:pic>
        <p:nvPicPr>
          <p:cNvPr id="5" name="Image 0" descr="Diagram comparing EDR, which sees only the endpoint, with XDR, which connects email, identity, network, cloud and applications"/>
          <p:cNvPicPr>
            <a:picLocks noChangeAspect="1"/>
          </p:cNvPicPr>
          <p:nvPr/>
        </p:nvPicPr>
        <p:blipFill>
          <a:blip r:embed="rId3"/>
          <a:stretch>
            <a:fillRect/>
          </a:stretch>
        </p:blipFill>
        <p:spPr>
          <a:xfrm>
            <a:off x="2037043" y="2036167"/>
            <a:ext cx="8117913" cy="3805833"/>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522"/>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6FD1"/>
                </a:solidFill>
                <a:latin typeface="Inter" pitchFamily="34" charset="0"/>
                <a:ea typeface="Inter" pitchFamily="34" charset="-122"/>
                <a:cs typeface="Inter" pitchFamily="34" charset="-120"/>
              </a:rPr>
              <a:t>DEFENSE IN DEPTH</a:t>
            </a:r>
            <a:endParaRPr lang="en-US" sz="1200" dirty="0"/>
          </a:p>
        </p:txBody>
      </p:sp>
      <p:sp>
        <p:nvSpPr>
          <p:cNvPr id="3" name="Text 1"/>
          <p:cNvSpPr>
            <a:spLocks noGrp="1"/>
          </p:cNvSpPr>
          <p:nvPr>
            <p:ph type="title"/>
          </p:nvPr>
        </p:nvSpPr>
        <p:spPr>
          <a:xfrm>
            <a:off x="812800" y="1279922"/>
            <a:ext cx="10883392" cy="527645"/>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Security works in layers, like an onion</a:t>
            </a:r>
            <a:endParaRPr lang="en-US" sz="3600" dirty="0"/>
          </a:p>
        </p:txBody>
      </p:sp>
      <p:sp>
        <p:nvSpPr>
          <p:cNvPr id="4" name="Shape 2"/>
          <p:cNvSpPr/>
          <p:nvPr/>
        </p:nvSpPr>
        <p:spPr>
          <a:xfrm>
            <a:off x="812800" y="2036167"/>
            <a:ext cx="10566400" cy="3805833"/>
          </a:xfrm>
          <a:prstGeom prst="roundRect">
            <a:avLst>
              <a:gd name="adj" fmla="val 2670"/>
            </a:avLst>
          </a:prstGeom>
          <a:solidFill>
            <a:srgbClr val="FFFFFF"/>
          </a:solidFill>
          <a:ln/>
        </p:spPr>
        <p:txBody>
          <a:bodyPr/>
          <a:lstStyle/>
          <a:p>
            <a:endParaRPr lang="en-JP"/>
          </a:p>
        </p:txBody>
      </p:sp>
      <p:pic>
        <p:nvPicPr>
          <p:cNvPr id="5" name="Image 0" descr="Six concentric layers of Defense in Depth: policies and people, perimeter, internal network, endpoint, application and data security"/>
          <p:cNvPicPr>
            <a:picLocks noChangeAspect="1"/>
          </p:cNvPicPr>
          <p:nvPr/>
        </p:nvPicPr>
        <p:blipFill>
          <a:blip r:embed="rId3"/>
          <a:stretch>
            <a:fillRect/>
          </a:stretch>
        </p:blipFill>
        <p:spPr>
          <a:xfrm>
            <a:off x="2693816" y="2036167"/>
            <a:ext cx="6804368" cy="3805833"/>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522"/>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6E"/>
                </a:solidFill>
                <a:latin typeface="Inter" pitchFamily="34" charset="0"/>
                <a:ea typeface="Inter" pitchFamily="34" charset="-122"/>
                <a:cs typeface="Inter" pitchFamily="34" charset="-120"/>
              </a:rPr>
              <a:t>03 · EXTENDED DETECTION AND RESPONSE</a:t>
            </a:r>
            <a:endParaRPr lang="en-US" sz="1200" dirty="0"/>
          </a:p>
        </p:txBody>
      </p:sp>
      <p:sp>
        <p:nvSpPr>
          <p:cNvPr id="3" name="Text 1"/>
          <p:cNvSpPr>
            <a:spLocks noGrp="1"/>
          </p:cNvSpPr>
          <p:nvPr>
            <p:ph type="title"/>
          </p:nvPr>
        </p:nvSpPr>
        <p:spPr>
          <a:xfrm>
            <a:off x="812800" y="1279922"/>
            <a:ext cx="10883392" cy="527645"/>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A phishing attack, seen two ways</a:t>
            </a:r>
            <a:endParaRPr lang="en-US" sz="3600" dirty="0"/>
          </a:p>
        </p:txBody>
      </p:sp>
      <p:sp>
        <p:nvSpPr>
          <p:cNvPr id="4" name="Shape 2"/>
          <p:cNvSpPr/>
          <p:nvPr/>
        </p:nvSpPr>
        <p:spPr>
          <a:xfrm>
            <a:off x="812800" y="2036167"/>
            <a:ext cx="10566400" cy="3805833"/>
          </a:xfrm>
          <a:prstGeom prst="roundRect">
            <a:avLst>
              <a:gd name="adj" fmla="val 2670"/>
            </a:avLst>
          </a:prstGeom>
          <a:solidFill>
            <a:srgbClr val="FFFFFF"/>
          </a:solidFill>
          <a:ln/>
        </p:spPr>
        <p:txBody>
          <a:bodyPr/>
          <a:lstStyle/>
          <a:p>
            <a:endParaRPr lang="en-JP"/>
          </a:p>
        </p:txBody>
      </p:sp>
      <p:pic>
        <p:nvPicPr>
          <p:cNvPr id="5" name="Image 0" descr="Phishing attack chain from email to endpoint to identity to lateral movement; EDR detects only the endpoint step while XDR correlates all four"/>
          <p:cNvPicPr>
            <a:picLocks noChangeAspect="1"/>
          </p:cNvPicPr>
          <p:nvPr/>
        </p:nvPicPr>
        <p:blipFill>
          <a:blip r:embed="rId3"/>
          <a:stretch>
            <a:fillRect/>
          </a:stretch>
        </p:blipFill>
        <p:spPr>
          <a:xfrm>
            <a:off x="1053404" y="2036167"/>
            <a:ext cx="10085192" cy="3805833"/>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6E"/>
                </a:solidFill>
                <a:latin typeface="Inter" pitchFamily="34" charset="0"/>
                <a:ea typeface="Inter" pitchFamily="34" charset="-122"/>
                <a:cs typeface="Inter" pitchFamily="34" charset="-120"/>
              </a:rPr>
              <a:t>WHAT XDR ADDS</a:t>
            </a:r>
            <a:endParaRPr lang="en-US" sz="1200" dirty="0"/>
          </a:p>
        </p:txBody>
      </p:sp>
      <p:sp>
        <p:nvSpPr>
          <p:cNvPr id="3" name="Text 1"/>
          <p:cNvSpPr>
            <a:spLocks noGrp="1"/>
          </p:cNvSpPr>
          <p:nvPr>
            <p:ph type="title"/>
          </p:nvPr>
        </p:nvSpPr>
        <p:spPr>
          <a:xfrm>
            <a:off x="812800" y="1330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Four key benefits of XDR</a:t>
            </a:r>
            <a:endParaRPr lang="en-US" sz="3600" dirty="0"/>
          </a:p>
        </p:txBody>
      </p:sp>
      <p:sp>
        <p:nvSpPr>
          <p:cNvPr id="4" name="Shape 2"/>
          <p:cNvSpPr/>
          <p:nvPr/>
        </p:nvSpPr>
        <p:spPr>
          <a:xfrm>
            <a:off x="812800" y="2138561"/>
            <a:ext cx="5181600" cy="1462881"/>
          </a:xfrm>
          <a:prstGeom prst="roundRect">
            <a:avLst>
              <a:gd name="adj" fmla="val 694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5" name="Image 0" descr="Globe"/>
          <p:cNvPicPr>
            <a:picLocks noChangeAspect="1"/>
          </p:cNvPicPr>
          <p:nvPr/>
        </p:nvPicPr>
        <p:blipFill>
          <a:blip r:embed="rId3"/>
          <a:srcRect/>
          <a:stretch/>
        </p:blipFill>
        <p:spPr>
          <a:xfrm>
            <a:off x="1066800" y="2392561"/>
            <a:ext cx="355600" cy="355600"/>
          </a:xfrm>
          <a:prstGeom prst="rect">
            <a:avLst/>
          </a:prstGeom>
        </p:spPr>
      </p:pic>
      <p:sp>
        <p:nvSpPr>
          <p:cNvPr id="6" name="Text 3"/>
          <p:cNvSpPr/>
          <p:nvPr/>
        </p:nvSpPr>
        <p:spPr>
          <a:xfrm>
            <a:off x="1549400" y="2417961"/>
            <a:ext cx="30843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Cross-layer visibility</a:t>
            </a:r>
            <a:endParaRPr lang="en-US" sz="2000" dirty="0"/>
          </a:p>
        </p:txBody>
      </p:sp>
      <p:sp>
        <p:nvSpPr>
          <p:cNvPr id="7" name="Text 4"/>
          <p:cNvSpPr/>
          <p:nvPr/>
        </p:nvSpPr>
        <p:spPr>
          <a:xfrm>
            <a:off x="1066800" y="2849761"/>
            <a:ext cx="48138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One view across endpoint, email, identity, network and cloud</a:t>
            </a:r>
            <a:endParaRPr lang="en-US" sz="1400" dirty="0"/>
          </a:p>
        </p:txBody>
      </p:sp>
      <p:sp>
        <p:nvSpPr>
          <p:cNvPr id="8" name="Shape 5"/>
          <p:cNvSpPr/>
          <p:nvPr/>
        </p:nvSpPr>
        <p:spPr>
          <a:xfrm>
            <a:off x="6197600" y="2138561"/>
            <a:ext cx="5181600" cy="1462881"/>
          </a:xfrm>
          <a:prstGeom prst="roundRect">
            <a:avLst>
              <a:gd name="adj" fmla="val 694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9" name="Image 1" descr="Link"/>
          <p:cNvPicPr>
            <a:picLocks noChangeAspect="1"/>
          </p:cNvPicPr>
          <p:nvPr/>
        </p:nvPicPr>
        <p:blipFill>
          <a:blip r:embed="rId4"/>
          <a:srcRect/>
          <a:stretch/>
        </p:blipFill>
        <p:spPr>
          <a:xfrm>
            <a:off x="6451600" y="2392561"/>
            <a:ext cx="355600" cy="355600"/>
          </a:xfrm>
          <a:prstGeom prst="rect">
            <a:avLst/>
          </a:prstGeom>
        </p:spPr>
      </p:pic>
      <p:sp>
        <p:nvSpPr>
          <p:cNvPr id="10" name="Text 6"/>
          <p:cNvSpPr/>
          <p:nvPr/>
        </p:nvSpPr>
        <p:spPr>
          <a:xfrm>
            <a:off x="6934200" y="2417961"/>
            <a:ext cx="25390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Event correlation</a:t>
            </a:r>
            <a:endParaRPr lang="en-US" sz="2000" dirty="0"/>
          </a:p>
        </p:txBody>
      </p:sp>
      <p:sp>
        <p:nvSpPr>
          <p:cNvPr id="11" name="Text 7"/>
          <p:cNvSpPr/>
          <p:nvPr/>
        </p:nvSpPr>
        <p:spPr>
          <a:xfrm>
            <a:off x="6451600" y="2849761"/>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Related alerts become one incident, not many</a:t>
            </a:r>
            <a:endParaRPr lang="en-US" sz="1400" dirty="0"/>
          </a:p>
        </p:txBody>
      </p:sp>
      <p:sp>
        <p:nvSpPr>
          <p:cNvPr id="12" name="Shape 8"/>
          <p:cNvSpPr/>
          <p:nvPr/>
        </p:nvSpPr>
        <p:spPr>
          <a:xfrm>
            <a:off x="812800" y="3804642"/>
            <a:ext cx="5181600" cy="1462881"/>
          </a:xfrm>
          <a:prstGeom prst="roundRect">
            <a:avLst>
              <a:gd name="adj" fmla="val 694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13" name="Image 2" descr="Lightning"/>
          <p:cNvPicPr>
            <a:picLocks noChangeAspect="1"/>
          </p:cNvPicPr>
          <p:nvPr/>
        </p:nvPicPr>
        <p:blipFill>
          <a:blip r:embed="rId5"/>
          <a:srcRect/>
          <a:stretch/>
        </p:blipFill>
        <p:spPr>
          <a:xfrm>
            <a:off x="1066800" y="4058642"/>
            <a:ext cx="355600" cy="355600"/>
          </a:xfrm>
          <a:prstGeom prst="rect">
            <a:avLst/>
          </a:prstGeom>
        </p:spPr>
      </p:pic>
      <p:sp>
        <p:nvSpPr>
          <p:cNvPr id="14" name="Text 9"/>
          <p:cNvSpPr/>
          <p:nvPr/>
        </p:nvSpPr>
        <p:spPr>
          <a:xfrm>
            <a:off x="1549400" y="4084042"/>
            <a:ext cx="311265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Automated response</a:t>
            </a:r>
            <a:endParaRPr lang="en-US" sz="2000" dirty="0"/>
          </a:p>
        </p:txBody>
      </p:sp>
      <p:sp>
        <p:nvSpPr>
          <p:cNvPr id="15" name="Text 10"/>
          <p:cNvSpPr/>
          <p:nvPr/>
        </p:nvSpPr>
        <p:spPr>
          <a:xfrm>
            <a:off x="1066800" y="4515842"/>
            <a:ext cx="48138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Isolate devices or disable accounts faster, if tuned carefully</a:t>
            </a:r>
            <a:endParaRPr lang="en-US" sz="1400" dirty="0"/>
          </a:p>
        </p:txBody>
      </p:sp>
      <p:sp>
        <p:nvSpPr>
          <p:cNvPr id="16" name="Shape 11"/>
          <p:cNvSpPr/>
          <p:nvPr/>
        </p:nvSpPr>
        <p:spPr>
          <a:xfrm>
            <a:off x="6197600" y="3804642"/>
            <a:ext cx="5181600" cy="1462881"/>
          </a:xfrm>
          <a:prstGeom prst="roundRect">
            <a:avLst>
              <a:gd name="adj" fmla="val 694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17" name="Image 3" descr="Settings"/>
          <p:cNvPicPr>
            <a:picLocks noChangeAspect="1"/>
          </p:cNvPicPr>
          <p:nvPr/>
        </p:nvPicPr>
        <p:blipFill>
          <a:blip r:embed="rId6"/>
          <a:srcRect/>
          <a:stretch/>
        </p:blipFill>
        <p:spPr>
          <a:xfrm>
            <a:off x="6451600" y="4058642"/>
            <a:ext cx="355600" cy="355600"/>
          </a:xfrm>
          <a:prstGeom prst="rect">
            <a:avLst/>
          </a:prstGeom>
        </p:spPr>
      </p:pic>
      <p:sp>
        <p:nvSpPr>
          <p:cNvPr id="18" name="Text 12"/>
          <p:cNvSpPr/>
          <p:nvPr/>
        </p:nvSpPr>
        <p:spPr>
          <a:xfrm>
            <a:off x="6934200" y="4084042"/>
            <a:ext cx="242363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Less complexity</a:t>
            </a:r>
            <a:endParaRPr lang="en-US" sz="2000" dirty="0"/>
          </a:p>
        </p:txBody>
      </p:sp>
      <p:sp>
        <p:nvSpPr>
          <p:cNvPr id="19" name="Text 13"/>
          <p:cNvSpPr/>
          <p:nvPr/>
        </p:nvSpPr>
        <p:spPr>
          <a:xfrm>
            <a:off x="6451600" y="4515842"/>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Fewer consoles to switch between during an incident</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9"/>
                </a:solidFill>
                <a:latin typeface="Inter" pitchFamily="34" charset="0"/>
                <a:ea typeface="Inter" pitchFamily="34" charset="-122"/>
                <a:cs typeface="Inter" pitchFamily="34" charset="-120"/>
              </a:rPr>
              <a:t>TRADE-OFFS</a:t>
            </a:r>
            <a:endParaRPr lang="en-US" sz="1200" dirty="0"/>
          </a:p>
        </p:txBody>
      </p:sp>
      <p:sp>
        <p:nvSpPr>
          <p:cNvPr id="3" name="Text 1"/>
          <p:cNvSpPr>
            <a:spLocks noGrp="1"/>
          </p:cNvSpPr>
          <p:nvPr>
            <p:ph type="title"/>
          </p:nvPr>
        </p:nvSpPr>
        <p:spPr>
          <a:xfrm>
            <a:off x="812800" y="1330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XDR has challenges too</a:t>
            </a:r>
            <a:endParaRPr lang="en-US" sz="3600" dirty="0"/>
          </a:p>
        </p:txBody>
      </p:sp>
      <p:sp>
        <p:nvSpPr>
          <p:cNvPr id="4" name="Shape 2"/>
          <p:cNvSpPr/>
          <p:nvPr/>
        </p:nvSpPr>
        <p:spPr>
          <a:xfrm>
            <a:off x="812800" y="2138561"/>
            <a:ext cx="3386634" cy="2181622"/>
          </a:xfrm>
          <a:prstGeom prst="roundRect">
            <a:avLst>
              <a:gd name="adj" fmla="val 4657"/>
            </a:avLst>
          </a:prstGeom>
          <a:solidFill>
            <a:srgbClr val="FFFFFF"/>
          </a:solidFill>
          <a:ln/>
          <a:effectLst>
            <a:outerShdw blurRad="101600" dist="25400" dir="5400000" algn="bl" rotWithShape="0">
              <a:srgbClr val="0B1F3A">
                <a:alpha val="8000"/>
              </a:srgbClr>
            </a:outerShdw>
          </a:effectLst>
        </p:spPr>
        <p:txBody>
          <a:bodyPr/>
          <a:lstStyle/>
          <a:p>
            <a:endParaRPr lang="en-JP"/>
          </a:p>
        </p:txBody>
      </p:sp>
      <p:sp>
        <p:nvSpPr>
          <p:cNvPr id="5" name="Shape 3"/>
          <p:cNvSpPr/>
          <p:nvPr/>
        </p:nvSpPr>
        <p:spPr>
          <a:xfrm>
            <a:off x="812800" y="2138561"/>
            <a:ext cx="3386634" cy="2181622"/>
          </a:xfrm>
          <a:custGeom>
            <a:avLst/>
            <a:gdLst/>
            <a:ahLst/>
            <a:cxnLst/>
            <a:rect l="l" t="t" r="r" b="b"/>
            <a:pathLst>
              <a:path w="3386634" h="2181622">
                <a:moveTo>
                  <a:pt x="0" y="101600"/>
                </a:moveTo>
                <a:lnTo>
                  <a:pt x="0" y="101600"/>
                </a:lnTo>
                <a:arcTo wR="101600" hR="101600" stAng="10800000" swAng="5400000"/>
                <a:lnTo>
                  <a:pt x="3285034" y="0"/>
                </a:lnTo>
                <a:arcTo wR="101600" hR="101600" stAng="16200000" swAng="5400000"/>
                <a:lnTo>
                  <a:pt x="3386634" y="101600"/>
                </a:lnTo>
                <a:arcTo wR="101600" hR="38100" stAng="0" swAng="-5400000"/>
                <a:lnTo>
                  <a:pt x="101600" y="63500"/>
                </a:lnTo>
                <a:arcTo wR="101600" hR="38100" stAng="16200000" swAng="-5400000"/>
                <a:close/>
              </a:path>
            </a:pathLst>
          </a:custGeom>
          <a:solidFill>
            <a:srgbClr val="F59E0B"/>
          </a:solidFill>
          <a:ln/>
        </p:spPr>
        <p:txBody>
          <a:bodyPr/>
          <a:lstStyle/>
          <a:p>
            <a:endParaRPr lang="en-JP"/>
          </a:p>
        </p:txBody>
      </p:sp>
      <p:pic>
        <p:nvPicPr>
          <p:cNvPr id="6" name="Image 0" descr="Key"/>
          <p:cNvPicPr>
            <a:picLocks noChangeAspect="1"/>
          </p:cNvPicPr>
          <p:nvPr/>
        </p:nvPicPr>
        <p:blipFill>
          <a:blip r:embed="rId3"/>
          <a:srcRect/>
          <a:stretch/>
        </p:blipFill>
        <p:spPr>
          <a:xfrm>
            <a:off x="1066800" y="2456061"/>
            <a:ext cx="355600" cy="355600"/>
          </a:xfrm>
          <a:prstGeom prst="rect">
            <a:avLst/>
          </a:prstGeom>
        </p:spPr>
      </p:pic>
      <p:sp>
        <p:nvSpPr>
          <p:cNvPr id="7" name="Text 4"/>
          <p:cNvSpPr/>
          <p:nvPr/>
        </p:nvSpPr>
        <p:spPr>
          <a:xfrm>
            <a:off x="1066800" y="291326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Vendor lock-in</a:t>
            </a:r>
            <a:endParaRPr lang="en-US" sz="2000" dirty="0"/>
          </a:p>
        </p:txBody>
      </p:sp>
      <p:sp>
        <p:nvSpPr>
          <p:cNvPr id="8" name="Text 5"/>
          <p:cNvSpPr/>
          <p:nvPr/>
        </p:nvSpPr>
        <p:spPr>
          <a:xfrm>
            <a:off x="1066800" y="3319661"/>
            <a:ext cx="2964993"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Easy inside one ecosystem, harder to leave. Check portability and exit terms.</a:t>
            </a:r>
            <a:endParaRPr lang="en-US" sz="1400" dirty="0"/>
          </a:p>
        </p:txBody>
      </p:sp>
      <p:sp>
        <p:nvSpPr>
          <p:cNvPr id="9" name="Shape 6"/>
          <p:cNvSpPr/>
          <p:nvPr/>
        </p:nvSpPr>
        <p:spPr>
          <a:xfrm>
            <a:off x="4402634" y="2138561"/>
            <a:ext cx="3386733" cy="2181622"/>
          </a:xfrm>
          <a:prstGeom prst="roundRect">
            <a:avLst>
              <a:gd name="adj" fmla="val 4657"/>
            </a:avLst>
          </a:prstGeom>
          <a:solidFill>
            <a:srgbClr val="FFFFFF"/>
          </a:solidFill>
          <a:ln/>
          <a:effectLst>
            <a:outerShdw blurRad="101600" dist="25400" dir="5400000" algn="bl" rotWithShape="0">
              <a:srgbClr val="0B1F3A">
                <a:alpha val="8000"/>
              </a:srgbClr>
            </a:outerShdw>
          </a:effectLst>
        </p:spPr>
        <p:txBody>
          <a:bodyPr/>
          <a:lstStyle/>
          <a:p>
            <a:endParaRPr lang="en-JP"/>
          </a:p>
        </p:txBody>
      </p:sp>
      <p:sp>
        <p:nvSpPr>
          <p:cNvPr id="10" name="Shape 7"/>
          <p:cNvSpPr/>
          <p:nvPr/>
        </p:nvSpPr>
        <p:spPr>
          <a:xfrm>
            <a:off x="4402634" y="2138561"/>
            <a:ext cx="3386733" cy="2181622"/>
          </a:xfrm>
          <a:custGeom>
            <a:avLst/>
            <a:gdLst/>
            <a:ahLst/>
            <a:cxnLst/>
            <a:rect l="l" t="t" r="r" b="b"/>
            <a:pathLst>
              <a:path w="3386733" h="2181622">
                <a:moveTo>
                  <a:pt x="0" y="101600"/>
                </a:moveTo>
                <a:lnTo>
                  <a:pt x="0" y="101600"/>
                </a:lnTo>
                <a:arcTo wR="101600" hR="101600" stAng="10800000" swAng="5400000"/>
                <a:lnTo>
                  <a:pt x="3285133" y="0"/>
                </a:lnTo>
                <a:arcTo wR="101600" hR="101600" stAng="16200000" swAng="5400000"/>
                <a:lnTo>
                  <a:pt x="3386733" y="101600"/>
                </a:lnTo>
                <a:arcTo wR="101600" hR="38100" stAng="0" swAng="-5400000"/>
                <a:lnTo>
                  <a:pt x="101600" y="63500"/>
                </a:lnTo>
                <a:arcTo wR="101600" hR="38100" stAng="16200000" swAng="-5400000"/>
                <a:close/>
              </a:path>
            </a:pathLst>
          </a:custGeom>
          <a:solidFill>
            <a:srgbClr val="F59E0B"/>
          </a:solidFill>
          <a:ln/>
        </p:spPr>
        <p:txBody>
          <a:bodyPr/>
          <a:lstStyle/>
          <a:p>
            <a:endParaRPr lang="en-JP"/>
          </a:p>
        </p:txBody>
      </p:sp>
      <p:pic>
        <p:nvPicPr>
          <p:cNvPr id="11" name="Image 1" descr="Link"/>
          <p:cNvPicPr>
            <a:picLocks noChangeAspect="1"/>
          </p:cNvPicPr>
          <p:nvPr/>
        </p:nvPicPr>
        <p:blipFill>
          <a:blip r:embed="rId4"/>
          <a:srcRect/>
          <a:stretch/>
        </p:blipFill>
        <p:spPr>
          <a:xfrm>
            <a:off x="4656634" y="2456061"/>
            <a:ext cx="355600" cy="355600"/>
          </a:xfrm>
          <a:prstGeom prst="rect">
            <a:avLst/>
          </a:prstGeom>
        </p:spPr>
      </p:pic>
      <p:sp>
        <p:nvSpPr>
          <p:cNvPr id="12" name="Text 8"/>
          <p:cNvSpPr/>
          <p:nvPr/>
        </p:nvSpPr>
        <p:spPr>
          <a:xfrm>
            <a:off x="4656634" y="2913261"/>
            <a:ext cx="29650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Integration limits</a:t>
            </a:r>
            <a:endParaRPr lang="en-US" sz="2000" dirty="0"/>
          </a:p>
        </p:txBody>
      </p:sp>
      <p:sp>
        <p:nvSpPr>
          <p:cNvPr id="13" name="Text 9"/>
          <p:cNvSpPr/>
          <p:nvPr/>
        </p:nvSpPr>
        <p:spPr>
          <a:xfrm>
            <a:off x="4656634" y="3319661"/>
            <a:ext cx="296509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Third-party tools may share limited data. Verify before you buy.</a:t>
            </a:r>
            <a:endParaRPr lang="en-US" sz="1400" dirty="0"/>
          </a:p>
        </p:txBody>
      </p:sp>
      <p:sp>
        <p:nvSpPr>
          <p:cNvPr id="14" name="Shape 10"/>
          <p:cNvSpPr/>
          <p:nvPr/>
        </p:nvSpPr>
        <p:spPr>
          <a:xfrm>
            <a:off x="7992566" y="2138561"/>
            <a:ext cx="3386634" cy="2181622"/>
          </a:xfrm>
          <a:prstGeom prst="roundRect">
            <a:avLst>
              <a:gd name="adj" fmla="val 4657"/>
            </a:avLst>
          </a:prstGeom>
          <a:solidFill>
            <a:srgbClr val="FFFFFF"/>
          </a:solidFill>
          <a:ln/>
          <a:effectLst>
            <a:outerShdw blurRad="101600" dist="25400" dir="5400000" algn="bl" rotWithShape="0">
              <a:srgbClr val="0B1F3A">
                <a:alpha val="8000"/>
              </a:srgbClr>
            </a:outerShdw>
          </a:effectLst>
        </p:spPr>
        <p:txBody>
          <a:bodyPr/>
          <a:lstStyle/>
          <a:p>
            <a:endParaRPr lang="en-JP"/>
          </a:p>
        </p:txBody>
      </p:sp>
      <p:sp>
        <p:nvSpPr>
          <p:cNvPr id="15" name="Shape 11"/>
          <p:cNvSpPr/>
          <p:nvPr/>
        </p:nvSpPr>
        <p:spPr>
          <a:xfrm>
            <a:off x="7992566" y="2138561"/>
            <a:ext cx="3386634" cy="2181622"/>
          </a:xfrm>
          <a:custGeom>
            <a:avLst/>
            <a:gdLst/>
            <a:ahLst/>
            <a:cxnLst/>
            <a:rect l="l" t="t" r="r" b="b"/>
            <a:pathLst>
              <a:path w="3386634" h="2181622">
                <a:moveTo>
                  <a:pt x="0" y="101600"/>
                </a:moveTo>
                <a:lnTo>
                  <a:pt x="0" y="101600"/>
                </a:lnTo>
                <a:arcTo wR="101600" hR="101600" stAng="10800000" swAng="5400000"/>
                <a:lnTo>
                  <a:pt x="3285034" y="0"/>
                </a:lnTo>
                <a:arcTo wR="101600" hR="101600" stAng="16200000" swAng="5400000"/>
                <a:lnTo>
                  <a:pt x="3386634" y="101600"/>
                </a:lnTo>
                <a:arcTo wR="101600" hR="38100" stAng="0" swAng="-5400000"/>
                <a:lnTo>
                  <a:pt x="101600" y="63500"/>
                </a:lnTo>
                <a:arcTo wR="101600" hR="38100" stAng="16200000" swAng="-5400000"/>
                <a:close/>
              </a:path>
            </a:pathLst>
          </a:custGeom>
          <a:solidFill>
            <a:srgbClr val="F59E0B"/>
          </a:solidFill>
          <a:ln/>
        </p:spPr>
        <p:txBody>
          <a:bodyPr/>
          <a:lstStyle/>
          <a:p>
            <a:endParaRPr lang="en-JP"/>
          </a:p>
        </p:txBody>
      </p:sp>
      <p:pic>
        <p:nvPicPr>
          <p:cNvPr id="16" name="Image 2" descr="Chart"/>
          <p:cNvPicPr>
            <a:picLocks noChangeAspect="1"/>
          </p:cNvPicPr>
          <p:nvPr/>
        </p:nvPicPr>
        <p:blipFill>
          <a:blip r:embed="rId5"/>
          <a:srcRect/>
          <a:stretch/>
        </p:blipFill>
        <p:spPr>
          <a:xfrm>
            <a:off x="8246566" y="2456061"/>
            <a:ext cx="355600" cy="355600"/>
          </a:xfrm>
          <a:prstGeom prst="rect">
            <a:avLst/>
          </a:prstGeom>
        </p:spPr>
      </p:pic>
      <p:sp>
        <p:nvSpPr>
          <p:cNvPr id="17" name="Text 12"/>
          <p:cNvSpPr/>
          <p:nvPr/>
        </p:nvSpPr>
        <p:spPr>
          <a:xfrm>
            <a:off x="8246566" y="291326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A"/>
                </a:solidFill>
                <a:latin typeface="Inter" pitchFamily="34" charset="0"/>
                <a:ea typeface="Inter" pitchFamily="34" charset="-122"/>
                <a:cs typeface="Inter" pitchFamily="34" charset="-120"/>
              </a:rPr>
              <a:t>Cost and licensing</a:t>
            </a:r>
            <a:endParaRPr lang="en-US" sz="2000" dirty="0"/>
          </a:p>
        </p:txBody>
      </p:sp>
      <p:sp>
        <p:nvSpPr>
          <p:cNvPr id="18" name="Text 13"/>
          <p:cNvSpPr/>
          <p:nvPr/>
        </p:nvSpPr>
        <p:spPr>
          <a:xfrm>
            <a:off x="8246566" y="3319661"/>
            <a:ext cx="296499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45C"/>
                </a:solidFill>
                <a:latin typeface="Inter" pitchFamily="34" charset="0"/>
                <a:ea typeface="Inter" pitchFamily="34" charset="-122"/>
                <a:cs typeface="Inter" pitchFamily="34" charset="-120"/>
              </a:rPr>
              <a:t>Tiers, data limits and add-ons. Judge total cost of ownership.</a:t>
            </a:r>
            <a:endParaRPr lang="en-US" sz="1400" dirty="0"/>
          </a:p>
        </p:txBody>
      </p:sp>
      <p:sp>
        <p:nvSpPr>
          <p:cNvPr id="19"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7A6E"/>
        </a:solidFill>
        <a:effectLst/>
      </p:bgPr>
    </p:bg>
    <p:spTree>
      <p:nvGrpSpPr>
        <p:cNvPr id="1" name=""/>
        <p:cNvGrpSpPr/>
        <p:nvPr/>
      </p:nvGrpSpPr>
      <p:grpSpPr>
        <a:xfrm>
          <a:off x="0" y="0"/>
          <a:ext cx="0" cy="0"/>
          <a:chOff x="0" y="0"/>
          <a:chExt cx="0" cy="0"/>
        </a:xfrm>
      </p:grpSpPr>
      <p:sp>
        <p:nvSpPr>
          <p:cNvPr id="2" name="Text 0"/>
          <p:cNvSpPr/>
          <p:nvPr/>
        </p:nvSpPr>
        <p:spPr>
          <a:xfrm>
            <a:off x="812800" y="169306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FF5EF"/>
                </a:solidFill>
                <a:latin typeface="Inter" pitchFamily="34" charset="0"/>
                <a:ea typeface="Inter" pitchFamily="34" charset="-122"/>
                <a:cs typeface="Inter" pitchFamily="34" charset="-120"/>
              </a:rPr>
              <a:t>A BURMESE PROVERB</a:t>
            </a:r>
            <a:endParaRPr lang="en-US" sz="1400" dirty="0"/>
          </a:p>
        </p:txBody>
      </p:sp>
      <p:sp>
        <p:nvSpPr>
          <p:cNvPr id="3" name="Text 1"/>
          <p:cNvSpPr>
            <a:spLocks noGrp="1"/>
          </p:cNvSpPr>
          <p:nvPr>
            <p:ph type="title"/>
          </p:nvPr>
        </p:nvSpPr>
        <p:spPr>
          <a:xfrm>
            <a:off x="812800" y="2246709"/>
            <a:ext cx="10137775" cy="1953022"/>
          </a:xfrm>
          <a:prstGeom prst="rect">
            <a:avLst/>
          </a:prstGeom>
          <a:noFill/>
          <a:ln/>
        </p:spPr>
        <p:txBody>
          <a:bodyPr wrap="square" lIns="0" tIns="0" rIns="0" bIns="0" rtlCol="0" anchor="t">
            <a:normAutofit/>
          </a:bodyPr>
          <a:lstStyle/>
          <a:p>
            <a:pPr marL="0" indent="0" algn="l">
              <a:lnSpc>
                <a:spcPts val="5060"/>
              </a:lnSpc>
              <a:buNone/>
            </a:pPr>
            <a:r>
              <a:rPr lang="en-US" sz="4400" b="1" i="0" dirty="0">
                <a:solidFill>
                  <a:srgbClr val="F5F7FA"/>
                </a:solidFill>
                <a:latin typeface="Inter" pitchFamily="34" charset="0"/>
                <a:ea typeface="Inter" pitchFamily="34" charset="-122"/>
                <a:cs typeface="Inter" pitchFamily="34" charset="-120"/>
              </a:rPr>
              <a:t>“A snail that tries to imitate a frog’s leap may end up stranded in the pond.”</a:t>
            </a:r>
            <a:endParaRPr lang="en-US" sz="4400" dirty="0"/>
          </a:p>
        </p:txBody>
      </p:sp>
      <p:sp>
        <p:nvSpPr>
          <p:cNvPr id="4" name="Text 2"/>
          <p:cNvSpPr/>
          <p:nvPr/>
        </p:nvSpPr>
        <p:spPr>
          <a:xfrm>
            <a:off x="812800" y="4479131"/>
            <a:ext cx="9483725"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E6FAF6"/>
                </a:solidFill>
                <a:latin typeface="Inter" pitchFamily="34" charset="0"/>
                <a:ea typeface="Inter" pitchFamily="34" charset="-122"/>
                <a:cs typeface="Inter" pitchFamily="34" charset="-120"/>
              </a:rPr>
              <a:t>Don’t follow security trends blindly. Decide based on your own risks, priorities and resources.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6FD1"/>
                </a:solidFill>
                <a:latin typeface="Inter" pitchFamily="34" charset="0"/>
                <a:ea typeface="Inter" pitchFamily="34" charset="-122"/>
                <a:cs typeface="Inter" pitchFamily="34" charset="-120"/>
              </a:rPr>
              <a:t>04 · BRINGING IT TOGETHER</a:t>
            </a:r>
            <a:endParaRPr lang="en-US" sz="1200" dirty="0"/>
          </a:p>
        </p:txBody>
      </p:sp>
      <p:sp>
        <p:nvSpPr>
          <p:cNvPr id="3" name="Text 1"/>
          <p:cNvSpPr>
            <a:spLocks noGrp="1"/>
          </p:cNvSpPr>
          <p:nvPr>
            <p:ph type="title"/>
          </p:nvPr>
        </p:nvSpPr>
        <p:spPr>
          <a:xfrm>
            <a:off x="812800" y="1330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A"/>
                </a:solidFill>
                <a:latin typeface="Inter" pitchFamily="34" charset="0"/>
                <a:ea typeface="Inter" pitchFamily="34" charset="-122"/>
                <a:cs typeface="Inter" pitchFamily="34" charset="-120"/>
              </a:rPr>
              <a:t>Real security needs all three</a:t>
            </a:r>
            <a:endParaRPr lang="en-US" sz="3600" dirty="0"/>
          </a:p>
        </p:txBody>
      </p:sp>
      <p:sp>
        <p:nvSpPr>
          <p:cNvPr id="4" name="Shape 2"/>
          <p:cNvSpPr/>
          <p:nvPr/>
        </p:nvSpPr>
        <p:spPr>
          <a:xfrm>
            <a:off x="812800" y="2138561"/>
            <a:ext cx="3109913" cy="2123281"/>
          </a:xfrm>
          <a:prstGeom prst="roundRect">
            <a:avLst>
              <a:gd name="adj" fmla="val 478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5" name="Image 0" descr="Code"/>
          <p:cNvPicPr>
            <a:picLocks noChangeAspect="1"/>
          </p:cNvPicPr>
          <p:nvPr/>
        </p:nvPicPr>
        <p:blipFill>
          <a:blip r:embed="rId3"/>
          <a:srcRect/>
          <a:stretch/>
        </p:blipFill>
        <p:spPr>
          <a:xfrm>
            <a:off x="2139156" y="2443361"/>
            <a:ext cx="457200" cy="457200"/>
          </a:xfrm>
          <a:prstGeom prst="rect">
            <a:avLst/>
          </a:prstGeom>
        </p:spPr>
      </p:pic>
      <p:sp>
        <p:nvSpPr>
          <p:cNvPr id="6" name="Text 3"/>
          <p:cNvSpPr/>
          <p:nvPr/>
        </p:nvSpPr>
        <p:spPr>
          <a:xfrm>
            <a:off x="1491347" y="3027561"/>
            <a:ext cx="1752719" cy="330200"/>
          </a:xfrm>
          <a:prstGeom prst="rect">
            <a:avLst/>
          </a:prstGeom>
          <a:noFill/>
          <a:ln/>
        </p:spPr>
        <p:txBody>
          <a:bodyPr wrap="square" lIns="0" tIns="0" rIns="0" bIns="0" rtlCol="0" anchor="t">
            <a:normAutofit/>
          </a:bodyPr>
          <a:lstStyle/>
          <a:p>
            <a:pPr marL="0" indent="0" algn="ctr">
              <a:lnSpc>
                <a:spcPts val="2400"/>
              </a:lnSpc>
              <a:buNone/>
            </a:pPr>
            <a:r>
              <a:rPr lang="en-US" sz="2000" b="1" dirty="0">
                <a:solidFill>
                  <a:srgbClr val="0B1F3A"/>
                </a:solidFill>
                <a:latin typeface="Inter" pitchFamily="34" charset="0"/>
                <a:ea typeface="Inter" pitchFamily="34" charset="-122"/>
                <a:cs typeface="Inter" pitchFamily="34" charset="-120"/>
              </a:rPr>
              <a:t>Technology</a:t>
            </a:r>
            <a:endParaRPr lang="en-US" sz="2000" dirty="0"/>
          </a:p>
        </p:txBody>
      </p:sp>
      <p:sp>
        <p:nvSpPr>
          <p:cNvPr id="7" name="Text 4"/>
          <p:cNvSpPr/>
          <p:nvPr/>
        </p:nvSpPr>
        <p:spPr>
          <a:xfrm>
            <a:off x="1080095" y="3459361"/>
            <a:ext cx="2575322" cy="52308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3445C"/>
                </a:solidFill>
                <a:latin typeface="Inter" pitchFamily="34" charset="0"/>
                <a:ea typeface="Inter" pitchFamily="34" charset="-122"/>
                <a:cs typeface="Inter" pitchFamily="34" charset="-120"/>
              </a:rPr>
              <a:t>EDR, XDR and layered controls</a:t>
            </a:r>
            <a:endParaRPr lang="en-US" sz="1400" dirty="0"/>
          </a:p>
        </p:txBody>
      </p:sp>
      <p:sp>
        <p:nvSpPr>
          <p:cNvPr id="8" name="Text 5"/>
          <p:cNvSpPr/>
          <p:nvPr/>
        </p:nvSpPr>
        <p:spPr>
          <a:xfrm>
            <a:off x="4075113" y="2880122"/>
            <a:ext cx="376238"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59E0B"/>
                </a:solidFill>
                <a:latin typeface="Inter" pitchFamily="34" charset="0"/>
                <a:ea typeface="Inter" pitchFamily="34" charset="-122"/>
                <a:cs typeface="Inter" pitchFamily="34" charset="-120"/>
              </a:rPr>
              <a:t>+</a:t>
            </a:r>
            <a:endParaRPr lang="en-US" sz="3600" dirty="0"/>
          </a:p>
        </p:txBody>
      </p:sp>
      <p:sp>
        <p:nvSpPr>
          <p:cNvPr id="9" name="Shape 6"/>
          <p:cNvSpPr/>
          <p:nvPr/>
        </p:nvSpPr>
        <p:spPr>
          <a:xfrm>
            <a:off x="4541044" y="2138561"/>
            <a:ext cx="3109913" cy="2123281"/>
          </a:xfrm>
          <a:prstGeom prst="roundRect">
            <a:avLst>
              <a:gd name="adj" fmla="val 478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10" name="Image 1" descr="Users"/>
          <p:cNvPicPr>
            <a:picLocks noChangeAspect="1"/>
          </p:cNvPicPr>
          <p:nvPr/>
        </p:nvPicPr>
        <p:blipFill>
          <a:blip r:embed="rId4"/>
          <a:srcRect/>
          <a:stretch/>
        </p:blipFill>
        <p:spPr>
          <a:xfrm>
            <a:off x="5867400" y="2443361"/>
            <a:ext cx="457200" cy="457200"/>
          </a:xfrm>
          <a:prstGeom prst="rect">
            <a:avLst/>
          </a:prstGeom>
        </p:spPr>
      </p:pic>
      <p:sp>
        <p:nvSpPr>
          <p:cNvPr id="11" name="Text 7"/>
          <p:cNvSpPr/>
          <p:nvPr/>
        </p:nvSpPr>
        <p:spPr>
          <a:xfrm>
            <a:off x="5586065" y="3027561"/>
            <a:ext cx="1019770" cy="330200"/>
          </a:xfrm>
          <a:prstGeom prst="rect">
            <a:avLst/>
          </a:prstGeom>
          <a:noFill/>
          <a:ln/>
        </p:spPr>
        <p:txBody>
          <a:bodyPr wrap="square" lIns="0" tIns="0" rIns="0" bIns="0" rtlCol="0" anchor="t">
            <a:normAutofit/>
          </a:bodyPr>
          <a:lstStyle/>
          <a:p>
            <a:pPr marL="0" indent="0" algn="ctr">
              <a:lnSpc>
                <a:spcPts val="2400"/>
              </a:lnSpc>
              <a:buNone/>
            </a:pPr>
            <a:r>
              <a:rPr lang="en-US" sz="2000" b="1" dirty="0">
                <a:solidFill>
                  <a:srgbClr val="0B1F3A"/>
                </a:solidFill>
                <a:latin typeface="Inter" pitchFamily="34" charset="0"/>
                <a:ea typeface="Inter" pitchFamily="34" charset="-122"/>
                <a:cs typeface="Inter" pitchFamily="34" charset="-120"/>
              </a:rPr>
              <a:t>People</a:t>
            </a:r>
            <a:endParaRPr lang="en-US" sz="2000" dirty="0"/>
          </a:p>
        </p:txBody>
      </p:sp>
      <p:sp>
        <p:nvSpPr>
          <p:cNvPr id="12" name="Text 8"/>
          <p:cNvSpPr/>
          <p:nvPr/>
        </p:nvSpPr>
        <p:spPr>
          <a:xfrm>
            <a:off x="4808339" y="3459361"/>
            <a:ext cx="2575322" cy="52308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3445C"/>
                </a:solidFill>
                <a:latin typeface="Inter" pitchFamily="34" charset="0"/>
                <a:ea typeface="Inter" pitchFamily="34" charset="-122"/>
                <a:cs typeface="Inter" pitchFamily="34" charset="-120"/>
              </a:rPr>
              <a:t>Skilled engineers and analysts</a:t>
            </a:r>
            <a:endParaRPr lang="en-US" sz="1400" dirty="0"/>
          </a:p>
        </p:txBody>
      </p:sp>
      <p:sp>
        <p:nvSpPr>
          <p:cNvPr id="13" name="Text 9"/>
          <p:cNvSpPr/>
          <p:nvPr/>
        </p:nvSpPr>
        <p:spPr>
          <a:xfrm>
            <a:off x="7803356" y="2880122"/>
            <a:ext cx="376238"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59E0B"/>
                </a:solidFill>
                <a:latin typeface="Inter" pitchFamily="34" charset="0"/>
                <a:ea typeface="Inter" pitchFamily="34" charset="-122"/>
                <a:cs typeface="Inter" pitchFamily="34" charset="-120"/>
              </a:rPr>
              <a:t>+</a:t>
            </a:r>
            <a:endParaRPr lang="en-US" sz="3600" dirty="0"/>
          </a:p>
        </p:txBody>
      </p:sp>
      <p:sp>
        <p:nvSpPr>
          <p:cNvPr id="14" name="Shape 10"/>
          <p:cNvSpPr/>
          <p:nvPr/>
        </p:nvSpPr>
        <p:spPr>
          <a:xfrm>
            <a:off x="8269288" y="2138561"/>
            <a:ext cx="3109913" cy="2123281"/>
          </a:xfrm>
          <a:prstGeom prst="roundRect">
            <a:avLst>
              <a:gd name="adj" fmla="val 4785"/>
            </a:avLst>
          </a:prstGeom>
          <a:solidFill>
            <a:srgbClr val="FFFFFF"/>
          </a:solidFill>
          <a:ln/>
          <a:effectLst>
            <a:outerShdw blurRad="101600" dist="25400" dir="5400000" algn="bl" rotWithShape="0">
              <a:srgbClr val="0B1F3A">
                <a:alpha val="8000"/>
              </a:srgbClr>
            </a:outerShdw>
          </a:effectLst>
        </p:spPr>
        <p:txBody>
          <a:bodyPr/>
          <a:lstStyle/>
          <a:p>
            <a:endParaRPr lang="en-JP"/>
          </a:p>
        </p:txBody>
      </p:sp>
      <p:pic>
        <p:nvPicPr>
          <p:cNvPr id="15" name="Image 2" descr="Lightbulb"/>
          <p:cNvPicPr>
            <a:picLocks noChangeAspect="1"/>
          </p:cNvPicPr>
          <p:nvPr/>
        </p:nvPicPr>
        <p:blipFill>
          <a:blip r:embed="rId5"/>
          <a:srcRect/>
          <a:stretch/>
        </p:blipFill>
        <p:spPr>
          <a:xfrm>
            <a:off x="9595644" y="2443361"/>
            <a:ext cx="457200" cy="457200"/>
          </a:xfrm>
          <a:prstGeom prst="rect">
            <a:avLst/>
          </a:prstGeom>
        </p:spPr>
      </p:pic>
      <p:sp>
        <p:nvSpPr>
          <p:cNvPr id="16" name="Text 11"/>
          <p:cNvSpPr/>
          <p:nvPr/>
        </p:nvSpPr>
        <p:spPr>
          <a:xfrm>
            <a:off x="9187031" y="3027561"/>
            <a:ext cx="1274326" cy="330200"/>
          </a:xfrm>
          <a:prstGeom prst="rect">
            <a:avLst/>
          </a:prstGeom>
          <a:noFill/>
          <a:ln/>
        </p:spPr>
        <p:txBody>
          <a:bodyPr wrap="square" lIns="0" tIns="0" rIns="0" bIns="0" rtlCol="0" anchor="t">
            <a:normAutofit/>
          </a:bodyPr>
          <a:lstStyle/>
          <a:p>
            <a:pPr marL="0" indent="0" algn="ctr">
              <a:lnSpc>
                <a:spcPts val="2400"/>
              </a:lnSpc>
              <a:buNone/>
            </a:pPr>
            <a:r>
              <a:rPr lang="en-US" sz="2000" b="1" dirty="0">
                <a:solidFill>
                  <a:srgbClr val="0B1F3A"/>
                </a:solidFill>
                <a:latin typeface="Inter" pitchFamily="34" charset="0"/>
                <a:ea typeface="Inter" pitchFamily="34" charset="-122"/>
                <a:cs typeface="Inter" pitchFamily="34" charset="-120"/>
              </a:rPr>
              <a:t>Strategy</a:t>
            </a:r>
            <a:endParaRPr lang="en-US" sz="2000" dirty="0"/>
          </a:p>
        </p:txBody>
      </p:sp>
      <p:sp>
        <p:nvSpPr>
          <p:cNvPr id="17" name="Text 12"/>
          <p:cNvSpPr/>
          <p:nvPr/>
        </p:nvSpPr>
        <p:spPr>
          <a:xfrm>
            <a:off x="8536583" y="3459361"/>
            <a:ext cx="2575322" cy="52308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3445C"/>
                </a:solidFill>
                <a:latin typeface="Inter" pitchFamily="34" charset="0"/>
                <a:ea typeface="Inter" pitchFamily="34" charset="-122"/>
                <a:cs typeface="Inter" pitchFamily="34" charset="-120"/>
              </a:rPr>
              <a:t>Defense in Depth, based on risk</a:t>
            </a:r>
            <a:endParaRPr lang="en-US" sz="1400" dirty="0"/>
          </a:p>
        </p:txBody>
      </p:sp>
      <p:sp>
        <p:nvSpPr>
          <p:cNvPr id="18" name="Text 13"/>
          <p:cNvSpPr/>
          <p:nvPr/>
        </p:nvSpPr>
        <p:spPr>
          <a:xfrm>
            <a:off x="812800" y="4566642"/>
            <a:ext cx="113792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3445C"/>
                </a:solidFill>
                <a:latin typeface="Inter" pitchFamily="34" charset="0"/>
                <a:ea typeface="Inter" pitchFamily="34" charset="-122"/>
                <a:cs typeface="Inter" pitchFamily="34" charset="-120"/>
              </a:rPr>
              <a:t>Cybersecurity can't be bought off the shelf. Neither EDR nor XDR is a complete solution on its own.</a:t>
            </a:r>
            <a:endParaRPr lang="en-US" sz="1600" dirty="0"/>
          </a:p>
        </p:txBody>
      </p:sp>
      <p:sp>
        <p:nvSpPr>
          <p:cNvPr id="19"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Is EDR Alone Enough?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1F3A"/>
              </a:gs>
              <a:gs pos="60000">
                <a:srgbClr val="12386B"/>
              </a:gs>
              <a:gs pos="100000">
                <a:srgbClr val="1F6FD1"/>
              </a:gs>
            </a:gsLst>
            <a:lin ang="1800000" scaled="0"/>
          </a:gradFill>
          <a:ln/>
        </p:spPr>
        <p:txBody>
          <a:bodyPr/>
          <a:lstStyle/>
          <a:p>
            <a:endParaRPr lang="en-JP"/>
          </a:p>
        </p:txBody>
      </p:sp>
      <p:sp>
        <p:nvSpPr>
          <p:cNvPr id="3" name="Text 1"/>
          <p:cNvSpPr>
            <a:spLocks noGrp="1"/>
          </p:cNvSpPr>
          <p:nvPr>
            <p:ph type="title"/>
          </p:nvPr>
        </p:nvSpPr>
        <p:spPr>
          <a:xfrm>
            <a:off x="812800" y="2550220"/>
            <a:ext cx="10883392" cy="848320"/>
          </a:xfrm>
          <a:prstGeom prst="rect">
            <a:avLst/>
          </a:prstGeom>
          <a:noFill/>
          <a:ln/>
        </p:spPr>
        <p:txBody>
          <a:bodyPr wrap="square" lIns="0" tIns="0" rIns="0" bIns="0" rtlCol="0" anchor="t">
            <a:normAutofit/>
          </a:bodyPr>
          <a:lstStyle/>
          <a:p>
            <a:pPr marL="0" indent="0" algn="l">
              <a:lnSpc>
                <a:spcPts val="6480"/>
              </a:lnSpc>
              <a:buNone/>
            </a:pPr>
            <a:r>
              <a:rPr lang="en-US" sz="6000" b="1" i="0" dirty="0">
                <a:solidFill>
                  <a:srgbClr val="F5F7FA"/>
                </a:solidFill>
                <a:latin typeface="Inter" pitchFamily="34" charset="0"/>
                <a:ea typeface="Inter" pitchFamily="34" charset="-122"/>
                <a:cs typeface="Inter" pitchFamily="34" charset="-120"/>
              </a:rPr>
              <a:t>Thank you</a:t>
            </a:r>
            <a:endParaRPr lang="en-US" sz="6000" dirty="0"/>
          </a:p>
        </p:txBody>
      </p:sp>
      <p:sp>
        <p:nvSpPr>
          <p:cNvPr id="4" name="Shape 2"/>
          <p:cNvSpPr/>
          <p:nvPr/>
        </p:nvSpPr>
        <p:spPr>
          <a:xfrm>
            <a:off x="812800" y="3627140"/>
            <a:ext cx="1143000" cy="63500"/>
          </a:xfrm>
          <a:prstGeom prst="roundRect">
            <a:avLst>
              <a:gd name="adj" fmla="val 50000"/>
            </a:avLst>
          </a:prstGeom>
          <a:solidFill>
            <a:srgbClr val="F59E0B"/>
          </a:solidFill>
          <a:ln/>
        </p:spPr>
        <p:txBody>
          <a:bodyPr/>
          <a:lstStyle/>
          <a:p>
            <a:endParaRPr lang="en-JP"/>
          </a:p>
        </p:txBody>
      </p:sp>
      <p:sp>
        <p:nvSpPr>
          <p:cNvPr id="5" name="Text 3"/>
          <p:cNvSpPr/>
          <p:nvPr/>
        </p:nvSpPr>
        <p:spPr>
          <a:xfrm>
            <a:off x="812800" y="3944640"/>
            <a:ext cx="9156700"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DCE9F8"/>
                </a:solidFill>
                <a:latin typeface="Inter" pitchFamily="34" charset="0"/>
                <a:ea typeface="Inter" pitchFamily="34" charset="-122"/>
                <a:cs typeface="Inter" pitchFamily="34" charset="-120"/>
              </a:rPr>
              <a:t>Questions and discussion</a:t>
            </a:r>
            <a:endParaRPr lang="en-US" sz="2200" dirty="0"/>
          </a:p>
        </p:txBody>
      </p:sp>
      <p:sp>
        <p:nvSpPr>
          <p:cNvPr id="6" name="Text 4"/>
          <p:cNvSpPr/>
          <p:nvPr/>
        </p:nvSpPr>
        <p:spPr>
          <a:xfrm>
            <a:off x="812800" y="5999559"/>
            <a:ext cx="91567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CE6"/>
                </a:solidFill>
                <a:latin typeface="Inter" pitchFamily="34" charset="0"/>
                <a:ea typeface="Inter" pitchFamily="34" charset="-122"/>
                <a:cs typeface="Inter" pitchFamily="34" charset="-120"/>
              </a:rPr>
              <a:t>[Presenter name] · [LinkedIn / contact]</a:t>
            </a:r>
            <a:endParaRPr lang="en-US" sz="1400" dirty="0"/>
          </a:p>
        </p:txBody>
      </p:sp>
    </p:spTree>
  </p:cSld>
  <p:clrMapOvr>
    <a:masterClrMapping/>
  </p:clrMapOvr>
</p:sld>
</file>

<file path=ppt/theme/theme1.xml><?xml version="1.0" encoding="utf-8"?>
<a:theme xmlns:a="http://schemas.openxmlformats.org/drawingml/2006/main" name="Is EDR Alone Enough? Why Do We Need XDR?">
  <a:themeElements>
    <a:clrScheme name="Is EDR Alone Enough? Why Do We Need XDR?">
      <a:dk1>
        <a:srgbClr val="0B1F3A"/>
      </a:dk1>
      <a:lt1>
        <a:srgbClr val="F5F7FA"/>
      </a:lt1>
      <a:dk2>
        <a:srgbClr val="46556A"/>
      </a:dk2>
      <a:lt2>
        <a:srgbClr val="DEE1E7"/>
      </a:lt2>
      <a:accent1>
        <a:srgbClr val="33445C"/>
      </a:accent1>
      <a:accent2>
        <a:srgbClr val="1F6FD1"/>
      </a:accent2>
      <a:accent3>
        <a:srgbClr val="F59E0B"/>
      </a:accent3>
      <a:accent4>
        <a:srgbClr val="0B7A6E"/>
      </a:accent4>
      <a:accent5>
        <a:srgbClr val="9CC3EE"/>
      </a:accent5>
      <a:accent6>
        <a:srgbClr val="12386B"/>
      </a:accent6>
      <a:hlink>
        <a:srgbClr val="0563C1"/>
      </a:hlink>
      <a:folHlink>
        <a:srgbClr val="954F72"/>
      </a:folHlink>
    </a:clrScheme>
    <a:fontScheme name="Is EDR Alone Enough? Why Do We Need XDR?">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1912</Words>
  <Application>Microsoft Macintosh PowerPoint</Application>
  <PresentationFormat>Widescreen</PresentationFormat>
  <Paragraphs>113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Inter</vt:lpstr>
      <vt:lpstr>Is EDR Alone Enough? Why Do We Need XDR?</vt:lpstr>
      <vt:lpstr>Is EDR Alone Enough? Why Do We Need XDR?</vt:lpstr>
      <vt:lpstr>Four questions in ten minutes</vt:lpstr>
      <vt:lpstr>What EDR does</vt:lpstr>
      <vt:lpstr>On-premises or cloud-based?</vt:lpstr>
      <vt:lpstr>No.</vt:lpstr>
      <vt:lpstr>EDR sees one piece. XDR connects the story.</vt:lpstr>
      <vt:lpstr>Security works in layers, like an onion</vt:lpstr>
      <vt:lpstr>A phishing attack, seen two ways</vt:lpstr>
      <vt:lpstr>Four key benefits of XDR</vt:lpstr>
      <vt:lpstr>XDR has challenges too</vt:lpstr>
      <vt:lpstr>“A snail that tries to imitate a frog’s leap may end up stranded in the pond.”</vt:lpstr>
      <vt:lpstr>Real security needs all three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EDR Alone Enough? Why Do We Need XDR?</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ZIN MAR LWIN</cp:lastModifiedBy>
  <cp:revision>2</cp:revision>
  <dcterms:created xsi:type="dcterms:W3CDTF">2026-10-30T15:00:50Z</dcterms:created>
  <dcterms:modified xsi:type="dcterms:W3CDTF">2026-11-01T03:49:43Z</dcterms:modified>
</cp:coreProperties>
</file>