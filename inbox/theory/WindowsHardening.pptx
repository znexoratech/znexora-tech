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B047A28-D3F3-DB7F-9716-13AFE87B0EE2}">
          <p14:sldIdLst>
            <p14:sldId id="256"/>
          </p14:sldIdLst>
        </p14:section>
        <p14:section name="Foundations" id="{4E5BFE7F-FD4A-D1D7-2561-6CC201AF9EC3}">
          <p14:sldIdLst>
            <p14:sldId id="257"/>
            <p14:sldId id="258"/>
          </p14:sldIdLst>
        </p14:section>
        <p14:section name="Hardening Controls" id="{BE554189-66D6-2D45-BD9F-86E686D47FB2}">
          <p14:sldIdLst>
            <p14:sldId id="259"/>
            <p14:sldId id="260"/>
            <p14:sldId id="261"/>
            <p14:sldId id="262"/>
            <p14:sldId id="263"/>
            <p14:sldId id="264"/>
            <p14:sldId id="265"/>
          </p14:sldIdLst>
        </p14:section>
        <p14:section name="Detection &amp; Data" id="{5BEDD634-5DFD-4ED3-493F-2FD7A45E061E}">
          <p14:sldIdLst>
            <p14:sldId id="266"/>
            <p14:sldId id="267"/>
          </p14:sldIdLst>
        </p14:section>
        <p14:section name="Summary" id="{D6C1086C-F905-7368-29CC-96E0DC1C7BB7}">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4" d="100"/>
          <a:sy n="124" d="100"/>
        </p:scale>
        <p:origin x="28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12391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session is a practical guide to hardening Windows endpoints, aligned with Microsoft Security Baselines, the CIS Benchmarks and the NIST Cybersecurity Framework.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Hardening means changing default and weak configurations so there are fewer ways in. The five objectives on the left are what every control in this deck supports.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real-world breaches use known techniques: stolen credentials, commodity ransomware and simple misconfigurations such as exposed RDP. Fixing configuration closes these doors long before a zero-day is needed.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organise hardening into six layers. No single control is perfect, so defense-in-depth means an attacker who gets past one layer still faces the next. The rest of the deck walks through these layers.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Identity is the new perimeter. Enforce MFA, give users only the rights they need, use separate admin accounts from privileged access workstations, and lock out repeated failed logons. This limits stolen credentials and lateral movement.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Unpatched software is one of the most exploited weaknesses. Cover Windows, Office, Edge and third-party apps, run a monthly cycle with an emergency path for critical fixes, and prioritise by real risk using vulnerability scans.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Windows ships with a strong built-in stack. Antivirus, firewall and SmartScreen protect each device, and Defender for Endpoint adds behavioural detection, threat intelligence and central visibility for the security team.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Attack Surface Reduction rules in Defender stop the behaviours malware relies on, such as Office macros launching processes, obfuscated scripts and access to LSASS credentials. Start in audit mode, review the impact, then enforce.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expose RDP directly to the internet. Route remote access through a VPN, require MFA and Network Level Authentication, and restrict who can connect. On the network side, keep the firewall on, disable SMBv1 and unused services, and require modern TLS.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control flips the model from blocking known bad to allowing only known good. AppLocker controls executables, scripts, installers and DLLs, while WDAC enforces trust at the kernel level. Roll out in audit mode first.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cannot defend what you cannot see. Collect logons, privilege changes, group membership changes, PowerShell activity and other security events, and forward them to Microsoft Sentinel, Azure Monitor or your SIEM for correlation and alerting.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BitLocker encrypts the whole drive, so a lost or stolen laptop does not become a data breach. Use the TPM, escrow recovery keys centrally in Entra ID or Active Directory, and use AES-256 where policy requires.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quick audit of any Windows estate. If any of these ten items is missing, that is where to start. Re-check the baseline after major updates and at least quarterly.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protect identities, lock down configurations, patch continuously, monitor everything, encrypt sensitive data and be ready for incidents. Hardening is never finished; it is a cycle of improvement.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take questions or hear how your teams approach Windows hardening today.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Light">
    <p:bg>
      <p:bgPr>
        <a:solidFill>
          <a:srgbClr val="F4F7FB"/>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64240" cy="292608"/>
          </a:xfrm>
          <a:prstGeom prst="rect">
            <a:avLst/>
          </a:prstGeom>
          <a:noFill/>
          <a:ln/>
        </p:spPr>
        <p:txBody>
          <a:bodyPr wrap="square" rtlCol="0"/>
          <a:lstStyle>
            <a:lvl1pPr marL="0" indent="0">
              <a:buNone/>
              <a:defRPr lang="en-US" sz="1200" b="1" kern="0" spc="200" dirty="0">
                <a:solidFill>
                  <a:srgbClr val="0078D4"/>
                </a:solidFill>
                <a:latin typeface="Calibri" pitchFamily="34" charset="0"/>
                <a:ea typeface="Calibri" pitchFamily="34" charset="-122"/>
                <a:cs typeface="Calibri" pitchFamily="34" charset="-120"/>
              </a:defRPr>
            </a:lvl1pPr>
          </a:lstStyle>
          <a:p>
            <a:pPr marL="0" indent="0">
              <a:buNone/>
            </a:pPr>
            <a:endParaRPr lang="en-US" sz="1200" dirty="0"/>
          </a:p>
        </p:txBody>
      </p:sp>
      <p:sp>
        <p:nvSpPr>
          <p:cNvPr id="3" name="Text 0"/>
          <p:cNvSpPr>
            <a:spLocks noGrp="1"/>
          </p:cNvSpPr>
          <p:nvPr>
            <p:ph type="title" idx="101" hasCustomPrompt="1"/>
          </p:nvPr>
        </p:nvSpPr>
        <p:spPr>
          <a:xfrm>
            <a:off x="548640" y="640080"/>
            <a:ext cx="11064240" cy="731520"/>
          </a:xfrm>
          <a:prstGeom prst="rect">
            <a:avLst/>
          </a:prstGeom>
          <a:noFill/>
          <a:ln/>
        </p:spPr>
        <p:txBody>
          <a:bodyPr wrap="square" rtlCol="0"/>
          <a:lstStyle>
            <a:lvl1pPr marL="0" indent="0" algn="l">
              <a:buNone/>
              <a:defRPr lang="en-US" sz="3600" b="1" dirty="0">
                <a:solidFill>
                  <a:srgbClr val="0B1F33"/>
                </a:solidFill>
                <a:latin typeface="Arial" pitchFamily="34" charset="0"/>
                <a:ea typeface="Arial" pitchFamily="34" charset="-122"/>
                <a:cs typeface="Arial" pitchFamily="34" charset="-120"/>
              </a:defRPr>
            </a:lvl1pPr>
          </a:lstStyle>
          <a:p>
            <a:pPr marL="0" indent="0" algn="l">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4A5A6B"/>
                </a:solidFill>
                <a:latin typeface="Calibri" pitchFamily="34" charset="0"/>
                <a:ea typeface="Calibri" pitchFamily="34" charset="-122"/>
                <a:cs typeface="Calibri" pitchFamily="34" charset="-120"/>
              </a:rPr>
              <a:t>ZNexora Tech  |  Windows Security Hardening</a:t>
            </a:r>
            <a:endParaRPr lang="en-US" sz="1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A6B"/>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Dark">
    <p:bg>
      <p:bgPr>
        <a:solidFill>
          <a:srgbClr val="0A1628"/>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64240" cy="292608"/>
          </a:xfrm>
          <a:prstGeom prst="rect">
            <a:avLst/>
          </a:prstGeom>
          <a:noFill/>
          <a:ln/>
        </p:spPr>
        <p:txBody>
          <a:bodyPr wrap="square" rtlCol="0"/>
          <a:lstStyle>
            <a:lvl1pPr marL="0" indent="0">
              <a:buNone/>
              <a:defRPr lang="en-US" sz="1200" b="1" kern="0" spc="200" dirty="0">
                <a:solidFill>
                  <a:srgbClr val="00B7C3"/>
                </a:solidFill>
                <a:latin typeface="Calibri" pitchFamily="34" charset="0"/>
                <a:ea typeface="Calibri" pitchFamily="34" charset="-122"/>
                <a:cs typeface="Calibri" pitchFamily="34" charset="-120"/>
              </a:defRPr>
            </a:lvl1pPr>
          </a:lstStyle>
          <a:p>
            <a:pPr marL="0" indent="0">
              <a:buNone/>
            </a:pPr>
            <a:endParaRPr lang="en-US" sz="1200" dirty="0"/>
          </a:p>
        </p:txBody>
      </p:sp>
      <p:sp>
        <p:nvSpPr>
          <p:cNvPr id="3" name="Text 0"/>
          <p:cNvSpPr>
            <a:spLocks noGrp="1"/>
          </p:cNvSpPr>
          <p:nvPr>
            <p:ph type="title" idx="101" hasCustomPrompt="1"/>
          </p:nvPr>
        </p:nvSpPr>
        <p:spPr>
          <a:xfrm>
            <a:off x="548640" y="640080"/>
            <a:ext cx="11064240" cy="731520"/>
          </a:xfrm>
          <a:prstGeom prst="rect">
            <a:avLst/>
          </a:prstGeom>
          <a:noFill/>
          <a:ln/>
        </p:spPr>
        <p:txBody>
          <a:bodyPr wrap="square" rtlCol="0"/>
          <a:lstStyle>
            <a:lvl1pPr marL="0" indent="0" algn="l">
              <a:buNone/>
              <a:defRPr lang="en-US" sz="3600" b="1" dirty="0">
                <a:solidFill>
                  <a:srgbClr val="FFFFFF"/>
                </a:solidFill>
                <a:latin typeface="Arial" pitchFamily="34" charset="0"/>
                <a:ea typeface="Arial" pitchFamily="34" charset="-122"/>
                <a:cs typeface="Arial" pitchFamily="34" charset="-120"/>
              </a:defRPr>
            </a:lvl1pPr>
          </a:lstStyle>
          <a:p>
            <a:pPr marL="0" indent="0" algn="l">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9FB3C8"/>
                </a:solidFill>
                <a:latin typeface="Calibri" pitchFamily="34" charset="0"/>
                <a:ea typeface="Calibri" pitchFamily="34" charset="-122"/>
                <a:cs typeface="Calibri" pitchFamily="34" charset="-120"/>
              </a:rPr>
              <a:t>ZNexora Tech  |  Windows Security Hardening</a:t>
            </a:r>
            <a:endParaRPr lang="en-US" sz="1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3C8"/>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Dark">
    <p:bg>
      <p:bgPr>
        <a:solidFill>
          <a:srgbClr val="0A1628"/>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508760"/>
            <a:ext cx="6309360" cy="1463040"/>
          </a:xfrm>
          <a:prstGeom prst="rect">
            <a:avLst/>
          </a:prstGeom>
          <a:noFill/>
          <a:ln/>
        </p:spPr>
        <p:txBody>
          <a:bodyPr wrap="square" rtlCol="0"/>
          <a:lstStyle>
            <a:lvl1pPr marL="0" indent="0" algn="l">
              <a:buNone/>
              <a:defRPr lang="en-US" sz="4400" b="1" dirty="0">
                <a:solidFill>
                  <a:srgbClr val="FFFFFF"/>
                </a:solidFill>
                <a:latin typeface="Arial" pitchFamily="34" charset="0"/>
                <a:ea typeface="Arial" pitchFamily="34" charset="-122"/>
                <a:cs typeface="Arial"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548640" y="3063240"/>
            <a:ext cx="6035040" cy="822960"/>
          </a:xfrm>
          <a:prstGeom prst="rect">
            <a:avLst/>
          </a:prstGeom>
          <a:noFill/>
          <a:ln/>
        </p:spPr>
        <p:txBody>
          <a:bodyPr wrap="square" rtlCol="0"/>
          <a:lstStyle>
            <a:lvl1pPr marL="0" indent="0">
              <a:buNone/>
              <a:defRPr lang="en-US" sz="2000" dirty="0">
                <a:solidFill>
                  <a:srgbClr val="CADCFC"/>
                </a:solidFill>
                <a:latin typeface="Calibri" pitchFamily="34" charset="0"/>
                <a:ea typeface="Calibri" pitchFamily="34" charset="-122"/>
                <a:cs typeface="Calibri" pitchFamily="34" charset="-120"/>
              </a:defRPr>
            </a:lvl1pPr>
          </a:lstStyle>
          <a:p>
            <a:pPr marL="0" indent="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A6B"/>
                </a:solidFill>
                <a:latin typeface="Calibri"/>
                <a:ea typeface="Calibri"/>
                <a:cs typeface="Calibr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png"/><Relationship Id="rId4" Type="http://schemas.openxmlformats.org/officeDocument/2006/relationships/image" Target="../media/image15.png"/><Relationship Id="rId9" Type="http://schemas.openxmlformats.org/officeDocument/2006/relationships/image" Target="../media/image20.png"/></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5.png"/><Relationship Id="rId7" Type="http://schemas.openxmlformats.org/officeDocument/2006/relationships/image" Target="../media/image34.png"/><Relationship Id="rId12"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33.png"/><Relationship Id="rId11" Type="http://schemas.openxmlformats.org/officeDocument/2006/relationships/image" Target="../media/image6.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40.png"/><Relationship Id="rId4" Type="http://schemas.openxmlformats.org/officeDocument/2006/relationships/image" Target="../media/image39.png"/></Relationships>
</file>

<file path=ppt/slides/_rels/slide9.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1.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10" Type="http://schemas.openxmlformats.org/officeDocument/2006/relationships/image" Target="../media/image2.png"/><Relationship Id="rId4" Type="http://schemas.openxmlformats.org/officeDocument/2006/relationships/image" Target="../media/image42.png"/><Relationship Id="rId9"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10" Type="http://schemas.openxmlformats.org/officeDocument/2006/relationships/image" Target="../media/image21.png"/><Relationship Id="rId4" Type="http://schemas.openxmlformats.org/officeDocument/2006/relationships/image" Target="../media/image47.png"/><Relationship Id="rId9" Type="http://schemas.openxmlformats.org/officeDocument/2006/relationships/image" Target="../media/image52.png"/></Relationships>
</file>

<file path=ppt/slides/_rels/slide11.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 Id="rId9"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9.png"/><Relationship Id="rId7" Type="http://schemas.openxmlformats.org/officeDocument/2006/relationships/image" Target="../media/image6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0.png"/><Relationship Id="rId11" Type="http://schemas.openxmlformats.org/officeDocument/2006/relationships/image" Target="../media/image2.png"/><Relationship Id="rId5" Type="http://schemas.openxmlformats.org/officeDocument/2006/relationships/image" Target="../media/image7.png"/><Relationship Id="rId10" Type="http://schemas.openxmlformats.org/officeDocument/2006/relationships/image" Target="../media/image64.png"/><Relationship Id="rId4" Type="http://schemas.openxmlformats.org/officeDocument/2006/relationships/image" Target="../media/image41.png"/><Relationship Id="rId9" Type="http://schemas.openxmlformats.org/officeDocument/2006/relationships/image" Target="../media/image63.png"/></Relationships>
</file>

<file path=ppt/slides/_rels/slide13.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75.png"/><Relationship Id="rId3" Type="http://schemas.openxmlformats.org/officeDocument/2006/relationships/image" Target="../media/image65.png"/><Relationship Id="rId7" Type="http://schemas.openxmlformats.org/officeDocument/2006/relationships/image" Target="../media/image69.png"/><Relationship Id="rId12" Type="http://schemas.openxmlformats.org/officeDocument/2006/relationships/image" Target="../media/image74.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68.png"/><Relationship Id="rId11" Type="http://schemas.openxmlformats.org/officeDocument/2006/relationships/image" Target="../media/image73.png"/><Relationship Id="rId5" Type="http://schemas.openxmlformats.org/officeDocument/2006/relationships/image" Target="../media/image67.png"/><Relationship Id="rId10" Type="http://schemas.openxmlformats.org/officeDocument/2006/relationships/image" Target="../media/image72.png"/><Relationship Id="rId4" Type="http://schemas.openxmlformats.org/officeDocument/2006/relationships/image" Target="../media/image66.png"/><Relationship Id="rId9" Type="http://schemas.openxmlformats.org/officeDocument/2006/relationships/image" Target="../media/image71.png"/><Relationship Id="rId14" Type="http://schemas.openxmlformats.org/officeDocument/2006/relationships/image" Target="../media/image76.png"/></Relationships>
</file>

<file path=ppt/slides/_rels/slide14.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14.png"/><Relationship Id="rId7"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26.png"/><Relationship Id="rId4" Type="http://schemas.openxmlformats.org/officeDocument/2006/relationships/image" Target="../media/image77.png"/><Relationship Id="rId9" Type="http://schemas.openxmlformats.org/officeDocument/2006/relationships/image" Target="../media/image52.png"/></Relationships>
</file>

<file path=ppt/slides/_rels/slide1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8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097280"/>
            <a:ext cx="6217920" cy="292608"/>
          </a:xfrm>
          <a:prstGeom prst="rect">
            <a:avLst/>
          </a:prstGeom>
          <a:noFill/>
          <a:ln/>
        </p:spPr>
        <p:txBody>
          <a:bodyPr wrap="square" lIns="0" tIns="0" rIns="0" bIns="0" rtlCol="0" anchor="ctr"/>
          <a:lstStyle/>
          <a:p>
            <a:pPr marL="0" indent="0">
              <a:buNone/>
            </a:pPr>
            <a:r>
              <a:rPr lang="en-US" sz="1200" b="1" kern="0" spc="300" dirty="0">
                <a:solidFill>
                  <a:srgbClr val="00B7C3"/>
                </a:solidFill>
                <a:latin typeface="Calibri" pitchFamily="34" charset="0"/>
                <a:ea typeface="Calibri" pitchFamily="34" charset="-122"/>
                <a:cs typeface="Calibri" pitchFamily="34" charset="-120"/>
              </a:rPr>
              <a:t>ZNEXORA TECH  |  SECURITY BRIEFING</a:t>
            </a:r>
            <a:endParaRPr lang="en-US" sz="1200" dirty="0"/>
          </a:p>
        </p:txBody>
      </p:sp>
      <p:sp>
        <p:nvSpPr>
          <p:cNvPr id="3" name="Text 0"/>
          <p:cNvSpPr>
            <a:spLocks noGrp="1"/>
          </p:cNvSpPr>
          <p:nvPr>
            <p:ph type="title" idx="100" hasCustomPrompt="1"/>
          </p:nvPr>
        </p:nvSpPr>
        <p:spPr>
          <a:xfrm>
            <a:off x="548640" y="1508760"/>
            <a:ext cx="6309360" cy="1463040"/>
          </a:xfrm>
          <a:prstGeom prst="rect">
            <a:avLst/>
          </a:prstGeom>
          <a:noFill/>
          <a:ln/>
        </p:spPr>
        <p:txBody>
          <a:bodyPr wrap="square" lIns="0" tIns="0" rIns="0" bIns="0" rtlCol="0" anchor="t"/>
          <a:lstStyle/>
          <a:p>
            <a:pPr marL="0" indent="0" algn="l">
              <a:buNone/>
            </a:pPr>
            <a:r>
              <a:rPr lang="en-US" sz="4400" b="1" dirty="0">
                <a:solidFill>
                  <a:srgbClr val="FFFFFF"/>
                </a:solidFill>
                <a:latin typeface="Arial" pitchFamily="34" charset="0"/>
                <a:ea typeface="Arial" pitchFamily="34" charset="-122"/>
                <a:cs typeface="Arial" pitchFamily="34" charset="-120"/>
              </a:rPr>
              <a:t>Windows Hardening</a:t>
            </a:r>
            <a:endParaRPr lang="en-US" sz="4400" dirty="0"/>
          </a:p>
        </p:txBody>
      </p:sp>
      <p:sp>
        <p:nvSpPr>
          <p:cNvPr id="4" name="Text 0"/>
          <p:cNvSpPr>
            <a:spLocks noGrp="1"/>
          </p:cNvSpPr>
          <p:nvPr>
            <p:ph type="body" idx="101" hasCustomPrompt="1"/>
          </p:nvPr>
        </p:nvSpPr>
        <p:spPr>
          <a:xfrm>
            <a:off x="548640" y="3063240"/>
            <a:ext cx="6035040" cy="822960"/>
          </a:xfrm>
          <a:prstGeom prst="rect">
            <a:avLst/>
          </a:prstGeom>
          <a:noFill/>
          <a:ln/>
        </p:spPr>
        <p:txBody>
          <a:bodyPr wrap="square" lIns="0" tIns="0" rIns="0" bIns="0" rtlCol="0" anchor="t"/>
          <a:lstStyle/>
          <a:p>
            <a:pPr marL="0" indent="0">
              <a:buNone/>
            </a:pPr>
            <a:r>
              <a:rPr lang="en-US" sz="2000" dirty="0">
                <a:solidFill>
                  <a:srgbClr val="CADCFC"/>
                </a:solidFill>
                <a:latin typeface="Calibri" pitchFamily="34" charset="0"/>
                <a:ea typeface="Calibri" pitchFamily="34" charset="-122"/>
                <a:cs typeface="Calibri" pitchFamily="34" charset="-120"/>
              </a:rPr>
              <a:t>Protecting Enterprise Endpoints Through Secure Configuration</a:t>
            </a:r>
            <a:endParaRPr lang="en-US" sz="2000" dirty="0"/>
          </a:p>
        </p:txBody>
      </p:sp>
      <p:sp>
        <p:nvSpPr>
          <p:cNvPr id="5" name="Text 3"/>
          <p:cNvSpPr txBox="1"/>
          <p:nvPr/>
        </p:nvSpPr>
        <p:spPr>
          <a:xfrm>
            <a:off x="548640" y="3977640"/>
            <a:ext cx="6035040" cy="365760"/>
          </a:xfrm>
          <a:prstGeom prst="rect">
            <a:avLst/>
          </a:prstGeom>
          <a:noFill/>
          <a:ln/>
        </p:spPr>
        <p:txBody>
          <a:bodyPr wrap="square" lIns="0" tIns="0" rIns="0" bIns="0" rtlCol="0" anchor="ctr"/>
          <a:lstStyle/>
          <a:p>
            <a:pPr marL="0" indent="0">
              <a:buNone/>
            </a:pPr>
            <a:r>
              <a:rPr lang="en-US" sz="1500" dirty="0">
                <a:solidFill>
                  <a:srgbClr val="9FB3C8"/>
                </a:solidFill>
                <a:latin typeface="Calibri" pitchFamily="34" charset="0"/>
                <a:ea typeface="Calibri" pitchFamily="34" charset="-122"/>
                <a:cs typeface="Calibri" pitchFamily="34" charset="-120"/>
              </a:rPr>
              <a:t>A Practical Guide for System Administrators and Security Teams</a:t>
            </a:r>
            <a:endParaRPr lang="en-US" sz="1500" dirty="0"/>
          </a:p>
        </p:txBody>
      </p:sp>
      <p:sp>
        <p:nvSpPr>
          <p:cNvPr id="6" name="Text 4"/>
          <p:cNvSpPr txBox="1"/>
          <p:nvPr/>
        </p:nvSpPr>
        <p:spPr>
          <a:xfrm>
            <a:off x="548640" y="4434840"/>
            <a:ext cx="6035040" cy="365760"/>
          </a:xfrm>
          <a:prstGeom prst="rect">
            <a:avLst/>
          </a:prstGeom>
          <a:noFill/>
          <a:ln/>
        </p:spPr>
        <p:txBody>
          <a:bodyPr wrap="square" lIns="0" tIns="0" rIns="0" bIns="0" rtlCol="0" anchor="ctr"/>
          <a:lstStyle/>
          <a:p>
            <a:pPr marL="0" indent="0">
              <a:buNone/>
            </a:pPr>
            <a:r>
              <a:rPr lang="en-US" sz="1500" dirty="0">
                <a:solidFill>
                  <a:srgbClr val="9FB3C8"/>
                </a:solidFill>
                <a:latin typeface="Calibri" pitchFamily="34" charset="0"/>
                <a:ea typeface="Calibri" pitchFamily="34" charset="-122"/>
                <a:cs typeface="Calibri" pitchFamily="34" charset="-120"/>
              </a:rPr>
              <a:t>Presented by: </a:t>
            </a:r>
            <a:r>
              <a:rPr lang="en-US" sz="1500" b="1" dirty="0">
                <a:solidFill>
                  <a:srgbClr val="FFFFFF"/>
                </a:solidFill>
                <a:latin typeface="Calibri" pitchFamily="34" charset="0"/>
                <a:ea typeface="Calibri" pitchFamily="34" charset="-122"/>
                <a:cs typeface="Calibri" pitchFamily="34" charset="-120"/>
              </a:rPr>
              <a:t>ZNexora Tech</a:t>
            </a:r>
            <a:endParaRPr lang="en-US" sz="1500" dirty="0"/>
          </a:p>
        </p:txBody>
      </p:sp>
      <p:sp>
        <p:nvSpPr>
          <p:cNvPr id="7" name="Text 5"/>
          <p:cNvSpPr txBox="1"/>
          <p:nvPr/>
        </p:nvSpPr>
        <p:spPr>
          <a:xfrm>
            <a:off x="548640" y="5120640"/>
            <a:ext cx="2743200" cy="256032"/>
          </a:xfrm>
          <a:prstGeom prst="rect">
            <a:avLst/>
          </a:prstGeom>
          <a:noFill/>
          <a:ln/>
        </p:spPr>
        <p:txBody>
          <a:bodyPr wrap="square" lIns="0" tIns="0" rIns="0" bIns="0" rtlCol="0" anchor="ctr"/>
          <a:lstStyle/>
          <a:p>
            <a:pPr marL="0" indent="0">
              <a:buNone/>
            </a:pPr>
            <a:r>
              <a:rPr lang="en-US" sz="1000" b="1" kern="0" spc="200" dirty="0">
                <a:solidFill>
                  <a:srgbClr val="9FB3C8"/>
                </a:solidFill>
                <a:latin typeface="Calibri" pitchFamily="34" charset="0"/>
                <a:ea typeface="Calibri" pitchFamily="34" charset="-122"/>
                <a:cs typeface="Calibri" pitchFamily="34" charset="-120"/>
              </a:rPr>
              <a:t>REFERENCES</a:t>
            </a:r>
            <a:endParaRPr lang="en-US" sz="1000" dirty="0"/>
          </a:p>
        </p:txBody>
      </p:sp>
      <p:sp>
        <p:nvSpPr>
          <p:cNvPr id="8" name="Shape 6"/>
          <p:cNvSpPr/>
          <p:nvPr/>
        </p:nvSpPr>
        <p:spPr>
          <a:xfrm>
            <a:off x="548640" y="5440680"/>
            <a:ext cx="2240280" cy="384048"/>
          </a:xfrm>
          <a:prstGeom prst="roundRect">
            <a:avLst>
              <a:gd name="adj" fmla="val 50000"/>
            </a:avLst>
          </a:prstGeom>
          <a:solidFill>
            <a:srgbClr val="13294B"/>
          </a:solidFill>
          <a:ln w="12700">
            <a:solidFill>
              <a:srgbClr val="0078D4"/>
            </a:solidFill>
            <a:prstDash val="solid"/>
          </a:ln>
        </p:spPr>
        <p:txBody>
          <a:bodyPr/>
          <a:lstStyle/>
          <a:p>
            <a:endParaRPr lang="en-JP"/>
          </a:p>
        </p:txBody>
      </p:sp>
      <p:sp>
        <p:nvSpPr>
          <p:cNvPr id="9" name="Text 7"/>
          <p:cNvSpPr txBox="1"/>
          <p:nvPr/>
        </p:nvSpPr>
        <p:spPr>
          <a:xfrm>
            <a:off x="548640" y="5440680"/>
            <a:ext cx="224028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Microsoft Security Baselines</a:t>
            </a:r>
            <a:endParaRPr lang="en-US" sz="1100" dirty="0"/>
          </a:p>
        </p:txBody>
      </p:sp>
      <p:sp>
        <p:nvSpPr>
          <p:cNvPr id="10" name="Shape 8"/>
          <p:cNvSpPr/>
          <p:nvPr/>
        </p:nvSpPr>
        <p:spPr>
          <a:xfrm>
            <a:off x="2926080" y="5440680"/>
            <a:ext cx="1325880" cy="384048"/>
          </a:xfrm>
          <a:prstGeom prst="roundRect">
            <a:avLst>
              <a:gd name="adj" fmla="val 50000"/>
            </a:avLst>
          </a:prstGeom>
          <a:solidFill>
            <a:srgbClr val="13294B"/>
          </a:solidFill>
          <a:ln w="12700">
            <a:solidFill>
              <a:srgbClr val="0078D4"/>
            </a:solidFill>
            <a:prstDash val="solid"/>
          </a:ln>
        </p:spPr>
        <p:txBody>
          <a:bodyPr/>
          <a:lstStyle/>
          <a:p>
            <a:endParaRPr lang="en-JP"/>
          </a:p>
        </p:txBody>
      </p:sp>
      <p:sp>
        <p:nvSpPr>
          <p:cNvPr id="11" name="Text 9"/>
          <p:cNvSpPr txBox="1"/>
          <p:nvPr/>
        </p:nvSpPr>
        <p:spPr>
          <a:xfrm>
            <a:off x="2926080" y="5440680"/>
            <a:ext cx="132588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CIS Benchmarks</a:t>
            </a:r>
            <a:endParaRPr lang="en-US" sz="1100" dirty="0"/>
          </a:p>
        </p:txBody>
      </p:sp>
      <p:sp>
        <p:nvSpPr>
          <p:cNvPr id="12" name="Shape 10"/>
          <p:cNvSpPr/>
          <p:nvPr/>
        </p:nvSpPr>
        <p:spPr>
          <a:xfrm>
            <a:off x="4389120" y="5440680"/>
            <a:ext cx="2331720" cy="384048"/>
          </a:xfrm>
          <a:prstGeom prst="roundRect">
            <a:avLst>
              <a:gd name="adj" fmla="val 50000"/>
            </a:avLst>
          </a:prstGeom>
          <a:solidFill>
            <a:srgbClr val="13294B"/>
          </a:solidFill>
          <a:ln w="12700">
            <a:solidFill>
              <a:srgbClr val="0078D4"/>
            </a:solidFill>
            <a:prstDash val="solid"/>
          </a:ln>
        </p:spPr>
        <p:txBody>
          <a:bodyPr/>
          <a:lstStyle/>
          <a:p>
            <a:endParaRPr lang="en-JP"/>
          </a:p>
        </p:txBody>
      </p:sp>
      <p:sp>
        <p:nvSpPr>
          <p:cNvPr id="13" name="Text 11"/>
          <p:cNvSpPr txBox="1"/>
          <p:nvPr/>
        </p:nvSpPr>
        <p:spPr>
          <a:xfrm>
            <a:off x="4389120" y="5440680"/>
            <a:ext cx="233172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NIST Cybersecurity Framework</a:t>
            </a:r>
            <a:endParaRPr lang="en-US" sz="1100" dirty="0"/>
          </a:p>
        </p:txBody>
      </p:sp>
      <p:pic>
        <p:nvPicPr>
          <p:cNvPr id="14" name="Image 0" descr="Secure workstation protected by a shield, connected to a monitored network"/>
          <p:cNvPicPr>
            <a:picLocks noChangeAspect="1"/>
          </p:cNvPicPr>
          <p:nvPr/>
        </p:nvPicPr>
        <p:blipFill>
          <a:blip r:embed="rId3"/>
          <a:stretch>
            <a:fillRect/>
          </a:stretch>
        </p:blipFill>
        <p:spPr>
          <a:xfrm>
            <a:off x="7040880" y="1371600"/>
            <a:ext cx="4754880" cy="4023360"/>
          </a:xfrm>
          <a:prstGeom prst="rect">
            <a:avLst/>
          </a:prstGeom>
        </p:spPr>
      </p:pic>
      <p:pic>
        <p:nvPicPr>
          <p:cNvPr id="15" name="Picture 14">
            <a:extLst>
              <a:ext uri="{FF2B5EF4-FFF2-40B4-BE49-F238E27FC236}">
                <a16:creationId xmlns:a16="http://schemas.microsoft.com/office/drawing/2014/main" id="{4F19A421-DD16-02AC-1733-BFBC4235A8E5}"/>
              </a:ext>
            </a:extLst>
          </p:cNvPr>
          <p:cNvPicPr>
            <a:picLocks noChangeAspect="1"/>
          </p:cNvPicPr>
          <p:nvPr/>
        </p:nvPicPr>
        <p:blipFill>
          <a:blip r:embed="rId4"/>
          <a:stretch>
            <a:fillRect/>
          </a:stretch>
        </p:blipFill>
        <p:spPr>
          <a:xfrm>
            <a:off x="10555840" y="94655"/>
            <a:ext cx="1331515" cy="13315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64240" cy="292608"/>
          </a:xfrm>
          <a:prstGeom prst="rect">
            <a:avLst/>
          </a:prstGeom>
          <a:noFill/>
          <a:ln/>
        </p:spPr>
        <p:txBody>
          <a:bodyPr wrap="square" lIns="0" tIns="0" rIns="0" bIns="0" rtlCol="0" anchor="ctr"/>
          <a:lstStyle/>
          <a:p>
            <a:pPr marL="0" indent="0">
              <a:buNone/>
            </a:pPr>
            <a:r>
              <a:rPr lang="en-US" sz="1200" b="1" kern="0" spc="200" dirty="0">
                <a:solidFill>
                  <a:srgbClr val="0078D4"/>
                </a:solidFill>
                <a:latin typeface="Calibri" pitchFamily="34" charset="0"/>
                <a:ea typeface="Calibri" pitchFamily="34" charset="-122"/>
                <a:cs typeface="Calibri" pitchFamily="34" charset="-120"/>
              </a:rPr>
              <a:t>01  ·  REDUCING THE ATTACK SURFACE OF WINDOWS SYSTEMS</a:t>
            </a:r>
            <a:endParaRPr lang="en-US" sz="1200" dirty="0"/>
          </a:p>
        </p:txBody>
      </p:sp>
      <p:sp>
        <p:nvSpPr>
          <p:cNvPr id="3" name="Text 0"/>
          <p:cNvSpPr>
            <a:spLocks noGrp="1"/>
          </p:cNvSpPr>
          <p:nvPr>
            <p:ph type="title" idx="101" hasCustomPrompt="1"/>
          </p:nvPr>
        </p:nvSpPr>
        <p:spPr>
          <a:xfrm>
            <a:off x="548640" y="640080"/>
            <a:ext cx="11064240" cy="731520"/>
          </a:xfrm>
          <a:prstGeom prst="rect">
            <a:avLst/>
          </a:prstGeom>
          <a:noFill/>
          <a:ln/>
        </p:spPr>
        <p:txBody>
          <a:bodyPr wrap="square" lIns="0" tIns="0" rIns="0" bIns="0" rtlCol="0" anchor="ctr"/>
          <a:lstStyle/>
          <a:p>
            <a:pPr marL="0" indent="0" algn="l">
              <a:buNone/>
            </a:pPr>
            <a:r>
              <a:rPr lang="en-US" sz="3600" b="1" dirty="0">
                <a:solidFill>
                  <a:srgbClr val="0B1F33"/>
                </a:solidFill>
                <a:latin typeface="Arial" pitchFamily="34" charset="0"/>
                <a:ea typeface="Arial" pitchFamily="34" charset="-122"/>
                <a:cs typeface="Arial" pitchFamily="34" charset="-120"/>
              </a:rPr>
              <a:t>What is Windows Hardening?</a:t>
            </a:r>
            <a:endParaRPr lang="en-US" sz="3600" dirty="0"/>
          </a:p>
        </p:txBody>
      </p:sp>
      <p:sp>
        <p:nvSpPr>
          <p:cNvPr id="4" name="Shape 2"/>
          <p:cNvSpPr/>
          <p:nvPr/>
        </p:nvSpPr>
        <p:spPr>
          <a:xfrm>
            <a:off x="548640" y="1600200"/>
            <a:ext cx="5852160" cy="1234440"/>
          </a:xfrm>
          <a:prstGeom prst="roundRect">
            <a:avLst>
              <a:gd name="adj" fmla="val 8889"/>
            </a:avLst>
          </a:prstGeom>
          <a:solidFill>
            <a:srgbClr val="EAF3FC"/>
          </a:solidFill>
          <a:ln w="12700">
            <a:solidFill>
              <a:srgbClr val="EAF3FC"/>
            </a:solidFill>
            <a:prstDash val="solid"/>
          </a:ln>
        </p:spPr>
        <p:txBody>
          <a:bodyPr/>
          <a:lstStyle/>
          <a:p>
            <a:endParaRPr lang="en-JP"/>
          </a:p>
        </p:txBody>
      </p:sp>
      <p:sp>
        <p:nvSpPr>
          <p:cNvPr id="5" name="Text 3"/>
          <p:cNvSpPr txBox="1"/>
          <p:nvPr/>
        </p:nvSpPr>
        <p:spPr>
          <a:xfrm>
            <a:off x="777240" y="1691640"/>
            <a:ext cx="5394960" cy="1051560"/>
          </a:xfrm>
          <a:prstGeom prst="rect">
            <a:avLst/>
          </a:prstGeom>
          <a:noFill/>
          <a:ln/>
        </p:spPr>
        <p:txBody>
          <a:bodyPr wrap="square" lIns="0" tIns="0" rIns="0" bIns="0" rtlCol="0" anchor="ctr"/>
          <a:lstStyle/>
          <a:p>
            <a:pPr marL="0" indent="0">
              <a:buNone/>
            </a:pPr>
            <a:r>
              <a:rPr lang="en-US" sz="1600" dirty="0">
                <a:solidFill>
                  <a:srgbClr val="0B1F33"/>
                </a:solidFill>
                <a:latin typeface="Calibri" pitchFamily="34" charset="0"/>
                <a:ea typeface="Calibri" pitchFamily="34" charset="-122"/>
                <a:cs typeface="Calibri" pitchFamily="34" charset="-120"/>
              </a:rPr>
              <a:t>Windows hardening is the process of implementing security controls and secure configurations to reduce vulnerabilities and limit opportunities for attackers.</a:t>
            </a:r>
            <a:endParaRPr lang="en-US" sz="1600" dirty="0"/>
          </a:p>
        </p:txBody>
      </p:sp>
      <p:sp>
        <p:nvSpPr>
          <p:cNvPr id="6" name="Text 4"/>
          <p:cNvSpPr txBox="1"/>
          <p:nvPr/>
        </p:nvSpPr>
        <p:spPr>
          <a:xfrm>
            <a:off x="548640" y="3017520"/>
            <a:ext cx="3657600" cy="274320"/>
          </a:xfrm>
          <a:prstGeom prst="rect">
            <a:avLst/>
          </a:prstGeom>
          <a:noFill/>
          <a:ln/>
        </p:spPr>
        <p:txBody>
          <a:bodyPr wrap="square" lIns="0" tIns="0" rIns="0" bIns="0" rtlCol="0" anchor="ctr"/>
          <a:lstStyle/>
          <a:p>
            <a:pPr marL="0" indent="0">
              <a:buNone/>
            </a:pPr>
            <a:r>
              <a:rPr lang="en-US" sz="1200" b="1" kern="0" spc="200" dirty="0">
                <a:solidFill>
                  <a:srgbClr val="0078D4"/>
                </a:solidFill>
                <a:latin typeface="Calibri" pitchFamily="34" charset="0"/>
                <a:ea typeface="Calibri" pitchFamily="34" charset="-122"/>
                <a:cs typeface="Calibri" pitchFamily="34" charset="-120"/>
              </a:rPr>
              <a:t>OBJECTIVES</a:t>
            </a:r>
            <a:endParaRPr lang="en-US" sz="1200" dirty="0"/>
          </a:p>
        </p:txBody>
      </p:sp>
      <p:sp>
        <p:nvSpPr>
          <p:cNvPr id="7" name="Shape 5"/>
          <p:cNvSpPr/>
          <p:nvPr/>
        </p:nvSpPr>
        <p:spPr>
          <a:xfrm>
            <a:off x="548640" y="3364992"/>
            <a:ext cx="420624" cy="420624"/>
          </a:xfrm>
          <a:prstGeom prst="ellipse">
            <a:avLst/>
          </a:prstGeom>
          <a:solidFill>
            <a:srgbClr val="0078D4"/>
          </a:solidFill>
          <a:ln w="12700">
            <a:solidFill>
              <a:srgbClr val="0078D4"/>
            </a:solidFill>
            <a:prstDash val="solid"/>
          </a:ln>
        </p:spPr>
        <p:txBody>
          <a:bodyPr/>
          <a:lstStyle/>
          <a:p>
            <a:endParaRPr lang="en-JP"/>
          </a:p>
        </p:txBody>
      </p:sp>
      <p:pic>
        <p:nvPicPr>
          <p:cNvPr id="8" name="Image 0" descr="preencoded.png"/>
          <p:cNvPicPr>
            <a:picLocks noChangeAspect="1"/>
          </p:cNvPicPr>
          <p:nvPr/>
        </p:nvPicPr>
        <p:blipFill>
          <a:blip r:embed="rId3"/>
          <a:stretch>
            <a:fillRect/>
          </a:stretch>
        </p:blipFill>
        <p:spPr>
          <a:xfrm>
            <a:off x="649590" y="3465942"/>
            <a:ext cx="218724" cy="218724"/>
          </a:xfrm>
          <a:prstGeom prst="rect">
            <a:avLst/>
          </a:prstGeom>
        </p:spPr>
      </p:pic>
      <p:sp>
        <p:nvSpPr>
          <p:cNvPr id="9" name="Text 6"/>
          <p:cNvSpPr txBox="1"/>
          <p:nvPr/>
        </p:nvSpPr>
        <p:spPr>
          <a:xfrm>
            <a:off x="1143000" y="3364992"/>
            <a:ext cx="5120640" cy="420624"/>
          </a:xfrm>
          <a:prstGeom prst="rect">
            <a:avLst/>
          </a:prstGeom>
          <a:noFill/>
          <a:ln/>
        </p:spPr>
        <p:txBody>
          <a:bodyPr wrap="square" lIns="0" tIns="0" rIns="0" bIns="0" rtlCol="0" anchor="ctr"/>
          <a:lstStyle/>
          <a:p>
            <a:pPr marL="0" indent="0">
              <a:buNone/>
            </a:pPr>
            <a:r>
              <a:rPr lang="en-US" sz="1600" dirty="0">
                <a:solidFill>
                  <a:srgbClr val="0B1F33"/>
                </a:solidFill>
                <a:latin typeface="Calibri" pitchFamily="34" charset="0"/>
                <a:ea typeface="Calibri" pitchFamily="34" charset="-122"/>
                <a:cs typeface="Calibri" pitchFamily="34" charset="-120"/>
              </a:rPr>
              <a:t>Prevent unauthorized access</a:t>
            </a:r>
            <a:endParaRPr lang="en-US" sz="1600" dirty="0"/>
          </a:p>
        </p:txBody>
      </p:sp>
      <p:sp>
        <p:nvSpPr>
          <p:cNvPr id="10" name="Shape 7"/>
          <p:cNvSpPr/>
          <p:nvPr/>
        </p:nvSpPr>
        <p:spPr>
          <a:xfrm>
            <a:off x="548640" y="3913632"/>
            <a:ext cx="420624" cy="420624"/>
          </a:xfrm>
          <a:prstGeom prst="ellipse">
            <a:avLst/>
          </a:prstGeom>
          <a:solidFill>
            <a:srgbClr val="0078D4"/>
          </a:solidFill>
          <a:ln w="12700">
            <a:solidFill>
              <a:srgbClr val="0078D4"/>
            </a:solidFill>
            <a:prstDash val="solid"/>
          </a:ln>
        </p:spPr>
        <p:txBody>
          <a:bodyPr/>
          <a:lstStyle/>
          <a:p>
            <a:endParaRPr lang="en-JP"/>
          </a:p>
        </p:txBody>
      </p:sp>
      <p:pic>
        <p:nvPicPr>
          <p:cNvPr id="11" name="Image 1" descr="preencoded.png"/>
          <p:cNvPicPr>
            <a:picLocks noChangeAspect="1"/>
          </p:cNvPicPr>
          <p:nvPr/>
        </p:nvPicPr>
        <p:blipFill>
          <a:blip r:embed="rId4"/>
          <a:stretch>
            <a:fillRect/>
          </a:stretch>
        </p:blipFill>
        <p:spPr>
          <a:xfrm>
            <a:off x="649590" y="4014582"/>
            <a:ext cx="218724" cy="218724"/>
          </a:xfrm>
          <a:prstGeom prst="rect">
            <a:avLst/>
          </a:prstGeom>
        </p:spPr>
      </p:pic>
      <p:sp>
        <p:nvSpPr>
          <p:cNvPr id="12" name="Text 8"/>
          <p:cNvSpPr txBox="1"/>
          <p:nvPr/>
        </p:nvSpPr>
        <p:spPr>
          <a:xfrm>
            <a:off x="1143000" y="3913632"/>
            <a:ext cx="5120640" cy="420624"/>
          </a:xfrm>
          <a:prstGeom prst="rect">
            <a:avLst/>
          </a:prstGeom>
          <a:noFill/>
          <a:ln/>
        </p:spPr>
        <p:txBody>
          <a:bodyPr wrap="square" lIns="0" tIns="0" rIns="0" bIns="0" rtlCol="0" anchor="ctr"/>
          <a:lstStyle/>
          <a:p>
            <a:pPr marL="0" indent="0">
              <a:buNone/>
            </a:pPr>
            <a:r>
              <a:rPr lang="en-US" sz="1600" dirty="0">
                <a:solidFill>
                  <a:srgbClr val="0B1F33"/>
                </a:solidFill>
                <a:latin typeface="Calibri" pitchFamily="34" charset="0"/>
                <a:ea typeface="Calibri" pitchFamily="34" charset="-122"/>
                <a:cs typeface="Calibri" pitchFamily="34" charset="-120"/>
              </a:rPr>
              <a:t>Reduce cyber risks</a:t>
            </a:r>
            <a:endParaRPr lang="en-US" sz="1600" dirty="0"/>
          </a:p>
        </p:txBody>
      </p:sp>
      <p:sp>
        <p:nvSpPr>
          <p:cNvPr id="13" name="Shape 9"/>
          <p:cNvSpPr/>
          <p:nvPr/>
        </p:nvSpPr>
        <p:spPr>
          <a:xfrm>
            <a:off x="548640" y="4462272"/>
            <a:ext cx="420624" cy="420624"/>
          </a:xfrm>
          <a:prstGeom prst="ellipse">
            <a:avLst/>
          </a:prstGeom>
          <a:solidFill>
            <a:srgbClr val="0078D4"/>
          </a:solidFill>
          <a:ln w="12700">
            <a:solidFill>
              <a:srgbClr val="0078D4"/>
            </a:solidFill>
            <a:prstDash val="solid"/>
          </a:ln>
        </p:spPr>
        <p:txBody>
          <a:bodyPr/>
          <a:lstStyle/>
          <a:p>
            <a:endParaRPr lang="en-JP"/>
          </a:p>
        </p:txBody>
      </p:sp>
      <p:pic>
        <p:nvPicPr>
          <p:cNvPr id="14" name="Image 2" descr="preencoded.png"/>
          <p:cNvPicPr>
            <a:picLocks noChangeAspect="1"/>
          </p:cNvPicPr>
          <p:nvPr/>
        </p:nvPicPr>
        <p:blipFill>
          <a:blip r:embed="rId5"/>
          <a:stretch>
            <a:fillRect/>
          </a:stretch>
        </p:blipFill>
        <p:spPr>
          <a:xfrm>
            <a:off x="649590" y="4563222"/>
            <a:ext cx="218724" cy="218724"/>
          </a:xfrm>
          <a:prstGeom prst="rect">
            <a:avLst/>
          </a:prstGeom>
        </p:spPr>
      </p:pic>
      <p:sp>
        <p:nvSpPr>
          <p:cNvPr id="15" name="Text 10"/>
          <p:cNvSpPr txBox="1"/>
          <p:nvPr/>
        </p:nvSpPr>
        <p:spPr>
          <a:xfrm>
            <a:off x="1143000" y="4462272"/>
            <a:ext cx="5120640" cy="420624"/>
          </a:xfrm>
          <a:prstGeom prst="rect">
            <a:avLst/>
          </a:prstGeom>
          <a:noFill/>
          <a:ln/>
        </p:spPr>
        <p:txBody>
          <a:bodyPr wrap="square" lIns="0" tIns="0" rIns="0" bIns="0" rtlCol="0" anchor="ctr"/>
          <a:lstStyle/>
          <a:p>
            <a:pPr marL="0" indent="0">
              <a:buNone/>
            </a:pPr>
            <a:r>
              <a:rPr lang="en-US" sz="1600" dirty="0">
                <a:solidFill>
                  <a:srgbClr val="0B1F33"/>
                </a:solidFill>
                <a:latin typeface="Calibri" pitchFamily="34" charset="0"/>
                <a:ea typeface="Calibri" pitchFamily="34" charset="-122"/>
                <a:cs typeface="Calibri" pitchFamily="34" charset="-120"/>
              </a:rPr>
              <a:t>Strengthen endpoint defenses</a:t>
            </a:r>
            <a:endParaRPr lang="en-US" sz="1600" dirty="0"/>
          </a:p>
        </p:txBody>
      </p:sp>
      <p:sp>
        <p:nvSpPr>
          <p:cNvPr id="16" name="Shape 11"/>
          <p:cNvSpPr/>
          <p:nvPr/>
        </p:nvSpPr>
        <p:spPr>
          <a:xfrm>
            <a:off x="548640" y="5010912"/>
            <a:ext cx="420624" cy="420624"/>
          </a:xfrm>
          <a:prstGeom prst="ellipse">
            <a:avLst/>
          </a:prstGeom>
          <a:solidFill>
            <a:srgbClr val="0078D4"/>
          </a:solidFill>
          <a:ln w="12700">
            <a:solidFill>
              <a:srgbClr val="0078D4"/>
            </a:solidFill>
            <a:prstDash val="solid"/>
          </a:ln>
        </p:spPr>
        <p:txBody>
          <a:bodyPr/>
          <a:lstStyle/>
          <a:p>
            <a:endParaRPr lang="en-JP"/>
          </a:p>
        </p:txBody>
      </p:sp>
      <p:pic>
        <p:nvPicPr>
          <p:cNvPr id="17" name="Image 3" descr="preencoded.png"/>
          <p:cNvPicPr>
            <a:picLocks noChangeAspect="1"/>
          </p:cNvPicPr>
          <p:nvPr/>
        </p:nvPicPr>
        <p:blipFill>
          <a:blip r:embed="rId6"/>
          <a:stretch>
            <a:fillRect/>
          </a:stretch>
        </p:blipFill>
        <p:spPr>
          <a:xfrm>
            <a:off x="649590" y="5111862"/>
            <a:ext cx="218724" cy="218724"/>
          </a:xfrm>
          <a:prstGeom prst="rect">
            <a:avLst/>
          </a:prstGeom>
        </p:spPr>
      </p:pic>
      <p:sp>
        <p:nvSpPr>
          <p:cNvPr id="18" name="Text 12"/>
          <p:cNvSpPr txBox="1"/>
          <p:nvPr/>
        </p:nvSpPr>
        <p:spPr>
          <a:xfrm>
            <a:off x="1143000" y="5010912"/>
            <a:ext cx="5120640" cy="420624"/>
          </a:xfrm>
          <a:prstGeom prst="rect">
            <a:avLst/>
          </a:prstGeom>
          <a:noFill/>
          <a:ln/>
        </p:spPr>
        <p:txBody>
          <a:bodyPr wrap="square" lIns="0" tIns="0" rIns="0" bIns="0" rtlCol="0" anchor="ctr"/>
          <a:lstStyle/>
          <a:p>
            <a:pPr marL="0" indent="0">
              <a:buNone/>
            </a:pPr>
            <a:r>
              <a:rPr lang="en-US" sz="1600" dirty="0">
                <a:solidFill>
                  <a:srgbClr val="0B1F33"/>
                </a:solidFill>
                <a:latin typeface="Calibri" pitchFamily="34" charset="0"/>
                <a:ea typeface="Calibri" pitchFamily="34" charset="-122"/>
                <a:cs typeface="Calibri" pitchFamily="34" charset="-120"/>
              </a:rPr>
              <a:t>Improve security visibility</a:t>
            </a:r>
            <a:endParaRPr lang="en-US" sz="1600" dirty="0"/>
          </a:p>
        </p:txBody>
      </p:sp>
      <p:sp>
        <p:nvSpPr>
          <p:cNvPr id="19" name="Shape 13"/>
          <p:cNvSpPr/>
          <p:nvPr/>
        </p:nvSpPr>
        <p:spPr>
          <a:xfrm>
            <a:off x="548640" y="5559552"/>
            <a:ext cx="420624" cy="420624"/>
          </a:xfrm>
          <a:prstGeom prst="ellipse">
            <a:avLst/>
          </a:prstGeom>
          <a:solidFill>
            <a:srgbClr val="0078D4"/>
          </a:solidFill>
          <a:ln w="12700">
            <a:solidFill>
              <a:srgbClr val="0078D4"/>
            </a:solidFill>
            <a:prstDash val="solid"/>
          </a:ln>
        </p:spPr>
        <p:txBody>
          <a:bodyPr/>
          <a:lstStyle/>
          <a:p>
            <a:endParaRPr lang="en-JP"/>
          </a:p>
        </p:txBody>
      </p:sp>
      <p:pic>
        <p:nvPicPr>
          <p:cNvPr id="20" name="Image 4" descr="preencoded.png"/>
          <p:cNvPicPr>
            <a:picLocks noChangeAspect="1"/>
          </p:cNvPicPr>
          <p:nvPr/>
        </p:nvPicPr>
        <p:blipFill>
          <a:blip r:embed="rId7"/>
          <a:stretch>
            <a:fillRect/>
          </a:stretch>
        </p:blipFill>
        <p:spPr>
          <a:xfrm>
            <a:off x="649590" y="5660502"/>
            <a:ext cx="218724" cy="218724"/>
          </a:xfrm>
          <a:prstGeom prst="rect">
            <a:avLst/>
          </a:prstGeom>
        </p:spPr>
      </p:pic>
      <p:sp>
        <p:nvSpPr>
          <p:cNvPr id="21" name="Text 14"/>
          <p:cNvSpPr txBox="1"/>
          <p:nvPr/>
        </p:nvSpPr>
        <p:spPr>
          <a:xfrm>
            <a:off x="1143000" y="5559552"/>
            <a:ext cx="5120640" cy="420624"/>
          </a:xfrm>
          <a:prstGeom prst="rect">
            <a:avLst/>
          </a:prstGeom>
          <a:noFill/>
          <a:ln/>
        </p:spPr>
        <p:txBody>
          <a:bodyPr wrap="square" lIns="0" tIns="0" rIns="0" bIns="0" rtlCol="0" anchor="ctr"/>
          <a:lstStyle/>
          <a:p>
            <a:pPr marL="0" indent="0">
              <a:buNone/>
            </a:pPr>
            <a:r>
              <a:rPr lang="en-US" sz="1600" dirty="0">
                <a:solidFill>
                  <a:srgbClr val="0B1F33"/>
                </a:solidFill>
                <a:latin typeface="Calibri" pitchFamily="34" charset="0"/>
                <a:ea typeface="Calibri" pitchFamily="34" charset="-122"/>
                <a:cs typeface="Calibri" pitchFamily="34" charset="-120"/>
              </a:rPr>
              <a:t>Support regulatory compliance</a:t>
            </a:r>
            <a:endParaRPr lang="en-US" sz="1600" dirty="0"/>
          </a:p>
        </p:txBody>
      </p:sp>
      <p:pic>
        <p:nvPicPr>
          <p:cNvPr id="22" name="Image 5" descr="Security shield surrounding Windows devices: desktop, laptop, server and phone"/>
          <p:cNvPicPr>
            <a:picLocks noChangeAspect="1"/>
          </p:cNvPicPr>
          <p:nvPr/>
        </p:nvPicPr>
        <p:blipFill>
          <a:blip r:embed="rId8"/>
          <a:stretch>
            <a:fillRect/>
          </a:stretch>
        </p:blipFill>
        <p:spPr>
          <a:xfrm>
            <a:off x="6812280" y="1463040"/>
            <a:ext cx="4846320" cy="4572000"/>
          </a:xfrm>
          <a:prstGeom prst="rect">
            <a:avLst/>
          </a:prstGeom>
        </p:spPr>
      </p:pic>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A6B"/>
                </a:solidFill>
                <a:latin typeface="Calibri"/>
                <a:ea typeface="Calibri"/>
                <a:cs typeface="Calibri"/>
              </a:defRPr>
            </a:lvl1pPr>
          </a:lstStyle>
          <a:p>
            <a:pPr algn="l"/>
            <a:fld id="{F7021451-1387-4CA6-816F-3879F97B5CBC}" type="slidenum">
              <a:rPr lang="en-US" b="0"/>
              <a:t>2</a:t>
            </a:fld>
            <a:endParaRPr lang="en-US"/>
          </a:p>
        </p:txBody>
      </p:sp>
      <p:pic>
        <p:nvPicPr>
          <p:cNvPr id="23" name="Picture 22">
            <a:extLst>
              <a:ext uri="{FF2B5EF4-FFF2-40B4-BE49-F238E27FC236}">
                <a16:creationId xmlns:a16="http://schemas.microsoft.com/office/drawing/2014/main" id="{8E276EFA-C810-750B-3795-1527599BEC83}"/>
              </a:ext>
            </a:extLst>
          </p:cNvPr>
          <p:cNvPicPr>
            <a:picLocks noChangeAspect="1"/>
          </p:cNvPicPr>
          <p:nvPr/>
        </p:nvPicPr>
        <p:blipFill>
          <a:blip r:embed="rId9"/>
          <a:stretch>
            <a:fillRect/>
          </a:stretch>
        </p:blipFill>
        <p:spPr>
          <a:xfrm>
            <a:off x="10555840" y="94655"/>
            <a:ext cx="1331515" cy="133151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64240" cy="292608"/>
          </a:xfrm>
          <a:prstGeom prst="rect">
            <a:avLst/>
          </a:prstGeom>
          <a:noFill/>
          <a:ln/>
        </p:spPr>
        <p:txBody>
          <a:bodyPr wrap="square" lIns="0" tIns="0" rIns="0" bIns="0" rtlCol="0" anchor="ctr"/>
          <a:lstStyle/>
          <a:p>
            <a:pPr marL="0" indent="0">
              <a:buNone/>
            </a:pPr>
            <a:r>
              <a:rPr lang="en-US" sz="1200" b="1" kern="0" spc="200" dirty="0">
                <a:solidFill>
                  <a:srgbClr val="0078D4"/>
                </a:solidFill>
                <a:latin typeface="Calibri" pitchFamily="34" charset="0"/>
                <a:ea typeface="Calibri" pitchFamily="34" charset="-122"/>
                <a:cs typeface="Calibri" pitchFamily="34" charset="-120"/>
              </a:rPr>
              <a:t>02  ·  THREATS FACING ENTERPRISE WINDOWS ENVIRONMENTS</a:t>
            </a:r>
            <a:endParaRPr lang="en-US" sz="1200" dirty="0"/>
          </a:p>
        </p:txBody>
      </p:sp>
      <p:sp>
        <p:nvSpPr>
          <p:cNvPr id="3" name="Text 0"/>
          <p:cNvSpPr>
            <a:spLocks noGrp="1"/>
          </p:cNvSpPr>
          <p:nvPr>
            <p:ph type="title" idx="101" hasCustomPrompt="1"/>
          </p:nvPr>
        </p:nvSpPr>
        <p:spPr>
          <a:xfrm>
            <a:off x="548640" y="640080"/>
            <a:ext cx="11064240" cy="731520"/>
          </a:xfrm>
          <a:prstGeom prst="rect">
            <a:avLst/>
          </a:prstGeom>
          <a:noFill/>
          <a:ln/>
        </p:spPr>
        <p:txBody>
          <a:bodyPr wrap="square" lIns="0" tIns="0" rIns="0" bIns="0" rtlCol="0" anchor="ctr"/>
          <a:lstStyle/>
          <a:p>
            <a:pPr marL="0" indent="0" algn="l">
              <a:buNone/>
            </a:pPr>
            <a:r>
              <a:rPr lang="en-US" sz="3600" b="1" dirty="0">
                <a:solidFill>
                  <a:srgbClr val="0B1F33"/>
                </a:solidFill>
                <a:latin typeface="Arial" pitchFamily="34" charset="0"/>
                <a:ea typeface="Arial" pitchFamily="34" charset="-122"/>
                <a:cs typeface="Arial" pitchFamily="34" charset="-120"/>
              </a:rPr>
              <a:t>Why Windows Hardening Matters</a:t>
            </a:r>
            <a:endParaRPr lang="en-US" sz="3600" dirty="0"/>
          </a:p>
        </p:txBody>
      </p:sp>
      <p:pic>
        <p:nvPicPr>
          <p:cNvPr id="4" name="Image 0" descr="Attack vectors converging on a protected Windows endpoint"/>
          <p:cNvPicPr>
            <a:picLocks noChangeAspect="1"/>
          </p:cNvPicPr>
          <p:nvPr/>
        </p:nvPicPr>
        <p:blipFill>
          <a:blip r:embed="rId3"/>
          <a:stretch>
            <a:fillRect/>
          </a:stretch>
        </p:blipFill>
        <p:spPr>
          <a:xfrm>
            <a:off x="548640" y="1508760"/>
            <a:ext cx="3931920" cy="3566160"/>
          </a:xfrm>
          <a:prstGeom prst="rect">
            <a:avLst/>
          </a:prstGeom>
        </p:spPr>
      </p:pic>
      <p:sp>
        <p:nvSpPr>
          <p:cNvPr id="5" name="Shape 2"/>
          <p:cNvSpPr/>
          <p:nvPr/>
        </p:nvSpPr>
        <p:spPr>
          <a:xfrm>
            <a:off x="4754880" y="1508760"/>
            <a:ext cx="6885432" cy="1051560"/>
          </a:xfrm>
          <a:prstGeom prst="roundRect">
            <a:avLst>
              <a:gd name="adj" fmla="val 10435"/>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6" name="Shape 3"/>
          <p:cNvSpPr/>
          <p:nvPr/>
        </p:nvSpPr>
        <p:spPr>
          <a:xfrm>
            <a:off x="4983480" y="1709928"/>
            <a:ext cx="640080" cy="640080"/>
          </a:xfrm>
          <a:prstGeom prst="ellipse">
            <a:avLst/>
          </a:prstGeom>
          <a:solidFill>
            <a:srgbClr val="FDEBDD"/>
          </a:solidFill>
          <a:ln w="12700">
            <a:solidFill>
              <a:srgbClr val="FDEBDD"/>
            </a:solidFill>
            <a:prstDash val="solid"/>
          </a:ln>
        </p:spPr>
        <p:txBody>
          <a:bodyPr/>
          <a:lstStyle/>
          <a:p>
            <a:endParaRPr lang="en-JP"/>
          </a:p>
        </p:txBody>
      </p:sp>
      <p:pic>
        <p:nvPicPr>
          <p:cNvPr id="7" name="Image 1" descr="preencoded.png"/>
          <p:cNvPicPr>
            <a:picLocks noChangeAspect="1"/>
          </p:cNvPicPr>
          <p:nvPr/>
        </p:nvPicPr>
        <p:blipFill>
          <a:blip r:embed="rId4"/>
          <a:stretch>
            <a:fillRect/>
          </a:stretch>
        </p:blipFill>
        <p:spPr>
          <a:xfrm>
            <a:off x="5137099" y="1863547"/>
            <a:ext cx="332842" cy="332842"/>
          </a:xfrm>
          <a:prstGeom prst="rect">
            <a:avLst/>
          </a:prstGeom>
        </p:spPr>
      </p:pic>
      <p:sp>
        <p:nvSpPr>
          <p:cNvPr id="8" name="Text 4"/>
          <p:cNvSpPr txBox="1"/>
          <p:nvPr/>
        </p:nvSpPr>
        <p:spPr>
          <a:xfrm>
            <a:off x="5852160" y="1673352"/>
            <a:ext cx="5577840" cy="347472"/>
          </a:xfrm>
          <a:prstGeom prst="rect">
            <a:avLst/>
          </a:prstGeom>
          <a:noFill/>
          <a:ln/>
        </p:spPr>
        <p:txBody>
          <a:bodyPr wrap="square" lIns="0" tIns="0" rIns="0" bIns="0" rtlCol="0" anchor="ctr"/>
          <a:lstStyle/>
          <a:p>
            <a:pPr marL="0" indent="0">
              <a:buNone/>
            </a:pPr>
            <a:r>
              <a:rPr lang="en-US" sz="1800" b="1" dirty="0">
                <a:solidFill>
                  <a:srgbClr val="0B1F33"/>
                </a:solidFill>
                <a:latin typeface="Arial" pitchFamily="34" charset="0"/>
                <a:ea typeface="Arial" pitchFamily="34" charset="-122"/>
                <a:cs typeface="Arial" pitchFamily="34" charset="-120"/>
              </a:rPr>
              <a:t>Credential Theft</a:t>
            </a:r>
            <a:endParaRPr lang="en-US" sz="1800" dirty="0"/>
          </a:p>
        </p:txBody>
      </p:sp>
      <p:sp>
        <p:nvSpPr>
          <p:cNvPr id="9" name="Text 5"/>
          <p:cNvSpPr txBox="1"/>
          <p:nvPr/>
        </p:nvSpPr>
        <p:spPr>
          <a:xfrm>
            <a:off x="5852160" y="2057400"/>
            <a:ext cx="5577840" cy="347472"/>
          </a:xfrm>
          <a:prstGeom prst="rect">
            <a:avLst/>
          </a:prstGeom>
          <a:noFill/>
          <a:ln/>
        </p:spPr>
        <p:txBody>
          <a:bodyPr wrap="square" lIns="0" tIns="0" rIns="0" bIns="0" rtlCol="0" anchor="ctr"/>
          <a:lstStyle/>
          <a:p>
            <a:pPr marL="0" indent="0">
              <a:buNone/>
            </a:pPr>
            <a:r>
              <a:rPr lang="en-US" sz="1500" dirty="0">
                <a:solidFill>
                  <a:srgbClr val="4A5A6B"/>
                </a:solidFill>
                <a:latin typeface="Calibri" pitchFamily="34" charset="0"/>
                <a:ea typeface="Calibri" pitchFamily="34" charset="-122"/>
                <a:cs typeface="Calibri" pitchFamily="34" charset="-120"/>
              </a:rPr>
              <a:t>Pass-the-Hash   ·   Password Spraying   ·   Credential Dumping</a:t>
            </a:r>
            <a:endParaRPr lang="en-US" sz="1500" dirty="0"/>
          </a:p>
        </p:txBody>
      </p:sp>
      <p:sp>
        <p:nvSpPr>
          <p:cNvPr id="10" name="Shape 6"/>
          <p:cNvSpPr/>
          <p:nvPr/>
        </p:nvSpPr>
        <p:spPr>
          <a:xfrm>
            <a:off x="4754880" y="2697480"/>
            <a:ext cx="6885432" cy="1051560"/>
          </a:xfrm>
          <a:prstGeom prst="roundRect">
            <a:avLst>
              <a:gd name="adj" fmla="val 10435"/>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1" name="Shape 7"/>
          <p:cNvSpPr/>
          <p:nvPr/>
        </p:nvSpPr>
        <p:spPr>
          <a:xfrm>
            <a:off x="4983480" y="2898648"/>
            <a:ext cx="640080" cy="640080"/>
          </a:xfrm>
          <a:prstGeom prst="ellipse">
            <a:avLst/>
          </a:prstGeom>
          <a:solidFill>
            <a:srgbClr val="FDEBDD"/>
          </a:solidFill>
          <a:ln w="12700">
            <a:solidFill>
              <a:srgbClr val="FDEBDD"/>
            </a:solidFill>
            <a:prstDash val="solid"/>
          </a:ln>
        </p:spPr>
        <p:txBody>
          <a:bodyPr/>
          <a:lstStyle/>
          <a:p>
            <a:endParaRPr lang="en-JP"/>
          </a:p>
        </p:txBody>
      </p:sp>
      <p:pic>
        <p:nvPicPr>
          <p:cNvPr id="12" name="Image 2" descr="preencoded.png"/>
          <p:cNvPicPr>
            <a:picLocks noChangeAspect="1"/>
          </p:cNvPicPr>
          <p:nvPr/>
        </p:nvPicPr>
        <p:blipFill>
          <a:blip r:embed="rId5"/>
          <a:stretch>
            <a:fillRect/>
          </a:stretch>
        </p:blipFill>
        <p:spPr>
          <a:xfrm>
            <a:off x="5137099" y="3052267"/>
            <a:ext cx="332842" cy="332842"/>
          </a:xfrm>
          <a:prstGeom prst="rect">
            <a:avLst/>
          </a:prstGeom>
        </p:spPr>
      </p:pic>
      <p:sp>
        <p:nvSpPr>
          <p:cNvPr id="13" name="Text 8"/>
          <p:cNvSpPr txBox="1"/>
          <p:nvPr/>
        </p:nvSpPr>
        <p:spPr>
          <a:xfrm>
            <a:off x="5852160" y="2862072"/>
            <a:ext cx="5577840" cy="347472"/>
          </a:xfrm>
          <a:prstGeom prst="rect">
            <a:avLst/>
          </a:prstGeom>
          <a:noFill/>
          <a:ln/>
        </p:spPr>
        <p:txBody>
          <a:bodyPr wrap="square" lIns="0" tIns="0" rIns="0" bIns="0" rtlCol="0" anchor="ctr"/>
          <a:lstStyle/>
          <a:p>
            <a:pPr marL="0" indent="0">
              <a:buNone/>
            </a:pPr>
            <a:r>
              <a:rPr lang="en-US" sz="1800" b="1" dirty="0">
                <a:solidFill>
                  <a:srgbClr val="0B1F33"/>
                </a:solidFill>
                <a:latin typeface="Arial" pitchFamily="34" charset="0"/>
                <a:ea typeface="Arial" pitchFamily="34" charset="-122"/>
                <a:cs typeface="Arial" pitchFamily="34" charset="-120"/>
              </a:rPr>
              <a:t>Malware &amp; Ransomware</a:t>
            </a:r>
            <a:endParaRPr lang="en-US" sz="1800" dirty="0"/>
          </a:p>
        </p:txBody>
      </p:sp>
      <p:sp>
        <p:nvSpPr>
          <p:cNvPr id="14" name="Text 9"/>
          <p:cNvSpPr txBox="1"/>
          <p:nvPr/>
        </p:nvSpPr>
        <p:spPr>
          <a:xfrm>
            <a:off x="5852160" y="3246120"/>
            <a:ext cx="5577840" cy="347472"/>
          </a:xfrm>
          <a:prstGeom prst="rect">
            <a:avLst/>
          </a:prstGeom>
          <a:noFill/>
          <a:ln/>
        </p:spPr>
        <p:txBody>
          <a:bodyPr wrap="square" lIns="0" tIns="0" rIns="0" bIns="0" rtlCol="0" anchor="ctr"/>
          <a:lstStyle/>
          <a:p>
            <a:pPr marL="0" indent="0">
              <a:buNone/>
            </a:pPr>
            <a:r>
              <a:rPr lang="en-US" sz="1500" dirty="0">
                <a:solidFill>
                  <a:srgbClr val="4A5A6B"/>
                </a:solidFill>
                <a:latin typeface="Calibri" pitchFamily="34" charset="0"/>
                <a:ea typeface="Calibri" pitchFamily="34" charset="-122"/>
                <a:cs typeface="Calibri" pitchFamily="34" charset="-120"/>
              </a:rPr>
              <a:t>LockBit   ·   Akira   ·   Black Basta</a:t>
            </a:r>
            <a:endParaRPr lang="en-US" sz="1500" dirty="0"/>
          </a:p>
        </p:txBody>
      </p:sp>
      <p:sp>
        <p:nvSpPr>
          <p:cNvPr id="15" name="Shape 10"/>
          <p:cNvSpPr/>
          <p:nvPr/>
        </p:nvSpPr>
        <p:spPr>
          <a:xfrm>
            <a:off x="4754880" y="3886200"/>
            <a:ext cx="6885432" cy="1051560"/>
          </a:xfrm>
          <a:prstGeom prst="roundRect">
            <a:avLst>
              <a:gd name="adj" fmla="val 10435"/>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6" name="Shape 11"/>
          <p:cNvSpPr/>
          <p:nvPr/>
        </p:nvSpPr>
        <p:spPr>
          <a:xfrm>
            <a:off x="4983480" y="4087368"/>
            <a:ext cx="640080" cy="640080"/>
          </a:xfrm>
          <a:prstGeom prst="ellipse">
            <a:avLst/>
          </a:prstGeom>
          <a:solidFill>
            <a:srgbClr val="FDEBDD"/>
          </a:solidFill>
          <a:ln w="12700">
            <a:solidFill>
              <a:srgbClr val="FDEBDD"/>
            </a:solidFill>
            <a:prstDash val="solid"/>
          </a:ln>
        </p:spPr>
        <p:txBody>
          <a:bodyPr/>
          <a:lstStyle/>
          <a:p>
            <a:endParaRPr lang="en-JP"/>
          </a:p>
        </p:txBody>
      </p:sp>
      <p:pic>
        <p:nvPicPr>
          <p:cNvPr id="17" name="Image 3" descr="preencoded.png"/>
          <p:cNvPicPr>
            <a:picLocks noChangeAspect="1"/>
          </p:cNvPicPr>
          <p:nvPr/>
        </p:nvPicPr>
        <p:blipFill>
          <a:blip r:embed="rId6"/>
          <a:stretch>
            <a:fillRect/>
          </a:stretch>
        </p:blipFill>
        <p:spPr>
          <a:xfrm>
            <a:off x="5137099" y="4240987"/>
            <a:ext cx="332842" cy="332842"/>
          </a:xfrm>
          <a:prstGeom prst="rect">
            <a:avLst/>
          </a:prstGeom>
        </p:spPr>
      </p:pic>
      <p:sp>
        <p:nvSpPr>
          <p:cNvPr id="18" name="Text 12"/>
          <p:cNvSpPr txBox="1"/>
          <p:nvPr/>
        </p:nvSpPr>
        <p:spPr>
          <a:xfrm>
            <a:off x="5852160" y="4050792"/>
            <a:ext cx="5577840" cy="347472"/>
          </a:xfrm>
          <a:prstGeom prst="rect">
            <a:avLst/>
          </a:prstGeom>
          <a:noFill/>
          <a:ln/>
        </p:spPr>
        <p:txBody>
          <a:bodyPr wrap="square" lIns="0" tIns="0" rIns="0" bIns="0" rtlCol="0" anchor="ctr"/>
          <a:lstStyle/>
          <a:p>
            <a:pPr marL="0" indent="0">
              <a:buNone/>
            </a:pPr>
            <a:r>
              <a:rPr lang="en-US" sz="1800" b="1" dirty="0">
                <a:solidFill>
                  <a:srgbClr val="0B1F33"/>
                </a:solidFill>
                <a:latin typeface="Arial" pitchFamily="34" charset="0"/>
                <a:ea typeface="Arial" pitchFamily="34" charset="-122"/>
                <a:cs typeface="Arial" pitchFamily="34" charset="-120"/>
              </a:rPr>
              <a:t>Misconfigurations</a:t>
            </a:r>
            <a:endParaRPr lang="en-US" sz="1800" dirty="0"/>
          </a:p>
        </p:txBody>
      </p:sp>
      <p:sp>
        <p:nvSpPr>
          <p:cNvPr id="19" name="Text 13"/>
          <p:cNvSpPr txBox="1"/>
          <p:nvPr/>
        </p:nvSpPr>
        <p:spPr>
          <a:xfrm>
            <a:off x="5852160" y="4434840"/>
            <a:ext cx="5577840" cy="347472"/>
          </a:xfrm>
          <a:prstGeom prst="rect">
            <a:avLst/>
          </a:prstGeom>
          <a:noFill/>
          <a:ln/>
        </p:spPr>
        <p:txBody>
          <a:bodyPr wrap="square" lIns="0" tIns="0" rIns="0" bIns="0" rtlCol="0" anchor="ctr"/>
          <a:lstStyle/>
          <a:p>
            <a:pPr marL="0" indent="0">
              <a:buNone/>
            </a:pPr>
            <a:r>
              <a:rPr lang="en-US" sz="1500" dirty="0">
                <a:solidFill>
                  <a:srgbClr val="4A5A6B"/>
                </a:solidFill>
                <a:latin typeface="Calibri" pitchFamily="34" charset="0"/>
                <a:ea typeface="Calibri" pitchFamily="34" charset="-122"/>
                <a:cs typeface="Calibri" pitchFamily="34" charset="-120"/>
              </a:rPr>
              <a:t>Weak permissions   ·   Open RDP   ·   Legacy protocols</a:t>
            </a:r>
            <a:endParaRPr lang="en-US" sz="1500" dirty="0"/>
          </a:p>
        </p:txBody>
      </p:sp>
      <p:sp>
        <p:nvSpPr>
          <p:cNvPr id="20" name="Shape 14"/>
          <p:cNvSpPr/>
          <p:nvPr/>
        </p:nvSpPr>
        <p:spPr>
          <a:xfrm>
            <a:off x="548640" y="5212080"/>
            <a:ext cx="11091672" cy="868680"/>
          </a:xfrm>
          <a:prstGeom prst="roundRect">
            <a:avLst>
              <a:gd name="adj" fmla="val 12632"/>
            </a:avLst>
          </a:prstGeom>
          <a:solidFill>
            <a:srgbClr val="0A1628"/>
          </a:solidFill>
          <a:ln w="12700">
            <a:solidFill>
              <a:srgbClr val="0A1628"/>
            </a:solidFill>
            <a:prstDash val="solid"/>
          </a:ln>
        </p:spPr>
        <p:txBody>
          <a:bodyPr/>
          <a:lstStyle/>
          <a:p>
            <a:endParaRPr lang="en-JP"/>
          </a:p>
        </p:txBody>
      </p:sp>
      <p:sp>
        <p:nvSpPr>
          <p:cNvPr id="21" name="Shape 15"/>
          <p:cNvSpPr/>
          <p:nvPr/>
        </p:nvSpPr>
        <p:spPr>
          <a:xfrm>
            <a:off x="777240" y="5394960"/>
            <a:ext cx="502920" cy="502920"/>
          </a:xfrm>
          <a:prstGeom prst="ellipse">
            <a:avLst/>
          </a:prstGeom>
          <a:solidFill>
            <a:srgbClr val="F7630C"/>
          </a:solidFill>
          <a:ln w="12700">
            <a:solidFill>
              <a:srgbClr val="F7630C"/>
            </a:solidFill>
            <a:prstDash val="solid"/>
          </a:ln>
        </p:spPr>
        <p:txBody>
          <a:bodyPr/>
          <a:lstStyle/>
          <a:p>
            <a:endParaRPr lang="en-JP"/>
          </a:p>
        </p:txBody>
      </p:sp>
      <p:pic>
        <p:nvPicPr>
          <p:cNvPr id="22" name="Image 4" descr="preencoded.png"/>
          <p:cNvPicPr>
            <a:picLocks noChangeAspect="1"/>
          </p:cNvPicPr>
          <p:nvPr/>
        </p:nvPicPr>
        <p:blipFill>
          <a:blip r:embed="rId7"/>
          <a:stretch>
            <a:fillRect/>
          </a:stretch>
        </p:blipFill>
        <p:spPr>
          <a:xfrm>
            <a:off x="897941" y="5515661"/>
            <a:ext cx="261518" cy="261518"/>
          </a:xfrm>
          <a:prstGeom prst="rect">
            <a:avLst/>
          </a:prstGeom>
        </p:spPr>
      </p:pic>
      <p:sp>
        <p:nvSpPr>
          <p:cNvPr id="23" name="Text 16"/>
          <p:cNvSpPr txBox="1"/>
          <p:nvPr/>
        </p:nvSpPr>
        <p:spPr>
          <a:xfrm>
            <a:off x="1463040" y="5212080"/>
            <a:ext cx="9966960" cy="868680"/>
          </a:xfrm>
          <a:prstGeom prst="rect">
            <a:avLst/>
          </a:prstGeom>
          <a:noFill/>
          <a:ln/>
        </p:spPr>
        <p:txBody>
          <a:bodyPr wrap="square" lIns="0" tIns="0" rIns="0" bIns="0" rtlCol="0" anchor="ctr"/>
          <a:lstStyle/>
          <a:p>
            <a:pPr marL="0" indent="0">
              <a:buNone/>
            </a:pPr>
            <a:r>
              <a:rPr lang="en-US" sz="1200" b="1" kern="0" spc="200" dirty="0">
                <a:solidFill>
                  <a:srgbClr val="00B7C3"/>
                </a:solidFill>
                <a:latin typeface="Calibri" pitchFamily="34" charset="0"/>
                <a:ea typeface="Calibri" pitchFamily="34" charset="-122"/>
                <a:cs typeface="Calibri" pitchFamily="34" charset="-120"/>
              </a:rPr>
              <a:t>KEY MESSAGE   </a:t>
            </a:r>
            <a:r>
              <a:rPr lang="en-US" sz="1700" dirty="0">
                <a:solidFill>
                  <a:srgbClr val="FFFFFF"/>
                </a:solidFill>
                <a:latin typeface="Calibri" pitchFamily="34" charset="0"/>
                <a:ea typeface="Calibri" pitchFamily="34" charset="-122"/>
                <a:cs typeface="Calibri" pitchFamily="34" charset="-120"/>
              </a:rPr>
              <a:t>Attackers often exploit weak configurations before exploiting zero-day vulnerabilities.</a:t>
            </a:r>
            <a:endParaRPr lang="en-US" sz="12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A6B"/>
                </a:solidFill>
                <a:latin typeface="Calibri"/>
                <a:ea typeface="Calibri"/>
                <a:cs typeface="Calibri"/>
              </a:defRPr>
            </a:lvl1pPr>
          </a:lstStyle>
          <a:p>
            <a:pPr algn="l"/>
            <a:fld id="{F7021451-1387-4CA6-816F-3879F97B5CBC}" type="slidenum">
              <a:rPr lang="en-US" b="0"/>
              <a:t>3</a:t>
            </a:fld>
            <a:endParaRPr lang="en-US"/>
          </a:p>
        </p:txBody>
      </p:sp>
      <p:pic>
        <p:nvPicPr>
          <p:cNvPr id="24" name="Picture 23">
            <a:extLst>
              <a:ext uri="{FF2B5EF4-FFF2-40B4-BE49-F238E27FC236}">
                <a16:creationId xmlns:a16="http://schemas.microsoft.com/office/drawing/2014/main" id="{4B5B267B-7307-A3AA-DE26-C42965D33D6B}"/>
              </a:ext>
            </a:extLst>
          </p:cNvPr>
          <p:cNvPicPr>
            <a:picLocks noChangeAspect="1"/>
          </p:cNvPicPr>
          <p:nvPr/>
        </p:nvPicPr>
        <p:blipFill>
          <a:blip r:embed="rId8"/>
          <a:stretch>
            <a:fillRect/>
          </a:stretch>
        </p:blipFill>
        <p:spPr>
          <a:xfrm>
            <a:off x="10555840" y="94655"/>
            <a:ext cx="1331515" cy="133151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64240" cy="292608"/>
          </a:xfrm>
          <a:prstGeom prst="rect">
            <a:avLst/>
          </a:prstGeom>
          <a:noFill/>
          <a:ln/>
        </p:spPr>
        <p:txBody>
          <a:bodyPr wrap="square" lIns="0" tIns="0" rIns="0" bIns="0" rtlCol="0" anchor="ctr"/>
          <a:lstStyle/>
          <a:p>
            <a:pPr marL="0" indent="0">
              <a:buNone/>
            </a:pPr>
            <a:r>
              <a:rPr lang="en-US" sz="1200" b="1" kern="0" spc="200" dirty="0">
                <a:solidFill>
                  <a:srgbClr val="0078D4"/>
                </a:solidFill>
                <a:latin typeface="Calibri" pitchFamily="34" charset="0"/>
                <a:ea typeface="Calibri" pitchFamily="34" charset="-122"/>
                <a:cs typeface="Calibri" pitchFamily="34" charset="-120"/>
              </a:rPr>
              <a:t>03  ·  DEFENSE-IN-DEPTH APPROACH</a:t>
            </a:r>
            <a:endParaRPr lang="en-US" sz="1200" dirty="0"/>
          </a:p>
        </p:txBody>
      </p:sp>
      <p:sp>
        <p:nvSpPr>
          <p:cNvPr id="3" name="Text 0"/>
          <p:cNvSpPr>
            <a:spLocks noGrp="1"/>
          </p:cNvSpPr>
          <p:nvPr>
            <p:ph type="title" idx="101" hasCustomPrompt="1"/>
          </p:nvPr>
        </p:nvSpPr>
        <p:spPr>
          <a:xfrm>
            <a:off x="548640" y="640080"/>
            <a:ext cx="11064240" cy="731520"/>
          </a:xfrm>
          <a:prstGeom prst="rect">
            <a:avLst/>
          </a:prstGeom>
          <a:noFill/>
          <a:ln/>
        </p:spPr>
        <p:txBody>
          <a:bodyPr wrap="square" lIns="0" tIns="0" rIns="0" bIns="0" rtlCol="0" anchor="ctr"/>
          <a:lstStyle/>
          <a:p>
            <a:pPr marL="0" indent="0" algn="l">
              <a:buNone/>
            </a:pPr>
            <a:r>
              <a:rPr lang="en-US" sz="3600" b="1" dirty="0">
                <a:solidFill>
                  <a:srgbClr val="0B1F33"/>
                </a:solidFill>
                <a:latin typeface="Arial" pitchFamily="34" charset="0"/>
                <a:ea typeface="Arial" pitchFamily="34" charset="-122"/>
                <a:cs typeface="Arial" pitchFamily="34" charset="-120"/>
              </a:rPr>
              <a:t>Windows Hardening Framework</a:t>
            </a:r>
            <a:endParaRPr lang="en-US" sz="3600" dirty="0"/>
          </a:p>
        </p:txBody>
      </p:sp>
      <p:sp>
        <p:nvSpPr>
          <p:cNvPr id="4" name="Layer 1"/>
          <p:cNvSpPr/>
          <p:nvPr/>
        </p:nvSpPr>
        <p:spPr>
          <a:xfrm>
            <a:off x="1554480" y="1600200"/>
            <a:ext cx="4206240" cy="566928"/>
          </a:xfrm>
          <a:prstGeom prst="roundRect">
            <a:avLst>
              <a:gd name="adj" fmla="val 16129"/>
            </a:avLst>
          </a:prstGeom>
          <a:solidFill>
            <a:srgbClr val="0A1628"/>
          </a:solidFill>
          <a:ln w="12700">
            <a:solidFill>
              <a:srgbClr val="0A1628"/>
            </a:solidFill>
            <a:prstDash val="solid"/>
          </a:ln>
        </p:spPr>
        <p:txBody>
          <a:bodyPr/>
          <a:lstStyle/>
          <a:p>
            <a:endParaRPr lang="en-JP"/>
          </a:p>
        </p:txBody>
      </p:sp>
      <p:sp>
        <p:nvSpPr>
          <p:cNvPr id="5" name="Text 3"/>
          <p:cNvSpPr txBox="1"/>
          <p:nvPr/>
        </p:nvSpPr>
        <p:spPr>
          <a:xfrm>
            <a:off x="1783080" y="1600200"/>
            <a:ext cx="457200" cy="566928"/>
          </a:xfrm>
          <a:prstGeom prst="rect">
            <a:avLst/>
          </a:prstGeom>
          <a:noFill/>
          <a:ln/>
        </p:spPr>
        <p:txBody>
          <a:bodyPr wrap="square" lIns="0" tIns="0" rIns="0" bIns="0" rtlCol="0" anchor="ctr"/>
          <a:lstStyle/>
          <a:p>
            <a:pPr marL="0" indent="0">
              <a:buNone/>
            </a:pPr>
            <a:r>
              <a:rPr lang="en-US" sz="1500" b="1" dirty="0">
                <a:solidFill>
                  <a:srgbClr val="CADCFC"/>
                </a:solidFill>
                <a:latin typeface="Arial" pitchFamily="34" charset="0"/>
                <a:ea typeface="Arial" pitchFamily="34" charset="-122"/>
                <a:cs typeface="Arial" pitchFamily="34" charset="-120"/>
              </a:rPr>
              <a:t>01</a:t>
            </a:r>
            <a:endParaRPr lang="en-US" sz="1500" dirty="0"/>
          </a:p>
        </p:txBody>
      </p:sp>
      <p:pic>
        <p:nvPicPr>
          <p:cNvPr id="6" name="Image 0" descr="preencoded.png"/>
          <p:cNvPicPr>
            <a:picLocks noChangeAspect="1"/>
          </p:cNvPicPr>
          <p:nvPr/>
        </p:nvPicPr>
        <p:blipFill>
          <a:blip r:embed="rId3"/>
          <a:stretch>
            <a:fillRect/>
          </a:stretch>
        </p:blipFill>
        <p:spPr>
          <a:xfrm>
            <a:off x="2331720" y="1737360"/>
            <a:ext cx="292608" cy="292608"/>
          </a:xfrm>
          <a:prstGeom prst="rect">
            <a:avLst/>
          </a:prstGeom>
        </p:spPr>
      </p:pic>
      <p:sp>
        <p:nvSpPr>
          <p:cNvPr id="7" name="Text 4"/>
          <p:cNvSpPr txBox="1"/>
          <p:nvPr/>
        </p:nvSpPr>
        <p:spPr>
          <a:xfrm>
            <a:off x="2788920" y="1600200"/>
            <a:ext cx="283464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Identity Security</a:t>
            </a:r>
            <a:endParaRPr lang="en-US" sz="1600" dirty="0"/>
          </a:p>
        </p:txBody>
      </p:sp>
      <p:sp>
        <p:nvSpPr>
          <p:cNvPr id="8" name="Layer 2"/>
          <p:cNvSpPr/>
          <p:nvPr/>
        </p:nvSpPr>
        <p:spPr>
          <a:xfrm>
            <a:off x="1348740" y="2276856"/>
            <a:ext cx="4617720" cy="566928"/>
          </a:xfrm>
          <a:prstGeom prst="roundRect">
            <a:avLst>
              <a:gd name="adj" fmla="val 16129"/>
            </a:avLst>
          </a:prstGeom>
          <a:solidFill>
            <a:srgbClr val="13294B"/>
          </a:solidFill>
          <a:ln w="12700">
            <a:solidFill>
              <a:srgbClr val="13294B"/>
            </a:solidFill>
            <a:prstDash val="solid"/>
          </a:ln>
        </p:spPr>
        <p:txBody>
          <a:bodyPr/>
          <a:lstStyle/>
          <a:p>
            <a:endParaRPr lang="en-JP"/>
          </a:p>
        </p:txBody>
      </p:sp>
      <p:sp>
        <p:nvSpPr>
          <p:cNvPr id="9" name="Text 6"/>
          <p:cNvSpPr txBox="1"/>
          <p:nvPr/>
        </p:nvSpPr>
        <p:spPr>
          <a:xfrm>
            <a:off x="1577340" y="2276856"/>
            <a:ext cx="457200" cy="566928"/>
          </a:xfrm>
          <a:prstGeom prst="rect">
            <a:avLst/>
          </a:prstGeom>
          <a:noFill/>
          <a:ln/>
        </p:spPr>
        <p:txBody>
          <a:bodyPr wrap="square" lIns="0" tIns="0" rIns="0" bIns="0" rtlCol="0" anchor="ctr"/>
          <a:lstStyle/>
          <a:p>
            <a:pPr marL="0" indent="0">
              <a:buNone/>
            </a:pPr>
            <a:r>
              <a:rPr lang="en-US" sz="1500" b="1" dirty="0">
                <a:solidFill>
                  <a:srgbClr val="CADCFC"/>
                </a:solidFill>
                <a:latin typeface="Arial" pitchFamily="34" charset="0"/>
                <a:ea typeface="Arial" pitchFamily="34" charset="-122"/>
                <a:cs typeface="Arial" pitchFamily="34" charset="-120"/>
              </a:rPr>
              <a:t>02</a:t>
            </a:r>
            <a:endParaRPr lang="en-US" sz="1500" dirty="0"/>
          </a:p>
        </p:txBody>
      </p:sp>
      <p:pic>
        <p:nvPicPr>
          <p:cNvPr id="10" name="Image 1" descr="preencoded.png"/>
          <p:cNvPicPr>
            <a:picLocks noChangeAspect="1"/>
          </p:cNvPicPr>
          <p:nvPr/>
        </p:nvPicPr>
        <p:blipFill>
          <a:blip r:embed="rId4"/>
          <a:stretch>
            <a:fillRect/>
          </a:stretch>
        </p:blipFill>
        <p:spPr>
          <a:xfrm>
            <a:off x="2125980" y="2414016"/>
            <a:ext cx="292608" cy="292608"/>
          </a:xfrm>
          <a:prstGeom prst="rect">
            <a:avLst/>
          </a:prstGeom>
        </p:spPr>
      </p:pic>
      <p:sp>
        <p:nvSpPr>
          <p:cNvPr id="11" name="Text 7"/>
          <p:cNvSpPr txBox="1"/>
          <p:nvPr/>
        </p:nvSpPr>
        <p:spPr>
          <a:xfrm>
            <a:off x="2583180" y="2276856"/>
            <a:ext cx="324612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System Security</a:t>
            </a:r>
            <a:endParaRPr lang="en-US" sz="1600" dirty="0"/>
          </a:p>
        </p:txBody>
      </p:sp>
      <p:sp>
        <p:nvSpPr>
          <p:cNvPr id="12" name="Layer 3"/>
          <p:cNvSpPr/>
          <p:nvPr/>
        </p:nvSpPr>
        <p:spPr>
          <a:xfrm>
            <a:off x="1143000" y="2953512"/>
            <a:ext cx="5029200" cy="566928"/>
          </a:xfrm>
          <a:prstGeom prst="roundRect">
            <a:avLst>
              <a:gd name="adj" fmla="val 16129"/>
            </a:avLst>
          </a:prstGeom>
          <a:solidFill>
            <a:srgbClr val="1A3A66"/>
          </a:solidFill>
          <a:ln w="12700">
            <a:solidFill>
              <a:srgbClr val="1A3A66"/>
            </a:solidFill>
            <a:prstDash val="solid"/>
          </a:ln>
        </p:spPr>
        <p:txBody>
          <a:bodyPr/>
          <a:lstStyle/>
          <a:p>
            <a:endParaRPr lang="en-JP"/>
          </a:p>
        </p:txBody>
      </p:sp>
      <p:sp>
        <p:nvSpPr>
          <p:cNvPr id="13" name="Text 9"/>
          <p:cNvSpPr txBox="1"/>
          <p:nvPr/>
        </p:nvSpPr>
        <p:spPr>
          <a:xfrm>
            <a:off x="1371600" y="2953512"/>
            <a:ext cx="457200" cy="566928"/>
          </a:xfrm>
          <a:prstGeom prst="rect">
            <a:avLst/>
          </a:prstGeom>
          <a:noFill/>
          <a:ln/>
        </p:spPr>
        <p:txBody>
          <a:bodyPr wrap="square" lIns="0" tIns="0" rIns="0" bIns="0" rtlCol="0" anchor="ctr"/>
          <a:lstStyle/>
          <a:p>
            <a:pPr marL="0" indent="0">
              <a:buNone/>
            </a:pPr>
            <a:r>
              <a:rPr lang="en-US" sz="1500" b="1" dirty="0">
                <a:solidFill>
                  <a:srgbClr val="CADCFC"/>
                </a:solidFill>
                <a:latin typeface="Arial" pitchFamily="34" charset="0"/>
                <a:ea typeface="Arial" pitchFamily="34" charset="-122"/>
                <a:cs typeface="Arial" pitchFamily="34" charset="-120"/>
              </a:rPr>
              <a:t>03</a:t>
            </a:r>
            <a:endParaRPr lang="en-US" sz="1500" dirty="0"/>
          </a:p>
        </p:txBody>
      </p:sp>
      <p:pic>
        <p:nvPicPr>
          <p:cNvPr id="14" name="Image 2" descr="preencoded.png"/>
          <p:cNvPicPr>
            <a:picLocks noChangeAspect="1"/>
          </p:cNvPicPr>
          <p:nvPr/>
        </p:nvPicPr>
        <p:blipFill>
          <a:blip r:embed="rId5"/>
          <a:stretch>
            <a:fillRect/>
          </a:stretch>
        </p:blipFill>
        <p:spPr>
          <a:xfrm>
            <a:off x="1920240" y="3090672"/>
            <a:ext cx="292608" cy="292608"/>
          </a:xfrm>
          <a:prstGeom prst="rect">
            <a:avLst/>
          </a:prstGeom>
        </p:spPr>
      </p:pic>
      <p:sp>
        <p:nvSpPr>
          <p:cNvPr id="15" name="Text 10"/>
          <p:cNvSpPr txBox="1"/>
          <p:nvPr/>
        </p:nvSpPr>
        <p:spPr>
          <a:xfrm>
            <a:off x="2377440" y="2953512"/>
            <a:ext cx="365760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Network Security</a:t>
            </a:r>
            <a:endParaRPr lang="en-US" sz="1600" dirty="0"/>
          </a:p>
        </p:txBody>
      </p:sp>
      <p:sp>
        <p:nvSpPr>
          <p:cNvPr id="16" name="Layer 4"/>
          <p:cNvSpPr/>
          <p:nvPr/>
        </p:nvSpPr>
        <p:spPr>
          <a:xfrm>
            <a:off x="937260" y="3630168"/>
            <a:ext cx="5440680" cy="566928"/>
          </a:xfrm>
          <a:prstGeom prst="roundRect">
            <a:avLst>
              <a:gd name="adj" fmla="val 16129"/>
            </a:avLst>
          </a:prstGeom>
          <a:solidFill>
            <a:srgbClr val="0F5596"/>
          </a:solidFill>
          <a:ln w="12700">
            <a:solidFill>
              <a:srgbClr val="0F5596"/>
            </a:solidFill>
            <a:prstDash val="solid"/>
          </a:ln>
        </p:spPr>
        <p:txBody>
          <a:bodyPr/>
          <a:lstStyle/>
          <a:p>
            <a:endParaRPr lang="en-JP"/>
          </a:p>
        </p:txBody>
      </p:sp>
      <p:sp>
        <p:nvSpPr>
          <p:cNvPr id="17" name="Text 12"/>
          <p:cNvSpPr txBox="1"/>
          <p:nvPr/>
        </p:nvSpPr>
        <p:spPr>
          <a:xfrm>
            <a:off x="1165860" y="3630168"/>
            <a:ext cx="457200" cy="566928"/>
          </a:xfrm>
          <a:prstGeom prst="rect">
            <a:avLst/>
          </a:prstGeom>
          <a:noFill/>
          <a:ln/>
        </p:spPr>
        <p:txBody>
          <a:bodyPr wrap="square" lIns="0" tIns="0" rIns="0" bIns="0" rtlCol="0" anchor="ctr"/>
          <a:lstStyle/>
          <a:p>
            <a:pPr marL="0" indent="0">
              <a:buNone/>
            </a:pPr>
            <a:r>
              <a:rPr lang="en-US" sz="1500" b="1" dirty="0">
                <a:solidFill>
                  <a:srgbClr val="CADCFC"/>
                </a:solidFill>
                <a:latin typeface="Arial" pitchFamily="34" charset="0"/>
                <a:ea typeface="Arial" pitchFamily="34" charset="-122"/>
                <a:cs typeface="Arial" pitchFamily="34" charset="-120"/>
              </a:rPr>
              <a:t>04</a:t>
            </a:r>
            <a:endParaRPr lang="en-US" sz="1500" dirty="0"/>
          </a:p>
        </p:txBody>
      </p:sp>
      <p:pic>
        <p:nvPicPr>
          <p:cNvPr id="18" name="Image 3" descr="preencoded.png"/>
          <p:cNvPicPr>
            <a:picLocks noChangeAspect="1"/>
          </p:cNvPicPr>
          <p:nvPr/>
        </p:nvPicPr>
        <p:blipFill>
          <a:blip r:embed="rId6"/>
          <a:stretch>
            <a:fillRect/>
          </a:stretch>
        </p:blipFill>
        <p:spPr>
          <a:xfrm>
            <a:off x="1714500" y="3767328"/>
            <a:ext cx="292608" cy="292608"/>
          </a:xfrm>
          <a:prstGeom prst="rect">
            <a:avLst/>
          </a:prstGeom>
        </p:spPr>
      </p:pic>
      <p:sp>
        <p:nvSpPr>
          <p:cNvPr id="19" name="Text 13"/>
          <p:cNvSpPr txBox="1"/>
          <p:nvPr/>
        </p:nvSpPr>
        <p:spPr>
          <a:xfrm>
            <a:off x="2171700" y="3630168"/>
            <a:ext cx="406908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Application Security</a:t>
            </a:r>
            <a:endParaRPr lang="en-US" sz="1600" dirty="0"/>
          </a:p>
        </p:txBody>
      </p:sp>
      <p:sp>
        <p:nvSpPr>
          <p:cNvPr id="20" name="Layer 5"/>
          <p:cNvSpPr/>
          <p:nvPr/>
        </p:nvSpPr>
        <p:spPr>
          <a:xfrm>
            <a:off x="731520" y="4306824"/>
            <a:ext cx="5852160" cy="566928"/>
          </a:xfrm>
          <a:prstGeom prst="roundRect">
            <a:avLst>
              <a:gd name="adj" fmla="val 16129"/>
            </a:avLst>
          </a:prstGeom>
          <a:solidFill>
            <a:srgbClr val="0068B8"/>
          </a:solidFill>
          <a:ln w="12700">
            <a:solidFill>
              <a:srgbClr val="0068B8"/>
            </a:solidFill>
            <a:prstDash val="solid"/>
          </a:ln>
        </p:spPr>
        <p:txBody>
          <a:bodyPr/>
          <a:lstStyle/>
          <a:p>
            <a:endParaRPr lang="en-JP"/>
          </a:p>
        </p:txBody>
      </p:sp>
      <p:sp>
        <p:nvSpPr>
          <p:cNvPr id="21" name="Text 15"/>
          <p:cNvSpPr txBox="1"/>
          <p:nvPr/>
        </p:nvSpPr>
        <p:spPr>
          <a:xfrm>
            <a:off x="960120" y="4306824"/>
            <a:ext cx="457200" cy="566928"/>
          </a:xfrm>
          <a:prstGeom prst="rect">
            <a:avLst/>
          </a:prstGeom>
          <a:noFill/>
          <a:ln/>
        </p:spPr>
        <p:txBody>
          <a:bodyPr wrap="square" lIns="0" tIns="0" rIns="0" bIns="0" rtlCol="0" anchor="ctr"/>
          <a:lstStyle/>
          <a:p>
            <a:pPr marL="0" indent="0">
              <a:buNone/>
            </a:pPr>
            <a:r>
              <a:rPr lang="en-US" sz="1500" b="1" dirty="0">
                <a:solidFill>
                  <a:srgbClr val="CADCFC"/>
                </a:solidFill>
                <a:latin typeface="Arial" pitchFamily="34" charset="0"/>
                <a:ea typeface="Arial" pitchFamily="34" charset="-122"/>
                <a:cs typeface="Arial" pitchFamily="34" charset="-120"/>
              </a:rPr>
              <a:t>05</a:t>
            </a:r>
            <a:endParaRPr lang="en-US" sz="1500" dirty="0"/>
          </a:p>
        </p:txBody>
      </p:sp>
      <p:pic>
        <p:nvPicPr>
          <p:cNvPr id="22" name="Image 4" descr="preencoded.png"/>
          <p:cNvPicPr>
            <a:picLocks noChangeAspect="1"/>
          </p:cNvPicPr>
          <p:nvPr/>
        </p:nvPicPr>
        <p:blipFill>
          <a:blip r:embed="rId7"/>
          <a:stretch>
            <a:fillRect/>
          </a:stretch>
        </p:blipFill>
        <p:spPr>
          <a:xfrm>
            <a:off x="1508760" y="4443984"/>
            <a:ext cx="292608" cy="292608"/>
          </a:xfrm>
          <a:prstGeom prst="rect">
            <a:avLst/>
          </a:prstGeom>
        </p:spPr>
      </p:pic>
      <p:sp>
        <p:nvSpPr>
          <p:cNvPr id="23" name="Text 16"/>
          <p:cNvSpPr txBox="1"/>
          <p:nvPr/>
        </p:nvSpPr>
        <p:spPr>
          <a:xfrm>
            <a:off x="1965960" y="4306824"/>
            <a:ext cx="448056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Monitoring &amp; Detection</a:t>
            </a:r>
            <a:endParaRPr lang="en-US" sz="1600" dirty="0"/>
          </a:p>
        </p:txBody>
      </p:sp>
      <p:sp>
        <p:nvSpPr>
          <p:cNvPr id="24" name="Layer 6"/>
          <p:cNvSpPr/>
          <p:nvPr/>
        </p:nvSpPr>
        <p:spPr>
          <a:xfrm>
            <a:off x="525780" y="4983480"/>
            <a:ext cx="6263640" cy="566928"/>
          </a:xfrm>
          <a:prstGeom prst="roundRect">
            <a:avLst>
              <a:gd name="adj" fmla="val 16129"/>
            </a:avLst>
          </a:prstGeom>
          <a:solidFill>
            <a:srgbClr val="0078D4"/>
          </a:solidFill>
          <a:ln w="12700">
            <a:solidFill>
              <a:srgbClr val="0078D4"/>
            </a:solidFill>
            <a:prstDash val="solid"/>
          </a:ln>
        </p:spPr>
        <p:txBody>
          <a:bodyPr/>
          <a:lstStyle/>
          <a:p>
            <a:endParaRPr lang="en-JP"/>
          </a:p>
        </p:txBody>
      </p:sp>
      <p:sp>
        <p:nvSpPr>
          <p:cNvPr id="25" name="Text 18"/>
          <p:cNvSpPr txBox="1"/>
          <p:nvPr/>
        </p:nvSpPr>
        <p:spPr>
          <a:xfrm>
            <a:off x="754380" y="4983480"/>
            <a:ext cx="457200" cy="566928"/>
          </a:xfrm>
          <a:prstGeom prst="rect">
            <a:avLst/>
          </a:prstGeom>
          <a:noFill/>
          <a:ln/>
        </p:spPr>
        <p:txBody>
          <a:bodyPr wrap="square" lIns="0" tIns="0" rIns="0" bIns="0" rtlCol="0" anchor="ctr"/>
          <a:lstStyle/>
          <a:p>
            <a:pPr marL="0" indent="0">
              <a:buNone/>
            </a:pPr>
            <a:r>
              <a:rPr lang="en-US" sz="1500" b="1" dirty="0">
                <a:solidFill>
                  <a:srgbClr val="CADCFC"/>
                </a:solidFill>
                <a:latin typeface="Arial" pitchFamily="34" charset="0"/>
                <a:ea typeface="Arial" pitchFamily="34" charset="-122"/>
                <a:cs typeface="Arial" pitchFamily="34" charset="-120"/>
              </a:rPr>
              <a:t>06</a:t>
            </a:r>
            <a:endParaRPr lang="en-US" sz="1500" dirty="0"/>
          </a:p>
        </p:txBody>
      </p:sp>
      <p:pic>
        <p:nvPicPr>
          <p:cNvPr id="26" name="Image 5" descr="preencoded.png"/>
          <p:cNvPicPr>
            <a:picLocks noChangeAspect="1"/>
          </p:cNvPicPr>
          <p:nvPr/>
        </p:nvPicPr>
        <p:blipFill>
          <a:blip r:embed="rId8"/>
          <a:stretch>
            <a:fillRect/>
          </a:stretch>
        </p:blipFill>
        <p:spPr>
          <a:xfrm>
            <a:off x="1303020" y="5120640"/>
            <a:ext cx="292608" cy="292608"/>
          </a:xfrm>
          <a:prstGeom prst="rect">
            <a:avLst/>
          </a:prstGeom>
        </p:spPr>
      </p:pic>
      <p:sp>
        <p:nvSpPr>
          <p:cNvPr id="27" name="Text 19"/>
          <p:cNvSpPr txBox="1"/>
          <p:nvPr/>
        </p:nvSpPr>
        <p:spPr>
          <a:xfrm>
            <a:off x="1760220" y="4983480"/>
            <a:ext cx="489204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Data Protection</a:t>
            </a:r>
            <a:endParaRPr lang="en-US" sz="1600" dirty="0"/>
          </a:p>
        </p:txBody>
      </p:sp>
      <p:sp>
        <p:nvSpPr>
          <p:cNvPr id="28" name="Shape 20"/>
          <p:cNvSpPr/>
          <p:nvPr/>
        </p:nvSpPr>
        <p:spPr>
          <a:xfrm>
            <a:off x="7132320" y="1600200"/>
            <a:ext cx="4507992" cy="1828800"/>
          </a:xfrm>
          <a:prstGeom prst="roundRect">
            <a:avLst>
              <a:gd name="adj" fmla="val 6000"/>
            </a:avLst>
          </a:prstGeom>
          <a:solidFill>
            <a:srgbClr val="0078D4"/>
          </a:solidFill>
          <a:ln w="12700">
            <a:solidFill>
              <a:srgbClr val="0078D4"/>
            </a:solidFill>
            <a:prstDash val="solid"/>
          </a:ln>
        </p:spPr>
        <p:txBody>
          <a:bodyPr/>
          <a:lstStyle/>
          <a:p>
            <a:endParaRPr lang="en-JP"/>
          </a:p>
        </p:txBody>
      </p:sp>
      <p:sp>
        <p:nvSpPr>
          <p:cNvPr id="29" name="Text 21"/>
          <p:cNvSpPr txBox="1"/>
          <p:nvPr/>
        </p:nvSpPr>
        <p:spPr>
          <a:xfrm>
            <a:off x="7406640" y="1783080"/>
            <a:ext cx="3931920" cy="274320"/>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GOAL</a:t>
            </a:r>
            <a:endParaRPr lang="en-US" sz="1200" dirty="0"/>
          </a:p>
        </p:txBody>
      </p:sp>
      <p:sp>
        <p:nvSpPr>
          <p:cNvPr id="30" name="Text 22"/>
          <p:cNvSpPr txBox="1"/>
          <p:nvPr/>
        </p:nvSpPr>
        <p:spPr>
          <a:xfrm>
            <a:off x="7406640" y="2103120"/>
            <a:ext cx="4023360" cy="1143000"/>
          </a:xfrm>
          <a:prstGeom prst="rect">
            <a:avLst/>
          </a:prstGeom>
          <a:noFill/>
          <a:ln/>
        </p:spPr>
        <p:txBody>
          <a:bodyPr wrap="square" lIns="0" tIns="0" rIns="0" bIns="0" rtlCol="0" anchor="t"/>
          <a:lstStyle/>
          <a:p>
            <a:pPr marL="0" indent="0">
              <a:buNone/>
            </a:pPr>
            <a:r>
              <a:rPr lang="en-US" sz="2400" b="1" dirty="0">
                <a:solidFill>
                  <a:srgbClr val="FFFFFF"/>
                </a:solidFill>
                <a:latin typeface="Arial" pitchFamily="34" charset="0"/>
                <a:ea typeface="Arial" pitchFamily="34" charset="-122"/>
                <a:cs typeface="Arial" pitchFamily="34" charset="-120"/>
              </a:rPr>
              <a:t>Secure every layer of the Windows environment</a:t>
            </a:r>
            <a:endParaRPr lang="en-US" sz="2400" dirty="0"/>
          </a:p>
        </p:txBody>
      </p:sp>
      <p:sp>
        <p:nvSpPr>
          <p:cNvPr id="31" name="Shape 23"/>
          <p:cNvSpPr/>
          <p:nvPr/>
        </p:nvSpPr>
        <p:spPr>
          <a:xfrm>
            <a:off x="7132320" y="3611880"/>
            <a:ext cx="4507992" cy="1984248"/>
          </a:xfrm>
          <a:prstGeom prst="roundRect">
            <a:avLst>
              <a:gd name="adj" fmla="val 5530"/>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32" name="Shape 24"/>
          <p:cNvSpPr/>
          <p:nvPr/>
        </p:nvSpPr>
        <p:spPr>
          <a:xfrm>
            <a:off x="7360920" y="3840480"/>
            <a:ext cx="548640" cy="548640"/>
          </a:xfrm>
          <a:prstGeom prst="ellipse">
            <a:avLst/>
          </a:prstGeom>
          <a:solidFill>
            <a:srgbClr val="EAF3FC"/>
          </a:solidFill>
          <a:ln w="12700">
            <a:solidFill>
              <a:srgbClr val="EAF3FC"/>
            </a:solidFill>
            <a:prstDash val="solid"/>
          </a:ln>
        </p:spPr>
        <p:txBody>
          <a:bodyPr/>
          <a:lstStyle/>
          <a:p>
            <a:endParaRPr lang="en-JP"/>
          </a:p>
        </p:txBody>
      </p:sp>
      <p:pic>
        <p:nvPicPr>
          <p:cNvPr id="33" name="Image 6" descr="preencoded.png"/>
          <p:cNvPicPr>
            <a:picLocks noChangeAspect="1"/>
          </p:cNvPicPr>
          <p:nvPr/>
        </p:nvPicPr>
        <p:blipFill>
          <a:blip r:embed="rId9"/>
          <a:stretch>
            <a:fillRect/>
          </a:stretch>
        </p:blipFill>
        <p:spPr>
          <a:xfrm>
            <a:off x="7492594" y="3972154"/>
            <a:ext cx="285293" cy="285293"/>
          </a:xfrm>
          <a:prstGeom prst="rect">
            <a:avLst/>
          </a:prstGeom>
        </p:spPr>
      </p:pic>
      <p:sp>
        <p:nvSpPr>
          <p:cNvPr id="34" name="Text 25"/>
          <p:cNvSpPr txBox="1"/>
          <p:nvPr/>
        </p:nvSpPr>
        <p:spPr>
          <a:xfrm>
            <a:off x="7360920" y="4526280"/>
            <a:ext cx="4069080" cy="914400"/>
          </a:xfrm>
          <a:prstGeom prst="rect">
            <a:avLst/>
          </a:prstGeom>
          <a:noFill/>
          <a:ln/>
        </p:spPr>
        <p:txBody>
          <a:bodyPr wrap="square" lIns="0" tIns="0" rIns="0" bIns="0" rtlCol="0" anchor="t"/>
          <a:lstStyle/>
          <a:p>
            <a:pPr marL="0" indent="0">
              <a:buNone/>
            </a:pPr>
            <a:r>
              <a:rPr lang="en-US" sz="1500" dirty="0">
                <a:solidFill>
                  <a:srgbClr val="4A5A6B"/>
                </a:solidFill>
                <a:latin typeface="Calibri" pitchFamily="34" charset="0"/>
                <a:ea typeface="Calibri" pitchFamily="34" charset="-122"/>
                <a:cs typeface="Calibri" pitchFamily="34" charset="-120"/>
              </a:rPr>
              <a:t>Independent controls are stacked, so if one layer fails, the next one still protects the endpoint.</a:t>
            </a:r>
            <a:endParaRPr lang="en-US" sz="1500" dirty="0"/>
          </a:p>
        </p:txBody>
      </p:sp>
      <p:sp>
        <p:nvSpPr>
          <p:cNvPr id="3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A6B"/>
                </a:solidFill>
                <a:latin typeface="Calibri"/>
                <a:ea typeface="Calibri"/>
                <a:cs typeface="Calibri"/>
              </a:defRPr>
            </a:lvl1pPr>
          </a:lstStyle>
          <a:p>
            <a:pPr algn="l"/>
            <a:fld id="{F7021451-1387-4CA6-816F-3879F97B5CBC}" type="slidenum">
              <a:rPr lang="en-US" b="0"/>
              <a:t>4</a:t>
            </a:fld>
            <a:endParaRPr lang="en-US"/>
          </a:p>
        </p:txBody>
      </p:sp>
      <p:pic>
        <p:nvPicPr>
          <p:cNvPr id="36" name="Picture 35">
            <a:extLst>
              <a:ext uri="{FF2B5EF4-FFF2-40B4-BE49-F238E27FC236}">
                <a16:creationId xmlns:a16="http://schemas.microsoft.com/office/drawing/2014/main" id="{AA7A32EF-283C-A25E-B8B3-DAC0E40D9FD1}"/>
              </a:ext>
            </a:extLst>
          </p:cNvPr>
          <p:cNvPicPr>
            <a:picLocks noChangeAspect="1"/>
          </p:cNvPicPr>
          <p:nvPr/>
        </p:nvPicPr>
        <p:blipFill>
          <a:blip r:embed="rId10"/>
          <a:stretch>
            <a:fillRect/>
          </a:stretch>
        </p:blipFill>
        <p:spPr>
          <a:xfrm>
            <a:off x="10555840" y="94655"/>
            <a:ext cx="1331515" cy="133151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64240" cy="292608"/>
          </a:xfrm>
          <a:prstGeom prst="rect">
            <a:avLst/>
          </a:prstGeom>
          <a:noFill/>
          <a:ln/>
        </p:spPr>
        <p:txBody>
          <a:bodyPr wrap="square" lIns="0" tIns="0" rIns="0" bIns="0" rtlCol="0" anchor="ctr"/>
          <a:lstStyle/>
          <a:p>
            <a:pPr marL="0" indent="0">
              <a:buNone/>
            </a:pPr>
            <a:r>
              <a:rPr lang="en-US" sz="1200" b="1" kern="0" spc="200" dirty="0">
                <a:solidFill>
                  <a:srgbClr val="0078D4"/>
                </a:solidFill>
                <a:latin typeface="Calibri" pitchFamily="34" charset="0"/>
                <a:ea typeface="Calibri" pitchFamily="34" charset="-122"/>
                <a:cs typeface="Calibri" pitchFamily="34" charset="-120"/>
              </a:rPr>
              <a:t>04  ·  IDENTITY PROTECTION FIRST</a:t>
            </a:r>
            <a:endParaRPr lang="en-US" sz="1200" dirty="0"/>
          </a:p>
        </p:txBody>
      </p:sp>
      <p:sp>
        <p:nvSpPr>
          <p:cNvPr id="3" name="Text 0"/>
          <p:cNvSpPr>
            <a:spLocks noGrp="1"/>
          </p:cNvSpPr>
          <p:nvPr>
            <p:ph type="title" idx="101" hasCustomPrompt="1"/>
          </p:nvPr>
        </p:nvSpPr>
        <p:spPr>
          <a:xfrm>
            <a:off x="548640" y="640080"/>
            <a:ext cx="11064240" cy="731520"/>
          </a:xfrm>
          <a:prstGeom prst="rect">
            <a:avLst/>
          </a:prstGeom>
          <a:noFill/>
          <a:ln/>
        </p:spPr>
        <p:txBody>
          <a:bodyPr wrap="square" lIns="0" tIns="0" rIns="0" bIns="0" rtlCol="0" anchor="ctr"/>
          <a:lstStyle/>
          <a:p>
            <a:pPr marL="0" indent="0" algn="l">
              <a:buNone/>
            </a:pPr>
            <a:r>
              <a:rPr lang="en-US" sz="3600" b="1" dirty="0">
                <a:solidFill>
                  <a:srgbClr val="0B1F33"/>
                </a:solidFill>
                <a:latin typeface="Arial" pitchFamily="34" charset="0"/>
                <a:ea typeface="Arial" pitchFamily="34" charset="-122"/>
                <a:cs typeface="Arial" pitchFamily="34" charset="-120"/>
              </a:rPr>
              <a:t>Secure User &amp; Administrator Accounts</a:t>
            </a:r>
            <a:endParaRPr lang="en-US" sz="3600" dirty="0"/>
          </a:p>
        </p:txBody>
      </p:sp>
      <p:sp>
        <p:nvSpPr>
          <p:cNvPr id="4" name="Text 2"/>
          <p:cNvSpPr txBox="1"/>
          <p:nvPr/>
        </p:nvSpPr>
        <p:spPr>
          <a:xfrm>
            <a:off x="548640" y="1508760"/>
            <a:ext cx="4572000" cy="274320"/>
          </a:xfrm>
          <a:prstGeom prst="rect">
            <a:avLst/>
          </a:prstGeom>
          <a:noFill/>
          <a:ln/>
        </p:spPr>
        <p:txBody>
          <a:bodyPr wrap="square" lIns="0" tIns="0" rIns="0" bIns="0" rtlCol="0" anchor="ctr"/>
          <a:lstStyle/>
          <a:p>
            <a:pPr marL="0" indent="0">
              <a:buNone/>
            </a:pPr>
            <a:r>
              <a:rPr lang="en-US" sz="1200" b="1" kern="0" spc="200" dirty="0">
                <a:solidFill>
                  <a:srgbClr val="0078D4"/>
                </a:solidFill>
                <a:latin typeface="Calibri" pitchFamily="34" charset="0"/>
                <a:ea typeface="Calibri" pitchFamily="34" charset="-122"/>
                <a:cs typeface="Calibri" pitchFamily="34" charset="-120"/>
              </a:rPr>
              <a:t>RECOMMENDED CONTROLS</a:t>
            </a:r>
            <a:endParaRPr lang="en-US" sz="1200" dirty="0"/>
          </a:p>
        </p:txBody>
      </p:sp>
      <p:sp>
        <p:nvSpPr>
          <p:cNvPr id="5" name="Shape 3"/>
          <p:cNvSpPr/>
          <p:nvPr/>
        </p:nvSpPr>
        <p:spPr>
          <a:xfrm>
            <a:off x="548640" y="1847088"/>
            <a:ext cx="5486400" cy="640080"/>
          </a:xfrm>
          <a:prstGeom prst="roundRect">
            <a:avLst>
              <a:gd name="adj" fmla="val 17143"/>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6" name="Shape 4"/>
          <p:cNvSpPr/>
          <p:nvPr/>
        </p:nvSpPr>
        <p:spPr>
          <a:xfrm>
            <a:off x="749808" y="1975104"/>
            <a:ext cx="384048" cy="384048"/>
          </a:xfrm>
          <a:prstGeom prst="ellipse">
            <a:avLst/>
          </a:prstGeom>
          <a:solidFill>
            <a:srgbClr val="0078D4"/>
          </a:solidFill>
          <a:ln w="12700">
            <a:solidFill>
              <a:srgbClr val="0078D4"/>
            </a:solidFill>
            <a:prstDash val="solid"/>
          </a:ln>
        </p:spPr>
        <p:txBody>
          <a:bodyPr/>
          <a:lstStyle/>
          <a:p>
            <a:endParaRPr lang="en-JP"/>
          </a:p>
        </p:txBody>
      </p:sp>
      <p:pic>
        <p:nvPicPr>
          <p:cNvPr id="7" name="Image 0" descr="preencoded.png"/>
          <p:cNvPicPr>
            <a:picLocks noChangeAspect="1"/>
          </p:cNvPicPr>
          <p:nvPr/>
        </p:nvPicPr>
        <p:blipFill>
          <a:blip r:embed="rId3"/>
          <a:stretch>
            <a:fillRect/>
          </a:stretch>
        </p:blipFill>
        <p:spPr>
          <a:xfrm>
            <a:off x="841980" y="2067276"/>
            <a:ext cx="199705" cy="199705"/>
          </a:xfrm>
          <a:prstGeom prst="rect">
            <a:avLst/>
          </a:prstGeom>
        </p:spPr>
      </p:pic>
      <p:sp>
        <p:nvSpPr>
          <p:cNvPr id="8" name="Text 5"/>
          <p:cNvSpPr txBox="1"/>
          <p:nvPr/>
        </p:nvSpPr>
        <p:spPr>
          <a:xfrm>
            <a:off x="1325880" y="1847088"/>
            <a:ext cx="4572000" cy="640080"/>
          </a:xfrm>
          <a:prstGeom prst="rect">
            <a:avLst/>
          </a:prstGeom>
          <a:noFill/>
          <a:ln/>
        </p:spPr>
        <p:txBody>
          <a:bodyPr wrap="square" lIns="0" tIns="0" rIns="0" bIns="0" rtlCol="0" anchor="ctr"/>
          <a:lstStyle/>
          <a:p>
            <a:pPr marL="0" indent="0">
              <a:buNone/>
            </a:pPr>
            <a:r>
              <a:rPr lang="en-US" sz="1700" dirty="0">
                <a:solidFill>
                  <a:srgbClr val="0B1F33"/>
                </a:solidFill>
                <a:latin typeface="Calibri" pitchFamily="34" charset="0"/>
                <a:ea typeface="Calibri" pitchFamily="34" charset="-122"/>
                <a:cs typeface="Calibri" pitchFamily="34" charset="-120"/>
              </a:rPr>
              <a:t>Multi-Factor Authentication</a:t>
            </a:r>
            <a:endParaRPr lang="en-US" sz="1700" dirty="0"/>
          </a:p>
        </p:txBody>
      </p:sp>
      <p:sp>
        <p:nvSpPr>
          <p:cNvPr id="9" name="Shape 6"/>
          <p:cNvSpPr/>
          <p:nvPr/>
        </p:nvSpPr>
        <p:spPr>
          <a:xfrm>
            <a:off x="548640" y="2615184"/>
            <a:ext cx="5486400" cy="640080"/>
          </a:xfrm>
          <a:prstGeom prst="roundRect">
            <a:avLst>
              <a:gd name="adj" fmla="val 17143"/>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0" name="Shape 7"/>
          <p:cNvSpPr/>
          <p:nvPr/>
        </p:nvSpPr>
        <p:spPr>
          <a:xfrm>
            <a:off x="749808" y="2743200"/>
            <a:ext cx="384048" cy="384048"/>
          </a:xfrm>
          <a:prstGeom prst="ellipse">
            <a:avLst/>
          </a:prstGeom>
          <a:solidFill>
            <a:srgbClr val="0078D4"/>
          </a:solidFill>
          <a:ln w="12700">
            <a:solidFill>
              <a:srgbClr val="0078D4"/>
            </a:solidFill>
            <a:prstDash val="solid"/>
          </a:ln>
        </p:spPr>
        <p:txBody>
          <a:bodyPr/>
          <a:lstStyle/>
          <a:p>
            <a:endParaRPr lang="en-JP"/>
          </a:p>
        </p:txBody>
      </p:sp>
      <p:pic>
        <p:nvPicPr>
          <p:cNvPr id="11" name="Image 1" descr="preencoded.png"/>
          <p:cNvPicPr>
            <a:picLocks noChangeAspect="1"/>
          </p:cNvPicPr>
          <p:nvPr/>
        </p:nvPicPr>
        <p:blipFill>
          <a:blip r:embed="rId3"/>
          <a:stretch>
            <a:fillRect/>
          </a:stretch>
        </p:blipFill>
        <p:spPr>
          <a:xfrm>
            <a:off x="841980" y="2835372"/>
            <a:ext cx="199705" cy="199705"/>
          </a:xfrm>
          <a:prstGeom prst="rect">
            <a:avLst/>
          </a:prstGeom>
        </p:spPr>
      </p:pic>
      <p:sp>
        <p:nvSpPr>
          <p:cNvPr id="12" name="Text 8"/>
          <p:cNvSpPr txBox="1"/>
          <p:nvPr/>
        </p:nvSpPr>
        <p:spPr>
          <a:xfrm>
            <a:off x="1325880" y="2615184"/>
            <a:ext cx="4572000" cy="640080"/>
          </a:xfrm>
          <a:prstGeom prst="rect">
            <a:avLst/>
          </a:prstGeom>
          <a:noFill/>
          <a:ln/>
        </p:spPr>
        <p:txBody>
          <a:bodyPr wrap="square" lIns="0" tIns="0" rIns="0" bIns="0" rtlCol="0" anchor="ctr"/>
          <a:lstStyle/>
          <a:p>
            <a:pPr marL="0" indent="0">
              <a:buNone/>
            </a:pPr>
            <a:r>
              <a:rPr lang="en-US" sz="1700" dirty="0">
                <a:solidFill>
                  <a:srgbClr val="0B1F33"/>
                </a:solidFill>
                <a:latin typeface="Calibri" pitchFamily="34" charset="0"/>
                <a:ea typeface="Calibri" pitchFamily="34" charset="-122"/>
                <a:cs typeface="Calibri" pitchFamily="34" charset="-120"/>
              </a:rPr>
              <a:t>Least Privilege Principle</a:t>
            </a:r>
            <a:endParaRPr lang="en-US" sz="1700" dirty="0"/>
          </a:p>
        </p:txBody>
      </p:sp>
      <p:sp>
        <p:nvSpPr>
          <p:cNvPr id="13" name="Shape 9"/>
          <p:cNvSpPr/>
          <p:nvPr/>
        </p:nvSpPr>
        <p:spPr>
          <a:xfrm>
            <a:off x="548640" y="3383280"/>
            <a:ext cx="5486400" cy="640080"/>
          </a:xfrm>
          <a:prstGeom prst="roundRect">
            <a:avLst>
              <a:gd name="adj" fmla="val 17143"/>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4" name="Shape 10"/>
          <p:cNvSpPr/>
          <p:nvPr/>
        </p:nvSpPr>
        <p:spPr>
          <a:xfrm>
            <a:off x="749808" y="3511296"/>
            <a:ext cx="384048" cy="384048"/>
          </a:xfrm>
          <a:prstGeom prst="ellipse">
            <a:avLst/>
          </a:prstGeom>
          <a:solidFill>
            <a:srgbClr val="0078D4"/>
          </a:solidFill>
          <a:ln w="12700">
            <a:solidFill>
              <a:srgbClr val="0078D4"/>
            </a:solidFill>
            <a:prstDash val="solid"/>
          </a:ln>
        </p:spPr>
        <p:txBody>
          <a:bodyPr/>
          <a:lstStyle/>
          <a:p>
            <a:endParaRPr lang="en-JP"/>
          </a:p>
        </p:txBody>
      </p:sp>
      <p:pic>
        <p:nvPicPr>
          <p:cNvPr id="15" name="Image 2" descr="preencoded.png"/>
          <p:cNvPicPr>
            <a:picLocks noChangeAspect="1"/>
          </p:cNvPicPr>
          <p:nvPr/>
        </p:nvPicPr>
        <p:blipFill>
          <a:blip r:embed="rId3"/>
          <a:stretch>
            <a:fillRect/>
          </a:stretch>
        </p:blipFill>
        <p:spPr>
          <a:xfrm>
            <a:off x="841980" y="3603468"/>
            <a:ext cx="199705" cy="199705"/>
          </a:xfrm>
          <a:prstGeom prst="rect">
            <a:avLst/>
          </a:prstGeom>
        </p:spPr>
      </p:pic>
      <p:sp>
        <p:nvSpPr>
          <p:cNvPr id="16" name="Text 11"/>
          <p:cNvSpPr txBox="1"/>
          <p:nvPr/>
        </p:nvSpPr>
        <p:spPr>
          <a:xfrm>
            <a:off x="1325880" y="3383280"/>
            <a:ext cx="4572000" cy="640080"/>
          </a:xfrm>
          <a:prstGeom prst="rect">
            <a:avLst/>
          </a:prstGeom>
          <a:noFill/>
          <a:ln/>
        </p:spPr>
        <p:txBody>
          <a:bodyPr wrap="square" lIns="0" tIns="0" rIns="0" bIns="0" rtlCol="0" anchor="ctr"/>
          <a:lstStyle/>
          <a:p>
            <a:pPr marL="0" indent="0">
              <a:buNone/>
            </a:pPr>
            <a:r>
              <a:rPr lang="en-US" sz="1700" dirty="0">
                <a:solidFill>
                  <a:srgbClr val="0B1F33"/>
                </a:solidFill>
                <a:latin typeface="Calibri" pitchFamily="34" charset="0"/>
                <a:ea typeface="Calibri" pitchFamily="34" charset="-122"/>
                <a:cs typeface="Calibri" pitchFamily="34" charset="-120"/>
              </a:rPr>
              <a:t>Separate Admin Accounts</a:t>
            </a:r>
            <a:endParaRPr lang="en-US" sz="1700" dirty="0"/>
          </a:p>
        </p:txBody>
      </p:sp>
      <p:sp>
        <p:nvSpPr>
          <p:cNvPr id="17" name="Shape 12"/>
          <p:cNvSpPr/>
          <p:nvPr/>
        </p:nvSpPr>
        <p:spPr>
          <a:xfrm>
            <a:off x="548640" y="4151376"/>
            <a:ext cx="5486400" cy="640080"/>
          </a:xfrm>
          <a:prstGeom prst="roundRect">
            <a:avLst>
              <a:gd name="adj" fmla="val 17143"/>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8" name="Shape 13"/>
          <p:cNvSpPr/>
          <p:nvPr/>
        </p:nvSpPr>
        <p:spPr>
          <a:xfrm>
            <a:off x="749808" y="4279392"/>
            <a:ext cx="384048" cy="384048"/>
          </a:xfrm>
          <a:prstGeom prst="ellipse">
            <a:avLst/>
          </a:prstGeom>
          <a:solidFill>
            <a:srgbClr val="0078D4"/>
          </a:solidFill>
          <a:ln w="12700">
            <a:solidFill>
              <a:srgbClr val="0078D4"/>
            </a:solidFill>
            <a:prstDash val="solid"/>
          </a:ln>
        </p:spPr>
        <p:txBody>
          <a:bodyPr/>
          <a:lstStyle/>
          <a:p>
            <a:endParaRPr lang="en-JP"/>
          </a:p>
        </p:txBody>
      </p:sp>
      <p:pic>
        <p:nvPicPr>
          <p:cNvPr id="19" name="Image 3" descr="preencoded.png"/>
          <p:cNvPicPr>
            <a:picLocks noChangeAspect="1"/>
          </p:cNvPicPr>
          <p:nvPr/>
        </p:nvPicPr>
        <p:blipFill>
          <a:blip r:embed="rId3"/>
          <a:stretch>
            <a:fillRect/>
          </a:stretch>
        </p:blipFill>
        <p:spPr>
          <a:xfrm>
            <a:off x="841980" y="4371564"/>
            <a:ext cx="199705" cy="199705"/>
          </a:xfrm>
          <a:prstGeom prst="rect">
            <a:avLst/>
          </a:prstGeom>
        </p:spPr>
      </p:pic>
      <p:sp>
        <p:nvSpPr>
          <p:cNvPr id="20" name="Text 14"/>
          <p:cNvSpPr txBox="1"/>
          <p:nvPr/>
        </p:nvSpPr>
        <p:spPr>
          <a:xfrm>
            <a:off x="1325880" y="4151376"/>
            <a:ext cx="4572000" cy="640080"/>
          </a:xfrm>
          <a:prstGeom prst="rect">
            <a:avLst/>
          </a:prstGeom>
          <a:noFill/>
          <a:ln/>
        </p:spPr>
        <p:txBody>
          <a:bodyPr wrap="square" lIns="0" tIns="0" rIns="0" bIns="0" rtlCol="0" anchor="ctr"/>
          <a:lstStyle/>
          <a:p>
            <a:pPr marL="0" indent="0">
              <a:buNone/>
            </a:pPr>
            <a:r>
              <a:rPr lang="en-US" sz="1700" dirty="0">
                <a:solidFill>
                  <a:srgbClr val="0B1F33"/>
                </a:solidFill>
                <a:latin typeface="Calibri" pitchFamily="34" charset="0"/>
                <a:ea typeface="Calibri" pitchFamily="34" charset="-122"/>
                <a:cs typeface="Calibri" pitchFamily="34" charset="-120"/>
              </a:rPr>
              <a:t>Privileged Access Workstations</a:t>
            </a:r>
            <a:endParaRPr lang="en-US" sz="1700" dirty="0"/>
          </a:p>
        </p:txBody>
      </p:sp>
      <p:sp>
        <p:nvSpPr>
          <p:cNvPr id="21" name="Shape 15"/>
          <p:cNvSpPr/>
          <p:nvPr/>
        </p:nvSpPr>
        <p:spPr>
          <a:xfrm>
            <a:off x="548640" y="4919472"/>
            <a:ext cx="5486400" cy="640080"/>
          </a:xfrm>
          <a:prstGeom prst="roundRect">
            <a:avLst>
              <a:gd name="adj" fmla="val 17143"/>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22" name="Shape 16"/>
          <p:cNvSpPr/>
          <p:nvPr/>
        </p:nvSpPr>
        <p:spPr>
          <a:xfrm>
            <a:off x="749808" y="5047488"/>
            <a:ext cx="384048" cy="384048"/>
          </a:xfrm>
          <a:prstGeom prst="ellipse">
            <a:avLst/>
          </a:prstGeom>
          <a:solidFill>
            <a:srgbClr val="0078D4"/>
          </a:solidFill>
          <a:ln w="12700">
            <a:solidFill>
              <a:srgbClr val="0078D4"/>
            </a:solidFill>
            <a:prstDash val="solid"/>
          </a:ln>
        </p:spPr>
        <p:txBody>
          <a:bodyPr/>
          <a:lstStyle/>
          <a:p>
            <a:endParaRPr lang="en-JP"/>
          </a:p>
        </p:txBody>
      </p:sp>
      <p:pic>
        <p:nvPicPr>
          <p:cNvPr id="23" name="Image 4" descr="preencoded.png"/>
          <p:cNvPicPr>
            <a:picLocks noChangeAspect="1"/>
          </p:cNvPicPr>
          <p:nvPr/>
        </p:nvPicPr>
        <p:blipFill>
          <a:blip r:embed="rId3"/>
          <a:stretch>
            <a:fillRect/>
          </a:stretch>
        </p:blipFill>
        <p:spPr>
          <a:xfrm>
            <a:off x="841980" y="5139660"/>
            <a:ext cx="199705" cy="199705"/>
          </a:xfrm>
          <a:prstGeom prst="rect">
            <a:avLst/>
          </a:prstGeom>
        </p:spPr>
      </p:pic>
      <p:sp>
        <p:nvSpPr>
          <p:cNvPr id="24" name="Text 17"/>
          <p:cNvSpPr txBox="1"/>
          <p:nvPr/>
        </p:nvSpPr>
        <p:spPr>
          <a:xfrm>
            <a:off x="1325880" y="4919472"/>
            <a:ext cx="4572000" cy="640080"/>
          </a:xfrm>
          <a:prstGeom prst="rect">
            <a:avLst/>
          </a:prstGeom>
          <a:noFill/>
          <a:ln/>
        </p:spPr>
        <p:txBody>
          <a:bodyPr wrap="square" lIns="0" tIns="0" rIns="0" bIns="0" rtlCol="0" anchor="ctr"/>
          <a:lstStyle/>
          <a:p>
            <a:pPr marL="0" indent="0">
              <a:buNone/>
            </a:pPr>
            <a:r>
              <a:rPr lang="en-US" sz="1700" dirty="0">
                <a:solidFill>
                  <a:srgbClr val="0B1F33"/>
                </a:solidFill>
                <a:latin typeface="Calibri" pitchFamily="34" charset="0"/>
                <a:ea typeface="Calibri" pitchFamily="34" charset="-122"/>
                <a:cs typeface="Calibri" pitchFamily="34" charset="-120"/>
              </a:rPr>
              <a:t>Account Lockout Policies</a:t>
            </a:r>
            <a:endParaRPr lang="en-US" sz="1700" dirty="0"/>
          </a:p>
        </p:txBody>
      </p:sp>
      <p:pic>
        <p:nvPicPr>
          <p:cNvPr id="25" name="Image 5" descr="Identity flow: user, MFA phone, privileged access workstation, protected server"/>
          <p:cNvPicPr>
            <a:picLocks noChangeAspect="1"/>
          </p:cNvPicPr>
          <p:nvPr/>
        </p:nvPicPr>
        <p:blipFill>
          <a:blip r:embed="rId4"/>
          <a:stretch>
            <a:fillRect/>
          </a:stretch>
        </p:blipFill>
        <p:spPr>
          <a:xfrm>
            <a:off x="6400800" y="1508760"/>
            <a:ext cx="5239512" cy="2606040"/>
          </a:xfrm>
          <a:prstGeom prst="rect">
            <a:avLst/>
          </a:prstGeom>
        </p:spPr>
      </p:pic>
      <p:sp>
        <p:nvSpPr>
          <p:cNvPr id="26" name="Text 18"/>
          <p:cNvSpPr txBox="1"/>
          <p:nvPr/>
        </p:nvSpPr>
        <p:spPr>
          <a:xfrm>
            <a:off x="6400800" y="4279392"/>
            <a:ext cx="3657600" cy="274320"/>
          </a:xfrm>
          <a:prstGeom prst="rect">
            <a:avLst/>
          </a:prstGeom>
          <a:noFill/>
          <a:ln/>
        </p:spPr>
        <p:txBody>
          <a:bodyPr wrap="square" lIns="0" tIns="0" rIns="0" bIns="0" rtlCol="0" anchor="ctr"/>
          <a:lstStyle/>
          <a:p>
            <a:pPr marL="0" indent="0">
              <a:buNone/>
            </a:pPr>
            <a:r>
              <a:rPr lang="en-US" sz="1200" b="1" kern="0" spc="200" dirty="0">
                <a:solidFill>
                  <a:srgbClr val="0078D4"/>
                </a:solidFill>
                <a:latin typeface="Calibri" pitchFamily="34" charset="0"/>
                <a:ea typeface="Calibri" pitchFamily="34" charset="-122"/>
                <a:cs typeface="Calibri" pitchFamily="34" charset="-120"/>
              </a:rPr>
              <a:t>BENEFITS</a:t>
            </a:r>
            <a:endParaRPr lang="en-US" sz="1200" dirty="0"/>
          </a:p>
        </p:txBody>
      </p:sp>
      <p:sp>
        <p:nvSpPr>
          <p:cNvPr id="27" name="Shape 19"/>
          <p:cNvSpPr/>
          <p:nvPr/>
        </p:nvSpPr>
        <p:spPr>
          <a:xfrm>
            <a:off x="6400800" y="4617720"/>
            <a:ext cx="1655064" cy="1261872"/>
          </a:xfrm>
          <a:prstGeom prst="roundRect">
            <a:avLst>
              <a:gd name="adj" fmla="val 8696"/>
            </a:avLst>
          </a:prstGeom>
          <a:solidFill>
            <a:srgbClr val="EAF3FC"/>
          </a:solidFill>
          <a:ln w="12700">
            <a:solidFill>
              <a:srgbClr val="EAF3FC"/>
            </a:solidFill>
            <a:prstDash val="solid"/>
          </a:ln>
        </p:spPr>
        <p:txBody>
          <a:bodyPr/>
          <a:lstStyle/>
          <a:p>
            <a:endParaRPr lang="en-JP"/>
          </a:p>
        </p:txBody>
      </p:sp>
      <p:pic>
        <p:nvPicPr>
          <p:cNvPr id="28" name="Image 6" descr="preencoded.png"/>
          <p:cNvPicPr>
            <a:picLocks noChangeAspect="1"/>
          </p:cNvPicPr>
          <p:nvPr/>
        </p:nvPicPr>
        <p:blipFill>
          <a:blip r:embed="rId5"/>
          <a:stretch>
            <a:fillRect/>
          </a:stretch>
        </p:blipFill>
        <p:spPr>
          <a:xfrm>
            <a:off x="6565392" y="4754880"/>
            <a:ext cx="310896" cy="310896"/>
          </a:xfrm>
          <a:prstGeom prst="rect">
            <a:avLst/>
          </a:prstGeom>
        </p:spPr>
      </p:pic>
      <p:sp>
        <p:nvSpPr>
          <p:cNvPr id="29" name="Text 20"/>
          <p:cNvSpPr txBox="1"/>
          <p:nvPr/>
        </p:nvSpPr>
        <p:spPr>
          <a:xfrm>
            <a:off x="6565392" y="5138928"/>
            <a:ext cx="1371600" cy="640080"/>
          </a:xfrm>
          <a:prstGeom prst="rect">
            <a:avLst/>
          </a:prstGeom>
          <a:noFill/>
          <a:ln/>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Reduced credential compromise</a:t>
            </a:r>
            <a:endParaRPr lang="en-US" sz="1400" dirty="0"/>
          </a:p>
        </p:txBody>
      </p:sp>
      <p:sp>
        <p:nvSpPr>
          <p:cNvPr id="30" name="Shape 21"/>
          <p:cNvSpPr/>
          <p:nvPr/>
        </p:nvSpPr>
        <p:spPr>
          <a:xfrm>
            <a:off x="8193024" y="4617720"/>
            <a:ext cx="1655064" cy="1261872"/>
          </a:xfrm>
          <a:prstGeom prst="roundRect">
            <a:avLst>
              <a:gd name="adj" fmla="val 8696"/>
            </a:avLst>
          </a:prstGeom>
          <a:solidFill>
            <a:srgbClr val="EAF3FC"/>
          </a:solidFill>
          <a:ln w="12700">
            <a:solidFill>
              <a:srgbClr val="EAF3FC"/>
            </a:solidFill>
            <a:prstDash val="solid"/>
          </a:ln>
        </p:spPr>
        <p:txBody>
          <a:bodyPr/>
          <a:lstStyle/>
          <a:p>
            <a:endParaRPr lang="en-JP"/>
          </a:p>
        </p:txBody>
      </p:sp>
      <p:pic>
        <p:nvPicPr>
          <p:cNvPr id="31" name="Image 7" descr="preencoded.png"/>
          <p:cNvPicPr>
            <a:picLocks noChangeAspect="1"/>
          </p:cNvPicPr>
          <p:nvPr/>
        </p:nvPicPr>
        <p:blipFill>
          <a:blip r:embed="rId6"/>
          <a:stretch>
            <a:fillRect/>
          </a:stretch>
        </p:blipFill>
        <p:spPr>
          <a:xfrm>
            <a:off x="8357616" y="4754880"/>
            <a:ext cx="310896" cy="310896"/>
          </a:xfrm>
          <a:prstGeom prst="rect">
            <a:avLst/>
          </a:prstGeom>
        </p:spPr>
      </p:pic>
      <p:sp>
        <p:nvSpPr>
          <p:cNvPr id="32" name="Text 22"/>
          <p:cNvSpPr txBox="1"/>
          <p:nvPr/>
        </p:nvSpPr>
        <p:spPr>
          <a:xfrm>
            <a:off x="8357616" y="5138928"/>
            <a:ext cx="1371600" cy="640080"/>
          </a:xfrm>
          <a:prstGeom prst="rect">
            <a:avLst/>
          </a:prstGeom>
          <a:noFill/>
          <a:ln/>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Reduced lateral movement</a:t>
            </a:r>
            <a:endParaRPr lang="en-US" sz="1400" dirty="0"/>
          </a:p>
        </p:txBody>
      </p:sp>
      <p:sp>
        <p:nvSpPr>
          <p:cNvPr id="33" name="Shape 23"/>
          <p:cNvSpPr/>
          <p:nvPr/>
        </p:nvSpPr>
        <p:spPr>
          <a:xfrm>
            <a:off x="9985248" y="4617720"/>
            <a:ext cx="1655064" cy="1261872"/>
          </a:xfrm>
          <a:prstGeom prst="roundRect">
            <a:avLst>
              <a:gd name="adj" fmla="val 8696"/>
            </a:avLst>
          </a:prstGeom>
          <a:solidFill>
            <a:srgbClr val="EAF3FC"/>
          </a:solidFill>
          <a:ln w="12700">
            <a:solidFill>
              <a:srgbClr val="EAF3FC"/>
            </a:solidFill>
            <a:prstDash val="solid"/>
          </a:ln>
        </p:spPr>
        <p:txBody>
          <a:bodyPr/>
          <a:lstStyle/>
          <a:p>
            <a:endParaRPr lang="en-JP"/>
          </a:p>
        </p:txBody>
      </p:sp>
      <p:pic>
        <p:nvPicPr>
          <p:cNvPr id="34" name="Image 8" descr="preencoded.png"/>
          <p:cNvPicPr>
            <a:picLocks noChangeAspect="1"/>
          </p:cNvPicPr>
          <p:nvPr/>
        </p:nvPicPr>
        <p:blipFill>
          <a:blip r:embed="rId7"/>
          <a:stretch>
            <a:fillRect/>
          </a:stretch>
        </p:blipFill>
        <p:spPr>
          <a:xfrm>
            <a:off x="10149840" y="4754880"/>
            <a:ext cx="310896" cy="310896"/>
          </a:xfrm>
          <a:prstGeom prst="rect">
            <a:avLst/>
          </a:prstGeom>
        </p:spPr>
      </p:pic>
      <p:sp>
        <p:nvSpPr>
          <p:cNvPr id="35" name="Text 24"/>
          <p:cNvSpPr txBox="1"/>
          <p:nvPr/>
        </p:nvSpPr>
        <p:spPr>
          <a:xfrm>
            <a:off x="10149840" y="5138928"/>
            <a:ext cx="1371600" cy="640080"/>
          </a:xfrm>
          <a:prstGeom prst="rect">
            <a:avLst/>
          </a:prstGeom>
          <a:noFill/>
          <a:ln/>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Improved access control</a:t>
            </a:r>
            <a:endParaRPr lang="en-US" sz="1400" dirty="0"/>
          </a:p>
        </p:txBody>
      </p:sp>
      <p:sp>
        <p:nvSpPr>
          <p:cNvPr id="36"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A6B"/>
                </a:solidFill>
                <a:latin typeface="Calibri"/>
                <a:ea typeface="Calibri"/>
                <a:cs typeface="Calibri"/>
              </a:defRPr>
            </a:lvl1pPr>
          </a:lstStyle>
          <a:p>
            <a:pPr algn="l"/>
            <a:fld id="{F7021451-1387-4CA6-816F-3879F97B5CBC}" type="slidenum">
              <a:rPr lang="en-US" b="0"/>
              <a:t>5</a:t>
            </a:fld>
            <a:endParaRPr lang="en-US"/>
          </a:p>
        </p:txBody>
      </p:sp>
      <p:pic>
        <p:nvPicPr>
          <p:cNvPr id="37" name="Picture 36">
            <a:extLst>
              <a:ext uri="{FF2B5EF4-FFF2-40B4-BE49-F238E27FC236}">
                <a16:creationId xmlns:a16="http://schemas.microsoft.com/office/drawing/2014/main" id="{4601FB82-8843-0EED-40A1-6F3C6DB3FA40}"/>
              </a:ext>
            </a:extLst>
          </p:cNvPr>
          <p:cNvPicPr>
            <a:picLocks noChangeAspect="1"/>
          </p:cNvPicPr>
          <p:nvPr/>
        </p:nvPicPr>
        <p:blipFill>
          <a:blip r:embed="rId8"/>
          <a:stretch>
            <a:fillRect/>
          </a:stretch>
        </p:blipFill>
        <p:spPr>
          <a:xfrm>
            <a:off x="10555840" y="94655"/>
            <a:ext cx="1331515" cy="13315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64240" cy="292608"/>
          </a:xfrm>
          <a:prstGeom prst="rect">
            <a:avLst/>
          </a:prstGeom>
          <a:noFill/>
          <a:ln/>
        </p:spPr>
        <p:txBody>
          <a:bodyPr wrap="square" lIns="0" tIns="0" rIns="0" bIns="0" rtlCol="0" anchor="ctr"/>
          <a:lstStyle/>
          <a:p>
            <a:pPr marL="0" indent="0">
              <a:buNone/>
            </a:pPr>
            <a:r>
              <a:rPr lang="en-US" sz="1200" b="1" kern="0" spc="200" dirty="0">
                <a:solidFill>
                  <a:srgbClr val="0078D4"/>
                </a:solidFill>
                <a:latin typeface="Calibri" pitchFamily="34" charset="0"/>
                <a:ea typeface="Calibri" pitchFamily="34" charset="-122"/>
                <a:cs typeface="Calibri" pitchFamily="34" charset="-120"/>
              </a:rPr>
              <a:t>05  ·  KEEP SYSTEMS UPDATED</a:t>
            </a:r>
            <a:endParaRPr lang="en-US" sz="1200" dirty="0"/>
          </a:p>
        </p:txBody>
      </p:sp>
      <p:sp>
        <p:nvSpPr>
          <p:cNvPr id="3" name="Text 0"/>
          <p:cNvSpPr>
            <a:spLocks noGrp="1"/>
          </p:cNvSpPr>
          <p:nvPr>
            <p:ph type="title" idx="101" hasCustomPrompt="1"/>
          </p:nvPr>
        </p:nvSpPr>
        <p:spPr>
          <a:xfrm>
            <a:off x="548640" y="640080"/>
            <a:ext cx="11064240" cy="731520"/>
          </a:xfrm>
          <a:prstGeom prst="rect">
            <a:avLst/>
          </a:prstGeom>
          <a:noFill/>
          <a:ln/>
        </p:spPr>
        <p:txBody>
          <a:bodyPr wrap="square" lIns="0" tIns="0" rIns="0" bIns="0" rtlCol="0" anchor="ctr"/>
          <a:lstStyle/>
          <a:p>
            <a:pPr marL="0" indent="0" algn="l">
              <a:buNone/>
            </a:pPr>
            <a:r>
              <a:rPr lang="en-US" sz="3600" b="1" dirty="0">
                <a:solidFill>
                  <a:srgbClr val="0B1F33"/>
                </a:solidFill>
                <a:latin typeface="Arial" pitchFamily="34" charset="0"/>
                <a:ea typeface="Arial" pitchFamily="34" charset="-122"/>
                <a:cs typeface="Arial" pitchFamily="34" charset="-120"/>
              </a:rPr>
              <a:t>Patch &amp; Vulnerability Management</a:t>
            </a:r>
            <a:endParaRPr lang="en-US" sz="3600" dirty="0"/>
          </a:p>
        </p:txBody>
      </p:sp>
      <p:sp>
        <p:nvSpPr>
          <p:cNvPr id="4" name="Step 1"/>
          <p:cNvSpPr/>
          <p:nvPr/>
        </p:nvSpPr>
        <p:spPr>
          <a:xfrm>
            <a:off x="548640" y="1600200"/>
            <a:ext cx="2286000" cy="822960"/>
          </a:xfrm>
          <a:prstGeom prst="homePlate">
            <a:avLst/>
          </a:prstGeom>
          <a:solidFill>
            <a:srgbClr val="0A1628"/>
          </a:solidFill>
          <a:ln w="12700">
            <a:solidFill>
              <a:srgbClr val="0A1628"/>
            </a:solidFill>
            <a:prstDash val="solid"/>
          </a:ln>
        </p:spPr>
        <p:txBody>
          <a:bodyPr/>
          <a:lstStyle/>
          <a:p>
            <a:endParaRPr lang="en-JP"/>
          </a:p>
        </p:txBody>
      </p:sp>
      <p:sp>
        <p:nvSpPr>
          <p:cNvPr id="5" name="Text 3"/>
          <p:cNvSpPr txBox="1"/>
          <p:nvPr/>
        </p:nvSpPr>
        <p:spPr>
          <a:xfrm>
            <a:off x="777240" y="1600200"/>
            <a:ext cx="1645920" cy="822960"/>
          </a:xfrm>
          <a:prstGeom prst="rect">
            <a:avLst/>
          </a:prstGeom>
          <a:noFill/>
          <a:ln/>
        </p:spPr>
        <p:txBody>
          <a:bodyPr wrap="square" lIns="0" tIns="0" rIns="0" bIns="0" rtlCol="0" anchor="ctr"/>
          <a:lstStyle/>
          <a:p>
            <a:pPr marL="0" indent="0">
              <a:buNone/>
            </a:pPr>
            <a:r>
              <a:rPr lang="en-US" sz="1700" b="1" dirty="0">
                <a:solidFill>
                  <a:srgbClr val="CADCFC"/>
                </a:solidFill>
                <a:latin typeface="Arial" pitchFamily="34" charset="0"/>
                <a:ea typeface="Arial" pitchFamily="34" charset="-122"/>
                <a:cs typeface="Arial" pitchFamily="34" charset="-120"/>
              </a:rPr>
              <a:t>1  </a:t>
            </a:r>
            <a:r>
              <a:rPr lang="en-US" sz="1700" b="1" dirty="0">
                <a:solidFill>
                  <a:srgbClr val="FFFFFF"/>
                </a:solidFill>
                <a:latin typeface="Arial" pitchFamily="34" charset="0"/>
                <a:ea typeface="Arial" pitchFamily="34" charset="-122"/>
                <a:cs typeface="Arial" pitchFamily="34" charset="-120"/>
              </a:rPr>
              <a:t>Scan</a:t>
            </a:r>
            <a:endParaRPr lang="en-US" sz="1700" dirty="0"/>
          </a:p>
        </p:txBody>
      </p:sp>
      <p:sp>
        <p:nvSpPr>
          <p:cNvPr id="6" name="Step 2"/>
          <p:cNvSpPr/>
          <p:nvPr/>
        </p:nvSpPr>
        <p:spPr>
          <a:xfrm>
            <a:off x="2761488" y="1600200"/>
            <a:ext cx="2286000" cy="822960"/>
          </a:xfrm>
          <a:prstGeom prst="chevron">
            <a:avLst/>
          </a:prstGeom>
          <a:solidFill>
            <a:srgbClr val="13294B"/>
          </a:solidFill>
          <a:ln w="12700">
            <a:solidFill>
              <a:srgbClr val="13294B"/>
            </a:solidFill>
            <a:prstDash val="solid"/>
          </a:ln>
        </p:spPr>
        <p:txBody>
          <a:bodyPr/>
          <a:lstStyle/>
          <a:p>
            <a:endParaRPr lang="en-JP"/>
          </a:p>
        </p:txBody>
      </p:sp>
      <p:sp>
        <p:nvSpPr>
          <p:cNvPr id="7" name="Text 5"/>
          <p:cNvSpPr txBox="1"/>
          <p:nvPr/>
        </p:nvSpPr>
        <p:spPr>
          <a:xfrm>
            <a:off x="3172968" y="1600200"/>
            <a:ext cx="1645920" cy="822960"/>
          </a:xfrm>
          <a:prstGeom prst="rect">
            <a:avLst/>
          </a:prstGeom>
          <a:noFill/>
          <a:ln/>
        </p:spPr>
        <p:txBody>
          <a:bodyPr wrap="square" lIns="0" tIns="0" rIns="0" bIns="0" rtlCol="0" anchor="ctr"/>
          <a:lstStyle/>
          <a:p>
            <a:pPr marL="0" indent="0">
              <a:buNone/>
            </a:pPr>
            <a:r>
              <a:rPr lang="en-US" sz="1700" b="1" dirty="0">
                <a:solidFill>
                  <a:srgbClr val="CADCFC"/>
                </a:solidFill>
                <a:latin typeface="Arial" pitchFamily="34" charset="0"/>
                <a:ea typeface="Arial" pitchFamily="34" charset="-122"/>
                <a:cs typeface="Arial" pitchFamily="34" charset="-120"/>
              </a:rPr>
              <a:t>2  </a:t>
            </a:r>
            <a:r>
              <a:rPr lang="en-US" sz="1700" b="1" dirty="0">
                <a:solidFill>
                  <a:srgbClr val="FFFFFF"/>
                </a:solidFill>
                <a:latin typeface="Arial" pitchFamily="34" charset="0"/>
                <a:ea typeface="Arial" pitchFamily="34" charset="-122"/>
                <a:cs typeface="Arial" pitchFamily="34" charset="-120"/>
              </a:rPr>
              <a:t>Prioritize</a:t>
            </a:r>
            <a:endParaRPr lang="en-US" sz="1700" dirty="0"/>
          </a:p>
        </p:txBody>
      </p:sp>
      <p:sp>
        <p:nvSpPr>
          <p:cNvPr id="8" name="Step 3"/>
          <p:cNvSpPr/>
          <p:nvPr/>
        </p:nvSpPr>
        <p:spPr>
          <a:xfrm>
            <a:off x="4974336" y="1600200"/>
            <a:ext cx="2286000" cy="822960"/>
          </a:xfrm>
          <a:prstGeom prst="chevron">
            <a:avLst/>
          </a:prstGeom>
          <a:solidFill>
            <a:srgbClr val="0F5596"/>
          </a:solidFill>
          <a:ln w="12700">
            <a:solidFill>
              <a:srgbClr val="0F5596"/>
            </a:solidFill>
            <a:prstDash val="solid"/>
          </a:ln>
        </p:spPr>
        <p:txBody>
          <a:bodyPr/>
          <a:lstStyle/>
          <a:p>
            <a:endParaRPr lang="en-JP"/>
          </a:p>
        </p:txBody>
      </p:sp>
      <p:sp>
        <p:nvSpPr>
          <p:cNvPr id="9" name="Text 7"/>
          <p:cNvSpPr txBox="1"/>
          <p:nvPr/>
        </p:nvSpPr>
        <p:spPr>
          <a:xfrm>
            <a:off x="5385816" y="1600200"/>
            <a:ext cx="1645920" cy="822960"/>
          </a:xfrm>
          <a:prstGeom prst="rect">
            <a:avLst/>
          </a:prstGeom>
          <a:noFill/>
          <a:ln/>
        </p:spPr>
        <p:txBody>
          <a:bodyPr wrap="square" lIns="0" tIns="0" rIns="0" bIns="0" rtlCol="0" anchor="ctr"/>
          <a:lstStyle/>
          <a:p>
            <a:pPr marL="0" indent="0">
              <a:buNone/>
            </a:pPr>
            <a:r>
              <a:rPr lang="en-US" sz="1700" b="1" dirty="0">
                <a:solidFill>
                  <a:srgbClr val="CADCFC"/>
                </a:solidFill>
                <a:latin typeface="Arial" pitchFamily="34" charset="0"/>
                <a:ea typeface="Arial" pitchFamily="34" charset="-122"/>
                <a:cs typeface="Arial" pitchFamily="34" charset="-120"/>
              </a:rPr>
              <a:t>3  </a:t>
            </a:r>
            <a:r>
              <a:rPr lang="en-US" sz="1700" b="1" dirty="0">
                <a:solidFill>
                  <a:srgbClr val="FFFFFF"/>
                </a:solidFill>
                <a:latin typeface="Arial" pitchFamily="34" charset="0"/>
                <a:ea typeface="Arial" pitchFamily="34" charset="-122"/>
                <a:cs typeface="Arial" pitchFamily="34" charset="-120"/>
              </a:rPr>
              <a:t>Test</a:t>
            </a:r>
            <a:endParaRPr lang="en-US" sz="1700" dirty="0"/>
          </a:p>
        </p:txBody>
      </p:sp>
      <p:sp>
        <p:nvSpPr>
          <p:cNvPr id="10" name="Step 4"/>
          <p:cNvSpPr/>
          <p:nvPr/>
        </p:nvSpPr>
        <p:spPr>
          <a:xfrm>
            <a:off x="7187184" y="1600200"/>
            <a:ext cx="2286000" cy="822960"/>
          </a:xfrm>
          <a:prstGeom prst="chevron">
            <a:avLst/>
          </a:prstGeom>
          <a:solidFill>
            <a:srgbClr val="0068B8"/>
          </a:solidFill>
          <a:ln w="12700">
            <a:solidFill>
              <a:srgbClr val="0068B8"/>
            </a:solidFill>
            <a:prstDash val="solid"/>
          </a:ln>
        </p:spPr>
        <p:txBody>
          <a:bodyPr/>
          <a:lstStyle/>
          <a:p>
            <a:endParaRPr lang="en-JP"/>
          </a:p>
        </p:txBody>
      </p:sp>
      <p:sp>
        <p:nvSpPr>
          <p:cNvPr id="11" name="Text 9"/>
          <p:cNvSpPr txBox="1"/>
          <p:nvPr/>
        </p:nvSpPr>
        <p:spPr>
          <a:xfrm>
            <a:off x="7598664" y="1600200"/>
            <a:ext cx="1645920" cy="822960"/>
          </a:xfrm>
          <a:prstGeom prst="rect">
            <a:avLst/>
          </a:prstGeom>
          <a:noFill/>
          <a:ln/>
        </p:spPr>
        <p:txBody>
          <a:bodyPr wrap="square" lIns="0" tIns="0" rIns="0" bIns="0" rtlCol="0" anchor="ctr"/>
          <a:lstStyle/>
          <a:p>
            <a:pPr marL="0" indent="0">
              <a:buNone/>
            </a:pPr>
            <a:r>
              <a:rPr lang="en-US" sz="1700" b="1" dirty="0">
                <a:solidFill>
                  <a:srgbClr val="CADCFC"/>
                </a:solidFill>
                <a:latin typeface="Arial" pitchFamily="34" charset="0"/>
                <a:ea typeface="Arial" pitchFamily="34" charset="-122"/>
                <a:cs typeface="Arial" pitchFamily="34" charset="-120"/>
              </a:rPr>
              <a:t>4  </a:t>
            </a:r>
            <a:r>
              <a:rPr lang="en-US" sz="1700" b="1" dirty="0">
                <a:solidFill>
                  <a:srgbClr val="FFFFFF"/>
                </a:solidFill>
                <a:latin typeface="Arial" pitchFamily="34" charset="0"/>
                <a:ea typeface="Arial" pitchFamily="34" charset="-122"/>
                <a:cs typeface="Arial" pitchFamily="34" charset="-120"/>
              </a:rPr>
              <a:t>Deploy</a:t>
            </a:r>
            <a:endParaRPr lang="en-US" sz="1700" dirty="0"/>
          </a:p>
        </p:txBody>
      </p:sp>
      <p:sp>
        <p:nvSpPr>
          <p:cNvPr id="12" name="Step 5"/>
          <p:cNvSpPr/>
          <p:nvPr/>
        </p:nvSpPr>
        <p:spPr>
          <a:xfrm>
            <a:off x="9400032" y="1600200"/>
            <a:ext cx="2286000" cy="822960"/>
          </a:xfrm>
          <a:prstGeom prst="chevron">
            <a:avLst/>
          </a:prstGeom>
          <a:solidFill>
            <a:srgbClr val="0078D4"/>
          </a:solidFill>
          <a:ln w="12700">
            <a:solidFill>
              <a:srgbClr val="0078D4"/>
            </a:solidFill>
            <a:prstDash val="solid"/>
          </a:ln>
        </p:spPr>
        <p:txBody>
          <a:bodyPr/>
          <a:lstStyle/>
          <a:p>
            <a:endParaRPr lang="en-JP"/>
          </a:p>
        </p:txBody>
      </p:sp>
      <p:sp>
        <p:nvSpPr>
          <p:cNvPr id="13" name="Text 11"/>
          <p:cNvSpPr txBox="1"/>
          <p:nvPr/>
        </p:nvSpPr>
        <p:spPr>
          <a:xfrm>
            <a:off x="9811512" y="1600200"/>
            <a:ext cx="1645920" cy="822960"/>
          </a:xfrm>
          <a:prstGeom prst="rect">
            <a:avLst/>
          </a:prstGeom>
          <a:noFill/>
          <a:ln/>
        </p:spPr>
        <p:txBody>
          <a:bodyPr wrap="square" lIns="0" tIns="0" rIns="0" bIns="0" rtlCol="0" anchor="ctr"/>
          <a:lstStyle/>
          <a:p>
            <a:pPr marL="0" indent="0">
              <a:buNone/>
            </a:pPr>
            <a:r>
              <a:rPr lang="en-US" sz="1700" b="1" dirty="0">
                <a:solidFill>
                  <a:srgbClr val="CADCFC"/>
                </a:solidFill>
                <a:latin typeface="Arial" pitchFamily="34" charset="0"/>
                <a:ea typeface="Arial" pitchFamily="34" charset="-122"/>
                <a:cs typeface="Arial" pitchFamily="34" charset="-120"/>
              </a:rPr>
              <a:t>5  </a:t>
            </a:r>
            <a:r>
              <a:rPr lang="en-US" sz="1700" b="1" dirty="0">
                <a:solidFill>
                  <a:srgbClr val="FFFFFF"/>
                </a:solidFill>
                <a:latin typeface="Arial" pitchFamily="34" charset="0"/>
                <a:ea typeface="Arial" pitchFamily="34" charset="-122"/>
                <a:cs typeface="Arial" pitchFamily="34" charset="-120"/>
              </a:rPr>
              <a:t>Verify</a:t>
            </a:r>
            <a:endParaRPr lang="en-US" sz="1700" dirty="0"/>
          </a:p>
        </p:txBody>
      </p:sp>
      <p:sp>
        <p:nvSpPr>
          <p:cNvPr id="14" name="Shape 12"/>
          <p:cNvSpPr/>
          <p:nvPr/>
        </p:nvSpPr>
        <p:spPr>
          <a:xfrm>
            <a:off x="548640" y="2697480"/>
            <a:ext cx="5394960" cy="3246120"/>
          </a:xfrm>
          <a:prstGeom prst="roundRect">
            <a:avLst>
              <a:gd name="adj" fmla="val 3380"/>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5" name="Text 13"/>
          <p:cNvSpPr txBox="1"/>
          <p:nvPr/>
        </p:nvSpPr>
        <p:spPr>
          <a:xfrm>
            <a:off x="777240" y="2852928"/>
            <a:ext cx="3657600" cy="274320"/>
          </a:xfrm>
          <a:prstGeom prst="rect">
            <a:avLst/>
          </a:prstGeom>
          <a:noFill/>
          <a:ln/>
        </p:spPr>
        <p:txBody>
          <a:bodyPr wrap="square" lIns="0" tIns="0" rIns="0" bIns="0" rtlCol="0" anchor="ctr"/>
          <a:lstStyle/>
          <a:p>
            <a:pPr marL="0" indent="0">
              <a:buNone/>
            </a:pPr>
            <a:r>
              <a:rPr lang="en-US" sz="1200" b="1" kern="0" spc="200" dirty="0">
                <a:solidFill>
                  <a:srgbClr val="0078D4"/>
                </a:solidFill>
                <a:latin typeface="Calibri" pitchFamily="34" charset="0"/>
                <a:ea typeface="Calibri" pitchFamily="34" charset="-122"/>
                <a:cs typeface="Calibri" pitchFamily="34" charset="-120"/>
              </a:rPr>
              <a:t>CRITICAL AREAS</a:t>
            </a:r>
            <a:endParaRPr lang="en-US" sz="1200" dirty="0"/>
          </a:p>
        </p:txBody>
      </p:sp>
      <p:sp>
        <p:nvSpPr>
          <p:cNvPr id="16" name="Shape 14"/>
          <p:cNvSpPr/>
          <p:nvPr/>
        </p:nvSpPr>
        <p:spPr>
          <a:xfrm>
            <a:off x="777240" y="3246120"/>
            <a:ext cx="2377440" cy="1051560"/>
          </a:xfrm>
          <a:prstGeom prst="roundRect">
            <a:avLst>
              <a:gd name="adj" fmla="val 10435"/>
            </a:avLst>
          </a:prstGeom>
          <a:solidFill>
            <a:srgbClr val="EAF3FC"/>
          </a:solidFill>
          <a:ln w="12700">
            <a:solidFill>
              <a:srgbClr val="EAF3FC"/>
            </a:solidFill>
            <a:prstDash val="solid"/>
          </a:ln>
        </p:spPr>
        <p:txBody>
          <a:bodyPr/>
          <a:lstStyle/>
          <a:p>
            <a:endParaRPr lang="en-JP"/>
          </a:p>
        </p:txBody>
      </p:sp>
      <p:sp>
        <p:nvSpPr>
          <p:cNvPr id="17" name="Shape 15"/>
          <p:cNvSpPr/>
          <p:nvPr/>
        </p:nvSpPr>
        <p:spPr>
          <a:xfrm>
            <a:off x="941832" y="3520440"/>
            <a:ext cx="502920" cy="502920"/>
          </a:xfrm>
          <a:prstGeom prst="ellipse">
            <a:avLst/>
          </a:prstGeom>
          <a:solidFill>
            <a:srgbClr val="0078D4"/>
          </a:solidFill>
          <a:ln w="12700">
            <a:solidFill>
              <a:srgbClr val="0078D4"/>
            </a:solidFill>
            <a:prstDash val="solid"/>
          </a:ln>
        </p:spPr>
        <p:txBody>
          <a:bodyPr/>
          <a:lstStyle/>
          <a:p>
            <a:endParaRPr lang="en-JP"/>
          </a:p>
        </p:txBody>
      </p:sp>
      <p:pic>
        <p:nvPicPr>
          <p:cNvPr id="18" name="Image 0" descr="preencoded.png"/>
          <p:cNvPicPr>
            <a:picLocks noChangeAspect="1"/>
          </p:cNvPicPr>
          <p:nvPr/>
        </p:nvPicPr>
        <p:blipFill>
          <a:blip r:embed="rId3"/>
          <a:stretch>
            <a:fillRect/>
          </a:stretch>
        </p:blipFill>
        <p:spPr>
          <a:xfrm>
            <a:off x="1062533" y="3641141"/>
            <a:ext cx="261518" cy="261518"/>
          </a:xfrm>
          <a:prstGeom prst="rect">
            <a:avLst/>
          </a:prstGeom>
        </p:spPr>
      </p:pic>
      <p:sp>
        <p:nvSpPr>
          <p:cNvPr id="19" name="Text 16"/>
          <p:cNvSpPr txBox="1"/>
          <p:nvPr/>
        </p:nvSpPr>
        <p:spPr>
          <a:xfrm>
            <a:off x="1581912" y="3246120"/>
            <a:ext cx="1463040" cy="1051560"/>
          </a:xfrm>
          <a:prstGeom prst="rect">
            <a:avLst/>
          </a:prstGeom>
          <a:noFill/>
          <a:ln/>
        </p:spPr>
        <p:txBody>
          <a:bodyPr wrap="square" lIns="0" tIns="0" rIns="0" bIns="0" rtlCol="0" anchor="ctr"/>
          <a:lstStyle/>
          <a:p>
            <a:pPr marL="0" indent="0">
              <a:buNone/>
            </a:pPr>
            <a:r>
              <a:rPr lang="en-US" sz="1500" b="1" dirty="0">
                <a:solidFill>
                  <a:srgbClr val="0B1F33"/>
                </a:solidFill>
                <a:latin typeface="Calibri" pitchFamily="34" charset="0"/>
                <a:ea typeface="Calibri" pitchFamily="34" charset="-122"/>
                <a:cs typeface="Calibri" pitchFamily="34" charset="-120"/>
              </a:rPr>
              <a:t>Windows Updates</a:t>
            </a:r>
            <a:endParaRPr lang="en-US" sz="1500" dirty="0"/>
          </a:p>
        </p:txBody>
      </p:sp>
      <p:sp>
        <p:nvSpPr>
          <p:cNvPr id="20" name="Shape 17"/>
          <p:cNvSpPr/>
          <p:nvPr/>
        </p:nvSpPr>
        <p:spPr>
          <a:xfrm>
            <a:off x="3291840" y="3246120"/>
            <a:ext cx="2377440" cy="1051560"/>
          </a:xfrm>
          <a:prstGeom prst="roundRect">
            <a:avLst>
              <a:gd name="adj" fmla="val 10435"/>
            </a:avLst>
          </a:prstGeom>
          <a:solidFill>
            <a:srgbClr val="EAF3FC"/>
          </a:solidFill>
          <a:ln w="12700">
            <a:solidFill>
              <a:srgbClr val="EAF3FC"/>
            </a:solidFill>
            <a:prstDash val="solid"/>
          </a:ln>
        </p:spPr>
        <p:txBody>
          <a:bodyPr/>
          <a:lstStyle/>
          <a:p>
            <a:endParaRPr lang="en-JP"/>
          </a:p>
        </p:txBody>
      </p:sp>
      <p:sp>
        <p:nvSpPr>
          <p:cNvPr id="21" name="Shape 18"/>
          <p:cNvSpPr/>
          <p:nvPr/>
        </p:nvSpPr>
        <p:spPr>
          <a:xfrm>
            <a:off x="3456432" y="3520440"/>
            <a:ext cx="502920" cy="502920"/>
          </a:xfrm>
          <a:prstGeom prst="ellipse">
            <a:avLst/>
          </a:prstGeom>
          <a:solidFill>
            <a:srgbClr val="0078D4"/>
          </a:solidFill>
          <a:ln w="12700">
            <a:solidFill>
              <a:srgbClr val="0078D4"/>
            </a:solidFill>
            <a:prstDash val="solid"/>
          </a:ln>
        </p:spPr>
        <p:txBody>
          <a:bodyPr/>
          <a:lstStyle/>
          <a:p>
            <a:endParaRPr lang="en-JP"/>
          </a:p>
        </p:txBody>
      </p:sp>
      <p:pic>
        <p:nvPicPr>
          <p:cNvPr id="22" name="Image 1" descr="preencoded.png"/>
          <p:cNvPicPr>
            <a:picLocks noChangeAspect="1"/>
          </p:cNvPicPr>
          <p:nvPr/>
        </p:nvPicPr>
        <p:blipFill>
          <a:blip r:embed="rId4"/>
          <a:stretch>
            <a:fillRect/>
          </a:stretch>
        </p:blipFill>
        <p:spPr>
          <a:xfrm>
            <a:off x="3577133" y="3641141"/>
            <a:ext cx="261518" cy="261518"/>
          </a:xfrm>
          <a:prstGeom prst="rect">
            <a:avLst/>
          </a:prstGeom>
        </p:spPr>
      </p:pic>
      <p:sp>
        <p:nvSpPr>
          <p:cNvPr id="23" name="Text 19"/>
          <p:cNvSpPr txBox="1"/>
          <p:nvPr/>
        </p:nvSpPr>
        <p:spPr>
          <a:xfrm>
            <a:off x="4096512" y="3246120"/>
            <a:ext cx="1463040" cy="1051560"/>
          </a:xfrm>
          <a:prstGeom prst="rect">
            <a:avLst/>
          </a:prstGeom>
          <a:noFill/>
          <a:ln/>
        </p:spPr>
        <p:txBody>
          <a:bodyPr wrap="square" lIns="0" tIns="0" rIns="0" bIns="0" rtlCol="0" anchor="ctr"/>
          <a:lstStyle/>
          <a:p>
            <a:pPr marL="0" indent="0">
              <a:buNone/>
            </a:pPr>
            <a:r>
              <a:rPr lang="en-US" sz="1500" b="1" dirty="0">
                <a:solidFill>
                  <a:srgbClr val="0B1F33"/>
                </a:solidFill>
                <a:latin typeface="Calibri" pitchFamily="34" charset="0"/>
                <a:ea typeface="Calibri" pitchFamily="34" charset="-122"/>
                <a:cs typeface="Calibri" pitchFamily="34" charset="-120"/>
              </a:rPr>
              <a:t>Microsoft Office</a:t>
            </a:r>
            <a:endParaRPr lang="en-US" sz="1500" dirty="0"/>
          </a:p>
        </p:txBody>
      </p:sp>
      <p:sp>
        <p:nvSpPr>
          <p:cNvPr id="24" name="Shape 20"/>
          <p:cNvSpPr/>
          <p:nvPr/>
        </p:nvSpPr>
        <p:spPr>
          <a:xfrm>
            <a:off x="777240" y="4480560"/>
            <a:ext cx="2377440" cy="1051560"/>
          </a:xfrm>
          <a:prstGeom prst="roundRect">
            <a:avLst>
              <a:gd name="adj" fmla="val 10435"/>
            </a:avLst>
          </a:prstGeom>
          <a:solidFill>
            <a:srgbClr val="EAF3FC"/>
          </a:solidFill>
          <a:ln w="12700">
            <a:solidFill>
              <a:srgbClr val="EAF3FC"/>
            </a:solidFill>
            <a:prstDash val="solid"/>
          </a:ln>
        </p:spPr>
        <p:txBody>
          <a:bodyPr/>
          <a:lstStyle/>
          <a:p>
            <a:endParaRPr lang="en-JP"/>
          </a:p>
        </p:txBody>
      </p:sp>
      <p:sp>
        <p:nvSpPr>
          <p:cNvPr id="25" name="Shape 21"/>
          <p:cNvSpPr/>
          <p:nvPr/>
        </p:nvSpPr>
        <p:spPr>
          <a:xfrm>
            <a:off x="941832" y="4754880"/>
            <a:ext cx="502920" cy="502920"/>
          </a:xfrm>
          <a:prstGeom prst="ellipse">
            <a:avLst/>
          </a:prstGeom>
          <a:solidFill>
            <a:srgbClr val="0078D4"/>
          </a:solidFill>
          <a:ln w="12700">
            <a:solidFill>
              <a:srgbClr val="0078D4"/>
            </a:solidFill>
            <a:prstDash val="solid"/>
          </a:ln>
        </p:spPr>
        <p:txBody>
          <a:bodyPr/>
          <a:lstStyle/>
          <a:p>
            <a:endParaRPr lang="en-JP"/>
          </a:p>
        </p:txBody>
      </p:sp>
      <p:pic>
        <p:nvPicPr>
          <p:cNvPr id="26" name="Image 2" descr="preencoded.png"/>
          <p:cNvPicPr>
            <a:picLocks noChangeAspect="1"/>
          </p:cNvPicPr>
          <p:nvPr/>
        </p:nvPicPr>
        <p:blipFill>
          <a:blip r:embed="rId5"/>
          <a:stretch>
            <a:fillRect/>
          </a:stretch>
        </p:blipFill>
        <p:spPr>
          <a:xfrm>
            <a:off x="1062533" y="4875581"/>
            <a:ext cx="261518" cy="261518"/>
          </a:xfrm>
          <a:prstGeom prst="rect">
            <a:avLst/>
          </a:prstGeom>
        </p:spPr>
      </p:pic>
      <p:sp>
        <p:nvSpPr>
          <p:cNvPr id="27" name="Text 22"/>
          <p:cNvSpPr txBox="1"/>
          <p:nvPr/>
        </p:nvSpPr>
        <p:spPr>
          <a:xfrm>
            <a:off x="1581912" y="4480560"/>
            <a:ext cx="1463040" cy="1051560"/>
          </a:xfrm>
          <a:prstGeom prst="rect">
            <a:avLst/>
          </a:prstGeom>
          <a:noFill/>
          <a:ln/>
        </p:spPr>
        <p:txBody>
          <a:bodyPr wrap="square" lIns="0" tIns="0" rIns="0" bIns="0" rtlCol="0" anchor="ctr"/>
          <a:lstStyle/>
          <a:p>
            <a:pPr marL="0" indent="0">
              <a:buNone/>
            </a:pPr>
            <a:r>
              <a:rPr lang="en-US" sz="1500" b="1" dirty="0">
                <a:solidFill>
                  <a:srgbClr val="0B1F33"/>
                </a:solidFill>
                <a:latin typeface="Calibri" pitchFamily="34" charset="0"/>
                <a:ea typeface="Calibri" pitchFamily="34" charset="-122"/>
                <a:cs typeface="Calibri" pitchFamily="34" charset="-120"/>
              </a:rPr>
              <a:t>Microsoft Edge</a:t>
            </a:r>
            <a:endParaRPr lang="en-US" sz="1500" dirty="0"/>
          </a:p>
        </p:txBody>
      </p:sp>
      <p:sp>
        <p:nvSpPr>
          <p:cNvPr id="28" name="Shape 23"/>
          <p:cNvSpPr/>
          <p:nvPr/>
        </p:nvSpPr>
        <p:spPr>
          <a:xfrm>
            <a:off x="3291840" y="4480560"/>
            <a:ext cx="2377440" cy="1051560"/>
          </a:xfrm>
          <a:prstGeom prst="roundRect">
            <a:avLst>
              <a:gd name="adj" fmla="val 10435"/>
            </a:avLst>
          </a:prstGeom>
          <a:solidFill>
            <a:srgbClr val="EAF3FC"/>
          </a:solidFill>
          <a:ln w="12700">
            <a:solidFill>
              <a:srgbClr val="EAF3FC"/>
            </a:solidFill>
            <a:prstDash val="solid"/>
          </a:ln>
        </p:spPr>
        <p:txBody>
          <a:bodyPr/>
          <a:lstStyle/>
          <a:p>
            <a:endParaRPr lang="en-JP"/>
          </a:p>
        </p:txBody>
      </p:sp>
      <p:sp>
        <p:nvSpPr>
          <p:cNvPr id="29" name="Shape 24"/>
          <p:cNvSpPr/>
          <p:nvPr/>
        </p:nvSpPr>
        <p:spPr>
          <a:xfrm>
            <a:off x="3456432" y="4754880"/>
            <a:ext cx="502920" cy="502920"/>
          </a:xfrm>
          <a:prstGeom prst="ellipse">
            <a:avLst/>
          </a:prstGeom>
          <a:solidFill>
            <a:srgbClr val="0078D4"/>
          </a:solidFill>
          <a:ln w="12700">
            <a:solidFill>
              <a:srgbClr val="0078D4"/>
            </a:solidFill>
            <a:prstDash val="solid"/>
          </a:ln>
        </p:spPr>
        <p:txBody>
          <a:bodyPr/>
          <a:lstStyle/>
          <a:p>
            <a:endParaRPr lang="en-JP"/>
          </a:p>
        </p:txBody>
      </p:sp>
      <p:pic>
        <p:nvPicPr>
          <p:cNvPr id="30" name="Image 3" descr="preencoded.png"/>
          <p:cNvPicPr>
            <a:picLocks noChangeAspect="1"/>
          </p:cNvPicPr>
          <p:nvPr/>
        </p:nvPicPr>
        <p:blipFill>
          <a:blip r:embed="rId6"/>
          <a:stretch>
            <a:fillRect/>
          </a:stretch>
        </p:blipFill>
        <p:spPr>
          <a:xfrm>
            <a:off x="3577133" y="4875581"/>
            <a:ext cx="261518" cy="261518"/>
          </a:xfrm>
          <a:prstGeom prst="rect">
            <a:avLst/>
          </a:prstGeom>
        </p:spPr>
      </p:pic>
      <p:sp>
        <p:nvSpPr>
          <p:cNvPr id="31" name="Text 25"/>
          <p:cNvSpPr txBox="1"/>
          <p:nvPr/>
        </p:nvSpPr>
        <p:spPr>
          <a:xfrm>
            <a:off x="4096512" y="4480560"/>
            <a:ext cx="1463040" cy="1051560"/>
          </a:xfrm>
          <a:prstGeom prst="rect">
            <a:avLst/>
          </a:prstGeom>
          <a:noFill/>
          <a:ln/>
        </p:spPr>
        <p:txBody>
          <a:bodyPr wrap="square" lIns="0" tIns="0" rIns="0" bIns="0" rtlCol="0" anchor="ctr"/>
          <a:lstStyle/>
          <a:p>
            <a:pPr marL="0" indent="0">
              <a:buNone/>
            </a:pPr>
            <a:r>
              <a:rPr lang="en-US" sz="1500" b="1" dirty="0">
                <a:solidFill>
                  <a:srgbClr val="0B1F33"/>
                </a:solidFill>
                <a:latin typeface="Calibri" pitchFamily="34" charset="0"/>
                <a:ea typeface="Calibri" pitchFamily="34" charset="-122"/>
                <a:cs typeface="Calibri" pitchFamily="34" charset="-120"/>
              </a:rPr>
              <a:t>Third-Party Applications</a:t>
            </a:r>
            <a:endParaRPr lang="en-US" sz="1500" dirty="0"/>
          </a:p>
        </p:txBody>
      </p:sp>
      <p:sp>
        <p:nvSpPr>
          <p:cNvPr id="32" name="Shape 26"/>
          <p:cNvSpPr/>
          <p:nvPr/>
        </p:nvSpPr>
        <p:spPr>
          <a:xfrm>
            <a:off x="6245352" y="2697480"/>
            <a:ext cx="5394960" cy="3246120"/>
          </a:xfrm>
          <a:prstGeom prst="roundRect">
            <a:avLst>
              <a:gd name="adj" fmla="val 3380"/>
            </a:avLst>
          </a:prstGeom>
          <a:solidFill>
            <a:srgbClr val="0A1628"/>
          </a:solidFill>
          <a:ln w="12700">
            <a:solidFill>
              <a:srgbClr val="0A1628"/>
            </a:solidFill>
            <a:prstDash val="solid"/>
          </a:ln>
        </p:spPr>
        <p:txBody>
          <a:bodyPr/>
          <a:lstStyle/>
          <a:p>
            <a:endParaRPr lang="en-JP"/>
          </a:p>
        </p:txBody>
      </p:sp>
      <p:sp>
        <p:nvSpPr>
          <p:cNvPr id="33" name="Text 27"/>
          <p:cNvSpPr txBox="1"/>
          <p:nvPr/>
        </p:nvSpPr>
        <p:spPr>
          <a:xfrm>
            <a:off x="6492240" y="2852928"/>
            <a:ext cx="3657600" cy="274320"/>
          </a:xfrm>
          <a:prstGeom prst="rect">
            <a:avLst/>
          </a:prstGeom>
          <a:noFill/>
          <a:ln/>
        </p:spPr>
        <p:txBody>
          <a:bodyPr wrap="square" lIns="0" tIns="0" rIns="0" bIns="0" rtlCol="0" anchor="ctr"/>
          <a:lstStyle/>
          <a:p>
            <a:pPr marL="0" indent="0">
              <a:buNone/>
            </a:pPr>
            <a:r>
              <a:rPr lang="en-US" sz="1200" b="1" kern="0" spc="200" dirty="0">
                <a:solidFill>
                  <a:srgbClr val="00B7C3"/>
                </a:solidFill>
                <a:latin typeface="Calibri" pitchFamily="34" charset="0"/>
                <a:ea typeface="Calibri" pitchFamily="34" charset="-122"/>
                <a:cs typeface="Calibri" pitchFamily="34" charset="-120"/>
              </a:rPr>
              <a:t>BEST PRACTICES</a:t>
            </a:r>
            <a:endParaRPr lang="en-US" sz="1200" dirty="0"/>
          </a:p>
        </p:txBody>
      </p:sp>
      <p:sp>
        <p:nvSpPr>
          <p:cNvPr id="34" name="Shape 28"/>
          <p:cNvSpPr/>
          <p:nvPr/>
        </p:nvSpPr>
        <p:spPr>
          <a:xfrm>
            <a:off x="6492240" y="3291840"/>
            <a:ext cx="402336" cy="402336"/>
          </a:xfrm>
          <a:prstGeom prst="ellipse">
            <a:avLst/>
          </a:prstGeom>
          <a:solidFill>
            <a:srgbClr val="00B7C3"/>
          </a:solidFill>
          <a:ln w="12700">
            <a:solidFill>
              <a:srgbClr val="00B7C3"/>
            </a:solidFill>
            <a:prstDash val="solid"/>
          </a:ln>
        </p:spPr>
        <p:txBody>
          <a:bodyPr/>
          <a:lstStyle/>
          <a:p>
            <a:endParaRPr lang="en-JP"/>
          </a:p>
        </p:txBody>
      </p:sp>
      <p:pic>
        <p:nvPicPr>
          <p:cNvPr id="35" name="Image 4" descr="preencoded.png"/>
          <p:cNvPicPr>
            <a:picLocks noChangeAspect="1"/>
          </p:cNvPicPr>
          <p:nvPr/>
        </p:nvPicPr>
        <p:blipFill>
          <a:blip r:embed="rId7"/>
          <a:stretch>
            <a:fillRect/>
          </a:stretch>
        </p:blipFill>
        <p:spPr>
          <a:xfrm>
            <a:off x="6588801" y="3388401"/>
            <a:ext cx="209215" cy="209215"/>
          </a:xfrm>
          <a:prstGeom prst="rect">
            <a:avLst/>
          </a:prstGeom>
        </p:spPr>
      </p:pic>
      <p:sp>
        <p:nvSpPr>
          <p:cNvPr id="36" name="Text 29"/>
          <p:cNvSpPr txBox="1"/>
          <p:nvPr/>
        </p:nvSpPr>
        <p:spPr>
          <a:xfrm>
            <a:off x="7086600" y="3291840"/>
            <a:ext cx="4297680" cy="402336"/>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Monthly patch cycle</a:t>
            </a:r>
            <a:endParaRPr lang="en-US" sz="1700" dirty="0"/>
          </a:p>
        </p:txBody>
      </p:sp>
      <p:sp>
        <p:nvSpPr>
          <p:cNvPr id="37" name="Shape 30"/>
          <p:cNvSpPr/>
          <p:nvPr/>
        </p:nvSpPr>
        <p:spPr>
          <a:xfrm>
            <a:off x="6492240" y="3913632"/>
            <a:ext cx="402336" cy="402336"/>
          </a:xfrm>
          <a:prstGeom prst="ellipse">
            <a:avLst/>
          </a:prstGeom>
          <a:solidFill>
            <a:srgbClr val="00B7C3"/>
          </a:solidFill>
          <a:ln w="12700">
            <a:solidFill>
              <a:srgbClr val="00B7C3"/>
            </a:solidFill>
            <a:prstDash val="solid"/>
          </a:ln>
        </p:spPr>
        <p:txBody>
          <a:bodyPr/>
          <a:lstStyle/>
          <a:p>
            <a:endParaRPr lang="en-JP"/>
          </a:p>
        </p:txBody>
      </p:sp>
      <p:pic>
        <p:nvPicPr>
          <p:cNvPr id="38" name="Image 5" descr="preencoded.png"/>
          <p:cNvPicPr>
            <a:picLocks noChangeAspect="1"/>
          </p:cNvPicPr>
          <p:nvPr/>
        </p:nvPicPr>
        <p:blipFill>
          <a:blip r:embed="rId7"/>
          <a:stretch>
            <a:fillRect/>
          </a:stretch>
        </p:blipFill>
        <p:spPr>
          <a:xfrm>
            <a:off x="6588801" y="4010193"/>
            <a:ext cx="209215" cy="209215"/>
          </a:xfrm>
          <a:prstGeom prst="rect">
            <a:avLst/>
          </a:prstGeom>
        </p:spPr>
      </p:pic>
      <p:sp>
        <p:nvSpPr>
          <p:cNvPr id="39" name="Text 31"/>
          <p:cNvSpPr txBox="1"/>
          <p:nvPr/>
        </p:nvSpPr>
        <p:spPr>
          <a:xfrm>
            <a:off x="7086600" y="3913632"/>
            <a:ext cx="4297680" cy="402336"/>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Emergency patch deployment</a:t>
            </a:r>
            <a:endParaRPr lang="en-US" sz="1700" dirty="0"/>
          </a:p>
        </p:txBody>
      </p:sp>
      <p:sp>
        <p:nvSpPr>
          <p:cNvPr id="40" name="Shape 32"/>
          <p:cNvSpPr/>
          <p:nvPr/>
        </p:nvSpPr>
        <p:spPr>
          <a:xfrm>
            <a:off x="6492240" y="4535424"/>
            <a:ext cx="402336" cy="402336"/>
          </a:xfrm>
          <a:prstGeom prst="ellipse">
            <a:avLst/>
          </a:prstGeom>
          <a:solidFill>
            <a:srgbClr val="00B7C3"/>
          </a:solidFill>
          <a:ln w="12700">
            <a:solidFill>
              <a:srgbClr val="00B7C3"/>
            </a:solidFill>
            <a:prstDash val="solid"/>
          </a:ln>
        </p:spPr>
        <p:txBody>
          <a:bodyPr/>
          <a:lstStyle/>
          <a:p>
            <a:endParaRPr lang="en-JP"/>
          </a:p>
        </p:txBody>
      </p:sp>
      <p:pic>
        <p:nvPicPr>
          <p:cNvPr id="41" name="Image 6" descr="preencoded.png"/>
          <p:cNvPicPr>
            <a:picLocks noChangeAspect="1"/>
          </p:cNvPicPr>
          <p:nvPr/>
        </p:nvPicPr>
        <p:blipFill>
          <a:blip r:embed="rId7"/>
          <a:stretch>
            <a:fillRect/>
          </a:stretch>
        </p:blipFill>
        <p:spPr>
          <a:xfrm>
            <a:off x="6588801" y="4631985"/>
            <a:ext cx="209215" cy="209215"/>
          </a:xfrm>
          <a:prstGeom prst="rect">
            <a:avLst/>
          </a:prstGeom>
        </p:spPr>
      </p:pic>
      <p:sp>
        <p:nvSpPr>
          <p:cNvPr id="42" name="Text 33"/>
          <p:cNvSpPr txBox="1"/>
          <p:nvPr/>
        </p:nvSpPr>
        <p:spPr>
          <a:xfrm>
            <a:off x="7086600" y="4535424"/>
            <a:ext cx="4297680" cy="402336"/>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Vulnerability scanning</a:t>
            </a:r>
            <a:endParaRPr lang="en-US" sz="1700" dirty="0"/>
          </a:p>
        </p:txBody>
      </p:sp>
      <p:sp>
        <p:nvSpPr>
          <p:cNvPr id="43" name="Shape 34"/>
          <p:cNvSpPr/>
          <p:nvPr/>
        </p:nvSpPr>
        <p:spPr>
          <a:xfrm>
            <a:off x="6492240" y="5157216"/>
            <a:ext cx="402336" cy="402336"/>
          </a:xfrm>
          <a:prstGeom prst="ellipse">
            <a:avLst/>
          </a:prstGeom>
          <a:solidFill>
            <a:srgbClr val="00B7C3"/>
          </a:solidFill>
          <a:ln w="12700">
            <a:solidFill>
              <a:srgbClr val="00B7C3"/>
            </a:solidFill>
            <a:prstDash val="solid"/>
          </a:ln>
        </p:spPr>
        <p:txBody>
          <a:bodyPr/>
          <a:lstStyle/>
          <a:p>
            <a:endParaRPr lang="en-JP"/>
          </a:p>
        </p:txBody>
      </p:sp>
      <p:pic>
        <p:nvPicPr>
          <p:cNvPr id="44" name="Image 7" descr="preencoded.png"/>
          <p:cNvPicPr>
            <a:picLocks noChangeAspect="1"/>
          </p:cNvPicPr>
          <p:nvPr/>
        </p:nvPicPr>
        <p:blipFill>
          <a:blip r:embed="rId7"/>
          <a:stretch>
            <a:fillRect/>
          </a:stretch>
        </p:blipFill>
        <p:spPr>
          <a:xfrm>
            <a:off x="6588801" y="5253777"/>
            <a:ext cx="209215" cy="209215"/>
          </a:xfrm>
          <a:prstGeom prst="rect">
            <a:avLst/>
          </a:prstGeom>
        </p:spPr>
      </p:pic>
      <p:sp>
        <p:nvSpPr>
          <p:cNvPr id="45" name="Text 35"/>
          <p:cNvSpPr txBox="1"/>
          <p:nvPr/>
        </p:nvSpPr>
        <p:spPr>
          <a:xfrm>
            <a:off x="7086600" y="5157216"/>
            <a:ext cx="4297680" cy="402336"/>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Risk-based remediation</a:t>
            </a:r>
            <a:endParaRPr lang="en-US" sz="1700" dirty="0"/>
          </a:p>
        </p:txBody>
      </p:sp>
      <p:sp>
        <p:nvSpPr>
          <p:cNvPr id="46"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A6B"/>
                </a:solidFill>
                <a:latin typeface="Calibri"/>
                <a:ea typeface="Calibri"/>
                <a:cs typeface="Calibri"/>
              </a:defRPr>
            </a:lvl1pPr>
          </a:lstStyle>
          <a:p>
            <a:pPr algn="l"/>
            <a:fld id="{F7021451-1387-4CA6-816F-3879F97B5CBC}" type="slidenum">
              <a:rPr lang="en-US" b="0"/>
              <a:t>6</a:t>
            </a:fld>
            <a:endParaRPr lang="en-US"/>
          </a:p>
        </p:txBody>
      </p:sp>
      <p:pic>
        <p:nvPicPr>
          <p:cNvPr id="47" name="Picture 46">
            <a:extLst>
              <a:ext uri="{FF2B5EF4-FFF2-40B4-BE49-F238E27FC236}">
                <a16:creationId xmlns:a16="http://schemas.microsoft.com/office/drawing/2014/main" id="{94660D1B-43A3-3A5B-55B6-A9FE2BAE3AB8}"/>
              </a:ext>
            </a:extLst>
          </p:cNvPr>
          <p:cNvPicPr>
            <a:picLocks noChangeAspect="1"/>
          </p:cNvPicPr>
          <p:nvPr/>
        </p:nvPicPr>
        <p:blipFill>
          <a:blip r:embed="rId8"/>
          <a:stretch>
            <a:fillRect/>
          </a:stretch>
        </p:blipFill>
        <p:spPr>
          <a:xfrm>
            <a:off x="10555840" y="94655"/>
            <a:ext cx="1331515" cy="13315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64240" cy="292608"/>
          </a:xfrm>
          <a:prstGeom prst="rect">
            <a:avLst/>
          </a:prstGeom>
          <a:noFill/>
          <a:ln/>
        </p:spPr>
        <p:txBody>
          <a:bodyPr wrap="square" lIns="0" tIns="0" rIns="0" bIns="0" rtlCol="0" anchor="ctr"/>
          <a:lstStyle/>
          <a:p>
            <a:pPr marL="0" indent="0">
              <a:buNone/>
            </a:pPr>
            <a:r>
              <a:rPr lang="en-US" sz="1200" b="1" kern="0" spc="200" dirty="0">
                <a:solidFill>
                  <a:srgbClr val="00B7C3"/>
                </a:solidFill>
                <a:latin typeface="Calibri" pitchFamily="34" charset="0"/>
                <a:ea typeface="Calibri" pitchFamily="34" charset="-122"/>
                <a:cs typeface="Calibri" pitchFamily="34" charset="-120"/>
              </a:rPr>
              <a:t>06  ·  BUILT-IN WINDOWS PROTECTION</a:t>
            </a:r>
            <a:endParaRPr lang="en-US" sz="1200" dirty="0"/>
          </a:p>
        </p:txBody>
      </p:sp>
      <p:sp>
        <p:nvSpPr>
          <p:cNvPr id="3" name="Text 0"/>
          <p:cNvSpPr>
            <a:spLocks noGrp="1"/>
          </p:cNvSpPr>
          <p:nvPr>
            <p:ph type="title" idx="101" hasCustomPrompt="1"/>
          </p:nvPr>
        </p:nvSpPr>
        <p:spPr>
          <a:xfrm>
            <a:off x="548640" y="640080"/>
            <a:ext cx="11064240"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Microsoft Defender Security Stack</a:t>
            </a:r>
            <a:endParaRPr lang="en-US" sz="3600" dirty="0"/>
          </a:p>
        </p:txBody>
      </p:sp>
      <p:sp>
        <p:nvSpPr>
          <p:cNvPr id="4" name="Shape 2"/>
          <p:cNvSpPr/>
          <p:nvPr/>
        </p:nvSpPr>
        <p:spPr>
          <a:xfrm>
            <a:off x="1737360" y="2103120"/>
            <a:ext cx="1828800" cy="1691640"/>
          </a:xfrm>
          <a:prstGeom prst="line">
            <a:avLst/>
          </a:prstGeom>
          <a:noFill/>
          <a:ln w="25400">
            <a:solidFill>
              <a:srgbClr val="1E4E80"/>
            </a:solidFill>
            <a:prstDash val="dash"/>
          </a:ln>
        </p:spPr>
        <p:txBody>
          <a:bodyPr/>
          <a:lstStyle/>
          <a:p>
            <a:endParaRPr lang="en-JP"/>
          </a:p>
        </p:txBody>
      </p:sp>
      <p:sp>
        <p:nvSpPr>
          <p:cNvPr id="5" name="Shape 3"/>
          <p:cNvSpPr/>
          <p:nvPr/>
        </p:nvSpPr>
        <p:spPr>
          <a:xfrm flipH="1">
            <a:off x="3566160" y="2103120"/>
            <a:ext cx="1828800" cy="1691640"/>
          </a:xfrm>
          <a:prstGeom prst="line">
            <a:avLst/>
          </a:prstGeom>
          <a:noFill/>
          <a:ln w="25400">
            <a:solidFill>
              <a:srgbClr val="1E4E80"/>
            </a:solidFill>
            <a:prstDash val="dash"/>
          </a:ln>
        </p:spPr>
        <p:txBody>
          <a:bodyPr/>
          <a:lstStyle/>
          <a:p>
            <a:endParaRPr lang="en-JP"/>
          </a:p>
        </p:txBody>
      </p:sp>
      <p:sp>
        <p:nvSpPr>
          <p:cNvPr id="6" name="Shape 4"/>
          <p:cNvSpPr/>
          <p:nvPr/>
        </p:nvSpPr>
        <p:spPr>
          <a:xfrm flipH="1">
            <a:off x="1737360" y="3794760"/>
            <a:ext cx="1828800" cy="1645920"/>
          </a:xfrm>
          <a:prstGeom prst="line">
            <a:avLst/>
          </a:prstGeom>
          <a:noFill/>
          <a:ln w="25400">
            <a:solidFill>
              <a:srgbClr val="1E4E80"/>
            </a:solidFill>
            <a:prstDash val="dash"/>
          </a:ln>
        </p:spPr>
        <p:txBody>
          <a:bodyPr/>
          <a:lstStyle/>
          <a:p>
            <a:endParaRPr lang="en-JP"/>
          </a:p>
        </p:txBody>
      </p:sp>
      <p:sp>
        <p:nvSpPr>
          <p:cNvPr id="7" name="Shape 5"/>
          <p:cNvSpPr/>
          <p:nvPr/>
        </p:nvSpPr>
        <p:spPr>
          <a:xfrm>
            <a:off x="3566160" y="3794760"/>
            <a:ext cx="1828800" cy="1645920"/>
          </a:xfrm>
          <a:prstGeom prst="line">
            <a:avLst/>
          </a:prstGeom>
          <a:noFill/>
          <a:ln w="25400">
            <a:solidFill>
              <a:srgbClr val="1E4E80"/>
            </a:solidFill>
            <a:prstDash val="dash"/>
          </a:ln>
        </p:spPr>
        <p:txBody>
          <a:bodyPr/>
          <a:lstStyle/>
          <a:p>
            <a:endParaRPr lang="en-JP"/>
          </a:p>
        </p:txBody>
      </p:sp>
      <p:sp>
        <p:nvSpPr>
          <p:cNvPr id="8" name="Defender hub"/>
          <p:cNvSpPr/>
          <p:nvPr/>
        </p:nvSpPr>
        <p:spPr>
          <a:xfrm>
            <a:off x="2606040" y="2834640"/>
            <a:ext cx="1920240" cy="1920240"/>
          </a:xfrm>
          <a:prstGeom prst="ellipse">
            <a:avLst/>
          </a:prstGeom>
          <a:solidFill>
            <a:srgbClr val="0078D4"/>
          </a:solidFill>
          <a:ln w="38100">
            <a:solidFill>
              <a:srgbClr val="00B7C3"/>
            </a:solidFill>
            <a:prstDash val="solid"/>
          </a:ln>
        </p:spPr>
        <p:txBody>
          <a:bodyPr/>
          <a:lstStyle/>
          <a:p>
            <a:endParaRPr lang="en-JP"/>
          </a:p>
        </p:txBody>
      </p:sp>
      <p:pic>
        <p:nvPicPr>
          <p:cNvPr id="9" name="Image 0" descr="preencoded.png"/>
          <p:cNvPicPr>
            <a:picLocks noChangeAspect="1"/>
          </p:cNvPicPr>
          <p:nvPr/>
        </p:nvPicPr>
        <p:blipFill>
          <a:blip r:embed="rId3"/>
          <a:stretch>
            <a:fillRect/>
          </a:stretch>
        </p:blipFill>
        <p:spPr>
          <a:xfrm>
            <a:off x="3291840" y="3063240"/>
            <a:ext cx="548640" cy="548640"/>
          </a:xfrm>
          <a:prstGeom prst="rect">
            <a:avLst/>
          </a:prstGeom>
        </p:spPr>
      </p:pic>
      <p:sp>
        <p:nvSpPr>
          <p:cNvPr id="10" name="Text 7"/>
          <p:cNvSpPr txBox="1"/>
          <p:nvPr/>
        </p:nvSpPr>
        <p:spPr>
          <a:xfrm>
            <a:off x="2697480" y="3657600"/>
            <a:ext cx="1737360" cy="73152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Microsoft</a:t>
            </a:r>
            <a:endParaRPr lang="en-US" sz="1500" dirty="0"/>
          </a:p>
          <a:p>
            <a:pPr marL="0" indent="0" algn="ctr">
              <a:buNone/>
            </a:pPr>
            <a:r>
              <a:rPr lang="en-US" sz="1500" b="1" dirty="0">
                <a:solidFill>
                  <a:srgbClr val="FFFFFF"/>
                </a:solidFill>
                <a:latin typeface="Arial" pitchFamily="34" charset="0"/>
                <a:ea typeface="Arial" pitchFamily="34" charset="-122"/>
                <a:cs typeface="Arial" pitchFamily="34" charset="-120"/>
              </a:rPr>
              <a:t>Defender</a:t>
            </a:r>
            <a:endParaRPr lang="en-US" sz="1500" dirty="0"/>
          </a:p>
        </p:txBody>
      </p:sp>
      <p:sp>
        <p:nvSpPr>
          <p:cNvPr id="11" name="Shape 8"/>
          <p:cNvSpPr/>
          <p:nvPr/>
        </p:nvSpPr>
        <p:spPr>
          <a:xfrm>
            <a:off x="548640" y="1645920"/>
            <a:ext cx="2377440" cy="914400"/>
          </a:xfrm>
          <a:prstGeom prst="roundRect">
            <a:avLst>
              <a:gd name="adj" fmla="val 12000"/>
            </a:avLst>
          </a:prstGeom>
          <a:solidFill>
            <a:srgbClr val="13294B"/>
          </a:solidFill>
          <a:ln w="12700">
            <a:solidFill>
              <a:srgbClr val="13294B"/>
            </a:solidFill>
            <a:prstDash val="solid"/>
          </a:ln>
        </p:spPr>
        <p:txBody>
          <a:bodyPr/>
          <a:lstStyle/>
          <a:p>
            <a:endParaRPr lang="en-JP"/>
          </a:p>
        </p:txBody>
      </p:sp>
      <p:sp>
        <p:nvSpPr>
          <p:cNvPr id="12" name="Shape 9"/>
          <p:cNvSpPr/>
          <p:nvPr/>
        </p:nvSpPr>
        <p:spPr>
          <a:xfrm>
            <a:off x="713232" y="1847088"/>
            <a:ext cx="512064" cy="512064"/>
          </a:xfrm>
          <a:prstGeom prst="ellipse">
            <a:avLst/>
          </a:prstGeom>
          <a:solidFill>
            <a:srgbClr val="00B7C3"/>
          </a:solidFill>
          <a:ln w="12700">
            <a:solidFill>
              <a:srgbClr val="00B7C3"/>
            </a:solidFill>
            <a:prstDash val="solid"/>
          </a:ln>
        </p:spPr>
        <p:txBody>
          <a:bodyPr/>
          <a:lstStyle/>
          <a:p>
            <a:endParaRPr lang="en-JP"/>
          </a:p>
        </p:txBody>
      </p:sp>
      <p:pic>
        <p:nvPicPr>
          <p:cNvPr id="13" name="Image 1" descr="preencoded.png"/>
          <p:cNvPicPr>
            <a:picLocks noChangeAspect="1"/>
          </p:cNvPicPr>
          <p:nvPr/>
        </p:nvPicPr>
        <p:blipFill>
          <a:blip r:embed="rId4"/>
          <a:stretch>
            <a:fillRect/>
          </a:stretch>
        </p:blipFill>
        <p:spPr>
          <a:xfrm>
            <a:off x="836127" y="1969983"/>
            <a:ext cx="266273" cy="266273"/>
          </a:xfrm>
          <a:prstGeom prst="rect">
            <a:avLst/>
          </a:prstGeom>
        </p:spPr>
      </p:pic>
      <p:sp>
        <p:nvSpPr>
          <p:cNvPr id="14" name="Text 10"/>
          <p:cNvSpPr txBox="1"/>
          <p:nvPr/>
        </p:nvSpPr>
        <p:spPr>
          <a:xfrm>
            <a:off x="1353312" y="1645920"/>
            <a:ext cx="1508760" cy="9144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Defender Antivirus</a:t>
            </a:r>
            <a:endParaRPr lang="en-US" sz="1400" dirty="0"/>
          </a:p>
        </p:txBody>
      </p:sp>
      <p:sp>
        <p:nvSpPr>
          <p:cNvPr id="15" name="Shape 11"/>
          <p:cNvSpPr/>
          <p:nvPr/>
        </p:nvSpPr>
        <p:spPr>
          <a:xfrm>
            <a:off x="4206240" y="1645920"/>
            <a:ext cx="2377440" cy="914400"/>
          </a:xfrm>
          <a:prstGeom prst="roundRect">
            <a:avLst>
              <a:gd name="adj" fmla="val 12000"/>
            </a:avLst>
          </a:prstGeom>
          <a:solidFill>
            <a:srgbClr val="13294B"/>
          </a:solidFill>
          <a:ln w="12700">
            <a:solidFill>
              <a:srgbClr val="13294B"/>
            </a:solidFill>
            <a:prstDash val="solid"/>
          </a:ln>
        </p:spPr>
        <p:txBody>
          <a:bodyPr/>
          <a:lstStyle/>
          <a:p>
            <a:endParaRPr lang="en-JP"/>
          </a:p>
        </p:txBody>
      </p:sp>
      <p:sp>
        <p:nvSpPr>
          <p:cNvPr id="16" name="Shape 12"/>
          <p:cNvSpPr/>
          <p:nvPr/>
        </p:nvSpPr>
        <p:spPr>
          <a:xfrm>
            <a:off x="4370832" y="1847088"/>
            <a:ext cx="512064" cy="512064"/>
          </a:xfrm>
          <a:prstGeom prst="ellipse">
            <a:avLst/>
          </a:prstGeom>
          <a:solidFill>
            <a:srgbClr val="00B7C3"/>
          </a:solidFill>
          <a:ln w="12700">
            <a:solidFill>
              <a:srgbClr val="00B7C3"/>
            </a:solidFill>
            <a:prstDash val="solid"/>
          </a:ln>
        </p:spPr>
        <p:txBody>
          <a:bodyPr/>
          <a:lstStyle/>
          <a:p>
            <a:endParaRPr lang="en-JP"/>
          </a:p>
        </p:txBody>
      </p:sp>
      <p:pic>
        <p:nvPicPr>
          <p:cNvPr id="17" name="Image 2" descr="preencoded.png"/>
          <p:cNvPicPr>
            <a:picLocks noChangeAspect="1"/>
          </p:cNvPicPr>
          <p:nvPr/>
        </p:nvPicPr>
        <p:blipFill>
          <a:blip r:embed="rId5"/>
          <a:stretch>
            <a:fillRect/>
          </a:stretch>
        </p:blipFill>
        <p:spPr>
          <a:xfrm>
            <a:off x="4493727" y="1969983"/>
            <a:ext cx="266273" cy="266273"/>
          </a:xfrm>
          <a:prstGeom prst="rect">
            <a:avLst/>
          </a:prstGeom>
        </p:spPr>
      </p:pic>
      <p:sp>
        <p:nvSpPr>
          <p:cNvPr id="18" name="Text 13"/>
          <p:cNvSpPr txBox="1"/>
          <p:nvPr/>
        </p:nvSpPr>
        <p:spPr>
          <a:xfrm>
            <a:off x="5010912" y="1645920"/>
            <a:ext cx="1508760" cy="9144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Defender Firewall</a:t>
            </a:r>
            <a:endParaRPr lang="en-US" sz="1400" dirty="0"/>
          </a:p>
        </p:txBody>
      </p:sp>
      <p:sp>
        <p:nvSpPr>
          <p:cNvPr id="19" name="Shape 14"/>
          <p:cNvSpPr/>
          <p:nvPr/>
        </p:nvSpPr>
        <p:spPr>
          <a:xfrm>
            <a:off x="548640" y="4983480"/>
            <a:ext cx="2377440" cy="914400"/>
          </a:xfrm>
          <a:prstGeom prst="roundRect">
            <a:avLst>
              <a:gd name="adj" fmla="val 12000"/>
            </a:avLst>
          </a:prstGeom>
          <a:solidFill>
            <a:srgbClr val="13294B"/>
          </a:solidFill>
          <a:ln w="12700">
            <a:solidFill>
              <a:srgbClr val="13294B"/>
            </a:solidFill>
            <a:prstDash val="solid"/>
          </a:ln>
        </p:spPr>
        <p:txBody>
          <a:bodyPr/>
          <a:lstStyle/>
          <a:p>
            <a:endParaRPr lang="en-JP"/>
          </a:p>
        </p:txBody>
      </p:sp>
      <p:sp>
        <p:nvSpPr>
          <p:cNvPr id="20" name="Shape 15"/>
          <p:cNvSpPr/>
          <p:nvPr/>
        </p:nvSpPr>
        <p:spPr>
          <a:xfrm>
            <a:off x="713232" y="5184648"/>
            <a:ext cx="512064" cy="512064"/>
          </a:xfrm>
          <a:prstGeom prst="ellipse">
            <a:avLst/>
          </a:prstGeom>
          <a:solidFill>
            <a:srgbClr val="00B7C3"/>
          </a:solidFill>
          <a:ln w="12700">
            <a:solidFill>
              <a:srgbClr val="00B7C3"/>
            </a:solidFill>
            <a:prstDash val="solid"/>
          </a:ln>
        </p:spPr>
        <p:txBody>
          <a:bodyPr/>
          <a:lstStyle/>
          <a:p>
            <a:endParaRPr lang="en-JP"/>
          </a:p>
        </p:txBody>
      </p:sp>
      <p:pic>
        <p:nvPicPr>
          <p:cNvPr id="21" name="Image 3" descr="preencoded.png"/>
          <p:cNvPicPr>
            <a:picLocks noChangeAspect="1"/>
          </p:cNvPicPr>
          <p:nvPr/>
        </p:nvPicPr>
        <p:blipFill>
          <a:blip r:embed="rId6"/>
          <a:stretch>
            <a:fillRect/>
          </a:stretch>
        </p:blipFill>
        <p:spPr>
          <a:xfrm>
            <a:off x="836127" y="5307543"/>
            <a:ext cx="266273" cy="266273"/>
          </a:xfrm>
          <a:prstGeom prst="rect">
            <a:avLst/>
          </a:prstGeom>
        </p:spPr>
      </p:pic>
      <p:sp>
        <p:nvSpPr>
          <p:cNvPr id="22" name="Text 16"/>
          <p:cNvSpPr txBox="1"/>
          <p:nvPr/>
        </p:nvSpPr>
        <p:spPr>
          <a:xfrm>
            <a:off x="1353312" y="4983480"/>
            <a:ext cx="1508760" cy="9144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Defender SmartScreen</a:t>
            </a:r>
            <a:endParaRPr lang="en-US" sz="1400" dirty="0"/>
          </a:p>
        </p:txBody>
      </p:sp>
      <p:sp>
        <p:nvSpPr>
          <p:cNvPr id="23" name="Shape 17"/>
          <p:cNvSpPr/>
          <p:nvPr/>
        </p:nvSpPr>
        <p:spPr>
          <a:xfrm>
            <a:off x="4206240" y="4983480"/>
            <a:ext cx="2377440" cy="914400"/>
          </a:xfrm>
          <a:prstGeom prst="roundRect">
            <a:avLst>
              <a:gd name="adj" fmla="val 12000"/>
            </a:avLst>
          </a:prstGeom>
          <a:solidFill>
            <a:srgbClr val="13294B"/>
          </a:solidFill>
          <a:ln w="12700">
            <a:solidFill>
              <a:srgbClr val="13294B"/>
            </a:solidFill>
            <a:prstDash val="solid"/>
          </a:ln>
        </p:spPr>
        <p:txBody>
          <a:bodyPr/>
          <a:lstStyle/>
          <a:p>
            <a:endParaRPr lang="en-JP"/>
          </a:p>
        </p:txBody>
      </p:sp>
      <p:sp>
        <p:nvSpPr>
          <p:cNvPr id="24" name="Shape 18"/>
          <p:cNvSpPr/>
          <p:nvPr/>
        </p:nvSpPr>
        <p:spPr>
          <a:xfrm>
            <a:off x="4370832" y="5184648"/>
            <a:ext cx="512064" cy="512064"/>
          </a:xfrm>
          <a:prstGeom prst="ellipse">
            <a:avLst/>
          </a:prstGeom>
          <a:solidFill>
            <a:srgbClr val="00B7C3"/>
          </a:solidFill>
          <a:ln w="12700">
            <a:solidFill>
              <a:srgbClr val="00B7C3"/>
            </a:solidFill>
            <a:prstDash val="solid"/>
          </a:ln>
        </p:spPr>
        <p:txBody>
          <a:bodyPr/>
          <a:lstStyle/>
          <a:p>
            <a:endParaRPr lang="en-JP"/>
          </a:p>
        </p:txBody>
      </p:sp>
      <p:pic>
        <p:nvPicPr>
          <p:cNvPr id="25" name="Image 4" descr="preencoded.png"/>
          <p:cNvPicPr>
            <a:picLocks noChangeAspect="1"/>
          </p:cNvPicPr>
          <p:nvPr/>
        </p:nvPicPr>
        <p:blipFill>
          <a:blip r:embed="rId7"/>
          <a:stretch>
            <a:fillRect/>
          </a:stretch>
        </p:blipFill>
        <p:spPr>
          <a:xfrm>
            <a:off x="4493727" y="5307543"/>
            <a:ext cx="266273" cy="266273"/>
          </a:xfrm>
          <a:prstGeom prst="rect">
            <a:avLst/>
          </a:prstGeom>
        </p:spPr>
      </p:pic>
      <p:sp>
        <p:nvSpPr>
          <p:cNvPr id="26" name="Text 19"/>
          <p:cNvSpPr txBox="1"/>
          <p:nvPr/>
        </p:nvSpPr>
        <p:spPr>
          <a:xfrm>
            <a:off x="5010912" y="4983480"/>
            <a:ext cx="1508760" cy="9144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Defender for Endpoint</a:t>
            </a:r>
            <a:endParaRPr lang="en-US" sz="1400" dirty="0"/>
          </a:p>
        </p:txBody>
      </p:sp>
      <p:sp>
        <p:nvSpPr>
          <p:cNvPr id="27" name="Shape 20"/>
          <p:cNvSpPr/>
          <p:nvPr/>
        </p:nvSpPr>
        <p:spPr>
          <a:xfrm>
            <a:off x="7132320" y="1645920"/>
            <a:ext cx="4507992" cy="4251960"/>
          </a:xfrm>
          <a:prstGeom prst="roundRect">
            <a:avLst>
              <a:gd name="adj" fmla="val 2581"/>
            </a:avLst>
          </a:prstGeom>
          <a:solidFill>
            <a:srgbClr val="13294B"/>
          </a:solidFill>
          <a:ln w="12700">
            <a:solidFill>
              <a:srgbClr val="13294B"/>
            </a:solidFill>
            <a:prstDash val="solid"/>
          </a:ln>
        </p:spPr>
        <p:txBody>
          <a:bodyPr/>
          <a:lstStyle/>
          <a:p>
            <a:endParaRPr lang="en-JP"/>
          </a:p>
        </p:txBody>
      </p:sp>
      <p:sp>
        <p:nvSpPr>
          <p:cNvPr id="28" name="Text 21"/>
          <p:cNvSpPr txBox="1"/>
          <p:nvPr/>
        </p:nvSpPr>
        <p:spPr>
          <a:xfrm>
            <a:off x="7406640" y="1828800"/>
            <a:ext cx="3657600" cy="274320"/>
          </a:xfrm>
          <a:prstGeom prst="rect">
            <a:avLst/>
          </a:prstGeom>
          <a:noFill/>
          <a:ln/>
        </p:spPr>
        <p:txBody>
          <a:bodyPr wrap="square" lIns="0" tIns="0" rIns="0" bIns="0" rtlCol="0" anchor="ctr"/>
          <a:lstStyle/>
          <a:p>
            <a:pPr marL="0" indent="0">
              <a:buNone/>
            </a:pPr>
            <a:r>
              <a:rPr lang="en-US" sz="1200" b="1" kern="0" spc="200" dirty="0">
                <a:solidFill>
                  <a:srgbClr val="00B7C3"/>
                </a:solidFill>
                <a:latin typeface="Calibri" pitchFamily="34" charset="0"/>
                <a:ea typeface="Calibri" pitchFamily="34" charset="-122"/>
                <a:cs typeface="Calibri" pitchFamily="34" charset="-120"/>
              </a:rPr>
              <a:t>SECURITY BENEFITS</a:t>
            </a:r>
            <a:endParaRPr lang="en-US" sz="1200" dirty="0"/>
          </a:p>
        </p:txBody>
      </p:sp>
      <p:sp>
        <p:nvSpPr>
          <p:cNvPr id="29" name="Shape 22"/>
          <p:cNvSpPr/>
          <p:nvPr/>
        </p:nvSpPr>
        <p:spPr>
          <a:xfrm>
            <a:off x="7406640" y="2331720"/>
            <a:ext cx="512064" cy="512064"/>
          </a:xfrm>
          <a:prstGeom prst="ellipse">
            <a:avLst/>
          </a:prstGeom>
          <a:solidFill>
            <a:srgbClr val="0078D4"/>
          </a:solidFill>
          <a:ln w="12700">
            <a:solidFill>
              <a:srgbClr val="0078D4"/>
            </a:solidFill>
            <a:prstDash val="solid"/>
          </a:ln>
        </p:spPr>
        <p:txBody>
          <a:bodyPr/>
          <a:lstStyle/>
          <a:p>
            <a:endParaRPr lang="en-JP"/>
          </a:p>
        </p:txBody>
      </p:sp>
      <p:pic>
        <p:nvPicPr>
          <p:cNvPr id="30" name="Image 5" descr="preencoded.png"/>
          <p:cNvPicPr>
            <a:picLocks noChangeAspect="1"/>
          </p:cNvPicPr>
          <p:nvPr/>
        </p:nvPicPr>
        <p:blipFill>
          <a:blip r:embed="rId8"/>
          <a:stretch>
            <a:fillRect/>
          </a:stretch>
        </p:blipFill>
        <p:spPr>
          <a:xfrm>
            <a:off x="7529535" y="2454615"/>
            <a:ext cx="266273" cy="266273"/>
          </a:xfrm>
          <a:prstGeom prst="rect">
            <a:avLst/>
          </a:prstGeom>
        </p:spPr>
      </p:pic>
      <p:sp>
        <p:nvSpPr>
          <p:cNvPr id="31" name="Text 23"/>
          <p:cNvSpPr txBox="1"/>
          <p:nvPr/>
        </p:nvSpPr>
        <p:spPr>
          <a:xfrm>
            <a:off x="8092440" y="2286000"/>
            <a:ext cx="3383280" cy="32918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Real-time protection</a:t>
            </a:r>
            <a:endParaRPr lang="en-US" sz="1600" dirty="0"/>
          </a:p>
        </p:txBody>
      </p:sp>
      <p:sp>
        <p:nvSpPr>
          <p:cNvPr id="32" name="Text 24"/>
          <p:cNvSpPr txBox="1"/>
          <p:nvPr/>
        </p:nvSpPr>
        <p:spPr>
          <a:xfrm>
            <a:off x="8092440" y="2615184"/>
            <a:ext cx="3383280" cy="329184"/>
          </a:xfrm>
          <a:prstGeom prst="rect">
            <a:avLst/>
          </a:prstGeom>
          <a:noFill/>
          <a:ln/>
        </p:spPr>
        <p:txBody>
          <a:bodyPr wrap="square" lIns="0" tIns="0" rIns="0" bIns="0" rtlCol="0" anchor="ctr"/>
          <a:lstStyle/>
          <a:p>
            <a:pPr marL="0" indent="0">
              <a:buNone/>
            </a:pPr>
            <a:r>
              <a:rPr lang="en-US" sz="1300" dirty="0">
                <a:solidFill>
                  <a:srgbClr val="9FB3C8"/>
                </a:solidFill>
                <a:latin typeface="Calibri" pitchFamily="34" charset="0"/>
                <a:ea typeface="Calibri" pitchFamily="34" charset="-122"/>
                <a:cs typeface="Calibri" pitchFamily="34" charset="-120"/>
              </a:rPr>
              <a:t>Scans files and processes as they run</a:t>
            </a:r>
            <a:endParaRPr lang="en-US" sz="1300" dirty="0"/>
          </a:p>
        </p:txBody>
      </p:sp>
      <p:sp>
        <p:nvSpPr>
          <p:cNvPr id="33" name="Shape 25"/>
          <p:cNvSpPr/>
          <p:nvPr/>
        </p:nvSpPr>
        <p:spPr>
          <a:xfrm>
            <a:off x="7406640" y="3218688"/>
            <a:ext cx="512064" cy="512064"/>
          </a:xfrm>
          <a:prstGeom prst="ellipse">
            <a:avLst/>
          </a:prstGeom>
          <a:solidFill>
            <a:srgbClr val="0078D4"/>
          </a:solidFill>
          <a:ln w="12700">
            <a:solidFill>
              <a:srgbClr val="0078D4"/>
            </a:solidFill>
            <a:prstDash val="solid"/>
          </a:ln>
        </p:spPr>
        <p:txBody>
          <a:bodyPr/>
          <a:lstStyle/>
          <a:p>
            <a:endParaRPr lang="en-JP"/>
          </a:p>
        </p:txBody>
      </p:sp>
      <p:pic>
        <p:nvPicPr>
          <p:cNvPr id="34" name="Image 6" descr="preencoded.png"/>
          <p:cNvPicPr>
            <a:picLocks noChangeAspect="1"/>
          </p:cNvPicPr>
          <p:nvPr/>
        </p:nvPicPr>
        <p:blipFill>
          <a:blip r:embed="rId9"/>
          <a:stretch>
            <a:fillRect/>
          </a:stretch>
        </p:blipFill>
        <p:spPr>
          <a:xfrm>
            <a:off x="7529535" y="3341583"/>
            <a:ext cx="266273" cy="266273"/>
          </a:xfrm>
          <a:prstGeom prst="rect">
            <a:avLst/>
          </a:prstGeom>
        </p:spPr>
      </p:pic>
      <p:sp>
        <p:nvSpPr>
          <p:cNvPr id="35" name="Text 26"/>
          <p:cNvSpPr txBox="1"/>
          <p:nvPr/>
        </p:nvSpPr>
        <p:spPr>
          <a:xfrm>
            <a:off x="8092440" y="3172968"/>
            <a:ext cx="3383280" cy="32918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Behavioral detection</a:t>
            </a:r>
            <a:endParaRPr lang="en-US" sz="1600" dirty="0"/>
          </a:p>
        </p:txBody>
      </p:sp>
      <p:sp>
        <p:nvSpPr>
          <p:cNvPr id="36" name="Text 27"/>
          <p:cNvSpPr txBox="1"/>
          <p:nvPr/>
        </p:nvSpPr>
        <p:spPr>
          <a:xfrm>
            <a:off x="8092440" y="3502152"/>
            <a:ext cx="3383280" cy="329184"/>
          </a:xfrm>
          <a:prstGeom prst="rect">
            <a:avLst/>
          </a:prstGeom>
          <a:noFill/>
          <a:ln/>
        </p:spPr>
        <p:txBody>
          <a:bodyPr wrap="square" lIns="0" tIns="0" rIns="0" bIns="0" rtlCol="0" anchor="ctr"/>
          <a:lstStyle/>
          <a:p>
            <a:pPr marL="0" indent="0">
              <a:buNone/>
            </a:pPr>
            <a:r>
              <a:rPr lang="en-US" sz="1300" dirty="0">
                <a:solidFill>
                  <a:srgbClr val="9FB3C8"/>
                </a:solidFill>
                <a:latin typeface="Calibri" pitchFamily="34" charset="0"/>
                <a:ea typeface="Calibri" pitchFamily="34" charset="-122"/>
                <a:cs typeface="Calibri" pitchFamily="34" charset="-120"/>
              </a:rPr>
              <a:t>Flags suspicious activity, not just known malware</a:t>
            </a:r>
            <a:endParaRPr lang="en-US" sz="1300" dirty="0"/>
          </a:p>
        </p:txBody>
      </p:sp>
      <p:sp>
        <p:nvSpPr>
          <p:cNvPr id="37" name="Shape 28"/>
          <p:cNvSpPr/>
          <p:nvPr/>
        </p:nvSpPr>
        <p:spPr>
          <a:xfrm>
            <a:off x="7406640" y="4105656"/>
            <a:ext cx="512064" cy="512064"/>
          </a:xfrm>
          <a:prstGeom prst="ellipse">
            <a:avLst/>
          </a:prstGeom>
          <a:solidFill>
            <a:srgbClr val="0078D4"/>
          </a:solidFill>
          <a:ln w="12700">
            <a:solidFill>
              <a:srgbClr val="0078D4"/>
            </a:solidFill>
            <a:prstDash val="solid"/>
          </a:ln>
        </p:spPr>
        <p:txBody>
          <a:bodyPr/>
          <a:lstStyle/>
          <a:p>
            <a:endParaRPr lang="en-JP"/>
          </a:p>
        </p:txBody>
      </p:sp>
      <p:pic>
        <p:nvPicPr>
          <p:cNvPr id="38" name="Image 7" descr="preencoded.png"/>
          <p:cNvPicPr>
            <a:picLocks noChangeAspect="1"/>
          </p:cNvPicPr>
          <p:nvPr/>
        </p:nvPicPr>
        <p:blipFill>
          <a:blip r:embed="rId10"/>
          <a:stretch>
            <a:fillRect/>
          </a:stretch>
        </p:blipFill>
        <p:spPr>
          <a:xfrm>
            <a:off x="7529535" y="4228551"/>
            <a:ext cx="266273" cy="266273"/>
          </a:xfrm>
          <a:prstGeom prst="rect">
            <a:avLst/>
          </a:prstGeom>
        </p:spPr>
      </p:pic>
      <p:sp>
        <p:nvSpPr>
          <p:cNvPr id="39" name="Text 29"/>
          <p:cNvSpPr txBox="1"/>
          <p:nvPr/>
        </p:nvSpPr>
        <p:spPr>
          <a:xfrm>
            <a:off x="8092440" y="4059936"/>
            <a:ext cx="3383280" cy="32918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Threat intelligence</a:t>
            </a:r>
            <a:endParaRPr lang="en-US" sz="1600" dirty="0"/>
          </a:p>
        </p:txBody>
      </p:sp>
      <p:sp>
        <p:nvSpPr>
          <p:cNvPr id="40" name="Text 30"/>
          <p:cNvSpPr txBox="1"/>
          <p:nvPr/>
        </p:nvSpPr>
        <p:spPr>
          <a:xfrm>
            <a:off x="8092440" y="4389120"/>
            <a:ext cx="3383280" cy="329184"/>
          </a:xfrm>
          <a:prstGeom prst="rect">
            <a:avLst/>
          </a:prstGeom>
          <a:noFill/>
          <a:ln/>
        </p:spPr>
        <p:txBody>
          <a:bodyPr wrap="square" lIns="0" tIns="0" rIns="0" bIns="0" rtlCol="0" anchor="ctr"/>
          <a:lstStyle/>
          <a:p>
            <a:pPr marL="0" indent="0">
              <a:buNone/>
            </a:pPr>
            <a:r>
              <a:rPr lang="en-US" sz="1300" dirty="0">
                <a:solidFill>
                  <a:srgbClr val="9FB3C8"/>
                </a:solidFill>
                <a:latin typeface="Calibri" pitchFamily="34" charset="0"/>
                <a:ea typeface="Calibri" pitchFamily="34" charset="-122"/>
                <a:cs typeface="Calibri" pitchFamily="34" charset="-120"/>
              </a:rPr>
              <a:t>Cloud-delivered insight on emerging threats</a:t>
            </a:r>
            <a:endParaRPr lang="en-US" sz="1300" dirty="0"/>
          </a:p>
        </p:txBody>
      </p:sp>
      <p:sp>
        <p:nvSpPr>
          <p:cNvPr id="41" name="Shape 31"/>
          <p:cNvSpPr/>
          <p:nvPr/>
        </p:nvSpPr>
        <p:spPr>
          <a:xfrm>
            <a:off x="7406640" y="4992624"/>
            <a:ext cx="512064" cy="512064"/>
          </a:xfrm>
          <a:prstGeom prst="ellipse">
            <a:avLst/>
          </a:prstGeom>
          <a:solidFill>
            <a:srgbClr val="0078D4"/>
          </a:solidFill>
          <a:ln w="12700">
            <a:solidFill>
              <a:srgbClr val="0078D4"/>
            </a:solidFill>
            <a:prstDash val="solid"/>
          </a:ln>
        </p:spPr>
        <p:txBody>
          <a:bodyPr/>
          <a:lstStyle/>
          <a:p>
            <a:endParaRPr lang="en-JP"/>
          </a:p>
        </p:txBody>
      </p:sp>
      <p:pic>
        <p:nvPicPr>
          <p:cNvPr id="42" name="Image 8" descr="preencoded.png"/>
          <p:cNvPicPr>
            <a:picLocks noChangeAspect="1"/>
          </p:cNvPicPr>
          <p:nvPr/>
        </p:nvPicPr>
        <p:blipFill>
          <a:blip r:embed="rId11"/>
          <a:stretch>
            <a:fillRect/>
          </a:stretch>
        </p:blipFill>
        <p:spPr>
          <a:xfrm>
            <a:off x="7529535" y="5115519"/>
            <a:ext cx="266273" cy="266273"/>
          </a:xfrm>
          <a:prstGeom prst="rect">
            <a:avLst/>
          </a:prstGeom>
        </p:spPr>
      </p:pic>
      <p:sp>
        <p:nvSpPr>
          <p:cNvPr id="43" name="Text 32"/>
          <p:cNvSpPr txBox="1"/>
          <p:nvPr/>
        </p:nvSpPr>
        <p:spPr>
          <a:xfrm>
            <a:off x="8092440" y="4946904"/>
            <a:ext cx="3383280" cy="32918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Endpoint visibility</a:t>
            </a:r>
            <a:endParaRPr lang="en-US" sz="1600" dirty="0"/>
          </a:p>
        </p:txBody>
      </p:sp>
      <p:sp>
        <p:nvSpPr>
          <p:cNvPr id="44" name="Text 33"/>
          <p:cNvSpPr txBox="1"/>
          <p:nvPr/>
        </p:nvSpPr>
        <p:spPr>
          <a:xfrm>
            <a:off x="8092440" y="5276088"/>
            <a:ext cx="3383280" cy="329184"/>
          </a:xfrm>
          <a:prstGeom prst="rect">
            <a:avLst/>
          </a:prstGeom>
          <a:noFill/>
          <a:ln/>
        </p:spPr>
        <p:txBody>
          <a:bodyPr wrap="square" lIns="0" tIns="0" rIns="0" bIns="0" rtlCol="0" anchor="ctr"/>
          <a:lstStyle/>
          <a:p>
            <a:pPr marL="0" indent="0">
              <a:buNone/>
            </a:pPr>
            <a:r>
              <a:rPr lang="en-US" sz="1300" dirty="0">
                <a:solidFill>
                  <a:srgbClr val="9FB3C8"/>
                </a:solidFill>
                <a:latin typeface="Calibri" pitchFamily="34" charset="0"/>
                <a:ea typeface="Calibri" pitchFamily="34" charset="-122"/>
                <a:cs typeface="Calibri" pitchFamily="34" charset="-120"/>
              </a:rPr>
              <a:t>Central view of device health and alerts</a:t>
            </a:r>
            <a:endParaRPr lang="en-US" sz="1300" dirty="0"/>
          </a:p>
        </p:txBody>
      </p:sp>
      <p:sp>
        <p:nvSpPr>
          <p:cNvPr id="4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3C8"/>
                </a:solidFill>
                <a:latin typeface="Calibri"/>
                <a:ea typeface="Calibri"/>
                <a:cs typeface="Calibri"/>
              </a:defRPr>
            </a:lvl1pPr>
          </a:lstStyle>
          <a:p>
            <a:pPr algn="l"/>
            <a:fld id="{F7021451-1387-4CA6-816F-3879F97B5CBC}" type="slidenum">
              <a:rPr lang="en-US" b="0"/>
              <a:t>7</a:t>
            </a:fld>
            <a:endParaRPr lang="en-US"/>
          </a:p>
        </p:txBody>
      </p:sp>
      <p:pic>
        <p:nvPicPr>
          <p:cNvPr id="46" name="Picture 45">
            <a:extLst>
              <a:ext uri="{FF2B5EF4-FFF2-40B4-BE49-F238E27FC236}">
                <a16:creationId xmlns:a16="http://schemas.microsoft.com/office/drawing/2014/main" id="{BB4C74C0-2B04-A4C1-2F7A-09651F2A1C5E}"/>
              </a:ext>
            </a:extLst>
          </p:cNvPr>
          <p:cNvPicPr>
            <a:picLocks noChangeAspect="1"/>
          </p:cNvPicPr>
          <p:nvPr/>
        </p:nvPicPr>
        <p:blipFill>
          <a:blip r:embed="rId12"/>
          <a:stretch>
            <a:fillRect/>
          </a:stretch>
        </p:blipFill>
        <p:spPr>
          <a:xfrm>
            <a:off x="10555840" y="94655"/>
            <a:ext cx="1331515" cy="13315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64240" cy="292608"/>
          </a:xfrm>
          <a:prstGeom prst="rect">
            <a:avLst/>
          </a:prstGeom>
          <a:noFill/>
          <a:ln/>
        </p:spPr>
        <p:txBody>
          <a:bodyPr wrap="square" lIns="0" tIns="0" rIns="0" bIns="0" rtlCol="0" anchor="ctr"/>
          <a:lstStyle/>
          <a:p>
            <a:pPr marL="0" indent="0">
              <a:buNone/>
            </a:pPr>
            <a:r>
              <a:rPr lang="en-US" sz="1200" b="1" kern="0" spc="200" dirty="0">
                <a:solidFill>
                  <a:srgbClr val="0078D4"/>
                </a:solidFill>
                <a:latin typeface="Calibri" pitchFamily="34" charset="0"/>
                <a:ea typeface="Calibri" pitchFamily="34" charset="-122"/>
                <a:cs typeface="Calibri" pitchFamily="34" charset="-120"/>
              </a:rPr>
              <a:t>07  ·  BLOCK COMMON ATTACK TECHNIQUES</a:t>
            </a:r>
            <a:endParaRPr lang="en-US" sz="1200" dirty="0"/>
          </a:p>
        </p:txBody>
      </p:sp>
      <p:sp>
        <p:nvSpPr>
          <p:cNvPr id="3" name="Text 0"/>
          <p:cNvSpPr>
            <a:spLocks noGrp="1"/>
          </p:cNvSpPr>
          <p:nvPr>
            <p:ph type="title" idx="101" hasCustomPrompt="1"/>
          </p:nvPr>
        </p:nvSpPr>
        <p:spPr>
          <a:xfrm>
            <a:off x="548640" y="640080"/>
            <a:ext cx="11064240" cy="731520"/>
          </a:xfrm>
          <a:prstGeom prst="rect">
            <a:avLst/>
          </a:prstGeom>
          <a:noFill/>
          <a:ln/>
        </p:spPr>
        <p:txBody>
          <a:bodyPr wrap="square" lIns="0" tIns="0" rIns="0" bIns="0" rtlCol="0" anchor="ctr"/>
          <a:lstStyle/>
          <a:p>
            <a:pPr marL="0" indent="0" algn="l">
              <a:buNone/>
            </a:pPr>
            <a:r>
              <a:rPr lang="en-US" sz="3600" b="1" dirty="0">
                <a:solidFill>
                  <a:srgbClr val="0B1F33"/>
                </a:solidFill>
                <a:latin typeface="Arial" pitchFamily="34" charset="0"/>
                <a:ea typeface="Arial" pitchFamily="34" charset="-122"/>
                <a:cs typeface="Arial" pitchFamily="34" charset="-120"/>
              </a:rPr>
              <a:t>Attack Surface Reduction</a:t>
            </a:r>
            <a:endParaRPr lang="en-US" sz="3600" dirty="0"/>
          </a:p>
        </p:txBody>
      </p:sp>
      <p:pic>
        <p:nvPicPr>
          <p:cNvPr id="4" name="Image 0" descr="Shield deflecting incoming attacks"/>
          <p:cNvPicPr>
            <a:picLocks noChangeAspect="1"/>
          </p:cNvPicPr>
          <p:nvPr/>
        </p:nvPicPr>
        <p:blipFill>
          <a:blip r:embed="rId3"/>
          <a:stretch>
            <a:fillRect/>
          </a:stretch>
        </p:blipFill>
        <p:spPr>
          <a:xfrm>
            <a:off x="548640" y="1554480"/>
            <a:ext cx="4572000" cy="3657600"/>
          </a:xfrm>
          <a:prstGeom prst="rect">
            <a:avLst/>
          </a:prstGeom>
        </p:spPr>
      </p:pic>
      <p:sp>
        <p:nvSpPr>
          <p:cNvPr id="5" name="Text 2"/>
          <p:cNvSpPr txBox="1"/>
          <p:nvPr/>
        </p:nvSpPr>
        <p:spPr>
          <a:xfrm>
            <a:off x="5577840" y="1508760"/>
            <a:ext cx="4572000" cy="274320"/>
          </a:xfrm>
          <a:prstGeom prst="rect">
            <a:avLst/>
          </a:prstGeom>
          <a:noFill/>
          <a:ln/>
        </p:spPr>
        <p:txBody>
          <a:bodyPr wrap="square" lIns="0" tIns="0" rIns="0" bIns="0" rtlCol="0" anchor="ctr"/>
          <a:lstStyle/>
          <a:p>
            <a:pPr marL="0" indent="0">
              <a:buNone/>
            </a:pPr>
            <a:r>
              <a:rPr lang="en-US" sz="1200" b="1" kern="0" spc="200" dirty="0">
                <a:solidFill>
                  <a:srgbClr val="0078D4"/>
                </a:solidFill>
                <a:latin typeface="Calibri" pitchFamily="34" charset="0"/>
                <a:ea typeface="Calibri" pitchFamily="34" charset="-122"/>
                <a:cs typeface="Calibri" pitchFamily="34" charset="-120"/>
              </a:rPr>
              <a:t>RECOMMENDED CONTROLS</a:t>
            </a:r>
            <a:endParaRPr lang="en-US" sz="1200" dirty="0"/>
          </a:p>
        </p:txBody>
      </p:sp>
      <p:sp>
        <p:nvSpPr>
          <p:cNvPr id="6" name="Shape 3"/>
          <p:cNvSpPr/>
          <p:nvPr/>
        </p:nvSpPr>
        <p:spPr>
          <a:xfrm>
            <a:off x="5577840" y="1847088"/>
            <a:ext cx="6062472" cy="566928"/>
          </a:xfrm>
          <a:prstGeom prst="roundRect">
            <a:avLst>
              <a:gd name="adj" fmla="val 19355"/>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7" name="Shape 4"/>
          <p:cNvSpPr/>
          <p:nvPr/>
        </p:nvSpPr>
        <p:spPr>
          <a:xfrm>
            <a:off x="5760720" y="1938528"/>
            <a:ext cx="384048" cy="384048"/>
          </a:xfrm>
          <a:prstGeom prst="ellipse">
            <a:avLst/>
          </a:prstGeom>
          <a:solidFill>
            <a:srgbClr val="FDEBDD"/>
          </a:solidFill>
          <a:ln w="12700">
            <a:solidFill>
              <a:srgbClr val="FDEBDD"/>
            </a:solidFill>
            <a:prstDash val="solid"/>
          </a:ln>
        </p:spPr>
        <p:txBody>
          <a:bodyPr/>
          <a:lstStyle/>
          <a:p>
            <a:endParaRPr lang="en-JP"/>
          </a:p>
        </p:txBody>
      </p:sp>
      <p:pic>
        <p:nvPicPr>
          <p:cNvPr id="8" name="Image 1" descr="preencoded.png"/>
          <p:cNvPicPr>
            <a:picLocks noChangeAspect="1"/>
          </p:cNvPicPr>
          <p:nvPr/>
        </p:nvPicPr>
        <p:blipFill>
          <a:blip r:embed="rId4"/>
          <a:stretch>
            <a:fillRect/>
          </a:stretch>
        </p:blipFill>
        <p:spPr>
          <a:xfrm>
            <a:off x="5852892" y="2030700"/>
            <a:ext cx="199705" cy="199705"/>
          </a:xfrm>
          <a:prstGeom prst="rect">
            <a:avLst/>
          </a:prstGeom>
        </p:spPr>
      </p:pic>
      <p:sp>
        <p:nvSpPr>
          <p:cNvPr id="9" name="Text 5"/>
          <p:cNvSpPr txBox="1"/>
          <p:nvPr/>
        </p:nvSpPr>
        <p:spPr>
          <a:xfrm>
            <a:off x="6355080" y="1847088"/>
            <a:ext cx="5120640" cy="566928"/>
          </a:xfrm>
          <a:prstGeom prst="rect">
            <a:avLst/>
          </a:prstGeom>
          <a:noFill/>
          <a:ln/>
        </p:spPr>
        <p:txBody>
          <a:bodyPr wrap="square" lIns="0" tIns="0" rIns="0" bIns="0" rtlCol="0" anchor="ctr"/>
          <a:lstStyle/>
          <a:p>
            <a:pPr marL="0" indent="0">
              <a:buNone/>
            </a:pPr>
            <a:r>
              <a:rPr lang="en-US" sz="1700" dirty="0">
                <a:solidFill>
                  <a:srgbClr val="0B1F33"/>
                </a:solidFill>
                <a:latin typeface="Calibri" pitchFamily="34" charset="0"/>
                <a:ea typeface="Calibri" pitchFamily="34" charset="-122"/>
                <a:cs typeface="Calibri" pitchFamily="34" charset="-120"/>
              </a:rPr>
              <a:t>Block malicious macros</a:t>
            </a:r>
            <a:endParaRPr lang="en-US" sz="1700" dirty="0"/>
          </a:p>
        </p:txBody>
      </p:sp>
      <p:sp>
        <p:nvSpPr>
          <p:cNvPr id="10" name="Shape 6"/>
          <p:cNvSpPr/>
          <p:nvPr/>
        </p:nvSpPr>
        <p:spPr>
          <a:xfrm>
            <a:off x="5577840" y="2523744"/>
            <a:ext cx="6062472" cy="566928"/>
          </a:xfrm>
          <a:prstGeom prst="roundRect">
            <a:avLst>
              <a:gd name="adj" fmla="val 19355"/>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1" name="Shape 7"/>
          <p:cNvSpPr/>
          <p:nvPr/>
        </p:nvSpPr>
        <p:spPr>
          <a:xfrm>
            <a:off x="5760720" y="2615184"/>
            <a:ext cx="384048" cy="384048"/>
          </a:xfrm>
          <a:prstGeom prst="ellipse">
            <a:avLst/>
          </a:prstGeom>
          <a:solidFill>
            <a:srgbClr val="FDEBDD"/>
          </a:solidFill>
          <a:ln w="12700">
            <a:solidFill>
              <a:srgbClr val="FDEBDD"/>
            </a:solidFill>
            <a:prstDash val="solid"/>
          </a:ln>
        </p:spPr>
        <p:txBody>
          <a:bodyPr/>
          <a:lstStyle/>
          <a:p>
            <a:endParaRPr lang="en-JP"/>
          </a:p>
        </p:txBody>
      </p:sp>
      <p:pic>
        <p:nvPicPr>
          <p:cNvPr id="12" name="Image 2" descr="preencoded.png"/>
          <p:cNvPicPr>
            <a:picLocks noChangeAspect="1"/>
          </p:cNvPicPr>
          <p:nvPr/>
        </p:nvPicPr>
        <p:blipFill>
          <a:blip r:embed="rId4"/>
          <a:stretch>
            <a:fillRect/>
          </a:stretch>
        </p:blipFill>
        <p:spPr>
          <a:xfrm>
            <a:off x="5852892" y="2707356"/>
            <a:ext cx="199705" cy="199705"/>
          </a:xfrm>
          <a:prstGeom prst="rect">
            <a:avLst/>
          </a:prstGeom>
        </p:spPr>
      </p:pic>
      <p:sp>
        <p:nvSpPr>
          <p:cNvPr id="13" name="Text 8"/>
          <p:cNvSpPr txBox="1"/>
          <p:nvPr/>
        </p:nvSpPr>
        <p:spPr>
          <a:xfrm>
            <a:off x="6355080" y="2523744"/>
            <a:ext cx="5120640" cy="566928"/>
          </a:xfrm>
          <a:prstGeom prst="rect">
            <a:avLst/>
          </a:prstGeom>
          <a:noFill/>
          <a:ln/>
        </p:spPr>
        <p:txBody>
          <a:bodyPr wrap="square" lIns="0" tIns="0" rIns="0" bIns="0" rtlCol="0" anchor="ctr"/>
          <a:lstStyle/>
          <a:p>
            <a:pPr marL="0" indent="0">
              <a:buNone/>
            </a:pPr>
            <a:r>
              <a:rPr lang="en-US" sz="1700" dirty="0">
                <a:solidFill>
                  <a:srgbClr val="0B1F33"/>
                </a:solidFill>
                <a:latin typeface="Calibri" pitchFamily="34" charset="0"/>
                <a:ea typeface="Calibri" pitchFamily="34" charset="-122"/>
                <a:cs typeface="Calibri" pitchFamily="34" charset="-120"/>
              </a:rPr>
              <a:t>Block Office child processes</a:t>
            </a:r>
            <a:endParaRPr lang="en-US" sz="1700" dirty="0"/>
          </a:p>
        </p:txBody>
      </p:sp>
      <p:sp>
        <p:nvSpPr>
          <p:cNvPr id="14" name="Shape 9"/>
          <p:cNvSpPr/>
          <p:nvPr/>
        </p:nvSpPr>
        <p:spPr>
          <a:xfrm>
            <a:off x="5577840" y="3200400"/>
            <a:ext cx="6062472" cy="566928"/>
          </a:xfrm>
          <a:prstGeom prst="roundRect">
            <a:avLst>
              <a:gd name="adj" fmla="val 19355"/>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5" name="Shape 10"/>
          <p:cNvSpPr/>
          <p:nvPr/>
        </p:nvSpPr>
        <p:spPr>
          <a:xfrm>
            <a:off x="5760720" y="3291840"/>
            <a:ext cx="384048" cy="384048"/>
          </a:xfrm>
          <a:prstGeom prst="ellipse">
            <a:avLst/>
          </a:prstGeom>
          <a:solidFill>
            <a:srgbClr val="FDEBDD"/>
          </a:solidFill>
          <a:ln w="12700">
            <a:solidFill>
              <a:srgbClr val="FDEBDD"/>
            </a:solidFill>
            <a:prstDash val="solid"/>
          </a:ln>
        </p:spPr>
        <p:txBody>
          <a:bodyPr/>
          <a:lstStyle/>
          <a:p>
            <a:endParaRPr lang="en-JP"/>
          </a:p>
        </p:txBody>
      </p:sp>
      <p:pic>
        <p:nvPicPr>
          <p:cNvPr id="16" name="Image 3" descr="preencoded.png"/>
          <p:cNvPicPr>
            <a:picLocks noChangeAspect="1"/>
          </p:cNvPicPr>
          <p:nvPr/>
        </p:nvPicPr>
        <p:blipFill>
          <a:blip r:embed="rId4"/>
          <a:stretch>
            <a:fillRect/>
          </a:stretch>
        </p:blipFill>
        <p:spPr>
          <a:xfrm>
            <a:off x="5852892" y="3384012"/>
            <a:ext cx="199705" cy="199705"/>
          </a:xfrm>
          <a:prstGeom prst="rect">
            <a:avLst/>
          </a:prstGeom>
        </p:spPr>
      </p:pic>
      <p:sp>
        <p:nvSpPr>
          <p:cNvPr id="17" name="Text 11"/>
          <p:cNvSpPr txBox="1"/>
          <p:nvPr/>
        </p:nvSpPr>
        <p:spPr>
          <a:xfrm>
            <a:off x="6355080" y="3200400"/>
            <a:ext cx="5120640" cy="566928"/>
          </a:xfrm>
          <a:prstGeom prst="rect">
            <a:avLst/>
          </a:prstGeom>
          <a:noFill/>
          <a:ln/>
        </p:spPr>
        <p:txBody>
          <a:bodyPr wrap="square" lIns="0" tIns="0" rIns="0" bIns="0" rtlCol="0" anchor="ctr"/>
          <a:lstStyle/>
          <a:p>
            <a:pPr marL="0" indent="0">
              <a:buNone/>
            </a:pPr>
            <a:r>
              <a:rPr lang="en-US" sz="1700" dirty="0">
                <a:solidFill>
                  <a:srgbClr val="0B1F33"/>
                </a:solidFill>
                <a:latin typeface="Calibri" pitchFamily="34" charset="0"/>
                <a:ea typeface="Calibri" pitchFamily="34" charset="-122"/>
                <a:cs typeface="Calibri" pitchFamily="34" charset="-120"/>
              </a:rPr>
              <a:t>Restrict script execution</a:t>
            </a:r>
            <a:endParaRPr lang="en-US" sz="1700" dirty="0"/>
          </a:p>
        </p:txBody>
      </p:sp>
      <p:sp>
        <p:nvSpPr>
          <p:cNvPr id="18" name="Shape 12"/>
          <p:cNvSpPr/>
          <p:nvPr/>
        </p:nvSpPr>
        <p:spPr>
          <a:xfrm>
            <a:off x="5577840" y="3877056"/>
            <a:ext cx="6062472" cy="566928"/>
          </a:xfrm>
          <a:prstGeom prst="roundRect">
            <a:avLst>
              <a:gd name="adj" fmla="val 19355"/>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9" name="Shape 13"/>
          <p:cNvSpPr/>
          <p:nvPr/>
        </p:nvSpPr>
        <p:spPr>
          <a:xfrm>
            <a:off x="5760720" y="3968496"/>
            <a:ext cx="384048" cy="384048"/>
          </a:xfrm>
          <a:prstGeom prst="ellipse">
            <a:avLst/>
          </a:prstGeom>
          <a:solidFill>
            <a:srgbClr val="FDEBDD"/>
          </a:solidFill>
          <a:ln w="12700">
            <a:solidFill>
              <a:srgbClr val="FDEBDD"/>
            </a:solidFill>
            <a:prstDash val="solid"/>
          </a:ln>
        </p:spPr>
        <p:txBody>
          <a:bodyPr/>
          <a:lstStyle/>
          <a:p>
            <a:endParaRPr lang="en-JP"/>
          </a:p>
        </p:txBody>
      </p:sp>
      <p:pic>
        <p:nvPicPr>
          <p:cNvPr id="20" name="Image 4" descr="preencoded.png"/>
          <p:cNvPicPr>
            <a:picLocks noChangeAspect="1"/>
          </p:cNvPicPr>
          <p:nvPr/>
        </p:nvPicPr>
        <p:blipFill>
          <a:blip r:embed="rId4"/>
          <a:stretch>
            <a:fillRect/>
          </a:stretch>
        </p:blipFill>
        <p:spPr>
          <a:xfrm>
            <a:off x="5852892" y="4060668"/>
            <a:ext cx="199705" cy="199705"/>
          </a:xfrm>
          <a:prstGeom prst="rect">
            <a:avLst/>
          </a:prstGeom>
        </p:spPr>
      </p:pic>
      <p:sp>
        <p:nvSpPr>
          <p:cNvPr id="21" name="Text 14"/>
          <p:cNvSpPr txBox="1"/>
          <p:nvPr/>
        </p:nvSpPr>
        <p:spPr>
          <a:xfrm>
            <a:off x="6355080" y="3877056"/>
            <a:ext cx="5120640" cy="566928"/>
          </a:xfrm>
          <a:prstGeom prst="rect">
            <a:avLst/>
          </a:prstGeom>
          <a:noFill/>
          <a:ln/>
        </p:spPr>
        <p:txBody>
          <a:bodyPr wrap="square" lIns="0" tIns="0" rIns="0" bIns="0" rtlCol="0" anchor="ctr"/>
          <a:lstStyle/>
          <a:p>
            <a:pPr marL="0" indent="0">
              <a:buNone/>
            </a:pPr>
            <a:r>
              <a:rPr lang="en-US" sz="1700" dirty="0">
                <a:solidFill>
                  <a:srgbClr val="0B1F33"/>
                </a:solidFill>
                <a:latin typeface="Calibri" pitchFamily="34" charset="0"/>
                <a:ea typeface="Calibri" pitchFamily="34" charset="-122"/>
                <a:cs typeface="Calibri" pitchFamily="34" charset="-120"/>
              </a:rPr>
              <a:t>Block credential theft attempts</a:t>
            </a:r>
            <a:endParaRPr lang="en-US" sz="1700" dirty="0"/>
          </a:p>
        </p:txBody>
      </p:sp>
      <p:sp>
        <p:nvSpPr>
          <p:cNvPr id="22" name="Shape 15"/>
          <p:cNvSpPr/>
          <p:nvPr/>
        </p:nvSpPr>
        <p:spPr>
          <a:xfrm>
            <a:off x="5577840" y="4553712"/>
            <a:ext cx="6062472" cy="566928"/>
          </a:xfrm>
          <a:prstGeom prst="roundRect">
            <a:avLst>
              <a:gd name="adj" fmla="val 19355"/>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23" name="Shape 16"/>
          <p:cNvSpPr/>
          <p:nvPr/>
        </p:nvSpPr>
        <p:spPr>
          <a:xfrm>
            <a:off x="5760720" y="4645152"/>
            <a:ext cx="384048" cy="384048"/>
          </a:xfrm>
          <a:prstGeom prst="ellipse">
            <a:avLst/>
          </a:prstGeom>
          <a:solidFill>
            <a:srgbClr val="FDEBDD"/>
          </a:solidFill>
          <a:ln w="12700">
            <a:solidFill>
              <a:srgbClr val="FDEBDD"/>
            </a:solidFill>
            <a:prstDash val="solid"/>
          </a:ln>
        </p:spPr>
        <p:txBody>
          <a:bodyPr/>
          <a:lstStyle/>
          <a:p>
            <a:endParaRPr lang="en-JP"/>
          </a:p>
        </p:txBody>
      </p:sp>
      <p:pic>
        <p:nvPicPr>
          <p:cNvPr id="24" name="Image 5" descr="preencoded.png"/>
          <p:cNvPicPr>
            <a:picLocks noChangeAspect="1"/>
          </p:cNvPicPr>
          <p:nvPr/>
        </p:nvPicPr>
        <p:blipFill>
          <a:blip r:embed="rId4"/>
          <a:stretch>
            <a:fillRect/>
          </a:stretch>
        </p:blipFill>
        <p:spPr>
          <a:xfrm>
            <a:off x="5852892" y="4737324"/>
            <a:ext cx="199705" cy="199705"/>
          </a:xfrm>
          <a:prstGeom prst="rect">
            <a:avLst/>
          </a:prstGeom>
        </p:spPr>
      </p:pic>
      <p:sp>
        <p:nvSpPr>
          <p:cNvPr id="25" name="Text 17"/>
          <p:cNvSpPr txBox="1"/>
          <p:nvPr/>
        </p:nvSpPr>
        <p:spPr>
          <a:xfrm>
            <a:off x="6355080" y="4553712"/>
            <a:ext cx="5120640" cy="566928"/>
          </a:xfrm>
          <a:prstGeom prst="rect">
            <a:avLst/>
          </a:prstGeom>
          <a:noFill/>
          <a:ln/>
        </p:spPr>
        <p:txBody>
          <a:bodyPr wrap="square" lIns="0" tIns="0" rIns="0" bIns="0" rtlCol="0" anchor="ctr"/>
          <a:lstStyle/>
          <a:p>
            <a:pPr marL="0" indent="0">
              <a:buNone/>
            </a:pPr>
            <a:r>
              <a:rPr lang="en-US" sz="1700" dirty="0">
                <a:solidFill>
                  <a:srgbClr val="0B1F33"/>
                </a:solidFill>
                <a:latin typeface="Calibri" pitchFamily="34" charset="0"/>
                <a:ea typeface="Calibri" pitchFamily="34" charset="-122"/>
                <a:cs typeface="Calibri" pitchFamily="34" charset="-120"/>
              </a:rPr>
              <a:t>Control executable files</a:t>
            </a:r>
            <a:endParaRPr lang="en-US" sz="1700" dirty="0"/>
          </a:p>
        </p:txBody>
      </p:sp>
      <p:sp>
        <p:nvSpPr>
          <p:cNvPr id="26" name="Shape 18"/>
          <p:cNvSpPr/>
          <p:nvPr/>
        </p:nvSpPr>
        <p:spPr>
          <a:xfrm>
            <a:off x="548640" y="5394960"/>
            <a:ext cx="11091672" cy="685800"/>
          </a:xfrm>
          <a:prstGeom prst="roundRect">
            <a:avLst>
              <a:gd name="adj" fmla="val 16000"/>
            </a:avLst>
          </a:prstGeom>
          <a:solidFill>
            <a:srgbClr val="0078D4"/>
          </a:solidFill>
          <a:ln w="12700">
            <a:solidFill>
              <a:srgbClr val="0078D4"/>
            </a:solidFill>
            <a:prstDash val="solid"/>
          </a:ln>
        </p:spPr>
        <p:txBody>
          <a:bodyPr/>
          <a:lstStyle/>
          <a:p>
            <a:endParaRPr lang="en-JP"/>
          </a:p>
        </p:txBody>
      </p:sp>
      <p:pic>
        <p:nvPicPr>
          <p:cNvPr id="27" name="Image 6" descr="preencoded.png"/>
          <p:cNvPicPr>
            <a:picLocks noChangeAspect="1"/>
          </p:cNvPicPr>
          <p:nvPr/>
        </p:nvPicPr>
        <p:blipFill>
          <a:blip r:embed="rId5"/>
          <a:stretch>
            <a:fillRect/>
          </a:stretch>
        </p:blipFill>
        <p:spPr>
          <a:xfrm>
            <a:off x="822960" y="5559552"/>
            <a:ext cx="365760" cy="365760"/>
          </a:xfrm>
          <a:prstGeom prst="rect">
            <a:avLst/>
          </a:prstGeom>
        </p:spPr>
      </p:pic>
      <p:sp>
        <p:nvSpPr>
          <p:cNvPr id="28" name="Text 19"/>
          <p:cNvSpPr txBox="1"/>
          <p:nvPr/>
        </p:nvSpPr>
        <p:spPr>
          <a:xfrm>
            <a:off x="1371600" y="5394960"/>
            <a:ext cx="10058400" cy="685800"/>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RESULT   </a:t>
            </a:r>
            <a:r>
              <a:rPr lang="en-US" sz="1800" b="1" dirty="0">
                <a:solidFill>
                  <a:srgbClr val="FFFFFF"/>
                </a:solidFill>
                <a:latin typeface="Calibri" pitchFamily="34" charset="0"/>
                <a:ea typeface="Calibri" pitchFamily="34" charset="-122"/>
                <a:cs typeface="Calibri" pitchFamily="34" charset="-120"/>
              </a:rPr>
              <a:t>Reduced ransomware and malware infections</a:t>
            </a:r>
            <a:endParaRPr lang="en-US" sz="1200" dirty="0"/>
          </a:p>
        </p:txBody>
      </p:sp>
      <p:sp>
        <p:nvSpPr>
          <p:cNvPr id="29"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A6B"/>
                </a:solidFill>
                <a:latin typeface="Calibri"/>
                <a:ea typeface="Calibri"/>
                <a:cs typeface="Calibri"/>
              </a:defRPr>
            </a:lvl1pPr>
          </a:lstStyle>
          <a:p>
            <a:pPr algn="l"/>
            <a:fld id="{F7021451-1387-4CA6-816F-3879F97B5CBC}" type="slidenum">
              <a:rPr lang="en-US" b="0"/>
              <a:t>8</a:t>
            </a:fld>
            <a:endParaRPr lang="en-US"/>
          </a:p>
        </p:txBody>
      </p:sp>
      <p:pic>
        <p:nvPicPr>
          <p:cNvPr id="30" name="Picture 29">
            <a:extLst>
              <a:ext uri="{FF2B5EF4-FFF2-40B4-BE49-F238E27FC236}">
                <a16:creationId xmlns:a16="http://schemas.microsoft.com/office/drawing/2014/main" id="{CF054F3D-7A46-9E30-B775-8F8966D44BD6}"/>
              </a:ext>
            </a:extLst>
          </p:cNvPr>
          <p:cNvPicPr>
            <a:picLocks noChangeAspect="1"/>
          </p:cNvPicPr>
          <p:nvPr/>
        </p:nvPicPr>
        <p:blipFill>
          <a:blip r:embed="rId6"/>
          <a:stretch>
            <a:fillRect/>
          </a:stretch>
        </p:blipFill>
        <p:spPr>
          <a:xfrm>
            <a:off x="10555840" y="94655"/>
            <a:ext cx="1331515" cy="133151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64240" cy="292608"/>
          </a:xfrm>
          <a:prstGeom prst="rect">
            <a:avLst/>
          </a:prstGeom>
          <a:noFill/>
          <a:ln/>
        </p:spPr>
        <p:txBody>
          <a:bodyPr wrap="square" lIns="0" tIns="0" rIns="0" bIns="0" rtlCol="0" anchor="ctr"/>
          <a:lstStyle/>
          <a:p>
            <a:pPr marL="0" indent="0">
              <a:buNone/>
            </a:pPr>
            <a:r>
              <a:rPr lang="en-US" sz="1200" b="1" kern="0" spc="200" dirty="0">
                <a:solidFill>
                  <a:srgbClr val="0078D4"/>
                </a:solidFill>
                <a:latin typeface="Calibri" pitchFamily="34" charset="0"/>
                <a:ea typeface="Calibri" pitchFamily="34" charset="-122"/>
                <a:cs typeface="Calibri" pitchFamily="34" charset="-120"/>
              </a:rPr>
              <a:t>08  ·  SECURE REMOTE ACCESS</a:t>
            </a:r>
            <a:endParaRPr lang="en-US" sz="1200" dirty="0"/>
          </a:p>
        </p:txBody>
      </p:sp>
      <p:sp>
        <p:nvSpPr>
          <p:cNvPr id="3" name="Text 0"/>
          <p:cNvSpPr>
            <a:spLocks noGrp="1"/>
          </p:cNvSpPr>
          <p:nvPr>
            <p:ph type="title" idx="101" hasCustomPrompt="1"/>
          </p:nvPr>
        </p:nvSpPr>
        <p:spPr>
          <a:xfrm>
            <a:off x="548640" y="640080"/>
            <a:ext cx="11064240" cy="731520"/>
          </a:xfrm>
          <a:prstGeom prst="rect">
            <a:avLst/>
          </a:prstGeom>
          <a:noFill/>
          <a:ln/>
        </p:spPr>
        <p:txBody>
          <a:bodyPr wrap="square" lIns="0" tIns="0" rIns="0" bIns="0" rtlCol="0" anchor="ctr"/>
          <a:lstStyle/>
          <a:p>
            <a:pPr marL="0" indent="0" algn="l">
              <a:buNone/>
            </a:pPr>
            <a:r>
              <a:rPr lang="en-US" sz="3600" b="1" dirty="0">
                <a:solidFill>
                  <a:srgbClr val="0B1F33"/>
                </a:solidFill>
                <a:latin typeface="Arial" pitchFamily="34" charset="0"/>
                <a:ea typeface="Arial" pitchFamily="34" charset="-122"/>
                <a:cs typeface="Arial" pitchFamily="34" charset="-120"/>
              </a:rPr>
              <a:t>RDP &amp; Network Hardening</a:t>
            </a:r>
            <a:endParaRPr lang="en-US" sz="3600" dirty="0"/>
          </a:p>
        </p:txBody>
      </p:sp>
      <p:sp>
        <p:nvSpPr>
          <p:cNvPr id="4" name="Shape 2"/>
          <p:cNvSpPr/>
          <p:nvPr/>
        </p:nvSpPr>
        <p:spPr>
          <a:xfrm>
            <a:off x="548640" y="1508760"/>
            <a:ext cx="11091672" cy="1508760"/>
          </a:xfrm>
          <a:prstGeom prst="roundRect">
            <a:avLst>
              <a:gd name="adj" fmla="val 7273"/>
            </a:avLst>
          </a:prstGeom>
          <a:solidFill>
            <a:srgbClr val="EAF3FC"/>
          </a:solidFill>
          <a:ln w="12700">
            <a:solidFill>
              <a:srgbClr val="EAF3FC"/>
            </a:solidFill>
            <a:prstDash val="solid"/>
          </a:ln>
        </p:spPr>
        <p:txBody>
          <a:bodyPr/>
          <a:lstStyle/>
          <a:p>
            <a:endParaRPr lang="en-JP"/>
          </a:p>
        </p:txBody>
      </p:sp>
      <p:sp>
        <p:nvSpPr>
          <p:cNvPr id="5" name="Shape 3"/>
          <p:cNvSpPr/>
          <p:nvPr/>
        </p:nvSpPr>
        <p:spPr>
          <a:xfrm>
            <a:off x="2286000" y="1993392"/>
            <a:ext cx="1828800" cy="0"/>
          </a:xfrm>
          <a:prstGeom prst="line">
            <a:avLst/>
          </a:prstGeom>
          <a:noFill/>
          <a:ln w="31750">
            <a:solidFill>
              <a:srgbClr val="0078D4"/>
            </a:solidFill>
            <a:prstDash val="dash"/>
            <a:tailEnd type="triangle"/>
          </a:ln>
        </p:spPr>
        <p:txBody>
          <a:bodyPr/>
          <a:lstStyle/>
          <a:p>
            <a:endParaRPr lang="en-JP"/>
          </a:p>
        </p:txBody>
      </p:sp>
      <p:sp>
        <p:nvSpPr>
          <p:cNvPr id="6" name="Shape 4"/>
          <p:cNvSpPr/>
          <p:nvPr/>
        </p:nvSpPr>
        <p:spPr>
          <a:xfrm>
            <a:off x="1417320" y="1627632"/>
            <a:ext cx="731520" cy="731520"/>
          </a:xfrm>
          <a:prstGeom prst="ellipse">
            <a:avLst/>
          </a:prstGeom>
          <a:solidFill>
            <a:srgbClr val="0078D4"/>
          </a:solidFill>
          <a:ln w="12700">
            <a:solidFill>
              <a:srgbClr val="0078D4"/>
            </a:solidFill>
            <a:prstDash val="solid"/>
          </a:ln>
        </p:spPr>
        <p:txBody>
          <a:bodyPr/>
          <a:lstStyle/>
          <a:p>
            <a:endParaRPr lang="en-JP"/>
          </a:p>
        </p:txBody>
      </p:sp>
      <p:pic>
        <p:nvPicPr>
          <p:cNvPr id="7" name="Image 0" descr="preencoded.png"/>
          <p:cNvPicPr>
            <a:picLocks noChangeAspect="1"/>
          </p:cNvPicPr>
          <p:nvPr/>
        </p:nvPicPr>
        <p:blipFill>
          <a:blip r:embed="rId3"/>
          <a:stretch>
            <a:fillRect/>
          </a:stretch>
        </p:blipFill>
        <p:spPr>
          <a:xfrm>
            <a:off x="1592885" y="1803197"/>
            <a:ext cx="380390" cy="380390"/>
          </a:xfrm>
          <a:prstGeom prst="rect">
            <a:avLst/>
          </a:prstGeom>
        </p:spPr>
      </p:pic>
      <p:sp>
        <p:nvSpPr>
          <p:cNvPr id="8" name="Text 5"/>
          <p:cNvSpPr txBox="1"/>
          <p:nvPr/>
        </p:nvSpPr>
        <p:spPr>
          <a:xfrm>
            <a:off x="685800" y="2414016"/>
            <a:ext cx="2194560" cy="274320"/>
          </a:xfrm>
          <a:prstGeom prst="rect">
            <a:avLst/>
          </a:prstGeom>
          <a:noFill/>
          <a:ln/>
        </p:spPr>
        <p:txBody>
          <a:bodyPr wrap="square" lIns="0" tIns="0" rIns="0" bIns="0" rtlCol="0" anchor="ctr"/>
          <a:lstStyle/>
          <a:p>
            <a:pPr marL="0" indent="0" algn="ctr">
              <a:buNone/>
            </a:pPr>
            <a:r>
              <a:rPr lang="en-US" sz="1400" b="1" dirty="0">
                <a:solidFill>
                  <a:srgbClr val="0B1F33"/>
                </a:solidFill>
                <a:latin typeface="Calibri" pitchFamily="34" charset="0"/>
                <a:ea typeface="Calibri" pitchFamily="34" charset="-122"/>
                <a:cs typeface="Calibri" pitchFamily="34" charset="-120"/>
              </a:rPr>
              <a:t>Admin Device</a:t>
            </a:r>
            <a:endParaRPr lang="en-US" sz="1400" dirty="0"/>
          </a:p>
        </p:txBody>
      </p:sp>
      <p:sp>
        <p:nvSpPr>
          <p:cNvPr id="9" name="Text 6"/>
          <p:cNvSpPr txBox="1"/>
          <p:nvPr/>
        </p:nvSpPr>
        <p:spPr>
          <a:xfrm>
            <a:off x="685800" y="2688336"/>
            <a:ext cx="2194560" cy="256032"/>
          </a:xfrm>
          <a:prstGeom prst="rect">
            <a:avLst/>
          </a:prstGeom>
          <a:noFill/>
          <a:ln/>
        </p:spPr>
        <p:txBody>
          <a:bodyPr wrap="square" lIns="0" tIns="0" rIns="0" bIns="0" rtlCol="0" anchor="ctr"/>
          <a:lstStyle/>
          <a:p>
            <a:pPr marL="0" indent="0" algn="ctr">
              <a:buNone/>
            </a:pPr>
            <a:r>
              <a:rPr lang="en-US" sz="1200" dirty="0">
                <a:solidFill>
                  <a:srgbClr val="4A5A6B"/>
                </a:solidFill>
                <a:latin typeface="Calibri" pitchFamily="34" charset="0"/>
                <a:ea typeface="Calibri" pitchFamily="34" charset="-122"/>
                <a:cs typeface="Calibri" pitchFamily="34" charset="-120"/>
              </a:rPr>
              <a:t>Managed, hardened</a:t>
            </a:r>
            <a:endParaRPr lang="en-US" sz="1200" dirty="0"/>
          </a:p>
        </p:txBody>
      </p:sp>
      <p:sp>
        <p:nvSpPr>
          <p:cNvPr id="10" name="Shape 7"/>
          <p:cNvSpPr/>
          <p:nvPr/>
        </p:nvSpPr>
        <p:spPr>
          <a:xfrm>
            <a:off x="5120640" y="1993392"/>
            <a:ext cx="1828800" cy="0"/>
          </a:xfrm>
          <a:prstGeom prst="line">
            <a:avLst/>
          </a:prstGeom>
          <a:noFill/>
          <a:ln w="31750">
            <a:solidFill>
              <a:srgbClr val="0078D4"/>
            </a:solidFill>
            <a:prstDash val="dash"/>
            <a:tailEnd type="triangle"/>
          </a:ln>
        </p:spPr>
        <p:txBody>
          <a:bodyPr/>
          <a:lstStyle/>
          <a:p>
            <a:endParaRPr lang="en-JP"/>
          </a:p>
        </p:txBody>
      </p:sp>
      <p:sp>
        <p:nvSpPr>
          <p:cNvPr id="11" name="Shape 8"/>
          <p:cNvSpPr/>
          <p:nvPr/>
        </p:nvSpPr>
        <p:spPr>
          <a:xfrm>
            <a:off x="4251960" y="1627632"/>
            <a:ext cx="731520" cy="731520"/>
          </a:xfrm>
          <a:prstGeom prst="ellipse">
            <a:avLst/>
          </a:prstGeom>
          <a:solidFill>
            <a:srgbClr val="0078D4"/>
          </a:solidFill>
          <a:ln w="12700">
            <a:solidFill>
              <a:srgbClr val="0078D4"/>
            </a:solidFill>
            <a:prstDash val="solid"/>
          </a:ln>
        </p:spPr>
        <p:txBody>
          <a:bodyPr/>
          <a:lstStyle/>
          <a:p>
            <a:endParaRPr lang="en-JP"/>
          </a:p>
        </p:txBody>
      </p:sp>
      <p:pic>
        <p:nvPicPr>
          <p:cNvPr id="12" name="Image 1" descr="preencoded.png"/>
          <p:cNvPicPr>
            <a:picLocks noChangeAspect="1"/>
          </p:cNvPicPr>
          <p:nvPr/>
        </p:nvPicPr>
        <p:blipFill>
          <a:blip r:embed="rId4"/>
          <a:stretch>
            <a:fillRect/>
          </a:stretch>
        </p:blipFill>
        <p:spPr>
          <a:xfrm>
            <a:off x="4427525" y="1803197"/>
            <a:ext cx="380390" cy="380390"/>
          </a:xfrm>
          <a:prstGeom prst="rect">
            <a:avLst/>
          </a:prstGeom>
        </p:spPr>
      </p:pic>
      <p:sp>
        <p:nvSpPr>
          <p:cNvPr id="13" name="Text 9"/>
          <p:cNvSpPr txBox="1"/>
          <p:nvPr/>
        </p:nvSpPr>
        <p:spPr>
          <a:xfrm>
            <a:off x="3520440" y="2414016"/>
            <a:ext cx="2194560" cy="274320"/>
          </a:xfrm>
          <a:prstGeom prst="rect">
            <a:avLst/>
          </a:prstGeom>
          <a:noFill/>
          <a:ln/>
        </p:spPr>
        <p:txBody>
          <a:bodyPr wrap="square" lIns="0" tIns="0" rIns="0" bIns="0" rtlCol="0" anchor="ctr"/>
          <a:lstStyle/>
          <a:p>
            <a:pPr marL="0" indent="0" algn="ctr">
              <a:buNone/>
            </a:pPr>
            <a:r>
              <a:rPr lang="en-US" sz="1400" b="1" dirty="0">
                <a:solidFill>
                  <a:srgbClr val="0B1F33"/>
                </a:solidFill>
                <a:latin typeface="Calibri" pitchFamily="34" charset="0"/>
                <a:ea typeface="Calibri" pitchFamily="34" charset="-122"/>
                <a:cs typeface="Calibri" pitchFamily="34" charset="-120"/>
              </a:rPr>
              <a:t>VPN Gateway</a:t>
            </a:r>
            <a:endParaRPr lang="en-US" sz="1400" dirty="0"/>
          </a:p>
        </p:txBody>
      </p:sp>
      <p:sp>
        <p:nvSpPr>
          <p:cNvPr id="14" name="Text 10"/>
          <p:cNvSpPr txBox="1"/>
          <p:nvPr/>
        </p:nvSpPr>
        <p:spPr>
          <a:xfrm>
            <a:off x="3520440" y="2688336"/>
            <a:ext cx="2194560" cy="256032"/>
          </a:xfrm>
          <a:prstGeom prst="rect">
            <a:avLst/>
          </a:prstGeom>
          <a:noFill/>
          <a:ln/>
        </p:spPr>
        <p:txBody>
          <a:bodyPr wrap="square" lIns="0" tIns="0" rIns="0" bIns="0" rtlCol="0" anchor="ctr"/>
          <a:lstStyle/>
          <a:p>
            <a:pPr marL="0" indent="0" algn="ctr">
              <a:buNone/>
            </a:pPr>
            <a:r>
              <a:rPr lang="en-US" sz="1200" dirty="0">
                <a:solidFill>
                  <a:srgbClr val="4A5A6B"/>
                </a:solidFill>
                <a:latin typeface="Calibri" pitchFamily="34" charset="0"/>
                <a:ea typeface="Calibri" pitchFamily="34" charset="-122"/>
                <a:cs typeface="Calibri" pitchFamily="34" charset="-120"/>
              </a:rPr>
              <a:t>No direct exposure</a:t>
            </a:r>
            <a:endParaRPr lang="en-US" sz="1200" dirty="0"/>
          </a:p>
        </p:txBody>
      </p:sp>
      <p:sp>
        <p:nvSpPr>
          <p:cNvPr id="15" name="Shape 11"/>
          <p:cNvSpPr/>
          <p:nvPr/>
        </p:nvSpPr>
        <p:spPr>
          <a:xfrm>
            <a:off x="7955280" y="1993392"/>
            <a:ext cx="1828800" cy="0"/>
          </a:xfrm>
          <a:prstGeom prst="line">
            <a:avLst/>
          </a:prstGeom>
          <a:noFill/>
          <a:ln w="31750">
            <a:solidFill>
              <a:srgbClr val="0078D4"/>
            </a:solidFill>
            <a:prstDash val="dash"/>
            <a:tailEnd type="triangle"/>
          </a:ln>
        </p:spPr>
        <p:txBody>
          <a:bodyPr/>
          <a:lstStyle/>
          <a:p>
            <a:endParaRPr lang="en-JP"/>
          </a:p>
        </p:txBody>
      </p:sp>
      <p:sp>
        <p:nvSpPr>
          <p:cNvPr id="16" name="Shape 12"/>
          <p:cNvSpPr/>
          <p:nvPr/>
        </p:nvSpPr>
        <p:spPr>
          <a:xfrm>
            <a:off x="7086600" y="1627632"/>
            <a:ext cx="731520" cy="731520"/>
          </a:xfrm>
          <a:prstGeom prst="ellipse">
            <a:avLst/>
          </a:prstGeom>
          <a:solidFill>
            <a:srgbClr val="0078D4"/>
          </a:solidFill>
          <a:ln w="12700">
            <a:solidFill>
              <a:srgbClr val="0078D4"/>
            </a:solidFill>
            <a:prstDash val="solid"/>
          </a:ln>
        </p:spPr>
        <p:txBody>
          <a:bodyPr/>
          <a:lstStyle/>
          <a:p>
            <a:endParaRPr lang="en-JP"/>
          </a:p>
        </p:txBody>
      </p:sp>
      <p:pic>
        <p:nvPicPr>
          <p:cNvPr id="17" name="Image 2" descr="preencoded.png"/>
          <p:cNvPicPr>
            <a:picLocks noChangeAspect="1"/>
          </p:cNvPicPr>
          <p:nvPr/>
        </p:nvPicPr>
        <p:blipFill>
          <a:blip r:embed="rId5"/>
          <a:stretch>
            <a:fillRect/>
          </a:stretch>
        </p:blipFill>
        <p:spPr>
          <a:xfrm>
            <a:off x="7262165" y="1803197"/>
            <a:ext cx="380390" cy="380390"/>
          </a:xfrm>
          <a:prstGeom prst="rect">
            <a:avLst/>
          </a:prstGeom>
        </p:spPr>
      </p:pic>
      <p:sp>
        <p:nvSpPr>
          <p:cNvPr id="18" name="Text 13"/>
          <p:cNvSpPr txBox="1"/>
          <p:nvPr/>
        </p:nvSpPr>
        <p:spPr>
          <a:xfrm>
            <a:off x="6355080" y="2414016"/>
            <a:ext cx="2194560" cy="274320"/>
          </a:xfrm>
          <a:prstGeom prst="rect">
            <a:avLst/>
          </a:prstGeom>
          <a:noFill/>
          <a:ln/>
        </p:spPr>
        <p:txBody>
          <a:bodyPr wrap="square" lIns="0" tIns="0" rIns="0" bIns="0" rtlCol="0" anchor="ctr"/>
          <a:lstStyle/>
          <a:p>
            <a:pPr marL="0" indent="0" algn="ctr">
              <a:buNone/>
            </a:pPr>
            <a:r>
              <a:rPr lang="en-US" sz="1400" b="1" dirty="0">
                <a:solidFill>
                  <a:srgbClr val="0B1F33"/>
                </a:solidFill>
                <a:latin typeface="Calibri" pitchFamily="34" charset="0"/>
                <a:ea typeface="Calibri" pitchFamily="34" charset="-122"/>
                <a:cs typeface="Calibri" pitchFamily="34" charset="-120"/>
              </a:rPr>
              <a:t>MFA Check</a:t>
            </a:r>
            <a:endParaRPr lang="en-US" sz="1400" dirty="0"/>
          </a:p>
        </p:txBody>
      </p:sp>
      <p:sp>
        <p:nvSpPr>
          <p:cNvPr id="19" name="Text 14"/>
          <p:cNvSpPr txBox="1"/>
          <p:nvPr/>
        </p:nvSpPr>
        <p:spPr>
          <a:xfrm>
            <a:off x="6355080" y="2688336"/>
            <a:ext cx="2194560" cy="256032"/>
          </a:xfrm>
          <a:prstGeom prst="rect">
            <a:avLst/>
          </a:prstGeom>
          <a:noFill/>
          <a:ln/>
        </p:spPr>
        <p:txBody>
          <a:bodyPr wrap="square" lIns="0" tIns="0" rIns="0" bIns="0" rtlCol="0" anchor="ctr"/>
          <a:lstStyle/>
          <a:p>
            <a:pPr marL="0" indent="0" algn="ctr">
              <a:buNone/>
            </a:pPr>
            <a:r>
              <a:rPr lang="en-US" sz="1200" dirty="0">
                <a:solidFill>
                  <a:srgbClr val="4A5A6B"/>
                </a:solidFill>
                <a:latin typeface="Calibri" pitchFamily="34" charset="0"/>
                <a:ea typeface="Calibri" pitchFamily="34" charset="-122"/>
                <a:cs typeface="Calibri" pitchFamily="34" charset="-120"/>
              </a:rPr>
              <a:t>Verify identity</a:t>
            </a:r>
            <a:endParaRPr lang="en-US" sz="1200" dirty="0"/>
          </a:p>
        </p:txBody>
      </p:sp>
      <p:sp>
        <p:nvSpPr>
          <p:cNvPr id="20" name="Shape 15"/>
          <p:cNvSpPr/>
          <p:nvPr/>
        </p:nvSpPr>
        <p:spPr>
          <a:xfrm>
            <a:off x="9921240" y="1627632"/>
            <a:ext cx="731520" cy="731520"/>
          </a:xfrm>
          <a:prstGeom prst="ellipse">
            <a:avLst/>
          </a:prstGeom>
          <a:solidFill>
            <a:srgbClr val="0078D4"/>
          </a:solidFill>
          <a:ln w="12700">
            <a:solidFill>
              <a:srgbClr val="0078D4"/>
            </a:solidFill>
            <a:prstDash val="solid"/>
          </a:ln>
        </p:spPr>
        <p:txBody>
          <a:bodyPr/>
          <a:lstStyle/>
          <a:p>
            <a:endParaRPr lang="en-JP"/>
          </a:p>
        </p:txBody>
      </p:sp>
      <p:pic>
        <p:nvPicPr>
          <p:cNvPr id="21" name="Image 3" descr="preencoded.png"/>
          <p:cNvPicPr>
            <a:picLocks noChangeAspect="1"/>
          </p:cNvPicPr>
          <p:nvPr/>
        </p:nvPicPr>
        <p:blipFill>
          <a:blip r:embed="rId6"/>
          <a:stretch>
            <a:fillRect/>
          </a:stretch>
        </p:blipFill>
        <p:spPr>
          <a:xfrm>
            <a:off x="10096805" y="1803197"/>
            <a:ext cx="380390" cy="380390"/>
          </a:xfrm>
          <a:prstGeom prst="rect">
            <a:avLst/>
          </a:prstGeom>
        </p:spPr>
      </p:pic>
      <p:sp>
        <p:nvSpPr>
          <p:cNvPr id="22" name="Text 16"/>
          <p:cNvSpPr txBox="1"/>
          <p:nvPr/>
        </p:nvSpPr>
        <p:spPr>
          <a:xfrm>
            <a:off x="9189720" y="2414016"/>
            <a:ext cx="2194560" cy="274320"/>
          </a:xfrm>
          <a:prstGeom prst="rect">
            <a:avLst/>
          </a:prstGeom>
          <a:noFill/>
          <a:ln/>
        </p:spPr>
        <p:txBody>
          <a:bodyPr wrap="square" lIns="0" tIns="0" rIns="0" bIns="0" rtlCol="0" anchor="ctr"/>
          <a:lstStyle/>
          <a:p>
            <a:pPr marL="0" indent="0" algn="ctr">
              <a:buNone/>
            </a:pPr>
            <a:r>
              <a:rPr lang="en-US" sz="1400" b="1" dirty="0">
                <a:solidFill>
                  <a:srgbClr val="0B1F33"/>
                </a:solidFill>
                <a:latin typeface="Calibri" pitchFamily="34" charset="0"/>
                <a:ea typeface="Calibri" pitchFamily="34" charset="-122"/>
                <a:cs typeface="Calibri" pitchFamily="34" charset="-120"/>
              </a:rPr>
              <a:t>RDP Host</a:t>
            </a:r>
            <a:endParaRPr lang="en-US" sz="1400" dirty="0"/>
          </a:p>
        </p:txBody>
      </p:sp>
      <p:sp>
        <p:nvSpPr>
          <p:cNvPr id="23" name="Text 17"/>
          <p:cNvSpPr txBox="1"/>
          <p:nvPr/>
        </p:nvSpPr>
        <p:spPr>
          <a:xfrm>
            <a:off x="9189720" y="2688336"/>
            <a:ext cx="2194560" cy="256032"/>
          </a:xfrm>
          <a:prstGeom prst="rect">
            <a:avLst/>
          </a:prstGeom>
          <a:noFill/>
          <a:ln/>
        </p:spPr>
        <p:txBody>
          <a:bodyPr wrap="square" lIns="0" tIns="0" rIns="0" bIns="0" rtlCol="0" anchor="ctr"/>
          <a:lstStyle/>
          <a:p>
            <a:pPr marL="0" indent="0" algn="ctr">
              <a:buNone/>
            </a:pPr>
            <a:r>
              <a:rPr lang="en-US" sz="1200" dirty="0">
                <a:solidFill>
                  <a:srgbClr val="4A5A6B"/>
                </a:solidFill>
                <a:latin typeface="Calibri" pitchFamily="34" charset="0"/>
                <a:ea typeface="Calibri" pitchFamily="34" charset="-122"/>
                <a:cs typeface="Calibri" pitchFamily="34" charset="-120"/>
              </a:rPr>
              <a:t>NLA enforced</a:t>
            </a:r>
            <a:endParaRPr lang="en-US" sz="1200" dirty="0"/>
          </a:p>
        </p:txBody>
      </p:sp>
      <p:sp>
        <p:nvSpPr>
          <p:cNvPr id="24" name="Shape 18"/>
          <p:cNvSpPr/>
          <p:nvPr/>
        </p:nvSpPr>
        <p:spPr>
          <a:xfrm>
            <a:off x="548640" y="3246120"/>
            <a:ext cx="5431536" cy="2697480"/>
          </a:xfrm>
          <a:prstGeom prst="roundRect">
            <a:avLst>
              <a:gd name="adj" fmla="val 4068"/>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25" name="Shape 19"/>
          <p:cNvSpPr/>
          <p:nvPr/>
        </p:nvSpPr>
        <p:spPr>
          <a:xfrm>
            <a:off x="777240" y="3401568"/>
            <a:ext cx="457200" cy="457200"/>
          </a:xfrm>
          <a:prstGeom prst="ellipse">
            <a:avLst/>
          </a:prstGeom>
          <a:solidFill>
            <a:srgbClr val="0A1628"/>
          </a:solidFill>
          <a:ln w="12700">
            <a:solidFill>
              <a:srgbClr val="0A1628"/>
            </a:solidFill>
            <a:prstDash val="solid"/>
          </a:ln>
        </p:spPr>
        <p:txBody>
          <a:bodyPr/>
          <a:lstStyle/>
          <a:p>
            <a:endParaRPr lang="en-JP"/>
          </a:p>
        </p:txBody>
      </p:sp>
      <p:pic>
        <p:nvPicPr>
          <p:cNvPr id="26" name="Image 4" descr="preencoded.png"/>
          <p:cNvPicPr>
            <a:picLocks noChangeAspect="1"/>
          </p:cNvPicPr>
          <p:nvPr/>
        </p:nvPicPr>
        <p:blipFill>
          <a:blip r:embed="rId7"/>
          <a:stretch>
            <a:fillRect/>
          </a:stretch>
        </p:blipFill>
        <p:spPr>
          <a:xfrm>
            <a:off x="886968" y="3511296"/>
            <a:ext cx="237744" cy="237744"/>
          </a:xfrm>
          <a:prstGeom prst="rect">
            <a:avLst/>
          </a:prstGeom>
        </p:spPr>
      </p:pic>
      <p:sp>
        <p:nvSpPr>
          <p:cNvPr id="27" name="Text 20"/>
          <p:cNvSpPr txBox="1"/>
          <p:nvPr/>
        </p:nvSpPr>
        <p:spPr>
          <a:xfrm>
            <a:off x="1371600" y="3493008"/>
            <a:ext cx="3657600" cy="274320"/>
          </a:xfrm>
          <a:prstGeom prst="rect">
            <a:avLst/>
          </a:prstGeom>
          <a:noFill/>
          <a:ln/>
        </p:spPr>
        <p:txBody>
          <a:bodyPr wrap="square" lIns="0" tIns="0" rIns="0" bIns="0" rtlCol="0" anchor="ctr"/>
          <a:lstStyle/>
          <a:p>
            <a:pPr marL="0" indent="0">
              <a:buNone/>
            </a:pPr>
            <a:r>
              <a:rPr lang="en-US" sz="1200" b="1" kern="0" spc="200" dirty="0">
                <a:solidFill>
                  <a:srgbClr val="0078D4"/>
                </a:solidFill>
                <a:latin typeface="Calibri" pitchFamily="34" charset="0"/>
                <a:ea typeface="Calibri" pitchFamily="34" charset="-122"/>
                <a:cs typeface="Calibri" pitchFamily="34" charset="-120"/>
              </a:rPr>
              <a:t>RDP HARDENING</a:t>
            </a:r>
            <a:endParaRPr lang="en-US" sz="1200" dirty="0"/>
          </a:p>
        </p:txBody>
      </p:sp>
      <p:pic>
        <p:nvPicPr>
          <p:cNvPr id="28" name="Image 5" descr="preencoded.png"/>
          <p:cNvPicPr>
            <a:picLocks noChangeAspect="1"/>
          </p:cNvPicPr>
          <p:nvPr/>
        </p:nvPicPr>
        <p:blipFill>
          <a:blip r:embed="rId8"/>
          <a:stretch>
            <a:fillRect/>
          </a:stretch>
        </p:blipFill>
        <p:spPr>
          <a:xfrm>
            <a:off x="822960" y="4105656"/>
            <a:ext cx="274320" cy="274320"/>
          </a:xfrm>
          <a:prstGeom prst="rect">
            <a:avLst/>
          </a:prstGeom>
        </p:spPr>
      </p:pic>
      <p:sp>
        <p:nvSpPr>
          <p:cNvPr id="29" name="Text 21"/>
          <p:cNvSpPr txBox="1"/>
          <p:nvPr/>
        </p:nvSpPr>
        <p:spPr>
          <a:xfrm>
            <a:off x="1280160" y="4041648"/>
            <a:ext cx="4480560" cy="402336"/>
          </a:xfrm>
          <a:prstGeom prst="rect">
            <a:avLst/>
          </a:prstGeom>
          <a:noFill/>
          <a:ln/>
        </p:spPr>
        <p:txBody>
          <a:bodyPr wrap="square" lIns="0" tIns="0" rIns="0" bIns="0" rtlCol="0" anchor="ctr"/>
          <a:lstStyle/>
          <a:p>
            <a:pPr marL="0" indent="0">
              <a:buNone/>
            </a:pPr>
            <a:r>
              <a:rPr lang="en-US" sz="1600" dirty="0">
                <a:solidFill>
                  <a:srgbClr val="0B1F33"/>
                </a:solidFill>
                <a:latin typeface="Calibri" pitchFamily="34" charset="0"/>
                <a:ea typeface="Calibri" pitchFamily="34" charset="-122"/>
                <a:cs typeface="Calibri" pitchFamily="34" charset="-120"/>
              </a:rPr>
              <a:t>Network Level Authentication</a:t>
            </a:r>
            <a:endParaRPr lang="en-US" sz="1600" dirty="0"/>
          </a:p>
        </p:txBody>
      </p:sp>
      <p:pic>
        <p:nvPicPr>
          <p:cNvPr id="30" name="Image 6" descr="preencoded.png"/>
          <p:cNvPicPr>
            <a:picLocks noChangeAspect="1"/>
          </p:cNvPicPr>
          <p:nvPr/>
        </p:nvPicPr>
        <p:blipFill>
          <a:blip r:embed="rId8"/>
          <a:stretch>
            <a:fillRect/>
          </a:stretch>
        </p:blipFill>
        <p:spPr>
          <a:xfrm>
            <a:off x="822960" y="4562856"/>
            <a:ext cx="274320" cy="274320"/>
          </a:xfrm>
          <a:prstGeom prst="rect">
            <a:avLst/>
          </a:prstGeom>
        </p:spPr>
      </p:pic>
      <p:sp>
        <p:nvSpPr>
          <p:cNvPr id="31" name="Text 22"/>
          <p:cNvSpPr txBox="1"/>
          <p:nvPr/>
        </p:nvSpPr>
        <p:spPr>
          <a:xfrm>
            <a:off x="1280160" y="4498848"/>
            <a:ext cx="4480560" cy="402336"/>
          </a:xfrm>
          <a:prstGeom prst="rect">
            <a:avLst/>
          </a:prstGeom>
          <a:noFill/>
          <a:ln/>
        </p:spPr>
        <p:txBody>
          <a:bodyPr wrap="square" lIns="0" tIns="0" rIns="0" bIns="0" rtlCol="0" anchor="ctr"/>
          <a:lstStyle/>
          <a:p>
            <a:pPr marL="0" indent="0">
              <a:buNone/>
            </a:pPr>
            <a:r>
              <a:rPr lang="en-US" sz="1600" dirty="0">
                <a:solidFill>
                  <a:srgbClr val="0B1F33"/>
                </a:solidFill>
                <a:latin typeface="Calibri" pitchFamily="34" charset="0"/>
                <a:ea typeface="Calibri" pitchFamily="34" charset="-122"/>
                <a:cs typeface="Calibri" pitchFamily="34" charset="-120"/>
              </a:rPr>
              <a:t>VPN Access Only</a:t>
            </a:r>
            <a:endParaRPr lang="en-US" sz="1600" dirty="0"/>
          </a:p>
        </p:txBody>
      </p:sp>
      <p:pic>
        <p:nvPicPr>
          <p:cNvPr id="32" name="Image 7" descr="preencoded.png"/>
          <p:cNvPicPr>
            <a:picLocks noChangeAspect="1"/>
          </p:cNvPicPr>
          <p:nvPr/>
        </p:nvPicPr>
        <p:blipFill>
          <a:blip r:embed="rId8"/>
          <a:stretch>
            <a:fillRect/>
          </a:stretch>
        </p:blipFill>
        <p:spPr>
          <a:xfrm>
            <a:off x="822960" y="5020056"/>
            <a:ext cx="274320" cy="274320"/>
          </a:xfrm>
          <a:prstGeom prst="rect">
            <a:avLst/>
          </a:prstGeom>
        </p:spPr>
      </p:pic>
      <p:sp>
        <p:nvSpPr>
          <p:cNvPr id="33" name="Text 23"/>
          <p:cNvSpPr txBox="1"/>
          <p:nvPr/>
        </p:nvSpPr>
        <p:spPr>
          <a:xfrm>
            <a:off x="1280160" y="4956048"/>
            <a:ext cx="4480560" cy="402336"/>
          </a:xfrm>
          <a:prstGeom prst="rect">
            <a:avLst/>
          </a:prstGeom>
          <a:noFill/>
          <a:ln/>
        </p:spPr>
        <p:txBody>
          <a:bodyPr wrap="square" lIns="0" tIns="0" rIns="0" bIns="0" rtlCol="0" anchor="ctr"/>
          <a:lstStyle/>
          <a:p>
            <a:pPr marL="0" indent="0">
              <a:buNone/>
            </a:pPr>
            <a:r>
              <a:rPr lang="en-US" sz="1600" dirty="0">
                <a:solidFill>
                  <a:srgbClr val="0B1F33"/>
                </a:solidFill>
                <a:latin typeface="Calibri" pitchFamily="34" charset="0"/>
                <a:ea typeface="Calibri" pitchFamily="34" charset="-122"/>
                <a:cs typeface="Calibri" pitchFamily="34" charset="-120"/>
              </a:rPr>
              <a:t>MFA Enforcement</a:t>
            </a:r>
            <a:endParaRPr lang="en-US" sz="1600" dirty="0"/>
          </a:p>
        </p:txBody>
      </p:sp>
      <p:pic>
        <p:nvPicPr>
          <p:cNvPr id="34" name="Image 8" descr="preencoded.png"/>
          <p:cNvPicPr>
            <a:picLocks noChangeAspect="1"/>
          </p:cNvPicPr>
          <p:nvPr/>
        </p:nvPicPr>
        <p:blipFill>
          <a:blip r:embed="rId8"/>
          <a:stretch>
            <a:fillRect/>
          </a:stretch>
        </p:blipFill>
        <p:spPr>
          <a:xfrm>
            <a:off x="822960" y="5477256"/>
            <a:ext cx="274320" cy="274320"/>
          </a:xfrm>
          <a:prstGeom prst="rect">
            <a:avLst/>
          </a:prstGeom>
        </p:spPr>
      </p:pic>
      <p:sp>
        <p:nvSpPr>
          <p:cNvPr id="35" name="Text 24"/>
          <p:cNvSpPr txBox="1"/>
          <p:nvPr/>
        </p:nvSpPr>
        <p:spPr>
          <a:xfrm>
            <a:off x="1280160" y="5413248"/>
            <a:ext cx="4480560" cy="402336"/>
          </a:xfrm>
          <a:prstGeom prst="rect">
            <a:avLst/>
          </a:prstGeom>
          <a:noFill/>
          <a:ln/>
        </p:spPr>
        <p:txBody>
          <a:bodyPr wrap="square" lIns="0" tIns="0" rIns="0" bIns="0" rtlCol="0" anchor="ctr"/>
          <a:lstStyle/>
          <a:p>
            <a:pPr marL="0" indent="0">
              <a:buNone/>
            </a:pPr>
            <a:r>
              <a:rPr lang="en-US" sz="1600" dirty="0">
                <a:solidFill>
                  <a:srgbClr val="0B1F33"/>
                </a:solidFill>
                <a:latin typeface="Calibri" pitchFamily="34" charset="0"/>
                <a:ea typeface="Calibri" pitchFamily="34" charset="-122"/>
                <a:cs typeface="Calibri" pitchFamily="34" charset="-120"/>
              </a:rPr>
              <a:t>Restricted Administrative Access</a:t>
            </a:r>
            <a:endParaRPr lang="en-US" sz="1600" dirty="0"/>
          </a:p>
        </p:txBody>
      </p:sp>
      <p:sp>
        <p:nvSpPr>
          <p:cNvPr id="36" name="Shape 25"/>
          <p:cNvSpPr/>
          <p:nvPr/>
        </p:nvSpPr>
        <p:spPr>
          <a:xfrm>
            <a:off x="6208776" y="3246120"/>
            <a:ext cx="5431536" cy="2697480"/>
          </a:xfrm>
          <a:prstGeom prst="roundRect">
            <a:avLst>
              <a:gd name="adj" fmla="val 4068"/>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37" name="Shape 26"/>
          <p:cNvSpPr/>
          <p:nvPr/>
        </p:nvSpPr>
        <p:spPr>
          <a:xfrm>
            <a:off x="6437376" y="3401568"/>
            <a:ext cx="457200" cy="457200"/>
          </a:xfrm>
          <a:prstGeom prst="ellipse">
            <a:avLst/>
          </a:prstGeom>
          <a:solidFill>
            <a:srgbClr val="0A1628"/>
          </a:solidFill>
          <a:ln w="12700">
            <a:solidFill>
              <a:srgbClr val="0A1628"/>
            </a:solidFill>
            <a:prstDash val="solid"/>
          </a:ln>
        </p:spPr>
        <p:txBody>
          <a:bodyPr/>
          <a:lstStyle/>
          <a:p>
            <a:endParaRPr lang="en-JP"/>
          </a:p>
        </p:txBody>
      </p:sp>
      <p:pic>
        <p:nvPicPr>
          <p:cNvPr id="38" name="Image 9" descr="preencoded.png"/>
          <p:cNvPicPr>
            <a:picLocks noChangeAspect="1"/>
          </p:cNvPicPr>
          <p:nvPr/>
        </p:nvPicPr>
        <p:blipFill>
          <a:blip r:embed="rId9"/>
          <a:stretch>
            <a:fillRect/>
          </a:stretch>
        </p:blipFill>
        <p:spPr>
          <a:xfrm>
            <a:off x="6547104" y="3511296"/>
            <a:ext cx="237744" cy="237744"/>
          </a:xfrm>
          <a:prstGeom prst="rect">
            <a:avLst/>
          </a:prstGeom>
        </p:spPr>
      </p:pic>
      <p:sp>
        <p:nvSpPr>
          <p:cNvPr id="39" name="Text 27"/>
          <p:cNvSpPr txBox="1"/>
          <p:nvPr/>
        </p:nvSpPr>
        <p:spPr>
          <a:xfrm>
            <a:off x="7031736" y="3493008"/>
            <a:ext cx="3657600" cy="274320"/>
          </a:xfrm>
          <a:prstGeom prst="rect">
            <a:avLst/>
          </a:prstGeom>
          <a:noFill/>
          <a:ln/>
        </p:spPr>
        <p:txBody>
          <a:bodyPr wrap="square" lIns="0" tIns="0" rIns="0" bIns="0" rtlCol="0" anchor="ctr"/>
          <a:lstStyle/>
          <a:p>
            <a:pPr marL="0" indent="0">
              <a:buNone/>
            </a:pPr>
            <a:r>
              <a:rPr lang="en-US" sz="1200" b="1" kern="0" spc="200" dirty="0">
                <a:solidFill>
                  <a:srgbClr val="0078D4"/>
                </a:solidFill>
                <a:latin typeface="Calibri" pitchFamily="34" charset="0"/>
                <a:ea typeface="Calibri" pitchFamily="34" charset="-122"/>
                <a:cs typeface="Calibri" pitchFamily="34" charset="-120"/>
              </a:rPr>
              <a:t>NETWORK HARDENING</a:t>
            </a:r>
            <a:endParaRPr lang="en-US" sz="1200" dirty="0"/>
          </a:p>
        </p:txBody>
      </p:sp>
      <p:pic>
        <p:nvPicPr>
          <p:cNvPr id="40" name="Image 10" descr="preencoded.png"/>
          <p:cNvPicPr>
            <a:picLocks noChangeAspect="1"/>
          </p:cNvPicPr>
          <p:nvPr/>
        </p:nvPicPr>
        <p:blipFill>
          <a:blip r:embed="rId8"/>
          <a:stretch>
            <a:fillRect/>
          </a:stretch>
        </p:blipFill>
        <p:spPr>
          <a:xfrm>
            <a:off x="6483096" y="4105656"/>
            <a:ext cx="274320" cy="274320"/>
          </a:xfrm>
          <a:prstGeom prst="rect">
            <a:avLst/>
          </a:prstGeom>
        </p:spPr>
      </p:pic>
      <p:sp>
        <p:nvSpPr>
          <p:cNvPr id="41" name="Text 28"/>
          <p:cNvSpPr txBox="1"/>
          <p:nvPr/>
        </p:nvSpPr>
        <p:spPr>
          <a:xfrm>
            <a:off x="6940296" y="4041648"/>
            <a:ext cx="4480560" cy="402336"/>
          </a:xfrm>
          <a:prstGeom prst="rect">
            <a:avLst/>
          </a:prstGeom>
          <a:noFill/>
          <a:ln/>
        </p:spPr>
        <p:txBody>
          <a:bodyPr wrap="square" lIns="0" tIns="0" rIns="0" bIns="0" rtlCol="0" anchor="ctr"/>
          <a:lstStyle/>
          <a:p>
            <a:pPr marL="0" indent="0">
              <a:buNone/>
            </a:pPr>
            <a:r>
              <a:rPr lang="en-US" sz="1600" dirty="0">
                <a:solidFill>
                  <a:srgbClr val="0B1F33"/>
                </a:solidFill>
                <a:latin typeface="Calibri" pitchFamily="34" charset="0"/>
                <a:ea typeface="Calibri" pitchFamily="34" charset="-122"/>
                <a:cs typeface="Calibri" pitchFamily="34" charset="-120"/>
              </a:rPr>
              <a:t>Windows Firewall</a:t>
            </a:r>
            <a:endParaRPr lang="en-US" sz="1600" dirty="0"/>
          </a:p>
        </p:txBody>
      </p:sp>
      <p:pic>
        <p:nvPicPr>
          <p:cNvPr id="42" name="Image 11" descr="preencoded.png"/>
          <p:cNvPicPr>
            <a:picLocks noChangeAspect="1"/>
          </p:cNvPicPr>
          <p:nvPr/>
        </p:nvPicPr>
        <p:blipFill>
          <a:blip r:embed="rId8"/>
          <a:stretch>
            <a:fillRect/>
          </a:stretch>
        </p:blipFill>
        <p:spPr>
          <a:xfrm>
            <a:off x="6483096" y="4562856"/>
            <a:ext cx="274320" cy="274320"/>
          </a:xfrm>
          <a:prstGeom prst="rect">
            <a:avLst/>
          </a:prstGeom>
        </p:spPr>
      </p:pic>
      <p:sp>
        <p:nvSpPr>
          <p:cNvPr id="43" name="Text 29"/>
          <p:cNvSpPr txBox="1"/>
          <p:nvPr/>
        </p:nvSpPr>
        <p:spPr>
          <a:xfrm>
            <a:off x="6940296" y="4498848"/>
            <a:ext cx="4480560" cy="402336"/>
          </a:xfrm>
          <a:prstGeom prst="rect">
            <a:avLst/>
          </a:prstGeom>
          <a:noFill/>
          <a:ln/>
        </p:spPr>
        <p:txBody>
          <a:bodyPr wrap="square" lIns="0" tIns="0" rIns="0" bIns="0" rtlCol="0" anchor="ctr"/>
          <a:lstStyle/>
          <a:p>
            <a:pPr marL="0" indent="0">
              <a:buNone/>
            </a:pPr>
            <a:r>
              <a:rPr lang="en-US" sz="1600" dirty="0">
                <a:solidFill>
                  <a:srgbClr val="0B1F33"/>
                </a:solidFill>
                <a:latin typeface="Calibri" pitchFamily="34" charset="0"/>
                <a:ea typeface="Calibri" pitchFamily="34" charset="-122"/>
                <a:cs typeface="Calibri" pitchFamily="34" charset="-120"/>
              </a:rPr>
              <a:t>SMBv1 Disabled</a:t>
            </a:r>
            <a:endParaRPr lang="en-US" sz="1600" dirty="0"/>
          </a:p>
        </p:txBody>
      </p:sp>
      <p:pic>
        <p:nvPicPr>
          <p:cNvPr id="44" name="Image 12" descr="preencoded.png"/>
          <p:cNvPicPr>
            <a:picLocks noChangeAspect="1"/>
          </p:cNvPicPr>
          <p:nvPr/>
        </p:nvPicPr>
        <p:blipFill>
          <a:blip r:embed="rId8"/>
          <a:stretch>
            <a:fillRect/>
          </a:stretch>
        </p:blipFill>
        <p:spPr>
          <a:xfrm>
            <a:off x="6483096" y="5020056"/>
            <a:ext cx="274320" cy="274320"/>
          </a:xfrm>
          <a:prstGeom prst="rect">
            <a:avLst/>
          </a:prstGeom>
        </p:spPr>
      </p:pic>
      <p:sp>
        <p:nvSpPr>
          <p:cNvPr id="45" name="Text 30"/>
          <p:cNvSpPr txBox="1"/>
          <p:nvPr/>
        </p:nvSpPr>
        <p:spPr>
          <a:xfrm>
            <a:off x="6940296" y="4956048"/>
            <a:ext cx="4480560" cy="402336"/>
          </a:xfrm>
          <a:prstGeom prst="rect">
            <a:avLst/>
          </a:prstGeom>
          <a:noFill/>
          <a:ln/>
        </p:spPr>
        <p:txBody>
          <a:bodyPr wrap="square" lIns="0" tIns="0" rIns="0" bIns="0" rtlCol="0" anchor="ctr"/>
          <a:lstStyle/>
          <a:p>
            <a:pPr marL="0" indent="0">
              <a:buNone/>
            </a:pPr>
            <a:r>
              <a:rPr lang="en-US" sz="1600" dirty="0">
                <a:solidFill>
                  <a:srgbClr val="0B1F33"/>
                </a:solidFill>
                <a:latin typeface="Calibri" pitchFamily="34" charset="0"/>
                <a:ea typeface="Calibri" pitchFamily="34" charset="-122"/>
                <a:cs typeface="Calibri" pitchFamily="34" charset="-120"/>
              </a:rPr>
              <a:t>TLS 1.2 / TLS 1.3</a:t>
            </a:r>
            <a:endParaRPr lang="en-US" sz="1600" dirty="0"/>
          </a:p>
        </p:txBody>
      </p:sp>
      <p:pic>
        <p:nvPicPr>
          <p:cNvPr id="46" name="Image 13" descr="preencoded.png"/>
          <p:cNvPicPr>
            <a:picLocks noChangeAspect="1"/>
          </p:cNvPicPr>
          <p:nvPr/>
        </p:nvPicPr>
        <p:blipFill>
          <a:blip r:embed="rId8"/>
          <a:stretch>
            <a:fillRect/>
          </a:stretch>
        </p:blipFill>
        <p:spPr>
          <a:xfrm>
            <a:off x="6483096" y="5477256"/>
            <a:ext cx="274320" cy="274320"/>
          </a:xfrm>
          <a:prstGeom prst="rect">
            <a:avLst/>
          </a:prstGeom>
        </p:spPr>
      </p:pic>
      <p:sp>
        <p:nvSpPr>
          <p:cNvPr id="47" name="Text 31"/>
          <p:cNvSpPr txBox="1"/>
          <p:nvPr/>
        </p:nvSpPr>
        <p:spPr>
          <a:xfrm>
            <a:off x="6940296" y="5413248"/>
            <a:ext cx="4480560" cy="402336"/>
          </a:xfrm>
          <a:prstGeom prst="rect">
            <a:avLst/>
          </a:prstGeom>
          <a:noFill/>
          <a:ln/>
        </p:spPr>
        <p:txBody>
          <a:bodyPr wrap="square" lIns="0" tIns="0" rIns="0" bIns="0" rtlCol="0" anchor="ctr"/>
          <a:lstStyle/>
          <a:p>
            <a:pPr marL="0" indent="0">
              <a:buNone/>
            </a:pPr>
            <a:r>
              <a:rPr lang="en-US" sz="1600" dirty="0">
                <a:solidFill>
                  <a:srgbClr val="0B1F33"/>
                </a:solidFill>
                <a:latin typeface="Calibri" pitchFamily="34" charset="0"/>
                <a:ea typeface="Calibri" pitchFamily="34" charset="-122"/>
                <a:cs typeface="Calibri" pitchFamily="34" charset="-120"/>
              </a:rPr>
              <a:t>Unused Services Disabled</a:t>
            </a:r>
            <a:endParaRPr lang="en-US" sz="1600" dirty="0"/>
          </a:p>
        </p:txBody>
      </p:sp>
      <p:sp>
        <p:nvSpPr>
          <p:cNvPr id="48"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A6B"/>
                </a:solidFill>
                <a:latin typeface="Calibri"/>
                <a:ea typeface="Calibri"/>
                <a:cs typeface="Calibri"/>
              </a:defRPr>
            </a:lvl1pPr>
          </a:lstStyle>
          <a:p>
            <a:pPr algn="l"/>
            <a:fld id="{F7021451-1387-4CA6-816F-3879F97B5CBC}" type="slidenum">
              <a:rPr lang="en-US" b="0"/>
              <a:t>9</a:t>
            </a:fld>
            <a:endParaRPr lang="en-US"/>
          </a:p>
        </p:txBody>
      </p:sp>
      <p:pic>
        <p:nvPicPr>
          <p:cNvPr id="49" name="Picture 48">
            <a:extLst>
              <a:ext uri="{FF2B5EF4-FFF2-40B4-BE49-F238E27FC236}">
                <a16:creationId xmlns:a16="http://schemas.microsoft.com/office/drawing/2014/main" id="{60710EBB-51E4-45D3-9C4A-D7D6FD4D18D5}"/>
              </a:ext>
            </a:extLst>
          </p:cNvPr>
          <p:cNvPicPr>
            <a:picLocks noChangeAspect="1"/>
          </p:cNvPicPr>
          <p:nvPr/>
        </p:nvPicPr>
        <p:blipFill>
          <a:blip r:embed="rId10"/>
          <a:stretch>
            <a:fillRect/>
          </a:stretch>
        </p:blipFill>
        <p:spPr>
          <a:xfrm>
            <a:off x="10555840" y="94655"/>
            <a:ext cx="1331515" cy="13315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64240" cy="292608"/>
          </a:xfrm>
          <a:prstGeom prst="rect">
            <a:avLst/>
          </a:prstGeom>
          <a:noFill/>
          <a:ln/>
        </p:spPr>
        <p:txBody>
          <a:bodyPr wrap="square" lIns="0" tIns="0" rIns="0" bIns="0" rtlCol="0" anchor="ctr"/>
          <a:lstStyle/>
          <a:p>
            <a:pPr marL="0" indent="0">
              <a:buNone/>
            </a:pPr>
            <a:r>
              <a:rPr lang="en-US" sz="1200" b="1" kern="0" spc="200" dirty="0">
                <a:solidFill>
                  <a:srgbClr val="0078D4"/>
                </a:solidFill>
                <a:latin typeface="Calibri" pitchFamily="34" charset="0"/>
                <a:ea typeface="Calibri" pitchFamily="34" charset="-122"/>
                <a:cs typeface="Calibri" pitchFamily="34" charset="-120"/>
              </a:rPr>
              <a:t>09  ·  PREVENT UNAUTHORIZED SOFTWARE EXECUTION</a:t>
            </a:r>
            <a:endParaRPr lang="en-US" sz="1200" dirty="0"/>
          </a:p>
        </p:txBody>
      </p:sp>
      <p:sp>
        <p:nvSpPr>
          <p:cNvPr id="3" name="Text 0"/>
          <p:cNvSpPr>
            <a:spLocks noGrp="1"/>
          </p:cNvSpPr>
          <p:nvPr>
            <p:ph type="title" idx="101" hasCustomPrompt="1"/>
          </p:nvPr>
        </p:nvSpPr>
        <p:spPr>
          <a:xfrm>
            <a:off x="548640" y="640080"/>
            <a:ext cx="11064240" cy="731520"/>
          </a:xfrm>
          <a:prstGeom prst="rect">
            <a:avLst/>
          </a:prstGeom>
          <a:noFill/>
          <a:ln/>
        </p:spPr>
        <p:txBody>
          <a:bodyPr wrap="square" lIns="0" tIns="0" rIns="0" bIns="0" rtlCol="0" anchor="ctr"/>
          <a:lstStyle/>
          <a:p>
            <a:pPr marL="0" indent="0" algn="l">
              <a:buNone/>
            </a:pPr>
            <a:r>
              <a:rPr lang="en-US" sz="3600" b="1" dirty="0">
                <a:solidFill>
                  <a:srgbClr val="0B1F33"/>
                </a:solidFill>
                <a:latin typeface="Arial" pitchFamily="34" charset="0"/>
                <a:ea typeface="Arial" pitchFamily="34" charset="-122"/>
                <a:cs typeface="Arial" pitchFamily="34" charset="-120"/>
              </a:rPr>
              <a:t>Application Control</a:t>
            </a:r>
            <a:endParaRPr lang="en-US" sz="3600" dirty="0"/>
          </a:p>
        </p:txBody>
      </p:sp>
      <p:pic>
        <p:nvPicPr>
          <p:cNvPr id="4" name="Image 0" descr="Allowlisting: approved apps pass through to the device, unknown apps are blocked"/>
          <p:cNvPicPr>
            <a:picLocks noChangeAspect="1"/>
          </p:cNvPicPr>
          <p:nvPr/>
        </p:nvPicPr>
        <p:blipFill>
          <a:blip r:embed="rId3"/>
          <a:stretch>
            <a:fillRect/>
          </a:stretch>
        </p:blipFill>
        <p:spPr>
          <a:xfrm>
            <a:off x="548640" y="1508760"/>
            <a:ext cx="4846320" cy="4434840"/>
          </a:xfrm>
          <a:prstGeom prst="rect">
            <a:avLst/>
          </a:prstGeom>
        </p:spPr>
      </p:pic>
      <p:sp>
        <p:nvSpPr>
          <p:cNvPr id="5" name="Shape 2"/>
          <p:cNvSpPr/>
          <p:nvPr/>
        </p:nvSpPr>
        <p:spPr>
          <a:xfrm>
            <a:off x="5669280" y="1508760"/>
            <a:ext cx="5971032" cy="2148840"/>
          </a:xfrm>
          <a:prstGeom prst="roundRect">
            <a:avLst>
              <a:gd name="adj" fmla="val 5106"/>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6" name="Shape 3"/>
          <p:cNvSpPr/>
          <p:nvPr/>
        </p:nvSpPr>
        <p:spPr>
          <a:xfrm>
            <a:off x="5897880" y="1691640"/>
            <a:ext cx="502920" cy="502920"/>
          </a:xfrm>
          <a:prstGeom prst="ellipse">
            <a:avLst/>
          </a:prstGeom>
          <a:solidFill>
            <a:srgbClr val="0078D4"/>
          </a:solidFill>
          <a:ln w="12700">
            <a:solidFill>
              <a:srgbClr val="0078D4"/>
            </a:solidFill>
            <a:prstDash val="solid"/>
          </a:ln>
        </p:spPr>
        <p:txBody>
          <a:bodyPr/>
          <a:lstStyle/>
          <a:p>
            <a:endParaRPr lang="en-JP"/>
          </a:p>
        </p:txBody>
      </p:sp>
      <p:pic>
        <p:nvPicPr>
          <p:cNvPr id="7" name="Image 1" descr="preencoded.png"/>
          <p:cNvPicPr>
            <a:picLocks noChangeAspect="1"/>
          </p:cNvPicPr>
          <p:nvPr/>
        </p:nvPicPr>
        <p:blipFill>
          <a:blip r:embed="rId4"/>
          <a:stretch>
            <a:fillRect/>
          </a:stretch>
        </p:blipFill>
        <p:spPr>
          <a:xfrm>
            <a:off x="6018581" y="1812341"/>
            <a:ext cx="261518" cy="261518"/>
          </a:xfrm>
          <a:prstGeom prst="rect">
            <a:avLst/>
          </a:prstGeom>
        </p:spPr>
      </p:pic>
      <p:sp>
        <p:nvSpPr>
          <p:cNvPr id="8" name="Text 4"/>
          <p:cNvSpPr txBox="1"/>
          <p:nvPr/>
        </p:nvSpPr>
        <p:spPr>
          <a:xfrm>
            <a:off x="6537960" y="1691640"/>
            <a:ext cx="4937760" cy="502920"/>
          </a:xfrm>
          <a:prstGeom prst="rect">
            <a:avLst/>
          </a:prstGeom>
          <a:noFill/>
          <a:ln/>
        </p:spPr>
        <p:txBody>
          <a:bodyPr wrap="square" lIns="0" tIns="0" rIns="0" bIns="0" rtlCol="0" anchor="ctr"/>
          <a:lstStyle/>
          <a:p>
            <a:pPr marL="0" indent="0">
              <a:buNone/>
            </a:pPr>
            <a:r>
              <a:rPr lang="en-US" sz="1900" b="1" dirty="0">
                <a:solidFill>
                  <a:srgbClr val="0B1F33"/>
                </a:solidFill>
                <a:latin typeface="Arial" pitchFamily="34" charset="0"/>
                <a:ea typeface="Arial" pitchFamily="34" charset="-122"/>
                <a:cs typeface="Arial" pitchFamily="34" charset="-120"/>
              </a:rPr>
              <a:t>Microsoft AppLocker</a:t>
            </a:r>
            <a:r>
              <a:rPr lang="en-US" sz="1400" dirty="0">
                <a:solidFill>
                  <a:srgbClr val="4A5A6B"/>
                </a:solidFill>
                <a:latin typeface="Calibri" pitchFamily="34" charset="0"/>
                <a:ea typeface="Calibri" pitchFamily="34" charset="-122"/>
                <a:cs typeface="Calibri" pitchFamily="34" charset="-120"/>
              </a:rPr>
              <a:t>   Controls:</a:t>
            </a:r>
            <a:endParaRPr lang="en-US" sz="1900" dirty="0"/>
          </a:p>
        </p:txBody>
      </p:sp>
      <p:sp>
        <p:nvSpPr>
          <p:cNvPr id="9" name="Shape 5"/>
          <p:cNvSpPr/>
          <p:nvPr/>
        </p:nvSpPr>
        <p:spPr>
          <a:xfrm>
            <a:off x="5897880" y="2395728"/>
            <a:ext cx="2697480" cy="457200"/>
          </a:xfrm>
          <a:prstGeom prst="roundRect">
            <a:avLst>
              <a:gd name="adj" fmla="val 24000"/>
            </a:avLst>
          </a:prstGeom>
          <a:solidFill>
            <a:srgbClr val="EAF3FC"/>
          </a:solidFill>
          <a:ln w="12700">
            <a:solidFill>
              <a:srgbClr val="EAF3FC"/>
            </a:solidFill>
            <a:prstDash val="solid"/>
          </a:ln>
        </p:spPr>
        <p:txBody>
          <a:bodyPr/>
          <a:lstStyle/>
          <a:p>
            <a:endParaRPr lang="en-JP"/>
          </a:p>
        </p:txBody>
      </p:sp>
      <p:pic>
        <p:nvPicPr>
          <p:cNvPr id="10" name="Image 2" descr="preencoded.png"/>
          <p:cNvPicPr>
            <a:picLocks noChangeAspect="1"/>
          </p:cNvPicPr>
          <p:nvPr/>
        </p:nvPicPr>
        <p:blipFill>
          <a:blip r:embed="rId5"/>
          <a:stretch>
            <a:fillRect/>
          </a:stretch>
        </p:blipFill>
        <p:spPr>
          <a:xfrm>
            <a:off x="6035040" y="2496312"/>
            <a:ext cx="256032" cy="256032"/>
          </a:xfrm>
          <a:prstGeom prst="rect">
            <a:avLst/>
          </a:prstGeom>
        </p:spPr>
      </p:pic>
      <p:sp>
        <p:nvSpPr>
          <p:cNvPr id="11" name="Text 6"/>
          <p:cNvSpPr txBox="1"/>
          <p:nvPr/>
        </p:nvSpPr>
        <p:spPr>
          <a:xfrm>
            <a:off x="6428232" y="2395728"/>
            <a:ext cx="2057400" cy="457200"/>
          </a:xfrm>
          <a:prstGeom prst="rect">
            <a:avLst/>
          </a:prstGeom>
          <a:noFill/>
          <a:ln/>
        </p:spPr>
        <p:txBody>
          <a:bodyPr wrap="square" lIns="0" tIns="0" rIns="0" bIns="0" rtlCol="0" anchor="ctr"/>
          <a:lstStyle/>
          <a:p>
            <a:pPr marL="0" indent="0">
              <a:buNone/>
            </a:pPr>
            <a:r>
              <a:rPr lang="en-US" sz="1500" b="1" dirty="0">
                <a:solidFill>
                  <a:srgbClr val="0B1F33"/>
                </a:solidFill>
                <a:latin typeface="Calibri" pitchFamily="34" charset="0"/>
                <a:ea typeface="Calibri" pitchFamily="34" charset="-122"/>
                <a:cs typeface="Calibri" pitchFamily="34" charset="-120"/>
              </a:rPr>
              <a:t>Executables</a:t>
            </a:r>
            <a:endParaRPr lang="en-US" sz="1500" dirty="0"/>
          </a:p>
        </p:txBody>
      </p:sp>
      <p:sp>
        <p:nvSpPr>
          <p:cNvPr id="12" name="Shape 7"/>
          <p:cNvSpPr/>
          <p:nvPr/>
        </p:nvSpPr>
        <p:spPr>
          <a:xfrm>
            <a:off x="8714232" y="2395728"/>
            <a:ext cx="2697480" cy="457200"/>
          </a:xfrm>
          <a:prstGeom prst="roundRect">
            <a:avLst>
              <a:gd name="adj" fmla="val 24000"/>
            </a:avLst>
          </a:prstGeom>
          <a:solidFill>
            <a:srgbClr val="EAF3FC"/>
          </a:solidFill>
          <a:ln w="12700">
            <a:solidFill>
              <a:srgbClr val="EAF3FC"/>
            </a:solidFill>
            <a:prstDash val="solid"/>
          </a:ln>
        </p:spPr>
        <p:txBody>
          <a:bodyPr/>
          <a:lstStyle/>
          <a:p>
            <a:endParaRPr lang="en-JP"/>
          </a:p>
        </p:txBody>
      </p:sp>
      <p:pic>
        <p:nvPicPr>
          <p:cNvPr id="13" name="Image 3" descr="preencoded.png"/>
          <p:cNvPicPr>
            <a:picLocks noChangeAspect="1"/>
          </p:cNvPicPr>
          <p:nvPr/>
        </p:nvPicPr>
        <p:blipFill>
          <a:blip r:embed="rId6"/>
          <a:stretch>
            <a:fillRect/>
          </a:stretch>
        </p:blipFill>
        <p:spPr>
          <a:xfrm>
            <a:off x="8851392" y="2496312"/>
            <a:ext cx="256032" cy="256032"/>
          </a:xfrm>
          <a:prstGeom prst="rect">
            <a:avLst/>
          </a:prstGeom>
        </p:spPr>
      </p:pic>
      <p:sp>
        <p:nvSpPr>
          <p:cNvPr id="14" name="Text 8"/>
          <p:cNvSpPr txBox="1"/>
          <p:nvPr/>
        </p:nvSpPr>
        <p:spPr>
          <a:xfrm>
            <a:off x="9244584" y="2395728"/>
            <a:ext cx="2057400" cy="457200"/>
          </a:xfrm>
          <a:prstGeom prst="rect">
            <a:avLst/>
          </a:prstGeom>
          <a:noFill/>
          <a:ln/>
        </p:spPr>
        <p:txBody>
          <a:bodyPr wrap="square" lIns="0" tIns="0" rIns="0" bIns="0" rtlCol="0" anchor="ctr"/>
          <a:lstStyle/>
          <a:p>
            <a:pPr marL="0" indent="0">
              <a:buNone/>
            </a:pPr>
            <a:r>
              <a:rPr lang="en-US" sz="1500" b="1" dirty="0">
                <a:solidFill>
                  <a:srgbClr val="0B1F33"/>
                </a:solidFill>
                <a:latin typeface="Calibri" pitchFamily="34" charset="0"/>
                <a:ea typeface="Calibri" pitchFamily="34" charset="-122"/>
                <a:cs typeface="Calibri" pitchFamily="34" charset="-120"/>
              </a:rPr>
              <a:t>Scripts</a:t>
            </a:r>
            <a:endParaRPr lang="en-US" sz="1500" dirty="0"/>
          </a:p>
        </p:txBody>
      </p:sp>
      <p:sp>
        <p:nvSpPr>
          <p:cNvPr id="15" name="Shape 9"/>
          <p:cNvSpPr/>
          <p:nvPr/>
        </p:nvSpPr>
        <p:spPr>
          <a:xfrm>
            <a:off x="5897880" y="2962656"/>
            <a:ext cx="2697480" cy="457200"/>
          </a:xfrm>
          <a:prstGeom prst="roundRect">
            <a:avLst>
              <a:gd name="adj" fmla="val 24000"/>
            </a:avLst>
          </a:prstGeom>
          <a:solidFill>
            <a:srgbClr val="EAF3FC"/>
          </a:solidFill>
          <a:ln w="12700">
            <a:solidFill>
              <a:srgbClr val="EAF3FC"/>
            </a:solidFill>
            <a:prstDash val="solid"/>
          </a:ln>
        </p:spPr>
        <p:txBody>
          <a:bodyPr/>
          <a:lstStyle/>
          <a:p>
            <a:endParaRPr lang="en-JP"/>
          </a:p>
        </p:txBody>
      </p:sp>
      <p:pic>
        <p:nvPicPr>
          <p:cNvPr id="16" name="Image 4" descr="preencoded.png"/>
          <p:cNvPicPr>
            <a:picLocks noChangeAspect="1"/>
          </p:cNvPicPr>
          <p:nvPr/>
        </p:nvPicPr>
        <p:blipFill>
          <a:blip r:embed="rId7"/>
          <a:stretch>
            <a:fillRect/>
          </a:stretch>
        </p:blipFill>
        <p:spPr>
          <a:xfrm>
            <a:off x="6035040" y="3063240"/>
            <a:ext cx="256032" cy="256032"/>
          </a:xfrm>
          <a:prstGeom prst="rect">
            <a:avLst/>
          </a:prstGeom>
        </p:spPr>
      </p:pic>
      <p:sp>
        <p:nvSpPr>
          <p:cNvPr id="17" name="Text 10"/>
          <p:cNvSpPr txBox="1"/>
          <p:nvPr/>
        </p:nvSpPr>
        <p:spPr>
          <a:xfrm>
            <a:off x="6428232" y="2962656"/>
            <a:ext cx="2057400" cy="457200"/>
          </a:xfrm>
          <a:prstGeom prst="rect">
            <a:avLst/>
          </a:prstGeom>
          <a:noFill/>
          <a:ln/>
        </p:spPr>
        <p:txBody>
          <a:bodyPr wrap="square" lIns="0" tIns="0" rIns="0" bIns="0" rtlCol="0" anchor="ctr"/>
          <a:lstStyle/>
          <a:p>
            <a:pPr marL="0" indent="0">
              <a:buNone/>
            </a:pPr>
            <a:r>
              <a:rPr lang="en-US" sz="1500" b="1" dirty="0">
                <a:solidFill>
                  <a:srgbClr val="0B1F33"/>
                </a:solidFill>
                <a:latin typeface="Calibri" pitchFamily="34" charset="0"/>
                <a:ea typeface="Calibri" pitchFamily="34" charset="-122"/>
                <a:cs typeface="Calibri" pitchFamily="34" charset="-120"/>
              </a:rPr>
              <a:t>MSI Installers</a:t>
            </a:r>
            <a:endParaRPr lang="en-US" sz="1500" dirty="0"/>
          </a:p>
        </p:txBody>
      </p:sp>
      <p:sp>
        <p:nvSpPr>
          <p:cNvPr id="18" name="Shape 11"/>
          <p:cNvSpPr/>
          <p:nvPr/>
        </p:nvSpPr>
        <p:spPr>
          <a:xfrm>
            <a:off x="8714232" y="2962656"/>
            <a:ext cx="2697480" cy="457200"/>
          </a:xfrm>
          <a:prstGeom prst="roundRect">
            <a:avLst>
              <a:gd name="adj" fmla="val 24000"/>
            </a:avLst>
          </a:prstGeom>
          <a:solidFill>
            <a:srgbClr val="EAF3FC"/>
          </a:solidFill>
          <a:ln w="12700">
            <a:solidFill>
              <a:srgbClr val="EAF3FC"/>
            </a:solidFill>
            <a:prstDash val="solid"/>
          </a:ln>
        </p:spPr>
        <p:txBody>
          <a:bodyPr/>
          <a:lstStyle/>
          <a:p>
            <a:endParaRPr lang="en-JP"/>
          </a:p>
        </p:txBody>
      </p:sp>
      <p:pic>
        <p:nvPicPr>
          <p:cNvPr id="19" name="Image 5" descr="preencoded.png"/>
          <p:cNvPicPr>
            <a:picLocks noChangeAspect="1"/>
          </p:cNvPicPr>
          <p:nvPr/>
        </p:nvPicPr>
        <p:blipFill>
          <a:blip r:embed="rId8"/>
          <a:stretch>
            <a:fillRect/>
          </a:stretch>
        </p:blipFill>
        <p:spPr>
          <a:xfrm>
            <a:off x="8851392" y="3063240"/>
            <a:ext cx="256032" cy="256032"/>
          </a:xfrm>
          <a:prstGeom prst="rect">
            <a:avLst/>
          </a:prstGeom>
        </p:spPr>
      </p:pic>
      <p:sp>
        <p:nvSpPr>
          <p:cNvPr id="20" name="Text 12"/>
          <p:cNvSpPr txBox="1"/>
          <p:nvPr/>
        </p:nvSpPr>
        <p:spPr>
          <a:xfrm>
            <a:off x="9244584" y="2962656"/>
            <a:ext cx="2057400" cy="457200"/>
          </a:xfrm>
          <a:prstGeom prst="rect">
            <a:avLst/>
          </a:prstGeom>
          <a:noFill/>
          <a:ln/>
        </p:spPr>
        <p:txBody>
          <a:bodyPr wrap="square" lIns="0" tIns="0" rIns="0" bIns="0" rtlCol="0" anchor="ctr"/>
          <a:lstStyle/>
          <a:p>
            <a:pPr marL="0" indent="0">
              <a:buNone/>
            </a:pPr>
            <a:r>
              <a:rPr lang="en-US" sz="1500" b="1" dirty="0">
                <a:solidFill>
                  <a:srgbClr val="0B1F33"/>
                </a:solidFill>
                <a:latin typeface="Calibri" pitchFamily="34" charset="0"/>
                <a:ea typeface="Calibri" pitchFamily="34" charset="-122"/>
                <a:cs typeface="Calibri" pitchFamily="34" charset="-120"/>
              </a:rPr>
              <a:t>DLL Files</a:t>
            </a:r>
            <a:endParaRPr lang="en-US" sz="1500" dirty="0"/>
          </a:p>
        </p:txBody>
      </p:sp>
      <p:sp>
        <p:nvSpPr>
          <p:cNvPr id="21" name="Shape 13"/>
          <p:cNvSpPr/>
          <p:nvPr/>
        </p:nvSpPr>
        <p:spPr>
          <a:xfrm>
            <a:off x="5669280" y="3794760"/>
            <a:ext cx="5971032" cy="1051560"/>
          </a:xfrm>
          <a:prstGeom prst="roundRect">
            <a:avLst>
              <a:gd name="adj" fmla="val 10435"/>
            </a:avLst>
          </a:prstGeom>
          <a:solidFill>
            <a:srgbClr val="0A1628"/>
          </a:solidFill>
          <a:ln w="12700">
            <a:solidFill>
              <a:srgbClr val="0A1628"/>
            </a:solidFill>
            <a:prstDash val="solid"/>
          </a:ln>
        </p:spPr>
        <p:txBody>
          <a:bodyPr/>
          <a:lstStyle/>
          <a:p>
            <a:endParaRPr lang="en-JP"/>
          </a:p>
        </p:txBody>
      </p:sp>
      <p:sp>
        <p:nvSpPr>
          <p:cNvPr id="22" name="Shape 14"/>
          <p:cNvSpPr/>
          <p:nvPr/>
        </p:nvSpPr>
        <p:spPr>
          <a:xfrm>
            <a:off x="5897880" y="4041648"/>
            <a:ext cx="548640" cy="548640"/>
          </a:xfrm>
          <a:prstGeom prst="ellipse">
            <a:avLst/>
          </a:prstGeom>
          <a:solidFill>
            <a:srgbClr val="00B7C3"/>
          </a:solidFill>
          <a:ln w="12700">
            <a:solidFill>
              <a:srgbClr val="00B7C3"/>
            </a:solidFill>
            <a:prstDash val="solid"/>
          </a:ln>
        </p:spPr>
        <p:txBody>
          <a:bodyPr/>
          <a:lstStyle/>
          <a:p>
            <a:endParaRPr lang="en-JP"/>
          </a:p>
        </p:txBody>
      </p:sp>
      <p:pic>
        <p:nvPicPr>
          <p:cNvPr id="23" name="Image 6" descr="preencoded.png"/>
          <p:cNvPicPr>
            <a:picLocks noChangeAspect="1"/>
          </p:cNvPicPr>
          <p:nvPr/>
        </p:nvPicPr>
        <p:blipFill>
          <a:blip r:embed="rId9"/>
          <a:stretch>
            <a:fillRect/>
          </a:stretch>
        </p:blipFill>
        <p:spPr>
          <a:xfrm>
            <a:off x="6029554" y="4173322"/>
            <a:ext cx="285293" cy="285293"/>
          </a:xfrm>
          <a:prstGeom prst="rect">
            <a:avLst/>
          </a:prstGeom>
        </p:spPr>
      </p:pic>
      <p:sp>
        <p:nvSpPr>
          <p:cNvPr id="24" name="Text 15"/>
          <p:cNvSpPr txBox="1"/>
          <p:nvPr/>
        </p:nvSpPr>
        <p:spPr>
          <a:xfrm>
            <a:off x="6629400" y="3913632"/>
            <a:ext cx="4846320" cy="384048"/>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Windows Defender Application Control</a:t>
            </a:r>
            <a:endParaRPr lang="en-US" sz="1700" dirty="0"/>
          </a:p>
        </p:txBody>
      </p:sp>
      <p:sp>
        <p:nvSpPr>
          <p:cNvPr id="25" name="Text 16"/>
          <p:cNvSpPr txBox="1"/>
          <p:nvPr/>
        </p:nvSpPr>
        <p:spPr>
          <a:xfrm>
            <a:off x="6629400" y="4297680"/>
            <a:ext cx="4846320" cy="36576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Enforces trusted application execution.</a:t>
            </a:r>
            <a:endParaRPr lang="en-US" sz="1500" dirty="0"/>
          </a:p>
        </p:txBody>
      </p:sp>
      <p:sp>
        <p:nvSpPr>
          <p:cNvPr id="26" name="Shape 17"/>
          <p:cNvSpPr/>
          <p:nvPr/>
        </p:nvSpPr>
        <p:spPr>
          <a:xfrm>
            <a:off x="5669280" y="4983480"/>
            <a:ext cx="2916936" cy="960120"/>
          </a:xfrm>
          <a:prstGeom prst="roundRect">
            <a:avLst>
              <a:gd name="adj" fmla="val 11429"/>
            </a:avLst>
          </a:prstGeom>
          <a:solidFill>
            <a:srgbClr val="EAF3FC"/>
          </a:solidFill>
          <a:ln w="12700">
            <a:solidFill>
              <a:srgbClr val="EAF3FC"/>
            </a:solidFill>
            <a:prstDash val="solid"/>
          </a:ln>
        </p:spPr>
        <p:txBody>
          <a:bodyPr/>
          <a:lstStyle/>
          <a:p>
            <a:endParaRPr lang="en-JP"/>
          </a:p>
        </p:txBody>
      </p:sp>
      <p:sp>
        <p:nvSpPr>
          <p:cNvPr id="27" name="Shape 18"/>
          <p:cNvSpPr/>
          <p:nvPr/>
        </p:nvSpPr>
        <p:spPr>
          <a:xfrm>
            <a:off x="5852160" y="5230368"/>
            <a:ext cx="457200" cy="457200"/>
          </a:xfrm>
          <a:prstGeom prst="ellipse">
            <a:avLst/>
          </a:prstGeom>
          <a:solidFill>
            <a:srgbClr val="0078D4"/>
          </a:solidFill>
          <a:ln w="12700">
            <a:solidFill>
              <a:srgbClr val="0078D4"/>
            </a:solidFill>
            <a:prstDash val="solid"/>
          </a:ln>
        </p:spPr>
        <p:txBody>
          <a:bodyPr/>
          <a:lstStyle/>
          <a:p>
            <a:endParaRPr lang="en-JP"/>
          </a:p>
        </p:txBody>
      </p:sp>
      <p:pic>
        <p:nvPicPr>
          <p:cNvPr id="28" name="Image 7" descr="preencoded.png"/>
          <p:cNvPicPr>
            <a:picLocks noChangeAspect="1"/>
          </p:cNvPicPr>
          <p:nvPr/>
        </p:nvPicPr>
        <p:blipFill>
          <a:blip r:embed="rId10"/>
          <a:stretch>
            <a:fillRect/>
          </a:stretch>
        </p:blipFill>
        <p:spPr>
          <a:xfrm>
            <a:off x="5961888" y="5340096"/>
            <a:ext cx="237744" cy="237744"/>
          </a:xfrm>
          <a:prstGeom prst="rect">
            <a:avLst/>
          </a:prstGeom>
        </p:spPr>
      </p:pic>
      <p:sp>
        <p:nvSpPr>
          <p:cNvPr id="29" name="Text 19"/>
          <p:cNvSpPr txBox="1"/>
          <p:nvPr/>
        </p:nvSpPr>
        <p:spPr>
          <a:xfrm>
            <a:off x="6446520" y="4983480"/>
            <a:ext cx="2011680" cy="960120"/>
          </a:xfrm>
          <a:prstGeom prst="rect">
            <a:avLst/>
          </a:prstGeom>
          <a:noFill/>
          <a:ln/>
        </p:spPr>
        <p:txBody>
          <a:bodyPr wrap="square" lIns="0" tIns="0" rIns="0" bIns="0" rtlCol="0" anchor="ctr"/>
          <a:lstStyle/>
          <a:p>
            <a:pPr marL="0" indent="0">
              <a:buNone/>
            </a:pPr>
            <a:r>
              <a:rPr lang="en-US" sz="1500" b="1" dirty="0">
                <a:solidFill>
                  <a:srgbClr val="0B1F33"/>
                </a:solidFill>
                <a:latin typeface="Calibri" pitchFamily="34" charset="0"/>
                <a:ea typeface="Calibri" pitchFamily="34" charset="-122"/>
                <a:cs typeface="Calibri" pitchFamily="34" charset="-120"/>
              </a:rPr>
              <a:t>Reduced malware infection</a:t>
            </a:r>
            <a:endParaRPr lang="en-US" sz="1500" dirty="0"/>
          </a:p>
        </p:txBody>
      </p:sp>
      <p:sp>
        <p:nvSpPr>
          <p:cNvPr id="30" name="Shape 20"/>
          <p:cNvSpPr/>
          <p:nvPr/>
        </p:nvSpPr>
        <p:spPr>
          <a:xfrm>
            <a:off x="8723376" y="4983480"/>
            <a:ext cx="2916936" cy="960120"/>
          </a:xfrm>
          <a:prstGeom prst="roundRect">
            <a:avLst>
              <a:gd name="adj" fmla="val 11429"/>
            </a:avLst>
          </a:prstGeom>
          <a:solidFill>
            <a:srgbClr val="EAF3FC"/>
          </a:solidFill>
          <a:ln w="12700">
            <a:solidFill>
              <a:srgbClr val="EAF3FC"/>
            </a:solidFill>
            <a:prstDash val="solid"/>
          </a:ln>
        </p:spPr>
        <p:txBody>
          <a:bodyPr/>
          <a:lstStyle/>
          <a:p>
            <a:endParaRPr lang="en-JP"/>
          </a:p>
        </p:txBody>
      </p:sp>
      <p:sp>
        <p:nvSpPr>
          <p:cNvPr id="31" name="Shape 21"/>
          <p:cNvSpPr/>
          <p:nvPr/>
        </p:nvSpPr>
        <p:spPr>
          <a:xfrm>
            <a:off x="8906256" y="5230368"/>
            <a:ext cx="457200" cy="457200"/>
          </a:xfrm>
          <a:prstGeom prst="ellipse">
            <a:avLst/>
          </a:prstGeom>
          <a:solidFill>
            <a:srgbClr val="0078D4"/>
          </a:solidFill>
          <a:ln w="12700">
            <a:solidFill>
              <a:srgbClr val="0078D4"/>
            </a:solidFill>
            <a:prstDash val="solid"/>
          </a:ln>
        </p:spPr>
        <p:txBody>
          <a:bodyPr/>
          <a:lstStyle/>
          <a:p>
            <a:endParaRPr lang="en-JP"/>
          </a:p>
        </p:txBody>
      </p:sp>
      <p:pic>
        <p:nvPicPr>
          <p:cNvPr id="32" name="Image 8" descr="preencoded.png"/>
          <p:cNvPicPr>
            <a:picLocks noChangeAspect="1"/>
          </p:cNvPicPr>
          <p:nvPr/>
        </p:nvPicPr>
        <p:blipFill>
          <a:blip r:embed="rId10"/>
          <a:stretch>
            <a:fillRect/>
          </a:stretch>
        </p:blipFill>
        <p:spPr>
          <a:xfrm>
            <a:off x="9015984" y="5340096"/>
            <a:ext cx="237744" cy="237744"/>
          </a:xfrm>
          <a:prstGeom prst="rect">
            <a:avLst/>
          </a:prstGeom>
        </p:spPr>
      </p:pic>
      <p:sp>
        <p:nvSpPr>
          <p:cNvPr id="33" name="Text 22"/>
          <p:cNvSpPr txBox="1"/>
          <p:nvPr/>
        </p:nvSpPr>
        <p:spPr>
          <a:xfrm>
            <a:off x="9500616" y="4983480"/>
            <a:ext cx="2011680" cy="960120"/>
          </a:xfrm>
          <a:prstGeom prst="rect">
            <a:avLst/>
          </a:prstGeom>
          <a:noFill/>
          <a:ln/>
        </p:spPr>
        <p:txBody>
          <a:bodyPr wrap="square" lIns="0" tIns="0" rIns="0" bIns="0" rtlCol="0" anchor="ctr"/>
          <a:lstStyle/>
          <a:p>
            <a:pPr marL="0" indent="0">
              <a:buNone/>
            </a:pPr>
            <a:r>
              <a:rPr lang="en-US" sz="1500" b="1" dirty="0">
                <a:solidFill>
                  <a:srgbClr val="0B1F33"/>
                </a:solidFill>
                <a:latin typeface="Calibri" pitchFamily="34" charset="0"/>
                <a:ea typeface="Calibri" pitchFamily="34" charset="-122"/>
                <a:cs typeface="Calibri" pitchFamily="34" charset="-120"/>
              </a:rPr>
              <a:t>Reduced insider threats</a:t>
            </a:r>
            <a:endParaRPr lang="en-US" sz="1500" dirty="0"/>
          </a:p>
        </p:txBody>
      </p:sp>
      <p:sp>
        <p:nvSpPr>
          <p:cNvPr id="34"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A6B"/>
                </a:solidFill>
                <a:latin typeface="Calibri"/>
                <a:ea typeface="Calibri"/>
                <a:cs typeface="Calibri"/>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64240" cy="292608"/>
          </a:xfrm>
          <a:prstGeom prst="rect">
            <a:avLst/>
          </a:prstGeom>
          <a:noFill/>
          <a:ln/>
        </p:spPr>
        <p:txBody>
          <a:bodyPr wrap="square" lIns="0" tIns="0" rIns="0" bIns="0" rtlCol="0" anchor="ctr"/>
          <a:lstStyle/>
          <a:p>
            <a:pPr marL="0" indent="0">
              <a:buNone/>
            </a:pPr>
            <a:r>
              <a:rPr lang="en-US" sz="1200" b="1" kern="0" spc="200" dirty="0">
                <a:solidFill>
                  <a:srgbClr val="00B7C3"/>
                </a:solidFill>
                <a:latin typeface="Calibri" pitchFamily="34" charset="0"/>
                <a:ea typeface="Calibri" pitchFamily="34" charset="-122"/>
                <a:cs typeface="Calibri" pitchFamily="34" charset="-120"/>
              </a:rPr>
              <a:t>10  ·  VISIBILITY ENABLES SECURITY</a:t>
            </a:r>
            <a:endParaRPr lang="en-US" sz="1200" dirty="0"/>
          </a:p>
        </p:txBody>
      </p:sp>
      <p:sp>
        <p:nvSpPr>
          <p:cNvPr id="3" name="Text 0"/>
          <p:cNvSpPr>
            <a:spLocks noGrp="1"/>
          </p:cNvSpPr>
          <p:nvPr>
            <p:ph type="title" idx="101" hasCustomPrompt="1"/>
          </p:nvPr>
        </p:nvSpPr>
        <p:spPr>
          <a:xfrm>
            <a:off x="548640" y="640080"/>
            <a:ext cx="11064240"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Arial" pitchFamily="34" charset="0"/>
                <a:ea typeface="Arial" pitchFamily="34" charset="-122"/>
                <a:cs typeface="Arial" pitchFamily="34" charset="-120"/>
              </a:rPr>
              <a:t>Logging, Monitoring &amp; Detection</a:t>
            </a:r>
            <a:endParaRPr lang="en-US" sz="3600" dirty="0"/>
          </a:p>
        </p:txBody>
      </p:sp>
      <p:pic>
        <p:nvPicPr>
          <p:cNvPr id="4" name="Image 0" descr="Security operations dashboard with event trends and alerts"/>
          <p:cNvPicPr>
            <a:picLocks noChangeAspect="1"/>
          </p:cNvPicPr>
          <p:nvPr/>
        </p:nvPicPr>
        <p:blipFill>
          <a:blip r:embed="rId3"/>
          <a:stretch>
            <a:fillRect/>
          </a:stretch>
        </p:blipFill>
        <p:spPr>
          <a:xfrm>
            <a:off x="548640" y="1554480"/>
            <a:ext cx="5669280" cy="3566160"/>
          </a:xfrm>
          <a:prstGeom prst="rect">
            <a:avLst/>
          </a:prstGeom>
        </p:spPr>
      </p:pic>
      <p:sp>
        <p:nvSpPr>
          <p:cNvPr id="5" name="Text 2"/>
          <p:cNvSpPr txBox="1"/>
          <p:nvPr/>
        </p:nvSpPr>
        <p:spPr>
          <a:xfrm>
            <a:off x="548640" y="5230368"/>
            <a:ext cx="3657600" cy="274320"/>
          </a:xfrm>
          <a:prstGeom prst="rect">
            <a:avLst/>
          </a:prstGeom>
          <a:noFill/>
          <a:ln/>
        </p:spPr>
        <p:txBody>
          <a:bodyPr wrap="square" lIns="0" tIns="0" rIns="0" bIns="0" rtlCol="0" anchor="ctr"/>
          <a:lstStyle/>
          <a:p>
            <a:pPr marL="0" indent="0">
              <a:buNone/>
            </a:pPr>
            <a:r>
              <a:rPr lang="en-US" sz="1200" b="1" kern="0" spc="200" dirty="0">
                <a:solidFill>
                  <a:srgbClr val="00B7C3"/>
                </a:solidFill>
                <a:latin typeface="Calibri" pitchFamily="34" charset="0"/>
                <a:ea typeface="Calibri" pitchFamily="34" charset="-122"/>
                <a:cs typeface="Calibri" pitchFamily="34" charset="-120"/>
              </a:rPr>
              <a:t>INTEGRATE WITH</a:t>
            </a:r>
            <a:endParaRPr lang="en-US" sz="1200" dirty="0"/>
          </a:p>
        </p:txBody>
      </p:sp>
      <p:sp>
        <p:nvSpPr>
          <p:cNvPr id="6" name="Shape 3"/>
          <p:cNvSpPr/>
          <p:nvPr/>
        </p:nvSpPr>
        <p:spPr>
          <a:xfrm>
            <a:off x="548640" y="5559552"/>
            <a:ext cx="1828800" cy="384048"/>
          </a:xfrm>
          <a:prstGeom prst="roundRect">
            <a:avLst>
              <a:gd name="adj" fmla="val 50000"/>
            </a:avLst>
          </a:prstGeom>
          <a:solidFill>
            <a:srgbClr val="13294B"/>
          </a:solidFill>
          <a:ln w="12700">
            <a:solidFill>
              <a:srgbClr val="00B7C3"/>
            </a:solidFill>
            <a:prstDash val="solid"/>
          </a:ln>
        </p:spPr>
        <p:txBody>
          <a:bodyPr/>
          <a:lstStyle/>
          <a:p>
            <a:endParaRPr lang="en-JP"/>
          </a:p>
        </p:txBody>
      </p:sp>
      <p:sp>
        <p:nvSpPr>
          <p:cNvPr id="7" name="Text 4"/>
          <p:cNvSpPr txBox="1"/>
          <p:nvPr/>
        </p:nvSpPr>
        <p:spPr>
          <a:xfrm>
            <a:off x="548640" y="5559552"/>
            <a:ext cx="1828800" cy="384048"/>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Microsoft Sentinel</a:t>
            </a:r>
            <a:endParaRPr lang="en-US" sz="1300" dirty="0"/>
          </a:p>
        </p:txBody>
      </p:sp>
      <p:sp>
        <p:nvSpPr>
          <p:cNvPr id="8" name="Shape 5"/>
          <p:cNvSpPr/>
          <p:nvPr/>
        </p:nvSpPr>
        <p:spPr>
          <a:xfrm>
            <a:off x="2514600" y="5559552"/>
            <a:ext cx="1554480" cy="384048"/>
          </a:xfrm>
          <a:prstGeom prst="roundRect">
            <a:avLst>
              <a:gd name="adj" fmla="val 50000"/>
            </a:avLst>
          </a:prstGeom>
          <a:solidFill>
            <a:srgbClr val="13294B"/>
          </a:solidFill>
          <a:ln w="12700">
            <a:solidFill>
              <a:srgbClr val="00B7C3"/>
            </a:solidFill>
            <a:prstDash val="solid"/>
          </a:ln>
        </p:spPr>
        <p:txBody>
          <a:bodyPr/>
          <a:lstStyle/>
          <a:p>
            <a:endParaRPr lang="en-JP"/>
          </a:p>
        </p:txBody>
      </p:sp>
      <p:sp>
        <p:nvSpPr>
          <p:cNvPr id="9" name="Text 6"/>
          <p:cNvSpPr txBox="1"/>
          <p:nvPr/>
        </p:nvSpPr>
        <p:spPr>
          <a:xfrm>
            <a:off x="2514600" y="5559552"/>
            <a:ext cx="1554480" cy="384048"/>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Azure Monitor</a:t>
            </a:r>
            <a:endParaRPr lang="en-US" sz="1300" dirty="0"/>
          </a:p>
        </p:txBody>
      </p:sp>
      <p:sp>
        <p:nvSpPr>
          <p:cNvPr id="10" name="Shape 7"/>
          <p:cNvSpPr/>
          <p:nvPr/>
        </p:nvSpPr>
        <p:spPr>
          <a:xfrm>
            <a:off x="4206240" y="5559552"/>
            <a:ext cx="1554480" cy="384048"/>
          </a:xfrm>
          <a:prstGeom prst="roundRect">
            <a:avLst>
              <a:gd name="adj" fmla="val 50000"/>
            </a:avLst>
          </a:prstGeom>
          <a:solidFill>
            <a:srgbClr val="13294B"/>
          </a:solidFill>
          <a:ln w="12700">
            <a:solidFill>
              <a:srgbClr val="00B7C3"/>
            </a:solidFill>
            <a:prstDash val="solid"/>
          </a:ln>
        </p:spPr>
        <p:txBody>
          <a:bodyPr/>
          <a:lstStyle/>
          <a:p>
            <a:endParaRPr lang="en-JP"/>
          </a:p>
        </p:txBody>
      </p:sp>
      <p:sp>
        <p:nvSpPr>
          <p:cNvPr id="11" name="Text 8"/>
          <p:cNvSpPr txBox="1"/>
          <p:nvPr/>
        </p:nvSpPr>
        <p:spPr>
          <a:xfrm>
            <a:off x="4206240" y="5559552"/>
            <a:ext cx="1554480" cy="384048"/>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SIEM Platforms</a:t>
            </a:r>
            <a:endParaRPr lang="en-US" sz="1300" dirty="0"/>
          </a:p>
        </p:txBody>
      </p:sp>
      <p:sp>
        <p:nvSpPr>
          <p:cNvPr id="12" name="Text 9"/>
          <p:cNvSpPr txBox="1"/>
          <p:nvPr/>
        </p:nvSpPr>
        <p:spPr>
          <a:xfrm>
            <a:off x="6949440" y="1554480"/>
            <a:ext cx="3657600" cy="274320"/>
          </a:xfrm>
          <a:prstGeom prst="rect">
            <a:avLst/>
          </a:prstGeom>
          <a:noFill/>
          <a:ln/>
        </p:spPr>
        <p:txBody>
          <a:bodyPr wrap="square" lIns="0" tIns="0" rIns="0" bIns="0" rtlCol="0" anchor="ctr"/>
          <a:lstStyle/>
          <a:p>
            <a:pPr marL="0" indent="0">
              <a:buNone/>
            </a:pPr>
            <a:r>
              <a:rPr lang="en-US" sz="1200" b="1" kern="0" spc="200" dirty="0">
                <a:solidFill>
                  <a:srgbClr val="00B7C3"/>
                </a:solidFill>
                <a:latin typeface="Calibri" pitchFamily="34" charset="0"/>
                <a:ea typeface="Calibri" pitchFamily="34" charset="-122"/>
                <a:cs typeface="Calibri" pitchFamily="34" charset="-120"/>
              </a:rPr>
              <a:t>MONITOR</a:t>
            </a:r>
            <a:endParaRPr lang="en-US" sz="1200" dirty="0"/>
          </a:p>
        </p:txBody>
      </p:sp>
      <p:sp>
        <p:nvSpPr>
          <p:cNvPr id="13" name="Shape 10"/>
          <p:cNvSpPr/>
          <p:nvPr/>
        </p:nvSpPr>
        <p:spPr>
          <a:xfrm>
            <a:off x="6949440" y="1901952"/>
            <a:ext cx="4690872" cy="640080"/>
          </a:xfrm>
          <a:prstGeom prst="roundRect">
            <a:avLst>
              <a:gd name="adj" fmla="val 17143"/>
            </a:avLst>
          </a:prstGeom>
          <a:solidFill>
            <a:srgbClr val="13294B"/>
          </a:solidFill>
          <a:ln w="12700">
            <a:solidFill>
              <a:srgbClr val="13294B"/>
            </a:solidFill>
            <a:prstDash val="solid"/>
          </a:ln>
        </p:spPr>
        <p:txBody>
          <a:bodyPr/>
          <a:lstStyle/>
          <a:p>
            <a:endParaRPr lang="en-JP"/>
          </a:p>
        </p:txBody>
      </p:sp>
      <p:sp>
        <p:nvSpPr>
          <p:cNvPr id="14" name="Shape 11"/>
          <p:cNvSpPr/>
          <p:nvPr/>
        </p:nvSpPr>
        <p:spPr>
          <a:xfrm>
            <a:off x="7132320" y="2011680"/>
            <a:ext cx="420624" cy="420624"/>
          </a:xfrm>
          <a:prstGeom prst="ellipse">
            <a:avLst/>
          </a:prstGeom>
          <a:solidFill>
            <a:srgbClr val="0078D4"/>
          </a:solidFill>
          <a:ln w="12700">
            <a:solidFill>
              <a:srgbClr val="0078D4"/>
            </a:solidFill>
            <a:prstDash val="solid"/>
          </a:ln>
        </p:spPr>
        <p:txBody>
          <a:bodyPr/>
          <a:lstStyle/>
          <a:p>
            <a:endParaRPr lang="en-JP"/>
          </a:p>
        </p:txBody>
      </p:sp>
      <p:pic>
        <p:nvPicPr>
          <p:cNvPr id="15" name="Image 1" descr="preencoded.png"/>
          <p:cNvPicPr>
            <a:picLocks noChangeAspect="1"/>
          </p:cNvPicPr>
          <p:nvPr/>
        </p:nvPicPr>
        <p:blipFill>
          <a:blip r:embed="rId4"/>
          <a:stretch>
            <a:fillRect/>
          </a:stretch>
        </p:blipFill>
        <p:spPr>
          <a:xfrm>
            <a:off x="7233270" y="2112630"/>
            <a:ext cx="218724" cy="218724"/>
          </a:xfrm>
          <a:prstGeom prst="rect">
            <a:avLst/>
          </a:prstGeom>
        </p:spPr>
      </p:pic>
      <p:sp>
        <p:nvSpPr>
          <p:cNvPr id="16" name="Text 12"/>
          <p:cNvSpPr txBox="1"/>
          <p:nvPr/>
        </p:nvSpPr>
        <p:spPr>
          <a:xfrm>
            <a:off x="7726680" y="1901952"/>
            <a:ext cx="3749040" cy="64008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Account Logons</a:t>
            </a:r>
            <a:endParaRPr lang="en-US" sz="1700" dirty="0"/>
          </a:p>
        </p:txBody>
      </p:sp>
      <p:sp>
        <p:nvSpPr>
          <p:cNvPr id="17" name="Shape 13"/>
          <p:cNvSpPr/>
          <p:nvPr/>
        </p:nvSpPr>
        <p:spPr>
          <a:xfrm>
            <a:off x="6949440" y="2670048"/>
            <a:ext cx="4690872" cy="640080"/>
          </a:xfrm>
          <a:prstGeom prst="roundRect">
            <a:avLst>
              <a:gd name="adj" fmla="val 17143"/>
            </a:avLst>
          </a:prstGeom>
          <a:solidFill>
            <a:srgbClr val="13294B"/>
          </a:solidFill>
          <a:ln w="12700">
            <a:solidFill>
              <a:srgbClr val="13294B"/>
            </a:solidFill>
            <a:prstDash val="solid"/>
          </a:ln>
        </p:spPr>
        <p:txBody>
          <a:bodyPr/>
          <a:lstStyle/>
          <a:p>
            <a:endParaRPr lang="en-JP"/>
          </a:p>
        </p:txBody>
      </p:sp>
      <p:sp>
        <p:nvSpPr>
          <p:cNvPr id="18" name="Shape 14"/>
          <p:cNvSpPr/>
          <p:nvPr/>
        </p:nvSpPr>
        <p:spPr>
          <a:xfrm>
            <a:off x="7132320" y="2779776"/>
            <a:ext cx="420624" cy="420624"/>
          </a:xfrm>
          <a:prstGeom prst="ellipse">
            <a:avLst/>
          </a:prstGeom>
          <a:solidFill>
            <a:srgbClr val="0078D4"/>
          </a:solidFill>
          <a:ln w="12700">
            <a:solidFill>
              <a:srgbClr val="0078D4"/>
            </a:solidFill>
            <a:prstDash val="solid"/>
          </a:ln>
        </p:spPr>
        <p:txBody>
          <a:bodyPr/>
          <a:lstStyle/>
          <a:p>
            <a:endParaRPr lang="en-JP"/>
          </a:p>
        </p:txBody>
      </p:sp>
      <p:pic>
        <p:nvPicPr>
          <p:cNvPr id="19" name="Image 2" descr="preencoded.png"/>
          <p:cNvPicPr>
            <a:picLocks noChangeAspect="1"/>
          </p:cNvPicPr>
          <p:nvPr/>
        </p:nvPicPr>
        <p:blipFill>
          <a:blip r:embed="rId5"/>
          <a:stretch>
            <a:fillRect/>
          </a:stretch>
        </p:blipFill>
        <p:spPr>
          <a:xfrm>
            <a:off x="7233270" y="2880726"/>
            <a:ext cx="218724" cy="218724"/>
          </a:xfrm>
          <a:prstGeom prst="rect">
            <a:avLst/>
          </a:prstGeom>
        </p:spPr>
      </p:pic>
      <p:sp>
        <p:nvSpPr>
          <p:cNvPr id="20" name="Text 15"/>
          <p:cNvSpPr txBox="1"/>
          <p:nvPr/>
        </p:nvSpPr>
        <p:spPr>
          <a:xfrm>
            <a:off x="7726680" y="2670048"/>
            <a:ext cx="3749040" cy="64008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Privilege Escalation</a:t>
            </a:r>
            <a:endParaRPr lang="en-US" sz="1700" dirty="0"/>
          </a:p>
        </p:txBody>
      </p:sp>
      <p:sp>
        <p:nvSpPr>
          <p:cNvPr id="21" name="Shape 16"/>
          <p:cNvSpPr/>
          <p:nvPr/>
        </p:nvSpPr>
        <p:spPr>
          <a:xfrm>
            <a:off x="6949440" y="3438144"/>
            <a:ext cx="4690872" cy="640080"/>
          </a:xfrm>
          <a:prstGeom prst="roundRect">
            <a:avLst>
              <a:gd name="adj" fmla="val 17143"/>
            </a:avLst>
          </a:prstGeom>
          <a:solidFill>
            <a:srgbClr val="13294B"/>
          </a:solidFill>
          <a:ln w="12700">
            <a:solidFill>
              <a:srgbClr val="13294B"/>
            </a:solidFill>
            <a:prstDash val="solid"/>
          </a:ln>
        </p:spPr>
        <p:txBody>
          <a:bodyPr/>
          <a:lstStyle/>
          <a:p>
            <a:endParaRPr lang="en-JP"/>
          </a:p>
        </p:txBody>
      </p:sp>
      <p:sp>
        <p:nvSpPr>
          <p:cNvPr id="22" name="Shape 17"/>
          <p:cNvSpPr/>
          <p:nvPr/>
        </p:nvSpPr>
        <p:spPr>
          <a:xfrm>
            <a:off x="7132320" y="3547872"/>
            <a:ext cx="420624" cy="420624"/>
          </a:xfrm>
          <a:prstGeom prst="ellipse">
            <a:avLst/>
          </a:prstGeom>
          <a:solidFill>
            <a:srgbClr val="0078D4"/>
          </a:solidFill>
          <a:ln w="12700">
            <a:solidFill>
              <a:srgbClr val="0078D4"/>
            </a:solidFill>
            <a:prstDash val="solid"/>
          </a:ln>
        </p:spPr>
        <p:txBody>
          <a:bodyPr/>
          <a:lstStyle/>
          <a:p>
            <a:endParaRPr lang="en-JP"/>
          </a:p>
        </p:txBody>
      </p:sp>
      <p:pic>
        <p:nvPicPr>
          <p:cNvPr id="23" name="Image 3" descr="preencoded.png"/>
          <p:cNvPicPr>
            <a:picLocks noChangeAspect="1"/>
          </p:cNvPicPr>
          <p:nvPr/>
        </p:nvPicPr>
        <p:blipFill>
          <a:blip r:embed="rId6"/>
          <a:stretch>
            <a:fillRect/>
          </a:stretch>
        </p:blipFill>
        <p:spPr>
          <a:xfrm>
            <a:off x="7233270" y="3648822"/>
            <a:ext cx="218724" cy="218724"/>
          </a:xfrm>
          <a:prstGeom prst="rect">
            <a:avLst/>
          </a:prstGeom>
        </p:spPr>
      </p:pic>
      <p:sp>
        <p:nvSpPr>
          <p:cNvPr id="24" name="Text 18"/>
          <p:cNvSpPr txBox="1"/>
          <p:nvPr/>
        </p:nvSpPr>
        <p:spPr>
          <a:xfrm>
            <a:off x="7726680" y="3438144"/>
            <a:ext cx="3749040" cy="64008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Group Membership Changes</a:t>
            </a:r>
            <a:endParaRPr lang="en-US" sz="1700" dirty="0"/>
          </a:p>
        </p:txBody>
      </p:sp>
      <p:sp>
        <p:nvSpPr>
          <p:cNvPr id="25" name="Shape 19"/>
          <p:cNvSpPr/>
          <p:nvPr/>
        </p:nvSpPr>
        <p:spPr>
          <a:xfrm>
            <a:off x="6949440" y="4206240"/>
            <a:ext cx="4690872" cy="640080"/>
          </a:xfrm>
          <a:prstGeom prst="roundRect">
            <a:avLst>
              <a:gd name="adj" fmla="val 17143"/>
            </a:avLst>
          </a:prstGeom>
          <a:solidFill>
            <a:srgbClr val="13294B"/>
          </a:solidFill>
          <a:ln w="12700">
            <a:solidFill>
              <a:srgbClr val="13294B"/>
            </a:solidFill>
            <a:prstDash val="solid"/>
          </a:ln>
        </p:spPr>
        <p:txBody>
          <a:bodyPr/>
          <a:lstStyle/>
          <a:p>
            <a:endParaRPr lang="en-JP"/>
          </a:p>
        </p:txBody>
      </p:sp>
      <p:sp>
        <p:nvSpPr>
          <p:cNvPr id="26" name="Shape 20"/>
          <p:cNvSpPr/>
          <p:nvPr/>
        </p:nvSpPr>
        <p:spPr>
          <a:xfrm>
            <a:off x="7132320" y="4315968"/>
            <a:ext cx="420624" cy="420624"/>
          </a:xfrm>
          <a:prstGeom prst="ellipse">
            <a:avLst/>
          </a:prstGeom>
          <a:solidFill>
            <a:srgbClr val="0078D4"/>
          </a:solidFill>
          <a:ln w="12700">
            <a:solidFill>
              <a:srgbClr val="0078D4"/>
            </a:solidFill>
            <a:prstDash val="solid"/>
          </a:ln>
        </p:spPr>
        <p:txBody>
          <a:bodyPr/>
          <a:lstStyle/>
          <a:p>
            <a:endParaRPr lang="en-JP"/>
          </a:p>
        </p:txBody>
      </p:sp>
      <p:pic>
        <p:nvPicPr>
          <p:cNvPr id="27" name="Image 4" descr="preencoded.png"/>
          <p:cNvPicPr>
            <a:picLocks noChangeAspect="1"/>
          </p:cNvPicPr>
          <p:nvPr/>
        </p:nvPicPr>
        <p:blipFill>
          <a:blip r:embed="rId7"/>
          <a:stretch>
            <a:fillRect/>
          </a:stretch>
        </p:blipFill>
        <p:spPr>
          <a:xfrm>
            <a:off x="7233270" y="4416918"/>
            <a:ext cx="218724" cy="218724"/>
          </a:xfrm>
          <a:prstGeom prst="rect">
            <a:avLst/>
          </a:prstGeom>
        </p:spPr>
      </p:pic>
      <p:sp>
        <p:nvSpPr>
          <p:cNvPr id="28" name="Text 21"/>
          <p:cNvSpPr txBox="1"/>
          <p:nvPr/>
        </p:nvSpPr>
        <p:spPr>
          <a:xfrm>
            <a:off x="7726680" y="4206240"/>
            <a:ext cx="3749040" cy="64008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PowerShell Activities</a:t>
            </a:r>
            <a:endParaRPr lang="en-US" sz="1700" dirty="0"/>
          </a:p>
        </p:txBody>
      </p:sp>
      <p:sp>
        <p:nvSpPr>
          <p:cNvPr id="29" name="Shape 22"/>
          <p:cNvSpPr/>
          <p:nvPr/>
        </p:nvSpPr>
        <p:spPr>
          <a:xfrm>
            <a:off x="6949440" y="4974336"/>
            <a:ext cx="4690872" cy="640080"/>
          </a:xfrm>
          <a:prstGeom prst="roundRect">
            <a:avLst>
              <a:gd name="adj" fmla="val 17143"/>
            </a:avLst>
          </a:prstGeom>
          <a:solidFill>
            <a:srgbClr val="13294B"/>
          </a:solidFill>
          <a:ln w="12700">
            <a:solidFill>
              <a:srgbClr val="13294B"/>
            </a:solidFill>
            <a:prstDash val="solid"/>
          </a:ln>
        </p:spPr>
        <p:txBody>
          <a:bodyPr/>
          <a:lstStyle/>
          <a:p>
            <a:endParaRPr lang="en-JP"/>
          </a:p>
        </p:txBody>
      </p:sp>
      <p:sp>
        <p:nvSpPr>
          <p:cNvPr id="30" name="Shape 23"/>
          <p:cNvSpPr/>
          <p:nvPr/>
        </p:nvSpPr>
        <p:spPr>
          <a:xfrm>
            <a:off x="7132320" y="5084064"/>
            <a:ext cx="420624" cy="420624"/>
          </a:xfrm>
          <a:prstGeom prst="ellipse">
            <a:avLst/>
          </a:prstGeom>
          <a:solidFill>
            <a:srgbClr val="0078D4"/>
          </a:solidFill>
          <a:ln w="12700">
            <a:solidFill>
              <a:srgbClr val="0078D4"/>
            </a:solidFill>
            <a:prstDash val="solid"/>
          </a:ln>
        </p:spPr>
        <p:txBody>
          <a:bodyPr/>
          <a:lstStyle/>
          <a:p>
            <a:endParaRPr lang="en-JP"/>
          </a:p>
        </p:txBody>
      </p:sp>
      <p:pic>
        <p:nvPicPr>
          <p:cNvPr id="31" name="Image 5" descr="preencoded.png"/>
          <p:cNvPicPr>
            <a:picLocks noChangeAspect="1"/>
          </p:cNvPicPr>
          <p:nvPr/>
        </p:nvPicPr>
        <p:blipFill>
          <a:blip r:embed="rId8"/>
          <a:stretch>
            <a:fillRect/>
          </a:stretch>
        </p:blipFill>
        <p:spPr>
          <a:xfrm>
            <a:off x="7233270" y="5185014"/>
            <a:ext cx="218724" cy="218724"/>
          </a:xfrm>
          <a:prstGeom prst="rect">
            <a:avLst/>
          </a:prstGeom>
        </p:spPr>
      </p:pic>
      <p:sp>
        <p:nvSpPr>
          <p:cNvPr id="32" name="Text 24"/>
          <p:cNvSpPr txBox="1"/>
          <p:nvPr/>
        </p:nvSpPr>
        <p:spPr>
          <a:xfrm>
            <a:off x="7726680" y="4974336"/>
            <a:ext cx="3749040" cy="64008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Security Events</a:t>
            </a:r>
            <a:endParaRPr lang="en-US" sz="1700" dirty="0"/>
          </a:p>
        </p:txBody>
      </p:sp>
      <p:sp>
        <p:nvSpPr>
          <p:cNvPr id="33"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3C8"/>
                </a:solidFill>
                <a:latin typeface="Calibri"/>
                <a:ea typeface="Calibri"/>
                <a:cs typeface="Calibri"/>
              </a:defRPr>
            </a:lvl1pPr>
          </a:lstStyle>
          <a:p>
            <a:pPr algn="l"/>
            <a:fld id="{F7021451-1387-4CA6-816F-3879F97B5CBC}" type="slidenum">
              <a:rPr lang="en-US" b="0"/>
              <a:t>11</a:t>
            </a:fld>
            <a:endParaRPr lang="en-US"/>
          </a:p>
        </p:txBody>
      </p:sp>
      <p:pic>
        <p:nvPicPr>
          <p:cNvPr id="34" name="Picture 33">
            <a:extLst>
              <a:ext uri="{FF2B5EF4-FFF2-40B4-BE49-F238E27FC236}">
                <a16:creationId xmlns:a16="http://schemas.microsoft.com/office/drawing/2014/main" id="{C4E1182A-5C8E-0EDE-EC95-36D0081BAD07}"/>
              </a:ext>
            </a:extLst>
          </p:cNvPr>
          <p:cNvPicPr>
            <a:picLocks noChangeAspect="1"/>
          </p:cNvPicPr>
          <p:nvPr/>
        </p:nvPicPr>
        <p:blipFill>
          <a:blip r:embed="rId9"/>
          <a:stretch>
            <a:fillRect/>
          </a:stretch>
        </p:blipFill>
        <p:spPr>
          <a:xfrm>
            <a:off x="10555840" y="94655"/>
            <a:ext cx="1331515" cy="133151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64240" cy="292608"/>
          </a:xfrm>
          <a:prstGeom prst="rect">
            <a:avLst/>
          </a:prstGeom>
          <a:noFill/>
          <a:ln/>
        </p:spPr>
        <p:txBody>
          <a:bodyPr wrap="square" lIns="0" tIns="0" rIns="0" bIns="0" rtlCol="0" anchor="ctr"/>
          <a:lstStyle/>
          <a:p>
            <a:pPr marL="0" indent="0">
              <a:buNone/>
            </a:pPr>
            <a:r>
              <a:rPr lang="en-US" sz="1200" b="1" kern="0" spc="200" dirty="0">
                <a:solidFill>
                  <a:srgbClr val="0078D4"/>
                </a:solidFill>
                <a:latin typeface="Calibri" pitchFamily="34" charset="0"/>
                <a:ea typeface="Calibri" pitchFamily="34" charset="-122"/>
                <a:cs typeface="Calibri" pitchFamily="34" charset="-120"/>
              </a:rPr>
              <a:t>11  ·  ENCRYPT CRITICAL DATA</a:t>
            </a:r>
            <a:endParaRPr lang="en-US" sz="1200" dirty="0"/>
          </a:p>
        </p:txBody>
      </p:sp>
      <p:sp>
        <p:nvSpPr>
          <p:cNvPr id="3" name="Text 0"/>
          <p:cNvSpPr>
            <a:spLocks noGrp="1"/>
          </p:cNvSpPr>
          <p:nvPr>
            <p:ph type="title" idx="101" hasCustomPrompt="1"/>
          </p:nvPr>
        </p:nvSpPr>
        <p:spPr>
          <a:xfrm>
            <a:off x="548640" y="640080"/>
            <a:ext cx="11064240" cy="731520"/>
          </a:xfrm>
          <a:prstGeom prst="rect">
            <a:avLst/>
          </a:prstGeom>
          <a:noFill/>
          <a:ln/>
        </p:spPr>
        <p:txBody>
          <a:bodyPr wrap="square" lIns="0" tIns="0" rIns="0" bIns="0" rtlCol="0" anchor="ctr"/>
          <a:lstStyle/>
          <a:p>
            <a:pPr marL="0" indent="0" algn="l">
              <a:buNone/>
            </a:pPr>
            <a:r>
              <a:rPr lang="en-US" sz="3600" b="1" dirty="0">
                <a:solidFill>
                  <a:srgbClr val="0B1F33"/>
                </a:solidFill>
                <a:latin typeface="Arial" pitchFamily="34" charset="0"/>
                <a:ea typeface="Arial" pitchFamily="34" charset="-122"/>
                <a:cs typeface="Arial" pitchFamily="34" charset="-120"/>
              </a:rPr>
              <a:t>Data Protection with BitLocker</a:t>
            </a:r>
            <a:endParaRPr lang="en-US" sz="3600" dirty="0"/>
          </a:p>
        </p:txBody>
      </p:sp>
      <p:sp>
        <p:nvSpPr>
          <p:cNvPr id="4" name="Text 2"/>
          <p:cNvSpPr txBox="1"/>
          <p:nvPr/>
        </p:nvSpPr>
        <p:spPr>
          <a:xfrm>
            <a:off x="548640" y="1508760"/>
            <a:ext cx="3657600" cy="274320"/>
          </a:xfrm>
          <a:prstGeom prst="rect">
            <a:avLst/>
          </a:prstGeom>
          <a:noFill/>
          <a:ln/>
        </p:spPr>
        <p:txBody>
          <a:bodyPr wrap="square" lIns="0" tIns="0" rIns="0" bIns="0" rtlCol="0" anchor="ctr"/>
          <a:lstStyle/>
          <a:p>
            <a:pPr marL="0" indent="0">
              <a:buNone/>
            </a:pPr>
            <a:r>
              <a:rPr lang="en-US" sz="1200" b="1" kern="0" spc="200" dirty="0">
                <a:solidFill>
                  <a:srgbClr val="0078D4"/>
                </a:solidFill>
                <a:latin typeface="Calibri" pitchFamily="34" charset="0"/>
                <a:ea typeface="Calibri" pitchFamily="34" charset="-122"/>
                <a:cs typeface="Calibri" pitchFamily="34" charset="-120"/>
              </a:rPr>
              <a:t>ADVANTAGES</a:t>
            </a:r>
            <a:endParaRPr lang="en-US" sz="1200" dirty="0"/>
          </a:p>
        </p:txBody>
      </p:sp>
      <p:sp>
        <p:nvSpPr>
          <p:cNvPr id="5" name="Shape 3"/>
          <p:cNvSpPr/>
          <p:nvPr/>
        </p:nvSpPr>
        <p:spPr>
          <a:xfrm>
            <a:off x="548640" y="1847088"/>
            <a:ext cx="3108960" cy="1325880"/>
          </a:xfrm>
          <a:prstGeom prst="roundRect">
            <a:avLst>
              <a:gd name="adj" fmla="val 8276"/>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6" name="Shape 4"/>
          <p:cNvSpPr/>
          <p:nvPr/>
        </p:nvSpPr>
        <p:spPr>
          <a:xfrm>
            <a:off x="749808" y="2048256"/>
            <a:ext cx="512064" cy="512064"/>
          </a:xfrm>
          <a:prstGeom prst="ellipse">
            <a:avLst/>
          </a:prstGeom>
          <a:solidFill>
            <a:srgbClr val="0078D4"/>
          </a:solidFill>
          <a:ln w="12700">
            <a:solidFill>
              <a:srgbClr val="0078D4"/>
            </a:solidFill>
            <a:prstDash val="solid"/>
          </a:ln>
        </p:spPr>
        <p:txBody>
          <a:bodyPr/>
          <a:lstStyle/>
          <a:p>
            <a:endParaRPr lang="en-JP"/>
          </a:p>
        </p:txBody>
      </p:sp>
      <p:pic>
        <p:nvPicPr>
          <p:cNvPr id="7" name="Image 0" descr="preencoded.png"/>
          <p:cNvPicPr>
            <a:picLocks noChangeAspect="1"/>
          </p:cNvPicPr>
          <p:nvPr/>
        </p:nvPicPr>
        <p:blipFill>
          <a:blip r:embed="rId3"/>
          <a:stretch>
            <a:fillRect/>
          </a:stretch>
        </p:blipFill>
        <p:spPr>
          <a:xfrm>
            <a:off x="872703" y="2171151"/>
            <a:ext cx="266273" cy="266273"/>
          </a:xfrm>
          <a:prstGeom prst="rect">
            <a:avLst/>
          </a:prstGeom>
        </p:spPr>
      </p:pic>
      <p:sp>
        <p:nvSpPr>
          <p:cNvPr id="8" name="Text 5"/>
          <p:cNvSpPr txBox="1"/>
          <p:nvPr/>
        </p:nvSpPr>
        <p:spPr>
          <a:xfrm>
            <a:off x="749808" y="2624328"/>
            <a:ext cx="2743200" cy="274320"/>
          </a:xfrm>
          <a:prstGeom prst="rect">
            <a:avLst/>
          </a:prstGeom>
          <a:noFill/>
          <a:ln/>
        </p:spPr>
        <p:txBody>
          <a:bodyPr wrap="square" lIns="0" tIns="0" rIns="0" bIns="0" rtlCol="0" anchor="ctr"/>
          <a:lstStyle/>
          <a:p>
            <a:pPr marL="0" indent="0">
              <a:buNone/>
            </a:pPr>
            <a:r>
              <a:rPr lang="en-US" sz="1600" b="1" dirty="0">
                <a:solidFill>
                  <a:srgbClr val="0B1F33"/>
                </a:solidFill>
                <a:latin typeface="Calibri" pitchFamily="34" charset="0"/>
                <a:ea typeface="Calibri" pitchFamily="34" charset="-122"/>
                <a:cs typeface="Calibri" pitchFamily="34" charset="-120"/>
              </a:rPr>
              <a:t>Full Disk Encryption</a:t>
            </a:r>
            <a:endParaRPr lang="en-US" sz="1600" dirty="0"/>
          </a:p>
        </p:txBody>
      </p:sp>
      <p:sp>
        <p:nvSpPr>
          <p:cNvPr id="9" name="Text 6"/>
          <p:cNvSpPr txBox="1"/>
          <p:nvPr/>
        </p:nvSpPr>
        <p:spPr>
          <a:xfrm>
            <a:off x="749808" y="2871216"/>
            <a:ext cx="2743200" cy="256032"/>
          </a:xfrm>
          <a:prstGeom prst="rect">
            <a:avLst/>
          </a:prstGeom>
          <a:noFill/>
          <a:ln/>
        </p:spPr>
        <p:txBody>
          <a:bodyPr wrap="square" lIns="0" tIns="0" rIns="0" bIns="0" rtlCol="0" anchor="ctr"/>
          <a:lstStyle/>
          <a:p>
            <a:pPr marL="0" indent="0">
              <a:buNone/>
            </a:pPr>
            <a:r>
              <a:rPr lang="en-US" sz="1300" dirty="0">
                <a:solidFill>
                  <a:srgbClr val="4A5A6B"/>
                </a:solidFill>
                <a:latin typeface="Calibri" pitchFamily="34" charset="0"/>
                <a:ea typeface="Calibri" pitchFamily="34" charset="-122"/>
                <a:cs typeface="Calibri" pitchFamily="34" charset="-120"/>
              </a:rPr>
              <a:t>Protects all data on the drive</a:t>
            </a:r>
            <a:endParaRPr lang="en-US" sz="1300" dirty="0"/>
          </a:p>
        </p:txBody>
      </p:sp>
      <p:sp>
        <p:nvSpPr>
          <p:cNvPr id="10" name="Shape 7"/>
          <p:cNvSpPr/>
          <p:nvPr/>
        </p:nvSpPr>
        <p:spPr>
          <a:xfrm>
            <a:off x="3794760" y="1847088"/>
            <a:ext cx="3108960" cy="1325880"/>
          </a:xfrm>
          <a:prstGeom prst="roundRect">
            <a:avLst>
              <a:gd name="adj" fmla="val 8276"/>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1" name="Shape 8"/>
          <p:cNvSpPr/>
          <p:nvPr/>
        </p:nvSpPr>
        <p:spPr>
          <a:xfrm>
            <a:off x="3995928" y="2048256"/>
            <a:ext cx="512064" cy="512064"/>
          </a:xfrm>
          <a:prstGeom prst="ellipse">
            <a:avLst/>
          </a:prstGeom>
          <a:solidFill>
            <a:srgbClr val="0078D4"/>
          </a:solidFill>
          <a:ln w="12700">
            <a:solidFill>
              <a:srgbClr val="0078D4"/>
            </a:solidFill>
            <a:prstDash val="solid"/>
          </a:ln>
        </p:spPr>
        <p:txBody>
          <a:bodyPr/>
          <a:lstStyle/>
          <a:p>
            <a:endParaRPr lang="en-JP"/>
          </a:p>
        </p:txBody>
      </p:sp>
      <p:pic>
        <p:nvPicPr>
          <p:cNvPr id="12" name="Image 1" descr="preencoded.png"/>
          <p:cNvPicPr>
            <a:picLocks noChangeAspect="1"/>
          </p:cNvPicPr>
          <p:nvPr/>
        </p:nvPicPr>
        <p:blipFill>
          <a:blip r:embed="rId4"/>
          <a:stretch>
            <a:fillRect/>
          </a:stretch>
        </p:blipFill>
        <p:spPr>
          <a:xfrm>
            <a:off x="4118823" y="2171151"/>
            <a:ext cx="266273" cy="266273"/>
          </a:xfrm>
          <a:prstGeom prst="rect">
            <a:avLst/>
          </a:prstGeom>
        </p:spPr>
      </p:pic>
      <p:sp>
        <p:nvSpPr>
          <p:cNvPr id="13" name="Text 9"/>
          <p:cNvSpPr txBox="1"/>
          <p:nvPr/>
        </p:nvSpPr>
        <p:spPr>
          <a:xfrm>
            <a:off x="3995928" y="2624328"/>
            <a:ext cx="2743200" cy="274320"/>
          </a:xfrm>
          <a:prstGeom prst="rect">
            <a:avLst/>
          </a:prstGeom>
          <a:noFill/>
          <a:ln/>
        </p:spPr>
        <p:txBody>
          <a:bodyPr wrap="square" lIns="0" tIns="0" rIns="0" bIns="0" rtlCol="0" anchor="ctr"/>
          <a:lstStyle/>
          <a:p>
            <a:pPr marL="0" indent="0">
              <a:buNone/>
            </a:pPr>
            <a:r>
              <a:rPr lang="en-US" sz="1600" b="1" dirty="0">
                <a:solidFill>
                  <a:srgbClr val="0B1F33"/>
                </a:solidFill>
                <a:latin typeface="Calibri" pitchFamily="34" charset="0"/>
                <a:ea typeface="Calibri" pitchFamily="34" charset="-122"/>
                <a:cs typeface="Calibri" pitchFamily="34" charset="-120"/>
              </a:rPr>
              <a:t>Lost Device Protection</a:t>
            </a:r>
            <a:endParaRPr lang="en-US" sz="1600" dirty="0"/>
          </a:p>
        </p:txBody>
      </p:sp>
      <p:sp>
        <p:nvSpPr>
          <p:cNvPr id="14" name="Text 10"/>
          <p:cNvSpPr txBox="1"/>
          <p:nvPr/>
        </p:nvSpPr>
        <p:spPr>
          <a:xfrm>
            <a:off x="3995928" y="2871216"/>
            <a:ext cx="2743200" cy="256032"/>
          </a:xfrm>
          <a:prstGeom prst="rect">
            <a:avLst/>
          </a:prstGeom>
          <a:noFill/>
          <a:ln/>
        </p:spPr>
        <p:txBody>
          <a:bodyPr wrap="square" lIns="0" tIns="0" rIns="0" bIns="0" rtlCol="0" anchor="ctr"/>
          <a:lstStyle/>
          <a:p>
            <a:pPr marL="0" indent="0">
              <a:buNone/>
            </a:pPr>
            <a:r>
              <a:rPr lang="en-US" sz="1300" dirty="0">
                <a:solidFill>
                  <a:srgbClr val="4A5A6B"/>
                </a:solidFill>
                <a:latin typeface="Calibri" pitchFamily="34" charset="0"/>
                <a:ea typeface="Calibri" pitchFamily="34" charset="-122"/>
                <a:cs typeface="Calibri" pitchFamily="34" charset="-120"/>
              </a:rPr>
              <a:t>A stolen laptop reveals nothing</a:t>
            </a:r>
            <a:endParaRPr lang="en-US" sz="1300" dirty="0"/>
          </a:p>
        </p:txBody>
      </p:sp>
      <p:sp>
        <p:nvSpPr>
          <p:cNvPr id="15" name="Shape 11"/>
          <p:cNvSpPr/>
          <p:nvPr/>
        </p:nvSpPr>
        <p:spPr>
          <a:xfrm>
            <a:off x="548640" y="3310128"/>
            <a:ext cx="3108960" cy="1325880"/>
          </a:xfrm>
          <a:prstGeom prst="roundRect">
            <a:avLst>
              <a:gd name="adj" fmla="val 8276"/>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6" name="Shape 12"/>
          <p:cNvSpPr/>
          <p:nvPr/>
        </p:nvSpPr>
        <p:spPr>
          <a:xfrm>
            <a:off x="749808" y="3511296"/>
            <a:ext cx="512064" cy="512064"/>
          </a:xfrm>
          <a:prstGeom prst="ellipse">
            <a:avLst/>
          </a:prstGeom>
          <a:solidFill>
            <a:srgbClr val="0078D4"/>
          </a:solidFill>
          <a:ln w="12700">
            <a:solidFill>
              <a:srgbClr val="0078D4"/>
            </a:solidFill>
            <a:prstDash val="solid"/>
          </a:ln>
        </p:spPr>
        <p:txBody>
          <a:bodyPr/>
          <a:lstStyle/>
          <a:p>
            <a:endParaRPr lang="en-JP"/>
          </a:p>
        </p:txBody>
      </p:sp>
      <p:pic>
        <p:nvPicPr>
          <p:cNvPr id="17" name="Image 2" descr="preencoded.png"/>
          <p:cNvPicPr>
            <a:picLocks noChangeAspect="1"/>
          </p:cNvPicPr>
          <p:nvPr/>
        </p:nvPicPr>
        <p:blipFill>
          <a:blip r:embed="rId5"/>
          <a:stretch>
            <a:fillRect/>
          </a:stretch>
        </p:blipFill>
        <p:spPr>
          <a:xfrm>
            <a:off x="872703" y="3634191"/>
            <a:ext cx="266273" cy="266273"/>
          </a:xfrm>
          <a:prstGeom prst="rect">
            <a:avLst/>
          </a:prstGeom>
        </p:spPr>
      </p:pic>
      <p:sp>
        <p:nvSpPr>
          <p:cNvPr id="18" name="Text 13"/>
          <p:cNvSpPr txBox="1"/>
          <p:nvPr/>
        </p:nvSpPr>
        <p:spPr>
          <a:xfrm>
            <a:off x="749808" y="4087368"/>
            <a:ext cx="2743200" cy="274320"/>
          </a:xfrm>
          <a:prstGeom prst="rect">
            <a:avLst/>
          </a:prstGeom>
          <a:noFill/>
          <a:ln/>
        </p:spPr>
        <p:txBody>
          <a:bodyPr wrap="square" lIns="0" tIns="0" rIns="0" bIns="0" rtlCol="0" anchor="ctr"/>
          <a:lstStyle/>
          <a:p>
            <a:pPr marL="0" indent="0">
              <a:buNone/>
            </a:pPr>
            <a:r>
              <a:rPr lang="en-US" sz="1600" b="1" dirty="0">
                <a:solidFill>
                  <a:srgbClr val="0B1F33"/>
                </a:solidFill>
                <a:latin typeface="Calibri" pitchFamily="34" charset="0"/>
                <a:ea typeface="Calibri" pitchFamily="34" charset="-122"/>
                <a:cs typeface="Calibri" pitchFamily="34" charset="-120"/>
              </a:rPr>
              <a:t>Compliance Support</a:t>
            </a:r>
            <a:endParaRPr lang="en-US" sz="1600" dirty="0"/>
          </a:p>
        </p:txBody>
      </p:sp>
      <p:sp>
        <p:nvSpPr>
          <p:cNvPr id="19" name="Text 14"/>
          <p:cNvSpPr txBox="1"/>
          <p:nvPr/>
        </p:nvSpPr>
        <p:spPr>
          <a:xfrm>
            <a:off x="749808" y="4334256"/>
            <a:ext cx="2743200" cy="256032"/>
          </a:xfrm>
          <a:prstGeom prst="rect">
            <a:avLst/>
          </a:prstGeom>
          <a:noFill/>
          <a:ln/>
        </p:spPr>
        <p:txBody>
          <a:bodyPr wrap="square" lIns="0" tIns="0" rIns="0" bIns="0" rtlCol="0" anchor="ctr"/>
          <a:lstStyle/>
          <a:p>
            <a:pPr marL="0" indent="0">
              <a:buNone/>
            </a:pPr>
            <a:r>
              <a:rPr lang="en-US" sz="1300" dirty="0">
                <a:solidFill>
                  <a:srgbClr val="4A5A6B"/>
                </a:solidFill>
                <a:latin typeface="Calibri" pitchFamily="34" charset="0"/>
                <a:ea typeface="Calibri" pitchFamily="34" charset="-122"/>
                <a:cs typeface="Calibri" pitchFamily="34" charset="-120"/>
              </a:rPr>
              <a:t>Helps meet data protection rules</a:t>
            </a:r>
            <a:endParaRPr lang="en-US" sz="1300" dirty="0"/>
          </a:p>
        </p:txBody>
      </p:sp>
      <p:sp>
        <p:nvSpPr>
          <p:cNvPr id="20" name="Shape 15"/>
          <p:cNvSpPr/>
          <p:nvPr/>
        </p:nvSpPr>
        <p:spPr>
          <a:xfrm>
            <a:off x="3794760" y="3310128"/>
            <a:ext cx="3108960" cy="1325880"/>
          </a:xfrm>
          <a:prstGeom prst="roundRect">
            <a:avLst>
              <a:gd name="adj" fmla="val 8276"/>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21" name="Shape 16"/>
          <p:cNvSpPr/>
          <p:nvPr/>
        </p:nvSpPr>
        <p:spPr>
          <a:xfrm>
            <a:off x="3995928" y="3511296"/>
            <a:ext cx="512064" cy="512064"/>
          </a:xfrm>
          <a:prstGeom prst="ellipse">
            <a:avLst/>
          </a:prstGeom>
          <a:solidFill>
            <a:srgbClr val="0078D4"/>
          </a:solidFill>
          <a:ln w="12700">
            <a:solidFill>
              <a:srgbClr val="0078D4"/>
            </a:solidFill>
            <a:prstDash val="solid"/>
          </a:ln>
        </p:spPr>
        <p:txBody>
          <a:bodyPr/>
          <a:lstStyle/>
          <a:p>
            <a:endParaRPr lang="en-JP"/>
          </a:p>
        </p:txBody>
      </p:sp>
      <p:pic>
        <p:nvPicPr>
          <p:cNvPr id="22" name="Image 3" descr="preencoded.png"/>
          <p:cNvPicPr>
            <a:picLocks noChangeAspect="1"/>
          </p:cNvPicPr>
          <p:nvPr/>
        </p:nvPicPr>
        <p:blipFill>
          <a:blip r:embed="rId6"/>
          <a:stretch>
            <a:fillRect/>
          </a:stretch>
        </p:blipFill>
        <p:spPr>
          <a:xfrm>
            <a:off x="4118823" y="3634191"/>
            <a:ext cx="266273" cy="266273"/>
          </a:xfrm>
          <a:prstGeom prst="rect">
            <a:avLst/>
          </a:prstGeom>
        </p:spPr>
      </p:pic>
      <p:sp>
        <p:nvSpPr>
          <p:cNvPr id="23" name="Text 17"/>
          <p:cNvSpPr txBox="1"/>
          <p:nvPr/>
        </p:nvSpPr>
        <p:spPr>
          <a:xfrm>
            <a:off x="3995928" y="4087368"/>
            <a:ext cx="2743200" cy="274320"/>
          </a:xfrm>
          <a:prstGeom prst="rect">
            <a:avLst/>
          </a:prstGeom>
          <a:noFill/>
          <a:ln/>
        </p:spPr>
        <p:txBody>
          <a:bodyPr wrap="square" lIns="0" tIns="0" rIns="0" bIns="0" rtlCol="0" anchor="ctr"/>
          <a:lstStyle/>
          <a:p>
            <a:pPr marL="0" indent="0">
              <a:buNone/>
            </a:pPr>
            <a:r>
              <a:rPr lang="en-US" sz="1600" b="1" dirty="0">
                <a:solidFill>
                  <a:srgbClr val="0B1F33"/>
                </a:solidFill>
                <a:latin typeface="Calibri" pitchFamily="34" charset="0"/>
                <a:ea typeface="Calibri" pitchFamily="34" charset="-122"/>
                <a:cs typeface="Calibri" pitchFamily="34" charset="-120"/>
              </a:rPr>
              <a:t>Secure Remote Workforce</a:t>
            </a:r>
            <a:endParaRPr lang="en-US" sz="1600" dirty="0"/>
          </a:p>
        </p:txBody>
      </p:sp>
      <p:sp>
        <p:nvSpPr>
          <p:cNvPr id="24" name="Text 18"/>
          <p:cNvSpPr txBox="1"/>
          <p:nvPr/>
        </p:nvSpPr>
        <p:spPr>
          <a:xfrm>
            <a:off x="3995928" y="4334256"/>
            <a:ext cx="2743200" cy="256032"/>
          </a:xfrm>
          <a:prstGeom prst="rect">
            <a:avLst/>
          </a:prstGeom>
          <a:noFill/>
          <a:ln/>
        </p:spPr>
        <p:txBody>
          <a:bodyPr wrap="square" lIns="0" tIns="0" rIns="0" bIns="0" rtlCol="0" anchor="ctr"/>
          <a:lstStyle/>
          <a:p>
            <a:pPr marL="0" indent="0">
              <a:buNone/>
            </a:pPr>
            <a:r>
              <a:rPr lang="en-US" sz="1300" dirty="0">
                <a:solidFill>
                  <a:srgbClr val="4A5A6B"/>
                </a:solidFill>
                <a:latin typeface="Calibri" pitchFamily="34" charset="0"/>
                <a:ea typeface="Calibri" pitchFamily="34" charset="-122"/>
                <a:cs typeface="Calibri" pitchFamily="34" charset="-120"/>
              </a:rPr>
              <a:t>Safeguards devices off-site</a:t>
            </a:r>
            <a:endParaRPr lang="en-US" sz="1300" dirty="0"/>
          </a:p>
        </p:txBody>
      </p:sp>
      <p:pic>
        <p:nvPicPr>
          <p:cNvPr id="25" name="Image 4" descr="Encrypted laptop secured with a padlock"/>
          <p:cNvPicPr>
            <a:picLocks noChangeAspect="1"/>
          </p:cNvPicPr>
          <p:nvPr/>
        </p:nvPicPr>
        <p:blipFill>
          <a:blip r:embed="rId7"/>
          <a:stretch>
            <a:fillRect/>
          </a:stretch>
        </p:blipFill>
        <p:spPr>
          <a:xfrm>
            <a:off x="7178040" y="1554480"/>
            <a:ext cx="4462272" cy="3172968"/>
          </a:xfrm>
          <a:prstGeom prst="rect">
            <a:avLst/>
          </a:prstGeom>
        </p:spPr>
      </p:pic>
      <p:sp>
        <p:nvSpPr>
          <p:cNvPr id="26" name="Shape 19"/>
          <p:cNvSpPr/>
          <p:nvPr/>
        </p:nvSpPr>
        <p:spPr>
          <a:xfrm>
            <a:off x="548640" y="4937760"/>
            <a:ext cx="11091672" cy="1051560"/>
          </a:xfrm>
          <a:prstGeom prst="roundRect">
            <a:avLst>
              <a:gd name="adj" fmla="val 10435"/>
            </a:avLst>
          </a:prstGeom>
          <a:solidFill>
            <a:srgbClr val="0A1628"/>
          </a:solidFill>
          <a:ln w="12700">
            <a:solidFill>
              <a:srgbClr val="0A1628"/>
            </a:solidFill>
            <a:prstDash val="solid"/>
          </a:ln>
        </p:spPr>
        <p:txBody>
          <a:bodyPr/>
          <a:lstStyle/>
          <a:p>
            <a:endParaRPr lang="en-JP"/>
          </a:p>
        </p:txBody>
      </p:sp>
      <p:sp>
        <p:nvSpPr>
          <p:cNvPr id="27" name="Text 20"/>
          <p:cNvSpPr txBox="1"/>
          <p:nvPr/>
        </p:nvSpPr>
        <p:spPr>
          <a:xfrm>
            <a:off x="822960" y="4937760"/>
            <a:ext cx="2011680" cy="1051560"/>
          </a:xfrm>
          <a:prstGeom prst="rect">
            <a:avLst/>
          </a:prstGeom>
          <a:noFill/>
          <a:ln/>
        </p:spPr>
        <p:txBody>
          <a:bodyPr wrap="square" lIns="0" tIns="0" rIns="0" bIns="0" rtlCol="0" anchor="ctr"/>
          <a:lstStyle/>
          <a:p>
            <a:pPr marL="0" indent="0">
              <a:buNone/>
            </a:pPr>
            <a:r>
              <a:rPr lang="en-US" sz="1200" b="1" kern="0" spc="200" dirty="0">
                <a:solidFill>
                  <a:srgbClr val="00B7C3"/>
                </a:solidFill>
                <a:latin typeface="Calibri" pitchFamily="34" charset="0"/>
                <a:ea typeface="Calibri" pitchFamily="34" charset="-122"/>
                <a:cs typeface="Calibri" pitchFamily="34" charset="-120"/>
              </a:rPr>
              <a:t>RECOMMENDED</a:t>
            </a:r>
            <a:endParaRPr lang="en-US" sz="1200" dirty="0"/>
          </a:p>
        </p:txBody>
      </p:sp>
      <p:sp>
        <p:nvSpPr>
          <p:cNvPr id="28" name="Shape 21"/>
          <p:cNvSpPr/>
          <p:nvPr/>
        </p:nvSpPr>
        <p:spPr>
          <a:xfrm>
            <a:off x="2743200" y="5202936"/>
            <a:ext cx="2377440" cy="512064"/>
          </a:xfrm>
          <a:prstGeom prst="roundRect">
            <a:avLst>
              <a:gd name="adj" fmla="val 50000"/>
            </a:avLst>
          </a:prstGeom>
          <a:solidFill>
            <a:srgbClr val="13294B"/>
          </a:solidFill>
          <a:ln w="12700">
            <a:solidFill>
              <a:srgbClr val="0078D4"/>
            </a:solidFill>
            <a:prstDash val="solid"/>
          </a:ln>
        </p:spPr>
        <p:txBody>
          <a:bodyPr/>
          <a:lstStyle/>
          <a:p>
            <a:endParaRPr lang="en-JP"/>
          </a:p>
        </p:txBody>
      </p:sp>
      <p:pic>
        <p:nvPicPr>
          <p:cNvPr id="29" name="Image 5" descr="preencoded.png"/>
          <p:cNvPicPr>
            <a:picLocks noChangeAspect="1"/>
          </p:cNvPicPr>
          <p:nvPr/>
        </p:nvPicPr>
        <p:blipFill>
          <a:blip r:embed="rId8"/>
          <a:stretch>
            <a:fillRect/>
          </a:stretch>
        </p:blipFill>
        <p:spPr>
          <a:xfrm>
            <a:off x="2926080" y="5321808"/>
            <a:ext cx="274320" cy="274320"/>
          </a:xfrm>
          <a:prstGeom prst="rect">
            <a:avLst/>
          </a:prstGeom>
        </p:spPr>
      </p:pic>
      <p:sp>
        <p:nvSpPr>
          <p:cNvPr id="30" name="Text 22"/>
          <p:cNvSpPr txBox="1"/>
          <p:nvPr/>
        </p:nvSpPr>
        <p:spPr>
          <a:xfrm>
            <a:off x="3291840" y="5202936"/>
            <a:ext cx="1737360" cy="512064"/>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TPM Enabled</a:t>
            </a:r>
            <a:endParaRPr lang="en-US" sz="1500" dirty="0"/>
          </a:p>
        </p:txBody>
      </p:sp>
      <p:sp>
        <p:nvSpPr>
          <p:cNvPr id="31" name="Shape 23"/>
          <p:cNvSpPr/>
          <p:nvPr/>
        </p:nvSpPr>
        <p:spPr>
          <a:xfrm>
            <a:off x="5303520" y="5202936"/>
            <a:ext cx="3291840" cy="512064"/>
          </a:xfrm>
          <a:prstGeom prst="roundRect">
            <a:avLst>
              <a:gd name="adj" fmla="val 50000"/>
            </a:avLst>
          </a:prstGeom>
          <a:solidFill>
            <a:srgbClr val="13294B"/>
          </a:solidFill>
          <a:ln w="12700">
            <a:solidFill>
              <a:srgbClr val="0078D4"/>
            </a:solidFill>
            <a:prstDash val="solid"/>
          </a:ln>
        </p:spPr>
        <p:txBody>
          <a:bodyPr/>
          <a:lstStyle/>
          <a:p>
            <a:endParaRPr lang="en-JP"/>
          </a:p>
        </p:txBody>
      </p:sp>
      <p:pic>
        <p:nvPicPr>
          <p:cNvPr id="32" name="Image 6" descr="preencoded.png"/>
          <p:cNvPicPr>
            <a:picLocks noChangeAspect="1"/>
          </p:cNvPicPr>
          <p:nvPr/>
        </p:nvPicPr>
        <p:blipFill>
          <a:blip r:embed="rId9"/>
          <a:stretch>
            <a:fillRect/>
          </a:stretch>
        </p:blipFill>
        <p:spPr>
          <a:xfrm>
            <a:off x="5486400" y="5321808"/>
            <a:ext cx="274320" cy="274320"/>
          </a:xfrm>
          <a:prstGeom prst="rect">
            <a:avLst/>
          </a:prstGeom>
        </p:spPr>
      </p:pic>
      <p:sp>
        <p:nvSpPr>
          <p:cNvPr id="33" name="Text 24"/>
          <p:cNvSpPr txBox="1"/>
          <p:nvPr/>
        </p:nvSpPr>
        <p:spPr>
          <a:xfrm>
            <a:off x="5852160" y="5202936"/>
            <a:ext cx="2651760" cy="512064"/>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Recovery Key Management</a:t>
            </a:r>
            <a:endParaRPr lang="en-US" sz="1500" dirty="0"/>
          </a:p>
        </p:txBody>
      </p:sp>
      <p:sp>
        <p:nvSpPr>
          <p:cNvPr id="34" name="Shape 25"/>
          <p:cNvSpPr/>
          <p:nvPr/>
        </p:nvSpPr>
        <p:spPr>
          <a:xfrm>
            <a:off x="8778240" y="5202936"/>
            <a:ext cx="2697480" cy="512064"/>
          </a:xfrm>
          <a:prstGeom prst="roundRect">
            <a:avLst>
              <a:gd name="adj" fmla="val 50000"/>
            </a:avLst>
          </a:prstGeom>
          <a:solidFill>
            <a:srgbClr val="13294B"/>
          </a:solidFill>
          <a:ln w="12700">
            <a:solidFill>
              <a:srgbClr val="0078D4"/>
            </a:solidFill>
            <a:prstDash val="solid"/>
          </a:ln>
        </p:spPr>
        <p:txBody>
          <a:bodyPr/>
          <a:lstStyle/>
          <a:p>
            <a:endParaRPr lang="en-JP"/>
          </a:p>
        </p:txBody>
      </p:sp>
      <p:pic>
        <p:nvPicPr>
          <p:cNvPr id="35" name="Image 7" descr="preencoded.png"/>
          <p:cNvPicPr>
            <a:picLocks noChangeAspect="1"/>
          </p:cNvPicPr>
          <p:nvPr/>
        </p:nvPicPr>
        <p:blipFill>
          <a:blip r:embed="rId10"/>
          <a:stretch>
            <a:fillRect/>
          </a:stretch>
        </p:blipFill>
        <p:spPr>
          <a:xfrm>
            <a:off x="8961120" y="5321808"/>
            <a:ext cx="274320" cy="274320"/>
          </a:xfrm>
          <a:prstGeom prst="rect">
            <a:avLst/>
          </a:prstGeom>
        </p:spPr>
      </p:pic>
      <p:sp>
        <p:nvSpPr>
          <p:cNvPr id="36" name="Text 26"/>
          <p:cNvSpPr txBox="1"/>
          <p:nvPr/>
        </p:nvSpPr>
        <p:spPr>
          <a:xfrm>
            <a:off x="9326880" y="5202936"/>
            <a:ext cx="2057400" cy="512064"/>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AES-256 Encryption</a:t>
            </a:r>
            <a:endParaRPr lang="en-US" sz="1500" dirty="0"/>
          </a:p>
        </p:txBody>
      </p:sp>
      <p:sp>
        <p:nvSpPr>
          <p:cNvPr id="37"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A6B"/>
                </a:solidFill>
                <a:latin typeface="Calibri"/>
                <a:ea typeface="Calibri"/>
                <a:cs typeface="Calibri"/>
              </a:defRPr>
            </a:lvl1pPr>
          </a:lstStyle>
          <a:p>
            <a:pPr algn="l"/>
            <a:fld id="{F7021451-1387-4CA6-816F-3879F97B5CBC}" type="slidenum">
              <a:rPr lang="en-US" b="0"/>
              <a:t>12</a:t>
            </a:fld>
            <a:endParaRPr lang="en-US"/>
          </a:p>
        </p:txBody>
      </p:sp>
      <p:pic>
        <p:nvPicPr>
          <p:cNvPr id="38" name="Picture 37">
            <a:extLst>
              <a:ext uri="{FF2B5EF4-FFF2-40B4-BE49-F238E27FC236}">
                <a16:creationId xmlns:a16="http://schemas.microsoft.com/office/drawing/2014/main" id="{687512DF-9262-46C1-C4E8-80B6C3221493}"/>
              </a:ext>
            </a:extLst>
          </p:cNvPr>
          <p:cNvPicPr>
            <a:picLocks noChangeAspect="1"/>
          </p:cNvPicPr>
          <p:nvPr/>
        </p:nvPicPr>
        <p:blipFill>
          <a:blip r:embed="rId11"/>
          <a:stretch>
            <a:fillRect/>
          </a:stretch>
        </p:blipFill>
        <p:spPr>
          <a:xfrm>
            <a:off x="10555840" y="94655"/>
            <a:ext cx="1331515" cy="133151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64240" cy="292608"/>
          </a:xfrm>
          <a:prstGeom prst="rect">
            <a:avLst/>
          </a:prstGeom>
          <a:noFill/>
          <a:ln/>
        </p:spPr>
        <p:txBody>
          <a:bodyPr wrap="square" lIns="0" tIns="0" rIns="0" bIns="0" rtlCol="0" anchor="ctr"/>
          <a:lstStyle/>
          <a:p>
            <a:pPr marL="0" indent="0">
              <a:buNone/>
            </a:pPr>
            <a:r>
              <a:rPr lang="en-US" sz="1200" b="1" kern="0" spc="200" dirty="0">
                <a:solidFill>
                  <a:srgbClr val="0078D4"/>
                </a:solidFill>
                <a:latin typeface="Calibri" pitchFamily="34" charset="0"/>
                <a:ea typeface="Calibri" pitchFamily="34" charset="-122"/>
                <a:cs typeface="Calibri" pitchFamily="34" charset="-120"/>
              </a:rPr>
              <a:t>12  ·  ESSENTIAL SECURITY BASELINE</a:t>
            </a:r>
            <a:endParaRPr lang="en-US" sz="1200" dirty="0"/>
          </a:p>
        </p:txBody>
      </p:sp>
      <p:sp>
        <p:nvSpPr>
          <p:cNvPr id="3" name="Text 0"/>
          <p:cNvSpPr>
            <a:spLocks noGrp="1"/>
          </p:cNvSpPr>
          <p:nvPr>
            <p:ph type="title" idx="101" hasCustomPrompt="1"/>
          </p:nvPr>
        </p:nvSpPr>
        <p:spPr>
          <a:xfrm>
            <a:off x="548640" y="640080"/>
            <a:ext cx="11064240" cy="731520"/>
          </a:xfrm>
          <a:prstGeom prst="rect">
            <a:avLst/>
          </a:prstGeom>
          <a:noFill/>
          <a:ln/>
        </p:spPr>
        <p:txBody>
          <a:bodyPr wrap="square" lIns="0" tIns="0" rIns="0" bIns="0" rtlCol="0" anchor="ctr"/>
          <a:lstStyle/>
          <a:p>
            <a:pPr marL="0" indent="0" algn="l">
              <a:buNone/>
            </a:pPr>
            <a:r>
              <a:rPr lang="en-US" sz="3600" b="1" dirty="0">
                <a:solidFill>
                  <a:srgbClr val="0B1F33"/>
                </a:solidFill>
                <a:latin typeface="Arial" pitchFamily="34" charset="0"/>
                <a:ea typeface="Arial" pitchFamily="34" charset="-122"/>
                <a:cs typeface="Arial" pitchFamily="34" charset="-120"/>
              </a:rPr>
              <a:t>Windows Hardening Checklist</a:t>
            </a:r>
            <a:endParaRPr lang="en-US" sz="3600" dirty="0"/>
          </a:p>
        </p:txBody>
      </p:sp>
      <p:sp>
        <p:nvSpPr>
          <p:cNvPr id="4" name="Shape 2"/>
          <p:cNvSpPr/>
          <p:nvPr/>
        </p:nvSpPr>
        <p:spPr>
          <a:xfrm>
            <a:off x="548640" y="1600200"/>
            <a:ext cx="2072030" cy="1691640"/>
          </a:xfrm>
          <a:prstGeom prst="roundRect">
            <a:avLst>
              <a:gd name="adj" fmla="val 6486"/>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5" name="Shape 3"/>
          <p:cNvSpPr/>
          <p:nvPr/>
        </p:nvSpPr>
        <p:spPr>
          <a:xfrm>
            <a:off x="749808" y="1801368"/>
            <a:ext cx="548640" cy="548640"/>
          </a:xfrm>
          <a:prstGeom prst="ellipse">
            <a:avLst/>
          </a:prstGeom>
          <a:solidFill>
            <a:srgbClr val="EAF3FC"/>
          </a:solidFill>
          <a:ln w="12700">
            <a:solidFill>
              <a:srgbClr val="EAF3FC"/>
            </a:solidFill>
            <a:prstDash val="solid"/>
          </a:ln>
        </p:spPr>
        <p:txBody>
          <a:bodyPr/>
          <a:lstStyle/>
          <a:p>
            <a:endParaRPr lang="en-JP"/>
          </a:p>
        </p:txBody>
      </p:sp>
      <p:pic>
        <p:nvPicPr>
          <p:cNvPr id="6" name="Image 0" descr="preencoded.png"/>
          <p:cNvPicPr>
            <a:picLocks noChangeAspect="1"/>
          </p:cNvPicPr>
          <p:nvPr/>
        </p:nvPicPr>
        <p:blipFill>
          <a:blip r:embed="rId3"/>
          <a:stretch>
            <a:fillRect/>
          </a:stretch>
        </p:blipFill>
        <p:spPr>
          <a:xfrm>
            <a:off x="881482" y="1933042"/>
            <a:ext cx="285293" cy="285293"/>
          </a:xfrm>
          <a:prstGeom prst="rect">
            <a:avLst/>
          </a:prstGeom>
        </p:spPr>
      </p:pic>
      <p:pic>
        <p:nvPicPr>
          <p:cNvPr id="7" name="Image 1" descr="preencoded.png"/>
          <p:cNvPicPr>
            <a:picLocks noChangeAspect="1"/>
          </p:cNvPicPr>
          <p:nvPr/>
        </p:nvPicPr>
        <p:blipFill>
          <a:blip r:embed="rId4"/>
          <a:stretch>
            <a:fillRect/>
          </a:stretch>
        </p:blipFill>
        <p:spPr>
          <a:xfrm>
            <a:off x="2117750" y="1801368"/>
            <a:ext cx="310896" cy="310896"/>
          </a:xfrm>
          <a:prstGeom prst="rect">
            <a:avLst/>
          </a:prstGeom>
        </p:spPr>
      </p:pic>
      <p:sp>
        <p:nvSpPr>
          <p:cNvPr id="8" name="Text 4"/>
          <p:cNvSpPr txBox="1"/>
          <p:nvPr/>
        </p:nvSpPr>
        <p:spPr>
          <a:xfrm>
            <a:off x="749808" y="2468880"/>
            <a:ext cx="1706270" cy="685800"/>
          </a:xfrm>
          <a:prstGeom prst="rect">
            <a:avLst/>
          </a:prstGeom>
          <a:noFill/>
          <a:ln/>
        </p:spPr>
        <p:txBody>
          <a:bodyPr wrap="square" lIns="0" tIns="0" rIns="0" bIns="0" rtlCol="0" anchor="t"/>
          <a:lstStyle/>
          <a:p>
            <a:pPr marL="0" indent="0">
              <a:buNone/>
            </a:pPr>
            <a:r>
              <a:rPr lang="en-US" sz="1600" b="1" dirty="0">
                <a:solidFill>
                  <a:srgbClr val="0B1F33"/>
                </a:solidFill>
                <a:latin typeface="Calibri" pitchFamily="34" charset="0"/>
                <a:ea typeface="Calibri" pitchFamily="34" charset="-122"/>
                <a:cs typeface="Calibri" pitchFamily="34" charset="-120"/>
              </a:rPr>
              <a:t>MFA Enabled</a:t>
            </a:r>
            <a:endParaRPr lang="en-US" sz="1600" dirty="0"/>
          </a:p>
        </p:txBody>
      </p:sp>
      <p:sp>
        <p:nvSpPr>
          <p:cNvPr id="9" name="Shape 5"/>
          <p:cNvSpPr/>
          <p:nvPr/>
        </p:nvSpPr>
        <p:spPr>
          <a:xfrm>
            <a:off x="2803550" y="1600200"/>
            <a:ext cx="2072030" cy="1691640"/>
          </a:xfrm>
          <a:prstGeom prst="roundRect">
            <a:avLst>
              <a:gd name="adj" fmla="val 6486"/>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0" name="Shape 6"/>
          <p:cNvSpPr/>
          <p:nvPr/>
        </p:nvSpPr>
        <p:spPr>
          <a:xfrm>
            <a:off x="3004718" y="1801368"/>
            <a:ext cx="548640" cy="548640"/>
          </a:xfrm>
          <a:prstGeom prst="ellipse">
            <a:avLst/>
          </a:prstGeom>
          <a:solidFill>
            <a:srgbClr val="EAF3FC"/>
          </a:solidFill>
          <a:ln w="12700">
            <a:solidFill>
              <a:srgbClr val="EAF3FC"/>
            </a:solidFill>
            <a:prstDash val="solid"/>
          </a:ln>
        </p:spPr>
        <p:txBody>
          <a:bodyPr/>
          <a:lstStyle/>
          <a:p>
            <a:endParaRPr lang="en-JP"/>
          </a:p>
        </p:txBody>
      </p:sp>
      <p:pic>
        <p:nvPicPr>
          <p:cNvPr id="11" name="Image 2" descr="preencoded.png"/>
          <p:cNvPicPr>
            <a:picLocks noChangeAspect="1"/>
          </p:cNvPicPr>
          <p:nvPr/>
        </p:nvPicPr>
        <p:blipFill>
          <a:blip r:embed="rId5"/>
          <a:stretch>
            <a:fillRect/>
          </a:stretch>
        </p:blipFill>
        <p:spPr>
          <a:xfrm>
            <a:off x="3136392" y="1933042"/>
            <a:ext cx="285293" cy="285293"/>
          </a:xfrm>
          <a:prstGeom prst="rect">
            <a:avLst/>
          </a:prstGeom>
        </p:spPr>
      </p:pic>
      <p:pic>
        <p:nvPicPr>
          <p:cNvPr id="12" name="Image 3" descr="preencoded.png"/>
          <p:cNvPicPr>
            <a:picLocks noChangeAspect="1"/>
          </p:cNvPicPr>
          <p:nvPr/>
        </p:nvPicPr>
        <p:blipFill>
          <a:blip r:embed="rId4"/>
          <a:stretch>
            <a:fillRect/>
          </a:stretch>
        </p:blipFill>
        <p:spPr>
          <a:xfrm>
            <a:off x="4372661" y="1801368"/>
            <a:ext cx="310896" cy="310896"/>
          </a:xfrm>
          <a:prstGeom prst="rect">
            <a:avLst/>
          </a:prstGeom>
        </p:spPr>
      </p:pic>
      <p:sp>
        <p:nvSpPr>
          <p:cNvPr id="13" name="Text 7"/>
          <p:cNvSpPr txBox="1"/>
          <p:nvPr/>
        </p:nvSpPr>
        <p:spPr>
          <a:xfrm>
            <a:off x="3004718" y="2468880"/>
            <a:ext cx="1706270" cy="685800"/>
          </a:xfrm>
          <a:prstGeom prst="rect">
            <a:avLst/>
          </a:prstGeom>
          <a:noFill/>
          <a:ln/>
        </p:spPr>
        <p:txBody>
          <a:bodyPr wrap="square" lIns="0" tIns="0" rIns="0" bIns="0" rtlCol="0" anchor="t"/>
          <a:lstStyle/>
          <a:p>
            <a:pPr marL="0" indent="0">
              <a:buNone/>
            </a:pPr>
            <a:r>
              <a:rPr lang="en-US" sz="1600" b="1" dirty="0">
                <a:solidFill>
                  <a:srgbClr val="0B1F33"/>
                </a:solidFill>
                <a:latin typeface="Calibri" pitchFamily="34" charset="0"/>
                <a:ea typeface="Calibri" pitchFamily="34" charset="-122"/>
                <a:cs typeface="Calibri" pitchFamily="34" charset="-120"/>
              </a:rPr>
              <a:t>Windows Fully Patched</a:t>
            </a:r>
            <a:endParaRPr lang="en-US" sz="1600" dirty="0"/>
          </a:p>
        </p:txBody>
      </p:sp>
      <p:sp>
        <p:nvSpPr>
          <p:cNvPr id="14" name="Shape 8"/>
          <p:cNvSpPr/>
          <p:nvPr/>
        </p:nvSpPr>
        <p:spPr>
          <a:xfrm>
            <a:off x="5058461" y="1600200"/>
            <a:ext cx="2072030" cy="1691640"/>
          </a:xfrm>
          <a:prstGeom prst="roundRect">
            <a:avLst>
              <a:gd name="adj" fmla="val 6486"/>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5" name="Shape 9"/>
          <p:cNvSpPr/>
          <p:nvPr/>
        </p:nvSpPr>
        <p:spPr>
          <a:xfrm>
            <a:off x="5259629" y="1801368"/>
            <a:ext cx="548640" cy="548640"/>
          </a:xfrm>
          <a:prstGeom prst="ellipse">
            <a:avLst/>
          </a:prstGeom>
          <a:solidFill>
            <a:srgbClr val="EAF3FC"/>
          </a:solidFill>
          <a:ln w="12700">
            <a:solidFill>
              <a:srgbClr val="EAF3FC"/>
            </a:solidFill>
            <a:prstDash val="solid"/>
          </a:ln>
        </p:spPr>
        <p:txBody>
          <a:bodyPr/>
          <a:lstStyle/>
          <a:p>
            <a:endParaRPr lang="en-JP"/>
          </a:p>
        </p:txBody>
      </p:sp>
      <p:pic>
        <p:nvPicPr>
          <p:cNvPr id="16" name="Image 4" descr="preencoded.png"/>
          <p:cNvPicPr>
            <a:picLocks noChangeAspect="1"/>
          </p:cNvPicPr>
          <p:nvPr/>
        </p:nvPicPr>
        <p:blipFill>
          <a:blip r:embed="rId6"/>
          <a:stretch>
            <a:fillRect/>
          </a:stretch>
        </p:blipFill>
        <p:spPr>
          <a:xfrm>
            <a:off x="5391302" y="1933042"/>
            <a:ext cx="285293" cy="285293"/>
          </a:xfrm>
          <a:prstGeom prst="rect">
            <a:avLst/>
          </a:prstGeom>
        </p:spPr>
      </p:pic>
      <p:pic>
        <p:nvPicPr>
          <p:cNvPr id="17" name="Image 5" descr="preencoded.png"/>
          <p:cNvPicPr>
            <a:picLocks noChangeAspect="1"/>
          </p:cNvPicPr>
          <p:nvPr/>
        </p:nvPicPr>
        <p:blipFill>
          <a:blip r:embed="rId4"/>
          <a:stretch>
            <a:fillRect/>
          </a:stretch>
        </p:blipFill>
        <p:spPr>
          <a:xfrm>
            <a:off x="6627571" y="1801368"/>
            <a:ext cx="310896" cy="310896"/>
          </a:xfrm>
          <a:prstGeom prst="rect">
            <a:avLst/>
          </a:prstGeom>
        </p:spPr>
      </p:pic>
      <p:sp>
        <p:nvSpPr>
          <p:cNvPr id="18" name="Text 10"/>
          <p:cNvSpPr txBox="1"/>
          <p:nvPr/>
        </p:nvSpPr>
        <p:spPr>
          <a:xfrm>
            <a:off x="5259629" y="2468880"/>
            <a:ext cx="1706270" cy="685800"/>
          </a:xfrm>
          <a:prstGeom prst="rect">
            <a:avLst/>
          </a:prstGeom>
          <a:noFill/>
          <a:ln/>
        </p:spPr>
        <p:txBody>
          <a:bodyPr wrap="square" lIns="0" tIns="0" rIns="0" bIns="0" rtlCol="0" anchor="t"/>
          <a:lstStyle/>
          <a:p>
            <a:pPr marL="0" indent="0">
              <a:buNone/>
            </a:pPr>
            <a:r>
              <a:rPr lang="en-US" sz="1600" b="1" dirty="0">
                <a:solidFill>
                  <a:srgbClr val="0B1F33"/>
                </a:solidFill>
                <a:latin typeface="Calibri" pitchFamily="34" charset="0"/>
                <a:ea typeface="Calibri" pitchFamily="34" charset="-122"/>
                <a:cs typeface="Calibri" pitchFamily="34" charset="-120"/>
              </a:rPr>
              <a:t>Defender Enabled</a:t>
            </a:r>
            <a:endParaRPr lang="en-US" sz="1600" dirty="0"/>
          </a:p>
        </p:txBody>
      </p:sp>
      <p:sp>
        <p:nvSpPr>
          <p:cNvPr id="19" name="Shape 11"/>
          <p:cNvSpPr/>
          <p:nvPr/>
        </p:nvSpPr>
        <p:spPr>
          <a:xfrm>
            <a:off x="7313371" y="1600200"/>
            <a:ext cx="2072030" cy="1691640"/>
          </a:xfrm>
          <a:prstGeom prst="roundRect">
            <a:avLst>
              <a:gd name="adj" fmla="val 6486"/>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20" name="Shape 12"/>
          <p:cNvSpPr/>
          <p:nvPr/>
        </p:nvSpPr>
        <p:spPr>
          <a:xfrm>
            <a:off x="7514539" y="1801368"/>
            <a:ext cx="548640" cy="548640"/>
          </a:xfrm>
          <a:prstGeom prst="ellipse">
            <a:avLst/>
          </a:prstGeom>
          <a:solidFill>
            <a:srgbClr val="EAF3FC"/>
          </a:solidFill>
          <a:ln w="12700">
            <a:solidFill>
              <a:srgbClr val="EAF3FC"/>
            </a:solidFill>
            <a:prstDash val="solid"/>
          </a:ln>
        </p:spPr>
        <p:txBody>
          <a:bodyPr/>
          <a:lstStyle/>
          <a:p>
            <a:endParaRPr lang="en-JP"/>
          </a:p>
        </p:txBody>
      </p:sp>
      <p:pic>
        <p:nvPicPr>
          <p:cNvPr id="21" name="Image 6" descr="preencoded.png"/>
          <p:cNvPicPr>
            <a:picLocks noChangeAspect="1"/>
          </p:cNvPicPr>
          <p:nvPr/>
        </p:nvPicPr>
        <p:blipFill>
          <a:blip r:embed="rId7"/>
          <a:stretch>
            <a:fillRect/>
          </a:stretch>
        </p:blipFill>
        <p:spPr>
          <a:xfrm>
            <a:off x="7646213" y="1933042"/>
            <a:ext cx="285293" cy="285293"/>
          </a:xfrm>
          <a:prstGeom prst="rect">
            <a:avLst/>
          </a:prstGeom>
        </p:spPr>
      </p:pic>
      <p:pic>
        <p:nvPicPr>
          <p:cNvPr id="22" name="Image 7" descr="preencoded.png"/>
          <p:cNvPicPr>
            <a:picLocks noChangeAspect="1"/>
          </p:cNvPicPr>
          <p:nvPr/>
        </p:nvPicPr>
        <p:blipFill>
          <a:blip r:embed="rId4"/>
          <a:stretch>
            <a:fillRect/>
          </a:stretch>
        </p:blipFill>
        <p:spPr>
          <a:xfrm>
            <a:off x="8882482" y="1801368"/>
            <a:ext cx="310896" cy="310896"/>
          </a:xfrm>
          <a:prstGeom prst="rect">
            <a:avLst/>
          </a:prstGeom>
        </p:spPr>
      </p:pic>
      <p:sp>
        <p:nvSpPr>
          <p:cNvPr id="23" name="Text 13"/>
          <p:cNvSpPr txBox="1"/>
          <p:nvPr/>
        </p:nvSpPr>
        <p:spPr>
          <a:xfrm>
            <a:off x="7514539" y="2468880"/>
            <a:ext cx="1706270" cy="685800"/>
          </a:xfrm>
          <a:prstGeom prst="rect">
            <a:avLst/>
          </a:prstGeom>
          <a:noFill/>
          <a:ln/>
        </p:spPr>
        <p:txBody>
          <a:bodyPr wrap="square" lIns="0" tIns="0" rIns="0" bIns="0" rtlCol="0" anchor="t"/>
          <a:lstStyle/>
          <a:p>
            <a:pPr marL="0" indent="0">
              <a:buNone/>
            </a:pPr>
            <a:r>
              <a:rPr lang="en-US" sz="1600" b="1" dirty="0">
                <a:solidFill>
                  <a:srgbClr val="0B1F33"/>
                </a:solidFill>
                <a:latin typeface="Calibri" pitchFamily="34" charset="0"/>
                <a:ea typeface="Calibri" pitchFamily="34" charset="-122"/>
                <a:cs typeface="Calibri" pitchFamily="34" charset="-120"/>
              </a:rPr>
              <a:t>Firewall Enabled</a:t>
            </a:r>
            <a:endParaRPr lang="en-US" sz="1600" dirty="0"/>
          </a:p>
        </p:txBody>
      </p:sp>
      <p:sp>
        <p:nvSpPr>
          <p:cNvPr id="24" name="Shape 14"/>
          <p:cNvSpPr/>
          <p:nvPr/>
        </p:nvSpPr>
        <p:spPr>
          <a:xfrm>
            <a:off x="9568282" y="1600200"/>
            <a:ext cx="2072030" cy="1691640"/>
          </a:xfrm>
          <a:prstGeom prst="roundRect">
            <a:avLst>
              <a:gd name="adj" fmla="val 6486"/>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25" name="Shape 15"/>
          <p:cNvSpPr/>
          <p:nvPr/>
        </p:nvSpPr>
        <p:spPr>
          <a:xfrm>
            <a:off x="9769450" y="1801368"/>
            <a:ext cx="548640" cy="548640"/>
          </a:xfrm>
          <a:prstGeom prst="ellipse">
            <a:avLst/>
          </a:prstGeom>
          <a:solidFill>
            <a:srgbClr val="EAF3FC"/>
          </a:solidFill>
          <a:ln w="12700">
            <a:solidFill>
              <a:srgbClr val="EAF3FC"/>
            </a:solidFill>
            <a:prstDash val="solid"/>
          </a:ln>
        </p:spPr>
        <p:txBody>
          <a:bodyPr/>
          <a:lstStyle/>
          <a:p>
            <a:endParaRPr lang="en-JP"/>
          </a:p>
        </p:txBody>
      </p:sp>
      <p:pic>
        <p:nvPicPr>
          <p:cNvPr id="26" name="Image 8" descr="preencoded.png"/>
          <p:cNvPicPr>
            <a:picLocks noChangeAspect="1"/>
          </p:cNvPicPr>
          <p:nvPr/>
        </p:nvPicPr>
        <p:blipFill>
          <a:blip r:embed="rId8"/>
          <a:stretch>
            <a:fillRect/>
          </a:stretch>
        </p:blipFill>
        <p:spPr>
          <a:xfrm>
            <a:off x="9901123" y="1933042"/>
            <a:ext cx="285293" cy="285293"/>
          </a:xfrm>
          <a:prstGeom prst="rect">
            <a:avLst/>
          </a:prstGeom>
        </p:spPr>
      </p:pic>
      <p:pic>
        <p:nvPicPr>
          <p:cNvPr id="27" name="Image 9" descr="preencoded.png"/>
          <p:cNvPicPr>
            <a:picLocks noChangeAspect="1"/>
          </p:cNvPicPr>
          <p:nvPr/>
        </p:nvPicPr>
        <p:blipFill>
          <a:blip r:embed="rId4"/>
          <a:stretch>
            <a:fillRect/>
          </a:stretch>
        </p:blipFill>
        <p:spPr>
          <a:xfrm>
            <a:off x="11137392" y="1801368"/>
            <a:ext cx="310896" cy="310896"/>
          </a:xfrm>
          <a:prstGeom prst="rect">
            <a:avLst/>
          </a:prstGeom>
        </p:spPr>
      </p:pic>
      <p:sp>
        <p:nvSpPr>
          <p:cNvPr id="28" name="Text 16"/>
          <p:cNvSpPr txBox="1"/>
          <p:nvPr/>
        </p:nvSpPr>
        <p:spPr>
          <a:xfrm>
            <a:off x="9769450" y="2468880"/>
            <a:ext cx="1706270" cy="685800"/>
          </a:xfrm>
          <a:prstGeom prst="rect">
            <a:avLst/>
          </a:prstGeom>
          <a:noFill/>
          <a:ln/>
        </p:spPr>
        <p:txBody>
          <a:bodyPr wrap="square" lIns="0" tIns="0" rIns="0" bIns="0" rtlCol="0" anchor="t"/>
          <a:lstStyle/>
          <a:p>
            <a:pPr marL="0" indent="0">
              <a:buNone/>
            </a:pPr>
            <a:r>
              <a:rPr lang="en-US" sz="1600" b="1" dirty="0">
                <a:solidFill>
                  <a:srgbClr val="0B1F33"/>
                </a:solidFill>
                <a:latin typeface="Calibri" pitchFamily="34" charset="0"/>
                <a:ea typeface="Calibri" pitchFamily="34" charset="-122"/>
                <a:cs typeface="Calibri" pitchFamily="34" charset="-120"/>
              </a:rPr>
              <a:t>BitLocker Enabled</a:t>
            </a:r>
            <a:endParaRPr lang="en-US" sz="1600" dirty="0"/>
          </a:p>
        </p:txBody>
      </p:sp>
      <p:sp>
        <p:nvSpPr>
          <p:cNvPr id="29" name="Shape 17"/>
          <p:cNvSpPr/>
          <p:nvPr/>
        </p:nvSpPr>
        <p:spPr>
          <a:xfrm>
            <a:off x="548640" y="3474720"/>
            <a:ext cx="2072030" cy="1691640"/>
          </a:xfrm>
          <a:prstGeom prst="roundRect">
            <a:avLst>
              <a:gd name="adj" fmla="val 6486"/>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30" name="Shape 18"/>
          <p:cNvSpPr/>
          <p:nvPr/>
        </p:nvSpPr>
        <p:spPr>
          <a:xfrm>
            <a:off x="749808" y="3675888"/>
            <a:ext cx="548640" cy="548640"/>
          </a:xfrm>
          <a:prstGeom prst="ellipse">
            <a:avLst/>
          </a:prstGeom>
          <a:solidFill>
            <a:srgbClr val="EAF3FC"/>
          </a:solidFill>
          <a:ln w="12700">
            <a:solidFill>
              <a:srgbClr val="EAF3FC"/>
            </a:solidFill>
            <a:prstDash val="solid"/>
          </a:ln>
        </p:spPr>
        <p:txBody>
          <a:bodyPr/>
          <a:lstStyle/>
          <a:p>
            <a:endParaRPr lang="en-JP"/>
          </a:p>
        </p:txBody>
      </p:sp>
      <p:pic>
        <p:nvPicPr>
          <p:cNvPr id="31" name="Image 10" descr="preencoded.png"/>
          <p:cNvPicPr>
            <a:picLocks noChangeAspect="1"/>
          </p:cNvPicPr>
          <p:nvPr/>
        </p:nvPicPr>
        <p:blipFill>
          <a:blip r:embed="rId9"/>
          <a:stretch>
            <a:fillRect/>
          </a:stretch>
        </p:blipFill>
        <p:spPr>
          <a:xfrm>
            <a:off x="881482" y="3807562"/>
            <a:ext cx="285293" cy="285293"/>
          </a:xfrm>
          <a:prstGeom prst="rect">
            <a:avLst/>
          </a:prstGeom>
        </p:spPr>
      </p:pic>
      <p:pic>
        <p:nvPicPr>
          <p:cNvPr id="32" name="Image 11" descr="preencoded.png"/>
          <p:cNvPicPr>
            <a:picLocks noChangeAspect="1"/>
          </p:cNvPicPr>
          <p:nvPr/>
        </p:nvPicPr>
        <p:blipFill>
          <a:blip r:embed="rId4"/>
          <a:stretch>
            <a:fillRect/>
          </a:stretch>
        </p:blipFill>
        <p:spPr>
          <a:xfrm>
            <a:off x="2117750" y="3675888"/>
            <a:ext cx="310896" cy="310896"/>
          </a:xfrm>
          <a:prstGeom prst="rect">
            <a:avLst/>
          </a:prstGeom>
        </p:spPr>
      </p:pic>
      <p:sp>
        <p:nvSpPr>
          <p:cNvPr id="33" name="Text 19"/>
          <p:cNvSpPr txBox="1"/>
          <p:nvPr/>
        </p:nvSpPr>
        <p:spPr>
          <a:xfrm>
            <a:off x="749808" y="4343400"/>
            <a:ext cx="1706270" cy="685800"/>
          </a:xfrm>
          <a:prstGeom prst="rect">
            <a:avLst/>
          </a:prstGeom>
          <a:noFill/>
          <a:ln/>
        </p:spPr>
        <p:txBody>
          <a:bodyPr wrap="square" lIns="0" tIns="0" rIns="0" bIns="0" rtlCol="0" anchor="t"/>
          <a:lstStyle/>
          <a:p>
            <a:pPr marL="0" indent="0">
              <a:buNone/>
            </a:pPr>
            <a:r>
              <a:rPr lang="en-US" sz="1600" b="1" dirty="0">
                <a:solidFill>
                  <a:srgbClr val="0B1F33"/>
                </a:solidFill>
                <a:latin typeface="Calibri" pitchFamily="34" charset="0"/>
                <a:ea typeface="Calibri" pitchFamily="34" charset="-122"/>
                <a:cs typeface="Calibri" pitchFamily="34" charset="-120"/>
              </a:rPr>
              <a:t>RDP Secured</a:t>
            </a:r>
            <a:endParaRPr lang="en-US" sz="1600" dirty="0"/>
          </a:p>
        </p:txBody>
      </p:sp>
      <p:sp>
        <p:nvSpPr>
          <p:cNvPr id="34" name="Shape 20"/>
          <p:cNvSpPr/>
          <p:nvPr/>
        </p:nvSpPr>
        <p:spPr>
          <a:xfrm>
            <a:off x="2803550" y="3474720"/>
            <a:ext cx="2072030" cy="1691640"/>
          </a:xfrm>
          <a:prstGeom prst="roundRect">
            <a:avLst>
              <a:gd name="adj" fmla="val 6486"/>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35" name="Shape 21"/>
          <p:cNvSpPr/>
          <p:nvPr/>
        </p:nvSpPr>
        <p:spPr>
          <a:xfrm>
            <a:off x="3004718" y="3675888"/>
            <a:ext cx="548640" cy="548640"/>
          </a:xfrm>
          <a:prstGeom prst="ellipse">
            <a:avLst/>
          </a:prstGeom>
          <a:solidFill>
            <a:srgbClr val="EAF3FC"/>
          </a:solidFill>
          <a:ln w="12700">
            <a:solidFill>
              <a:srgbClr val="EAF3FC"/>
            </a:solidFill>
            <a:prstDash val="solid"/>
          </a:ln>
        </p:spPr>
        <p:txBody>
          <a:bodyPr/>
          <a:lstStyle/>
          <a:p>
            <a:endParaRPr lang="en-JP"/>
          </a:p>
        </p:txBody>
      </p:sp>
      <p:pic>
        <p:nvPicPr>
          <p:cNvPr id="36" name="Image 12" descr="preencoded.png"/>
          <p:cNvPicPr>
            <a:picLocks noChangeAspect="1"/>
          </p:cNvPicPr>
          <p:nvPr/>
        </p:nvPicPr>
        <p:blipFill>
          <a:blip r:embed="rId10"/>
          <a:stretch>
            <a:fillRect/>
          </a:stretch>
        </p:blipFill>
        <p:spPr>
          <a:xfrm>
            <a:off x="3136392" y="3807562"/>
            <a:ext cx="285293" cy="285293"/>
          </a:xfrm>
          <a:prstGeom prst="rect">
            <a:avLst/>
          </a:prstGeom>
        </p:spPr>
      </p:pic>
      <p:pic>
        <p:nvPicPr>
          <p:cNvPr id="37" name="Image 13" descr="preencoded.png"/>
          <p:cNvPicPr>
            <a:picLocks noChangeAspect="1"/>
          </p:cNvPicPr>
          <p:nvPr/>
        </p:nvPicPr>
        <p:blipFill>
          <a:blip r:embed="rId4"/>
          <a:stretch>
            <a:fillRect/>
          </a:stretch>
        </p:blipFill>
        <p:spPr>
          <a:xfrm>
            <a:off x="4372661" y="3675888"/>
            <a:ext cx="310896" cy="310896"/>
          </a:xfrm>
          <a:prstGeom prst="rect">
            <a:avLst/>
          </a:prstGeom>
        </p:spPr>
      </p:pic>
      <p:sp>
        <p:nvSpPr>
          <p:cNvPr id="38" name="Text 22"/>
          <p:cNvSpPr txBox="1"/>
          <p:nvPr/>
        </p:nvSpPr>
        <p:spPr>
          <a:xfrm>
            <a:off x="3004718" y="4343400"/>
            <a:ext cx="1706270" cy="685800"/>
          </a:xfrm>
          <a:prstGeom prst="rect">
            <a:avLst/>
          </a:prstGeom>
          <a:noFill/>
          <a:ln/>
        </p:spPr>
        <p:txBody>
          <a:bodyPr wrap="square" lIns="0" tIns="0" rIns="0" bIns="0" rtlCol="0" anchor="t"/>
          <a:lstStyle/>
          <a:p>
            <a:pPr marL="0" indent="0">
              <a:buNone/>
            </a:pPr>
            <a:r>
              <a:rPr lang="en-US" sz="1600" b="1" dirty="0">
                <a:solidFill>
                  <a:srgbClr val="0B1F33"/>
                </a:solidFill>
                <a:latin typeface="Calibri" pitchFamily="34" charset="0"/>
                <a:ea typeface="Calibri" pitchFamily="34" charset="-122"/>
                <a:cs typeface="Calibri" pitchFamily="34" charset="-120"/>
              </a:rPr>
              <a:t>ASR Rules Applied</a:t>
            </a:r>
            <a:endParaRPr lang="en-US" sz="1600" dirty="0"/>
          </a:p>
        </p:txBody>
      </p:sp>
      <p:sp>
        <p:nvSpPr>
          <p:cNvPr id="39" name="Shape 23"/>
          <p:cNvSpPr/>
          <p:nvPr/>
        </p:nvSpPr>
        <p:spPr>
          <a:xfrm>
            <a:off x="5058461" y="3474720"/>
            <a:ext cx="2072030" cy="1691640"/>
          </a:xfrm>
          <a:prstGeom prst="roundRect">
            <a:avLst>
              <a:gd name="adj" fmla="val 6486"/>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40" name="Shape 24"/>
          <p:cNvSpPr/>
          <p:nvPr/>
        </p:nvSpPr>
        <p:spPr>
          <a:xfrm>
            <a:off x="5259629" y="3675888"/>
            <a:ext cx="548640" cy="548640"/>
          </a:xfrm>
          <a:prstGeom prst="ellipse">
            <a:avLst/>
          </a:prstGeom>
          <a:solidFill>
            <a:srgbClr val="EAF3FC"/>
          </a:solidFill>
          <a:ln w="12700">
            <a:solidFill>
              <a:srgbClr val="EAF3FC"/>
            </a:solidFill>
            <a:prstDash val="solid"/>
          </a:ln>
        </p:spPr>
        <p:txBody>
          <a:bodyPr/>
          <a:lstStyle/>
          <a:p>
            <a:endParaRPr lang="en-JP"/>
          </a:p>
        </p:txBody>
      </p:sp>
      <p:pic>
        <p:nvPicPr>
          <p:cNvPr id="41" name="Image 14" descr="preencoded.png"/>
          <p:cNvPicPr>
            <a:picLocks noChangeAspect="1"/>
          </p:cNvPicPr>
          <p:nvPr/>
        </p:nvPicPr>
        <p:blipFill>
          <a:blip r:embed="rId11"/>
          <a:stretch>
            <a:fillRect/>
          </a:stretch>
        </p:blipFill>
        <p:spPr>
          <a:xfrm>
            <a:off x="5391302" y="3807562"/>
            <a:ext cx="285293" cy="285293"/>
          </a:xfrm>
          <a:prstGeom prst="rect">
            <a:avLst/>
          </a:prstGeom>
        </p:spPr>
      </p:pic>
      <p:pic>
        <p:nvPicPr>
          <p:cNvPr id="42" name="Image 15" descr="preencoded.png"/>
          <p:cNvPicPr>
            <a:picLocks noChangeAspect="1"/>
          </p:cNvPicPr>
          <p:nvPr/>
        </p:nvPicPr>
        <p:blipFill>
          <a:blip r:embed="rId4"/>
          <a:stretch>
            <a:fillRect/>
          </a:stretch>
        </p:blipFill>
        <p:spPr>
          <a:xfrm>
            <a:off x="6627571" y="3675888"/>
            <a:ext cx="310896" cy="310896"/>
          </a:xfrm>
          <a:prstGeom prst="rect">
            <a:avLst/>
          </a:prstGeom>
        </p:spPr>
      </p:pic>
      <p:sp>
        <p:nvSpPr>
          <p:cNvPr id="43" name="Text 25"/>
          <p:cNvSpPr txBox="1"/>
          <p:nvPr/>
        </p:nvSpPr>
        <p:spPr>
          <a:xfrm>
            <a:off x="5259629" y="4343400"/>
            <a:ext cx="1706270" cy="685800"/>
          </a:xfrm>
          <a:prstGeom prst="rect">
            <a:avLst/>
          </a:prstGeom>
          <a:noFill/>
          <a:ln/>
        </p:spPr>
        <p:txBody>
          <a:bodyPr wrap="square" lIns="0" tIns="0" rIns="0" bIns="0" rtlCol="0" anchor="t"/>
          <a:lstStyle/>
          <a:p>
            <a:pPr marL="0" indent="0">
              <a:buNone/>
            </a:pPr>
            <a:r>
              <a:rPr lang="en-US" sz="1600" b="1" dirty="0">
                <a:solidFill>
                  <a:srgbClr val="0B1F33"/>
                </a:solidFill>
                <a:latin typeface="Calibri" pitchFamily="34" charset="0"/>
                <a:ea typeface="Calibri" pitchFamily="34" charset="-122"/>
                <a:cs typeface="Calibri" pitchFamily="34" charset="-120"/>
              </a:rPr>
              <a:t>AppLocker Configured</a:t>
            </a:r>
            <a:endParaRPr lang="en-US" sz="1600" dirty="0"/>
          </a:p>
        </p:txBody>
      </p:sp>
      <p:sp>
        <p:nvSpPr>
          <p:cNvPr id="44" name="Shape 26"/>
          <p:cNvSpPr/>
          <p:nvPr/>
        </p:nvSpPr>
        <p:spPr>
          <a:xfrm>
            <a:off x="7313371" y="3474720"/>
            <a:ext cx="2072030" cy="1691640"/>
          </a:xfrm>
          <a:prstGeom prst="roundRect">
            <a:avLst>
              <a:gd name="adj" fmla="val 6486"/>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45" name="Shape 27"/>
          <p:cNvSpPr/>
          <p:nvPr/>
        </p:nvSpPr>
        <p:spPr>
          <a:xfrm>
            <a:off x="7514539" y="3675888"/>
            <a:ext cx="548640" cy="548640"/>
          </a:xfrm>
          <a:prstGeom prst="ellipse">
            <a:avLst/>
          </a:prstGeom>
          <a:solidFill>
            <a:srgbClr val="EAF3FC"/>
          </a:solidFill>
          <a:ln w="12700">
            <a:solidFill>
              <a:srgbClr val="EAF3FC"/>
            </a:solidFill>
            <a:prstDash val="solid"/>
          </a:ln>
        </p:spPr>
        <p:txBody>
          <a:bodyPr/>
          <a:lstStyle/>
          <a:p>
            <a:endParaRPr lang="en-JP"/>
          </a:p>
        </p:txBody>
      </p:sp>
      <p:pic>
        <p:nvPicPr>
          <p:cNvPr id="46" name="Image 16" descr="preencoded.png"/>
          <p:cNvPicPr>
            <a:picLocks noChangeAspect="1"/>
          </p:cNvPicPr>
          <p:nvPr/>
        </p:nvPicPr>
        <p:blipFill>
          <a:blip r:embed="rId12"/>
          <a:stretch>
            <a:fillRect/>
          </a:stretch>
        </p:blipFill>
        <p:spPr>
          <a:xfrm>
            <a:off x="7646213" y="3807562"/>
            <a:ext cx="285293" cy="285293"/>
          </a:xfrm>
          <a:prstGeom prst="rect">
            <a:avLst/>
          </a:prstGeom>
        </p:spPr>
      </p:pic>
      <p:pic>
        <p:nvPicPr>
          <p:cNvPr id="47" name="Image 17" descr="preencoded.png"/>
          <p:cNvPicPr>
            <a:picLocks noChangeAspect="1"/>
          </p:cNvPicPr>
          <p:nvPr/>
        </p:nvPicPr>
        <p:blipFill>
          <a:blip r:embed="rId4"/>
          <a:stretch>
            <a:fillRect/>
          </a:stretch>
        </p:blipFill>
        <p:spPr>
          <a:xfrm>
            <a:off x="8882482" y="3675888"/>
            <a:ext cx="310896" cy="310896"/>
          </a:xfrm>
          <a:prstGeom prst="rect">
            <a:avLst/>
          </a:prstGeom>
        </p:spPr>
      </p:pic>
      <p:sp>
        <p:nvSpPr>
          <p:cNvPr id="48" name="Text 28"/>
          <p:cNvSpPr txBox="1"/>
          <p:nvPr/>
        </p:nvSpPr>
        <p:spPr>
          <a:xfrm>
            <a:off x="7514539" y="4343400"/>
            <a:ext cx="1706270" cy="685800"/>
          </a:xfrm>
          <a:prstGeom prst="rect">
            <a:avLst/>
          </a:prstGeom>
          <a:noFill/>
          <a:ln/>
        </p:spPr>
        <p:txBody>
          <a:bodyPr wrap="square" lIns="0" tIns="0" rIns="0" bIns="0" rtlCol="0" anchor="t"/>
          <a:lstStyle/>
          <a:p>
            <a:pPr marL="0" indent="0">
              <a:buNone/>
            </a:pPr>
            <a:r>
              <a:rPr lang="en-US" sz="1600" b="1" dirty="0">
                <a:solidFill>
                  <a:srgbClr val="0B1F33"/>
                </a:solidFill>
                <a:latin typeface="Calibri" pitchFamily="34" charset="0"/>
                <a:ea typeface="Calibri" pitchFamily="34" charset="-122"/>
                <a:cs typeface="Calibri" pitchFamily="34" charset="-120"/>
              </a:rPr>
              <a:t>Security Logs Monitored</a:t>
            </a:r>
            <a:endParaRPr lang="en-US" sz="1600" dirty="0"/>
          </a:p>
        </p:txBody>
      </p:sp>
      <p:sp>
        <p:nvSpPr>
          <p:cNvPr id="49" name="Shape 29"/>
          <p:cNvSpPr/>
          <p:nvPr/>
        </p:nvSpPr>
        <p:spPr>
          <a:xfrm>
            <a:off x="9568282" y="3474720"/>
            <a:ext cx="2072030" cy="1691640"/>
          </a:xfrm>
          <a:prstGeom prst="roundRect">
            <a:avLst>
              <a:gd name="adj" fmla="val 6486"/>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50" name="Shape 30"/>
          <p:cNvSpPr/>
          <p:nvPr/>
        </p:nvSpPr>
        <p:spPr>
          <a:xfrm>
            <a:off x="9769450" y="3675888"/>
            <a:ext cx="548640" cy="548640"/>
          </a:xfrm>
          <a:prstGeom prst="ellipse">
            <a:avLst/>
          </a:prstGeom>
          <a:solidFill>
            <a:srgbClr val="EAF3FC"/>
          </a:solidFill>
          <a:ln w="12700">
            <a:solidFill>
              <a:srgbClr val="EAF3FC"/>
            </a:solidFill>
            <a:prstDash val="solid"/>
          </a:ln>
        </p:spPr>
        <p:txBody>
          <a:bodyPr/>
          <a:lstStyle/>
          <a:p>
            <a:endParaRPr lang="en-JP"/>
          </a:p>
        </p:txBody>
      </p:sp>
      <p:pic>
        <p:nvPicPr>
          <p:cNvPr id="51" name="Image 18" descr="preencoded.png"/>
          <p:cNvPicPr>
            <a:picLocks noChangeAspect="1"/>
          </p:cNvPicPr>
          <p:nvPr/>
        </p:nvPicPr>
        <p:blipFill>
          <a:blip r:embed="rId13"/>
          <a:stretch>
            <a:fillRect/>
          </a:stretch>
        </p:blipFill>
        <p:spPr>
          <a:xfrm>
            <a:off x="9901123" y="3807562"/>
            <a:ext cx="285293" cy="285293"/>
          </a:xfrm>
          <a:prstGeom prst="rect">
            <a:avLst/>
          </a:prstGeom>
        </p:spPr>
      </p:pic>
      <p:pic>
        <p:nvPicPr>
          <p:cNvPr id="52" name="Image 19" descr="preencoded.png"/>
          <p:cNvPicPr>
            <a:picLocks noChangeAspect="1"/>
          </p:cNvPicPr>
          <p:nvPr/>
        </p:nvPicPr>
        <p:blipFill>
          <a:blip r:embed="rId4"/>
          <a:stretch>
            <a:fillRect/>
          </a:stretch>
        </p:blipFill>
        <p:spPr>
          <a:xfrm>
            <a:off x="11137392" y="3675888"/>
            <a:ext cx="310896" cy="310896"/>
          </a:xfrm>
          <a:prstGeom prst="rect">
            <a:avLst/>
          </a:prstGeom>
        </p:spPr>
      </p:pic>
      <p:sp>
        <p:nvSpPr>
          <p:cNvPr id="53" name="Text 31"/>
          <p:cNvSpPr txBox="1"/>
          <p:nvPr/>
        </p:nvSpPr>
        <p:spPr>
          <a:xfrm>
            <a:off x="9769450" y="4343400"/>
            <a:ext cx="1706270" cy="685800"/>
          </a:xfrm>
          <a:prstGeom prst="rect">
            <a:avLst/>
          </a:prstGeom>
          <a:noFill/>
          <a:ln/>
        </p:spPr>
        <p:txBody>
          <a:bodyPr wrap="square" lIns="0" tIns="0" rIns="0" bIns="0" rtlCol="0" anchor="t"/>
          <a:lstStyle/>
          <a:p>
            <a:pPr marL="0" indent="0">
              <a:buNone/>
            </a:pPr>
            <a:r>
              <a:rPr lang="en-US" sz="1600" b="1" dirty="0">
                <a:solidFill>
                  <a:srgbClr val="0B1F33"/>
                </a:solidFill>
                <a:latin typeface="Calibri" pitchFamily="34" charset="0"/>
                <a:ea typeface="Calibri" pitchFamily="34" charset="-122"/>
                <a:cs typeface="Calibri" pitchFamily="34" charset="-120"/>
              </a:rPr>
              <a:t>Backups Tested</a:t>
            </a:r>
            <a:endParaRPr lang="en-US" sz="1600" dirty="0"/>
          </a:p>
        </p:txBody>
      </p:sp>
      <p:sp>
        <p:nvSpPr>
          <p:cNvPr id="54" name="Shape 32"/>
          <p:cNvSpPr/>
          <p:nvPr/>
        </p:nvSpPr>
        <p:spPr>
          <a:xfrm>
            <a:off x="548640" y="5440680"/>
            <a:ext cx="11091672" cy="594360"/>
          </a:xfrm>
          <a:prstGeom prst="roundRect">
            <a:avLst>
              <a:gd name="adj" fmla="val 18462"/>
            </a:avLst>
          </a:prstGeom>
          <a:solidFill>
            <a:srgbClr val="EAF3FC"/>
          </a:solidFill>
          <a:ln w="12700">
            <a:solidFill>
              <a:srgbClr val="EAF3FC"/>
            </a:solidFill>
            <a:prstDash val="solid"/>
          </a:ln>
        </p:spPr>
        <p:txBody>
          <a:bodyPr/>
          <a:lstStyle/>
          <a:p>
            <a:endParaRPr lang="en-JP"/>
          </a:p>
        </p:txBody>
      </p:sp>
      <p:pic>
        <p:nvPicPr>
          <p:cNvPr id="55" name="Image 20" descr="preencoded.png"/>
          <p:cNvPicPr>
            <a:picLocks noChangeAspect="1"/>
          </p:cNvPicPr>
          <p:nvPr/>
        </p:nvPicPr>
        <p:blipFill>
          <a:blip r:embed="rId14"/>
          <a:stretch>
            <a:fillRect/>
          </a:stretch>
        </p:blipFill>
        <p:spPr>
          <a:xfrm>
            <a:off x="777240" y="5577840"/>
            <a:ext cx="310896" cy="310896"/>
          </a:xfrm>
          <a:prstGeom prst="rect">
            <a:avLst/>
          </a:prstGeom>
        </p:spPr>
      </p:pic>
      <p:sp>
        <p:nvSpPr>
          <p:cNvPr id="56" name="Text 33"/>
          <p:cNvSpPr txBox="1"/>
          <p:nvPr/>
        </p:nvSpPr>
        <p:spPr>
          <a:xfrm>
            <a:off x="1280160" y="5440680"/>
            <a:ext cx="10149840" cy="594360"/>
          </a:xfrm>
          <a:prstGeom prst="rect">
            <a:avLst/>
          </a:prstGeom>
          <a:noFill/>
          <a:ln/>
        </p:spPr>
        <p:txBody>
          <a:bodyPr wrap="square" lIns="0" tIns="0" rIns="0" bIns="0" rtlCol="0" anchor="ctr"/>
          <a:lstStyle/>
          <a:p>
            <a:pPr marL="0" indent="0">
              <a:buNone/>
            </a:pPr>
            <a:r>
              <a:rPr lang="en-US" sz="1600" dirty="0">
                <a:solidFill>
                  <a:srgbClr val="0B1F33"/>
                </a:solidFill>
                <a:latin typeface="Calibri" pitchFamily="34" charset="0"/>
                <a:ea typeface="Calibri" pitchFamily="34" charset="-122"/>
                <a:cs typeface="Calibri" pitchFamily="34" charset="-120"/>
              </a:rPr>
              <a:t>Review this baseline regularly: hardening is a continuous process, not a one-time project.</a:t>
            </a:r>
            <a:endParaRPr lang="en-US" sz="1600" dirty="0"/>
          </a:p>
        </p:txBody>
      </p:sp>
      <p:sp>
        <p:nvSpPr>
          <p:cNvPr id="57"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A6B"/>
                </a:solidFill>
                <a:latin typeface="Calibri"/>
                <a:ea typeface="Calibri"/>
                <a:cs typeface="Calibri"/>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64240" cy="292608"/>
          </a:xfrm>
          <a:prstGeom prst="rect">
            <a:avLst/>
          </a:prstGeom>
          <a:noFill/>
          <a:ln/>
        </p:spPr>
        <p:txBody>
          <a:bodyPr wrap="square" lIns="0" tIns="0" rIns="0" bIns="0" rtlCol="0" anchor="ctr"/>
          <a:lstStyle/>
          <a:p>
            <a:pPr marL="0" indent="0">
              <a:buNone/>
            </a:pPr>
            <a:r>
              <a:rPr lang="en-US" sz="1200" b="1" kern="0" spc="200" dirty="0">
                <a:solidFill>
                  <a:srgbClr val="0078D4"/>
                </a:solidFill>
                <a:latin typeface="Calibri" pitchFamily="34" charset="0"/>
                <a:ea typeface="Calibri" pitchFamily="34" charset="-122"/>
                <a:cs typeface="Calibri" pitchFamily="34" charset="-120"/>
              </a:rPr>
              <a:t>13  ·  REMEMBER</a:t>
            </a:r>
            <a:endParaRPr lang="en-US" sz="1200" dirty="0"/>
          </a:p>
        </p:txBody>
      </p:sp>
      <p:sp>
        <p:nvSpPr>
          <p:cNvPr id="3" name="Text 0"/>
          <p:cNvSpPr>
            <a:spLocks noGrp="1"/>
          </p:cNvSpPr>
          <p:nvPr>
            <p:ph type="title" idx="101" hasCustomPrompt="1"/>
          </p:nvPr>
        </p:nvSpPr>
        <p:spPr>
          <a:xfrm>
            <a:off x="548640" y="640080"/>
            <a:ext cx="11064240" cy="731520"/>
          </a:xfrm>
          <a:prstGeom prst="rect">
            <a:avLst/>
          </a:prstGeom>
          <a:noFill/>
          <a:ln/>
        </p:spPr>
        <p:txBody>
          <a:bodyPr wrap="square" lIns="0" tIns="0" rIns="0" bIns="0" rtlCol="0" anchor="ctr"/>
          <a:lstStyle/>
          <a:p>
            <a:pPr marL="0" indent="0" algn="l">
              <a:buNone/>
            </a:pPr>
            <a:r>
              <a:rPr lang="en-US" sz="3600" b="1" dirty="0">
                <a:solidFill>
                  <a:srgbClr val="0B1F33"/>
                </a:solidFill>
                <a:latin typeface="Arial" pitchFamily="34" charset="0"/>
                <a:ea typeface="Arial" pitchFamily="34" charset="-122"/>
                <a:cs typeface="Arial" pitchFamily="34" charset="-120"/>
              </a:rPr>
              <a:t>Key Takeaways</a:t>
            </a:r>
            <a:endParaRPr lang="en-US" sz="3600" dirty="0"/>
          </a:p>
        </p:txBody>
      </p:sp>
      <p:sp>
        <p:nvSpPr>
          <p:cNvPr id="4" name="Shape 2"/>
          <p:cNvSpPr/>
          <p:nvPr/>
        </p:nvSpPr>
        <p:spPr>
          <a:xfrm>
            <a:off x="548640" y="1600200"/>
            <a:ext cx="3575304" cy="1371600"/>
          </a:xfrm>
          <a:prstGeom prst="roundRect">
            <a:avLst>
              <a:gd name="adj" fmla="val 8000"/>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5" name="Shape 3"/>
          <p:cNvSpPr/>
          <p:nvPr/>
        </p:nvSpPr>
        <p:spPr>
          <a:xfrm>
            <a:off x="749808" y="1965960"/>
            <a:ext cx="621792" cy="621792"/>
          </a:xfrm>
          <a:prstGeom prst="ellipse">
            <a:avLst/>
          </a:prstGeom>
          <a:solidFill>
            <a:srgbClr val="0078D4"/>
          </a:solidFill>
          <a:ln w="12700">
            <a:solidFill>
              <a:srgbClr val="0078D4"/>
            </a:solidFill>
            <a:prstDash val="solid"/>
          </a:ln>
        </p:spPr>
        <p:txBody>
          <a:bodyPr/>
          <a:lstStyle/>
          <a:p>
            <a:endParaRPr lang="en-JP"/>
          </a:p>
        </p:txBody>
      </p:sp>
      <p:pic>
        <p:nvPicPr>
          <p:cNvPr id="6" name="Image 0" descr="preencoded.png"/>
          <p:cNvPicPr>
            <a:picLocks noChangeAspect="1"/>
          </p:cNvPicPr>
          <p:nvPr/>
        </p:nvPicPr>
        <p:blipFill>
          <a:blip r:embed="rId3"/>
          <a:stretch>
            <a:fillRect/>
          </a:stretch>
        </p:blipFill>
        <p:spPr>
          <a:xfrm>
            <a:off x="899038" y="2115190"/>
            <a:ext cx="323332" cy="323332"/>
          </a:xfrm>
          <a:prstGeom prst="rect">
            <a:avLst/>
          </a:prstGeom>
        </p:spPr>
      </p:pic>
      <p:sp>
        <p:nvSpPr>
          <p:cNvPr id="7" name="Text 4"/>
          <p:cNvSpPr txBox="1"/>
          <p:nvPr/>
        </p:nvSpPr>
        <p:spPr>
          <a:xfrm>
            <a:off x="1508760" y="1874520"/>
            <a:ext cx="2478024" cy="384048"/>
          </a:xfrm>
          <a:prstGeom prst="rect">
            <a:avLst/>
          </a:prstGeom>
          <a:noFill/>
          <a:ln/>
        </p:spPr>
        <p:txBody>
          <a:bodyPr wrap="square" lIns="0" tIns="0" rIns="0" bIns="0" rtlCol="0" anchor="ctr"/>
          <a:lstStyle/>
          <a:p>
            <a:pPr marL="0" indent="0">
              <a:buNone/>
            </a:pPr>
            <a:r>
              <a:rPr lang="en-US" sz="1600" b="1" dirty="0">
                <a:solidFill>
                  <a:srgbClr val="0B1F33"/>
                </a:solidFill>
                <a:latin typeface="Arial" pitchFamily="34" charset="0"/>
                <a:ea typeface="Arial" pitchFamily="34" charset="-122"/>
                <a:cs typeface="Arial" pitchFamily="34" charset="-120"/>
              </a:rPr>
              <a:t>Protect Identities</a:t>
            </a:r>
            <a:endParaRPr lang="en-US" sz="1600" dirty="0"/>
          </a:p>
        </p:txBody>
      </p:sp>
      <p:sp>
        <p:nvSpPr>
          <p:cNvPr id="8" name="Text 5"/>
          <p:cNvSpPr txBox="1"/>
          <p:nvPr/>
        </p:nvSpPr>
        <p:spPr>
          <a:xfrm>
            <a:off x="1508760" y="2276856"/>
            <a:ext cx="2478024" cy="502920"/>
          </a:xfrm>
          <a:prstGeom prst="rect">
            <a:avLst/>
          </a:prstGeom>
          <a:noFill/>
          <a:ln/>
        </p:spPr>
        <p:txBody>
          <a:bodyPr wrap="square" lIns="0" tIns="0" rIns="0" bIns="0" rtlCol="0" anchor="t"/>
          <a:lstStyle/>
          <a:p>
            <a:pPr marL="0" indent="0">
              <a:buNone/>
            </a:pPr>
            <a:r>
              <a:rPr lang="en-US" sz="1400" dirty="0">
                <a:solidFill>
                  <a:srgbClr val="4A5A6B"/>
                </a:solidFill>
                <a:latin typeface="Calibri" pitchFamily="34" charset="0"/>
                <a:ea typeface="Calibri" pitchFamily="34" charset="-122"/>
                <a:cs typeface="Calibri" pitchFamily="34" charset="-120"/>
              </a:rPr>
              <a:t>MFA, least privilege, separate admin accounts</a:t>
            </a:r>
            <a:endParaRPr lang="en-US" sz="1400" dirty="0"/>
          </a:p>
        </p:txBody>
      </p:sp>
      <p:sp>
        <p:nvSpPr>
          <p:cNvPr id="9" name="Shape 6"/>
          <p:cNvSpPr/>
          <p:nvPr/>
        </p:nvSpPr>
        <p:spPr>
          <a:xfrm>
            <a:off x="4306824" y="1600200"/>
            <a:ext cx="3575304" cy="1371600"/>
          </a:xfrm>
          <a:prstGeom prst="roundRect">
            <a:avLst>
              <a:gd name="adj" fmla="val 8000"/>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0" name="Shape 7"/>
          <p:cNvSpPr/>
          <p:nvPr/>
        </p:nvSpPr>
        <p:spPr>
          <a:xfrm>
            <a:off x="4507992" y="1965960"/>
            <a:ext cx="621792" cy="621792"/>
          </a:xfrm>
          <a:prstGeom prst="ellipse">
            <a:avLst/>
          </a:prstGeom>
          <a:solidFill>
            <a:srgbClr val="0078D4"/>
          </a:solidFill>
          <a:ln w="12700">
            <a:solidFill>
              <a:srgbClr val="0078D4"/>
            </a:solidFill>
            <a:prstDash val="solid"/>
          </a:ln>
        </p:spPr>
        <p:txBody>
          <a:bodyPr/>
          <a:lstStyle/>
          <a:p>
            <a:endParaRPr lang="en-JP"/>
          </a:p>
        </p:txBody>
      </p:sp>
      <p:pic>
        <p:nvPicPr>
          <p:cNvPr id="11" name="Image 1" descr="preencoded.png"/>
          <p:cNvPicPr>
            <a:picLocks noChangeAspect="1"/>
          </p:cNvPicPr>
          <p:nvPr/>
        </p:nvPicPr>
        <p:blipFill>
          <a:blip r:embed="rId4"/>
          <a:stretch>
            <a:fillRect/>
          </a:stretch>
        </p:blipFill>
        <p:spPr>
          <a:xfrm>
            <a:off x="4657222" y="2115190"/>
            <a:ext cx="323332" cy="323332"/>
          </a:xfrm>
          <a:prstGeom prst="rect">
            <a:avLst/>
          </a:prstGeom>
        </p:spPr>
      </p:pic>
      <p:sp>
        <p:nvSpPr>
          <p:cNvPr id="12" name="Text 8"/>
          <p:cNvSpPr txBox="1"/>
          <p:nvPr/>
        </p:nvSpPr>
        <p:spPr>
          <a:xfrm>
            <a:off x="5266944" y="1874520"/>
            <a:ext cx="2478024" cy="384048"/>
          </a:xfrm>
          <a:prstGeom prst="rect">
            <a:avLst/>
          </a:prstGeom>
          <a:noFill/>
          <a:ln/>
        </p:spPr>
        <p:txBody>
          <a:bodyPr wrap="square" lIns="0" tIns="0" rIns="0" bIns="0" rtlCol="0" anchor="ctr"/>
          <a:lstStyle/>
          <a:p>
            <a:pPr marL="0" indent="0">
              <a:buNone/>
            </a:pPr>
            <a:r>
              <a:rPr lang="en-US" sz="1600" b="1" dirty="0">
                <a:solidFill>
                  <a:srgbClr val="0B1F33"/>
                </a:solidFill>
                <a:latin typeface="Arial" pitchFamily="34" charset="0"/>
                <a:ea typeface="Arial" pitchFamily="34" charset="-122"/>
                <a:cs typeface="Arial" pitchFamily="34" charset="-120"/>
              </a:rPr>
              <a:t>Secure Configurations</a:t>
            </a:r>
            <a:endParaRPr lang="en-US" sz="1600" dirty="0"/>
          </a:p>
        </p:txBody>
      </p:sp>
      <p:sp>
        <p:nvSpPr>
          <p:cNvPr id="13" name="Text 9"/>
          <p:cNvSpPr txBox="1"/>
          <p:nvPr/>
        </p:nvSpPr>
        <p:spPr>
          <a:xfrm>
            <a:off x="5266944" y="2276856"/>
            <a:ext cx="2478024" cy="502920"/>
          </a:xfrm>
          <a:prstGeom prst="rect">
            <a:avLst/>
          </a:prstGeom>
          <a:noFill/>
          <a:ln/>
        </p:spPr>
        <p:txBody>
          <a:bodyPr wrap="square" lIns="0" tIns="0" rIns="0" bIns="0" rtlCol="0" anchor="t"/>
          <a:lstStyle/>
          <a:p>
            <a:pPr marL="0" indent="0">
              <a:buNone/>
            </a:pPr>
            <a:r>
              <a:rPr lang="en-US" sz="1400" dirty="0">
                <a:solidFill>
                  <a:srgbClr val="4A5A6B"/>
                </a:solidFill>
                <a:latin typeface="Calibri" pitchFamily="34" charset="0"/>
                <a:ea typeface="Calibri" pitchFamily="34" charset="-122"/>
                <a:cs typeface="Calibri" pitchFamily="34" charset="-120"/>
              </a:rPr>
              <a:t>Baselines, ASR rules and application control</a:t>
            </a:r>
            <a:endParaRPr lang="en-US" sz="1400" dirty="0"/>
          </a:p>
        </p:txBody>
      </p:sp>
      <p:sp>
        <p:nvSpPr>
          <p:cNvPr id="14" name="Shape 10"/>
          <p:cNvSpPr/>
          <p:nvPr/>
        </p:nvSpPr>
        <p:spPr>
          <a:xfrm>
            <a:off x="8065008" y="1600200"/>
            <a:ext cx="3575304" cy="1371600"/>
          </a:xfrm>
          <a:prstGeom prst="roundRect">
            <a:avLst>
              <a:gd name="adj" fmla="val 8000"/>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15" name="Shape 11"/>
          <p:cNvSpPr/>
          <p:nvPr/>
        </p:nvSpPr>
        <p:spPr>
          <a:xfrm>
            <a:off x="8266176" y="1965960"/>
            <a:ext cx="621792" cy="621792"/>
          </a:xfrm>
          <a:prstGeom prst="ellipse">
            <a:avLst/>
          </a:prstGeom>
          <a:solidFill>
            <a:srgbClr val="0078D4"/>
          </a:solidFill>
          <a:ln w="12700">
            <a:solidFill>
              <a:srgbClr val="0078D4"/>
            </a:solidFill>
            <a:prstDash val="solid"/>
          </a:ln>
        </p:spPr>
        <p:txBody>
          <a:bodyPr/>
          <a:lstStyle/>
          <a:p>
            <a:endParaRPr lang="en-JP"/>
          </a:p>
        </p:txBody>
      </p:sp>
      <p:pic>
        <p:nvPicPr>
          <p:cNvPr id="16" name="Image 2" descr="preencoded.png"/>
          <p:cNvPicPr>
            <a:picLocks noChangeAspect="1"/>
          </p:cNvPicPr>
          <p:nvPr/>
        </p:nvPicPr>
        <p:blipFill>
          <a:blip r:embed="rId5"/>
          <a:stretch>
            <a:fillRect/>
          </a:stretch>
        </p:blipFill>
        <p:spPr>
          <a:xfrm>
            <a:off x="8415406" y="2115190"/>
            <a:ext cx="323332" cy="323332"/>
          </a:xfrm>
          <a:prstGeom prst="rect">
            <a:avLst/>
          </a:prstGeom>
        </p:spPr>
      </p:pic>
      <p:sp>
        <p:nvSpPr>
          <p:cNvPr id="17" name="Text 12"/>
          <p:cNvSpPr txBox="1"/>
          <p:nvPr/>
        </p:nvSpPr>
        <p:spPr>
          <a:xfrm>
            <a:off x="9025128" y="1874520"/>
            <a:ext cx="2478024" cy="384048"/>
          </a:xfrm>
          <a:prstGeom prst="rect">
            <a:avLst/>
          </a:prstGeom>
          <a:noFill/>
          <a:ln/>
        </p:spPr>
        <p:txBody>
          <a:bodyPr wrap="square" lIns="0" tIns="0" rIns="0" bIns="0" rtlCol="0" anchor="ctr"/>
          <a:lstStyle/>
          <a:p>
            <a:pPr marL="0" indent="0">
              <a:buNone/>
            </a:pPr>
            <a:r>
              <a:rPr lang="en-US" sz="1600" b="1" dirty="0">
                <a:solidFill>
                  <a:srgbClr val="0B1F33"/>
                </a:solidFill>
                <a:latin typeface="Arial" pitchFamily="34" charset="0"/>
                <a:ea typeface="Arial" pitchFamily="34" charset="-122"/>
                <a:cs typeface="Arial" pitchFamily="34" charset="-120"/>
              </a:rPr>
              <a:t>Patch Continuously</a:t>
            </a:r>
            <a:endParaRPr lang="en-US" sz="1600" dirty="0"/>
          </a:p>
        </p:txBody>
      </p:sp>
      <p:sp>
        <p:nvSpPr>
          <p:cNvPr id="18" name="Text 13"/>
          <p:cNvSpPr txBox="1"/>
          <p:nvPr/>
        </p:nvSpPr>
        <p:spPr>
          <a:xfrm>
            <a:off x="9025128" y="2276856"/>
            <a:ext cx="2478024" cy="502920"/>
          </a:xfrm>
          <a:prstGeom prst="rect">
            <a:avLst/>
          </a:prstGeom>
          <a:noFill/>
          <a:ln/>
        </p:spPr>
        <p:txBody>
          <a:bodyPr wrap="square" lIns="0" tIns="0" rIns="0" bIns="0" rtlCol="0" anchor="t"/>
          <a:lstStyle/>
          <a:p>
            <a:pPr marL="0" indent="0">
              <a:buNone/>
            </a:pPr>
            <a:r>
              <a:rPr lang="en-US" sz="1400" dirty="0">
                <a:solidFill>
                  <a:srgbClr val="4A5A6B"/>
                </a:solidFill>
                <a:latin typeface="Calibri" pitchFamily="34" charset="0"/>
                <a:ea typeface="Calibri" pitchFamily="34" charset="-122"/>
                <a:cs typeface="Calibri" pitchFamily="34" charset="-120"/>
              </a:rPr>
              <a:t>Monthly cycle plus emergency patching</a:t>
            </a:r>
            <a:endParaRPr lang="en-US" sz="1400" dirty="0"/>
          </a:p>
        </p:txBody>
      </p:sp>
      <p:sp>
        <p:nvSpPr>
          <p:cNvPr id="19" name="Shape 14"/>
          <p:cNvSpPr/>
          <p:nvPr/>
        </p:nvSpPr>
        <p:spPr>
          <a:xfrm>
            <a:off x="548640" y="3154680"/>
            <a:ext cx="3575304" cy="1371600"/>
          </a:xfrm>
          <a:prstGeom prst="roundRect">
            <a:avLst>
              <a:gd name="adj" fmla="val 8000"/>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20" name="Shape 15"/>
          <p:cNvSpPr/>
          <p:nvPr/>
        </p:nvSpPr>
        <p:spPr>
          <a:xfrm>
            <a:off x="749808" y="3520440"/>
            <a:ext cx="621792" cy="621792"/>
          </a:xfrm>
          <a:prstGeom prst="ellipse">
            <a:avLst/>
          </a:prstGeom>
          <a:solidFill>
            <a:srgbClr val="0078D4"/>
          </a:solidFill>
          <a:ln w="12700">
            <a:solidFill>
              <a:srgbClr val="0078D4"/>
            </a:solidFill>
            <a:prstDash val="solid"/>
          </a:ln>
        </p:spPr>
        <p:txBody>
          <a:bodyPr/>
          <a:lstStyle/>
          <a:p>
            <a:endParaRPr lang="en-JP"/>
          </a:p>
        </p:txBody>
      </p:sp>
      <p:pic>
        <p:nvPicPr>
          <p:cNvPr id="21" name="Image 3" descr="preencoded.png"/>
          <p:cNvPicPr>
            <a:picLocks noChangeAspect="1"/>
          </p:cNvPicPr>
          <p:nvPr/>
        </p:nvPicPr>
        <p:blipFill>
          <a:blip r:embed="rId6"/>
          <a:stretch>
            <a:fillRect/>
          </a:stretch>
        </p:blipFill>
        <p:spPr>
          <a:xfrm>
            <a:off x="899038" y="3669670"/>
            <a:ext cx="323332" cy="323332"/>
          </a:xfrm>
          <a:prstGeom prst="rect">
            <a:avLst/>
          </a:prstGeom>
        </p:spPr>
      </p:pic>
      <p:sp>
        <p:nvSpPr>
          <p:cNvPr id="22" name="Text 16"/>
          <p:cNvSpPr txBox="1"/>
          <p:nvPr/>
        </p:nvSpPr>
        <p:spPr>
          <a:xfrm>
            <a:off x="1508760" y="3429000"/>
            <a:ext cx="2478024" cy="384048"/>
          </a:xfrm>
          <a:prstGeom prst="rect">
            <a:avLst/>
          </a:prstGeom>
          <a:noFill/>
          <a:ln/>
        </p:spPr>
        <p:txBody>
          <a:bodyPr wrap="square" lIns="0" tIns="0" rIns="0" bIns="0" rtlCol="0" anchor="ctr"/>
          <a:lstStyle/>
          <a:p>
            <a:pPr marL="0" indent="0">
              <a:buNone/>
            </a:pPr>
            <a:r>
              <a:rPr lang="en-US" sz="1600" b="1" dirty="0">
                <a:solidFill>
                  <a:srgbClr val="0B1F33"/>
                </a:solidFill>
                <a:latin typeface="Arial" pitchFamily="34" charset="0"/>
                <a:ea typeface="Arial" pitchFamily="34" charset="-122"/>
                <a:cs typeface="Arial" pitchFamily="34" charset="-120"/>
              </a:rPr>
              <a:t>Monitor Everything</a:t>
            </a:r>
            <a:endParaRPr lang="en-US" sz="1600" dirty="0"/>
          </a:p>
        </p:txBody>
      </p:sp>
      <p:sp>
        <p:nvSpPr>
          <p:cNvPr id="23" name="Text 17"/>
          <p:cNvSpPr txBox="1"/>
          <p:nvPr/>
        </p:nvSpPr>
        <p:spPr>
          <a:xfrm>
            <a:off x="1508760" y="3831336"/>
            <a:ext cx="2478024" cy="502920"/>
          </a:xfrm>
          <a:prstGeom prst="rect">
            <a:avLst/>
          </a:prstGeom>
          <a:noFill/>
          <a:ln/>
        </p:spPr>
        <p:txBody>
          <a:bodyPr wrap="square" lIns="0" tIns="0" rIns="0" bIns="0" rtlCol="0" anchor="t"/>
          <a:lstStyle/>
          <a:p>
            <a:pPr marL="0" indent="0">
              <a:buNone/>
            </a:pPr>
            <a:r>
              <a:rPr lang="en-US" sz="1400" dirty="0">
                <a:solidFill>
                  <a:srgbClr val="4A5A6B"/>
                </a:solidFill>
                <a:latin typeface="Calibri" pitchFamily="34" charset="0"/>
                <a:ea typeface="Calibri" pitchFamily="34" charset="-122"/>
                <a:cs typeface="Calibri" pitchFamily="34" charset="-120"/>
              </a:rPr>
              <a:t>Centralise logs in your SIEM</a:t>
            </a:r>
            <a:endParaRPr lang="en-US" sz="1400" dirty="0"/>
          </a:p>
        </p:txBody>
      </p:sp>
      <p:sp>
        <p:nvSpPr>
          <p:cNvPr id="24" name="Shape 18"/>
          <p:cNvSpPr/>
          <p:nvPr/>
        </p:nvSpPr>
        <p:spPr>
          <a:xfrm>
            <a:off x="4306824" y="3154680"/>
            <a:ext cx="3575304" cy="1371600"/>
          </a:xfrm>
          <a:prstGeom prst="roundRect">
            <a:avLst>
              <a:gd name="adj" fmla="val 8000"/>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25" name="Shape 19"/>
          <p:cNvSpPr/>
          <p:nvPr/>
        </p:nvSpPr>
        <p:spPr>
          <a:xfrm>
            <a:off x="4507992" y="3520440"/>
            <a:ext cx="621792" cy="621792"/>
          </a:xfrm>
          <a:prstGeom prst="ellipse">
            <a:avLst/>
          </a:prstGeom>
          <a:solidFill>
            <a:srgbClr val="0078D4"/>
          </a:solidFill>
          <a:ln w="12700">
            <a:solidFill>
              <a:srgbClr val="0078D4"/>
            </a:solidFill>
            <a:prstDash val="solid"/>
          </a:ln>
        </p:spPr>
        <p:txBody>
          <a:bodyPr/>
          <a:lstStyle/>
          <a:p>
            <a:endParaRPr lang="en-JP"/>
          </a:p>
        </p:txBody>
      </p:sp>
      <p:pic>
        <p:nvPicPr>
          <p:cNvPr id="26" name="Image 4" descr="preencoded.png"/>
          <p:cNvPicPr>
            <a:picLocks noChangeAspect="1"/>
          </p:cNvPicPr>
          <p:nvPr/>
        </p:nvPicPr>
        <p:blipFill>
          <a:blip r:embed="rId7"/>
          <a:stretch>
            <a:fillRect/>
          </a:stretch>
        </p:blipFill>
        <p:spPr>
          <a:xfrm>
            <a:off x="4657222" y="3669670"/>
            <a:ext cx="323332" cy="323332"/>
          </a:xfrm>
          <a:prstGeom prst="rect">
            <a:avLst/>
          </a:prstGeom>
        </p:spPr>
      </p:pic>
      <p:sp>
        <p:nvSpPr>
          <p:cNvPr id="27" name="Text 20"/>
          <p:cNvSpPr txBox="1"/>
          <p:nvPr/>
        </p:nvSpPr>
        <p:spPr>
          <a:xfrm>
            <a:off x="5266944" y="3429000"/>
            <a:ext cx="2478024" cy="384048"/>
          </a:xfrm>
          <a:prstGeom prst="rect">
            <a:avLst/>
          </a:prstGeom>
          <a:noFill/>
          <a:ln/>
        </p:spPr>
        <p:txBody>
          <a:bodyPr wrap="square" lIns="0" tIns="0" rIns="0" bIns="0" rtlCol="0" anchor="ctr"/>
          <a:lstStyle/>
          <a:p>
            <a:pPr marL="0" indent="0">
              <a:buNone/>
            </a:pPr>
            <a:r>
              <a:rPr lang="en-US" sz="1600" b="1" dirty="0">
                <a:solidFill>
                  <a:srgbClr val="0B1F33"/>
                </a:solidFill>
                <a:latin typeface="Arial" pitchFamily="34" charset="0"/>
                <a:ea typeface="Arial" pitchFamily="34" charset="-122"/>
                <a:cs typeface="Arial" pitchFamily="34" charset="-120"/>
              </a:rPr>
              <a:t>Encrypt Sensitive Data</a:t>
            </a:r>
            <a:endParaRPr lang="en-US" sz="1600" dirty="0"/>
          </a:p>
        </p:txBody>
      </p:sp>
      <p:sp>
        <p:nvSpPr>
          <p:cNvPr id="28" name="Text 21"/>
          <p:cNvSpPr txBox="1"/>
          <p:nvPr/>
        </p:nvSpPr>
        <p:spPr>
          <a:xfrm>
            <a:off x="5266944" y="3831336"/>
            <a:ext cx="2478024" cy="502920"/>
          </a:xfrm>
          <a:prstGeom prst="rect">
            <a:avLst/>
          </a:prstGeom>
          <a:noFill/>
          <a:ln/>
        </p:spPr>
        <p:txBody>
          <a:bodyPr wrap="square" lIns="0" tIns="0" rIns="0" bIns="0" rtlCol="0" anchor="t"/>
          <a:lstStyle/>
          <a:p>
            <a:pPr marL="0" indent="0">
              <a:buNone/>
            </a:pPr>
            <a:r>
              <a:rPr lang="en-US" sz="1400" dirty="0">
                <a:solidFill>
                  <a:srgbClr val="4A5A6B"/>
                </a:solidFill>
                <a:latin typeface="Calibri" pitchFamily="34" charset="0"/>
                <a:ea typeface="Calibri" pitchFamily="34" charset="-122"/>
                <a:cs typeface="Calibri" pitchFamily="34" charset="-120"/>
              </a:rPr>
              <a:t>BitLocker with managed recovery keys</a:t>
            </a:r>
            <a:endParaRPr lang="en-US" sz="1400" dirty="0"/>
          </a:p>
        </p:txBody>
      </p:sp>
      <p:sp>
        <p:nvSpPr>
          <p:cNvPr id="29" name="Shape 22"/>
          <p:cNvSpPr/>
          <p:nvPr/>
        </p:nvSpPr>
        <p:spPr>
          <a:xfrm>
            <a:off x="8065008" y="3154680"/>
            <a:ext cx="3575304" cy="1371600"/>
          </a:xfrm>
          <a:prstGeom prst="roundRect">
            <a:avLst>
              <a:gd name="adj" fmla="val 8000"/>
            </a:avLst>
          </a:prstGeom>
          <a:solidFill>
            <a:srgbClr val="FFFFFF"/>
          </a:solidFill>
          <a:ln w="12700">
            <a:solidFill>
              <a:srgbClr val="FFFFFF"/>
            </a:solidFill>
            <a:prstDash val="solid"/>
          </a:ln>
          <a:effectLst>
            <a:outerShdw blurRad="76200" dist="19050" dir="5400000" algn="bl" rotWithShape="0">
              <a:srgbClr val="8FA6BD">
                <a:alpha val="25000"/>
              </a:srgbClr>
            </a:outerShdw>
          </a:effectLst>
        </p:spPr>
        <p:txBody>
          <a:bodyPr/>
          <a:lstStyle/>
          <a:p>
            <a:endParaRPr lang="en-JP"/>
          </a:p>
        </p:txBody>
      </p:sp>
      <p:sp>
        <p:nvSpPr>
          <p:cNvPr id="30" name="Shape 23"/>
          <p:cNvSpPr/>
          <p:nvPr/>
        </p:nvSpPr>
        <p:spPr>
          <a:xfrm>
            <a:off x="8266176" y="3520440"/>
            <a:ext cx="621792" cy="621792"/>
          </a:xfrm>
          <a:prstGeom prst="ellipse">
            <a:avLst/>
          </a:prstGeom>
          <a:solidFill>
            <a:srgbClr val="0078D4"/>
          </a:solidFill>
          <a:ln w="12700">
            <a:solidFill>
              <a:srgbClr val="0078D4"/>
            </a:solidFill>
            <a:prstDash val="solid"/>
          </a:ln>
        </p:spPr>
        <p:txBody>
          <a:bodyPr/>
          <a:lstStyle/>
          <a:p>
            <a:endParaRPr lang="en-JP"/>
          </a:p>
        </p:txBody>
      </p:sp>
      <p:pic>
        <p:nvPicPr>
          <p:cNvPr id="31" name="Image 5" descr="preencoded.png"/>
          <p:cNvPicPr>
            <a:picLocks noChangeAspect="1"/>
          </p:cNvPicPr>
          <p:nvPr/>
        </p:nvPicPr>
        <p:blipFill>
          <a:blip r:embed="rId8"/>
          <a:stretch>
            <a:fillRect/>
          </a:stretch>
        </p:blipFill>
        <p:spPr>
          <a:xfrm>
            <a:off x="8415406" y="3669670"/>
            <a:ext cx="323332" cy="323332"/>
          </a:xfrm>
          <a:prstGeom prst="rect">
            <a:avLst/>
          </a:prstGeom>
        </p:spPr>
      </p:pic>
      <p:sp>
        <p:nvSpPr>
          <p:cNvPr id="32" name="Text 24"/>
          <p:cNvSpPr txBox="1"/>
          <p:nvPr/>
        </p:nvSpPr>
        <p:spPr>
          <a:xfrm>
            <a:off x="9025128" y="3429000"/>
            <a:ext cx="2478024" cy="384048"/>
          </a:xfrm>
          <a:prstGeom prst="rect">
            <a:avLst/>
          </a:prstGeom>
          <a:noFill/>
          <a:ln/>
        </p:spPr>
        <p:txBody>
          <a:bodyPr wrap="square" lIns="0" tIns="0" rIns="0" bIns="0" rtlCol="0" anchor="ctr"/>
          <a:lstStyle/>
          <a:p>
            <a:pPr marL="0" indent="0">
              <a:buNone/>
            </a:pPr>
            <a:r>
              <a:rPr lang="en-US" sz="1600" b="1" dirty="0">
                <a:solidFill>
                  <a:srgbClr val="0B1F33"/>
                </a:solidFill>
                <a:latin typeface="Arial" pitchFamily="34" charset="0"/>
                <a:ea typeface="Arial" pitchFamily="34" charset="-122"/>
                <a:cs typeface="Arial" pitchFamily="34" charset="-120"/>
              </a:rPr>
              <a:t>Prepare for Incidents</a:t>
            </a:r>
            <a:endParaRPr lang="en-US" sz="1600" dirty="0"/>
          </a:p>
        </p:txBody>
      </p:sp>
      <p:sp>
        <p:nvSpPr>
          <p:cNvPr id="33" name="Text 25"/>
          <p:cNvSpPr txBox="1"/>
          <p:nvPr/>
        </p:nvSpPr>
        <p:spPr>
          <a:xfrm>
            <a:off x="9025128" y="3831336"/>
            <a:ext cx="2478024" cy="502920"/>
          </a:xfrm>
          <a:prstGeom prst="rect">
            <a:avLst/>
          </a:prstGeom>
          <a:noFill/>
          <a:ln/>
        </p:spPr>
        <p:txBody>
          <a:bodyPr wrap="square" lIns="0" tIns="0" rIns="0" bIns="0" rtlCol="0" anchor="t"/>
          <a:lstStyle/>
          <a:p>
            <a:pPr marL="0" indent="0">
              <a:buNone/>
            </a:pPr>
            <a:r>
              <a:rPr lang="en-US" sz="1400" dirty="0">
                <a:solidFill>
                  <a:srgbClr val="4A5A6B"/>
                </a:solidFill>
                <a:latin typeface="Calibri" pitchFamily="34" charset="0"/>
                <a:ea typeface="Calibri" pitchFamily="34" charset="-122"/>
                <a:cs typeface="Calibri" pitchFamily="34" charset="-120"/>
              </a:rPr>
              <a:t>Tested backups and response plans</a:t>
            </a:r>
            <a:endParaRPr lang="en-US" sz="1400" dirty="0"/>
          </a:p>
        </p:txBody>
      </p:sp>
      <p:sp>
        <p:nvSpPr>
          <p:cNvPr id="34" name="Shape 26"/>
          <p:cNvSpPr/>
          <p:nvPr/>
        </p:nvSpPr>
        <p:spPr>
          <a:xfrm>
            <a:off x="548640" y="4846320"/>
            <a:ext cx="11091672" cy="1188720"/>
          </a:xfrm>
          <a:prstGeom prst="roundRect">
            <a:avLst>
              <a:gd name="adj" fmla="val 9231"/>
            </a:avLst>
          </a:prstGeom>
          <a:solidFill>
            <a:srgbClr val="0A1628"/>
          </a:solidFill>
          <a:ln w="12700">
            <a:solidFill>
              <a:srgbClr val="0A1628"/>
            </a:solidFill>
            <a:prstDash val="solid"/>
          </a:ln>
        </p:spPr>
        <p:txBody>
          <a:bodyPr/>
          <a:lstStyle/>
          <a:p>
            <a:endParaRPr lang="en-JP"/>
          </a:p>
        </p:txBody>
      </p:sp>
      <p:sp>
        <p:nvSpPr>
          <p:cNvPr id="35" name="Shape 27"/>
          <p:cNvSpPr/>
          <p:nvPr/>
        </p:nvSpPr>
        <p:spPr>
          <a:xfrm>
            <a:off x="822960" y="5120640"/>
            <a:ext cx="640080" cy="640080"/>
          </a:xfrm>
          <a:prstGeom prst="ellipse">
            <a:avLst/>
          </a:prstGeom>
          <a:solidFill>
            <a:srgbClr val="00B7C3"/>
          </a:solidFill>
          <a:ln w="12700">
            <a:solidFill>
              <a:srgbClr val="00B7C3"/>
            </a:solidFill>
            <a:prstDash val="solid"/>
          </a:ln>
        </p:spPr>
        <p:txBody>
          <a:bodyPr/>
          <a:lstStyle/>
          <a:p>
            <a:endParaRPr lang="en-JP"/>
          </a:p>
        </p:txBody>
      </p:sp>
      <p:pic>
        <p:nvPicPr>
          <p:cNvPr id="36" name="Image 6" descr="preencoded.png"/>
          <p:cNvPicPr>
            <a:picLocks noChangeAspect="1"/>
          </p:cNvPicPr>
          <p:nvPr/>
        </p:nvPicPr>
        <p:blipFill>
          <a:blip r:embed="rId9"/>
          <a:stretch>
            <a:fillRect/>
          </a:stretch>
        </p:blipFill>
        <p:spPr>
          <a:xfrm>
            <a:off x="976579" y="5274259"/>
            <a:ext cx="332842" cy="332842"/>
          </a:xfrm>
          <a:prstGeom prst="rect">
            <a:avLst/>
          </a:prstGeom>
        </p:spPr>
      </p:pic>
      <p:sp>
        <p:nvSpPr>
          <p:cNvPr id="37" name="Text 28"/>
          <p:cNvSpPr txBox="1"/>
          <p:nvPr/>
        </p:nvSpPr>
        <p:spPr>
          <a:xfrm>
            <a:off x="1691640" y="4892040"/>
            <a:ext cx="9692640" cy="1097280"/>
          </a:xfrm>
          <a:prstGeom prst="rect">
            <a:avLst/>
          </a:prstGeom>
          <a:noFill/>
          <a:ln/>
        </p:spPr>
        <p:txBody>
          <a:bodyPr wrap="square" lIns="0" tIns="0" rIns="0" bIns="0" rtlCol="0" anchor="ctr"/>
          <a:lstStyle/>
          <a:p>
            <a:pPr marL="0" indent="0">
              <a:buNone/>
            </a:pPr>
            <a:r>
              <a:rPr lang="en-US" sz="1200" b="1" kern="0" spc="200" dirty="0">
                <a:solidFill>
                  <a:srgbClr val="00B7C3"/>
                </a:solidFill>
                <a:latin typeface="Calibri" pitchFamily="34" charset="0"/>
                <a:ea typeface="Calibri" pitchFamily="34" charset="-122"/>
                <a:cs typeface="Calibri" pitchFamily="34" charset="-120"/>
              </a:rPr>
              <a:t>FINAL MESSAGE
</a:t>
            </a:r>
            <a:r>
              <a:rPr lang="en-US" sz="1900" b="1" dirty="0">
                <a:solidFill>
                  <a:srgbClr val="FFFFFF"/>
                </a:solidFill>
                <a:latin typeface="Calibri" pitchFamily="34" charset="0"/>
                <a:ea typeface="Calibri" pitchFamily="34" charset="-122"/>
                <a:cs typeface="Calibri" pitchFamily="34" charset="-120"/>
              </a:rPr>
              <a:t>Secure Windows systems are built through continuous hardening, monitoring, and improvement.</a:t>
            </a:r>
            <a:endParaRPr lang="en-US" sz="1200" dirty="0"/>
          </a:p>
        </p:txBody>
      </p:sp>
      <p:sp>
        <p:nvSpPr>
          <p:cNvPr id="38"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A6B"/>
                </a:solidFill>
                <a:latin typeface="Calibri"/>
                <a:ea typeface="Calibri"/>
                <a:cs typeface="Calibri"/>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1097280"/>
            <a:ext cx="6217920" cy="292608"/>
          </a:xfrm>
          <a:prstGeom prst="rect">
            <a:avLst/>
          </a:prstGeom>
          <a:noFill/>
          <a:ln/>
        </p:spPr>
        <p:txBody>
          <a:bodyPr wrap="square" lIns="0" tIns="0" rIns="0" bIns="0" rtlCol="0" anchor="ctr"/>
          <a:lstStyle/>
          <a:p>
            <a:pPr marL="0" indent="0">
              <a:buNone/>
            </a:pPr>
            <a:r>
              <a:rPr lang="en-US" sz="1200" b="1" kern="0" spc="300" dirty="0">
                <a:solidFill>
                  <a:srgbClr val="00B7C3"/>
                </a:solidFill>
                <a:latin typeface="Calibri" pitchFamily="34" charset="0"/>
                <a:ea typeface="Calibri" pitchFamily="34" charset="-122"/>
                <a:cs typeface="Calibri" pitchFamily="34" charset="-120"/>
              </a:rPr>
              <a:t>QUESTIONS &amp; DISCUSSION</a:t>
            </a:r>
            <a:endParaRPr lang="en-US" sz="1200" dirty="0"/>
          </a:p>
        </p:txBody>
      </p:sp>
      <p:sp>
        <p:nvSpPr>
          <p:cNvPr id="3" name="Text 0"/>
          <p:cNvSpPr>
            <a:spLocks noGrp="1"/>
          </p:cNvSpPr>
          <p:nvPr>
            <p:ph type="title" idx="100" hasCustomPrompt="1"/>
          </p:nvPr>
        </p:nvSpPr>
        <p:spPr>
          <a:xfrm>
            <a:off x="548640" y="1508760"/>
            <a:ext cx="6309360" cy="1463040"/>
          </a:xfrm>
          <a:prstGeom prst="rect">
            <a:avLst/>
          </a:prstGeom>
          <a:noFill/>
          <a:ln/>
        </p:spPr>
        <p:txBody>
          <a:bodyPr wrap="square" lIns="0" tIns="0" rIns="0" bIns="0" rtlCol="0" anchor="t"/>
          <a:lstStyle/>
          <a:p>
            <a:pPr marL="0" indent="0" algn="l">
              <a:buNone/>
            </a:pPr>
            <a:r>
              <a:rPr lang="en-US" sz="4400" b="1" dirty="0">
                <a:solidFill>
                  <a:srgbClr val="FFFFFF"/>
                </a:solidFill>
                <a:latin typeface="Arial" pitchFamily="34" charset="0"/>
                <a:ea typeface="Arial" pitchFamily="34" charset="-122"/>
                <a:cs typeface="Arial" pitchFamily="34" charset="-120"/>
              </a:rPr>
              <a:t>Thank You</a:t>
            </a:r>
            <a:endParaRPr lang="en-US" sz="4400" dirty="0"/>
          </a:p>
        </p:txBody>
      </p:sp>
      <p:sp>
        <p:nvSpPr>
          <p:cNvPr id="4" name="Text 0"/>
          <p:cNvSpPr>
            <a:spLocks noGrp="1"/>
          </p:cNvSpPr>
          <p:nvPr>
            <p:ph type="body" idx="101" hasCustomPrompt="1"/>
          </p:nvPr>
        </p:nvSpPr>
        <p:spPr>
          <a:xfrm>
            <a:off x="548640" y="3063240"/>
            <a:ext cx="6035040" cy="822960"/>
          </a:xfrm>
          <a:prstGeom prst="rect">
            <a:avLst/>
          </a:prstGeom>
          <a:noFill/>
          <a:ln/>
        </p:spPr>
        <p:txBody>
          <a:bodyPr wrap="square" lIns="0" tIns="0" rIns="0" bIns="0" rtlCol="0" anchor="t"/>
          <a:lstStyle/>
          <a:p>
            <a:pPr marL="0" indent="0">
              <a:buNone/>
            </a:pPr>
            <a:r>
              <a:rPr lang="en-US" sz="2000" dirty="0">
                <a:solidFill>
                  <a:srgbClr val="CADCFC"/>
                </a:solidFill>
                <a:latin typeface="Calibri" pitchFamily="34" charset="0"/>
                <a:ea typeface="Calibri" pitchFamily="34" charset="-122"/>
                <a:cs typeface="Calibri" pitchFamily="34" charset="-120"/>
              </a:rPr>
              <a:t>Windows Security Hardening: Practical Defense for Modern Enterprises</a:t>
            </a:r>
            <a:endParaRPr lang="en-US" sz="2000" dirty="0"/>
          </a:p>
        </p:txBody>
      </p:sp>
      <p:sp>
        <p:nvSpPr>
          <p:cNvPr id="5" name="Text 3"/>
          <p:cNvSpPr txBox="1"/>
          <p:nvPr/>
        </p:nvSpPr>
        <p:spPr>
          <a:xfrm>
            <a:off x="548640" y="4114800"/>
            <a:ext cx="6035040" cy="365760"/>
          </a:xfrm>
          <a:prstGeom prst="rect">
            <a:avLst/>
          </a:prstGeom>
          <a:noFill/>
          <a:ln/>
        </p:spPr>
        <p:txBody>
          <a:bodyPr wrap="square" lIns="0" tIns="0" rIns="0" bIns="0" rtlCol="0" anchor="ctr"/>
          <a:lstStyle/>
          <a:p>
            <a:pPr marL="0" indent="0">
              <a:buNone/>
            </a:pPr>
            <a:r>
              <a:rPr lang="en-US" sz="1600" dirty="0">
                <a:solidFill>
                  <a:srgbClr val="9FB3C8"/>
                </a:solidFill>
                <a:latin typeface="Calibri" pitchFamily="34" charset="0"/>
                <a:ea typeface="Calibri" pitchFamily="34" charset="-122"/>
                <a:cs typeface="Calibri" pitchFamily="34" charset="-120"/>
              </a:rPr>
              <a:t>Presented by: </a:t>
            </a:r>
            <a:r>
              <a:rPr lang="en-US" sz="1600" b="1" dirty="0">
                <a:solidFill>
                  <a:srgbClr val="FFFFFF"/>
                </a:solidFill>
                <a:latin typeface="Calibri" pitchFamily="34" charset="0"/>
                <a:ea typeface="Calibri" pitchFamily="34" charset="-122"/>
                <a:cs typeface="Calibri" pitchFamily="34" charset="-120"/>
              </a:rPr>
              <a:t>ZNexora Tech</a:t>
            </a:r>
            <a:endParaRPr lang="en-US" sz="1600" dirty="0"/>
          </a:p>
        </p:txBody>
      </p:sp>
      <p:sp>
        <p:nvSpPr>
          <p:cNvPr id="6" name="Shape 4"/>
          <p:cNvSpPr/>
          <p:nvPr/>
        </p:nvSpPr>
        <p:spPr>
          <a:xfrm>
            <a:off x="548640" y="4846320"/>
            <a:ext cx="640080" cy="640080"/>
          </a:xfrm>
          <a:prstGeom prst="ellipse">
            <a:avLst/>
          </a:prstGeom>
          <a:solidFill>
            <a:srgbClr val="0078D4"/>
          </a:solidFill>
          <a:ln w="12700">
            <a:solidFill>
              <a:srgbClr val="0078D4"/>
            </a:solidFill>
            <a:prstDash val="solid"/>
          </a:ln>
        </p:spPr>
        <p:txBody>
          <a:bodyPr/>
          <a:lstStyle/>
          <a:p>
            <a:endParaRPr lang="en-JP"/>
          </a:p>
        </p:txBody>
      </p:sp>
      <p:pic>
        <p:nvPicPr>
          <p:cNvPr id="7" name="Image 0" descr="preencoded.png"/>
          <p:cNvPicPr>
            <a:picLocks noChangeAspect="1"/>
          </p:cNvPicPr>
          <p:nvPr/>
        </p:nvPicPr>
        <p:blipFill>
          <a:blip r:embed="rId3"/>
          <a:stretch>
            <a:fillRect/>
          </a:stretch>
        </p:blipFill>
        <p:spPr>
          <a:xfrm>
            <a:off x="702259" y="4999939"/>
            <a:ext cx="332842" cy="332842"/>
          </a:xfrm>
          <a:prstGeom prst="rect">
            <a:avLst/>
          </a:prstGeom>
        </p:spPr>
      </p:pic>
      <p:sp>
        <p:nvSpPr>
          <p:cNvPr id="8" name="Text 5"/>
          <p:cNvSpPr txBox="1"/>
          <p:nvPr/>
        </p:nvSpPr>
        <p:spPr>
          <a:xfrm>
            <a:off x="1371600" y="4846320"/>
            <a:ext cx="5303520" cy="64008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We welcome your questions and experiences.</a:t>
            </a:r>
            <a:endParaRPr lang="en-US" sz="1600" dirty="0"/>
          </a:p>
        </p:txBody>
      </p:sp>
      <p:pic>
        <p:nvPicPr>
          <p:cNvPr id="9" name="Image 1" descr="Shield with a check mark"/>
          <p:cNvPicPr>
            <a:picLocks noChangeAspect="1"/>
          </p:cNvPicPr>
          <p:nvPr/>
        </p:nvPicPr>
        <p:blipFill>
          <a:blip r:embed="rId4"/>
          <a:stretch>
            <a:fillRect/>
          </a:stretch>
        </p:blipFill>
        <p:spPr>
          <a:xfrm>
            <a:off x="7040880" y="1371600"/>
            <a:ext cx="4754880" cy="4023360"/>
          </a:xfrm>
          <a:prstGeom prst="rect">
            <a:avLst/>
          </a:prstGeom>
        </p:spPr>
      </p:pic>
    </p:spTree>
  </p:cSld>
  <p:clrMapOvr>
    <a:masterClrMapping/>
  </p:clrMapOvr>
</p:sld>
</file>

<file path=ppt/theme/theme1.xml><?xml version="1.0" encoding="utf-8"?>
<a:theme xmlns:a="http://schemas.openxmlformats.org/drawingml/2006/main" name="ZNexora Cyber">
  <a:themeElements>
    <a:clrScheme name="ZNexora Cyber">
      <a:dk1>
        <a:srgbClr val="0B1F33"/>
      </a:dk1>
      <a:lt1>
        <a:srgbClr val="FFFFFF"/>
      </a:lt1>
      <a:dk2>
        <a:srgbClr val="0A1628"/>
      </a:dk2>
      <a:lt2>
        <a:srgbClr val="F4F7FB"/>
      </a:lt2>
      <a:accent1>
        <a:srgbClr val="0078D4"/>
      </a:accent1>
      <a:accent2>
        <a:srgbClr val="00B7C3"/>
      </a:accent2>
      <a:accent3>
        <a:srgbClr val="F7630C"/>
      </a:accent3>
      <a:accent4>
        <a:srgbClr val="13294B"/>
      </a:accent4>
      <a:accent5>
        <a:srgbClr val="5B6B7C"/>
      </a:accent5>
      <a:accent6>
        <a:srgbClr val="FFB900"/>
      </a:accent6>
      <a:hlink>
        <a:srgbClr val="0078D4"/>
      </a:hlink>
      <a:folHlink>
        <a:srgbClr val="5B6B7C"/>
      </a:folHlink>
    </a:clrScheme>
    <a:fontScheme name="ZNexora Cyb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1245</Words>
  <Application>Microsoft Macintosh PowerPoint</Application>
  <PresentationFormat>Widescreen</PresentationFormat>
  <Paragraphs>233</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ZNexora Cyber</vt:lpstr>
      <vt:lpstr>Windows Hardening</vt:lpstr>
      <vt:lpstr>What is Windows Hardening?</vt:lpstr>
      <vt:lpstr>Why Windows Hardening Matters</vt:lpstr>
      <vt:lpstr>Windows Hardening Framework</vt:lpstr>
      <vt:lpstr>Secure User &amp; Administrator Accounts</vt:lpstr>
      <vt:lpstr>Patch &amp; Vulnerability Management</vt:lpstr>
      <vt:lpstr>Microsoft Defender Security Stack</vt:lpstr>
      <vt:lpstr>Attack Surface Reduction</vt:lpstr>
      <vt:lpstr>RDP &amp; Network Hardening</vt:lpstr>
      <vt:lpstr>Application Control</vt:lpstr>
      <vt:lpstr>Logging, Monitoring &amp; Detection</vt:lpstr>
      <vt:lpstr>Data Protection with BitLocker</vt:lpstr>
      <vt:lpstr>Windows Hardening Checklist</vt:lpstr>
      <vt:lpstr>Key Takeaways</vt:lpstr>
      <vt:lpstr>Thank You</vt:lpstr>
    </vt:vector>
  </TitlesOfParts>
  <Company>ZNexora 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Windows Security Hardening</dc:title>
  <dc:subject>PptxGenJS Presentation</dc:subject>
  <dc:creator>ZNexora Tech</dc:creator>
  <cp:lastModifiedBy>ZIN MAR LWIN</cp:lastModifiedBy>
  <cp:revision>2</cp:revision>
  <dcterms:created xsi:type="dcterms:W3CDTF">2026-10-12T14:07:20Z</dcterms:created>
  <dcterms:modified xsi:type="dcterms:W3CDTF">2026-10-12T14:42:39Z</dcterms:modified>
</cp:coreProperties>
</file>