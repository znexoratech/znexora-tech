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0:40] Good [morning/afternoon], everyone. I'm [Presenter] from ZNexora Tech. In most of our sessions we've talked about attackers on the outside: phishing, malware and stolen sessions. Today we're looking inward. Some of the most damaging incidents come from people who already have legitimate access: employees, contractors and partners. Before we start, I want to be clear: this isn't about suspecting our colleagues. Most insider incidents are honest mistakes. It's about protecting our data, and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1:30] So what is an insider threat? It's anyone with legitimate access who harms our data or systems, whether on purpose or by accident. That includes employees, contractors and temporary staff, partners and suppliers connected to our systems, and former staff whose access wasn't removed when they left. What makes insider threats hard is that insiders already have the keys. Firewalls and antivirus are designed to keep outsiders out, so they often can't tell the difference between someone doing normal work and someone causing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2:30] Insider threats come in three types. According to the 2026 Cost of Insider Risks report from the Ponemon Institute and DTEX, 53 percent of insider incidents are caused by careless or negligent employees: honest mistakes like sending data to the wrong person or losing a laptop. 27 percent are malicious: someone deliberately stealing data, committing fraud or causing sabotage. And 20 percent are compromised insiders, where an outsider steals an employee's credentials and acts as them, which links back to our phishing and session theft sessions. The key message: most insider incidents aren't villains. They're good people making mistakes, and that means most of them are preventable.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3:30] Let's start with the most common type: careless mistakes. Sending an email to the wrong recipient because autocomplete picked the wrong name. Sharing a file with 'anyone with the link', so it's open to the whole internet. Sending work files to a personal email or cloud account to finish later. Pasting confidential information into public AI chatbots. Losing an unencrypted laptop, phone or USB drive. And leaving documents on the printer or confidential information visible on a screen. None of these people meant any harm. But every one of them can cause a real data breach, with legal and financial consequences for the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 4:30] Less common, but often more damaging, are malicious insiders: people who deliberately cause harm. The motives usually fall into three groups: money, such as selling data or access to criminals or competitors; grievance, revenge after a conflict, demotion or dismissal; and ideology or pressure, including people coerced by outsiders. What do they do? They copy client lists before leaving for a competitor, delete or sabotage systems, commit fraud using their access, or even sell their login details to ransomware groups. One pattern is very common: data theft often happens in the weeks before someone leaves the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 5:20] How do we spot insider risk? The rule is: watch behaviours, not people. Warning signs include unusual downloads, such as bulk copying or large exports; accessing data outside someone's role; working at odd hours with no clear reason; using personal storage like USB drives, personal email or cloud accounts; trying to bypass security controls or asking for unusual exceptions; and strong resentment combined with plans to leave. One sign on its own usually means nothing. But if you're concerned, report it confidentially to [security contact]. Please don't investigate or confront anyone yourself. Leave that to the right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 – 6:00] Insider incidents are expensive. The 2026 Ponemon report found the average annual cost of insider risk reached 19.5 million dollars per organisation, up 20 percent in two years. It takes an average of 67 days to contain an insider incident. And speed makes a huge difference: incidents contained within 30 days cost an average of 14.2 million dollars, while those that take more than 90 days cost 21.9 million. That's a 7.7 million dollar difference. The message is the same as in our other sessions: the faster an incident is reported, the less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 6:50] Protecting sensitive data starts with knowing what's sensitive. Most organisations use levels like these. Public: approved for anyone, like our website. Internal: for staff only, like policies and internal news. Confidential: limited to people who need it, such as customer data, contracts and financial information. And Restricted: strictly controlled, such as passwords, health data and legal matters. The higher the level, the more care it needs when you store, share or send it. And a simple rule: if you're not sure, treat it as Confidential. [Adapt these levels to our organisation's data classification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 – 7:50] So what can each of us do? Six habits. One: double-check recipients before sending anything sensitive; autocomplete is a common culprit. Two: share files with named people, never 'anyone with the link'. Three: use approved storage only, with no personal email, personal cloud, USB drives or public AI tools for work data. Four: lock your screen and keep a clear desk every time you step away. Five: access only what you need, and give back access you no longer use. And six, the most important: report mistakes at once. If you send something to the wrong person, tell IT immediately. Honest mistakes reported quickly can often be fixed, and you won't be blamed.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[7:50 – 8:40] As an organisation, we protect against insider risk in layers. Least privilege: access matched to each role. Regular access reviews, removing access people no longer need. Clean offboarding, so all access is removed on someone's last day, including cloud apps and shared accounts. Data loss prevention, which blocks risky sharing and uploads. Behaviour analytics, which flags unusual data access, such as a sudden bulk download. And a speak-up culture, with confidential reporting and support for people who are struggling, because helping someone early can prevent a grievance from becoming an incident. In the 2026 Ponemon study, identity management and behaviour analytics delivered the biggest cost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 – 9:20] So what should you do? If you've made a mistake, such as sending data to the wrong person, losing a device or sharing a file too widely, tell IT immediately on [contact]. There's no blame for honest mistakes, and acting quickly often lets us recall the email, wipe the device or close the link before any harm is done. If you've seen something that worries you, report it confidentially to [security or HR contact]. Please don't investigate or confront anyone yourself. Reporting a concern isn't accusing anyone. It simply lets the right people take a careful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 – 9:50] To wrap up: insider threats are mostly honest mistakes, sometimes deliberate harm, and sometimes outsiders using stolen accounts. In every case, the people inside are also our strongest defence. Handle data with care, report mistakes fast, and speak up when something feels wrong. Thank you.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B1F33"/>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B1F33"/>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rect">    </p:cNvPr>
          <p:cNvPicPr>
            <a:picLocks noChangeAspect="1"/>
          </p:cNvPicPr>
          <p:nvPr/>
        </p:nvPicPr>
        <p:blipFill>
          <a:blip r:embed="rId2"/>
          <a:srcRect l="0" r="0" t="0" b="0"/>
          <a:stretch/>
        </p:blipFill>
        <p:spPr>
          <a:xfrm>
            <a:off x="0" y="0"/>
            <a:ext cx="152400" cy="6858000"/>
          </a:xfrm>
          <a:prstGeom prst="rect">
            <a:avLst/>
          </a:prstGeom>
        </p:spPr>
      </p:pic>
      <p:pic>
        <p:nvPicPr>
          <p:cNvPr id="4" name="Image 2" descr="An office building with people inside; one figure carries a document out through the door">    </p:cNvPr>
          <p:cNvPicPr>
            <a:picLocks noChangeAspect="1"/>
          </p:cNvPicPr>
          <p:nvPr/>
        </p:nvPicPr>
        <p:blipFill>
          <a:blip r:embed="rId3"/>
          <a:srcRect l="0" r="0" t="0" b="0"/>
          <a:stretch/>
        </p:blipFill>
        <p:spPr>
          <a:xfrm>
            <a:off x="7874000" y="1397000"/>
            <a:ext cx="3810000" cy="3810000"/>
          </a:xfrm>
          <a:prstGeom prst="rect">
            <a:avLst/>
          </a:prstGeom>
        </p:spPr>
      </p:pic>
      <p:sp>
        <p:nvSpPr>
          <p:cNvPr id="5" name="Text 0"/>
          <p:cNvSpPr/>
          <p:nvPr/>
        </p:nvSpPr>
        <p:spPr>
          <a:xfrm>
            <a:off x="812800" y="209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0B7C3"/>
                </a:solidFill>
                <a:latin typeface="Calibri" pitchFamily="34" charset="0"/>
                <a:ea typeface="Calibri" pitchFamily="34" charset="-122"/>
                <a:cs typeface="Calibri" pitchFamily="34" charset="-120"/>
              </a:rPr>
              <a:t>ZNEXORA TECH | SECURITY AWARENESS</a:t>
            </a:r>
            <a:endParaRPr lang="en-US" sz="1400" dirty="0"/>
          </a:p>
        </p:txBody>
      </p:sp>
      <p:sp>
        <p:nvSpPr>
          <p:cNvPr id="6" name="Text 1"/>
          <p:cNvSpPr/>
          <p:nvPr>
            <p:ph type="title"/>
          </p:nvPr>
        </p:nvSpPr>
        <p:spPr>
          <a:xfrm>
            <a:off x="812800" y="2545060"/>
            <a:ext cx="7063740" cy="71874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FFFFF"/>
                </a:solidFill>
                <a:latin typeface="Arial" pitchFamily="34" charset="0"/>
                <a:ea typeface="Arial" pitchFamily="34" charset="-122"/>
                <a:cs typeface="Arial" pitchFamily="34" charset="-120"/>
              </a:rPr>
              <a:t>Insider Threats</a:t>
            </a:r>
            <a:endParaRPr lang="en-US" sz="5200" dirty="0"/>
          </a:p>
        </p:txBody>
      </p:sp>
      <p:sp>
        <p:nvSpPr>
          <p:cNvPr id="7" name="Text 2"/>
          <p:cNvSpPr/>
          <p:nvPr/>
        </p:nvSpPr>
        <p:spPr>
          <a:xfrm>
            <a:off x="812800" y="3441601"/>
            <a:ext cx="6932930" cy="43428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FF9A5C"/>
                </a:solidFill>
                <a:latin typeface="Arial" pitchFamily="34" charset="0"/>
                <a:ea typeface="Arial" pitchFamily="34" charset="-122"/>
                <a:cs typeface="Arial" pitchFamily="34" charset="-120"/>
              </a:rPr>
              <a:t>When the Risk Is Already Inside</a:t>
            </a:r>
            <a:endParaRPr lang="en-US" sz="2800" dirty="0"/>
          </a:p>
        </p:txBody>
      </p:sp>
      <p:sp>
        <p:nvSpPr>
          <p:cNvPr id="8" name="Text 3"/>
          <p:cNvSpPr/>
          <p:nvPr/>
        </p:nvSpPr>
        <p:spPr>
          <a:xfrm>
            <a:off x="812800" y="4053681"/>
            <a:ext cx="65405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Careless mistakes, disgruntled staff and how to protect sensitive data</a:t>
            </a:r>
            <a:endParaRPr lang="en-US" sz="2000" dirty="0"/>
          </a:p>
        </p:txBody>
      </p:sp>
      <p:sp>
        <p:nvSpPr>
          <p:cNvPr id="9" name="Text 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Presented by: </a:t>
            </a:r>
            <a:r>
              <a:rPr lang="en-US" sz="1200" b="1" dirty="0">
                <a:solidFill>
                  <a:srgbClr val="FFFFFF"/>
                </a:solidFill>
                <a:latin typeface="Calibri" pitchFamily="34" charset="0"/>
                <a:ea typeface="Calibri" pitchFamily="34" charset="-122"/>
                <a:cs typeface="Calibri" pitchFamily="34" charset="-120"/>
              </a:rPr>
              <a:t>ZNexora Tech</a:t>
            </a:r>
            <a:r>
              <a:rPr lang="en-US" sz="1200" dirty="0">
                <a:solidFill>
                  <a:srgbClr val="9FB3C8"/>
                </a:solidFill>
                <a:latin typeface="Calibri" pitchFamily="34" charset="0"/>
                <a:ea typeface="Calibri" pitchFamily="34" charset="-122"/>
                <a:cs typeface="Calibri" pitchFamily="34" charset="-120"/>
              </a:rPr>
              <a:t> · [Presenter]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01 · THE DEFINITION</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What is an insider threat?</a:t>
            </a:r>
            <a:endParaRPr lang="en-US" sz="3600" dirty="0"/>
          </a:p>
        </p:txBody>
      </p:sp>
      <p:sp>
        <p:nvSpPr>
          <p:cNvPr id="5" name="Shape 2"/>
          <p:cNvSpPr/>
          <p:nvPr/>
        </p:nvSpPr>
        <p:spPr>
          <a:xfrm>
            <a:off x="812800" y="1569641"/>
            <a:ext cx="10566400" cy="1117600"/>
          </a:xfrm>
          <a:prstGeom prst="roundRect">
            <a:avLst>
              <a:gd name="adj" fmla="val 11364"/>
            </a:avLst>
          </a:prstGeom>
          <a:solidFill>
            <a:srgbClr val="EAF3FC"/>
          </a:solidFill>
          <a:ln/>
        </p:spPr>
      </p:sp>
      <p:sp>
        <p:nvSpPr>
          <p:cNvPr id="6" name="Shape 3"/>
          <p:cNvSpPr/>
          <p:nvPr/>
        </p:nvSpPr>
        <p:spPr>
          <a:xfrm>
            <a:off x="1092200" y="1823641"/>
            <a:ext cx="609600" cy="609600"/>
          </a:xfrm>
          <a:prstGeom prst="roundRect">
            <a:avLst>
              <a:gd name="adj" fmla="val 50000"/>
            </a:avLst>
          </a:prstGeom>
          <a:solidFill>
            <a:srgbClr val="0078D4"/>
          </a:solidFill>
          <a:ln/>
        </p:spPr>
      </p:sp>
      <p:pic>
        <p:nvPicPr>
          <p:cNvPr id="7" name="Image 1" descr="key icon">    </p:cNvPr>
          <p:cNvPicPr>
            <a:picLocks noChangeAspect="1"/>
          </p:cNvPicPr>
          <p:nvPr/>
        </p:nvPicPr>
        <p:blipFill>
          <a:blip r:embed="rId2"/>
          <a:srcRect l="0" r="0" t="0" b="0"/>
          <a:stretch/>
        </p:blipFill>
        <p:spPr>
          <a:xfrm>
            <a:off x="1244600" y="1976041"/>
            <a:ext cx="304800" cy="304800"/>
          </a:xfrm>
          <a:prstGeom prst="rect">
            <a:avLst/>
          </a:prstGeom>
        </p:spPr>
      </p:pic>
      <p:sp>
        <p:nvSpPr>
          <p:cNvPr id="8" name="Text 4"/>
          <p:cNvSpPr/>
          <p:nvPr/>
        </p:nvSpPr>
        <p:spPr>
          <a:xfrm>
            <a:off x="1879600" y="1798241"/>
            <a:ext cx="9496806"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0B1F33"/>
                </a:solidFill>
                <a:latin typeface="Arial" pitchFamily="34" charset="0"/>
                <a:ea typeface="Arial" pitchFamily="34" charset="-122"/>
                <a:cs typeface="Arial" pitchFamily="34" charset="-120"/>
              </a:rPr>
              <a:t>Anyone with </a:t>
            </a:r>
            <a:r>
              <a:rPr lang="en-US" sz="2000" b="1" dirty="0">
                <a:solidFill>
                  <a:srgbClr val="0078D4"/>
                </a:solidFill>
                <a:latin typeface="Arial" pitchFamily="34" charset="0"/>
                <a:ea typeface="Arial" pitchFamily="34" charset="-122"/>
                <a:cs typeface="Arial" pitchFamily="34" charset="-120"/>
              </a:rPr>
              <a:t>legitimate access</a:t>
            </a:r>
            <a:r>
              <a:rPr lang="en-US" sz="2000" b="1" dirty="0">
                <a:solidFill>
                  <a:srgbClr val="0B1F33"/>
                </a:solidFill>
                <a:latin typeface="Arial" pitchFamily="34" charset="0"/>
                <a:ea typeface="Arial" pitchFamily="34" charset="-122"/>
                <a:cs typeface="Arial" pitchFamily="34" charset="-120"/>
              </a:rPr>
              <a:t> who harms our data or systems, </a:t>
            </a:r>
            <a:r>
              <a:rPr lang="en-US" sz="2000" b="1" dirty="0">
                <a:solidFill>
                  <a:srgbClr val="C24E06"/>
                </a:solidFill>
                <a:latin typeface="Arial" pitchFamily="34" charset="0"/>
                <a:ea typeface="Arial" pitchFamily="34" charset="-122"/>
                <a:cs typeface="Arial" pitchFamily="34" charset="-120"/>
              </a:rPr>
              <a:t>on purpose or by accident</a:t>
            </a:r>
            <a:r>
              <a:rPr lang="en-US" sz="2000" b="1" dirty="0">
                <a:solidFill>
                  <a:srgbClr val="0B1F33"/>
                </a:solidFill>
                <a:latin typeface="Arial" pitchFamily="34" charset="0"/>
                <a:ea typeface="Arial" pitchFamily="34" charset="-122"/>
                <a:cs typeface="Arial" pitchFamily="34" charset="-120"/>
              </a:rPr>
              <a:t>.</a:t>
            </a:r>
            <a:endParaRPr lang="en-US" sz="2000" dirty="0"/>
          </a:p>
        </p:txBody>
      </p:sp>
      <p:sp>
        <p:nvSpPr>
          <p:cNvPr id="9" name="Shape 5"/>
          <p:cNvSpPr/>
          <p:nvPr/>
        </p:nvSpPr>
        <p:spPr>
          <a:xfrm>
            <a:off x="812800" y="2941241"/>
            <a:ext cx="2527300" cy="1501080"/>
          </a:xfrm>
          <a:prstGeom prst="roundRect">
            <a:avLst>
              <a:gd name="adj" fmla="val 6768"/>
            </a:avLst>
          </a:prstGeom>
          <a:solidFill>
            <a:srgbClr val="FFFFFF"/>
          </a:solidFill>
          <a:ln/>
          <a:effectLst>
            <a:outerShdw sx="100000" sy="100000" kx="0" ky="0" algn="bl" rotWithShape="0" blurRad="101600" dist="25400" dir="5400000">
              <a:srgbClr val="C9D6E3">
                <a:alpha val="100000"/>
              </a:srgbClr>
            </a:outerShdw>
          </a:effectLst>
        </p:spPr>
      </p:sp>
      <p:sp>
        <p:nvSpPr>
          <p:cNvPr id="10" name="Shape 6"/>
          <p:cNvSpPr/>
          <p:nvPr/>
        </p:nvSpPr>
        <p:spPr>
          <a:xfrm>
            <a:off x="990600" y="3144441"/>
            <a:ext cx="457200" cy="457200"/>
          </a:xfrm>
          <a:prstGeom prst="roundRect">
            <a:avLst>
              <a:gd name="adj" fmla="val 50000"/>
            </a:avLst>
          </a:prstGeom>
          <a:solidFill>
            <a:srgbClr val="EAF3FC"/>
          </a:solidFill>
          <a:ln/>
        </p:spPr>
      </p:sp>
      <p:pic>
        <p:nvPicPr>
          <p:cNvPr id="11" name="Image 2" descr="users icon">    </p:cNvPr>
          <p:cNvPicPr>
            <a:picLocks noChangeAspect="1"/>
          </p:cNvPicPr>
          <p:nvPr/>
        </p:nvPicPr>
        <p:blipFill>
          <a:blip r:embed="rId3"/>
          <a:srcRect l="0" r="0" t="0" b="0"/>
          <a:stretch/>
        </p:blipFill>
        <p:spPr>
          <a:xfrm>
            <a:off x="1104900" y="3258741"/>
            <a:ext cx="228600" cy="228600"/>
          </a:xfrm>
          <a:prstGeom prst="rect">
            <a:avLst/>
          </a:prstGeom>
        </p:spPr>
      </p:pic>
      <p:sp>
        <p:nvSpPr>
          <p:cNvPr id="12" name="Text 7"/>
          <p:cNvSpPr/>
          <p:nvPr/>
        </p:nvSpPr>
        <p:spPr>
          <a:xfrm>
            <a:off x="990600" y="3690541"/>
            <a:ext cx="22368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Employees</a:t>
            </a:r>
            <a:endParaRPr lang="en-US" sz="1500" dirty="0"/>
          </a:p>
        </p:txBody>
      </p:sp>
      <p:sp>
        <p:nvSpPr>
          <p:cNvPr id="13" name="Text 8"/>
          <p:cNvSpPr/>
          <p:nvPr/>
        </p:nvSpPr>
        <p:spPr>
          <a:xfrm>
            <a:off x="990600" y="4008041"/>
            <a:ext cx="22368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Full-time and part-time staff</a:t>
            </a:r>
            <a:endParaRPr lang="en-US" sz="1300" dirty="0"/>
          </a:p>
        </p:txBody>
      </p:sp>
      <p:sp>
        <p:nvSpPr>
          <p:cNvPr id="14" name="Shape 9"/>
          <p:cNvSpPr/>
          <p:nvPr/>
        </p:nvSpPr>
        <p:spPr>
          <a:xfrm>
            <a:off x="3492500" y="2941241"/>
            <a:ext cx="2527300" cy="1501080"/>
          </a:xfrm>
          <a:prstGeom prst="roundRect">
            <a:avLst>
              <a:gd name="adj" fmla="val 6768"/>
            </a:avLst>
          </a:prstGeom>
          <a:solidFill>
            <a:srgbClr val="FFFFFF"/>
          </a:solidFill>
          <a:ln/>
          <a:effectLst>
            <a:outerShdw sx="100000" sy="100000" kx="0" ky="0" algn="bl" rotWithShape="0" blurRad="101600" dist="25400" dir="5400000">
              <a:srgbClr val="C9D6E3">
                <a:alpha val="100000"/>
              </a:srgbClr>
            </a:outerShdw>
          </a:effectLst>
        </p:spPr>
      </p:sp>
      <p:sp>
        <p:nvSpPr>
          <p:cNvPr id="15" name="Shape 10"/>
          <p:cNvSpPr/>
          <p:nvPr/>
        </p:nvSpPr>
        <p:spPr>
          <a:xfrm>
            <a:off x="3670300" y="3144441"/>
            <a:ext cx="457200" cy="457200"/>
          </a:xfrm>
          <a:prstGeom prst="roundRect">
            <a:avLst>
              <a:gd name="adj" fmla="val 50000"/>
            </a:avLst>
          </a:prstGeom>
          <a:solidFill>
            <a:srgbClr val="EAF3FC"/>
          </a:solidFill>
          <a:ln/>
        </p:spPr>
      </p:sp>
      <p:pic>
        <p:nvPicPr>
          <p:cNvPr id="16" name="Image 3" descr="building icon">    </p:cNvPr>
          <p:cNvPicPr>
            <a:picLocks noChangeAspect="1"/>
          </p:cNvPicPr>
          <p:nvPr/>
        </p:nvPicPr>
        <p:blipFill>
          <a:blip r:embed="rId4"/>
          <a:srcRect l="0" r="0" t="0" b="0"/>
          <a:stretch/>
        </p:blipFill>
        <p:spPr>
          <a:xfrm>
            <a:off x="3784600" y="3258741"/>
            <a:ext cx="228600" cy="228600"/>
          </a:xfrm>
          <a:prstGeom prst="rect">
            <a:avLst/>
          </a:prstGeom>
        </p:spPr>
      </p:pic>
      <p:sp>
        <p:nvSpPr>
          <p:cNvPr id="17" name="Text 11"/>
          <p:cNvSpPr/>
          <p:nvPr/>
        </p:nvSpPr>
        <p:spPr>
          <a:xfrm>
            <a:off x="3670300" y="3690541"/>
            <a:ext cx="22368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Contractors and temps</a:t>
            </a:r>
            <a:endParaRPr lang="en-US" sz="1500" dirty="0"/>
          </a:p>
        </p:txBody>
      </p:sp>
      <p:sp>
        <p:nvSpPr>
          <p:cNvPr id="18" name="Text 12"/>
          <p:cNvSpPr/>
          <p:nvPr/>
        </p:nvSpPr>
        <p:spPr>
          <a:xfrm>
            <a:off x="3670300" y="4008041"/>
            <a:ext cx="22368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With temporary access</a:t>
            </a:r>
            <a:endParaRPr lang="en-US" sz="1300" dirty="0"/>
          </a:p>
        </p:txBody>
      </p:sp>
      <p:sp>
        <p:nvSpPr>
          <p:cNvPr id="19" name="Shape 13"/>
          <p:cNvSpPr/>
          <p:nvPr/>
        </p:nvSpPr>
        <p:spPr>
          <a:xfrm>
            <a:off x="6172200" y="2941241"/>
            <a:ext cx="2527300" cy="1501080"/>
          </a:xfrm>
          <a:prstGeom prst="roundRect">
            <a:avLst>
              <a:gd name="adj" fmla="val 6768"/>
            </a:avLst>
          </a:prstGeom>
          <a:solidFill>
            <a:srgbClr val="FFFFFF"/>
          </a:solidFill>
          <a:ln/>
          <a:effectLst>
            <a:outerShdw sx="100000" sy="100000" kx="0" ky="0" algn="bl" rotWithShape="0" blurRad="101600" dist="25400" dir="5400000">
              <a:srgbClr val="C9D6E3">
                <a:alpha val="100000"/>
              </a:srgbClr>
            </a:outerShdw>
          </a:effectLst>
        </p:spPr>
      </p:sp>
      <p:sp>
        <p:nvSpPr>
          <p:cNvPr id="20" name="Shape 14"/>
          <p:cNvSpPr/>
          <p:nvPr/>
        </p:nvSpPr>
        <p:spPr>
          <a:xfrm>
            <a:off x="6350000" y="3144441"/>
            <a:ext cx="457200" cy="457200"/>
          </a:xfrm>
          <a:prstGeom prst="roundRect">
            <a:avLst>
              <a:gd name="adj" fmla="val 50000"/>
            </a:avLst>
          </a:prstGeom>
          <a:solidFill>
            <a:srgbClr val="EAF3FC"/>
          </a:solidFill>
          <a:ln/>
        </p:spPr>
      </p:sp>
      <p:pic>
        <p:nvPicPr>
          <p:cNvPr id="21" name="Image 4" descr="link icon">    </p:cNvPr>
          <p:cNvPicPr>
            <a:picLocks noChangeAspect="1"/>
          </p:cNvPicPr>
          <p:nvPr/>
        </p:nvPicPr>
        <p:blipFill>
          <a:blip r:embed="rId5"/>
          <a:srcRect l="0" r="0" t="0" b="0"/>
          <a:stretch/>
        </p:blipFill>
        <p:spPr>
          <a:xfrm>
            <a:off x="6464300" y="3258741"/>
            <a:ext cx="228600" cy="228600"/>
          </a:xfrm>
          <a:prstGeom prst="rect">
            <a:avLst/>
          </a:prstGeom>
        </p:spPr>
      </p:pic>
      <p:sp>
        <p:nvSpPr>
          <p:cNvPr id="22" name="Text 15"/>
          <p:cNvSpPr/>
          <p:nvPr/>
        </p:nvSpPr>
        <p:spPr>
          <a:xfrm>
            <a:off x="6350000" y="3690541"/>
            <a:ext cx="22368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Partners and suppliers</a:t>
            </a:r>
            <a:endParaRPr lang="en-US" sz="1500" dirty="0"/>
          </a:p>
        </p:txBody>
      </p:sp>
      <p:sp>
        <p:nvSpPr>
          <p:cNvPr id="23" name="Text 16"/>
          <p:cNvSpPr/>
          <p:nvPr/>
        </p:nvSpPr>
        <p:spPr>
          <a:xfrm>
            <a:off x="6350000" y="4008041"/>
            <a:ext cx="22368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Connected to our systems</a:t>
            </a:r>
            <a:endParaRPr lang="en-US" sz="1300" dirty="0"/>
          </a:p>
        </p:txBody>
      </p:sp>
      <p:sp>
        <p:nvSpPr>
          <p:cNvPr id="24" name="Shape 17"/>
          <p:cNvSpPr/>
          <p:nvPr/>
        </p:nvSpPr>
        <p:spPr>
          <a:xfrm>
            <a:off x="8851900" y="2941241"/>
            <a:ext cx="2527300" cy="1501080"/>
          </a:xfrm>
          <a:prstGeom prst="roundRect">
            <a:avLst>
              <a:gd name="adj" fmla="val 6768"/>
            </a:avLst>
          </a:prstGeom>
          <a:solidFill>
            <a:srgbClr val="FFFFFF"/>
          </a:solidFill>
          <a:ln/>
          <a:effectLst>
            <a:outerShdw sx="100000" sy="100000" kx="0" ky="0" algn="bl" rotWithShape="0" blurRad="101600" dist="25400" dir="5400000">
              <a:srgbClr val="C9D6E3">
                <a:alpha val="100000"/>
              </a:srgbClr>
            </a:outerShdw>
          </a:effectLst>
        </p:spPr>
      </p:sp>
      <p:sp>
        <p:nvSpPr>
          <p:cNvPr id="25" name="Shape 18"/>
          <p:cNvSpPr/>
          <p:nvPr/>
        </p:nvSpPr>
        <p:spPr>
          <a:xfrm>
            <a:off x="9029700" y="3144441"/>
            <a:ext cx="457200" cy="457200"/>
          </a:xfrm>
          <a:prstGeom prst="roundRect">
            <a:avLst>
              <a:gd name="adj" fmla="val 50000"/>
            </a:avLst>
          </a:prstGeom>
          <a:solidFill>
            <a:srgbClr val="EAF3FC"/>
          </a:solidFill>
          <a:ln/>
        </p:spPr>
      </p:sp>
      <p:pic>
        <p:nvPicPr>
          <p:cNvPr id="26" name="Image 5" descr="logout icon">    </p:cNvPr>
          <p:cNvPicPr>
            <a:picLocks noChangeAspect="1"/>
          </p:cNvPicPr>
          <p:nvPr/>
        </p:nvPicPr>
        <p:blipFill>
          <a:blip r:embed="rId6"/>
          <a:srcRect l="0" r="0" t="0" b="0"/>
          <a:stretch/>
        </p:blipFill>
        <p:spPr>
          <a:xfrm>
            <a:off x="9144000" y="3258741"/>
            <a:ext cx="228600" cy="228600"/>
          </a:xfrm>
          <a:prstGeom prst="rect">
            <a:avLst/>
          </a:prstGeom>
        </p:spPr>
      </p:pic>
      <p:sp>
        <p:nvSpPr>
          <p:cNvPr id="27" name="Text 19"/>
          <p:cNvSpPr/>
          <p:nvPr/>
        </p:nvSpPr>
        <p:spPr>
          <a:xfrm>
            <a:off x="9029700" y="3690541"/>
            <a:ext cx="22368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Former staff</a:t>
            </a:r>
            <a:endParaRPr lang="en-US" sz="1500" dirty="0"/>
          </a:p>
        </p:txBody>
      </p:sp>
      <p:sp>
        <p:nvSpPr>
          <p:cNvPr id="28" name="Text 20"/>
          <p:cNvSpPr/>
          <p:nvPr/>
        </p:nvSpPr>
        <p:spPr>
          <a:xfrm>
            <a:off x="9029700" y="4008041"/>
            <a:ext cx="22368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If access isn't removed</a:t>
            </a:r>
            <a:endParaRPr lang="en-US" sz="1300" dirty="0"/>
          </a:p>
        </p:txBody>
      </p:sp>
      <p:sp>
        <p:nvSpPr>
          <p:cNvPr id="29" name="Text 21"/>
          <p:cNvSpPr/>
          <p:nvPr/>
        </p:nvSpPr>
        <p:spPr>
          <a:xfrm>
            <a:off x="812800" y="469632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Because insiders already have access, firewalls and antivirus often </a:t>
            </a:r>
            <a:r>
              <a:rPr lang="en-US" sz="1400" b="1" dirty="0">
                <a:solidFill>
                  <a:srgbClr val="0B1F33"/>
                </a:solidFill>
                <a:latin typeface="Calibri" pitchFamily="34" charset="0"/>
                <a:ea typeface="Calibri" pitchFamily="34" charset="-122"/>
                <a:cs typeface="Calibri" pitchFamily="34" charset="-120"/>
              </a:rPr>
              <a:t>can't tell the difference</a:t>
            </a:r>
            <a:r>
              <a:rPr lang="en-US" sz="1400" dirty="0">
                <a:solidFill>
                  <a:srgbClr val="4A5A6B"/>
                </a:solidFill>
                <a:latin typeface="Calibri" pitchFamily="34" charset="0"/>
                <a:ea typeface="Calibri" pitchFamily="34" charset="-122"/>
                <a:cs typeface="Calibri" pitchFamily="34" charset="-120"/>
              </a:rPr>
              <a:t> between normal work and harm.</a:t>
            </a:r>
            <a:endParaRPr lang="en-US" sz="1400" dirty="0"/>
          </a:p>
        </p:txBody>
      </p:sp>
      <p:sp>
        <p:nvSpPr>
          <p:cNvPr id="30" name="Text 2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31" name="Text 23"/>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02 · THREE TYPES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Most insider incidents are mistakes</a:t>
            </a:r>
            <a:endParaRPr lang="en-US" sz="3600" dirty="0"/>
          </a:p>
        </p:txBody>
      </p:sp>
      <p:sp>
        <p:nvSpPr>
          <p:cNvPr id="5" name="Text 2"/>
          <p:cNvSpPr/>
          <p:nvPr/>
        </p:nvSpPr>
        <p:spPr>
          <a:xfrm>
            <a:off x="812800" y="15696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SHARE OF INSIDER INCIDENTS</a:t>
            </a:r>
            <a:endParaRPr lang="en-US" sz="1200" dirty="0"/>
          </a:p>
        </p:txBody>
      </p:sp>
      <p:sp>
        <p:nvSpPr>
          <p:cNvPr id="6" name="Text 3"/>
          <p:cNvSpPr/>
          <p:nvPr/>
        </p:nvSpPr>
        <p:spPr>
          <a:xfrm>
            <a:off x="812800" y="1859161"/>
            <a:ext cx="5600700" cy="457200"/>
          </a:xfrm>
          <a:prstGeom prst="rect">
            <a:avLst/>
          </a:prstGeom>
          <a:solidFill>
            <a:srgbClr val="0078D4"/>
          </a:solidFill>
          <a:ln/>
        </p:spPr>
        <p:txBody>
          <a:bodyPr wrap="square" lIns="152400" tIns="0" rIns="152400" bIns="0" rtlCol="0" anchor="ctr">
            <a:normAutofit/>
          </a:bodyPr>
          <a:lstStyle/>
          <a:p>
            <a:pPr algn="l" indent="0" marL="0">
              <a:lnSpc>
                <a:spcPts val="2240"/>
              </a:lnSpc>
              <a:buNone/>
            </a:pPr>
            <a:r>
              <a:rPr lang="en-US" sz="1600" b="1" dirty="0">
                <a:solidFill>
                  <a:srgbClr val="FFFFFF"/>
                </a:solidFill>
                <a:latin typeface="Arial" pitchFamily="34" charset="0"/>
                <a:ea typeface="Arial" pitchFamily="34" charset="-122"/>
                <a:cs typeface="Arial" pitchFamily="34" charset="-120"/>
              </a:rPr>
              <a:t>53%</a:t>
            </a:r>
            <a:endParaRPr lang="en-US" sz="1600" dirty="0"/>
          </a:p>
        </p:txBody>
      </p:sp>
      <p:sp>
        <p:nvSpPr>
          <p:cNvPr id="7" name="Text 4"/>
          <p:cNvSpPr/>
          <p:nvPr/>
        </p:nvSpPr>
        <p:spPr>
          <a:xfrm>
            <a:off x="6413500" y="1859161"/>
            <a:ext cx="2851150" cy="457200"/>
          </a:xfrm>
          <a:prstGeom prst="rect">
            <a:avLst/>
          </a:prstGeom>
          <a:solidFill>
            <a:srgbClr val="F7630C"/>
          </a:solidFill>
          <a:ln/>
        </p:spPr>
        <p:txBody>
          <a:bodyPr wrap="square" lIns="152400" tIns="0" rIns="152400" bIns="0" rtlCol="0" anchor="ctr">
            <a:normAutofit/>
          </a:bodyPr>
          <a:lstStyle/>
          <a:p>
            <a:pPr algn="l" indent="0" marL="0">
              <a:lnSpc>
                <a:spcPts val="2240"/>
              </a:lnSpc>
              <a:buNone/>
            </a:pPr>
            <a:r>
              <a:rPr lang="en-US" sz="1600" b="1" dirty="0">
                <a:solidFill>
                  <a:srgbClr val="FFFFFF"/>
                </a:solidFill>
                <a:latin typeface="Arial" pitchFamily="34" charset="0"/>
                <a:ea typeface="Arial" pitchFamily="34" charset="-122"/>
                <a:cs typeface="Arial" pitchFamily="34" charset="-120"/>
              </a:rPr>
              <a:t>27%</a:t>
            </a:r>
            <a:endParaRPr lang="en-US" sz="1600" dirty="0"/>
          </a:p>
        </p:txBody>
      </p:sp>
      <p:sp>
        <p:nvSpPr>
          <p:cNvPr id="8" name="Text 5"/>
          <p:cNvSpPr/>
          <p:nvPr/>
        </p:nvSpPr>
        <p:spPr>
          <a:xfrm>
            <a:off x="9264650" y="1859161"/>
            <a:ext cx="2114550" cy="457200"/>
          </a:xfrm>
          <a:prstGeom prst="rect">
            <a:avLst/>
          </a:prstGeom>
          <a:solidFill>
            <a:srgbClr val="5DA9E9"/>
          </a:solidFill>
          <a:ln/>
        </p:spPr>
        <p:txBody>
          <a:bodyPr wrap="square" lIns="152400" tIns="0" rIns="152400" bIns="0" rtlCol="0" anchor="ctr">
            <a:normAutofit/>
          </a:bodyPr>
          <a:lstStyle/>
          <a:p>
            <a:pPr algn="l" indent="0" marL="0">
              <a:lnSpc>
                <a:spcPts val="2240"/>
              </a:lnSpc>
              <a:buNone/>
            </a:pPr>
            <a:r>
              <a:rPr lang="en-US" sz="1600" b="1" dirty="0">
                <a:solidFill>
                  <a:srgbClr val="0A1628"/>
                </a:solidFill>
                <a:latin typeface="Arial" pitchFamily="34" charset="0"/>
                <a:ea typeface="Arial" pitchFamily="34" charset="-122"/>
                <a:cs typeface="Arial" pitchFamily="34" charset="-120"/>
              </a:rPr>
              <a:t>20%</a:t>
            </a:r>
            <a:endParaRPr lang="en-US" sz="1600" dirty="0"/>
          </a:p>
        </p:txBody>
      </p:sp>
      <p:sp>
        <p:nvSpPr>
          <p:cNvPr id="9" name="Shape 6"/>
          <p:cNvSpPr/>
          <p:nvPr/>
        </p:nvSpPr>
        <p:spPr>
          <a:xfrm>
            <a:off x="812800" y="2570361"/>
            <a:ext cx="3403600" cy="2011462"/>
          </a:xfrm>
          <a:prstGeom prst="roundRect">
            <a:avLst>
              <a:gd name="adj" fmla="val 5051"/>
            </a:avLst>
          </a:prstGeom>
          <a:solidFill>
            <a:srgbClr val="FFFFFF"/>
          </a:solidFill>
          <a:ln/>
          <a:effectLst>
            <a:outerShdw sx="100000" sy="100000" kx="0" ky="0" algn="bl" rotWithShape="0" blurRad="101600" dist="25400" dir="5400000">
              <a:srgbClr val="C9D6E3">
                <a:alpha val="100000"/>
              </a:srgbClr>
            </a:outerShdw>
          </a:effectLst>
        </p:spPr>
      </p:sp>
      <p:sp>
        <p:nvSpPr>
          <p:cNvPr id="10" name="Shape 7"/>
          <p:cNvSpPr/>
          <p:nvPr/>
        </p:nvSpPr>
        <p:spPr>
          <a:xfrm>
            <a:off x="812800" y="2570361"/>
            <a:ext cx="3403600" cy="2011462"/>
          </a:xfrm>
          <a:custGeom>
            <a:avLst/>
            <a:gdLst/>
            <a:ahLst/>
            <a:cxnLst/>
            <a:rect l="l" t="t" r="r" b="b"/>
            <a:pathLst>
              <a:path w="3403600" h="2011462">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0078D4"/>
          </a:solidFill>
          <a:ln/>
        </p:spPr>
      </p:sp>
      <p:sp>
        <p:nvSpPr>
          <p:cNvPr id="11" name="Shape 8"/>
          <p:cNvSpPr/>
          <p:nvPr/>
        </p:nvSpPr>
        <p:spPr>
          <a:xfrm>
            <a:off x="1016000" y="2870002"/>
            <a:ext cx="457200" cy="457200"/>
          </a:xfrm>
          <a:prstGeom prst="roundRect">
            <a:avLst>
              <a:gd name="adj" fmla="val 50000"/>
            </a:avLst>
          </a:prstGeom>
          <a:solidFill>
            <a:srgbClr val="EAF3FC"/>
          </a:solidFill>
          <a:ln/>
        </p:spPr>
      </p:sp>
      <p:pic>
        <p:nvPicPr>
          <p:cNvPr id="12" name="Image 1" descr="frown icon">    </p:cNvPr>
          <p:cNvPicPr>
            <a:picLocks noChangeAspect="1"/>
          </p:cNvPicPr>
          <p:nvPr/>
        </p:nvPicPr>
        <p:blipFill>
          <a:blip r:embed="rId2"/>
          <a:srcRect l="0" r="0" t="0" b="0"/>
          <a:stretch/>
        </p:blipFill>
        <p:spPr>
          <a:xfrm>
            <a:off x="1130300" y="2984302"/>
            <a:ext cx="228600" cy="228600"/>
          </a:xfrm>
          <a:prstGeom prst="rect">
            <a:avLst/>
          </a:prstGeom>
        </p:spPr>
      </p:pic>
      <p:sp>
        <p:nvSpPr>
          <p:cNvPr id="13" name="Text 9"/>
          <p:cNvSpPr/>
          <p:nvPr/>
        </p:nvSpPr>
        <p:spPr>
          <a:xfrm>
            <a:off x="3159046" y="2849761"/>
            <a:ext cx="854154" cy="523180"/>
          </a:xfrm>
          <a:prstGeom prst="rect">
            <a:avLst/>
          </a:prstGeom>
          <a:noFill/>
          <a:ln/>
        </p:spPr>
        <p:txBody>
          <a:bodyPr wrap="square" lIns="0" tIns="0" rIns="0" bIns="0" rtlCol="0" anchor="t">
            <a:normAutofit/>
          </a:bodyPr>
          <a:lstStyle/>
          <a:p>
            <a:pPr algn="r" indent="0" marL="0">
              <a:lnSpc>
                <a:spcPts val="3920"/>
              </a:lnSpc>
              <a:buNone/>
            </a:pPr>
            <a:r>
              <a:rPr lang="en-US" sz="2800" b="1" dirty="0">
                <a:solidFill>
                  <a:srgbClr val="0078D4"/>
                </a:solidFill>
                <a:latin typeface="Arial" pitchFamily="34" charset="0"/>
                <a:ea typeface="Arial" pitchFamily="34" charset="-122"/>
                <a:cs typeface="Arial" pitchFamily="34" charset="-120"/>
              </a:rPr>
              <a:t>53%</a:t>
            </a:r>
            <a:endParaRPr lang="en-US" sz="2800" dirty="0"/>
          </a:p>
        </p:txBody>
      </p:sp>
      <p:sp>
        <p:nvSpPr>
          <p:cNvPr id="14" name="Text 10"/>
          <p:cNvSpPr/>
          <p:nvPr/>
        </p:nvSpPr>
        <p:spPr>
          <a:xfrm>
            <a:off x="1016000" y="3449141"/>
            <a:ext cx="30871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3"/>
                </a:solidFill>
                <a:latin typeface="Arial" pitchFamily="34" charset="0"/>
                <a:ea typeface="Arial" pitchFamily="34" charset="-122"/>
                <a:cs typeface="Arial" pitchFamily="34" charset="-120"/>
              </a:rPr>
              <a:t>Careless</a:t>
            </a:r>
            <a:endParaRPr lang="en-US" sz="2000" dirty="0"/>
          </a:p>
        </p:txBody>
      </p:sp>
      <p:sp>
        <p:nvSpPr>
          <p:cNvPr id="15" name="Text 11"/>
          <p:cNvSpPr/>
          <p:nvPr/>
        </p:nvSpPr>
        <p:spPr>
          <a:xfrm>
            <a:off x="1016000" y="3855541"/>
            <a:ext cx="308711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Honest mistakes: wrong recipient, lost laptop, risky sharing</a:t>
            </a:r>
            <a:endParaRPr lang="en-US" sz="1400" dirty="0"/>
          </a:p>
        </p:txBody>
      </p:sp>
      <p:sp>
        <p:nvSpPr>
          <p:cNvPr id="16" name="Shape 12"/>
          <p:cNvSpPr/>
          <p:nvPr/>
        </p:nvSpPr>
        <p:spPr>
          <a:xfrm>
            <a:off x="4394200" y="2570361"/>
            <a:ext cx="3403600" cy="2011462"/>
          </a:xfrm>
          <a:prstGeom prst="roundRect">
            <a:avLst>
              <a:gd name="adj" fmla="val 5051"/>
            </a:avLst>
          </a:prstGeom>
          <a:solidFill>
            <a:srgbClr val="FFFFFF"/>
          </a:solidFill>
          <a:ln/>
          <a:effectLst>
            <a:outerShdw sx="100000" sy="100000" kx="0" ky="0" algn="bl" rotWithShape="0" blurRad="101600" dist="25400" dir="5400000">
              <a:srgbClr val="C9D6E3">
                <a:alpha val="100000"/>
              </a:srgbClr>
            </a:outerShdw>
          </a:effectLst>
        </p:spPr>
      </p:sp>
      <p:sp>
        <p:nvSpPr>
          <p:cNvPr id="17" name="Shape 13"/>
          <p:cNvSpPr/>
          <p:nvPr/>
        </p:nvSpPr>
        <p:spPr>
          <a:xfrm>
            <a:off x="4394200" y="2570361"/>
            <a:ext cx="3403600" cy="2011462"/>
          </a:xfrm>
          <a:custGeom>
            <a:avLst/>
            <a:gdLst/>
            <a:ahLst/>
            <a:cxnLst/>
            <a:rect l="l" t="t" r="r" b="b"/>
            <a:pathLst>
              <a:path w="3403600" h="2011462">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F7630C"/>
          </a:solidFill>
          <a:ln/>
        </p:spPr>
      </p:sp>
      <p:sp>
        <p:nvSpPr>
          <p:cNvPr id="18" name="Shape 14"/>
          <p:cNvSpPr/>
          <p:nvPr/>
        </p:nvSpPr>
        <p:spPr>
          <a:xfrm>
            <a:off x="4597400" y="2870002"/>
            <a:ext cx="457200" cy="457200"/>
          </a:xfrm>
          <a:prstGeom prst="roundRect">
            <a:avLst>
              <a:gd name="adj" fmla="val 50000"/>
            </a:avLst>
          </a:prstGeom>
          <a:solidFill>
            <a:srgbClr val="FDEBDD"/>
          </a:solidFill>
          <a:ln/>
        </p:spPr>
      </p:sp>
      <p:pic>
        <p:nvPicPr>
          <p:cNvPr id="19" name="Image 2" descr="alert icon">    </p:cNvPr>
          <p:cNvPicPr>
            <a:picLocks noChangeAspect="1"/>
          </p:cNvPicPr>
          <p:nvPr/>
        </p:nvPicPr>
        <p:blipFill>
          <a:blip r:embed="rId3"/>
          <a:srcRect l="0" r="0" t="0" b="0"/>
          <a:stretch/>
        </p:blipFill>
        <p:spPr>
          <a:xfrm>
            <a:off x="4711700" y="2984302"/>
            <a:ext cx="228600" cy="228600"/>
          </a:xfrm>
          <a:prstGeom prst="rect">
            <a:avLst/>
          </a:prstGeom>
        </p:spPr>
      </p:pic>
      <p:sp>
        <p:nvSpPr>
          <p:cNvPr id="20" name="Text 15"/>
          <p:cNvSpPr/>
          <p:nvPr/>
        </p:nvSpPr>
        <p:spPr>
          <a:xfrm>
            <a:off x="6740446" y="2849761"/>
            <a:ext cx="854154" cy="523180"/>
          </a:xfrm>
          <a:prstGeom prst="rect">
            <a:avLst/>
          </a:prstGeom>
          <a:noFill/>
          <a:ln/>
        </p:spPr>
        <p:txBody>
          <a:bodyPr wrap="square" lIns="0" tIns="0" rIns="0" bIns="0" rtlCol="0" anchor="t">
            <a:normAutofit/>
          </a:bodyPr>
          <a:lstStyle/>
          <a:p>
            <a:pPr algn="r" indent="0" marL="0">
              <a:lnSpc>
                <a:spcPts val="3920"/>
              </a:lnSpc>
              <a:buNone/>
            </a:pPr>
            <a:r>
              <a:rPr lang="en-US" sz="2800" b="1" dirty="0">
                <a:solidFill>
                  <a:srgbClr val="F7630C"/>
                </a:solidFill>
                <a:latin typeface="Arial" pitchFamily="34" charset="0"/>
                <a:ea typeface="Arial" pitchFamily="34" charset="-122"/>
                <a:cs typeface="Arial" pitchFamily="34" charset="-120"/>
              </a:rPr>
              <a:t>27%</a:t>
            </a:r>
            <a:endParaRPr lang="en-US" sz="2800" dirty="0"/>
          </a:p>
        </p:txBody>
      </p:sp>
      <p:sp>
        <p:nvSpPr>
          <p:cNvPr id="21" name="Text 16"/>
          <p:cNvSpPr/>
          <p:nvPr/>
        </p:nvSpPr>
        <p:spPr>
          <a:xfrm>
            <a:off x="4597400" y="3449141"/>
            <a:ext cx="30871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3"/>
                </a:solidFill>
                <a:latin typeface="Arial" pitchFamily="34" charset="0"/>
                <a:ea typeface="Arial" pitchFamily="34" charset="-122"/>
                <a:cs typeface="Arial" pitchFamily="34" charset="-120"/>
              </a:rPr>
              <a:t>Malicious</a:t>
            </a:r>
            <a:endParaRPr lang="en-US" sz="2000" dirty="0"/>
          </a:p>
        </p:txBody>
      </p:sp>
      <p:sp>
        <p:nvSpPr>
          <p:cNvPr id="22" name="Text 17"/>
          <p:cNvSpPr/>
          <p:nvPr/>
        </p:nvSpPr>
        <p:spPr>
          <a:xfrm>
            <a:off x="4597400" y="3855541"/>
            <a:ext cx="308711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Deliberate harm: data theft, fraud, sabotage</a:t>
            </a:r>
            <a:endParaRPr lang="en-US" sz="1400" dirty="0"/>
          </a:p>
        </p:txBody>
      </p:sp>
      <p:sp>
        <p:nvSpPr>
          <p:cNvPr id="23" name="Shape 18"/>
          <p:cNvSpPr/>
          <p:nvPr/>
        </p:nvSpPr>
        <p:spPr>
          <a:xfrm>
            <a:off x="7975600" y="2570361"/>
            <a:ext cx="3403600" cy="2011462"/>
          </a:xfrm>
          <a:prstGeom prst="roundRect">
            <a:avLst>
              <a:gd name="adj" fmla="val 5051"/>
            </a:avLst>
          </a:prstGeom>
          <a:solidFill>
            <a:srgbClr val="FFFFFF"/>
          </a:solidFill>
          <a:ln/>
          <a:effectLst>
            <a:outerShdw sx="100000" sy="100000" kx="0" ky="0" algn="bl" rotWithShape="0" blurRad="101600" dist="25400" dir="5400000">
              <a:srgbClr val="C9D6E3">
                <a:alpha val="100000"/>
              </a:srgbClr>
            </a:outerShdw>
          </a:effectLst>
        </p:spPr>
      </p:sp>
      <p:sp>
        <p:nvSpPr>
          <p:cNvPr id="24" name="Shape 19"/>
          <p:cNvSpPr/>
          <p:nvPr/>
        </p:nvSpPr>
        <p:spPr>
          <a:xfrm>
            <a:off x="7975600" y="2570361"/>
            <a:ext cx="3403600" cy="2011462"/>
          </a:xfrm>
          <a:custGeom>
            <a:avLst/>
            <a:gdLst/>
            <a:ahLst/>
            <a:cxnLst/>
            <a:rect l="l" t="t" r="r" b="b"/>
            <a:pathLst>
              <a:path w="3403600" h="2011462">
                <a:moveTo>
                  <a:pt x="0" y="101600"/>
                </a:moveTo>
                <a:lnTo>
                  <a:pt x="0" y="101600"/>
                </a:lnTo>
                <a:arcTo hR="101600" wR="101600" stAng="10800000" swAng="5400000"/>
                <a:lnTo>
                  <a:pt x="3302000" y="0"/>
                </a:lnTo>
                <a:arcTo hR="101600" wR="101600" stAng="16200000" swAng="5400000"/>
                <a:lnTo>
                  <a:pt x="3403600" y="101600"/>
                </a:lnTo>
                <a:arcTo hR="50800" wR="101600" stAng="0" swAng="-5400000"/>
                <a:lnTo>
                  <a:pt x="101600" y="50800"/>
                </a:lnTo>
                <a:arcTo hR="50800" wR="101600" stAng="16200000" swAng="-5400000"/>
                <a:close/>
              </a:path>
            </a:pathLst>
          </a:custGeom>
          <a:solidFill>
            <a:srgbClr val="5DA9E9"/>
          </a:solidFill>
          <a:ln/>
        </p:spPr>
      </p:sp>
      <p:sp>
        <p:nvSpPr>
          <p:cNvPr id="25" name="Shape 20"/>
          <p:cNvSpPr/>
          <p:nvPr/>
        </p:nvSpPr>
        <p:spPr>
          <a:xfrm>
            <a:off x="8178800" y="2870002"/>
            <a:ext cx="457200" cy="457200"/>
          </a:xfrm>
          <a:prstGeom prst="roundRect">
            <a:avLst>
              <a:gd name="adj" fmla="val 50000"/>
            </a:avLst>
          </a:prstGeom>
          <a:solidFill>
            <a:srgbClr val="EAF3FC"/>
          </a:solidFill>
          <a:ln/>
        </p:spPr>
      </p:sp>
      <p:pic>
        <p:nvPicPr>
          <p:cNvPr id="26" name="Image 3" descr="key icon">    </p:cNvPr>
          <p:cNvPicPr>
            <a:picLocks noChangeAspect="1"/>
          </p:cNvPicPr>
          <p:nvPr/>
        </p:nvPicPr>
        <p:blipFill>
          <a:blip r:embed="rId4"/>
          <a:srcRect l="0" r="0" t="0" b="0"/>
          <a:stretch/>
        </p:blipFill>
        <p:spPr>
          <a:xfrm>
            <a:off x="8293100" y="2984302"/>
            <a:ext cx="228600" cy="228600"/>
          </a:xfrm>
          <a:prstGeom prst="rect">
            <a:avLst/>
          </a:prstGeom>
        </p:spPr>
      </p:pic>
      <p:sp>
        <p:nvSpPr>
          <p:cNvPr id="27" name="Text 21"/>
          <p:cNvSpPr/>
          <p:nvPr/>
        </p:nvSpPr>
        <p:spPr>
          <a:xfrm>
            <a:off x="10321846" y="2849761"/>
            <a:ext cx="854154" cy="523180"/>
          </a:xfrm>
          <a:prstGeom prst="rect">
            <a:avLst/>
          </a:prstGeom>
          <a:noFill/>
          <a:ln/>
        </p:spPr>
        <p:txBody>
          <a:bodyPr wrap="square" lIns="0" tIns="0" rIns="0" bIns="0" rtlCol="0" anchor="t">
            <a:normAutofit/>
          </a:bodyPr>
          <a:lstStyle/>
          <a:p>
            <a:pPr algn="r" indent="0" marL="0">
              <a:lnSpc>
                <a:spcPts val="3920"/>
              </a:lnSpc>
              <a:buNone/>
            </a:pPr>
            <a:r>
              <a:rPr lang="en-US" sz="2800" b="1" dirty="0">
                <a:solidFill>
                  <a:srgbClr val="0078D4"/>
                </a:solidFill>
                <a:latin typeface="Arial" pitchFamily="34" charset="0"/>
                <a:ea typeface="Arial" pitchFamily="34" charset="-122"/>
                <a:cs typeface="Arial" pitchFamily="34" charset="-120"/>
              </a:rPr>
              <a:t>20%</a:t>
            </a:r>
            <a:endParaRPr lang="en-US" sz="2800" dirty="0"/>
          </a:p>
        </p:txBody>
      </p:sp>
      <p:sp>
        <p:nvSpPr>
          <p:cNvPr id="28" name="Text 22"/>
          <p:cNvSpPr/>
          <p:nvPr/>
        </p:nvSpPr>
        <p:spPr>
          <a:xfrm>
            <a:off x="8178800" y="3449141"/>
            <a:ext cx="308711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3"/>
                </a:solidFill>
                <a:latin typeface="Arial" pitchFamily="34" charset="0"/>
                <a:ea typeface="Arial" pitchFamily="34" charset="-122"/>
                <a:cs typeface="Arial" pitchFamily="34" charset="-120"/>
              </a:rPr>
              <a:t>Compromised</a:t>
            </a:r>
            <a:endParaRPr lang="en-US" sz="2000" dirty="0"/>
          </a:p>
        </p:txBody>
      </p:sp>
      <p:sp>
        <p:nvSpPr>
          <p:cNvPr id="29" name="Text 23"/>
          <p:cNvSpPr/>
          <p:nvPr/>
        </p:nvSpPr>
        <p:spPr>
          <a:xfrm>
            <a:off x="8178800" y="3855541"/>
            <a:ext cx="308711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Account hijacked by an outsider through stolen credentials</a:t>
            </a:r>
            <a:endParaRPr lang="en-US" sz="1400" dirty="0"/>
          </a:p>
        </p:txBody>
      </p:sp>
      <p:sp>
        <p:nvSpPr>
          <p:cNvPr id="30" name="Text 2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 Ponemon Institute and DTEX, 2026 Cost of Insider Risks Global Report</a:t>
            </a:r>
            <a:endParaRPr lang="en-US" sz="1200" dirty="0"/>
          </a:p>
        </p:txBody>
      </p:sp>
      <p:sp>
        <p:nvSpPr>
          <p:cNvPr id="31" name="Text 25"/>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03 · CARELESS INSIDERS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Everyday mistakes that leak data</a:t>
            </a:r>
            <a:endParaRPr lang="en-US" sz="3600" dirty="0"/>
          </a:p>
        </p:txBody>
      </p:sp>
      <p:sp>
        <p:nvSpPr>
          <p:cNvPr id="5" name="Shape 2"/>
          <p:cNvSpPr/>
          <p:nvPr/>
        </p:nvSpPr>
        <p:spPr>
          <a:xfrm>
            <a:off x="812800" y="1569641"/>
            <a:ext cx="3420467"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990600" y="1876921"/>
            <a:ext cx="457200" cy="457200"/>
          </a:xfrm>
          <a:prstGeom prst="roundRect">
            <a:avLst>
              <a:gd name="adj" fmla="val 50000"/>
            </a:avLst>
          </a:prstGeom>
          <a:solidFill>
            <a:srgbClr val="EAF3FC"/>
          </a:solidFill>
          <a:ln/>
        </p:spPr>
      </p:sp>
      <p:pic>
        <p:nvPicPr>
          <p:cNvPr id="7" name="Image 1" descr="mail icon">    </p:cNvPr>
          <p:cNvPicPr>
            <a:picLocks noChangeAspect="1"/>
          </p:cNvPicPr>
          <p:nvPr/>
        </p:nvPicPr>
        <p:blipFill>
          <a:blip r:embed="rId2"/>
          <a:srcRect l="0" r="0" t="0" b="0"/>
          <a:stretch/>
        </p:blipFill>
        <p:spPr>
          <a:xfrm>
            <a:off x="1104900" y="1991221"/>
            <a:ext cx="228600" cy="228600"/>
          </a:xfrm>
          <a:prstGeom prst="rect">
            <a:avLst/>
          </a:prstGeom>
        </p:spPr>
      </p:pic>
      <p:sp>
        <p:nvSpPr>
          <p:cNvPr id="8" name="Text 4"/>
          <p:cNvSpPr/>
          <p:nvPr/>
        </p:nvSpPr>
        <p:spPr>
          <a:xfrm>
            <a:off x="1574800" y="1747441"/>
            <a:ext cx="25550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Wrong recipient</a:t>
            </a:r>
            <a:endParaRPr lang="en-US" sz="1500" dirty="0"/>
          </a:p>
        </p:txBody>
      </p:sp>
      <p:sp>
        <p:nvSpPr>
          <p:cNvPr id="9" name="Text 5"/>
          <p:cNvSpPr/>
          <p:nvPr/>
        </p:nvSpPr>
        <p:spPr>
          <a:xfrm>
            <a:off x="1574800" y="2001441"/>
            <a:ext cx="255508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Email autocomplete sends data to the wrong person</a:t>
            </a:r>
            <a:endParaRPr lang="en-US" sz="1300" dirty="0"/>
          </a:p>
        </p:txBody>
      </p:sp>
      <p:sp>
        <p:nvSpPr>
          <p:cNvPr id="10" name="Shape 6"/>
          <p:cNvSpPr/>
          <p:nvPr/>
        </p:nvSpPr>
        <p:spPr>
          <a:xfrm>
            <a:off x="4385667" y="1569641"/>
            <a:ext cx="3420566"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11" name="Shape 7"/>
          <p:cNvSpPr/>
          <p:nvPr/>
        </p:nvSpPr>
        <p:spPr>
          <a:xfrm>
            <a:off x="4563467" y="1876921"/>
            <a:ext cx="457200" cy="457200"/>
          </a:xfrm>
          <a:prstGeom prst="roundRect">
            <a:avLst>
              <a:gd name="adj" fmla="val 50000"/>
            </a:avLst>
          </a:prstGeom>
          <a:solidFill>
            <a:srgbClr val="EAF3FC"/>
          </a:solidFill>
          <a:ln/>
        </p:spPr>
      </p:sp>
      <p:pic>
        <p:nvPicPr>
          <p:cNvPr id="12" name="Image 2" descr="link icon">    </p:cNvPr>
          <p:cNvPicPr>
            <a:picLocks noChangeAspect="1"/>
          </p:cNvPicPr>
          <p:nvPr/>
        </p:nvPicPr>
        <p:blipFill>
          <a:blip r:embed="rId3"/>
          <a:srcRect l="0" r="0" t="0" b="0"/>
          <a:stretch/>
        </p:blipFill>
        <p:spPr>
          <a:xfrm>
            <a:off x="4677767" y="1991221"/>
            <a:ext cx="228600" cy="228600"/>
          </a:xfrm>
          <a:prstGeom prst="rect">
            <a:avLst/>
          </a:prstGeom>
        </p:spPr>
      </p:pic>
      <p:sp>
        <p:nvSpPr>
          <p:cNvPr id="13" name="Text 8"/>
          <p:cNvSpPr/>
          <p:nvPr/>
        </p:nvSpPr>
        <p:spPr>
          <a:xfrm>
            <a:off x="5147667" y="1747441"/>
            <a:ext cx="25551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“Anyone with the link”</a:t>
            </a:r>
            <a:endParaRPr lang="en-US" sz="1500" dirty="0"/>
          </a:p>
        </p:txBody>
      </p:sp>
      <p:sp>
        <p:nvSpPr>
          <p:cNvPr id="14" name="Text 9"/>
          <p:cNvSpPr/>
          <p:nvPr/>
        </p:nvSpPr>
        <p:spPr>
          <a:xfrm>
            <a:off x="5147667" y="2001441"/>
            <a:ext cx="25551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Files shared far more widely than intended</a:t>
            </a:r>
            <a:endParaRPr lang="en-US" sz="1300" dirty="0"/>
          </a:p>
        </p:txBody>
      </p:sp>
      <p:sp>
        <p:nvSpPr>
          <p:cNvPr id="15" name="Shape 10"/>
          <p:cNvSpPr/>
          <p:nvPr/>
        </p:nvSpPr>
        <p:spPr>
          <a:xfrm>
            <a:off x="7958634" y="1569641"/>
            <a:ext cx="3420566"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16" name="Shape 11"/>
          <p:cNvSpPr/>
          <p:nvPr/>
        </p:nvSpPr>
        <p:spPr>
          <a:xfrm>
            <a:off x="8136434" y="1876921"/>
            <a:ext cx="457200" cy="457200"/>
          </a:xfrm>
          <a:prstGeom prst="roundRect">
            <a:avLst>
              <a:gd name="adj" fmla="val 50000"/>
            </a:avLst>
          </a:prstGeom>
          <a:solidFill>
            <a:srgbClr val="EAF3FC"/>
          </a:solidFill>
          <a:ln/>
        </p:spPr>
      </p:sp>
      <p:pic>
        <p:nvPicPr>
          <p:cNvPr id="17" name="Image 3" descr="cloud icon">    </p:cNvPr>
          <p:cNvPicPr>
            <a:picLocks noChangeAspect="1"/>
          </p:cNvPicPr>
          <p:nvPr/>
        </p:nvPicPr>
        <p:blipFill>
          <a:blip r:embed="rId4"/>
          <a:srcRect l="0" r="0" t="0" b="0"/>
          <a:stretch/>
        </p:blipFill>
        <p:spPr>
          <a:xfrm>
            <a:off x="8250734" y="1991221"/>
            <a:ext cx="228600" cy="228600"/>
          </a:xfrm>
          <a:prstGeom prst="rect">
            <a:avLst/>
          </a:prstGeom>
        </p:spPr>
      </p:pic>
      <p:sp>
        <p:nvSpPr>
          <p:cNvPr id="18" name="Text 12"/>
          <p:cNvSpPr/>
          <p:nvPr/>
        </p:nvSpPr>
        <p:spPr>
          <a:xfrm>
            <a:off x="8720634" y="1747441"/>
            <a:ext cx="25551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Personal cloud or email</a:t>
            </a:r>
            <a:endParaRPr lang="en-US" sz="1500" dirty="0"/>
          </a:p>
        </p:txBody>
      </p:sp>
      <p:sp>
        <p:nvSpPr>
          <p:cNvPr id="19" name="Text 13"/>
          <p:cNvSpPr/>
          <p:nvPr/>
        </p:nvSpPr>
        <p:spPr>
          <a:xfrm>
            <a:off x="8720634" y="2001441"/>
            <a:ext cx="25551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Work files sent home to “finish later”</a:t>
            </a:r>
            <a:endParaRPr lang="en-US" sz="1300" dirty="0"/>
          </a:p>
        </p:txBody>
      </p:sp>
      <p:sp>
        <p:nvSpPr>
          <p:cNvPr id="20" name="Shape 14"/>
          <p:cNvSpPr/>
          <p:nvPr/>
        </p:nvSpPr>
        <p:spPr>
          <a:xfrm>
            <a:off x="812800" y="2793802"/>
            <a:ext cx="3420467"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5"/>
          <p:cNvSpPr/>
          <p:nvPr/>
        </p:nvSpPr>
        <p:spPr>
          <a:xfrm>
            <a:off x="990600" y="3101082"/>
            <a:ext cx="457200" cy="457200"/>
          </a:xfrm>
          <a:prstGeom prst="roundRect">
            <a:avLst>
              <a:gd name="adj" fmla="val 50000"/>
            </a:avLst>
          </a:prstGeom>
          <a:solidFill>
            <a:srgbClr val="EAF3FC"/>
          </a:solidFill>
          <a:ln/>
        </p:spPr>
      </p:sp>
      <p:pic>
        <p:nvPicPr>
          <p:cNvPr id="22" name="Image 4" descr="bot icon">    </p:cNvPr>
          <p:cNvPicPr>
            <a:picLocks noChangeAspect="1"/>
          </p:cNvPicPr>
          <p:nvPr/>
        </p:nvPicPr>
        <p:blipFill>
          <a:blip r:embed="rId5"/>
          <a:srcRect l="0" r="0" t="0" b="0"/>
          <a:stretch/>
        </p:blipFill>
        <p:spPr>
          <a:xfrm>
            <a:off x="1104900" y="3215382"/>
            <a:ext cx="228600" cy="228600"/>
          </a:xfrm>
          <a:prstGeom prst="rect">
            <a:avLst/>
          </a:prstGeom>
        </p:spPr>
      </p:pic>
      <p:sp>
        <p:nvSpPr>
          <p:cNvPr id="23" name="Text 16"/>
          <p:cNvSpPr/>
          <p:nvPr/>
        </p:nvSpPr>
        <p:spPr>
          <a:xfrm>
            <a:off x="1574800" y="2971602"/>
            <a:ext cx="25550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Pasting into AI tools</a:t>
            </a:r>
            <a:endParaRPr lang="en-US" sz="1500" dirty="0"/>
          </a:p>
        </p:txBody>
      </p:sp>
      <p:sp>
        <p:nvSpPr>
          <p:cNvPr id="24" name="Text 17"/>
          <p:cNvSpPr/>
          <p:nvPr/>
        </p:nvSpPr>
        <p:spPr>
          <a:xfrm>
            <a:off x="1574800" y="3225602"/>
            <a:ext cx="255508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Confidential data put into public chatbots</a:t>
            </a:r>
            <a:endParaRPr lang="en-US" sz="1300" dirty="0"/>
          </a:p>
        </p:txBody>
      </p:sp>
      <p:sp>
        <p:nvSpPr>
          <p:cNvPr id="25" name="Shape 18"/>
          <p:cNvSpPr/>
          <p:nvPr/>
        </p:nvSpPr>
        <p:spPr>
          <a:xfrm>
            <a:off x="4385667" y="2793802"/>
            <a:ext cx="3420566"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26" name="Shape 19"/>
          <p:cNvSpPr/>
          <p:nvPr/>
        </p:nvSpPr>
        <p:spPr>
          <a:xfrm>
            <a:off x="4563467" y="3101082"/>
            <a:ext cx="457200" cy="457200"/>
          </a:xfrm>
          <a:prstGeom prst="roundRect">
            <a:avLst>
              <a:gd name="adj" fmla="val 50000"/>
            </a:avLst>
          </a:prstGeom>
          <a:solidFill>
            <a:srgbClr val="EAF3FC"/>
          </a:solidFill>
          <a:ln/>
        </p:spPr>
      </p:sp>
      <p:pic>
        <p:nvPicPr>
          <p:cNvPr id="27" name="Image 5" descr="usb icon">    </p:cNvPr>
          <p:cNvPicPr>
            <a:picLocks noChangeAspect="1"/>
          </p:cNvPicPr>
          <p:nvPr/>
        </p:nvPicPr>
        <p:blipFill>
          <a:blip r:embed="rId6"/>
          <a:srcRect l="0" r="0" t="0" b="0"/>
          <a:stretch/>
        </p:blipFill>
        <p:spPr>
          <a:xfrm>
            <a:off x="4677767" y="3215382"/>
            <a:ext cx="228600" cy="228600"/>
          </a:xfrm>
          <a:prstGeom prst="rect">
            <a:avLst/>
          </a:prstGeom>
        </p:spPr>
      </p:pic>
      <p:sp>
        <p:nvSpPr>
          <p:cNvPr id="28" name="Text 20"/>
          <p:cNvSpPr/>
          <p:nvPr/>
        </p:nvSpPr>
        <p:spPr>
          <a:xfrm>
            <a:off x="5147667" y="2971602"/>
            <a:ext cx="25551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Lost devices</a:t>
            </a:r>
            <a:endParaRPr lang="en-US" sz="1500" dirty="0"/>
          </a:p>
        </p:txBody>
      </p:sp>
      <p:sp>
        <p:nvSpPr>
          <p:cNvPr id="29" name="Text 21"/>
          <p:cNvSpPr/>
          <p:nvPr/>
        </p:nvSpPr>
        <p:spPr>
          <a:xfrm>
            <a:off x="5147667" y="3225602"/>
            <a:ext cx="25551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Unencrypted laptops, phones or USB drives</a:t>
            </a:r>
            <a:endParaRPr lang="en-US" sz="1300" dirty="0"/>
          </a:p>
        </p:txBody>
      </p:sp>
      <p:sp>
        <p:nvSpPr>
          <p:cNvPr id="30" name="Shape 22"/>
          <p:cNvSpPr/>
          <p:nvPr/>
        </p:nvSpPr>
        <p:spPr>
          <a:xfrm>
            <a:off x="7958634" y="2793802"/>
            <a:ext cx="3420566"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31" name="Shape 23"/>
          <p:cNvSpPr/>
          <p:nvPr/>
        </p:nvSpPr>
        <p:spPr>
          <a:xfrm>
            <a:off x="8136434" y="3101082"/>
            <a:ext cx="457200" cy="457200"/>
          </a:xfrm>
          <a:prstGeom prst="roundRect">
            <a:avLst>
              <a:gd name="adj" fmla="val 50000"/>
            </a:avLst>
          </a:prstGeom>
          <a:solidFill>
            <a:srgbClr val="EAF3FC"/>
          </a:solidFill>
          <a:ln/>
        </p:spPr>
      </p:sp>
      <p:pic>
        <p:nvPicPr>
          <p:cNvPr id="32" name="Image 6" descr="printer icon">    </p:cNvPr>
          <p:cNvPicPr>
            <a:picLocks noChangeAspect="1"/>
          </p:cNvPicPr>
          <p:nvPr/>
        </p:nvPicPr>
        <p:blipFill>
          <a:blip r:embed="rId7"/>
          <a:srcRect l="0" r="0" t="0" b="0"/>
          <a:stretch/>
        </p:blipFill>
        <p:spPr>
          <a:xfrm>
            <a:off x="8250734" y="3215382"/>
            <a:ext cx="228600" cy="228600"/>
          </a:xfrm>
          <a:prstGeom prst="rect">
            <a:avLst/>
          </a:prstGeom>
        </p:spPr>
      </p:pic>
      <p:sp>
        <p:nvSpPr>
          <p:cNvPr id="33" name="Text 24"/>
          <p:cNvSpPr/>
          <p:nvPr/>
        </p:nvSpPr>
        <p:spPr>
          <a:xfrm>
            <a:off x="8720634" y="2971602"/>
            <a:ext cx="25551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Printouts and screens</a:t>
            </a:r>
            <a:endParaRPr lang="en-US" sz="1500" dirty="0"/>
          </a:p>
        </p:txBody>
      </p:sp>
      <p:sp>
        <p:nvSpPr>
          <p:cNvPr id="34" name="Text 25"/>
          <p:cNvSpPr/>
          <p:nvPr/>
        </p:nvSpPr>
        <p:spPr>
          <a:xfrm>
            <a:off x="8720634" y="3225602"/>
            <a:ext cx="25551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Documents left on printers or desks</a:t>
            </a:r>
            <a:endParaRPr lang="en-US" sz="1300" dirty="0"/>
          </a:p>
        </p:txBody>
      </p:sp>
      <p:sp>
        <p:nvSpPr>
          <p:cNvPr id="35" name="Shape 26"/>
          <p:cNvSpPr/>
          <p:nvPr/>
        </p:nvSpPr>
        <p:spPr>
          <a:xfrm>
            <a:off x="812800" y="4119562"/>
            <a:ext cx="10566400" cy="762000"/>
          </a:xfrm>
          <a:prstGeom prst="roundRect">
            <a:avLst>
              <a:gd name="adj" fmla="val 13333"/>
            </a:avLst>
          </a:prstGeom>
          <a:solidFill>
            <a:srgbClr val="0A1628"/>
          </a:solidFill>
          <a:ln/>
        </p:spPr>
      </p:sp>
      <p:sp>
        <p:nvSpPr>
          <p:cNvPr id="36" name="Shape 27"/>
          <p:cNvSpPr/>
          <p:nvPr/>
        </p:nvSpPr>
        <p:spPr>
          <a:xfrm>
            <a:off x="1041400" y="4297363"/>
            <a:ext cx="406400" cy="406400"/>
          </a:xfrm>
          <a:prstGeom prst="roundRect">
            <a:avLst>
              <a:gd name="adj" fmla="val 50000"/>
            </a:avLst>
          </a:prstGeom>
          <a:solidFill>
            <a:srgbClr val="00B7C3"/>
          </a:solidFill>
          <a:ln/>
        </p:spPr>
      </p:sp>
      <p:pic>
        <p:nvPicPr>
          <p:cNvPr id="37" name="Image 7" descr="heart icon">    </p:cNvPr>
          <p:cNvPicPr>
            <a:picLocks noChangeAspect="1"/>
          </p:cNvPicPr>
          <p:nvPr/>
        </p:nvPicPr>
        <p:blipFill>
          <a:blip r:embed="rId8"/>
          <a:srcRect l="0" r="0" t="0" b="0"/>
          <a:stretch/>
        </p:blipFill>
        <p:spPr>
          <a:xfrm>
            <a:off x="1143000" y="4398963"/>
            <a:ext cx="203200" cy="203200"/>
          </a:xfrm>
          <a:prstGeom prst="rect">
            <a:avLst/>
          </a:prstGeom>
        </p:spPr>
      </p:pic>
      <p:sp>
        <p:nvSpPr>
          <p:cNvPr id="38" name="Text 28"/>
          <p:cNvSpPr/>
          <p:nvPr/>
        </p:nvSpPr>
        <p:spPr>
          <a:xfrm>
            <a:off x="1600200" y="4367213"/>
            <a:ext cx="98369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Calibri" pitchFamily="34" charset="0"/>
                <a:ea typeface="Calibri" pitchFamily="34" charset="-122"/>
                <a:cs typeface="Calibri" pitchFamily="34" charset="-120"/>
              </a:rPr>
              <a:t>None of these people meant harm. </a:t>
            </a:r>
            <a:r>
              <a:rPr lang="en-US" sz="1500" b="1" dirty="0">
                <a:solidFill>
                  <a:srgbClr val="00B7C3"/>
                </a:solidFill>
                <a:latin typeface="Calibri" pitchFamily="34" charset="0"/>
                <a:ea typeface="Calibri" pitchFamily="34" charset="-122"/>
                <a:cs typeface="Calibri" pitchFamily="34" charset="-120"/>
              </a:rPr>
              <a:t>All of them caused a data breach.</a:t>
            </a:r>
            <a:endParaRPr lang="en-US" sz="1500" dirty="0"/>
          </a:p>
        </p:txBody>
      </p:sp>
      <p:sp>
        <p:nvSpPr>
          <p:cNvPr id="39" name="Text 2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40" name="Text 30"/>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04 · MALICIOUS INSIDERS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When someone means harm</a:t>
            </a:r>
            <a:endParaRPr lang="en-US" sz="3600" dirty="0"/>
          </a:p>
        </p:txBody>
      </p:sp>
      <p:sp>
        <p:nvSpPr>
          <p:cNvPr id="5" name="Text 2"/>
          <p:cNvSpPr/>
          <p:nvPr/>
        </p:nvSpPr>
        <p:spPr>
          <a:xfrm>
            <a:off x="812800" y="1569641"/>
            <a:ext cx="50754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COMMON MOTIVES</a:t>
            </a:r>
            <a:endParaRPr lang="en-US" sz="1200" dirty="0"/>
          </a:p>
        </p:txBody>
      </p:sp>
      <p:sp>
        <p:nvSpPr>
          <p:cNvPr id="6" name="Shape 3"/>
          <p:cNvSpPr/>
          <p:nvPr/>
        </p:nvSpPr>
        <p:spPr>
          <a:xfrm>
            <a:off x="812800" y="1909961"/>
            <a:ext cx="4927600" cy="789880"/>
          </a:xfrm>
          <a:prstGeom prst="roundRect">
            <a:avLst>
              <a:gd name="adj" fmla="val 12863"/>
            </a:avLst>
          </a:prstGeom>
          <a:solidFill>
            <a:srgbClr val="FFFFFF"/>
          </a:solidFill>
          <a:ln/>
          <a:effectLst>
            <a:outerShdw sx="100000" sy="100000" kx="0" ky="0" algn="bl" rotWithShape="0" blurRad="101600" dist="25400" dir="5400000">
              <a:srgbClr val="C9D6E3">
                <a:alpha val="100000"/>
              </a:srgbClr>
            </a:outerShdw>
          </a:effectLst>
        </p:spPr>
      </p:sp>
      <p:sp>
        <p:nvSpPr>
          <p:cNvPr id="7" name="Shape 4"/>
          <p:cNvSpPr/>
          <p:nvPr/>
        </p:nvSpPr>
        <p:spPr>
          <a:xfrm>
            <a:off x="990600" y="2101652"/>
            <a:ext cx="406400" cy="406400"/>
          </a:xfrm>
          <a:prstGeom prst="roundRect">
            <a:avLst>
              <a:gd name="adj" fmla="val 50000"/>
            </a:avLst>
          </a:prstGeom>
          <a:solidFill>
            <a:srgbClr val="FDEBDD"/>
          </a:solidFill>
          <a:ln/>
        </p:spPr>
      </p:sp>
      <p:pic>
        <p:nvPicPr>
          <p:cNvPr id="8" name="Image 1" descr="dollar icon">    </p:cNvPr>
          <p:cNvPicPr>
            <a:picLocks noChangeAspect="1"/>
          </p:cNvPicPr>
          <p:nvPr/>
        </p:nvPicPr>
        <p:blipFill>
          <a:blip r:embed="rId2"/>
          <a:srcRect l="0" r="0" t="0" b="0"/>
          <a:stretch/>
        </p:blipFill>
        <p:spPr>
          <a:xfrm>
            <a:off x="1092200" y="2203252"/>
            <a:ext cx="203200" cy="203200"/>
          </a:xfrm>
          <a:prstGeom prst="rect">
            <a:avLst/>
          </a:prstGeom>
        </p:spPr>
      </p:pic>
      <p:sp>
        <p:nvSpPr>
          <p:cNvPr id="9" name="Text 5"/>
          <p:cNvSpPr/>
          <p:nvPr/>
        </p:nvSpPr>
        <p:spPr>
          <a:xfrm>
            <a:off x="1549400" y="2062361"/>
            <a:ext cx="41335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Money</a:t>
            </a:r>
            <a:endParaRPr lang="en-US" sz="1500" dirty="0"/>
          </a:p>
        </p:txBody>
      </p:sp>
      <p:sp>
        <p:nvSpPr>
          <p:cNvPr id="10" name="Text 6"/>
          <p:cNvSpPr/>
          <p:nvPr/>
        </p:nvSpPr>
        <p:spPr>
          <a:xfrm>
            <a:off x="1549400" y="2316361"/>
            <a:ext cx="413359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Selling data or access to criminals or competitors</a:t>
            </a:r>
            <a:endParaRPr lang="en-US" sz="1300" dirty="0"/>
          </a:p>
        </p:txBody>
      </p:sp>
      <p:sp>
        <p:nvSpPr>
          <p:cNvPr id="11" name="Shape 7"/>
          <p:cNvSpPr/>
          <p:nvPr/>
        </p:nvSpPr>
        <p:spPr>
          <a:xfrm>
            <a:off x="812800" y="2826841"/>
            <a:ext cx="4927600" cy="789880"/>
          </a:xfrm>
          <a:prstGeom prst="roundRect">
            <a:avLst>
              <a:gd name="adj" fmla="val 12863"/>
            </a:avLst>
          </a:prstGeom>
          <a:solidFill>
            <a:srgbClr val="FFFFFF"/>
          </a:solidFill>
          <a:ln/>
          <a:effectLst>
            <a:outerShdw sx="100000" sy="100000" kx="0" ky="0" algn="bl" rotWithShape="0" blurRad="101600" dist="25400" dir="5400000">
              <a:srgbClr val="C9D6E3">
                <a:alpha val="100000"/>
              </a:srgbClr>
            </a:outerShdw>
          </a:effectLst>
        </p:spPr>
      </p:sp>
      <p:sp>
        <p:nvSpPr>
          <p:cNvPr id="12" name="Shape 8"/>
          <p:cNvSpPr/>
          <p:nvPr/>
        </p:nvSpPr>
        <p:spPr>
          <a:xfrm>
            <a:off x="990600" y="3018532"/>
            <a:ext cx="406400" cy="406400"/>
          </a:xfrm>
          <a:prstGeom prst="roundRect">
            <a:avLst>
              <a:gd name="adj" fmla="val 50000"/>
            </a:avLst>
          </a:prstGeom>
          <a:solidFill>
            <a:srgbClr val="FDEBDD"/>
          </a:solidFill>
          <a:ln/>
        </p:spPr>
      </p:sp>
      <p:pic>
        <p:nvPicPr>
          <p:cNvPr id="13" name="Image 2" descr="frown icon">    </p:cNvPr>
          <p:cNvPicPr>
            <a:picLocks noChangeAspect="1"/>
          </p:cNvPicPr>
          <p:nvPr/>
        </p:nvPicPr>
        <p:blipFill>
          <a:blip r:embed="rId3"/>
          <a:srcRect l="0" r="0" t="0" b="0"/>
          <a:stretch/>
        </p:blipFill>
        <p:spPr>
          <a:xfrm>
            <a:off x="1092200" y="3120132"/>
            <a:ext cx="203200" cy="203200"/>
          </a:xfrm>
          <a:prstGeom prst="rect">
            <a:avLst/>
          </a:prstGeom>
        </p:spPr>
      </p:pic>
      <p:sp>
        <p:nvSpPr>
          <p:cNvPr id="14" name="Text 9"/>
          <p:cNvSpPr/>
          <p:nvPr/>
        </p:nvSpPr>
        <p:spPr>
          <a:xfrm>
            <a:off x="1549400" y="2979241"/>
            <a:ext cx="41335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Grievance</a:t>
            </a:r>
            <a:endParaRPr lang="en-US" sz="1500" dirty="0"/>
          </a:p>
        </p:txBody>
      </p:sp>
      <p:sp>
        <p:nvSpPr>
          <p:cNvPr id="15" name="Text 10"/>
          <p:cNvSpPr/>
          <p:nvPr/>
        </p:nvSpPr>
        <p:spPr>
          <a:xfrm>
            <a:off x="1549400" y="3233241"/>
            <a:ext cx="413359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Revenge after a conflict, demotion or dismissal</a:t>
            </a:r>
            <a:endParaRPr lang="en-US" sz="1300" dirty="0"/>
          </a:p>
        </p:txBody>
      </p:sp>
      <p:sp>
        <p:nvSpPr>
          <p:cNvPr id="16" name="Shape 11"/>
          <p:cNvSpPr/>
          <p:nvPr/>
        </p:nvSpPr>
        <p:spPr>
          <a:xfrm>
            <a:off x="812800" y="3743722"/>
            <a:ext cx="4927600" cy="789880"/>
          </a:xfrm>
          <a:prstGeom prst="roundRect">
            <a:avLst>
              <a:gd name="adj" fmla="val 12863"/>
            </a:avLst>
          </a:prstGeom>
          <a:solidFill>
            <a:srgbClr val="FFFFFF"/>
          </a:solidFill>
          <a:ln/>
          <a:effectLst>
            <a:outerShdw sx="100000" sy="100000" kx="0" ky="0" algn="bl" rotWithShape="0" blurRad="101600" dist="25400" dir="5400000">
              <a:srgbClr val="C9D6E3">
                <a:alpha val="100000"/>
              </a:srgbClr>
            </a:outerShdw>
          </a:effectLst>
        </p:spPr>
      </p:sp>
      <p:sp>
        <p:nvSpPr>
          <p:cNvPr id="17" name="Shape 12"/>
          <p:cNvSpPr/>
          <p:nvPr/>
        </p:nvSpPr>
        <p:spPr>
          <a:xfrm>
            <a:off x="990600" y="3935413"/>
            <a:ext cx="406400" cy="406400"/>
          </a:xfrm>
          <a:prstGeom prst="roundRect">
            <a:avLst>
              <a:gd name="adj" fmla="val 50000"/>
            </a:avLst>
          </a:prstGeom>
          <a:solidFill>
            <a:srgbClr val="FDEBDD"/>
          </a:solidFill>
          <a:ln/>
        </p:spPr>
      </p:sp>
      <p:pic>
        <p:nvPicPr>
          <p:cNvPr id="18" name="Image 3" descr="flag icon">    </p:cNvPr>
          <p:cNvPicPr>
            <a:picLocks noChangeAspect="1"/>
          </p:cNvPicPr>
          <p:nvPr/>
        </p:nvPicPr>
        <p:blipFill>
          <a:blip r:embed="rId4"/>
          <a:srcRect l="0" r="0" t="0" b="0"/>
          <a:stretch/>
        </p:blipFill>
        <p:spPr>
          <a:xfrm>
            <a:off x="1092200" y="4037013"/>
            <a:ext cx="203200" cy="203200"/>
          </a:xfrm>
          <a:prstGeom prst="rect">
            <a:avLst/>
          </a:prstGeom>
        </p:spPr>
      </p:pic>
      <p:sp>
        <p:nvSpPr>
          <p:cNvPr id="19" name="Text 13"/>
          <p:cNvSpPr/>
          <p:nvPr/>
        </p:nvSpPr>
        <p:spPr>
          <a:xfrm>
            <a:off x="1549400" y="3896122"/>
            <a:ext cx="413359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Ideology or pressure</a:t>
            </a:r>
            <a:endParaRPr lang="en-US" sz="1500" dirty="0"/>
          </a:p>
        </p:txBody>
      </p:sp>
      <p:sp>
        <p:nvSpPr>
          <p:cNvPr id="20" name="Text 14"/>
          <p:cNvSpPr/>
          <p:nvPr/>
        </p:nvSpPr>
        <p:spPr>
          <a:xfrm>
            <a:off x="1549400" y="4150122"/>
            <a:ext cx="413359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Personal beliefs, or coercion by outsiders</a:t>
            </a:r>
            <a:endParaRPr lang="en-US" sz="1300" dirty="0"/>
          </a:p>
        </p:txBody>
      </p:sp>
      <p:sp>
        <p:nvSpPr>
          <p:cNvPr id="21" name="Shape 15"/>
          <p:cNvSpPr/>
          <p:nvPr/>
        </p:nvSpPr>
        <p:spPr>
          <a:xfrm>
            <a:off x="5943600" y="1569641"/>
            <a:ext cx="5435600" cy="2963962"/>
          </a:xfrm>
          <a:prstGeom prst="roundRect">
            <a:avLst>
              <a:gd name="adj" fmla="val 4285"/>
            </a:avLst>
          </a:prstGeom>
          <a:solidFill>
            <a:srgbClr val="0A1628"/>
          </a:solidFill>
          <a:ln/>
        </p:spPr>
      </p:sp>
      <p:sp>
        <p:nvSpPr>
          <p:cNvPr id="22" name="Text 16"/>
          <p:cNvSpPr/>
          <p:nvPr/>
        </p:nvSpPr>
        <p:spPr>
          <a:xfrm>
            <a:off x="6197600" y="1798241"/>
            <a:ext cx="50754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9A5C"/>
                </a:solidFill>
                <a:latin typeface="Calibri" pitchFamily="34" charset="0"/>
                <a:ea typeface="Calibri" pitchFamily="34" charset="-122"/>
                <a:cs typeface="Calibri" pitchFamily="34" charset="-120"/>
              </a:rPr>
              <a:t>WHAT THEY DO</a:t>
            </a:r>
            <a:endParaRPr lang="en-US" sz="1200" dirty="0"/>
          </a:p>
        </p:txBody>
      </p:sp>
      <p:sp>
        <p:nvSpPr>
          <p:cNvPr id="23" name="Shape 17"/>
          <p:cNvSpPr/>
          <p:nvPr/>
        </p:nvSpPr>
        <p:spPr>
          <a:xfrm>
            <a:off x="6197600" y="2119511"/>
            <a:ext cx="4927600" cy="0"/>
          </a:xfrm>
          <a:prstGeom prst="line">
            <a:avLst/>
          </a:prstGeom>
          <a:noFill/>
          <a:ln w="12700">
            <a:solidFill>
              <a:srgbClr val="13294B"/>
            </a:solidFill>
            <a:prstDash val="solid"/>
          </a:ln>
        </p:spPr>
      </p:sp>
      <p:pic>
        <p:nvPicPr>
          <p:cNvPr id="24" name="Image 4" descr="alert icon">    </p:cNvPr>
          <p:cNvPicPr>
            <a:picLocks noChangeAspect="1"/>
          </p:cNvPicPr>
          <p:nvPr/>
        </p:nvPicPr>
        <p:blipFill>
          <a:blip r:embed="rId5"/>
          <a:srcRect l="0" r="0" t="0" b="0"/>
          <a:stretch/>
        </p:blipFill>
        <p:spPr>
          <a:xfrm>
            <a:off x="6197600" y="2237581"/>
            <a:ext cx="228600" cy="228600"/>
          </a:xfrm>
          <a:prstGeom prst="rect">
            <a:avLst/>
          </a:prstGeom>
        </p:spPr>
      </p:pic>
      <p:sp>
        <p:nvSpPr>
          <p:cNvPr id="25" name="Text 18"/>
          <p:cNvSpPr/>
          <p:nvPr/>
        </p:nvSpPr>
        <p:spPr>
          <a:xfrm>
            <a:off x="6553200" y="2227461"/>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Calibri" pitchFamily="34" charset="0"/>
                <a:ea typeface="Calibri" pitchFamily="34" charset="-122"/>
                <a:cs typeface="Calibri" pitchFamily="34" charset="-120"/>
              </a:rPr>
              <a:t>Copying client lists before leaving for a competitor</a:t>
            </a:r>
            <a:endParaRPr lang="en-US" sz="1400" dirty="0"/>
          </a:p>
        </p:txBody>
      </p:sp>
      <p:sp>
        <p:nvSpPr>
          <p:cNvPr id="26" name="Shape 19"/>
          <p:cNvSpPr/>
          <p:nvPr/>
        </p:nvSpPr>
        <p:spPr>
          <a:xfrm>
            <a:off x="6197600" y="2584252"/>
            <a:ext cx="4927600" cy="0"/>
          </a:xfrm>
          <a:prstGeom prst="line">
            <a:avLst/>
          </a:prstGeom>
          <a:noFill/>
          <a:ln w="12700">
            <a:solidFill>
              <a:srgbClr val="13294B"/>
            </a:solidFill>
            <a:prstDash val="solid"/>
          </a:ln>
        </p:spPr>
      </p:sp>
      <p:pic>
        <p:nvPicPr>
          <p:cNvPr id="27" name="Image 5" descr="alert icon">    </p:cNvPr>
          <p:cNvPicPr>
            <a:picLocks noChangeAspect="1"/>
          </p:cNvPicPr>
          <p:nvPr/>
        </p:nvPicPr>
        <p:blipFill>
          <a:blip r:embed="rId6"/>
          <a:srcRect l="0" r="0" t="0" b="0"/>
          <a:stretch/>
        </p:blipFill>
        <p:spPr>
          <a:xfrm>
            <a:off x="6197600" y="2702322"/>
            <a:ext cx="228600" cy="228600"/>
          </a:xfrm>
          <a:prstGeom prst="rect">
            <a:avLst/>
          </a:prstGeom>
        </p:spPr>
      </p:pic>
      <p:sp>
        <p:nvSpPr>
          <p:cNvPr id="28" name="Text 20"/>
          <p:cNvSpPr/>
          <p:nvPr/>
        </p:nvSpPr>
        <p:spPr>
          <a:xfrm>
            <a:off x="6553200" y="2692202"/>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Calibri" pitchFamily="34" charset="0"/>
                <a:ea typeface="Calibri" pitchFamily="34" charset="-122"/>
                <a:cs typeface="Calibri" pitchFamily="34" charset="-120"/>
              </a:rPr>
              <a:t>Deleting or sabotaging systems or data</a:t>
            </a:r>
            <a:endParaRPr lang="en-US" sz="1400" dirty="0"/>
          </a:p>
        </p:txBody>
      </p:sp>
      <p:sp>
        <p:nvSpPr>
          <p:cNvPr id="29" name="Shape 21"/>
          <p:cNvSpPr/>
          <p:nvPr/>
        </p:nvSpPr>
        <p:spPr>
          <a:xfrm>
            <a:off x="6197600" y="3048992"/>
            <a:ext cx="4927600" cy="0"/>
          </a:xfrm>
          <a:prstGeom prst="line">
            <a:avLst/>
          </a:prstGeom>
          <a:noFill/>
          <a:ln w="12700">
            <a:solidFill>
              <a:srgbClr val="13294B"/>
            </a:solidFill>
            <a:prstDash val="solid"/>
          </a:ln>
        </p:spPr>
      </p:sp>
      <p:pic>
        <p:nvPicPr>
          <p:cNvPr id="30" name="Image 6" descr="alert icon">    </p:cNvPr>
          <p:cNvPicPr>
            <a:picLocks noChangeAspect="1"/>
          </p:cNvPicPr>
          <p:nvPr/>
        </p:nvPicPr>
        <p:blipFill>
          <a:blip r:embed="rId7"/>
          <a:srcRect l="0" r="0" t="0" b="0"/>
          <a:stretch/>
        </p:blipFill>
        <p:spPr>
          <a:xfrm>
            <a:off x="6197600" y="3167063"/>
            <a:ext cx="228600" cy="228600"/>
          </a:xfrm>
          <a:prstGeom prst="rect">
            <a:avLst/>
          </a:prstGeom>
        </p:spPr>
      </p:pic>
      <p:sp>
        <p:nvSpPr>
          <p:cNvPr id="31" name="Text 22"/>
          <p:cNvSpPr/>
          <p:nvPr/>
        </p:nvSpPr>
        <p:spPr>
          <a:xfrm>
            <a:off x="6553200" y="3156942"/>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Calibri" pitchFamily="34" charset="0"/>
                <a:ea typeface="Calibri" pitchFamily="34" charset="-122"/>
                <a:cs typeface="Calibri" pitchFamily="34" charset="-120"/>
              </a:rPr>
              <a:t>Committing fraud using their access</a:t>
            </a:r>
            <a:endParaRPr lang="en-US" sz="1400" dirty="0"/>
          </a:p>
        </p:txBody>
      </p:sp>
      <p:sp>
        <p:nvSpPr>
          <p:cNvPr id="32" name="Shape 23"/>
          <p:cNvSpPr/>
          <p:nvPr/>
        </p:nvSpPr>
        <p:spPr>
          <a:xfrm>
            <a:off x="6197600" y="3513733"/>
            <a:ext cx="4927600" cy="0"/>
          </a:xfrm>
          <a:prstGeom prst="line">
            <a:avLst/>
          </a:prstGeom>
          <a:noFill/>
          <a:ln w="12700">
            <a:solidFill>
              <a:srgbClr val="13294B"/>
            </a:solidFill>
            <a:prstDash val="solid"/>
          </a:ln>
        </p:spPr>
      </p:sp>
      <p:pic>
        <p:nvPicPr>
          <p:cNvPr id="33" name="Image 7" descr="alert icon">    </p:cNvPr>
          <p:cNvPicPr>
            <a:picLocks noChangeAspect="1"/>
          </p:cNvPicPr>
          <p:nvPr/>
        </p:nvPicPr>
        <p:blipFill>
          <a:blip r:embed="rId8"/>
          <a:srcRect l="0" r="0" t="0" b="0"/>
          <a:stretch/>
        </p:blipFill>
        <p:spPr>
          <a:xfrm>
            <a:off x="6197600" y="3631803"/>
            <a:ext cx="228600" cy="228600"/>
          </a:xfrm>
          <a:prstGeom prst="rect">
            <a:avLst/>
          </a:prstGeom>
        </p:spPr>
      </p:pic>
      <p:sp>
        <p:nvSpPr>
          <p:cNvPr id="34" name="Text 24"/>
          <p:cNvSpPr/>
          <p:nvPr/>
        </p:nvSpPr>
        <p:spPr>
          <a:xfrm>
            <a:off x="6553200" y="3621683"/>
            <a:ext cx="47091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Calibri" pitchFamily="34" charset="0"/>
                <a:ea typeface="Calibri" pitchFamily="34" charset="-122"/>
                <a:cs typeface="Calibri" pitchFamily="34" charset="-120"/>
              </a:rPr>
              <a:t>Selling login details to ransomware groups</a:t>
            </a:r>
            <a:endParaRPr lang="en-US" sz="1400" dirty="0"/>
          </a:p>
        </p:txBody>
      </p:sp>
      <p:sp>
        <p:nvSpPr>
          <p:cNvPr id="35" name="Text 25"/>
          <p:cNvSpPr/>
          <p:nvPr/>
        </p:nvSpPr>
        <p:spPr>
          <a:xfrm>
            <a:off x="6197600" y="3972123"/>
            <a:ext cx="51816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The most common moment: </a:t>
            </a:r>
            <a:r>
              <a:rPr lang="en-US" sz="1300" b="1" dirty="0">
                <a:solidFill>
                  <a:srgbClr val="FFFFFF"/>
                </a:solidFill>
                <a:latin typeface="Calibri" pitchFamily="34" charset="0"/>
                <a:ea typeface="Calibri" pitchFamily="34" charset="-122"/>
                <a:cs typeface="Calibri" pitchFamily="34" charset="-120"/>
              </a:rPr>
              <a:t>the weeks before someone leaves.</a:t>
            </a:r>
            <a:endParaRPr lang="en-US" sz="1300" dirty="0"/>
          </a:p>
        </p:txBody>
      </p:sp>
      <p:sp>
        <p:nvSpPr>
          <p:cNvPr id="36" name="Text 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37" name="Text 27"/>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05 · WARNING SIGNS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Watch behaviours, not people</a:t>
            </a:r>
            <a:endParaRPr lang="en-US" sz="3600" dirty="0"/>
          </a:p>
        </p:txBody>
      </p:sp>
      <p:sp>
        <p:nvSpPr>
          <p:cNvPr id="5" name="Shape 2"/>
          <p:cNvSpPr/>
          <p:nvPr/>
        </p:nvSpPr>
        <p:spPr>
          <a:xfrm>
            <a:off x="812800" y="1569641"/>
            <a:ext cx="3420467" cy="840680"/>
          </a:xfrm>
          <a:prstGeom prst="roundRect">
            <a:avLst>
              <a:gd name="adj" fmla="val 12085"/>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990600" y="1761331"/>
            <a:ext cx="457200" cy="457200"/>
          </a:xfrm>
          <a:prstGeom prst="roundRect">
            <a:avLst>
              <a:gd name="adj" fmla="val 50000"/>
            </a:avLst>
          </a:prstGeom>
          <a:solidFill>
            <a:srgbClr val="FDEBDD"/>
          </a:solidFill>
          <a:ln/>
        </p:spPr>
      </p:sp>
      <p:pic>
        <p:nvPicPr>
          <p:cNvPr id="7" name="Image 1" descr="download icon">    </p:cNvPr>
          <p:cNvPicPr>
            <a:picLocks noChangeAspect="1"/>
          </p:cNvPicPr>
          <p:nvPr/>
        </p:nvPicPr>
        <p:blipFill>
          <a:blip r:embed="rId2"/>
          <a:srcRect l="0" r="0" t="0" b="0"/>
          <a:stretch/>
        </p:blipFill>
        <p:spPr>
          <a:xfrm>
            <a:off x="1104900" y="1875631"/>
            <a:ext cx="228600" cy="228600"/>
          </a:xfrm>
          <a:prstGeom prst="rect">
            <a:avLst/>
          </a:prstGeom>
        </p:spPr>
      </p:pic>
      <p:sp>
        <p:nvSpPr>
          <p:cNvPr id="8" name="Text 4"/>
          <p:cNvSpPr/>
          <p:nvPr/>
        </p:nvSpPr>
        <p:spPr>
          <a:xfrm>
            <a:off x="1574800" y="1747441"/>
            <a:ext cx="25550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Unusual downloads</a:t>
            </a:r>
            <a:endParaRPr lang="en-US" sz="1500" dirty="0"/>
          </a:p>
        </p:txBody>
      </p:sp>
      <p:sp>
        <p:nvSpPr>
          <p:cNvPr id="9" name="Text 5"/>
          <p:cNvSpPr/>
          <p:nvPr/>
        </p:nvSpPr>
        <p:spPr>
          <a:xfrm>
            <a:off x="1574800" y="2001441"/>
            <a:ext cx="255508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Bulk copying or large exports</a:t>
            </a:r>
            <a:endParaRPr lang="en-US" sz="1300" dirty="0"/>
          </a:p>
        </p:txBody>
      </p:sp>
      <p:sp>
        <p:nvSpPr>
          <p:cNvPr id="10" name="Shape 6"/>
          <p:cNvSpPr/>
          <p:nvPr/>
        </p:nvSpPr>
        <p:spPr>
          <a:xfrm>
            <a:off x="4385667" y="1569641"/>
            <a:ext cx="3420566" cy="840680"/>
          </a:xfrm>
          <a:prstGeom prst="roundRect">
            <a:avLst>
              <a:gd name="adj" fmla="val 12085"/>
            </a:avLst>
          </a:prstGeom>
          <a:solidFill>
            <a:srgbClr val="FFFFFF"/>
          </a:solidFill>
          <a:ln/>
          <a:effectLst>
            <a:outerShdw sx="100000" sy="100000" kx="0" ky="0" algn="bl" rotWithShape="0" blurRad="101600" dist="25400" dir="5400000">
              <a:srgbClr val="C9D6E3">
                <a:alpha val="100000"/>
              </a:srgbClr>
            </a:outerShdw>
          </a:effectLst>
        </p:spPr>
      </p:sp>
      <p:sp>
        <p:nvSpPr>
          <p:cNvPr id="11" name="Shape 7"/>
          <p:cNvSpPr/>
          <p:nvPr/>
        </p:nvSpPr>
        <p:spPr>
          <a:xfrm>
            <a:off x="4563467" y="1761331"/>
            <a:ext cx="457200" cy="457200"/>
          </a:xfrm>
          <a:prstGeom prst="roundRect">
            <a:avLst>
              <a:gd name="adj" fmla="val 50000"/>
            </a:avLst>
          </a:prstGeom>
          <a:solidFill>
            <a:srgbClr val="FDEBDD"/>
          </a:solidFill>
          <a:ln/>
        </p:spPr>
      </p:sp>
      <p:pic>
        <p:nvPicPr>
          <p:cNvPr id="12" name="Image 2" descr="eye icon">    </p:cNvPr>
          <p:cNvPicPr>
            <a:picLocks noChangeAspect="1"/>
          </p:cNvPicPr>
          <p:nvPr/>
        </p:nvPicPr>
        <p:blipFill>
          <a:blip r:embed="rId3"/>
          <a:srcRect l="0" r="0" t="0" b="0"/>
          <a:stretch/>
        </p:blipFill>
        <p:spPr>
          <a:xfrm>
            <a:off x="4677767" y="1875631"/>
            <a:ext cx="228600" cy="228600"/>
          </a:xfrm>
          <a:prstGeom prst="rect">
            <a:avLst/>
          </a:prstGeom>
        </p:spPr>
      </p:pic>
      <p:sp>
        <p:nvSpPr>
          <p:cNvPr id="13" name="Text 8"/>
          <p:cNvSpPr/>
          <p:nvPr/>
        </p:nvSpPr>
        <p:spPr>
          <a:xfrm>
            <a:off x="5147667" y="1747441"/>
            <a:ext cx="25551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Access outside their role</a:t>
            </a:r>
            <a:endParaRPr lang="en-US" sz="1500" dirty="0"/>
          </a:p>
        </p:txBody>
      </p:sp>
      <p:sp>
        <p:nvSpPr>
          <p:cNvPr id="14" name="Text 9"/>
          <p:cNvSpPr/>
          <p:nvPr/>
        </p:nvSpPr>
        <p:spPr>
          <a:xfrm>
            <a:off x="5147667" y="2001441"/>
            <a:ext cx="25551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Browsing data they don't need</a:t>
            </a:r>
            <a:endParaRPr lang="en-US" sz="1300" dirty="0"/>
          </a:p>
        </p:txBody>
      </p:sp>
      <p:sp>
        <p:nvSpPr>
          <p:cNvPr id="15" name="Shape 10"/>
          <p:cNvSpPr/>
          <p:nvPr/>
        </p:nvSpPr>
        <p:spPr>
          <a:xfrm>
            <a:off x="7958634" y="1569641"/>
            <a:ext cx="3420566" cy="840680"/>
          </a:xfrm>
          <a:prstGeom prst="roundRect">
            <a:avLst>
              <a:gd name="adj" fmla="val 12085"/>
            </a:avLst>
          </a:prstGeom>
          <a:solidFill>
            <a:srgbClr val="FFFFFF"/>
          </a:solidFill>
          <a:ln/>
          <a:effectLst>
            <a:outerShdw sx="100000" sy="100000" kx="0" ky="0" algn="bl" rotWithShape="0" blurRad="101600" dist="25400" dir="5400000">
              <a:srgbClr val="C9D6E3">
                <a:alpha val="100000"/>
              </a:srgbClr>
            </a:outerShdw>
          </a:effectLst>
        </p:spPr>
      </p:sp>
      <p:sp>
        <p:nvSpPr>
          <p:cNvPr id="16" name="Shape 11"/>
          <p:cNvSpPr/>
          <p:nvPr/>
        </p:nvSpPr>
        <p:spPr>
          <a:xfrm>
            <a:off x="8136434" y="1761331"/>
            <a:ext cx="457200" cy="457200"/>
          </a:xfrm>
          <a:prstGeom prst="roundRect">
            <a:avLst>
              <a:gd name="adj" fmla="val 50000"/>
            </a:avLst>
          </a:prstGeom>
          <a:solidFill>
            <a:srgbClr val="FDEBDD"/>
          </a:solidFill>
          <a:ln/>
        </p:spPr>
      </p:sp>
      <p:pic>
        <p:nvPicPr>
          <p:cNvPr id="17" name="Image 3" descr="moon icon">    </p:cNvPr>
          <p:cNvPicPr>
            <a:picLocks noChangeAspect="1"/>
          </p:cNvPicPr>
          <p:nvPr/>
        </p:nvPicPr>
        <p:blipFill>
          <a:blip r:embed="rId4"/>
          <a:srcRect l="0" r="0" t="0" b="0"/>
          <a:stretch/>
        </p:blipFill>
        <p:spPr>
          <a:xfrm>
            <a:off x="8250734" y="1875631"/>
            <a:ext cx="228600" cy="228600"/>
          </a:xfrm>
          <a:prstGeom prst="rect">
            <a:avLst/>
          </a:prstGeom>
        </p:spPr>
      </p:pic>
      <p:sp>
        <p:nvSpPr>
          <p:cNvPr id="18" name="Text 12"/>
          <p:cNvSpPr/>
          <p:nvPr/>
        </p:nvSpPr>
        <p:spPr>
          <a:xfrm>
            <a:off x="8720634" y="1747441"/>
            <a:ext cx="25551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Odd working hours</a:t>
            </a:r>
            <a:endParaRPr lang="en-US" sz="1500" dirty="0"/>
          </a:p>
        </p:txBody>
      </p:sp>
      <p:sp>
        <p:nvSpPr>
          <p:cNvPr id="19" name="Text 13"/>
          <p:cNvSpPr/>
          <p:nvPr/>
        </p:nvSpPr>
        <p:spPr>
          <a:xfrm>
            <a:off x="8720634" y="2001441"/>
            <a:ext cx="265856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Late-night access with no reason</a:t>
            </a:r>
            <a:endParaRPr lang="en-US" sz="1300" dirty="0"/>
          </a:p>
        </p:txBody>
      </p:sp>
      <p:sp>
        <p:nvSpPr>
          <p:cNvPr id="20" name="Shape 14"/>
          <p:cNvSpPr/>
          <p:nvPr/>
        </p:nvSpPr>
        <p:spPr>
          <a:xfrm>
            <a:off x="812800" y="2562721"/>
            <a:ext cx="3420467"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21" name="Shape 15"/>
          <p:cNvSpPr/>
          <p:nvPr/>
        </p:nvSpPr>
        <p:spPr>
          <a:xfrm>
            <a:off x="990600" y="2870002"/>
            <a:ext cx="457200" cy="457200"/>
          </a:xfrm>
          <a:prstGeom prst="roundRect">
            <a:avLst>
              <a:gd name="adj" fmla="val 50000"/>
            </a:avLst>
          </a:prstGeom>
          <a:solidFill>
            <a:srgbClr val="FDEBDD"/>
          </a:solidFill>
          <a:ln/>
        </p:spPr>
      </p:sp>
      <p:pic>
        <p:nvPicPr>
          <p:cNvPr id="22" name="Image 4" descr="usb icon">    </p:cNvPr>
          <p:cNvPicPr>
            <a:picLocks noChangeAspect="1"/>
          </p:cNvPicPr>
          <p:nvPr/>
        </p:nvPicPr>
        <p:blipFill>
          <a:blip r:embed="rId5"/>
          <a:srcRect l="0" r="0" t="0" b="0"/>
          <a:stretch/>
        </p:blipFill>
        <p:spPr>
          <a:xfrm>
            <a:off x="1104900" y="2984302"/>
            <a:ext cx="228600" cy="228600"/>
          </a:xfrm>
          <a:prstGeom prst="rect">
            <a:avLst/>
          </a:prstGeom>
        </p:spPr>
      </p:pic>
      <p:sp>
        <p:nvSpPr>
          <p:cNvPr id="23" name="Text 16"/>
          <p:cNvSpPr/>
          <p:nvPr/>
        </p:nvSpPr>
        <p:spPr>
          <a:xfrm>
            <a:off x="1574800" y="2740521"/>
            <a:ext cx="25550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Personal storage use</a:t>
            </a:r>
            <a:endParaRPr lang="en-US" sz="1500" dirty="0"/>
          </a:p>
        </p:txBody>
      </p:sp>
      <p:sp>
        <p:nvSpPr>
          <p:cNvPr id="24" name="Text 17"/>
          <p:cNvSpPr/>
          <p:nvPr/>
        </p:nvSpPr>
        <p:spPr>
          <a:xfrm>
            <a:off x="1574800" y="2994521"/>
            <a:ext cx="255508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USB drives, personal email or cloud</a:t>
            </a:r>
            <a:endParaRPr lang="en-US" sz="1300" dirty="0"/>
          </a:p>
        </p:txBody>
      </p:sp>
      <p:sp>
        <p:nvSpPr>
          <p:cNvPr id="25" name="Shape 18"/>
          <p:cNvSpPr/>
          <p:nvPr/>
        </p:nvSpPr>
        <p:spPr>
          <a:xfrm>
            <a:off x="4385667" y="2562721"/>
            <a:ext cx="3420566"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26" name="Shape 19"/>
          <p:cNvSpPr/>
          <p:nvPr/>
        </p:nvSpPr>
        <p:spPr>
          <a:xfrm>
            <a:off x="4563467" y="2870002"/>
            <a:ext cx="457200" cy="457200"/>
          </a:xfrm>
          <a:prstGeom prst="roundRect">
            <a:avLst>
              <a:gd name="adj" fmla="val 50000"/>
            </a:avLst>
          </a:prstGeom>
          <a:solidFill>
            <a:srgbClr val="FDEBDD"/>
          </a:solidFill>
          <a:ln/>
        </p:spPr>
      </p:sp>
      <p:pic>
        <p:nvPicPr>
          <p:cNvPr id="27" name="Image 5" descr="ban icon">    </p:cNvPr>
          <p:cNvPicPr>
            <a:picLocks noChangeAspect="1"/>
          </p:cNvPicPr>
          <p:nvPr/>
        </p:nvPicPr>
        <p:blipFill>
          <a:blip r:embed="rId6"/>
          <a:srcRect l="0" r="0" t="0" b="0"/>
          <a:stretch/>
        </p:blipFill>
        <p:spPr>
          <a:xfrm>
            <a:off x="4677767" y="2984302"/>
            <a:ext cx="228600" cy="228600"/>
          </a:xfrm>
          <a:prstGeom prst="rect">
            <a:avLst/>
          </a:prstGeom>
        </p:spPr>
      </p:pic>
      <p:sp>
        <p:nvSpPr>
          <p:cNvPr id="28" name="Text 20"/>
          <p:cNvSpPr/>
          <p:nvPr/>
        </p:nvSpPr>
        <p:spPr>
          <a:xfrm>
            <a:off x="5147667" y="2740521"/>
            <a:ext cx="25551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Bypassing controls</a:t>
            </a:r>
            <a:endParaRPr lang="en-US" sz="1500" dirty="0"/>
          </a:p>
        </p:txBody>
      </p:sp>
      <p:sp>
        <p:nvSpPr>
          <p:cNvPr id="29" name="Text 21"/>
          <p:cNvSpPr/>
          <p:nvPr/>
        </p:nvSpPr>
        <p:spPr>
          <a:xfrm>
            <a:off x="5147667" y="2994521"/>
            <a:ext cx="25551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Disabling security or asking for exceptions</a:t>
            </a:r>
            <a:endParaRPr lang="en-US" sz="1300" dirty="0"/>
          </a:p>
        </p:txBody>
      </p:sp>
      <p:sp>
        <p:nvSpPr>
          <p:cNvPr id="30" name="Shape 22"/>
          <p:cNvSpPr/>
          <p:nvPr/>
        </p:nvSpPr>
        <p:spPr>
          <a:xfrm>
            <a:off x="7958634" y="2562721"/>
            <a:ext cx="3420566" cy="1071761"/>
          </a:xfrm>
          <a:prstGeom prst="roundRect">
            <a:avLst>
              <a:gd name="adj" fmla="val 9480"/>
            </a:avLst>
          </a:prstGeom>
          <a:solidFill>
            <a:srgbClr val="FFFFFF"/>
          </a:solidFill>
          <a:ln/>
          <a:effectLst>
            <a:outerShdw sx="100000" sy="100000" kx="0" ky="0" algn="bl" rotWithShape="0" blurRad="101600" dist="25400" dir="5400000">
              <a:srgbClr val="C9D6E3">
                <a:alpha val="100000"/>
              </a:srgbClr>
            </a:outerShdw>
          </a:effectLst>
        </p:spPr>
      </p:sp>
      <p:sp>
        <p:nvSpPr>
          <p:cNvPr id="31" name="Shape 23"/>
          <p:cNvSpPr/>
          <p:nvPr/>
        </p:nvSpPr>
        <p:spPr>
          <a:xfrm>
            <a:off x="8136434" y="2870002"/>
            <a:ext cx="457200" cy="457200"/>
          </a:xfrm>
          <a:prstGeom prst="roundRect">
            <a:avLst>
              <a:gd name="adj" fmla="val 50000"/>
            </a:avLst>
          </a:prstGeom>
          <a:solidFill>
            <a:srgbClr val="FDEBDD"/>
          </a:solidFill>
          <a:ln/>
        </p:spPr>
      </p:sp>
      <p:pic>
        <p:nvPicPr>
          <p:cNvPr id="32" name="Image 6" descr="frown icon">    </p:cNvPr>
          <p:cNvPicPr>
            <a:picLocks noChangeAspect="1"/>
          </p:cNvPicPr>
          <p:nvPr/>
        </p:nvPicPr>
        <p:blipFill>
          <a:blip r:embed="rId7"/>
          <a:srcRect l="0" r="0" t="0" b="0"/>
          <a:stretch/>
        </p:blipFill>
        <p:spPr>
          <a:xfrm>
            <a:off x="8250734" y="2984302"/>
            <a:ext cx="228600" cy="228600"/>
          </a:xfrm>
          <a:prstGeom prst="rect">
            <a:avLst/>
          </a:prstGeom>
        </p:spPr>
      </p:pic>
      <p:sp>
        <p:nvSpPr>
          <p:cNvPr id="33" name="Text 24"/>
          <p:cNvSpPr/>
          <p:nvPr/>
        </p:nvSpPr>
        <p:spPr>
          <a:xfrm>
            <a:off x="8720634" y="2740521"/>
            <a:ext cx="25551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Open grievances plus exit</a:t>
            </a:r>
            <a:endParaRPr lang="en-US" sz="1500" dirty="0"/>
          </a:p>
        </p:txBody>
      </p:sp>
      <p:sp>
        <p:nvSpPr>
          <p:cNvPr id="34" name="Text 25"/>
          <p:cNvSpPr/>
          <p:nvPr/>
        </p:nvSpPr>
        <p:spPr>
          <a:xfrm>
            <a:off x="8720634" y="2994521"/>
            <a:ext cx="255518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Strong resentment and plans to leave</a:t>
            </a:r>
            <a:endParaRPr lang="en-US" sz="1300" dirty="0"/>
          </a:p>
        </p:txBody>
      </p:sp>
      <p:sp>
        <p:nvSpPr>
          <p:cNvPr id="35" name="Shape 26"/>
          <p:cNvSpPr/>
          <p:nvPr/>
        </p:nvSpPr>
        <p:spPr>
          <a:xfrm>
            <a:off x="812800" y="3888482"/>
            <a:ext cx="10566400" cy="762000"/>
          </a:xfrm>
          <a:prstGeom prst="roundRect">
            <a:avLst>
              <a:gd name="adj" fmla="val 13333"/>
            </a:avLst>
          </a:prstGeom>
          <a:solidFill>
            <a:srgbClr val="EAF3FC"/>
          </a:solidFill>
          <a:ln/>
        </p:spPr>
      </p:sp>
      <p:sp>
        <p:nvSpPr>
          <p:cNvPr id="36" name="Shape 27"/>
          <p:cNvSpPr/>
          <p:nvPr/>
        </p:nvSpPr>
        <p:spPr>
          <a:xfrm>
            <a:off x="1041400" y="4066282"/>
            <a:ext cx="406400" cy="406400"/>
          </a:xfrm>
          <a:prstGeom prst="roundRect">
            <a:avLst>
              <a:gd name="adj" fmla="val 50000"/>
            </a:avLst>
          </a:prstGeom>
          <a:solidFill>
            <a:srgbClr val="0078D4"/>
          </a:solidFill>
          <a:ln/>
        </p:spPr>
      </p:sp>
      <p:pic>
        <p:nvPicPr>
          <p:cNvPr id="37" name="Image 7" descr="megaphone icon">    </p:cNvPr>
          <p:cNvPicPr>
            <a:picLocks noChangeAspect="1"/>
          </p:cNvPicPr>
          <p:nvPr/>
        </p:nvPicPr>
        <p:blipFill>
          <a:blip r:embed="rId8"/>
          <a:srcRect l="0" r="0" t="0" b="0"/>
          <a:stretch/>
        </p:blipFill>
        <p:spPr>
          <a:xfrm>
            <a:off x="1143000" y="4167882"/>
            <a:ext cx="203200" cy="203200"/>
          </a:xfrm>
          <a:prstGeom prst="rect">
            <a:avLst/>
          </a:prstGeom>
        </p:spPr>
      </p:pic>
      <p:sp>
        <p:nvSpPr>
          <p:cNvPr id="38" name="Text 28"/>
          <p:cNvSpPr/>
          <p:nvPr/>
        </p:nvSpPr>
        <p:spPr>
          <a:xfrm>
            <a:off x="1600200" y="4136132"/>
            <a:ext cx="98369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1F33"/>
                </a:solidFill>
                <a:latin typeface="Calibri" pitchFamily="34" charset="0"/>
                <a:ea typeface="Calibri" pitchFamily="34" charset="-122"/>
                <a:cs typeface="Calibri" pitchFamily="34" charset="-120"/>
              </a:rPr>
              <a:t>Concerned? </a:t>
            </a:r>
            <a:r>
              <a:rPr lang="en-US" sz="1500" b="1" dirty="0">
                <a:solidFill>
                  <a:srgbClr val="0078D4"/>
                </a:solidFill>
                <a:latin typeface="Calibri" pitchFamily="34" charset="0"/>
                <a:ea typeface="Calibri" pitchFamily="34" charset="-122"/>
                <a:cs typeface="Calibri" pitchFamily="34" charset="-120"/>
              </a:rPr>
              <a:t>Report it confidentially.</a:t>
            </a:r>
            <a:r>
              <a:rPr lang="en-US" sz="1500" dirty="0">
                <a:solidFill>
                  <a:srgbClr val="0B1F33"/>
                </a:solidFill>
                <a:latin typeface="Calibri" pitchFamily="34" charset="0"/>
                <a:ea typeface="Calibri" pitchFamily="34" charset="-122"/>
                <a:cs typeface="Calibri" pitchFamily="34" charset="-120"/>
              </a:rPr>
              <a:t> Don't investigate or confront anyone yourself.</a:t>
            </a:r>
            <a:endParaRPr lang="en-US" sz="1500" dirty="0"/>
          </a:p>
        </p:txBody>
      </p:sp>
      <p:sp>
        <p:nvSpPr>
          <p:cNvPr id="39" name="Text 2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40" name="Text 30"/>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B7C3"/>
                </a:solidFill>
                <a:latin typeface="Calibri" pitchFamily="34" charset="0"/>
                <a:ea typeface="Calibri" pitchFamily="34" charset="-122"/>
                <a:cs typeface="Calibri" pitchFamily="34" charset="-120"/>
              </a:rPr>
              <a:t>06 · THE COST</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FFF"/>
                </a:solidFill>
                <a:latin typeface="Arial" pitchFamily="34" charset="0"/>
                <a:ea typeface="Arial" pitchFamily="34" charset="-122"/>
                <a:cs typeface="Arial" pitchFamily="34" charset="-120"/>
              </a:rPr>
              <a:t>Insider incidents are expensive</a:t>
            </a:r>
            <a:endParaRPr lang="en-US" sz="3600" dirty="0"/>
          </a:p>
        </p:txBody>
      </p:sp>
      <p:sp>
        <p:nvSpPr>
          <p:cNvPr id="5" name="Shape 2"/>
          <p:cNvSpPr/>
          <p:nvPr/>
        </p:nvSpPr>
        <p:spPr>
          <a:xfrm>
            <a:off x="812800" y="1569641"/>
            <a:ext cx="3403600" cy="1990725"/>
          </a:xfrm>
          <a:prstGeom prst="roundRect">
            <a:avLst>
              <a:gd name="adj" fmla="val 6380"/>
            </a:avLst>
          </a:prstGeom>
          <a:solidFill>
            <a:srgbClr val="13294B"/>
          </a:solidFill>
          <a:ln/>
        </p:spPr>
      </p:sp>
      <p:sp>
        <p:nvSpPr>
          <p:cNvPr id="6" name="Text 3"/>
          <p:cNvSpPr/>
          <p:nvPr/>
        </p:nvSpPr>
        <p:spPr>
          <a:xfrm>
            <a:off x="1066800" y="1849041"/>
            <a:ext cx="2982468"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9A5C"/>
                </a:solidFill>
                <a:latin typeface="Arial" pitchFamily="34" charset="0"/>
                <a:ea typeface="Arial" pitchFamily="34" charset="-122"/>
                <a:cs typeface="Arial" pitchFamily="34" charset="-120"/>
              </a:rPr>
              <a:t>$19.5M</a:t>
            </a:r>
            <a:endParaRPr lang="en-US" sz="4400" dirty="0"/>
          </a:p>
        </p:txBody>
      </p:sp>
      <p:sp>
        <p:nvSpPr>
          <p:cNvPr id="7" name="Text 4"/>
          <p:cNvSpPr/>
          <p:nvPr/>
        </p:nvSpPr>
        <p:spPr>
          <a:xfrm>
            <a:off x="1066800" y="2509441"/>
            <a:ext cx="2982468"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ADCFC"/>
                </a:solidFill>
                <a:latin typeface="Calibri" pitchFamily="34" charset="0"/>
                <a:ea typeface="Calibri" pitchFamily="34" charset="-122"/>
                <a:cs typeface="Calibri" pitchFamily="34" charset="-120"/>
              </a:rPr>
              <a:t>average annual cost of insider risk per organisation, up 20% in two years</a:t>
            </a:r>
            <a:endParaRPr lang="en-US" sz="1500" dirty="0"/>
          </a:p>
        </p:txBody>
      </p:sp>
      <p:sp>
        <p:nvSpPr>
          <p:cNvPr id="8" name="Shape 5"/>
          <p:cNvSpPr/>
          <p:nvPr/>
        </p:nvSpPr>
        <p:spPr>
          <a:xfrm>
            <a:off x="4394200" y="1569641"/>
            <a:ext cx="3403600" cy="1990725"/>
          </a:xfrm>
          <a:prstGeom prst="roundRect">
            <a:avLst>
              <a:gd name="adj" fmla="val 6380"/>
            </a:avLst>
          </a:prstGeom>
          <a:solidFill>
            <a:srgbClr val="13294B"/>
          </a:solidFill>
          <a:ln/>
        </p:spPr>
      </p:sp>
      <p:sp>
        <p:nvSpPr>
          <p:cNvPr id="9" name="Text 6"/>
          <p:cNvSpPr/>
          <p:nvPr/>
        </p:nvSpPr>
        <p:spPr>
          <a:xfrm>
            <a:off x="4648200" y="1849041"/>
            <a:ext cx="2982468"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FFFF"/>
                </a:solidFill>
                <a:latin typeface="Arial" pitchFamily="34" charset="0"/>
                <a:ea typeface="Arial" pitchFamily="34" charset="-122"/>
                <a:cs typeface="Arial" pitchFamily="34" charset="-120"/>
              </a:rPr>
              <a:t>67 days</a:t>
            </a:r>
            <a:endParaRPr lang="en-US" sz="4400" dirty="0"/>
          </a:p>
        </p:txBody>
      </p:sp>
      <p:sp>
        <p:nvSpPr>
          <p:cNvPr id="10" name="Text 7"/>
          <p:cNvSpPr/>
          <p:nvPr/>
        </p:nvSpPr>
        <p:spPr>
          <a:xfrm>
            <a:off x="4648200" y="2509441"/>
            <a:ext cx="298246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ADCFC"/>
                </a:solidFill>
                <a:latin typeface="Calibri" pitchFamily="34" charset="0"/>
                <a:ea typeface="Calibri" pitchFamily="34" charset="-122"/>
                <a:cs typeface="Calibri" pitchFamily="34" charset="-120"/>
              </a:rPr>
              <a:t>average time to contain an insider incident</a:t>
            </a:r>
            <a:endParaRPr lang="en-US" sz="1500" dirty="0"/>
          </a:p>
        </p:txBody>
      </p:sp>
      <p:sp>
        <p:nvSpPr>
          <p:cNvPr id="11" name="Shape 8"/>
          <p:cNvSpPr/>
          <p:nvPr/>
        </p:nvSpPr>
        <p:spPr>
          <a:xfrm>
            <a:off x="7975600" y="1569641"/>
            <a:ext cx="3403600" cy="1990725"/>
          </a:xfrm>
          <a:prstGeom prst="roundRect">
            <a:avLst>
              <a:gd name="adj" fmla="val 6380"/>
            </a:avLst>
          </a:prstGeom>
          <a:solidFill>
            <a:srgbClr val="13294B"/>
          </a:solidFill>
          <a:ln/>
        </p:spPr>
      </p:sp>
      <p:sp>
        <p:nvSpPr>
          <p:cNvPr id="12" name="Text 9"/>
          <p:cNvSpPr/>
          <p:nvPr/>
        </p:nvSpPr>
        <p:spPr>
          <a:xfrm>
            <a:off x="8229600" y="1849041"/>
            <a:ext cx="2982468"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FFFF"/>
                </a:solidFill>
                <a:latin typeface="Arial" pitchFamily="34" charset="0"/>
                <a:ea typeface="Arial" pitchFamily="34" charset="-122"/>
                <a:cs typeface="Arial" pitchFamily="34" charset="-120"/>
              </a:rPr>
              <a:t>$7.7M</a:t>
            </a:r>
            <a:endParaRPr lang="en-US" sz="4400" dirty="0"/>
          </a:p>
        </p:txBody>
      </p:sp>
      <p:sp>
        <p:nvSpPr>
          <p:cNvPr id="13" name="Text 10"/>
          <p:cNvSpPr/>
          <p:nvPr/>
        </p:nvSpPr>
        <p:spPr>
          <a:xfrm>
            <a:off x="8229600" y="2509441"/>
            <a:ext cx="2982468"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ADCFC"/>
                </a:solidFill>
                <a:latin typeface="Calibri" pitchFamily="34" charset="0"/>
                <a:ea typeface="Calibri" pitchFamily="34" charset="-122"/>
                <a:cs typeface="Calibri" pitchFamily="34" charset="-120"/>
              </a:rPr>
              <a:t>less when contained within 30 days ($14.2M) than after 90 days ($21.9M)</a:t>
            </a:r>
            <a:endParaRPr lang="en-US" sz="1500" dirty="0"/>
          </a:p>
        </p:txBody>
      </p:sp>
      <p:sp>
        <p:nvSpPr>
          <p:cNvPr id="14" name="Shape 11"/>
          <p:cNvSpPr/>
          <p:nvPr/>
        </p:nvSpPr>
        <p:spPr>
          <a:xfrm>
            <a:off x="819150" y="3820716"/>
            <a:ext cx="10553700" cy="673100"/>
          </a:xfrm>
          <a:prstGeom prst="roundRect">
            <a:avLst>
              <a:gd name="adj" fmla="val 14151"/>
            </a:avLst>
          </a:prstGeom>
          <a:noFill/>
          <a:ln w="12700">
            <a:solidFill>
              <a:srgbClr val="00B7C3"/>
            </a:solidFill>
            <a:prstDash val="solid"/>
          </a:ln>
        </p:spPr>
      </p:sp>
      <p:pic>
        <p:nvPicPr>
          <p:cNvPr id="15" name="Image 1" descr="clock icon">    </p:cNvPr>
          <p:cNvPicPr>
            <a:picLocks noChangeAspect="1"/>
          </p:cNvPicPr>
          <p:nvPr/>
        </p:nvPicPr>
        <p:blipFill>
          <a:blip r:embed="rId2"/>
          <a:srcRect l="0" r="0" t="0" b="0"/>
          <a:stretch/>
        </p:blipFill>
        <p:spPr>
          <a:xfrm>
            <a:off x="1054100" y="4004866"/>
            <a:ext cx="304800" cy="304800"/>
          </a:xfrm>
          <a:prstGeom prst="rect">
            <a:avLst/>
          </a:prstGeom>
        </p:spPr>
      </p:pic>
      <p:sp>
        <p:nvSpPr>
          <p:cNvPr id="16" name="Text 12"/>
          <p:cNvSpPr/>
          <p:nvPr/>
        </p:nvSpPr>
        <p:spPr>
          <a:xfrm>
            <a:off x="1511300" y="4023916"/>
            <a:ext cx="991539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Calibri" pitchFamily="34" charset="0"/>
                <a:ea typeface="Calibri" pitchFamily="34" charset="-122"/>
                <a:cs typeface="Calibri" pitchFamily="34" charset="-120"/>
              </a:rPr>
              <a:t>The faster an incident is reported, </a:t>
            </a:r>
            <a:r>
              <a:rPr lang="en-US" sz="1500" b="1" dirty="0">
                <a:solidFill>
                  <a:srgbClr val="00B7C3"/>
                </a:solidFill>
                <a:latin typeface="Calibri" pitchFamily="34" charset="0"/>
                <a:ea typeface="Calibri" pitchFamily="34" charset="-122"/>
                <a:cs typeface="Calibri" pitchFamily="34" charset="-120"/>
              </a:rPr>
              <a:t>the less it costs.</a:t>
            </a:r>
            <a:endParaRPr lang="en-US" sz="1500" dirty="0"/>
          </a:p>
        </p:txBody>
      </p:sp>
      <p:sp>
        <p:nvSpPr>
          <p:cNvPr id="17" name="Text 1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Source: Ponemon Institute and DTEX, 2026 Cost of Insider Risks Global Report</a:t>
            </a:r>
            <a:endParaRPr lang="en-US" sz="1200" dirty="0"/>
          </a:p>
        </p:txBody>
      </p:sp>
      <p:sp>
        <p:nvSpPr>
          <p:cNvPr id="18" name="Text 14"/>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C8"/>
                </a:solidFill>
                <a:latin typeface="Calibri" pitchFamily="34" charset="0"/>
                <a:ea typeface="Calibri" pitchFamily="34" charset="-122"/>
                <a:cs typeface="Calibri" pitchFamily="34" charset="-120"/>
              </a:rPr>
              <a:t>ZNexora Tech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07 · KNOW YOUR DATA</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Not all data is equal</a:t>
            </a:r>
            <a:endParaRPr lang="en-US" sz="3600" dirty="0"/>
          </a:p>
        </p:txBody>
      </p:sp>
      <p:sp>
        <p:nvSpPr>
          <p:cNvPr id="5" name="Shape 2"/>
          <p:cNvSpPr/>
          <p:nvPr/>
        </p:nvSpPr>
        <p:spPr>
          <a:xfrm>
            <a:off x="812800" y="1569641"/>
            <a:ext cx="10566400" cy="2607270"/>
          </a:xfrm>
          <a:prstGeom prst="roundRect">
            <a:avLst>
              <a:gd name="adj" fmla="val 3897"/>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1066800" y="2046486"/>
            <a:ext cx="10058400" cy="0"/>
          </a:xfrm>
          <a:prstGeom prst="line">
            <a:avLst/>
          </a:prstGeom>
          <a:noFill/>
          <a:ln w="19050">
            <a:solidFill>
              <a:srgbClr val="D6E2EE"/>
            </a:solidFill>
            <a:prstDash val="solid"/>
          </a:ln>
        </p:spPr>
      </p:sp>
      <p:sp>
        <p:nvSpPr>
          <p:cNvPr id="7" name="Text 4"/>
          <p:cNvSpPr/>
          <p:nvPr/>
        </p:nvSpPr>
        <p:spPr>
          <a:xfrm>
            <a:off x="1066800" y="1747441"/>
            <a:ext cx="183134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LEVEL</a:t>
            </a:r>
            <a:endParaRPr lang="en-US" sz="1200" dirty="0"/>
          </a:p>
        </p:txBody>
      </p:sp>
      <p:sp>
        <p:nvSpPr>
          <p:cNvPr id="8" name="Text 5"/>
          <p:cNvSpPr/>
          <p:nvPr/>
        </p:nvSpPr>
        <p:spPr>
          <a:xfrm>
            <a:off x="3022600" y="1747441"/>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WHO CAN SEE IT</a:t>
            </a:r>
            <a:endParaRPr lang="en-US" sz="1200" dirty="0"/>
          </a:p>
        </p:txBody>
      </p:sp>
      <p:sp>
        <p:nvSpPr>
          <p:cNvPr id="9" name="Text 6"/>
          <p:cNvSpPr/>
          <p:nvPr/>
        </p:nvSpPr>
        <p:spPr>
          <a:xfrm>
            <a:off x="6502400" y="1747441"/>
            <a:ext cx="47614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EXAMPLES</a:t>
            </a:r>
            <a:endParaRPr lang="en-US" sz="1200" dirty="0"/>
          </a:p>
        </p:txBody>
      </p:sp>
      <p:sp>
        <p:nvSpPr>
          <p:cNvPr id="10" name="Shape 7"/>
          <p:cNvSpPr/>
          <p:nvPr/>
        </p:nvSpPr>
        <p:spPr>
          <a:xfrm>
            <a:off x="1066800" y="2557661"/>
            <a:ext cx="10058400" cy="0"/>
          </a:xfrm>
          <a:prstGeom prst="line">
            <a:avLst/>
          </a:prstGeom>
          <a:noFill/>
          <a:ln w="12700">
            <a:solidFill>
              <a:srgbClr val="D6E2EE"/>
            </a:solidFill>
            <a:prstDash val="solid"/>
          </a:ln>
        </p:spPr>
      </p:sp>
      <p:sp>
        <p:nvSpPr>
          <p:cNvPr id="11" name="Shape 8"/>
          <p:cNvSpPr/>
          <p:nvPr/>
        </p:nvSpPr>
        <p:spPr>
          <a:xfrm>
            <a:off x="1066800" y="2214761"/>
            <a:ext cx="177800" cy="177800"/>
          </a:xfrm>
          <a:prstGeom prst="roundRect">
            <a:avLst>
              <a:gd name="adj" fmla="val 21429"/>
            </a:avLst>
          </a:prstGeom>
          <a:solidFill>
            <a:srgbClr val="5DA9E9"/>
          </a:solidFill>
          <a:ln/>
        </p:spPr>
      </p:sp>
      <p:sp>
        <p:nvSpPr>
          <p:cNvPr id="12" name="Text 9"/>
          <p:cNvSpPr/>
          <p:nvPr/>
        </p:nvSpPr>
        <p:spPr>
          <a:xfrm>
            <a:off x="1346200" y="2170311"/>
            <a:ext cx="68591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Arial" pitchFamily="34" charset="0"/>
                <a:ea typeface="Arial" pitchFamily="34" charset="-122"/>
                <a:cs typeface="Arial" pitchFamily="34" charset="-120"/>
              </a:rPr>
              <a:t>Public</a:t>
            </a:r>
            <a:endParaRPr lang="en-US" sz="1500" dirty="0"/>
          </a:p>
        </p:txBody>
      </p:sp>
      <p:sp>
        <p:nvSpPr>
          <p:cNvPr id="13" name="Text 10"/>
          <p:cNvSpPr/>
          <p:nvPr/>
        </p:nvSpPr>
        <p:spPr>
          <a:xfrm>
            <a:off x="3022600" y="2179241"/>
            <a:ext cx="340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F33"/>
                </a:solidFill>
                <a:latin typeface="Calibri" pitchFamily="34" charset="0"/>
                <a:ea typeface="Calibri" pitchFamily="34" charset="-122"/>
                <a:cs typeface="Calibri" pitchFamily="34" charset="-120"/>
              </a:rPr>
              <a:t>Approved for anyone</a:t>
            </a:r>
            <a:endParaRPr lang="en-US" sz="1400" dirty="0"/>
          </a:p>
        </p:txBody>
      </p:sp>
      <p:sp>
        <p:nvSpPr>
          <p:cNvPr id="14" name="Text 11"/>
          <p:cNvSpPr/>
          <p:nvPr/>
        </p:nvSpPr>
        <p:spPr>
          <a:xfrm>
            <a:off x="6502400" y="2179241"/>
            <a:ext cx="476148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Website, press releases</a:t>
            </a:r>
            <a:endParaRPr lang="en-US" sz="1400" dirty="0"/>
          </a:p>
        </p:txBody>
      </p:sp>
      <p:sp>
        <p:nvSpPr>
          <p:cNvPr id="15" name="Shape 12"/>
          <p:cNvSpPr/>
          <p:nvPr/>
        </p:nvSpPr>
        <p:spPr>
          <a:xfrm>
            <a:off x="1066800" y="3065661"/>
            <a:ext cx="10058400" cy="0"/>
          </a:xfrm>
          <a:prstGeom prst="line">
            <a:avLst/>
          </a:prstGeom>
          <a:noFill/>
          <a:ln w="12700">
            <a:solidFill>
              <a:srgbClr val="D6E2EE"/>
            </a:solidFill>
            <a:prstDash val="solid"/>
          </a:ln>
        </p:spPr>
      </p:sp>
      <p:sp>
        <p:nvSpPr>
          <p:cNvPr id="16" name="Shape 13"/>
          <p:cNvSpPr/>
          <p:nvPr/>
        </p:nvSpPr>
        <p:spPr>
          <a:xfrm>
            <a:off x="1066800" y="2722761"/>
            <a:ext cx="177800" cy="177800"/>
          </a:xfrm>
          <a:prstGeom prst="roundRect">
            <a:avLst>
              <a:gd name="adj" fmla="val 21429"/>
            </a:avLst>
          </a:prstGeom>
          <a:solidFill>
            <a:srgbClr val="0078D4"/>
          </a:solidFill>
          <a:ln/>
        </p:spPr>
      </p:sp>
      <p:sp>
        <p:nvSpPr>
          <p:cNvPr id="17" name="Text 14"/>
          <p:cNvSpPr/>
          <p:nvPr/>
        </p:nvSpPr>
        <p:spPr>
          <a:xfrm>
            <a:off x="1346200" y="2678311"/>
            <a:ext cx="8256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Arial" pitchFamily="34" charset="0"/>
                <a:ea typeface="Arial" pitchFamily="34" charset="-122"/>
                <a:cs typeface="Arial" pitchFamily="34" charset="-120"/>
              </a:rPr>
              <a:t>Internal</a:t>
            </a:r>
            <a:endParaRPr lang="en-US" sz="1500" dirty="0"/>
          </a:p>
        </p:txBody>
      </p:sp>
      <p:sp>
        <p:nvSpPr>
          <p:cNvPr id="18" name="Text 15"/>
          <p:cNvSpPr/>
          <p:nvPr/>
        </p:nvSpPr>
        <p:spPr>
          <a:xfrm>
            <a:off x="3022600" y="2687241"/>
            <a:ext cx="340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F33"/>
                </a:solidFill>
                <a:latin typeface="Calibri" pitchFamily="34" charset="0"/>
                <a:ea typeface="Calibri" pitchFamily="34" charset="-122"/>
                <a:cs typeface="Calibri" pitchFamily="34" charset="-120"/>
              </a:rPr>
              <a:t>For staff only</a:t>
            </a:r>
            <a:endParaRPr lang="en-US" sz="1400" dirty="0"/>
          </a:p>
        </p:txBody>
      </p:sp>
      <p:sp>
        <p:nvSpPr>
          <p:cNvPr id="19" name="Text 16"/>
          <p:cNvSpPr/>
          <p:nvPr/>
        </p:nvSpPr>
        <p:spPr>
          <a:xfrm>
            <a:off x="6502400" y="2687241"/>
            <a:ext cx="476148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Policies, internal news</a:t>
            </a:r>
            <a:endParaRPr lang="en-US" sz="1400" dirty="0"/>
          </a:p>
        </p:txBody>
      </p:sp>
      <p:sp>
        <p:nvSpPr>
          <p:cNvPr id="20" name="Shape 17"/>
          <p:cNvSpPr/>
          <p:nvPr/>
        </p:nvSpPr>
        <p:spPr>
          <a:xfrm>
            <a:off x="1066800" y="3573661"/>
            <a:ext cx="10058400" cy="0"/>
          </a:xfrm>
          <a:prstGeom prst="line">
            <a:avLst/>
          </a:prstGeom>
          <a:noFill/>
          <a:ln w="12700">
            <a:solidFill>
              <a:srgbClr val="D6E2EE"/>
            </a:solidFill>
            <a:prstDash val="solid"/>
          </a:ln>
        </p:spPr>
      </p:sp>
      <p:sp>
        <p:nvSpPr>
          <p:cNvPr id="21" name="Shape 18"/>
          <p:cNvSpPr/>
          <p:nvPr/>
        </p:nvSpPr>
        <p:spPr>
          <a:xfrm>
            <a:off x="1066800" y="3230761"/>
            <a:ext cx="177800" cy="177800"/>
          </a:xfrm>
          <a:prstGeom prst="roundRect">
            <a:avLst>
              <a:gd name="adj" fmla="val 21429"/>
            </a:avLst>
          </a:prstGeom>
          <a:solidFill>
            <a:srgbClr val="F7630C"/>
          </a:solidFill>
          <a:ln/>
        </p:spPr>
      </p:sp>
      <p:sp>
        <p:nvSpPr>
          <p:cNvPr id="22" name="Text 19"/>
          <p:cNvSpPr/>
          <p:nvPr/>
        </p:nvSpPr>
        <p:spPr>
          <a:xfrm>
            <a:off x="1346200" y="3186311"/>
            <a:ext cx="13207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Arial" pitchFamily="34" charset="0"/>
                <a:ea typeface="Arial" pitchFamily="34" charset="-122"/>
                <a:cs typeface="Arial" pitchFamily="34" charset="-120"/>
              </a:rPr>
              <a:t>Confidential</a:t>
            </a:r>
            <a:endParaRPr lang="en-US" sz="1500" dirty="0"/>
          </a:p>
        </p:txBody>
      </p:sp>
      <p:sp>
        <p:nvSpPr>
          <p:cNvPr id="23" name="Text 20"/>
          <p:cNvSpPr/>
          <p:nvPr/>
        </p:nvSpPr>
        <p:spPr>
          <a:xfrm>
            <a:off x="3022600" y="3195241"/>
            <a:ext cx="340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F33"/>
                </a:solidFill>
                <a:latin typeface="Calibri" pitchFamily="34" charset="0"/>
                <a:ea typeface="Calibri" pitchFamily="34" charset="-122"/>
                <a:cs typeface="Calibri" pitchFamily="34" charset="-120"/>
              </a:rPr>
              <a:t>Limited to those who need it</a:t>
            </a:r>
            <a:endParaRPr lang="en-US" sz="1400" dirty="0"/>
          </a:p>
        </p:txBody>
      </p:sp>
      <p:sp>
        <p:nvSpPr>
          <p:cNvPr id="24" name="Text 21"/>
          <p:cNvSpPr/>
          <p:nvPr/>
        </p:nvSpPr>
        <p:spPr>
          <a:xfrm>
            <a:off x="6502400" y="3195241"/>
            <a:ext cx="476148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Customer data, contracts, finance</a:t>
            </a:r>
            <a:endParaRPr lang="en-US" sz="1400" dirty="0"/>
          </a:p>
        </p:txBody>
      </p:sp>
      <p:sp>
        <p:nvSpPr>
          <p:cNvPr id="25" name="Shape 22"/>
          <p:cNvSpPr/>
          <p:nvPr/>
        </p:nvSpPr>
        <p:spPr>
          <a:xfrm>
            <a:off x="1066800" y="3738761"/>
            <a:ext cx="177800" cy="177800"/>
          </a:xfrm>
          <a:prstGeom prst="roundRect">
            <a:avLst>
              <a:gd name="adj" fmla="val 21429"/>
            </a:avLst>
          </a:prstGeom>
          <a:solidFill>
            <a:srgbClr val="C24E06"/>
          </a:solidFill>
          <a:ln/>
        </p:spPr>
      </p:sp>
      <p:sp>
        <p:nvSpPr>
          <p:cNvPr id="26" name="Text 23"/>
          <p:cNvSpPr/>
          <p:nvPr/>
        </p:nvSpPr>
        <p:spPr>
          <a:xfrm>
            <a:off x="1346200" y="3694311"/>
            <a:ext cx="111799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Arial" pitchFamily="34" charset="0"/>
                <a:ea typeface="Arial" pitchFamily="34" charset="-122"/>
                <a:cs typeface="Arial" pitchFamily="34" charset="-120"/>
              </a:rPr>
              <a:t>Restricted</a:t>
            </a:r>
            <a:endParaRPr lang="en-US" sz="1500" dirty="0"/>
          </a:p>
        </p:txBody>
      </p:sp>
      <p:sp>
        <p:nvSpPr>
          <p:cNvPr id="27" name="Text 24"/>
          <p:cNvSpPr/>
          <p:nvPr/>
        </p:nvSpPr>
        <p:spPr>
          <a:xfrm>
            <a:off x="3022600" y="3703241"/>
            <a:ext cx="340106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F33"/>
                </a:solidFill>
                <a:latin typeface="Calibri" pitchFamily="34" charset="0"/>
                <a:ea typeface="Calibri" pitchFamily="34" charset="-122"/>
                <a:cs typeface="Calibri" pitchFamily="34" charset="-120"/>
              </a:rPr>
              <a:t>Strictly controlled</a:t>
            </a:r>
            <a:endParaRPr lang="en-US" sz="1400" dirty="0"/>
          </a:p>
        </p:txBody>
      </p:sp>
      <p:sp>
        <p:nvSpPr>
          <p:cNvPr id="28" name="Text 25"/>
          <p:cNvSpPr/>
          <p:nvPr/>
        </p:nvSpPr>
        <p:spPr>
          <a:xfrm>
            <a:off x="6502400" y="3703241"/>
            <a:ext cx="476148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Passwords, health data, legal matters</a:t>
            </a:r>
            <a:endParaRPr lang="en-US" sz="1400" dirty="0"/>
          </a:p>
        </p:txBody>
      </p:sp>
      <p:sp>
        <p:nvSpPr>
          <p:cNvPr id="29" name="Shape 26"/>
          <p:cNvSpPr/>
          <p:nvPr/>
        </p:nvSpPr>
        <p:spPr>
          <a:xfrm>
            <a:off x="812800" y="4430911"/>
            <a:ext cx="10566400" cy="584200"/>
          </a:xfrm>
          <a:prstGeom prst="roundRect">
            <a:avLst>
              <a:gd name="adj" fmla="val 17391"/>
            </a:avLst>
          </a:prstGeom>
          <a:solidFill>
            <a:srgbClr val="EAF3FC"/>
          </a:solidFill>
          <a:ln/>
        </p:spPr>
      </p:sp>
      <p:pic>
        <p:nvPicPr>
          <p:cNvPr id="30" name="Image 1" descr="tag icon">    </p:cNvPr>
          <p:cNvPicPr>
            <a:picLocks noChangeAspect="1"/>
          </p:cNvPicPr>
          <p:nvPr/>
        </p:nvPicPr>
        <p:blipFill>
          <a:blip r:embed="rId2"/>
          <a:srcRect l="0" r="0" t="0" b="0"/>
          <a:stretch/>
        </p:blipFill>
        <p:spPr>
          <a:xfrm>
            <a:off x="1016000" y="4583311"/>
            <a:ext cx="279400" cy="279400"/>
          </a:xfrm>
          <a:prstGeom prst="rect">
            <a:avLst/>
          </a:prstGeom>
        </p:spPr>
      </p:pic>
      <p:sp>
        <p:nvSpPr>
          <p:cNvPr id="31" name="Text 27"/>
          <p:cNvSpPr/>
          <p:nvPr/>
        </p:nvSpPr>
        <p:spPr>
          <a:xfrm>
            <a:off x="1447800" y="4598591"/>
            <a:ext cx="1002004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F33"/>
                </a:solidFill>
                <a:latin typeface="Calibri" pitchFamily="34" charset="0"/>
                <a:ea typeface="Calibri" pitchFamily="34" charset="-122"/>
                <a:cs typeface="Calibri" pitchFamily="34" charset="-120"/>
              </a:rPr>
              <a:t>The higher the level, the more care it needs. </a:t>
            </a:r>
            <a:r>
              <a:rPr lang="en-US" sz="1400" b="1" dirty="0">
                <a:solidFill>
                  <a:srgbClr val="0B1F33"/>
                </a:solidFill>
                <a:latin typeface="Calibri" pitchFamily="34" charset="0"/>
                <a:ea typeface="Calibri" pitchFamily="34" charset="-122"/>
                <a:cs typeface="Calibri" pitchFamily="34" charset="-120"/>
              </a:rPr>
              <a:t>Not sure? Treat it as Confidential.</a:t>
            </a:r>
            <a:endParaRPr lang="en-US" sz="1400" dirty="0"/>
          </a:p>
        </p:txBody>
      </p:sp>
      <p:sp>
        <p:nvSpPr>
          <p:cNvPr id="32" name="Text 2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Adapt to [Organisation name]'s data classification policy</a:t>
            </a:r>
            <a:endParaRPr lang="en-US" sz="1200" dirty="0"/>
          </a:p>
        </p:txBody>
      </p:sp>
      <p:sp>
        <p:nvSpPr>
          <p:cNvPr id="33" name="Text 29"/>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08 · YOUR ROLE</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Six habits that protect sensitive data</a:t>
            </a:r>
            <a:endParaRPr lang="en-US" sz="3600" dirty="0"/>
          </a:p>
        </p:txBody>
      </p:sp>
      <p:sp>
        <p:nvSpPr>
          <p:cNvPr id="5" name="Shape 2"/>
          <p:cNvSpPr/>
          <p:nvPr/>
        </p:nvSpPr>
        <p:spPr>
          <a:xfrm>
            <a:off x="812800" y="1569641"/>
            <a:ext cx="3420467" cy="1681361"/>
          </a:xfrm>
          <a:prstGeom prst="roundRect">
            <a:avLst>
              <a:gd name="adj" fmla="val 6043"/>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812800" y="1569641"/>
            <a:ext cx="3420467" cy="1681361"/>
          </a:xfrm>
          <a:custGeom>
            <a:avLst/>
            <a:gdLst/>
            <a:ahLst/>
            <a:cxnLst/>
            <a:rect l="l" t="t" r="r" b="b"/>
            <a:pathLst>
              <a:path w="3420467" h="1681361">
                <a:moveTo>
                  <a:pt x="0" y="101600"/>
                </a:moveTo>
                <a:lnTo>
                  <a:pt x="0" y="101600"/>
                </a:lnTo>
                <a:arcTo hR="101600" wR="101600" stAng="10800000" swAng="5400000"/>
                <a:lnTo>
                  <a:pt x="3318867" y="0"/>
                </a:lnTo>
                <a:arcTo hR="101600" wR="101600" stAng="16200000" swAng="5400000"/>
                <a:lnTo>
                  <a:pt x="3420467" y="101600"/>
                </a:lnTo>
                <a:arcTo hR="50800" wR="101600" stAng="0" swAng="-5400000"/>
                <a:lnTo>
                  <a:pt x="101600" y="50800"/>
                </a:lnTo>
                <a:arcTo hR="50800" wR="101600" stAng="16200000" swAng="-5400000"/>
                <a:close/>
              </a:path>
            </a:pathLst>
          </a:custGeom>
          <a:solidFill>
            <a:srgbClr val="0078D4"/>
          </a:solidFill>
          <a:ln/>
        </p:spPr>
      </p:sp>
      <p:sp>
        <p:nvSpPr>
          <p:cNvPr id="7" name="Shape 4"/>
          <p:cNvSpPr/>
          <p:nvPr/>
        </p:nvSpPr>
        <p:spPr>
          <a:xfrm>
            <a:off x="1016000" y="1798241"/>
            <a:ext cx="406400" cy="406400"/>
          </a:xfrm>
          <a:prstGeom prst="roundRect">
            <a:avLst>
              <a:gd name="adj" fmla="val 50000"/>
            </a:avLst>
          </a:prstGeom>
          <a:solidFill>
            <a:srgbClr val="EAF3FC"/>
          </a:solidFill>
          <a:ln/>
        </p:spPr>
      </p:sp>
      <p:pic>
        <p:nvPicPr>
          <p:cNvPr id="8" name="Image 1" descr="mail icon">    </p:cNvPr>
          <p:cNvPicPr>
            <a:picLocks noChangeAspect="1"/>
          </p:cNvPicPr>
          <p:nvPr/>
        </p:nvPicPr>
        <p:blipFill>
          <a:blip r:embed="rId2"/>
          <a:srcRect l="0" r="0" t="0" b="0"/>
          <a:stretch/>
        </p:blipFill>
        <p:spPr>
          <a:xfrm>
            <a:off x="1117600" y="1899841"/>
            <a:ext cx="203200" cy="203200"/>
          </a:xfrm>
          <a:prstGeom prst="rect">
            <a:avLst/>
          </a:prstGeom>
        </p:spPr>
      </p:pic>
      <p:sp>
        <p:nvSpPr>
          <p:cNvPr id="9" name="Text 5"/>
          <p:cNvSpPr/>
          <p:nvPr/>
        </p:nvSpPr>
        <p:spPr>
          <a:xfrm>
            <a:off x="1016000" y="2293541"/>
            <a:ext cx="31044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Double-check recipients</a:t>
            </a:r>
            <a:endParaRPr lang="en-US" sz="1500" dirty="0"/>
          </a:p>
        </p:txBody>
      </p:sp>
      <p:sp>
        <p:nvSpPr>
          <p:cNvPr id="10" name="Text 6"/>
          <p:cNvSpPr/>
          <p:nvPr/>
        </p:nvSpPr>
        <p:spPr>
          <a:xfrm>
            <a:off x="1016000" y="2611041"/>
            <a:ext cx="31044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Before sending anything sensitive</a:t>
            </a:r>
            <a:endParaRPr lang="en-US" sz="1300" dirty="0"/>
          </a:p>
        </p:txBody>
      </p:sp>
      <p:sp>
        <p:nvSpPr>
          <p:cNvPr id="11" name="Shape 7"/>
          <p:cNvSpPr/>
          <p:nvPr/>
        </p:nvSpPr>
        <p:spPr>
          <a:xfrm>
            <a:off x="4385667" y="1569641"/>
            <a:ext cx="3420566" cy="1681361"/>
          </a:xfrm>
          <a:prstGeom prst="roundRect">
            <a:avLst>
              <a:gd name="adj" fmla="val 6043"/>
            </a:avLst>
          </a:prstGeom>
          <a:solidFill>
            <a:srgbClr val="FFFFFF"/>
          </a:solidFill>
          <a:ln/>
          <a:effectLst>
            <a:outerShdw sx="100000" sy="100000" kx="0" ky="0" algn="bl" rotWithShape="0" blurRad="101600" dist="25400" dir="5400000">
              <a:srgbClr val="C9D6E3">
                <a:alpha val="100000"/>
              </a:srgbClr>
            </a:outerShdw>
          </a:effectLst>
        </p:spPr>
      </p:sp>
      <p:sp>
        <p:nvSpPr>
          <p:cNvPr id="12" name="Shape 8"/>
          <p:cNvSpPr/>
          <p:nvPr/>
        </p:nvSpPr>
        <p:spPr>
          <a:xfrm>
            <a:off x="4385667" y="1569641"/>
            <a:ext cx="3420566" cy="1681361"/>
          </a:xfrm>
          <a:custGeom>
            <a:avLst/>
            <a:gdLst/>
            <a:ahLst/>
            <a:cxnLst/>
            <a:rect l="l" t="t" r="r" b="b"/>
            <a:pathLst>
              <a:path w="3420566" h="1681361">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0078D4"/>
          </a:solidFill>
          <a:ln/>
        </p:spPr>
      </p:sp>
      <p:sp>
        <p:nvSpPr>
          <p:cNvPr id="13" name="Shape 9"/>
          <p:cNvSpPr/>
          <p:nvPr/>
        </p:nvSpPr>
        <p:spPr>
          <a:xfrm>
            <a:off x="4588867" y="1798241"/>
            <a:ext cx="406400" cy="406400"/>
          </a:xfrm>
          <a:prstGeom prst="roundRect">
            <a:avLst>
              <a:gd name="adj" fmla="val 50000"/>
            </a:avLst>
          </a:prstGeom>
          <a:solidFill>
            <a:srgbClr val="EAF3FC"/>
          </a:solidFill>
          <a:ln/>
        </p:spPr>
      </p:sp>
      <p:pic>
        <p:nvPicPr>
          <p:cNvPr id="14" name="Image 2" descr="users icon">    </p:cNvPr>
          <p:cNvPicPr>
            <a:picLocks noChangeAspect="1"/>
          </p:cNvPicPr>
          <p:nvPr/>
        </p:nvPicPr>
        <p:blipFill>
          <a:blip r:embed="rId3"/>
          <a:srcRect l="0" r="0" t="0" b="0"/>
          <a:stretch/>
        </p:blipFill>
        <p:spPr>
          <a:xfrm>
            <a:off x="4690467" y="1899841"/>
            <a:ext cx="203200" cy="203200"/>
          </a:xfrm>
          <a:prstGeom prst="rect">
            <a:avLst/>
          </a:prstGeom>
        </p:spPr>
      </p:pic>
      <p:sp>
        <p:nvSpPr>
          <p:cNvPr id="15" name="Text 10"/>
          <p:cNvSpPr/>
          <p:nvPr/>
        </p:nvSpPr>
        <p:spPr>
          <a:xfrm>
            <a:off x="4588867" y="2293541"/>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Share with named people</a:t>
            </a:r>
            <a:endParaRPr lang="en-US" sz="1500" dirty="0"/>
          </a:p>
        </p:txBody>
      </p:sp>
      <p:sp>
        <p:nvSpPr>
          <p:cNvPr id="16" name="Text 11"/>
          <p:cNvSpPr/>
          <p:nvPr/>
        </p:nvSpPr>
        <p:spPr>
          <a:xfrm>
            <a:off x="4588867" y="2611041"/>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Never “anyone with the link”</a:t>
            </a:r>
            <a:endParaRPr lang="en-US" sz="1300" dirty="0"/>
          </a:p>
        </p:txBody>
      </p:sp>
      <p:sp>
        <p:nvSpPr>
          <p:cNvPr id="17" name="Shape 12"/>
          <p:cNvSpPr/>
          <p:nvPr/>
        </p:nvSpPr>
        <p:spPr>
          <a:xfrm>
            <a:off x="7958634" y="1569641"/>
            <a:ext cx="3420566" cy="1681361"/>
          </a:xfrm>
          <a:prstGeom prst="roundRect">
            <a:avLst>
              <a:gd name="adj" fmla="val 6043"/>
            </a:avLst>
          </a:prstGeom>
          <a:solidFill>
            <a:srgbClr val="FFFFFF"/>
          </a:solidFill>
          <a:ln/>
          <a:effectLst>
            <a:outerShdw sx="100000" sy="100000" kx="0" ky="0" algn="bl" rotWithShape="0" blurRad="101600" dist="25400" dir="5400000">
              <a:srgbClr val="C9D6E3">
                <a:alpha val="100000"/>
              </a:srgbClr>
            </a:outerShdw>
          </a:effectLst>
        </p:spPr>
      </p:sp>
      <p:sp>
        <p:nvSpPr>
          <p:cNvPr id="18" name="Shape 13"/>
          <p:cNvSpPr/>
          <p:nvPr/>
        </p:nvSpPr>
        <p:spPr>
          <a:xfrm>
            <a:off x="7958634" y="1569641"/>
            <a:ext cx="3420566" cy="1681361"/>
          </a:xfrm>
          <a:custGeom>
            <a:avLst/>
            <a:gdLst/>
            <a:ahLst/>
            <a:cxnLst/>
            <a:rect l="l" t="t" r="r" b="b"/>
            <a:pathLst>
              <a:path w="3420566" h="1681361">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0078D4"/>
          </a:solidFill>
          <a:ln/>
        </p:spPr>
      </p:sp>
      <p:sp>
        <p:nvSpPr>
          <p:cNvPr id="19" name="Shape 14"/>
          <p:cNvSpPr/>
          <p:nvPr/>
        </p:nvSpPr>
        <p:spPr>
          <a:xfrm>
            <a:off x="8161834" y="1798241"/>
            <a:ext cx="406400" cy="406400"/>
          </a:xfrm>
          <a:prstGeom prst="roundRect">
            <a:avLst>
              <a:gd name="adj" fmla="val 50000"/>
            </a:avLst>
          </a:prstGeom>
          <a:solidFill>
            <a:srgbClr val="EAF3FC"/>
          </a:solidFill>
          <a:ln/>
        </p:spPr>
      </p:sp>
      <p:pic>
        <p:nvPicPr>
          <p:cNvPr id="20" name="Image 3" descr="cloud icon">    </p:cNvPr>
          <p:cNvPicPr>
            <a:picLocks noChangeAspect="1"/>
          </p:cNvPicPr>
          <p:nvPr/>
        </p:nvPicPr>
        <p:blipFill>
          <a:blip r:embed="rId4"/>
          <a:srcRect l="0" r="0" t="0" b="0"/>
          <a:stretch/>
        </p:blipFill>
        <p:spPr>
          <a:xfrm>
            <a:off x="8263434" y="1899841"/>
            <a:ext cx="203200" cy="203200"/>
          </a:xfrm>
          <a:prstGeom prst="rect">
            <a:avLst/>
          </a:prstGeom>
        </p:spPr>
      </p:pic>
      <p:sp>
        <p:nvSpPr>
          <p:cNvPr id="21" name="Text 15"/>
          <p:cNvSpPr/>
          <p:nvPr/>
        </p:nvSpPr>
        <p:spPr>
          <a:xfrm>
            <a:off x="8161834" y="2293541"/>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Use approved storage only</a:t>
            </a:r>
            <a:endParaRPr lang="en-US" sz="1500" dirty="0"/>
          </a:p>
        </p:txBody>
      </p:sp>
      <p:sp>
        <p:nvSpPr>
          <p:cNvPr id="22" name="Text 16"/>
          <p:cNvSpPr/>
          <p:nvPr/>
        </p:nvSpPr>
        <p:spPr>
          <a:xfrm>
            <a:off x="8161834" y="2611041"/>
            <a:ext cx="310459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No personal email, cloud, USB or AI tools</a:t>
            </a:r>
            <a:endParaRPr lang="en-US" sz="1300" dirty="0"/>
          </a:p>
        </p:txBody>
      </p:sp>
      <p:sp>
        <p:nvSpPr>
          <p:cNvPr id="23" name="Shape 17"/>
          <p:cNvSpPr/>
          <p:nvPr/>
        </p:nvSpPr>
        <p:spPr>
          <a:xfrm>
            <a:off x="812800" y="3403402"/>
            <a:ext cx="3420467" cy="1450280"/>
          </a:xfrm>
          <a:prstGeom prst="roundRect">
            <a:avLst>
              <a:gd name="adj" fmla="val 7006"/>
            </a:avLst>
          </a:prstGeom>
          <a:solidFill>
            <a:srgbClr val="FFFFFF"/>
          </a:solidFill>
          <a:ln/>
          <a:effectLst>
            <a:outerShdw sx="100000" sy="100000" kx="0" ky="0" algn="bl" rotWithShape="0" blurRad="101600" dist="25400" dir="5400000">
              <a:srgbClr val="C9D6E3">
                <a:alpha val="100000"/>
              </a:srgbClr>
            </a:outerShdw>
          </a:effectLst>
        </p:spPr>
      </p:sp>
      <p:sp>
        <p:nvSpPr>
          <p:cNvPr id="24" name="Shape 18"/>
          <p:cNvSpPr/>
          <p:nvPr/>
        </p:nvSpPr>
        <p:spPr>
          <a:xfrm>
            <a:off x="812800" y="3403402"/>
            <a:ext cx="3420467" cy="1450280"/>
          </a:xfrm>
          <a:custGeom>
            <a:avLst/>
            <a:gdLst/>
            <a:ahLst/>
            <a:cxnLst/>
            <a:rect l="l" t="t" r="r" b="b"/>
            <a:pathLst>
              <a:path w="3420467" h="1450280">
                <a:moveTo>
                  <a:pt x="0" y="101600"/>
                </a:moveTo>
                <a:lnTo>
                  <a:pt x="0" y="101600"/>
                </a:lnTo>
                <a:arcTo hR="101600" wR="101600" stAng="10800000" swAng="5400000"/>
                <a:lnTo>
                  <a:pt x="3318867" y="0"/>
                </a:lnTo>
                <a:arcTo hR="101600" wR="101600" stAng="16200000" swAng="5400000"/>
                <a:lnTo>
                  <a:pt x="3420467" y="101600"/>
                </a:lnTo>
                <a:arcTo hR="50800" wR="101600" stAng="0" swAng="-5400000"/>
                <a:lnTo>
                  <a:pt x="101600" y="50800"/>
                </a:lnTo>
                <a:arcTo hR="50800" wR="101600" stAng="16200000" swAng="-5400000"/>
                <a:close/>
              </a:path>
            </a:pathLst>
          </a:custGeom>
          <a:solidFill>
            <a:srgbClr val="0078D4"/>
          </a:solidFill>
          <a:ln/>
        </p:spPr>
      </p:sp>
      <p:sp>
        <p:nvSpPr>
          <p:cNvPr id="25" name="Shape 19"/>
          <p:cNvSpPr/>
          <p:nvPr/>
        </p:nvSpPr>
        <p:spPr>
          <a:xfrm>
            <a:off x="1016000" y="3632002"/>
            <a:ext cx="406400" cy="406400"/>
          </a:xfrm>
          <a:prstGeom prst="roundRect">
            <a:avLst>
              <a:gd name="adj" fmla="val 50000"/>
            </a:avLst>
          </a:prstGeom>
          <a:solidFill>
            <a:srgbClr val="EAF3FC"/>
          </a:solidFill>
          <a:ln/>
        </p:spPr>
      </p:sp>
      <p:pic>
        <p:nvPicPr>
          <p:cNvPr id="26" name="Image 4" descr="monitor icon">    </p:cNvPr>
          <p:cNvPicPr>
            <a:picLocks noChangeAspect="1"/>
          </p:cNvPicPr>
          <p:nvPr/>
        </p:nvPicPr>
        <p:blipFill>
          <a:blip r:embed="rId5"/>
          <a:srcRect l="0" r="0" t="0" b="0"/>
          <a:stretch/>
        </p:blipFill>
        <p:spPr>
          <a:xfrm>
            <a:off x="1117600" y="3733602"/>
            <a:ext cx="203200" cy="203200"/>
          </a:xfrm>
          <a:prstGeom prst="rect">
            <a:avLst/>
          </a:prstGeom>
        </p:spPr>
      </p:pic>
      <p:sp>
        <p:nvSpPr>
          <p:cNvPr id="27" name="Text 20"/>
          <p:cNvSpPr/>
          <p:nvPr/>
        </p:nvSpPr>
        <p:spPr>
          <a:xfrm>
            <a:off x="1016000" y="4127302"/>
            <a:ext cx="31044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Lock screen, clear desk</a:t>
            </a:r>
            <a:endParaRPr lang="en-US" sz="1500" dirty="0"/>
          </a:p>
        </p:txBody>
      </p:sp>
      <p:sp>
        <p:nvSpPr>
          <p:cNvPr id="28" name="Text 21"/>
          <p:cNvSpPr/>
          <p:nvPr/>
        </p:nvSpPr>
        <p:spPr>
          <a:xfrm>
            <a:off x="1016000" y="4444802"/>
            <a:ext cx="31044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Every time you step away</a:t>
            </a:r>
            <a:endParaRPr lang="en-US" sz="1300" dirty="0"/>
          </a:p>
        </p:txBody>
      </p:sp>
      <p:sp>
        <p:nvSpPr>
          <p:cNvPr id="29" name="Shape 22"/>
          <p:cNvSpPr/>
          <p:nvPr/>
        </p:nvSpPr>
        <p:spPr>
          <a:xfrm>
            <a:off x="4385667" y="3403402"/>
            <a:ext cx="3420566" cy="1450280"/>
          </a:xfrm>
          <a:prstGeom prst="roundRect">
            <a:avLst>
              <a:gd name="adj" fmla="val 7006"/>
            </a:avLst>
          </a:prstGeom>
          <a:solidFill>
            <a:srgbClr val="FFFFFF"/>
          </a:solidFill>
          <a:ln/>
          <a:effectLst>
            <a:outerShdw sx="100000" sy="100000" kx="0" ky="0" algn="bl" rotWithShape="0" blurRad="101600" dist="25400" dir="5400000">
              <a:srgbClr val="C9D6E3">
                <a:alpha val="100000"/>
              </a:srgbClr>
            </a:outerShdw>
          </a:effectLst>
        </p:spPr>
      </p:sp>
      <p:sp>
        <p:nvSpPr>
          <p:cNvPr id="30" name="Shape 23"/>
          <p:cNvSpPr/>
          <p:nvPr/>
        </p:nvSpPr>
        <p:spPr>
          <a:xfrm>
            <a:off x="4385667" y="3403402"/>
            <a:ext cx="3420566" cy="1450280"/>
          </a:xfrm>
          <a:custGeom>
            <a:avLst/>
            <a:gdLst/>
            <a:ahLst/>
            <a:cxnLst/>
            <a:rect l="l" t="t" r="r" b="b"/>
            <a:pathLst>
              <a:path w="3420566" h="1450280">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0078D4"/>
          </a:solidFill>
          <a:ln/>
        </p:spPr>
      </p:sp>
      <p:sp>
        <p:nvSpPr>
          <p:cNvPr id="31" name="Shape 24"/>
          <p:cNvSpPr/>
          <p:nvPr/>
        </p:nvSpPr>
        <p:spPr>
          <a:xfrm>
            <a:off x="4588867" y="3632002"/>
            <a:ext cx="406400" cy="406400"/>
          </a:xfrm>
          <a:prstGeom prst="roundRect">
            <a:avLst>
              <a:gd name="adj" fmla="val 50000"/>
            </a:avLst>
          </a:prstGeom>
          <a:solidFill>
            <a:srgbClr val="EAF3FC"/>
          </a:solidFill>
          <a:ln/>
        </p:spPr>
      </p:sp>
      <p:pic>
        <p:nvPicPr>
          <p:cNvPr id="32" name="Image 5" descr="lock icon">    </p:cNvPr>
          <p:cNvPicPr>
            <a:picLocks noChangeAspect="1"/>
          </p:cNvPicPr>
          <p:nvPr/>
        </p:nvPicPr>
        <p:blipFill>
          <a:blip r:embed="rId6"/>
          <a:srcRect l="0" r="0" t="0" b="0"/>
          <a:stretch/>
        </p:blipFill>
        <p:spPr>
          <a:xfrm>
            <a:off x="4690467" y="3733602"/>
            <a:ext cx="203200" cy="203200"/>
          </a:xfrm>
          <a:prstGeom prst="rect">
            <a:avLst/>
          </a:prstGeom>
        </p:spPr>
      </p:pic>
      <p:sp>
        <p:nvSpPr>
          <p:cNvPr id="33" name="Text 25"/>
          <p:cNvSpPr/>
          <p:nvPr/>
        </p:nvSpPr>
        <p:spPr>
          <a:xfrm>
            <a:off x="4588867" y="4127302"/>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Access only what you need</a:t>
            </a:r>
            <a:endParaRPr lang="en-US" sz="1500" dirty="0"/>
          </a:p>
        </p:txBody>
      </p:sp>
      <p:sp>
        <p:nvSpPr>
          <p:cNvPr id="34" name="Text 26"/>
          <p:cNvSpPr/>
          <p:nvPr/>
        </p:nvSpPr>
        <p:spPr>
          <a:xfrm>
            <a:off x="4588867" y="4444802"/>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And give back what you don't</a:t>
            </a:r>
            <a:endParaRPr lang="en-US" sz="1300" dirty="0"/>
          </a:p>
        </p:txBody>
      </p:sp>
      <p:sp>
        <p:nvSpPr>
          <p:cNvPr id="35" name="Shape 27"/>
          <p:cNvSpPr/>
          <p:nvPr/>
        </p:nvSpPr>
        <p:spPr>
          <a:xfrm>
            <a:off x="7958634" y="3403402"/>
            <a:ext cx="3420566" cy="1450280"/>
          </a:xfrm>
          <a:prstGeom prst="roundRect">
            <a:avLst>
              <a:gd name="adj" fmla="val 7006"/>
            </a:avLst>
          </a:prstGeom>
          <a:solidFill>
            <a:srgbClr val="FFFFFF"/>
          </a:solidFill>
          <a:ln/>
          <a:effectLst>
            <a:outerShdw sx="100000" sy="100000" kx="0" ky="0" algn="bl" rotWithShape="0" blurRad="101600" dist="25400" dir="5400000">
              <a:srgbClr val="C9D6E3">
                <a:alpha val="100000"/>
              </a:srgbClr>
            </a:outerShdw>
          </a:effectLst>
        </p:spPr>
      </p:sp>
      <p:sp>
        <p:nvSpPr>
          <p:cNvPr id="36" name="Shape 28"/>
          <p:cNvSpPr/>
          <p:nvPr/>
        </p:nvSpPr>
        <p:spPr>
          <a:xfrm>
            <a:off x="7958634" y="3403402"/>
            <a:ext cx="3420566" cy="1450280"/>
          </a:xfrm>
          <a:custGeom>
            <a:avLst/>
            <a:gdLst/>
            <a:ahLst/>
            <a:cxnLst/>
            <a:rect l="l" t="t" r="r" b="b"/>
            <a:pathLst>
              <a:path w="3420566" h="1450280">
                <a:moveTo>
                  <a:pt x="0" y="101600"/>
                </a:moveTo>
                <a:lnTo>
                  <a:pt x="0" y="101600"/>
                </a:lnTo>
                <a:arcTo hR="101600" wR="101600" stAng="10800000" swAng="5400000"/>
                <a:lnTo>
                  <a:pt x="3318966" y="0"/>
                </a:lnTo>
                <a:arcTo hR="101600" wR="101600" stAng="16200000" swAng="5400000"/>
                <a:lnTo>
                  <a:pt x="3420566" y="101600"/>
                </a:lnTo>
                <a:arcTo hR="50800" wR="101600" stAng="0" swAng="-5400000"/>
                <a:lnTo>
                  <a:pt x="101600" y="50800"/>
                </a:lnTo>
                <a:arcTo hR="50800" wR="101600" stAng="16200000" swAng="-5400000"/>
                <a:close/>
              </a:path>
            </a:pathLst>
          </a:custGeom>
          <a:solidFill>
            <a:srgbClr val="F7630C"/>
          </a:solidFill>
          <a:ln/>
        </p:spPr>
      </p:sp>
      <p:sp>
        <p:nvSpPr>
          <p:cNvPr id="37" name="Shape 29"/>
          <p:cNvSpPr/>
          <p:nvPr/>
        </p:nvSpPr>
        <p:spPr>
          <a:xfrm>
            <a:off x="8161834" y="3632002"/>
            <a:ext cx="406400" cy="406400"/>
          </a:xfrm>
          <a:prstGeom prst="roundRect">
            <a:avLst>
              <a:gd name="adj" fmla="val 50000"/>
            </a:avLst>
          </a:prstGeom>
          <a:solidFill>
            <a:srgbClr val="FDEBDD"/>
          </a:solidFill>
          <a:ln/>
        </p:spPr>
      </p:sp>
      <p:pic>
        <p:nvPicPr>
          <p:cNvPr id="38" name="Image 6" descr="megaphone icon">    </p:cNvPr>
          <p:cNvPicPr>
            <a:picLocks noChangeAspect="1"/>
          </p:cNvPicPr>
          <p:nvPr/>
        </p:nvPicPr>
        <p:blipFill>
          <a:blip r:embed="rId7"/>
          <a:srcRect l="0" r="0" t="0" b="0"/>
          <a:stretch/>
        </p:blipFill>
        <p:spPr>
          <a:xfrm>
            <a:off x="8263434" y="3733602"/>
            <a:ext cx="203200" cy="203200"/>
          </a:xfrm>
          <a:prstGeom prst="rect">
            <a:avLst/>
          </a:prstGeom>
        </p:spPr>
      </p:pic>
      <p:sp>
        <p:nvSpPr>
          <p:cNvPr id="39" name="Text 30"/>
          <p:cNvSpPr/>
          <p:nvPr/>
        </p:nvSpPr>
        <p:spPr>
          <a:xfrm>
            <a:off x="8161834" y="4127302"/>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3"/>
                </a:solidFill>
                <a:latin typeface="Calibri" pitchFamily="34" charset="0"/>
                <a:ea typeface="Calibri" pitchFamily="34" charset="-122"/>
                <a:cs typeface="Calibri" pitchFamily="34" charset="-120"/>
              </a:rPr>
              <a:t>Report mistakes at once</a:t>
            </a:r>
            <a:endParaRPr lang="en-US" sz="1500" dirty="0"/>
          </a:p>
        </p:txBody>
      </p:sp>
      <p:sp>
        <p:nvSpPr>
          <p:cNvPr id="40" name="Text 31"/>
          <p:cNvSpPr/>
          <p:nvPr/>
        </p:nvSpPr>
        <p:spPr>
          <a:xfrm>
            <a:off x="8161834" y="4444802"/>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6B"/>
                </a:solidFill>
                <a:latin typeface="Calibri" pitchFamily="34" charset="0"/>
                <a:ea typeface="Calibri" pitchFamily="34" charset="-122"/>
                <a:cs typeface="Calibri" pitchFamily="34" charset="-120"/>
              </a:rPr>
              <a:t>No blame for honest mistakes</a:t>
            </a:r>
            <a:endParaRPr lang="en-US" sz="1300" dirty="0"/>
          </a:p>
        </p:txBody>
      </p:sp>
      <p:sp>
        <p:nvSpPr>
          <p:cNvPr id="41" name="Text 3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security guidance</a:t>
            </a:r>
            <a:endParaRPr lang="en-US" sz="1200" dirty="0"/>
          </a:p>
        </p:txBody>
      </p:sp>
      <p:sp>
        <p:nvSpPr>
          <p:cNvPr id="42" name="Text 33"/>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B7C3"/>
                </a:solidFill>
                <a:latin typeface="Calibri" pitchFamily="34" charset="0"/>
                <a:ea typeface="Calibri" pitchFamily="34" charset="-122"/>
                <a:cs typeface="Calibri" pitchFamily="34" charset="-120"/>
              </a:rPr>
              <a:t>09 · WHAT WE DO AS AN ORGANISATION</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FFF"/>
                </a:solidFill>
                <a:latin typeface="Arial" pitchFamily="34" charset="0"/>
                <a:ea typeface="Arial" pitchFamily="34" charset="-122"/>
                <a:cs typeface="Arial" pitchFamily="34" charset="-120"/>
              </a:rPr>
              <a:t>Layered protection against insider risk</a:t>
            </a:r>
            <a:endParaRPr lang="en-US" sz="3600" dirty="0"/>
          </a:p>
        </p:txBody>
      </p:sp>
      <p:sp>
        <p:nvSpPr>
          <p:cNvPr id="5" name="Shape 2"/>
          <p:cNvSpPr/>
          <p:nvPr/>
        </p:nvSpPr>
        <p:spPr>
          <a:xfrm>
            <a:off x="812800" y="1569641"/>
            <a:ext cx="5219700" cy="789880"/>
          </a:xfrm>
          <a:prstGeom prst="roundRect">
            <a:avLst>
              <a:gd name="adj" fmla="val 12863"/>
            </a:avLst>
          </a:prstGeom>
          <a:solidFill>
            <a:srgbClr val="13294B"/>
          </a:solidFill>
          <a:ln/>
        </p:spPr>
      </p:sp>
      <p:sp>
        <p:nvSpPr>
          <p:cNvPr id="6" name="Shape 3"/>
          <p:cNvSpPr/>
          <p:nvPr/>
        </p:nvSpPr>
        <p:spPr>
          <a:xfrm>
            <a:off x="990600" y="1761331"/>
            <a:ext cx="406400" cy="406400"/>
          </a:xfrm>
          <a:prstGeom prst="roundRect">
            <a:avLst>
              <a:gd name="adj" fmla="val 50000"/>
            </a:avLst>
          </a:prstGeom>
          <a:solidFill>
            <a:srgbClr val="00B7C3"/>
          </a:solidFill>
          <a:ln/>
        </p:spPr>
      </p:sp>
      <p:pic>
        <p:nvPicPr>
          <p:cNvPr id="7" name="Image 1" descr="lock icon">    </p:cNvPr>
          <p:cNvPicPr>
            <a:picLocks noChangeAspect="1"/>
          </p:cNvPicPr>
          <p:nvPr/>
        </p:nvPicPr>
        <p:blipFill>
          <a:blip r:embed="rId2"/>
          <a:srcRect l="0" r="0" t="0" b="0"/>
          <a:stretch/>
        </p:blipFill>
        <p:spPr>
          <a:xfrm>
            <a:off x="1092200" y="1862931"/>
            <a:ext cx="203200" cy="203200"/>
          </a:xfrm>
          <a:prstGeom prst="rect">
            <a:avLst/>
          </a:prstGeom>
        </p:spPr>
      </p:pic>
      <p:sp>
        <p:nvSpPr>
          <p:cNvPr id="8" name="Text 4"/>
          <p:cNvSpPr/>
          <p:nvPr/>
        </p:nvSpPr>
        <p:spPr>
          <a:xfrm>
            <a:off x="1549400" y="1722041"/>
            <a:ext cx="44344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Calibri" pitchFamily="34" charset="0"/>
                <a:ea typeface="Calibri" pitchFamily="34" charset="-122"/>
                <a:cs typeface="Calibri" pitchFamily="34" charset="-120"/>
              </a:rPr>
              <a:t>Least privilege</a:t>
            </a:r>
            <a:endParaRPr lang="en-US" sz="1500" dirty="0"/>
          </a:p>
        </p:txBody>
      </p:sp>
      <p:sp>
        <p:nvSpPr>
          <p:cNvPr id="9" name="Text 5"/>
          <p:cNvSpPr/>
          <p:nvPr/>
        </p:nvSpPr>
        <p:spPr>
          <a:xfrm>
            <a:off x="1549400" y="1976041"/>
            <a:ext cx="443445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Access matched to each role</a:t>
            </a:r>
            <a:endParaRPr lang="en-US" sz="1300" dirty="0"/>
          </a:p>
        </p:txBody>
      </p:sp>
      <p:sp>
        <p:nvSpPr>
          <p:cNvPr id="10" name="Shape 6"/>
          <p:cNvSpPr/>
          <p:nvPr/>
        </p:nvSpPr>
        <p:spPr>
          <a:xfrm>
            <a:off x="6159500" y="1569641"/>
            <a:ext cx="5219700" cy="789880"/>
          </a:xfrm>
          <a:prstGeom prst="roundRect">
            <a:avLst>
              <a:gd name="adj" fmla="val 12863"/>
            </a:avLst>
          </a:prstGeom>
          <a:solidFill>
            <a:srgbClr val="13294B"/>
          </a:solidFill>
          <a:ln/>
        </p:spPr>
      </p:sp>
      <p:sp>
        <p:nvSpPr>
          <p:cNvPr id="11" name="Shape 7"/>
          <p:cNvSpPr/>
          <p:nvPr/>
        </p:nvSpPr>
        <p:spPr>
          <a:xfrm>
            <a:off x="6337300" y="1761331"/>
            <a:ext cx="406400" cy="406400"/>
          </a:xfrm>
          <a:prstGeom prst="roundRect">
            <a:avLst>
              <a:gd name="adj" fmla="val 50000"/>
            </a:avLst>
          </a:prstGeom>
          <a:solidFill>
            <a:srgbClr val="00B7C3"/>
          </a:solidFill>
          <a:ln/>
        </p:spPr>
      </p:sp>
      <p:pic>
        <p:nvPicPr>
          <p:cNvPr id="12" name="Image 2" descr="refresh icon">    </p:cNvPr>
          <p:cNvPicPr>
            <a:picLocks noChangeAspect="1"/>
          </p:cNvPicPr>
          <p:nvPr/>
        </p:nvPicPr>
        <p:blipFill>
          <a:blip r:embed="rId3"/>
          <a:srcRect l="0" r="0" t="0" b="0"/>
          <a:stretch/>
        </p:blipFill>
        <p:spPr>
          <a:xfrm>
            <a:off x="6438900" y="1862931"/>
            <a:ext cx="203200" cy="203200"/>
          </a:xfrm>
          <a:prstGeom prst="rect">
            <a:avLst/>
          </a:prstGeom>
        </p:spPr>
      </p:pic>
      <p:sp>
        <p:nvSpPr>
          <p:cNvPr id="13" name="Text 8"/>
          <p:cNvSpPr/>
          <p:nvPr/>
        </p:nvSpPr>
        <p:spPr>
          <a:xfrm>
            <a:off x="6896100" y="1722041"/>
            <a:ext cx="44344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Calibri" pitchFamily="34" charset="0"/>
                <a:ea typeface="Calibri" pitchFamily="34" charset="-122"/>
                <a:cs typeface="Calibri" pitchFamily="34" charset="-120"/>
              </a:rPr>
              <a:t>Regular access reviews</a:t>
            </a:r>
            <a:endParaRPr lang="en-US" sz="1500" dirty="0"/>
          </a:p>
        </p:txBody>
      </p:sp>
      <p:sp>
        <p:nvSpPr>
          <p:cNvPr id="14" name="Text 9"/>
          <p:cNvSpPr/>
          <p:nvPr/>
        </p:nvSpPr>
        <p:spPr>
          <a:xfrm>
            <a:off x="6896100" y="1976041"/>
            <a:ext cx="443445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Remove access people no longer need</a:t>
            </a:r>
            <a:endParaRPr lang="en-US" sz="1300" dirty="0"/>
          </a:p>
        </p:txBody>
      </p:sp>
      <p:sp>
        <p:nvSpPr>
          <p:cNvPr id="15" name="Shape 10"/>
          <p:cNvSpPr/>
          <p:nvPr/>
        </p:nvSpPr>
        <p:spPr>
          <a:xfrm>
            <a:off x="812800" y="2486521"/>
            <a:ext cx="5219700" cy="789880"/>
          </a:xfrm>
          <a:prstGeom prst="roundRect">
            <a:avLst>
              <a:gd name="adj" fmla="val 12863"/>
            </a:avLst>
          </a:prstGeom>
          <a:solidFill>
            <a:srgbClr val="13294B"/>
          </a:solidFill>
          <a:ln/>
        </p:spPr>
      </p:sp>
      <p:sp>
        <p:nvSpPr>
          <p:cNvPr id="16" name="Shape 11"/>
          <p:cNvSpPr/>
          <p:nvPr/>
        </p:nvSpPr>
        <p:spPr>
          <a:xfrm>
            <a:off x="990600" y="2678212"/>
            <a:ext cx="406400" cy="406400"/>
          </a:xfrm>
          <a:prstGeom prst="roundRect">
            <a:avLst>
              <a:gd name="adj" fmla="val 50000"/>
            </a:avLst>
          </a:prstGeom>
          <a:solidFill>
            <a:srgbClr val="00B7C3"/>
          </a:solidFill>
          <a:ln/>
        </p:spPr>
      </p:sp>
      <p:pic>
        <p:nvPicPr>
          <p:cNvPr id="17" name="Image 3" descr="logout icon">    </p:cNvPr>
          <p:cNvPicPr>
            <a:picLocks noChangeAspect="1"/>
          </p:cNvPicPr>
          <p:nvPr/>
        </p:nvPicPr>
        <p:blipFill>
          <a:blip r:embed="rId4"/>
          <a:srcRect l="0" r="0" t="0" b="0"/>
          <a:stretch/>
        </p:blipFill>
        <p:spPr>
          <a:xfrm>
            <a:off x="1092200" y="2779812"/>
            <a:ext cx="203200" cy="203200"/>
          </a:xfrm>
          <a:prstGeom prst="rect">
            <a:avLst/>
          </a:prstGeom>
        </p:spPr>
      </p:pic>
      <p:sp>
        <p:nvSpPr>
          <p:cNvPr id="18" name="Text 12"/>
          <p:cNvSpPr/>
          <p:nvPr/>
        </p:nvSpPr>
        <p:spPr>
          <a:xfrm>
            <a:off x="1549400" y="2638921"/>
            <a:ext cx="44344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Calibri" pitchFamily="34" charset="0"/>
                <a:ea typeface="Calibri" pitchFamily="34" charset="-122"/>
                <a:cs typeface="Calibri" pitchFamily="34" charset="-120"/>
              </a:rPr>
              <a:t>Clean offboarding</a:t>
            </a:r>
            <a:endParaRPr lang="en-US" sz="1500" dirty="0"/>
          </a:p>
        </p:txBody>
      </p:sp>
      <p:sp>
        <p:nvSpPr>
          <p:cNvPr id="19" name="Text 13"/>
          <p:cNvSpPr/>
          <p:nvPr/>
        </p:nvSpPr>
        <p:spPr>
          <a:xfrm>
            <a:off x="1549400" y="2892921"/>
            <a:ext cx="443445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All access removed on the last day</a:t>
            </a:r>
            <a:endParaRPr lang="en-US" sz="1300" dirty="0"/>
          </a:p>
        </p:txBody>
      </p:sp>
      <p:sp>
        <p:nvSpPr>
          <p:cNvPr id="20" name="Shape 14"/>
          <p:cNvSpPr/>
          <p:nvPr/>
        </p:nvSpPr>
        <p:spPr>
          <a:xfrm>
            <a:off x="6159500" y="2486521"/>
            <a:ext cx="5219700" cy="789880"/>
          </a:xfrm>
          <a:prstGeom prst="roundRect">
            <a:avLst>
              <a:gd name="adj" fmla="val 12863"/>
            </a:avLst>
          </a:prstGeom>
          <a:solidFill>
            <a:srgbClr val="13294B"/>
          </a:solidFill>
          <a:ln/>
        </p:spPr>
      </p:sp>
      <p:sp>
        <p:nvSpPr>
          <p:cNvPr id="21" name="Shape 15"/>
          <p:cNvSpPr/>
          <p:nvPr/>
        </p:nvSpPr>
        <p:spPr>
          <a:xfrm>
            <a:off x="6337300" y="2678212"/>
            <a:ext cx="406400" cy="406400"/>
          </a:xfrm>
          <a:prstGeom prst="roundRect">
            <a:avLst>
              <a:gd name="adj" fmla="val 50000"/>
            </a:avLst>
          </a:prstGeom>
          <a:solidFill>
            <a:srgbClr val="00B7C3"/>
          </a:solidFill>
          <a:ln/>
        </p:spPr>
      </p:sp>
      <p:pic>
        <p:nvPicPr>
          <p:cNvPr id="22" name="Image 4" descr="shield icon">    </p:cNvPr>
          <p:cNvPicPr>
            <a:picLocks noChangeAspect="1"/>
          </p:cNvPicPr>
          <p:nvPr/>
        </p:nvPicPr>
        <p:blipFill>
          <a:blip r:embed="rId5"/>
          <a:srcRect l="0" r="0" t="0" b="0"/>
          <a:stretch/>
        </p:blipFill>
        <p:spPr>
          <a:xfrm>
            <a:off x="6438900" y="2779812"/>
            <a:ext cx="203200" cy="203200"/>
          </a:xfrm>
          <a:prstGeom prst="rect">
            <a:avLst/>
          </a:prstGeom>
        </p:spPr>
      </p:pic>
      <p:sp>
        <p:nvSpPr>
          <p:cNvPr id="23" name="Text 16"/>
          <p:cNvSpPr/>
          <p:nvPr/>
        </p:nvSpPr>
        <p:spPr>
          <a:xfrm>
            <a:off x="6896100" y="2638921"/>
            <a:ext cx="44344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Calibri" pitchFamily="34" charset="0"/>
                <a:ea typeface="Calibri" pitchFamily="34" charset="-122"/>
                <a:cs typeface="Calibri" pitchFamily="34" charset="-120"/>
              </a:rPr>
              <a:t>Data loss prevention</a:t>
            </a:r>
            <a:endParaRPr lang="en-US" sz="1500" dirty="0"/>
          </a:p>
        </p:txBody>
      </p:sp>
      <p:sp>
        <p:nvSpPr>
          <p:cNvPr id="24" name="Text 17"/>
          <p:cNvSpPr/>
          <p:nvPr/>
        </p:nvSpPr>
        <p:spPr>
          <a:xfrm>
            <a:off x="6896100" y="2892921"/>
            <a:ext cx="443445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Blocks risky sharing and uploads</a:t>
            </a:r>
            <a:endParaRPr lang="en-US" sz="1300" dirty="0"/>
          </a:p>
        </p:txBody>
      </p:sp>
      <p:sp>
        <p:nvSpPr>
          <p:cNvPr id="25" name="Shape 18"/>
          <p:cNvSpPr/>
          <p:nvPr/>
        </p:nvSpPr>
        <p:spPr>
          <a:xfrm>
            <a:off x="812800" y="3403402"/>
            <a:ext cx="5219700" cy="789880"/>
          </a:xfrm>
          <a:prstGeom prst="roundRect">
            <a:avLst>
              <a:gd name="adj" fmla="val 12863"/>
            </a:avLst>
          </a:prstGeom>
          <a:solidFill>
            <a:srgbClr val="13294B"/>
          </a:solidFill>
          <a:ln/>
        </p:spPr>
      </p:sp>
      <p:sp>
        <p:nvSpPr>
          <p:cNvPr id="26" name="Shape 19"/>
          <p:cNvSpPr/>
          <p:nvPr/>
        </p:nvSpPr>
        <p:spPr>
          <a:xfrm>
            <a:off x="990600" y="3595092"/>
            <a:ext cx="406400" cy="406400"/>
          </a:xfrm>
          <a:prstGeom prst="roundRect">
            <a:avLst>
              <a:gd name="adj" fmla="val 50000"/>
            </a:avLst>
          </a:prstGeom>
          <a:solidFill>
            <a:srgbClr val="00B7C3"/>
          </a:solidFill>
          <a:ln/>
        </p:spPr>
      </p:sp>
      <p:pic>
        <p:nvPicPr>
          <p:cNvPr id="27" name="Image 5" descr="eye icon">    </p:cNvPr>
          <p:cNvPicPr>
            <a:picLocks noChangeAspect="1"/>
          </p:cNvPicPr>
          <p:nvPr/>
        </p:nvPicPr>
        <p:blipFill>
          <a:blip r:embed="rId6"/>
          <a:srcRect l="0" r="0" t="0" b="0"/>
          <a:stretch/>
        </p:blipFill>
        <p:spPr>
          <a:xfrm>
            <a:off x="1092200" y="3696692"/>
            <a:ext cx="203200" cy="203200"/>
          </a:xfrm>
          <a:prstGeom prst="rect">
            <a:avLst/>
          </a:prstGeom>
        </p:spPr>
      </p:pic>
      <p:sp>
        <p:nvSpPr>
          <p:cNvPr id="28" name="Text 20"/>
          <p:cNvSpPr/>
          <p:nvPr/>
        </p:nvSpPr>
        <p:spPr>
          <a:xfrm>
            <a:off x="1549400" y="3555802"/>
            <a:ext cx="44344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Calibri" pitchFamily="34" charset="0"/>
                <a:ea typeface="Calibri" pitchFamily="34" charset="-122"/>
                <a:cs typeface="Calibri" pitchFamily="34" charset="-120"/>
              </a:rPr>
              <a:t>Behaviour analytics</a:t>
            </a:r>
            <a:endParaRPr lang="en-US" sz="1500" dirty="0"/>
          </a:p>
        </p:txBody>
      </p:sp>
      <p:sp>
        <p:nvSpPr>
          <p:cNvPr id="29" name="Text 21"/>
          <p:cNvSpPr/>
          <p:nvPr/>
        </p:nvSpPr>
        <p:spPr>
          <a:xfrm>
            <a:off x="1549400" y="3809802"/>
            <a:ext cx="443445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Flags unusual data access</a:t>
            </a:r>
            <a:endParaRPr lang="en-US" sz="1300" dirty="0"/>
          </a:p>
        </p:txBody>
      </p:sp>
      <p:sp>
        <p:nvSpPr>
          <p:cNvPr id="30" name="Shape 22"/>
          <p:cNvSpPr/>
          <p:nvPr/>
        </p:nvSpPr>
        <p:spPr>
          <a:xfrm>
            <a:off x="6159500" y="3403402"/>
            <a:ext cx="5219700" cy="789880"/>
          </a:xfrm>
          <a:prstGeom prst="roundRect">
            <a:avLst>
              <a:gd name="adj" fmla="val 12863"/>
            </a:avLst>
          </a:prstGeom>
          <a:solidFill>
            <a:srgbClr val="13294B"/>
          </a:solidFill>
          <a:ln/>
        </p:spPr>
      </p:sp>
      <p:sp>
        <p:nvSpPr>
          <p:cNvPr id="31" name="Shape 23"/>
          <p:cNvSpPr/>
          <p:nvPr/>
        </p:nvSpPr>
        <p:spPr>
          <a:xfrm>
            <a:off x="6337300" y="3595092"/>
            <a:ext cx="406400" cy="406400"/>
          </a:xfrm>
          <a:prstGeom prst="roundRect">
            <a:avLst>
              <a:gd name="adj" fmla="val 50000"/>
            </a:avLst>
          </a:prstGeom>
          <a:solidFill>
            <a:srgbClr val="00B7C3"/>
          </a:solidFill>
          <a:ln/>
        </p:spPr>
      </p:sp>
      <p:pic>
        <p:nvPicPr>
          <p:cNvPr id="32" name="Image 6" descr="heart icon">    </p:cNvPr>
          <p:cNvPicPr>
            <a:picLocks noChangeAspect="1"/>
          </p:cNvPicPr>
          <p:nvPr/>
        </p:nvPicPr>
        <p:blipFill>
          <a:blip r:embed="rId7"/>
          <a:srcRect l="0" r="0" t="0" b="0"/>
          <a:stretch/>
        </p:blipFill>
        <p:spPr>
          <a:xfrm>
            <a:off x="6438900" y="3696692"/>
            <a:ext cx="203200" cy="203200"/>
          </a:xfrm>
          <a:prstGeom prst="rect">
            <a:avLst/>
          </a:prstGeom>
        </p:spPr>
      </p:pic>
      <p:sp>
        <p:nvSpPr>
          <p:cNvPr id="33" name="Text 24"/>
          <p:cNvSpPr/>
          <p:nvPr/>
        </p:nvSpPr>
        <p:spPr>
          <a:xfrm>
            <a:off x="6896100" y="3555802"/>
            <a:ext cx="44344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FFF"/>
                </a:solidFill>
                <a:latin typeface="Calibri" pitchFamily="34" charset="0"/>
                <a:ea typeface="Calibri" pitchFamily="34" charset="-122"/>
                <a:cs typeface="Calibri" pitchFamily="34" charset="-120"/>
              </a:rPr>
              <a:t>Speak-up culture</a:t>
            </a:r>
            <a:endParaRPr lang="en-US" sz="1500" dirty="0"/>
          </a:p>
        </p:txBody>
      </p:sp>
      <p:sp>
        <p:nvSpPr>
          <p:cNvPr id="34" name="Text 25"/>
          <p:cNvSpPr/>
          <p:nvPr/>
        </p:nvSpPr>
        <p:spPr>
          <a:xfrm>
            <a:off x="6896100" y="3809802"/>
            <a:ext cx="443445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Confidential reporting and support</a:t>
            </a:r>
            <a:endParaRPr lang="en-US" sz="1300" dirty="0"/>
          </a:p>
        </p:txBody>
      </p:sp>
      <p:sp>
        <p:nvSpPr>
          <p:cNvPr id="35" name="Text 26"/>
          <p:cNvSpPr/>
          <p:nvPr/>
        </p:nvSpPr>
        <p:spPr>
          <a:xfrm>
            <a:off x="812800" y="444728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ADCFC"/>
                </a:solidFill>
                <a:latin typeface="Calibri" pitchFamily="34" charset="0"/>
                <a:ea typeface="Calibri" pitchFamily="34" charset="-122"/>
                <a:cs typeface="Calibri" pitchFamily="34" charset="-120"/>
              </a:rPr>
              <a:t>Identity management and behaviour analytics delivered the largest cost savings in the 2026 Ponemon study.</a:t>
            </a:r>
            <a:endParaRPr lang="en-US" sz="1300" dirty="0"/>
          </a:p>
        </p:txBody>
      </p:sp>
      <p:sp>
        <p:nvSpPr>
          <p:cNvPr id="36" name="Text 2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Source: Ponemon Institute and DTEX, 2026 Cost of Insider Risks Global Report</a:t>
            </a:r>
            <a:endParaRPr lang="en-US" sz="1200" dirty="0"/>
          </a:p>
        </p:txBody>
      </p:sp>
      <p:sp>
        <p:nvSpPr>
          <p:cNvPr id="37" name="Text 28"/>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C8"/>
                </a:solidFill>
                <a:latin typeface="Calibri" pitchFamily="34" charset="0"/>
                <a:ea typeface="Calibri" pitchFamily="34" charset="-122"/>
                <a:cs typeface="Calibri" pitchFamily="34" charset="-120"/>
              </a:rPr>
              <a:t>ZNexora Tech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10 · SPEAK UP</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Made a mistake or seen something?</a:t>
            </a:r>
            <a:endParaRPr lang="en-US" sz="3600" dirty="0"/>
          </a:p>
        </p:txBody>
      </p:sp>
      <p:sp>
        <p:nvSpPr>
          <p:cNvPr id="5" name="Shape 2"/>
          <p:cNvSpPr/>
          <p:nvPr/>
        </p:nvSpPr>
        <p:spPr>
          <a:xfrm>
            <a:off x="812800" y="1569641"/>
            <a:ext cx="5181600" cy="3001963"/>
          </a:xfrm>
          <a:prstGeom prst="roundRect">
            <a:avLst>
              <a:gd name="adj" fmla="val 3384"/>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812800" y="1569641"/>
            <a:ext cx="5181600" cy="3001963"/>
          </a:xfrm>
          <a:custGeom>
            <a:avLst/>
            <a:gdLst/>
            <a:ahLst/>
            <a:cxnLst/>
            <a:rect l="l" t="t" r="r" b="b"/>
            <a:pathLst>
              <a:path w="5181600" h="3001963">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0078D4"/>
          </a:solidFill>
          <a:ln/>
        </p:spPr>
      </p:sp>
      <p:sp>
        <p:nvSpPr>
          <p:cNvPr id="7" name="Shape 4"/>
          <p:cNvSpPr/>
          <p:nvPr/>
        </p:nvSpPr>
        <p:spPr>
          <a:xfrm>
            <a:off x="1066800" y="1874441"/>
            <a:ext cx="508000" cy="508000"/>
          </a:xfrm>
          <a:prstGeom prst="roundRect">
            <a:avLst>
              <a:gd name="adj" fmla="val 50000"/>
            </a:avLst>
          </a:prstGeom>
          <a:solidFill>
            <a:srgbClr val="EAF3FC"/>
          </a:solidFill>
          <a:ln/>
        </p:spPr>
      </p:sp>
      <p:pic>
        <p:nvPicPr>
          <p:cNvPr id="8" name="Image 1" descr="mail icon">    </p:cNvPr>
          <p:cNvPicPr>
            <a:picLocks noChangeAspect="1"/>
          </p:cNvPicPr>
          <p:nvPr/>
        </p:nvPicPr>
        <p:blipFill>
          <a:blip r:embed="rId2"/>
          <a:srcRect l="0" r="0" t="0" b="0"/>
          <a:stretch/>
        </p:blipFill>
        <p:spPr>
          <a:xfrm>
            <a:off x="1193800" y="2001441"/>
            <a:ext cx="254000" cy="254000"/>
          </a:xfrm>
          <a:prstGeom prst="rect">
            <a:avLst/>
          </a:prstGeom>
        </p:spPr>
      </p:pic>
      <p:sp>
        <p:nvSpPr>
          <p:cNvPr id="9" name="Text 5"/>
          <p:cNvSpPr/>
          <p:nvPr/>
        </p:nvSpPr>
        <p:spPr>
          <a:xfrm>
            <a:off x="1066800" y="2509441"/>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3"/>
                </a:solidFill>
                <a:latin typeface="Arial" pitchFamily="34" charset="0"/>
                <a:ea typeface="Arial" pitchFamily="34" charset="-122"/>
                <a:cs typeface="Arial" pitchFamily="34" charset="-120"/>
              </a:rPr>
              <a:t>I made a mistake</a:t>
            </a:r>
            <a:endParaRPr lang="en-US" sz="2000" dirty="0"/>
          </a:p>
        </p:txBody>
      </p:sp>
      <p:sp>
        <p:nvSpPr>
          <p:cNvPr id="10" name="Text 6"/>
          <p:cNvSpPr/>
          <p:nvPr/>
        </p:nvSpPr>
        <p:spPr>
          <a:xfrm>
            <a:off x="1066800" y="2941241"/>
            <a:ext cx="481380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Sent data to the wrong person, lost a device or shared too widely.</a:t>
            </a:r>
            <a:endParaRPr lang="en-US" sz="1400" dirty="0"/>
          </a:p>
        </p:txBody>
      </p:sp>
      <p:sp>
        <p:nvSpPr>
          <p:cNvPr id="11" name="Text 7"/>
          <p:cNvSpPr/>
          <p:nvPr/>
        </p:nvSpPr>
        <p:spPr>
          <a:xfrm>
            <a:off x="1066800" y="3565922"/>
            <a:ext cx="4673600" cy="751681"/>
          </a:xfrm>
          <a:prstGeom prst="roundRect">
            <a:avLst>
              <a:gd name="adj" fmla="val 10137"/>
            </a:avLst>
          </a:prstGeom>
          <a:solidFill>
            <a:srgbClr val="EAF3FC"/>
          </a:solidFill>
          <a:ln/>
        </p:spPr>
        <p:txBody>
          <a:bodyPr wrap="square" lIns="130082" tIns="104682" rIns="0" bIns="79282" rtlCol="0" anchor="t">
            <a:normAutofit/>
          </a:bodyPr>
          <a:lstStyle/>
          <a:p>
            <a:pPr algn="l" indent="0" marL="0">
              <a:lnSpc>
                <a:spcPts val="1960"/>
              </a:lnSpc>
              <a:buNone/>
            </a:pPr>
            <a:r>
              <a:rPr lang="en-US" sz="1400" b="1" dirty="0">
                <a:solidFill>
                  <a:srgbClr val="0078D4"/>
                </a:solidFill>
                <a:latin typeface="Calibri" pitchFamily="34" charset="0"/>
                <a:ea typeface="Calibri" pitchFamily="34" charset="-122"/>
                <a:cs typeface="Calibri" pitchFamily="34" charset="-120"/>
              </a:rPr>
              <a:t>Tell IT immediately on [contact]. No blame for honest mistakes.</a:t>
            </a:r>
            <a:endParaRPr lang="en-US" sz="1400" dirty="0"/>
          </a:p>
        </p:txBody>
      </p:sp>
      <p:sp>
        <p:nvSpPr>
          <p:cNvPr id="12" name="Shape 8"/>
          <p:cNvSpPr/>
          <p:nvPr/>
        </p:nvSpPr>
        <p:spPr>
          <a:xfrm>
            <a:off x="6197600" y="1569641"/>
            <a:ext cx="5181600" cy="3001963"/>
          </a:xfrm>
          <a:prstGeom prst="roundRect">
            <a:avLst>
              <a:gd name="adj" fmla="val 3384"/>
            </a:avLst>
          </a:prstGeom>
          <a:solidFill>
            <a:srgbClr val="FFFFFF"/>
          </a:solidFill>
          <a:ln/>
          <a:effectLst>
            <a:outerShdw sx="100000" sy="100000" kx="0" ky="0" algn="bl" rotWithShape="0" blurRad="101600" dist="25400" dir="5400000">
              <a:srgbClr val="C9D6E3">
                <a:alpha val="100000"/>
              </a:srgbClr>
            </a:outerShdw>
          </a:effectLst>
        </p:spPr>
      </p:sp>
      <p:sp>
        <p:nvSpPr>
          <p:cNvPr id="13" name="Shape 9"/>
          <p:cNvSpPr/>
          <p:nvPr/>
        </p:nvSpPr>
        <p:spPr>
          <a:xfrm>
            <a:off x="6197600" y="1569641"/>
            <a:ext cx="5181600" cy="3001963"/>
          </a:xfrm>
          <a:custGeom>
            <a:avLst/>
            <a:gdLst/>
            <a:ahLst/>
            <a:cxnLst/>
            <a:rect l="l" t="t" r="r" b="b"/>
            <a:pathLst>
              <a:path w="5181600" h="3001963">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F7630C"/>
          </a:solidFill>
          <a:ln/>
        </p:spPr>
      </p:sp>
      <p:sp>
        <p:nvSpPr>
          <p:cNvPr id="14" name="Shape 10"/>
          <p:cNvSpPr/>
          <p:nvPr/>
        </p:nvSpPr>
        <p:spPr>
          <a:xfrm>
            <a:off x="6451600" y="1874441"/>
            <a:ext cx="508000" cy="508000"/>
          </a:xfrm>
          <a:prstGeom prst="roundRect">
            <a:avLst>
              <a:gd name="adj" fmla="val 50000"/>
            </a:avLst>
          </a:prstGeom>
          <a:solidFill>
            <a:srgbClr val="FDEBDD"/>
          </a:solidFill>
          <a:ln/>
        </p:spPr>
      </p:sp>
      <p:pic>
        <p:nvPicPr>
          <p:cNvPr id="15" name="Image 2" descr="eye icon">    </p:cNvPr>
          <p:cNvPicPr>
            <a:picLocks noChangeAspect="1"/>
          </p:cNvPicPr>
          <p:nvPr/>
        </p:nvPicPr>
        <p:blipFill>
          <a:blip r:embed="rId3"/>
          <a:srcRect l="0" r="0" t="0" b="0"/>
          <a:stretch/>
        </p:blipFill>
        <p:spPr>
          <a:xfrm>
            <a:off x="6578600" y="2001441"/>
            <a:ext cx="254000" cy="254000"/>
          </a:xfrm>
          <a:prstGeom prst="rect">
            <a:avLst/>
          </a:prstGeom>
        </p:spPr>
      </p:pic>
      <p:sp>
        <p:nvSpPr>
          <p:cNvPr id="16" name="Text 11"/>
          <p:cNvSpPr/>
          <p:nvPr/>
        </p:nvSpPr>
        <p:spPr>
          <a:xfrm>
            <a:off x="6451600" y="2509441"/>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3"/>
                </a:solidFill>
                <a:latin typeface="Arial" pitchFamily="34" charset="0"/>
                <a:ea typeface="Arial" pitchFamily="34" charset="-122"/>
                <a:cs typeface="Arial" pitchFamily="34" charset="-120"/>
              </a:rPr>
              <a:t>I've seen something</a:t>
            </a:r>
            <a:endParaRPr lang="en-US" sz="2000" dirty="0"/>
          </a:p>
        </p:txBody>
      </p:sp>
      <p:sp>
        <p:nvSpPr>
          <p:cNvPr id="17" name="Text 12"/>
          <p:cNvSpPr/>
          <p:nvPr/>
        </p:nvSpPr>
        <p:spPr>
          <a:xfrm>
            <a:off x="6451600" y="2941241"/>
            <a:ext cx="48138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Unusual behaviour or data handling that worries you.</a:t>
            </a:r>
            <a:endParaRPr lang="en-US" sz="1400" dirty="0"/>
          </a:p>
        </p:txBody>
      </p:sp>
      <p:sp>
        <p:nvSpPr>
          <p:cNvPr id="18" name="Text 13"/>
          <p:cNvSpPr/>
          <p:nvPr/>
        </p:nvSpPr>
        <p:spPr>
          <a:xfrm>
            <a:off x="6451600" y="3317081"/>
            <a:ext cx="4673600" cy="751681"/>
          </a:xfrm>
          <a:prstGeom prst="roundRect">
            <a:avLst>
              <a:gd name="adj" fmla="val 10137"/>
            </a:avLst>
          </a:prstGeom>
          <a:solidFill>
            <a:srgbClr val="FDEBDD"/>
          </a:solidFill>
          <a:ln/>
        </p:spPr>
        <p:txBody>
          <a:bodyPr wrap="square" lIns="130082" tIns="104682" rIns="0" bIns="79282" rtlCol="0" anchor="t">
            <a:normAutofit/>
          </a:bodyPr>
          <a:lstStyle/>
          <a:p>
            <a:pPr algn="l" indent="0" marL="0">
              <a:lnSpc>
                <a:spcPts val="1960"/>
              </a:lnSpc>
              <a:buNone/>
            </a:pPr>
            <a:r>
              <a:rPr lang="en-US" sz="1400" b="1" dirty="0">
                <a:solidFill>
                  <a:srgbClr val="C24E06"/>
                </a:solidFill>
                <a:latin typeface="Calibri" pitchFamily="34" charset="0"/>
                <a:ea typeface="Calibri" pitchFamily="34" charset="-122"/>
                <a:cs typeface="Calibri" pitchFamily="34" charset="-120"/>
              </a:rPr>
              <a:t>Report confidentially to [security / HR contact]. Don't investigate yourself.</a:t>
            </a:r>
            <a:endParaRPr lang="en-US" sz="1400" dirty="0"/>
          </a:p>
        </p:txBody>
      </p:sp>
      <p:sp>
        <p:nvSpPr>
          <p:cNvPr id="19" name="Text 1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20" name="Text 15"/>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rect">    </p:cNvPr>
          <p:cNvPicPr>
            <a:picLocks noChangeAspect="1"/>
          </p:cNvPicPr>
          <p:nvPr/>
        </p:nvPicPr>
        <p:blipFill>
          <a:blip r:embed="rId2"/>
          <a:srcRect l="0" r="0" t="0" b="0"/>
          <a:stretch/>
        </p:blipFill>
        <p:spPr>
          <a:xfrm>
            <a:off x="0" y="0"/>
            <a:ext cx="152400" cy="6858000"/>
          </a:xfrm>
          <a:prstGeom prst="rect">
            <a:avLst/>
          </a:prstGeom>
        </p:spPr>
      </p:pic>
      <p:pic>
        <p:nvPicPr>
          <p:cNvPr id="4" name="Image 2" descr="Shield protecting a group of people">    </p:cNvPr>
          <p:cNvPicPr>
            <a:picLocks noChangeAspect="1"/>
          </p:cNvPicPr>
          <p:nvPr/>
        </p:nvPicPr>
        <p:blipFill>
          <a:blip r:embed="rId3"/>
          <a:srcRect l="0" r="0" t="0" b="0"/>
          <a:stretch/>
        </p:blipFill>
        <p:spPr>
          <a:xfrm>
            <a:off x="8001000" y="1524000"/>
            <a:ext cx="3556000" cy="3810000"/>
          </a:xfrm>
          <a:prstGeom prst="rect">
            <a:avLst/>
          </a:prstGeom>
        </p:spPr>
      </p:pic>
      <p:sp>
        <p:nvSpPr>
          <p:cNvPr id="5" name="Text 0"/>
          <p:cNvSpPr/>
          <p:nvPr/>
        </p:nvSpPr>
        <p:spPr>
          <a:xfrm>
            <a:off x="812800" y="1910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0B7C3"/>
                </a:solidFill>
                <a:latin typeface="Calibri" pitchFamily="34" charset="0"/>
                <a:ea typeface="Calibri" pitchFamily="34" charset="-122"/>
                <a:cs typeface="Calibri" pitchFamily="34" charset="-120"/>
              </a:rPr>
              <a:t>QUESTIONS AND DISCUSSION</a:t>
            </a:r>
            <a:endParaRPr lang="en-US" sz="1400" dirty="0"/>
          </a:p>
        </p:txBody>
      </p:sp>
      <p:sp>
        <p:nvSpPr>
          <p:cNvPr id="6" name="Text 1"/>
          <p:cNvSpPr/>
          <p:nvPr>
            <p:ph type="title"/>
          </p:nvPr>
        </p:nvSpPr>
        <p:spPr>
          <a:xfrm>
            <a:off x="812800" y="2413000"/>
            <a:ext cx="6932930" cy="141208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FFFFF"/>
                </a:solidFill>
                <a:latin typeface="Arial" pitchFamily="34" charset="0"/>
                <a:ea typeface="Arial" pitchFamily="34" charset="-122"/>
                <a:cs typeface="Arial" pitchFamily="34" charset="-120"/>
              </a:rPr>
              <a:t>Security starts with the people inside.</a:t>
            </a:r>
            <a:endParaRPr lang="en-US" sz="5200" dirty="0"/>
          </a:p>
        </p:txBody>
      </p:sp>
      <p:sp>
        <p:nvSpPr>
          <p:cNvPr id="7" name="Text 2"/>
          <p:cNvSpPr/>
          <p:nvPr/>
        </p:nvSpPr>
        <p:spPr>
          <a:xfrm>
            <a:off x="812800" y="4053681"/>
            <a:ext cx="71882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Handle data with care. Report mistakes fast. Speak up.</a:t>
            </a:r>
            <a:endParaRPr lang="en-US" sz="2000" dirty="0"/>
          </a:p>
        </p:txBody>
      </p:sp>
      <p:sp>
        <p:nvSpPr>
          <p:cNvPr id="8" name="Text 3"/>
          <p:cNvSpPr/>
          <p:nvPr/>
        </p:nvSpPr>
        <p:spPr>
          <a:xfrm>
            <a:off x="812800" y="466328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3C8"/>
                </a:solidFill>
                <a:latin typeface="Calibri" pitchFamily="34" charset="0"/>
                <a:ea typeface="Calibri" pitchFamily="34" charset="-122"/>
                <a:cs typeface="Calibri" pitchFamily="34" charset="-120"/>
              </a:rPr>
              <a:t>Thank you · Presented by ZNexora Tech</a:t>
            </a:r>
            <a:endParaRPr lang="en-US" sz="1600" dirty="0"/>
          </a:p>
        </p:txBody>
      </p:sp>
    </p:spTree>
  </p:cSld>
  <p:clrMapOvr>
    <a:masterClrMapping/>
  </p:clrMapOvr>
</p:sld>
</file>

<file path=ppt/theme/theme1.xml><?xml version="1.0" encoding="utf-8"?>
<a:theme xmlns:a="http://schemas.openxmlformats.org/drawingml/2006/main" name="Insider Threats: When the Risk Is Already Inside">
  <a:themeElements>
    <a:clrScheme name="Insider Threats: When the Risk Is Already Inside">
      <a:dk1>
        <a:srgbClr val="0B1F33"/>
      </a:dk1>
      <a:lt1>
        <a:srgbClr val="F4F7FB"/>
      </a:lt1>
      <a:dk2>
        <a:srgbClr val="455565"/>
      </a:dk2>
      <a:lt2>
        <a:srgbClr val="DDE1E7"/>
      </a:lt2>
      <a:accent1>
        <a:srgbClr val="0078D4"/>
      </a:accent1>
      <a:accent2>
        <a:srgbClr val="CADCFC"/>
      </a:accent2>
      <a:accent3>
        <a:srgbClr val="00B7C3"/>
      </a:accent3>
      <a:accent4>
        <a:srgbClr val="9FB3C8"/>
      </a:accent4>
      <a:accent5>
        <a:srgbClr val="F7630C"/>
      </a:accent5>
      <a:accent6>
        <a:srgbClr val="FF9A5C"/>
      </a:accent6>
      <a:hlink>
        <a:srgbClr val="0563C1"/>
      </a:hlink>
      <a:folHlink>
        <a:srgbClr val="954F72"/>
      </a:folHlink>
    </a:clrScheme>
    <a:fontScheme name="Insider Threats: When the Risk Is Already Insid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Insider Threats: When the Risk Is Already Inside</dc:title>
  <dc:subject/>
  <dc:creator/>
  <cp:lastModifiedBy/>
  <cp:revision>1</cp:revision>
  <dcterms:created xsi:type="dcterms:W3CDTF">2026-10-16T14:08:23Z</dcterms:created>
  <dcterms:modified xsi:type="dcterms:W3CDTF">2026-10-16T14:08:23Z</dcterms:modified>
</cp:coreProperties>
</file>