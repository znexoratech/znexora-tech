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and thanks for joining. I'm [Presenter] from [Organisation name / IT team]. Today we're talking about phishing, the most common way cybercriminals try to break into organisations like ours. Phishing doesn't target our computers first. It targets people. So in the next ten minutes, I'll show you how phishing works, how to spot it in emails, links, texts and calls, and exactly what to do if something looks wrong. Our message today is simple: spot it, stop it, report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1:30] So what exactly is phishing? Phishing is a message that pretends to come from someone you trust, like your bank, a colleague, a delivery company or even our own IT team, to trick you into taking an action. That action might be clicking a link, opening an attachment, entering your password on a fake login page, or sending money. The image here shows a typical fake login page. It looks just like the real thing, but the web address is slightly different. The important thing to understand is that phishing targets people, not technology. It plays on our trust, our curiosity and our desire to be helpful. That means anyone can be fooled, no matter how experienced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2:40] Phishing comes in many forms. The most familiar is email phishing: mass emails pretending to be from well-known brands, banks or delivery services. Spear phishing is more dangerous because it's tailored. The attacker researches you, uses your name, your role, even real projects or colleagues, to make the message believable. Smishing is phishing by SMS or messaging apps, such as a text saying a parcel is held or your bank account is locked. Vishing is voice phishing: a phone call from someone pretending to be IT support, your bank, or an official. QR code phishing uses codes on posters, flyers or emails that take you to a fake website. And business email compromise is when an attacker pretends to be a manager, executive or supplier and asks for an urgent payment or a change to bank details. Different channels, same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3:20] Why do attackers bother? There are three main things they want from you. First, your login details: usernames, passwords and even the one-time MFA codes sent to your phone. With those, they can read your email, access our files and systems, and launch further attacks from your account. Second, money: fake invoices, changed supplier bank details, requests to buy gift cards, or urgent transfers. And third, a way in. One malicious attachment or download can install malware or ransomware that spreads across our whole network. Keep these three goals in mind. If a message is asking for your credentials, money, or for you to open something unexpected, that's your cue to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 – 4:40] Let's dissect a real-looking phishing email. Number one: the sender. The display name says Microsoft 365 Team, but look at the actual address: micr0soft with a zero, on a domain that has nothing to do with Microsoft. Always check the address, not just the name. Number two: urgency and threats. Final notice, mailbox deleted in 24 hours. Pressure is the attacker's favourite tool, because it stops us thinking. Number three: a generic greeting. Dear Valued User. Services you actually use normally know your name. Number four: the link. The button says Confirm account, but when you hover your mouse over it, the real destination appears, and it's a completely different website. And number five: an unexpected attachment. HTML files, zip files and documents asking you to enable macros are common traps. One of these signs is enough to stop and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5:40] Links are where most phishing succeeds, so let's learn to read them. The trick is to find the real domain: the part just before the first single slash. In the first example, the domain is yourbank.com, so this is genuine. The second one is sneaky. It starts with yourbank.com, but keep reading. The real domain is secure-login.net. Everything before it is just decoration the attacker controls. The third example replaces the letter o with a zero, which is easy to miss at a glance. And the fourth adds extra words and uses a different ending, dot co instead of dot com. Before you click, hover your mouse over the link on a computer, or press and hold on a phone, to see where it really goes. If in doubt, don't click. Type the address you know yourself, or use the official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 6:30] Phishing isn't limited to email. Here's a typical smishing text: a parcel couldn't be delivered, pay a small fee at this link. It's cheap, it's urgent, and the link goes to a fake site that steals your card details. With texts, don't tap links you weren't expecting. Open the official app or type the website yourself. With phone calls, attackers may pretend to be IT support, your bank or even a senior manager. If a caller asks for your password, an MFA code, or remote access to your computer, hang up and call back on a number you already trust. Our IT team will never ask for your password. And with QR codes, check the web address that appears before you enter any information, and watch out for stickers placed over genuine codes on posters or parking 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7:00] If you remember only one thing today, make it this: Stop. Check. Report. Stop before you click, reply, or pay. Check the sender, the link and the request, ideally through a separate channel, like calling the person on a number you already know. And report anything suspicious to IT. If something feels off, it probably is, and trusting that instinct is exactly what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 8:00] Mistakes happen, even to security professionals. What matters is what you do next. One: stop. Don't enter any more information, and close the page. Two: report it to IT immediately on [contact]. The faster we know, the faster we can lock the account, block the site, and protect everyone else. Three: change your password, from a device you trust, and change it anywhere else you used the same password. Four: if you opened an attachment, follow IT's advice. They may ask you to disconnect from the network while they check your device. And five: watch for warning signs, like MFA prompts you didn't request or sent emails you don't recognise. Please remember: you will never be blamed for reporting. The only real mistake is staying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 9:00] Here are six simple habits that beat phishing. One: pause on urgency. Whenever a message pressures you to act now, that's your signal to slow down. Two: verify another way. If your manager emails asking for an urgent payment, call them on a number you already know. Don't reply to the email. Three: hover before you click, and check where every link really goes. Four: use multi-factor authentication, and never share or approve a code or login prompt you didn't request yourself. Five: use unique passwords for every account. A password manager makes this easy, and it won't autofill on a fake site. And six: report, don't just delete. When you report a phishing email, IT can remove it from everyone's inbox and block the sender. Your report protects your colleagues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9:35] So how do you report? The easiest way is the Report Phishing button in your email toolbar, called [button name] in our system. One click sends it to the security team, and they can remove it from everyone's inbox. You can also forward suspicious emails to [security@...]. And if you've already clicked a link or entered details, don't just report the email. Call IT straight away on [extension]. Please report even when you're not sure. A false alarm costs us nothing. A missed attack can cost us a great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 – 10:00] To wrap up: phishing works by rushing us and exploiting our trust. Our best defence is a few seconds of thought. Think before you click. Stop, check, and report. Every report helps protect all of us, and nobody will ever be blamed for reporting something suspicious. Thank you for your time.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A1628"/>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A1628"/>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A1628"/>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A1628"/>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An email envelope caught on a fishing hook above a laptop">    </p:cNvPr>
          <p:cNvPicPr>
            <a:picLocks noChangeAspect="1"/>
          </p:cNvPicPr>
          <p:nvPr/>
        </p:nvPicPr>
        <p:blipFill>
          <a:blip r:embed="rId2"/>
          <a:srcRect l="0" r="0" t="0" b="0"/>
          <a:stretch/>
        </p:blipFill>
        <p:spPr>
          <a:xfrm>
            <a:off x="7366000" y="1143000"/>
            <a:ext cx="4318000" cy="4572000"/>
          </a:xfrm>
          <a:prstGeom prst="rect">
            <a:avLst/>
          </a:prstGeom>
        </p:spPr>
      </p:pic>
      <p:sp>
        <p:nvSpPr>
          <p:cNvPr id="4" name="Text 0"/>
          <p:cNvSpPr/>
          <p:nvPr/>
        </p:nvSpPr>
        <p:spPr>
          <a:xfrm>
            <a:off x="812800" y="16547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00B7C3"/>
                </a:solidFill>
                <a:latin typeface="Calibri" pitchFamily="34" charset="0"/>
                <a:ea typeface="Calibri" pitchFamily="34" charset="-122"/>
                <a:cs typeface="Calibri" pitchFamily="34" charset="-120"/>
              </a:rPr>
              <a:t>ZNEXORA TECH | SECURITY BRIEFING</a:t>
            </a:r>
            <a:endParaRPr lang="en-US" sz="1600" dirty="0"/>
          </a:p>
        </p:txBody>
      </p:sp>
      <p:sp>
        <p:nvSpPr>
          <p:cNvPr id="5" name="Text 1"/>
          <p:cNvSpPr/>
          <p:nvPr>
            <p:ph type="title"/>
          </p:nvPr>
        </p:nvSpPr>
        <p:spPr>
          <a:xfrm>
            <a:off x="812800" y="2193230"/>
            <a:ext cx="6540500"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7FB"/>
                </a:solidFill>
                <a:latin typeface="Arial" pitchFamily="34" charset="0"/>
                <a:ea typeface="Arial" pitchFamily="34" charset="-122"/>
                <a:cs typeface="Arial" pitchFamily="34" charset="-120"/>
              </a:rPr>
              <a:t>Phishing:</a:t>
            </a:r>
            <a:endParaRPr lang="en-US" sz="6000" dirty="0"/>
          </a:p>
          <a:p>
            <a:pPr algn="l" indent="0" marL="0">
              <a:lnSpc>
                <a:spcPts val="6300"/>
              </a:lnSpc>
              <a:buNone/>
            </a:pPr>
            <a:r>
              <a:rPr lang="en-US" sz="6000" b="1" i="0" dirty="0">
                <a:solidFill>
                  <a:srgbClr val="F4F7FB"/>
                </a:solidFill>
                <a:latin typeface="Arial" pitchFamily="34" charset="0"/>
                <a:ea typeface="Arial" pitchFamily="34" charset="-122"/>
                <a:cs typeface="Arial" pitchFamily="34" charset="-120"/>
              </a:rPr>
              <a:t>Don't Take</a:t>
            </a:r>
            <a:endParaRPr lang="en-US" sz="6000" dirty="0"/>
          </a:p>
          <a:p>
            <a:pPr algn="l" indent="0" marL="0">
              <a:lnSpc>
                <a:spcPts val="6300"/>
              </a:lnSpc>
              <a:buNone/>
            </a:pPr>
            <a:r>
              <a:rPr lang="en-US" sz="6000" b="1" i="0" dirty="0">
                <a:solidFill>
                  <a:srgbClr val="F4F7FB"/>
                </a:solidFill>
                <a:latin typeface="Arial" pitchFamily="34" charset="0"/>
                <a:ea typeface="Arial" pitchFamily="34" charset="-122"/>
                <a:cs typeface="Arial" pitchFamily="34" charset="-120"/>
              </a:rPr>
              <a:t>the Bait</a:t>
            </a:r>
            <a:endParaRPr lang="en-US" sz="6000" dirty="0"/>
          </a:p>
        </p:txBody>
      </p:sp>
      <p:sp>
        <p:nvSpPr>
          <p:cNvPr id="6" name="Text 2"/>
          <p:cNvSpPr/>
          <p:nvPr/>
        </p:nvSpPr>
        <p:spPr>
          <a:xfrm>
            <a:off x="812800" y="4847530"/>
            <a:ext cx="627888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Spot it. Stop it. Report it.</a:t>
            </a:r>
            <a:endParaRPr lang="en-US" sz="2000" dirty="0"/>
          </a:p>
        </p:txBody>
      </p:sp>
      <p:sp>
        <p:nvSpPr>
          <p:cNvPr id="7"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01 · UNDERSTANDING THE THREAT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What is phishing?</a:t>
            </a:r>
            <a:endParaRPr lang="en-US" sz="3600" dirty="0"/>
          </a:p>
        </p:txBody>
      </p:sp>
      <p:sp>
        <p:nvSpPr>
          <p:cNvPr id="5" name="Text 2"/>
          <p:cNvSpPr/>
          <p:nvPr/>
        </p:nvSpPr>
        <p:spPr>
          <a:xfrm>
            <a:off x="812800" y="2152749"/>
            <a:ext cx="6540500" cy="1305322"/>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0A1628"/>
                </a:solidFill>
                <a:latin typeface="Arial" pitchFamily="34" charset="0"/>
                <a:ea typeface="Arial" pitchFamily="34" charset="-122"/>
                <a:cs typeface="Arial" pitchFamily="34" charset="-120"/>
              </a:rPr>
              <a:t>A message that </a:t>
            </a:r>
            <a:r>
              <a:rPr lang="en-US" sz="2800" b="1" dirty="0">
                <a:solidFill>
                  <a:srgbClr val="0078D4"/>
                </a:solidFill>
                <a:latin typeface="Arial" pitchFamily="34" charset="0"/>
                <a:ea typeface="Arial" pitchFamily="34" charset="-122"/>
                <a:cs typeface="Arial" pitchFamily="34" charset="-120"/>
              </a:rPr>
              <a:t>pretends to be someone you trust</a:t>
            </a:r>
            <a:r>
              <a:rPr lang="en-US" sz="2800" b="1" dirty="0">
                <a:solidFill>
                  <a:srgbClr val="0A1628"/>
                </a:solidFill>
                <a:latin typeface="Arial" pitchFamily="34" charset="0"/>
                <a:ea typeface="Arial" pitchFamily="34" charset="-122"/>
                <a:cs typeface="Arial" pitchFamily="34" charset="-120"/>
              </a:rPr>
              <a:t> to trick you into acting.</a:t>
            </a:r>
            <a:endParaRPr lang="en-US" sz="2800" dirty="0"/>
          </a:p>
        </p:txBody>
      </p:sp>
      <p:sp>
        <p:nvSpPr>
          <p:cNvPr id="6" name="Shape 3"/>
          <p:cNvSpPr/>
          <p:nvPr/>
        </p:nvSpPr>
        <p:spPr>
          <a:xfrm>
            <a:off x="812800" y="3635871"/>
            <a:ext cx="6350000" cy="835620"/>
          </a:xfrm>
          <a:prstGeom prst="roundRect">
            <a:avLst>
              <a:gd name="adj" fmla="val 12159"/>
            </a:avLst>
          </a:prstGeom>
          <a:solidFill>
            <a:srgbClr val="EAF3FC"/>
          </a:solidFill>
          <a:ln/>
        </p:spPr>
      </p:sp>
      <p:pic>
        <p:nvPicPr>
          <p:cNvPr id="7" name="Image 1" descr="mouse pointer click icon">    </p:cNvPr>
          <p:cNvPicPr>
            <a:picLocks noChangeAspect="1"/>
          </p:cNvPicPr>
          <p:nvPr/>
        </p:nvPicPr>
        <p:blipFill>
          <a:blip r:embed="rId2"/>
          <a:srcRect l="0" r="0" t="-1406" b="-1406"/>
          <a:stretch/>
        </p:blipFill>
        <p:spPr>
          <a:xfrm>
            <a:off x="1041400" y="3913981"/>
            <a:ext cx="271760" cy="279400"/>
          </a:xfrm>
          <a:prstGeom prst="rect">
            <a:avLst/>
          </a:prstGeom>
        </p:spPr>
      </p:pic>
      <p:sp>
        <p:nvSpPr>
          <p:cNvPr id="8" name="Text 4"/>
          <p:cNvSpPr/>
          <p:nvPr/>
        </p:nvSpPr>
        <p:spPr>
          <a:xfrm>
            <a:off x="1465560" y="3813671"/>
            <a:ext cx="563269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1628"/>
                </a:solidFill>
                <a:latin typeface="Calibri" pitchFamily="34" charset="0"/>
                <a:ea typeface="Calibri" pitchFamily="34" charset="-122"/>
                <a:cs typeface="Calibri" pitchFamily="34" charset="-120"/>
              </a:rPr>
              <a:t>Clicking a link, opening a file, </a:t>
            </a:r>
            <a:r>
              <a:rPr lang="en-US" sz="1400" b="1" dirty="0">
                <a:solidFill>
                  <a:srgbClr val="0A1628"/>
                </a:solidFill>
                <a:latin typeface="Calibri" pitchFamily="34" charset="0"/>
                <a:ea typeface="Calibri" pitchFamily="34" charset="-122"/>
                <a:cs typeface="Calibri" pitchFamily="34" charset="-120"/>
              </a:rPr>
              <a:t>sharing a password</a:t>
            </a:r>
            <a:r>
              <a:rPr lang="en-US" sz="1400" dirty="0">
                <a:solidFill>
                  <a:srgbClr val="0A1628"/>
                </a:solidFill>
                <a:latin typeface="Calibri" pitchFamily="34" charset="0"/>
                <a:ea typeface="Calibri" pitchFamily="34" charset="-122"/>
                <a:cs typeface="Calibri" pitchFamily="34" charset="-120"/>
              </a:rPr>
              <a:t> or </a:t>
            </a:r>
            <a:r>
              <a:rPr lang="en-US" sz="1400" b="1" dirty="0">
                <a:solidFill>
                  <a:srgbClr val="0A1628"/>
                </a:solidFill>
                <a:latin typeface="Calibri" pitchFamily="34" charset="0"/>
                <a:ea typeface="Calibri" pitchFamily="34" charset="-122"/>
                <a:cs typeface="Calibri" pitchFamily="34" charset="-120"/>
              </a:rPr>
              <a:t>sending money</a:t>
            </a:r>
            <a:r>
              <a:rPr lang="en-US" sz="1400" dirty="0">
                <a:solidFill>
                  <a:srgbClr val="0A1628"/>
                </a:solidFill>
                <a:latin typeface="Calibri" pitchFamily="34" charset="0"/>
                <a:ea typeface="Calibri" pitchFamily="34" charset="-122"/>
                <a:cs typeface="Calibri" pitchFamily="34" charset="-120"/>
              </a:rPr>
              <a:t>.</a:t>
            </a:r>
            <a:endParaRPr lang="en-US" sz="1400" dirty="0"/>
          </a:p>
        </p:txBody>
      </p:sp>
      <p:sp>
        <p:nvSpPr>
          <p:cNvPr id="9" name="Shape 5"/>
          <p:cNvSpPr/>
          <p:nvPr/>
        </p:nvSpPr>
        <p:spPr>
          <a:xfrm>
            <a:off x="812800" y="4674691"/>
            <a:ext cx="6350000" cy="635000"/>
          </a:xfrm>
          <a:prstGeom prst="roundRect">
            <a:avLst>
              <a:gd name="adj" fmla="val 16000"/>
            </a:avLst>
          </a:prstGeom>
          <a:solidFill>
            <a:srgbClr val="EAF3FC"/>
          </a:solidFill>
          <a:ln/>
        </p:spPr>
      </p:sp>
      <p:pic>
        <p:nvPicPr>
          <p:cNvPr id="10" name="Image 2" descr="users icon">    </p:cNvPr>
          <p:cNvPicPr>
            <a:picLocks noChangeAspect="1"/>
          </p:cNvPicPr>
          <p:nvPr/>
        </p:nvPicPr>
        <p:blipFill>
          <a:blip r:embed="rId3"/>
          <a:srcRect l="0" r="0" t="0" b="0"/>
          <a:stretch/>
        </p:blipFill>
        <p:spPr>
          <a:xfrm>
            <a:off x="1041400" y="4852491"/>
            <a:ext cx="279400" cy="279400"/>
          </a:xfrm>
          <a:prstGeom prst="rect">
            <a:avLst/>
          </a:prstGeom>
        </p:spPr>
      </p:pic>
      <p:sp>
        <p:nvSpPr>
          <p:cNvPr id="11" name="Text 6"/>
          <p:cNvSpPr/>
          <p:nvPr/>
        </p:nvSpPr>
        <p:spPr>
          <a:xfrm>
            <a:off x="1473200" y="4872137"/>
            <a:ext cx="557057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1628"/>
                </a:solidFill>
                <a:latin typeface="Calibri" pitchFamily="34" charset="0"/>
                <a:ea typeface="Calibri" pitchFamily="34" charset="-122"/>
                <a:cs typeface="Calibri" pitchFamily="34" charset="-120"/>
              </a:rPr>
              <a:t>It targets </a:t>
            </a:r>
            <a:r>
              <a:rPr lang="en-US" sz="1400" b="1" dirty="0">
                <a:solidFill>
                  <a:srgbClr val="0A1628"/>
                </a:solidFill>
                <a:latin typeface="Calibri" pitchFamily="34" charset="0"/>
                <a:ea typeface="Calibri" pitchFamily="34" charset="-122"/>
                <a:cs typeface="Calibri" pitchFamily="34" charset="-120"/>
              </a:rPr>
              <a:t>people</a:t>
            </a:r>
            <a:r>
              <a:rPr lang="en-US" sz="1400" dirty="0">
                <a:solidFill>
                  <a:srgbClr val="0A1628"/>
                </a:solidFill>
                <a:latin typeface="Calibri" pitchFamily="34" charset="0"/>
                <a:ea typeface="Calibri" pitchFamily="34" charset="-122"/>
                <a:cs typeface="Calibri" pitchFamily="34" charset="-120"/>
              </a:rPr>
              <a:t>, not technology, so anyone can be fooled.</a:t>
            </a:r>
            <a:endParaRPr lang="en-US" sz="1400" dirty="0"/>
          </a:p>
        </p:txBody>
      </p:sp>
      <p:pic>
        <p:nvPicPr>
          <p:cNvPr id="12" name="Image 3" descr="Fake login page in a browser with a look-alike web address and a hook">    </p:cNvPr>
          <p:cNvPicPr>
            <a:picLocks noChangeAspect="1"/>
          </p:cNvPicPr>
          <p:nvPr/>
        </p:nvPicPr>
        <p:blipFill>
          <a:blip r:embed="rId4"/>
          <a:srcRect l="0" r="0" t="0" b="0"/>
          <a:stretch/>
        </p:blipFill>
        <p:spPr>
          <a:xfrm>
            <a:off x="7569200" y="1953220"/>
            <a:ext cx="3810000" cy="3556000"/>
          </a:xfrm>
          <a:prstGeom prst="rect">
            <a:avLst/>
          </a:prstGeom>
        </p:spPr>
      </p:pic>
      <p:sp>
        <p:nvSpPr>
          <p:cNvPr id="13"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14" name="Text 8"/>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02 · KNOW THE TACTICS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Phishing comes in many forms</a:t>
            </a:r>
            <a:endParaRPr lang="en-US" sz="3600" dirty="0"/>
          </a:p>
        </p:txBody>
      </p:sp>
      <p:sp>
        <p:nvSpPr>
          <p:cNvPr id="5" name="Shape 2"/>
          <p:cNvSpPr/>
          <p:nvPr/>
        </p:nvSpPr>
        <p:spPr>
          <a:xfrm>
            <a:off x="812800" y="3048298"/>
            <a:ext cx="3403600" cy="1178421"/>
          </a:xfrm>
          <a:prstGeom prst="roundRect">
            <a:avLst>
              <a:gd name="adj" fmla="val 8622"/>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Envelope">    </p:cNvPr>
          <p:cNvPicPr>
            <a:picLocks noChangeAspect="1"/>
          </p:cNvPicPr>
          <p:nvPr/>
        </p:nvPicPr>
        <p:blipFill>
          <a:blip r:embed="rId2"/>
          <a:srcRect l="0" r="0" t="0" b="0"/>
          <a:stretch/>
        </p:blipFill>
        <p:spPr>
          <a:xfrm>
            <a:off x="1016000" y="3251498"/>
            <a:ext cx="508000" cy="508000"/>
          </a:xfrm>
          <a:prstGeom prst="rect">
            <a:avLst/>
          </a:prstGeom>
        </p:spPr>
      </p:pic>
      <p:sp>
        <p:nvSpPr>
          <p:cNvPr id="7" name="Text 3"/>
          <p:cNvSpPr/>
          <p:nvPr/>
        </p:nvSpPr>
        <p:spPr>
          <a:xfrm>
            <a:off x="1676400" y="3251498"/>
            <a:ext cx="240690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Email phishing</a:t>
            </a:r>
            <a:endParaRPr lang="en-US" sz="1700" dirty="0"/>
          </a:p>
        </p:txBody>
      </p:sp>
      <p:sp>
        <p:nvSpPr>
          <p:cNvPr id="8" name="Text 4"/>
          <p:cNvSpPr/>
          <p:nvPr/>
        </p:nvSpPr>
        <p:spPr>
          <a:xfrm>
            <a:off x="1676400" y="3561358"/>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Mass emails posing as trusted brands.</a:t>
            </a:r>
            <a:endParaRPr lang="en-US" sz="1300" dirty="0"/>
          </a:p>
        </p:txBody>
      </p:sp>
      <p:sp>
        <p:nvSpPr>
          <p:cNvPr id="9" name="Shape 5"/>
          <p:cNvSpPr/>
          <p:nvPr/>
        </p:nvSpPr>
        <p:spPr>
          <a:xfrm>
            <a:off x="4394200" y="3048298"/>
            <a:ext cx="3403600" cy="1178421"/>
          </a:xfrm>
          <a:prstGeom prst="roundRect">
            <a:avLst>
              <a:gd name="adj" fmla="val 8622"/>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Target">    </p:cNvPr>
          <p:cNvPicPr>
            <a:picLocks noChangeAspect="1"/>
          </p:cNvPicPr>
          <p:nvPr/>
        </p:nvPicPr>
        <p:blipFill>
          <a:blip r:embed="rId3"/>
          <a:srcRect l="0" r="0" t="0" b="0"/>
          <a:stretch/>
        </p:blipFill>
        <p:spPr>
          <a:xfrm>
            <a:off x="4597400" y="3251498"/>
            <a:ext cx="508000" cy="508000"/>
          </a:xfrm>
          <a:prstGeom prst="rect">
            <a:avLst/>
          </a:prstGeom>
        </p:spPr>
      </p:pic>
      <p:sp>
        <p:nvSpPr>
          <p:cNvPr id="11" name="Text 6"/>
          <p:cNvSpPr/>
          <p:nvPr/>
        </p:nvSpPr>
        <p:spPr>
          <a:xfrm>
            <a:off x="5257800" y="3251498"/>
            <a:ext cx="240690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Spear phishing</a:t>
            </a:r>
            <a:endParaRPr lang="en-US" sz="1700" dirty="0"/>
          </a:p>
        </p:txBody>
      </p:sp>
      <p:sp>
        <p:nvSpPr>
          <p:cNvPr id="12" name="Text 7"/>
          <p:cNvSpPr/>
          <p:nvPr/>
        </p:nvSpPr>
        <p:spPr>
          <a:xfrm>
            <a:off x="5257800" y="3561358"/>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Tailored messages aimed at you by name.</a:t>
            </a:r>
            <a:endParaRPr lang="en-US" sz="1300" dirty="0"/>
          </a:p>
        </p:txBody>
      </p:sp>
      <p:sp>
        <p:nvSpPr>
          <p:cNvPr id="13" name="Shape 8"/>
          <p:cNvSpPr/>
          <p:nvPr/>
        </p:nvSpPr>
        <p:spPr>
          <a:xfrm>
            <a:off x="7975600" y="3048298"/>
            <a:ext cx="3403600" cy="1178421"/>
          </a:xfrm>
          <a:prstGeom prst="roundRect">
            <a:avLst>
              <a:gd name="adj" fmla="val 8622"/>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Text message">    </p:cNvPr>
          <p:cNvPicPr>
            <a:picLocks noChangeAspect="1"/>
          </p:cNvPicPr>
          <p:nvPr/>
        </p:nvPicPr>
        <p:blipFill>
          <a:blip r:embed="rId4"/>
          <a:srcRect l="0" r="0" t="0" b="0"/>
          <a:stretch/>
        </p:blipFill>
        <p:spPr>
          <a:xfrm>
            <a:off x="8178800" y="3251498"/>
            <a:ext cx="508000" cy="508000"/>
          </a:xfrm>
          <a:prstGeom prst="rect">
            <a:avLst/>
          </a:prstGeom>
        </p:spPr>
      </p:pic>
      <p:sp>
        <p:nvSpPr>
          <p:cNvPr id="15" name="Text 9"/>
          <p:cNvSpPr/>
          <p:nvPr/>
        </p:nvSpPr>
        <p:spPr>
          <a:xfrm>
            <a:off x="8839200" y="3251498"/>
            <a:ext cx="240690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Smishing</a:t>
            </a:r>
            <a:endParaRPr lang="en-US" sz="1700" dirty="0"/>
          </a:p>
        </p:txBody>
      </p:sp>
      <p:sp>
        <p:nvSpPr>
          <p:cNvPr id="16" name="Text 10"/>
          <p:cNvSpPr/>
          <p:nvPr/>
        </p:nvSpPr>
        <p:spPr>
          <a:xfrm>
            <a:off x="8839200" y="3561358"/>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Fake text messages, like parcel or bank alerts.</a:t>
            </a:r>
            <a:endParaRPr lang="en-US" sz="1300" dirty="0"/>
          </a:p>
        </p:txBody>
      </p:sp>
      <p:sp>
        <p:nvSpPr>
          <p:cNvPr id="17" name="Shape 11"/>
          <p:cNvSpPr/>
          <p:nvPr/>
        </p:nvSpPr>
        <p:spPr>
          <a:xfrm>
            <a:off x="812800" y="4404519"/>
            <a:ext cx="3403600" cy="1437481"/>
          </a:xfrm>
          <a:prstGeom prst="roundRect">
            <a:avLst>
              <a:gd name="adj" fmla="val 7068"/>
            </a:avLst>
          </a:prstGeom>
          <a:solidFill>
            <a:srgbClr val="FFFFFF"/>
          </a:solidFill>
          <a:ln/>
          <a:effectLst>
            <a:outerShdw sx="100000" sy="100000" kx="0" ky="0" algn="bl" rotWithShape="0" blurRad="101600" dist="25400" dir="5400000">
              <a:srgbClr val="C9D6E3">
                <a:alpha val="100000"/>
              </a:srgbClr>
            </a:outerShdw>
          </a:effectLst>
        </p:spPr>
      </p:sp>
      <p:pic>
        <p:nvPicPr>
          <p:cNvPr id="18" name="Image 4" descr="Phone call">    </p:cNvPr>
          <p:cNvPicPr>
            <a:picLocks noChangeAspect="1"/>
          </p:cNvPicPr>
          <p:nvPr/>
        </p:nvPicPr>
        <p:blipFill>
          <a:blip r:embed="rId5"/>
          <a:srcRect l="0" r="0" t="0" b="0"/>
          <a:stretch/>
        </p:blipFill>
        <p:spPr>
          <a:xfrm>
            <a:off x="1016000" y="4607719"/>
            <a:ext cx="508000" cy="508000"/>
          </a:xfrm>
          <a:prstGeom prst="rect">
            <a:avLst/>
          </a:prstGeom>
        </p:spPr>
      </p:pic>
      <p:sp>
        <p:nvSpPr>
          <p:cNvPr id="19" name="Text 12"/>
          <p:cNvSpPr/>
          <p:nvPr/>
        </p:nvSpPr>
        <p:spPr>
          <a:xfrm>
            <a:off x="1676400" y="4607719"/>
            <a:ext cx="240690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Vishing</a:t>
            </a:r>
            <a:endParaRPr lang="en-US" sz="1700" dirty="0"/>
          </a:p>
        </p:txBody>
      </p:sp>
      <p:sp>
        <p:nvSpPr>
          <p:cNvPr id="20" name="Text 13"/>
          <p:cNvSpPr/>
          <p:nvPr/>
        </p:nvSpPr>
        <p:spPr>
          <a:xfrm>
            <a:off x="1676400" y="4917579"/>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Phone calls pretending to be IT, banks or officials.</a:t>
            </a:r>
            <a:endParaRPr lang="en-US" sz="1300" dirty="0"/>
          </a:p>
        </p:txBody>
      </p:sp>
      <p:sp>
        <p:nvSpPr>
          <p:cNvPr id="21" name="Shape 14"/>
          <p:cNvSpPr/>
          <p:nvPr/>
        </p:nvSpPr>
        <p:spPr>
          <a:xfrm>
            <a:off x="4394200" y="4404519"/>
            <a:ext cx="3403600" cy="1437481"/>
          </a:xfrm>
          <a:prstGeom prst="roundRect">
            <a:avLst>
              <a:gd name="adj" fmla="val 7068"/>
            </a:avLst>
          </a:prstGeom>
          <a:solidFill>
            <a:srgbClr val="FFFFFF"/>
          </a:solidFill>
          <a:ln/>
          <a:effectLst>
            <a:outerShdw sx="100000" sy="100000" kx="0" ky="0" algn="bl" rotWithShape="0" blurRad="101600" dist="25400" dir="5400000">
              <a:srgbClr val="C9D6E3">
                <a:alpha val="100000"/>
              </a:srgbClr>
            </a:outerShdw>
          </a:effectLst>
        </p:spPr>
      </p:sp>
      <p:pic>
        <p:nvPicPr>
          <p:cNvPr id="22" name="Image 5" descr="QR code">    </p:cNvPr>
          <p:cNvPicPr>
            <a:picLocks noChangeAspect="1"/>
          </p:cNvPicPr>
          <p:nvPr/>
        </p:nvPicPr>
        <p:blipFill>
          <a:blip r:embed="rId6"/>
          <a:srcRect l="0" r="0" t="0" b="0"/>
          <a:stretch/>
        </p:blipFill>
        <p:spPr>
          <a:xfrm>
            <a:off x="4597400" y="4607719"/>
            <a:ext cx="508000" cy="508000"/>
          </a:xfrm>
          <a:prstGeom prst="rect">
            <a:avLst/>
          </a:prstGeom>
        </p:spPr>
      </p:pic>
      <p:sp>
        <p:nvSpPr>
          <p:cNvPr id="23" name="Text 15"/>
          <p:cNvSpPr/>
          <p:nvPr/>
        </p:nvSpPr>
        <p:spPr>
          <a:xfrm>
            <a:off x="5257800" y="4607719"/>
            <a:ext cx="240690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QR code phishing</a:t>
            </a:r>
            <a:endParaRPr lang="en-US" sz="1700" dirty="0"/>
          </a:p>
        </p:txBody>
      </p:sp>
      <p:sp>
        <p:nvSpPr>
          <p:cNvPr id="24" name="Text 16"/>
          <p:cNvSpPr/>
          <p:nvPr/>
        </p:nvSpPr>
        <p:spPr>
          <a:xfrm>
            <a:off x="5257800" y="4917579"/>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Codes on posters or emails leading to fake sites.</a:t>
            </a:r>
            <a:endParaRPr lang="en-US" sz="1300" dirty="0"/>
          </a:p>
        </p:txBody>
      </p:sp>
      <p:sp>
        <p:nvSpPr>
          <p:cNvPr id="25" name="Shape 17"/>
          <p:cNvSpPr/>
          <p:nvPr/>
        </p:nvSpPr>
        <p:spPr>
          <a:xfrm>
            <a:off x="7975600" y="4404519"/>
            <a:ext cx="3403600" cy="1437481"/>
          </a:xfrm>
          <a:prstGeom prst="roundRect">
            <a:avLst>
              <a:gd name="adj" fmla="val 7068"/>
            </a:avLst>
          </a:prstGeom>
          <a:solidFill>
            <a:srgbClr val="FFFFFF"/>
          </a:solidFill>
          <a:ln/>
          <a:effectLst>
            <a:outerShdw sx="100000" sy="100000" kx="0" ky="0" algn="bl" rotWithShape="0" blurRad="101600" dist="25400" dir="5400000">
              <a:srgbClr val="C9D6E3">
                <a:alpha val="100000"/>
              </a:srgbClr>
            </a:outerShdw>
          </a:effectLst>
        </p:spPr>
      </p:sp>
      <p:pic>
        <p:nvPicPr>
          <p:cNvPr id="26" name="Image 6" descr="Briefcase with warning">    </p:cNvPr>
          <p:cNvPicPr>
            <a:picLocks noChangeAspect="1"/>
          </p:cNvPicPr>
          <p:nvPr/>
        </p:nvPicPr>
        <p:blipFill>
          <a:blip r:embed="rId7"/>
          <a:srcRect l="0" r="0" t="0" b="0"/>
          <a:stretch/>
        </p:blipFill>
        <p:spPr>
          <a:xfrm>
            <a:off x="8178800" y="4607719"/>
            <a:ext cx="508000" cy="508000"/>
          </a:xfrm>
          <a:prstGeom prst="rect">
            <a:avLst/>
          </a:prstGeom>
        </p:spPr>
      </p:pic>
      <p:sp>
        <p:nvSpPr>
          <p:cNvPr id="27" name="Text 18"/>
          <p:cNvSpPr/>
          <p:nvPr/>
        </p:nvSpPr>
        <p:spPr>
          <a:xfrm>
            <a:off x="8839200" y="4607719"/>
            <a:ext cx="2406904"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Business email compromise</a:t>
            </a:r>
            <a:endParaRPr lang="en-US" sz="1700" dirty="0"/>
          </a:p>
        </p:txBody>
      </p:sp>
      <p:sp>
        <p:nvSpPr>
          <p:cNvPr id="28" name="Text 19"/>
          <p:cNvSpPr/>
          <p:nvPr/>
        </p:nvSpPr>
        <p:spPr>
          <a:xfrm>
            <a:off x="8839200" y="5176639"/>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Fake "boss" or supplier asking for payments.</a:t>
            </a:r>
            <a:endParaRPr lang="en-US" sz="1300" dirty="0"/>
          </a:p>
        </p:txBody>
      </p:sp>
      <p:sp>
        <p:nvSpPr>
          <p:cNvPr id="29"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30" name="Text 21"/>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03 · THE ATTACKER'S GOALS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What attackers want from you</a:t>
            </a:r>
            <a:endParaRPr lang="en-US" sz="3600" dirty="0"/>
          </a:p>
        </p:txBody>
      </p:sp>
      <p:sp>
        <p:nvSpPr>
          <p:cNvPr id="5" name="Shape 2"/>
          <p:cNvSpPr/>
          <p:nvPr/>
        </p:nvSpPr>
        <p:spPr>
          <a:xfrm>
            <a:off x="812800" y="1620441"/>
            <a:ext cx="3386634" cy="4221559"/>
          </a:xfrm>
          <a:prstGeom prst="roundRect">
            <a:avLst>
              <a:gd name="adj" fmla="val 3000"/>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Key">    </p:cNvPr>
          <p:cNvPicPr>
            <a:picLocks noChangeAspect="1"/>
          </p:cNvPicPr>
          <p:nvPr/>
        </p:nvPicPr>
        <p:blipFill>
          <a:blip r:embed="rId2"/>
          <a:srcRect l="0" r="0" t="0" b="0"/>
          <a:stretch/>
        </p:blipFill>
        <p:spPr>
          <a:xfrm>
            <a:off x="1066800" y="1925241"/>
            <a:ext cx="762000" cy="762000"/>
          </a:xfrm>
          <a:prstGeom prst="rect">
            <a:avLst/>
          </a:prstGeom>
        </p:spPr>
      </p:pic>
      <p:sp>
        <p:nvSpPr>
          <p:cNvPr id="7" name="Text 3"/>
          <p:cNvSpPr/>
          <p:nvPr/>
        </p:nvSpPr>
        <p:spPr>
          <a:xfrm>
            <a:off x="1066800" y="2814241"/>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1628"/>
                </a:solidFill>
                <a:latin typeface="Calibri" pitchFamily="34" charset="0"/>
                <a:ea typeface="Calibri" pitchFamily="34" charset="-122"/>
                <a:cs typeface="Calibri" pitchFamily="34" charset="-120"/>
              </a:rPr>
              <a:t>Your login details</a:t>
            </a:r>
            <a:endParaRPr lang="en-US" sz="2000" dirty="0"/>
          </a:p>
        </p:txBody>
      </p:sp>
      <p:sp>
        <p:nvSpPr>
          <p:cNvPr id="8" name="Text 4"/>
          <p:cNvSpPr/>
          <p:nvPr/>
        </p:nvSpPr>
        <p:spPr>
          <a:xfrm>
            <a:off x="1066800" y="3246041"/>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B"/>
                </a:solidFill>
                <a:latin typeface="Calibri" pitchFamily="34" charset="0"/>
                <a:ea typeface="Calibri" pitchFamily="34" charset="-122"/>
                <a:cs typeface="Calibri" pitchFamily="34" charset="-120"/>
              </a:rPr>
              <a:t>Usernames, passwords and MFA codes give them access to email, files and systems.</a:t>
            </a:r>
            <a:endParaRPr lang="en-US" sz="1500" dirty="0"/>
          </a:p>
        </p:txBody>
      </p:sp>
      <p:sp>
        <p:nvSpPr>
          <p:cNvPr id="9" name="Shape 5"/>
          <p:cNvSpPr/>
          <p:nvPr/>
        </p:nvSpPr>
        <p:spPr>
          <a:xfrm>
            <a:off x="4402634" y="1620441"/>
            <a:ext cx="3386733" cy="4221559"/>
          </a:xfrm>
          <a:prstGeom prst="roundRect">
            <a:avLst>
              <a:gd name="adj" fmla="val 3000"/>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Money transfer">    </p:cNvPr>
          <p:cNvPicPr>
            <a:picLocks noChangeAspect="1"/>
          </p:cNvPicPr>
          <p:nvPr/>
        </p:nvPicPr>
        <p:blipFill>
          <a:blip r:embed="rId3"/>
          <a:srcRect l="0" r="0" t="0" b="0"/>
          <a:stretch/>
        </p:blipFill>
        <p:spPr>
          <a:xfrm>
            <a:off x="4656634" y="1925241"/>
            <a:ext cx="762000" cy="762000"/>
          </a:xfrm>
          <a:prstGeom prst="rect">
            <a:avLst/>
          </a:prstGeom>
        </p:spPr>
      </p:pic>
      <p:sp>
        <p:nvSpPr>
          <p:cNvPr id="11" name="Text 6"/>
          <p:cNvSpPr/>
          <p:nvPr/>
        </p:nvSpPr>
        <p:spPr>
          <a:xfrm>
            <a:off x="4656634" y="2814241"/>
            <a:ext cx="2965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1628"/>
                </a:solidFill>
                <a:latin typeface="Calibri" pitchFamily="34" charset="0"/>
                <a:ea typeface="Calibri" pitchFamily="34" charset="-122"/>
                <a:cs typeface="Calibri" pitchFamily="34" charset="-120"/>
              </a:rPr>
              <a:t>Money</a:t>
            </a:r>
            <a:endParaRPr lang="en-US" sz="2000" dirty="0"/>
          </a:p>
        </p:txBody>
      </p:sp>
      <p:sp>
        <p:nvSpPr>
          <p:cNvPr id="12" name="Text 7"/>
          <p:cNvSpPr/>
          <p:nvPr/>
        </p:nvSpPr>
        <p:spPr>
          <a:xfrm>
            <a:off x="4656634" y="3246041"/>
            <a:ext cx="296509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B"/>
                </a:solidFill>
                <a:latin typeface="Calibri" pitchFamily="34" charset="0"/>
                <a:ea typeface="Calibri" pitchFamily="34" charset="-122"/>
                <a:cs typeface="Calibri" pitchFamily="34" charset="-120"/>
              </a:rPr>
              <a:t>Fake invoices, changed bank details, gift cards and urgent transfers.</a:t>
            </a:r>
            <a:endParaRPr lang="en-US" sz="1500" dirty="0"/>
          </a:p>
        </p:txBody>
      </p:sp>
      <p:sp>
        <p:nvSpPr>
          <p:cNvPr id="13" name="Shape 8"/>
          <p:cNvSpPr/>
          <p:nvPr/>
        </p:nvSpPr>
        <p:spPr>
          <a:xfrm>
            <a:off x="7992566" y="1620441"/>
            <a:ext cx="3386634" cy="4221559"/>
          </a:xfrm>
          <a:prstGeom prst="roundRect">
            <a:avLst>
              <a:gd name="adj" fmla="val 3000"/>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Malicious file">    </p:cNvPr>
          <p:cNvPicPr>
            <a:picLocks noChangeAspect="1"/>
          </p:cNvPicPr>
          <p:nvPr/>
        </p:nvPicPr>
        <p:blipFill>
          <a:blip r:embed="rId4"/>
          <a:srcRect l="0" r="0" t="0" b="0"/>
          <a:stretch/>
        </p:blipFill>
        <p:spPr>
          <a:xfrm>
            <a:off x="8246566" y="1925241"/>
            <a:ext cx="762000" cy="762000"/>
          </a:xfrm>
          <a:prstGeom prst="rect">
            <a:avLst/>
          </a:prstGeom>
        </p:spPr>
      </p:pic>
      <p:sp>
        <p:nvSpPr>
          <p:cNvPr id="15" name="Text 9"/>
          <p:cNvSpPr/>
          <p:nvPr/>
        </p:nvSpPr>
        <p:spPr>
          <a:xfrm>
            <a:off x="8246566" y="2814241"/>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1628"/>
                </a:solidFill>
                <a:latin typeface="Calibri" pitchFamily="34" charset="0"/>
                <a:ea typeface="Calibri" pitchFamily="34" charset="-122"/>
                <a:cs typeface="Calibri" pitchFamily="34" charset="-120"/>
              </a:rPr>
              <a:t>A way in</a:t>
            </a:r>
            <a:endParaRPr lang="en-US" sz="2000" dirty="0"/>
          </a:p>
        </p:txBody>
      </p:sp>
      <p:sp>
        <p:nvSpPr>
          <p:cNvPr id="16" name="Text 10"/>
          <p:cNvSpPr/>
          <p:nvPr/>
        </p:nvSpPr>
        <p:spPr>
          <a:xfrm>
            <a:off x="8246566" y="3246041"/>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6B"/>
                </a:solidFill>
                <a:latin typeface="Calibri" pitchFamily="34" charset="0"/>
                <a:ea typeface="Calibri" pitchFamily="34" charset="-122"/>
                <a:cs typeface="Calibri" pitchFamily="34" charset="-120"/>
              </a:rPr>
              <a:t>Malware or ransomware installed through an attachment or download.</a:t>
            </a:r>
            <a:endParaRPr lang="en-US" sz="1500" dirty="0"/>
          </a:p>
        </p:txBody>
      </p:sp>
      <p:sp>
        <p:nvSpPr>
          <p:cNvPr id="17"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18" name="Text 12"/>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04 · SPOT THE RED FLAGS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Anatomy of a phishing email</a:t>
            </a:r>
            <a:endParaRPr lang="en-US" sz="3600" dirty="0"/>
          </a:p>
        </p:txBody>
      </p:sp>
      <p:sp>
        <p:nvSpPr>
          <p:cNvPr id="5" name="Shape 2"/>
          <p:cNvSpPr/>
          <p:nvPr/>
        </p:nvSpPr>
        <p:spPr>
          <a:xfrm>
            <a:off x="819150" y="1983780"/>
            <a:ext cx="5194300" cy="3444081"/>
          </a:xfrm>
          <a:prstGeom prst="roundRect">
            <a:avLst>
              <a:gd name="adj" fmla="val 3503"/>
            </a:avLst>
          </a:prstGeom>
          <a:solidFill>
            <a:srgbClr val="FFFFFF"/>
          </a:solidFill>
          <a:ln w="12700">
            <a:solidFill>
              <a:srgbClr val="D6E2EE"/>
            </a:solidFill>
            <a:prstDash val="solid"/>
          </a:ln>
        </p:spPr>
      </p:sp>
      <p:sp>
        <p:nvSpPr>
          <p:cNvPr id="6" name="Shape 3"/>
          <p:cNvSpPr/>
          <p:nvPr/>
        </p:nvSpPr>
        <p:spPr>
          <a:xfrm>
            <a:off x="825500" y="1990130"/>
            <a:ext cx="5181600" cy="441920"/>
          </a:xfrm>
          <a:prstGeom prst="rect">
            <a:avLst/>
          </a:prstGeom>
          <a:solidFill>
            <a:srgbClr val="13294B"/>
          </a:solidFill>
          <a:ln/>
        </p:spPr>
      </p:sp>
      <p:pic>
        <p:nvPicPr>
          <p:cNvPr id="7" name="Image 1" descr="preencoded.png">    </p:cNvPr>
          <p:cNvPicPr>
            <a:picLocks noChangeAspect="1"/>
          </p:cNvPicPr>
          <p:nvPr/>
        </p:nvPicPr>
        <p:blipFill>
          <a:blip r:embed="rId2"/>
          <a:srcRect l="0" r="0" t="0" b="0"/>
          <a:stretch/>
        </p:blipFill>
        <p:spPr>
          <a:xfrm>
            <a:off x="1003300" y="2160290"/>
            <a:ext cx="381000" cy="101600"/>
          </a:xfrm>
          <a:prstGeom prst="rect">
            <a:avLst/>
          </a:prstGeom>
        </p:spPr>
      </p:pic>
      <p:sp>
        <p:nvSpPr>
          <p:cNvPr id="8" name="Text 4"/>
          <p:cNvSpPr/>
          <p:nvPr/>
        </p:nvSpPr>
        <p:spPr>
          <a:xfrm>
            <a:off x="1485900" y="2104430"/>
            <a:ext cx="18908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Calibri" pitchFamily="34" charset="0"/>
                <a:ea typeface="Calibri" pitchFamily="34" charset="-122"/>
                <a:cs typeface="Calibri" pitchFamily="34" charset="-120"/>
              </a:rPr>
              <a:t>Inbox · 1 new message</a:t>
            </a:r>
            <a:endParaRPr lang="en-US" sz="1200" dirty="0"/>
          </a:p>
        </p:txBody>
      </p:sp>
      <p:sp>
        <p:nvSpPr>
          <p:cNvPr id="9" name="Text 5"/>
          <p:cNvSpPr/>
          <p:nvPr/>
        </p:nvSpPr>
        <p:spPr>
          <a:xfrm>
            <a:off x="1054100" y="260985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1</a:t>
            </a:r>
            <a:endParaRPr lang="en-US" sz="1200" dirty="0"/>
          </a:p>
        </p:txBody>
      </p:sp>
      <p:sp>
        <p:nvSpPr>
          <p:cNvPr id="10" name="Text 6"/>
          <p:cNvSpPr/>
          <p:nvPr/>
        </p:nvSpPr>
        <p:spPr>
          <a:xfrm>
            <a:off x="1435100" y="2642890"/>
            <a:ext cx="4572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A6B"/>
                </a:solidFill>
                <a:latin typeface="Calibri" pitchFamily="34" charset="0"/>
                <a:ea typeface="Calibri" pitchFamily="34" charset="-122"/>
                <a:cs typeface="Calibri" pitchFamily="34" charset="-120"/>
              </a:rPr>
              <a:t>From:</a:t>
            </a:r>
            <a:r>
              <a:rPr lang="en-US" sz="1200" dirty="0">
                <a:solidFill>
                  <a:srgbClr val="4A5A6B"/>
                </a:solidFill>
                <a:latin typeface="Calibri" pitchFamily="34" charset="0"/>
                <a:ea typeface="Calibri" pitchFamily="34" charset="-122"/>
                <a:cs typeface="Calibri" pitchFamily="34" charset="-120"/>
              </a:rPr>
              <a:t> Microsoft 365 Team &lt;alerts@micr0soft-support.co&gt;</a:t>
            </a:r>
            <a:endParaRPr lang="en-US" sz="1200" dirty="0"/>
          </a:p>
        </p:txBody>
      </p:sp>
      <p:sp>
        <p:nvSpPr>
          <p:cNvPr id="11" name="Text 7"/>
          <p:cNvSpPr/>
          <p:nvPr/>
        </p:nvSpPr>
        <p:spPr>
          <a:xfrm>
            <a:off x="1054100" y="299085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2</a:t>
            </a:r>
            <a:endParaRPr lang="en-US" sz="1200" dirty="0"/>
          </a:p>
        </p:txBody>
      </p:sp>
      <p:sp>
        <p:nvSpPr>
          <p:cNvPr id="12" name="Text 8"/>
          <p:cNvSpPr/>
          <p:nvPr/>
        </p:nvSpPr>
        <p:spPr>
          <a:xfrm>
            <a:off x="1435100" y="3014960"/>
            <a:ext cx="45720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A1628"/>
                </a:solidFill>
                <a:latin typeface="Calibri" pitchFamily="34" charset="0"/>
                <a:ea typeface="Calibri" pitchFamily="34" charset="-122"/>
                <a:cs typeface="Calibri" pitchFamily="34" charset="-120"/>
              </a:rPr>
              <a:t>FINAL NOTICE: Mailbox will be deleted in 24 hours</a:t>
            </a:r>
            <a:endParaRPr lang="en-US" sz="1300" dirty="0"/>
          </a:p>
        </p:txBody>
      </p:sp>
      <p:pic>
        <p:nvPicPr>
          <p:cNvPr id="13" name="Image 2" descr="line">    </p:cNvPr>
          <p:cNvPicPr>
            <a:picLocks noChangeAspect="1"/>
          </p:cNvPicPr>
          <p:nvPr/>
        </p:nvPicPr>
        <p:blipFill>
          <a:blip r:embed="rId3"/>
          <a:srcRect l="0" r="0" t="0" b="0"/>
          <a:stretch/>
        </p:blipFill>
        <p:spPr>
          <a:xfrm>
            <a:off x="1054100" y="3371850"/>
            <a:ext cx="4724400" cy="12700"/>
          </a:xfrm>
          <a:prstGeom prst="rect">
            <a:avLst/>
          </a:prstGeom>
        </p:spPr>
      </p:pic>
      <p:sp>
        <p:nvSpPr>
          <p:cNvPr id="14" name="Text 9"/>
          <p:cNvSpPr/>
          <p:nvPr/>
        </p:nvSpPr>
        <p:spPr>
          <a:xfrm>
            <a:off x="1054100" y="348615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3</a:t>
            </a:r>
            <a:endParaRPr lang="en-US" sz="1200" dirty="0"/>
          </a:p>
        </p:txBody>
      </p:sp>
      <p:sp>
        <p:nvSpPr>
          <p:cNvPr id="15" name="Text 10"/>
          <p:cNvSpPr/>
          <p:nvPr/>
        </p:nvSpPr>
        <p:spPr>
          <a:xfrm>
            <a:off x="1435100" y="3519190"/>
            <a:ext cx="148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Dear Valued User,</a:t>
            </a:r>
            <a:endParaRPr lang="en-US" sz="1200" dirty="0"/>
          </a:p>
        </p:txBody>
      </p:sp>
      <p:sp>
        <p:nvSpPr>
          <p:cNvPr id="16" name="Text 11"/>
          <p:cNvSpPr/>
          <p:nvPr/>
        </p:nvSpPr>
        <p:spPr>
          <a:xfrm>
            <a:off x="1435100" y="3867150"/>
            <a:ext cx="447370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A6B"/>
                </a:solidFill>
                <a:latin typeface="Calibri" pitchFamily="34" charset="0"/>
                <a:ea typeface="Calibri" pitchFamily="34" charset="-122"/>
                <a:cs typeface="Calibri" pitchFamily="34" charset="-120"/>
              </a:rPr>
              <a:t>Your mailbox storage is full. Confirm your account now to avoid losing all your emails.</a:t>
            </a:r>
            <a:endParaRPr lang="en-US" sz="1200" dirty="0"/>
          </a:p>
        </p:txBody>
      </p:sp>
      <p:sp>
        <p:nvSpPr>
          <p:cNvPr id="17" name="Text 12"/>
          <p:cNvSpPr/>
          <p:nvPr/>
        </p:nvSpPr>
        <p:spPr>
          <a:xfrm>
            <a:off x="1054100" y="445383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4</a:t>
            </a:r>
            <a:endParaRPr lang="en-US" sz="1200" dirty="0"/>
          </a:p>
        </p:txBody>
      </p:sp>
      <p:sp>
        <p:nvSpPr>
          <p:cNvPr id="18" name="Text 13"/>
          <p:cNvSpPr/>
          <p:nvPr/>
        </p:nvSpPr>
        <p:spPr>
          <a:xfrm>
            <a:off x="1435100" y="4410670"/>
            <a:ext cx="1566466" cy="365720"/>
          </a:xfrm>
          <a:prstGeom prst="roundRect">
            <a:avLst>
              <a:gd name="adj" fmla="val 17363"/>
            </a:avLst>
          </a:prstGeom>
          <a:solidFill>
            <a:srgbClr val="0078D4"/>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Calibri" pitchFamily="34" charset="0"/>
                <a:ea typeface="Calibri" pitchFamily="34" charset="-122"/>
                <a:cs typeface="Calibri" pitchFamily="34" charset="-120"/>
              </a:rPr>
              <a:t>Confirm account</a:t>
            </a:r>
            <a:endParaRPr lang="en-US" sz="1200" dirty="0"/>
          </a:p>
        </p:txBody>
      </p:sp>
      <p:sp>
        <p:nvSpPr>
          <p:cNvPr id="19" name="Text 14"/>
          <p:cNvSpPr/>
          <p:nvPr/>
        </p:nvSpPr>
        <p:spPr>
          <a:xfrm>
            <a:off x="3103166" y="4436070"/>
            <a:ext cx="2098080" cy="314920"/>
          </a:xfrm>
          <a:prstGeom prst="roundRect">
            <a:avLst>
              <a:gd name="adj" fmla="val 16131"/>
            </a:avLst>
          </a:prstGeom>
          <a:solidFill>
            <a:srgbClr val="0A1628"/>
          </a:solidFill>
          <a:ln/>
        </p:spPr>
        <p:txBody>
          <a:bodyPr wrap="none" lIns="0" tIns="0" rIns="0" bIns="0" rtlCol="0" anchor="ctr">
            <a:normAutofit/>
          </a:bodyPr>
          <a:lstStyle/>
          <a:p>
            <a:pPr algn="ctr" indent="0" marL="0">
              <a:lnSpc>
                <a:spcPts val="1680"/>
              </a:lnSpc>
              <a:buNone/>
            </a:pPr>
            <a:r>
              <a:rPr lang="en-US" sz="1200" dirty="0">
                <a:solidFill>
                  <a:srgbClr val="F7630C"/>
                </a:solidFill>
                <a:latin typeface="IBM Plex Mono" pitchFamily="49" charset="0"/>
                <a:ea typeface="IBM Plex Mono" pitchFamily="49" charset="-122"/>
                <a:cs typeface="IBM Plex Mono" pitchFamily="49" charset="-120"/>
              </a:rPr>
              <a:t>mail-verify.xyz/login</a:t>
            </a:r>
            <a:endParaRPr lang="en-US" sz="1200" dirty="0"/>
          </a:p>
        </p:txBody>
      </p:sp>
      <p:sp>
        <p:nvSpPr>
          <p:cNvPr id="20" name="Text 15"/>
          <p:cNvSpPr/>
          <p:nvPr/>
        </p:nvSpPr>
        <p:spPr>
          <a:xfrm>
            <a:off x="1054100" y="492115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5</a:t>
            </a:r>
            <a:endParaRPr lang="en-US" sz="1200" dirty="0"/>
          </a:p>
        </p:txBody>
      </p:sp>
      <p:sp>
        <p:nvSpPr>
          <p:cNvPr id="21" name="Shape 16"/>
          <p:cNvSpPr/>
          <p:nvPr/>
        </p:nvSpPr>
        <p:spPr>
          <a:xfrm>
            <a:off x="1435100" y="4877991"/>
            <a:ext cx="1914227" cy="365720"/>
          </a:xfrm>
          <a:prstGeom prst="roundRect">
            <a:avLst>
              <a:gd name="adj" fmla="val 17363"/>
            </a:avLst>
          </a:prstGeom>
          <a:solidFill>
            <a:srgbClr val="EAF3FC"/>
          </a:solidFill>
          <a:ln/>
        </p:spPr>
      </p:sp>
      <p:pic>
        <p:nvPicPr>
          <p:cNvPr id="22" name="Image 3" descr="paperclip icon">    </p:cNvPr>
          <p:cNvPicPr>
            <a:picLocks noChangeAspect="1"/>
          </p:cNvPicPr>
          <p:nvPr/>
        </p:nvPicPr>
        <p:blipFill>
          <a:blip r:embed="rId4"/>
          <a:srcRect l="0" r="0" t="0" b="0"/>
          <a:stretch/>
        </p:blipFill>
        <p:spPr>
          <a:xfrm>
            <a:off x="1562100" y="4971951"/>
            <a:ext cx="177800" cy="177800"/>
          </a:xfrm>
          <a:prstGeom prst="rect">
            <a:avLst/>
          </a:prstGeom>
        </p:spPr>
      </p:pic>
      <p:sp>
        <p:nvSpPr>
          <p:cNvPr id="23" name="Text 17"/>
          <p:cNvSpPr/>
          <p:nvPr/>
        </p:nvSpPr>
        <p:spPr>
          <a:xfrm>
            <a:off x="1816100" y="4954191"/>
            <a:ext cx="15332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1628"/>
                </a:solidFill>
                <a:latin typeface="Calibri" pitchFamily="34" charset="0"/>
                <a:ea typeface="Calibri" pitchFamily="34" charset="-122"/>
                <a:cs typeface="Calibri" pitchFamily="34" charset="-120"/>
              </a:rPr>
              <a:t>Storage_Report.html</a:t>
            </a:r>
            <a:endParaRPr lang="en-US" sz="1200" dirty="0"/>
          </a:p>
        </p:txBody>
      </p:sp>
      <p:sp>
        <p:nvSpPr>
          <p:cNvPr id="24" name="Shape 18"/>
          <p:cNvSpPr/>
          <p:nvPr/>
        </p:nvSpPr>
        <p:spPr>
          <a:xfrm>
            <a:off x="6426200" y="2660352"/>
            <a:ext cx="4953000" cy="0"/>
          </a:xfrm>
          <a:prstGeom prst="line">
            <a:avLst/>
          </a:prstGeom>
          <a:noFill/>
          <a:ln w="12700">
            <a:solidFill>
              <a:srgbClr val="D6E2EE"/>
            </a:solidFill>
            <a:prstDash val="solid"/>
          </a:ln>
        </p:spPr>
      </p:sp>
      <p:sp>
        <p:nvSpPr>
          <p:cNvPr id="25" name="Text 19"/>
          <p:cNvSpPr/>
          <p:nvPr/>
        </p:nvSpPr>
        <p:spPr>
          <a:xfrm>
            <a:off x="6426200" y="2075557"/>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1</a:t>
            </a:r>
            <a:endParaRPr lang="en-US" sz="1200" dirty="0"/>
          </a:p>
        </p:txBody>
      </p:sp>
      <p:sp>
        <p:nvSpPr>
          <p:cNvPr id="26" name="Text 20"/>
          <p:cNvSpPr/>
          <p:nvPr/>
        </p:nvSpPr>
        <p:spPr>
          <a:xfrm>
            <a:off x="6858000" y="2075557"/>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1628"/>
                </a:solidFill>
                <a:latin typeface="Calibri" pitchFamily="34" charset="0"/>
                <a:ea typeface="Calibri" pitchFamily="34" charset="-122"/>
                <a:cs typeface="Calibri" pitchFamily="34" charset="-120"/>
              </a:rPr>
              <a:t>Look-alike sender</a:t>
            </a:r>
            <a:endParaRPr lang="en-US" sz="1500" dirty="0"/>
          </a:p>
        </p:txBody>
      </p:sp>
      <p:sp>
        <p:nvSpPr>
          <p:cNvPr id="27" name="Text 21"/>
          <p:cNvSpPr/>
          <p:nvPr/>
        </p:nvSpPr>
        <p:spPr>
          <a:xfrm>
            <a:off x="6858000" y="2329557"/>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A zero for an "o", or an outside domain.</a:t>
            </a:r>
            <a:endParaRPr lang="en-US" sz="1300" dirty="0"/>
          </a:p>
        </p:txBody>
      </p:sp>
      <p:sp>
        <p:nvSpPr>
          <p:cNvPr id="28" name="Shape 22"/>
          <p:cNvSpPr/>
          <p:nvPr/>
        </p:nvSpPr>
        <p:spPr>
          <a:xfrm>
            <a:off x="6426200" y="3353098"/>
            <a:ext cx="4953000" cy="0"/>
          </a:xfrm>
          <a:prstGeom prst="line">
            <a:avLst/>
          </a:prstGeom>
          <a:noFill/>
          <a:ln w="12700">
            <a:solidFill>
              <a:srgbClr val="D6E2EE"/>
            </a:solidFill>
            <a:prstDash val="solid"/>
          </a:ln>
        </p:spPr>
      </p:sp>
      <p:sp>
        <p:nvSpPr>
          <p:cNvPr id="29" name="Text 23"/>
          <p:cNvSpPr/>
          <p:nvPr/>
        </p:nvSpPr>
        <p:spPr>
          <a:xfrm>
            <a:off x="6426200" y="2768302"/>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2</a:t>
            </a:r>
            <a:endParaRPr lang="en-US" sz="1200" dirty="0"/>
          </a:p>
        </p:txBody>
      </p:sp>
      <p:sp>
        <p:nvSpPr>
          <p:cNvPr id="30" name="Text 24"/>
          <p:cNvSpPr/>
          <p:nvPr/>
        </p:nvSpPr>
        <p:spPr>
          <a:xfrm>
            <a:off x="6858000" y="2768302"/>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1628"/>
                </a:solidFill>
                <a:latin typeface="Calibri" pitchFamily="34" charset="0"/>
                <a:ea typeface="Calibri" pitchFamily="34" charset="-122"/>
                <a:cs typeface="Calibri" pitchFamily="34" charset="-120"/>
              </a:rPr>
              <a:t>Urgency or threats</a:t>
            </a:r>
            <a:endParaRPr lang="en-US" sz="1500" dirty="0"/>
          </a:p>
        </p:txBody>
      </p:sp>
      <p:sp>
        <p:nvSpPr>
          <p:cNvPr id="31" name="Text 25"/>
          <p:cNvSpPr/>
          <p:nvPr/>
        </p:nvSpPr>
        <p:spPr>
          <a:xfrm>
            <a:off x="6858000" y="3022302"/>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"Final notice", "24 hours", "suspended".</a:t>
            </a:r>
            <a:endParaRPr lang="en-US" sz="1300" dirty="0"/>
          </a:p>
        </p:txBody>
      </p:sp>
      <p:sp>
        <p:nvSpPr>
          <p:cNvPr id="32" name="Shape 26"/>
          <p:cNvSpPr/>
          <p:nvPr/>
        </p:nvSpPr>
        <p:spPr>
          <a:xfrm>
            <a:off x="6426200" y="4045843"/>
            <a:ext cx="4953000" cy="0"/>
          </a:xfrm>
          <a:prstGeom prst="line">
            <a:avLst/>
          </a:prstGeom>
          <a:noFill/>
          <a:ln w="12700">
            <a:solidFill>
              <a:srgbClr val="D6E2EE"/>
            </a:solidFill>
            <a:prstDash val="solid"/>
          </a:ln>
        </p:spPr>
      </p:sp>
      <p:sp>
        <p:nvSpPr>
          <p:cNvPr id="33" name="Text 27"/>
          <p:cNvSpPr/>
          <p:nvPr/>
        </p:nvSpPr>
        <p:spPr>
          <a:xfrm>
            <a:off x="6426200" y="3461048"/>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3</a:t>
            </a:r>
            <a:endParaRPr lang="en-US" sz="1200" dirty="0"/>
          </a:p>
        </p:txBody>
      </p:sp>
      <p:sp>
        <p:nvSpPr>
          <p:cNvPr id="34" name="Text 28"/>
          <p:cNvSpPr/>
          <p:nvPr/>
        </p:nvSpPr>
        <p:spPr>
          <a:xfrm>
            <a:off x="6858000" y="3461048"/>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1628"/>
                </a:solidFill>
                <a:latin typeface="Calibri" pitchFamily="34" charset="0"/>
                <a:ea typeface="Calibri" pitchFamily="34" charset="-122"/>
                <a:cs typeface="Calibri" pitchFamily="34" charset="-120"/>
              </a:rPr>
              <a:t>Generic greeting</a:t>
            </a:r>
            <a:endParaRPr lang="en-US" sz="1500" dirty="0"/>
          </a:p>
        </p:txBody>
      </p:sp>
      <p:sp>
        <p:nvSpPr>
          <p:cNvPr id="35" name="Text 29"/>
          <p:cNvSpPr/>
          <p:nvPr/>
        </p:nvSpPr>
        <p:spPr>
          <a:xfrm>
            <a:off x="6858000" y="3715048"/>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Real services usually use your name.</a:t>
            </a:r>
            <a:endParaRPr lang="en-US" sz="1300" dirty="0"/>
          </a:p>
        </p:txBody>
      </p:sp>
      <p:sp>
        <p:nvSpPr>
          <p:cNvPr id="36" name="Shape 30"/>
          <p:cNvSpPr/>
          <p:nvPr/>
        </p:nvSpPr>
        <p:spPr>
          <a:xfrm>
            <a:off x="6426200" y="4738588"/>
            <a:ext cx="4953000" cy="0"/>
          </a:xfrm>
          <a:prstGeom prst="line">
            <a:avLst/>
          </a:prstGeom>
          <a:noFill/>
          <a:ln w="12700">
            <a:solidFill>
              <a:srgbClr val="D6E2EE"/>
            </a:solidFill>
            <a:prstDash val="solid"/>
          </a:ln>
        </p:spPr>
      </p:sp>
      <p:sp>
        <p:nvSpPr>
          <p:cNvPr id="37" name="Text 31"/>
          <p:cNvSpPr/>
          <p:nvPr/>
        </p:nvSpPr>
        <p:spPr>
          <a:xfrm>
            <a:off x="6426200" y="4153793"/>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4</a:t>
            </a:r>
            <a:endParaRPr lang="en-US" sz="1200" dirty="0"/>
          </a:p>
        </p:txBody>
      </p:sp>
      <p:sp>
        <p:nvSpPr>
          <p:cNvPr id="38" name="Text 32"/>
          <p:cNvSpPr/>
          <p:nvPr/>
        </p:nvSpPr>
        <p:spPr>
          <a:xfrm>
            <a:off x="6858000" y="4153793"/>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1628"/>
                </a:solidFill>
                <a:latin typeface="Calibri" pitchFamily="34" charset="0"/>
                <a:ea typeface="Calibri" pitchFamily="34" charset="-122"/>
                <a:cs typeface="Calibri" pitchFamily="34" charset="-120"/>
              </a:rPr>
              <a:t>Mismatched link</a:t>
            </a:r>
            <a:endParaRPr lang="en-US" sz="1500" dirty="0"/>
          </a:p>
        </p:txBody>
      </p:sp>
      <p:sp>
        <p:nvSpPr>
          <p:cNvPr id="39" name="Text 33"/>
          <p:cNvSpPr/>
          <p:nvPr/>
        </p:nvSpPr>
        <p:spPr>
          <a:xfrm>
            <a:off x="6858000" y="4407793"/>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Hover: the real address is somewhere else.</a:t>
            </a:r>
            <a:endParaRPr lang="en-US" sz="1300" dirty="0"/>
          </a:p>
        </p:txBody>
      </p:sp>
      <p:sp>
        <p:nvSpPr>
          <p:cNvPr id="40" name="Shape 34"/>
          <p:cNvSpPr/>
          <p:nvPr/>
        </p:nvSpPr>
        <p:spPr>
          <a:xfrm>
            <a:off x="6426200" y="5431334"/>
            <a:ext cx="4953000" cy="0"/>
          </a:xfrm>
          <a:prstGeom prst="line">
            <a:avLst/>
          </a:prstGeom>
          <a:noFill/>
          <a:ln w="12700">
            <a:solidFill>
              <a:srgbClr val="D6E2EE"/>
            </a:solidFill>
            <a:prstDash val="solid"/>
          </a:ln>
        </p:spPr>
      </p:sp>
      <p:sp>
        <p:nvSpPr>
          <p:cNvPr id="41" name="Text 35"/>
          <p:cNvSpPr/>
          <p:nvPr/>
        </p:nvSpPr>
        <p:spPr>
          <a:xfrm>
            <a:off x="6426200" y="4846538"/>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7630C"/>
          </a:solidFill>
          <a:ln/>
        </p:spPr>
        <p:txBody>
          <a:bodyPr wrap="square" lIns="0" tIns="0" rIns="0" bIns="0" rtlCol="0" anchor="ctr">
            <a:normAutofit/>
          </a:bodyPr>
          <a:lstStyle/>
          <a:p>
            <a:pPr algn="ctr" indent="0" marL="0">
              <a:lnSpc>
                <a:spcPts val="1680"/>
              </a:lnSpc>
              <a:buNone/>
            </a:pPr>
            <a:r>
              <a:rPr lang="en-US" sz="1200" b="1" dirty="0">
                <a:solidFill>
                  <a:srgbClr val="0A1628"/>
                </a:solidFill>
                <a:latin typeface="Calibri" pitchFamily="34" charset="0"/>
                <a:ea typeface="Calibri" pitchFamily="34" charset="-122"/>
                <a:cs typeface="Calibri" pitchFamily="34" charset="-120"/>
              </a:rPr>
              <a:t>5</a:t>
            </a:r>
            <a:endParaRPr lang="en-US" sz="1200" dirty="0"/>
          </a:p>
        </p:txBody>
      </p:sp>
      <p:sp>
        <p:nvSpPr>
          <p:cNvPr id="42" name="Text 36"/>
          <p:cNvSpPr/>
          <p:nvPr/>
        </p:nvSpPr>
        <p:spPr>
          <a:xfrm>
            <a:off x="6858000" y="4846538"/>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1628"/>
                </a:solidFill>
                <a:latin typeface="Calibri" pitchFamily="34" charset="0"/>
                <a:ea typeface="Calibri" pitchFamily="34" charset="-122"/>
                <a:cs typeface="Calibri" pitchFamily="34" charset="-120"/>
              </a:rPr>
              <a:t>Unexpected attachment</a:t>
            </a:r>
            <a:endParaRPr lang="en-US" sz="1500" dirty="0"/>
          </a:p>
        </p:txBody>
      </p:sp>
      <p:sp>
        <p:nvSpPr>
          <p:cNvPr id="43" name="Text 37"/>
          <p:cNvSpPr/>
          <p:nvPr/>
        </p:nvSpPr>
        <p:spPr>
          <a:xfrm>
            <a:off x="6858000" y="5100538"/>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HTML, zip or macro files you didn't expect.</a:t>
            </a:r>
            <a:endParaRPr lang="en-US" sz="1300" dirty="0"/>
          </a:p>
        </p:txBody>
      </p:sp>
      <p:sp>
        <p:nvSpPr>
          <p:cNvPr id="44" name="Text 3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45" name="Text 39"/>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05 · INSPECT BEFORE YOU CLICK</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B"/>
                </a:solidFill>
                <a:latin typeface="Arial" pitchFamily="34" charset="0"/>
                <a:ea typeface="Arial" pitchFamily="34" charset="-122"/>
                <a:cs typeface="Arial" pitchFamily="34" charset="-120"/>
              </a:rPr>
              <a:t>Check the link before you click</a:t>
            </a:r>
            <a:endParaRPr lang="en-US" sz="3600" dirty="0"/>
          </a:p>
        </p:txBody>
      </p:sp>
      <p:sp>
        <p:nvSpPr>
          <p:cNvPr id="5" name="Shape 2"/>
          <p:cNvSpPr/>
          <p:nvPr/>
        </p:nvSpPr>
        <p:spPr>
          <a:xfrm>
            <a:off x="812800" y="1518841"/>
            <a:ext cx="10566400" cy="797520"/>
          </a:xfrm>
          <a:prstGeom prst="roundRect">
            <a:avLst>
              <a:gd name="adj" fmla="val 12739"/>
            </a:avLst>
          </a:prstGeom>
          <a:solidFill>
            <a:srgbClr val="13294B"/>
          </a:solidFill>
          <a:ln/>
        </p:spPr>
      </p:sp>
      <p:pic>
        <p:nvPicPr>
          <p:cNvPr id="6" name="Image 1" descr="Safe">    </p:cNvPr>
          <p:cNvPicPr>
            <a:picLocks noChangeAspect="1"/>
          </p:cNvPicPr>
          <p:nvPr/>
        </p:nvPicPr>
        <p:blipFill>
          <a:blip r:embed="rId2"/>
          <a:srcRect l="0" r="0" t="0" b="0"/>
          <a:stretch/>
        </p:blipFill>
        <p:spPr>
          <a:xfrm>
            <a:off x="1016000" y="1739801"/>
            <a:ext cx="355600" cy="355600"/>
          </a:xfrm>
          <a:prstGeom prst="rect">
            <a:avLst/>
          </a:prstGeom>
        </p:spPr>
      </p:pic>
      <p:sp>
        <p:nvSpPr>
          <p:cNvPr id="7" name="Text 3"/>
          <p:cNvSpPr/>
          <p:nvPr/>
        </p:nvSpPr>
        <p:spPr>
          <a:xfrm>
            <a:off x="1549400" y="1658541"/>
            <a:ext cx="99153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ADCFC"/>
                </a:solidFill>
                <a:latin typeface="IBM Plex Mono" pitchFamily="49" charset="0"/>
                <a:ea typeface="IBM Plex Mono" pitchFamily="49" charset="-122"/>
                <a:cs typeface="IBM Plex Mono" pitchFamily="49" charset="-120"/>
              </a:rPr>
              <a:t>https://www.</a:t>
            </a:r>
            <a:r>
              <a:rPr lang="en-US" sz="1500" b="1" dirty="0">
                <a:solidFill>
                  <a:srgbClr val="FFFFFF"/>
                </a:solidFill>
                <a:latin typeface="IBM Plex Mono" pitchFamily="49" charset="0"/>
                <a:ea typeface="IBM Plex Mono" pitchFamily="49" charset="-122"/>
                <a:cs typeface="IBM Plex Mono" pitchFamily="49" charset="-120"/>
              </a:rPr>
              <a:t>yourbank.com</a:t>
            </a:r>
            <a:r>
              <a:rPr lang="en-US" sz="1500" dirty="0">
                <a:solidFill>
                  <a:srgbClr val="CADCFC"/>
                </a:solidFill>
                <a:latin typeface="IBM Plex Mono" pitchFamily="49" charset="0"/>
                <a:ea typeface="IBM Plex Mono" pitchFamily="49" charset="-122"/>
                <a:cs typeface="IBM Plex Mono" pitchFamily="49" charset="-120"/>
              </a:rPr>
              <a:t>/login</a:t>
            </a:r>
            <a:endParaRPr lang="en-US" sz="1500" dirty="0"/>
          </a:p>
        </p:txBody>
      </p:sp>
      <p:sp>
        <p:nvSpPr>
          <p:cNvPr id="8" name="Text 4"/>
          <p:cNvSpPr/>
          <p:nvPr/>
        </p:nvSpPr>
        <p:spPr>
          <a:xfrm>
            <a:off x="1549400" y="1963341"/>
            <a:ext cx="9915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B7C3"/>
                </a:solidFill>
                <a:latin typeface="Calibri" pitchFamily="34" charset="0"/>
                <a:ea typeface="Calibri" pitchFamily="34" charset="-122"/>
                <a:cs typeface="Calibri" pitchFamily="34" charset="-120"/>
              </a:rPr>
              <a:t>Real: the domain is yourbank.com</a:t>
            </a:r>
            <a:endParaRPr lang="en-US" sz="1200" dirty="0"/>
          </a:p>
        </p:txBody>
      </p:sp>
      <p:sp>
        <p:nvSpPr>
          <p:cNvPr id="9" name="Shape 5"/>
          <p:cNvSpPr/>
          <p:nvPr/>
        </p:nvSpPr>
        <p:spPr>
          <a:xfrm>
            <a:off x="812800" y="2417961"/>
            <a:ext cx="10566400" cy="797520"/>
          </a:xfrm>
          <a:prstGeom prst="roundRect">
            <a:avLst>
              <a:gd name="adj" fmla="val 12739"/>
            </a:avLst>
          </a:prstGeom>
          <a:solidFill>
            <a:srgbClr val="13294B"/>
          </a:solidFill>
          <a:ln/>
        </p:spPr>
      </p:sp>
      <p:pic>
        <p:nvPicPr>
          <p:cNvPr id="10" name="Image 2" descr="Fake">    </p:cNvPr>
          <p:cNvPicPr>
            <a:picLocks noChangeAspect="1"/>
          </p:cNvPicPr>
          <p:nvPr/>
        </p:nvPicPr>
        <p:blipFill>
          <a:blip r:embed="rId3"/>
          <a:srcRect l="0" r="0" t="0" b="0"/>
          <a:stretch/>
        </p:blipFill>
        <p:spPr>
          <a:xfrm>
            <a:off x="1016000" y="2638921"/>
            <a:ext cx="355600" cy="355600"/>
          </a:xfrm>
          <a:prstGeom prst="rect">
            <a:avLst/>
          </a:prstGeom>
        </p:spPr>
      </p:pic>
      <p:sp>
        <p:nvSpPr>
          <p:cNvPr id="11" name="Text 6"/>
          <p:cNvSpPr/>
          <p:nvPr/>
        </p:nvSpPr>
        <p:spPr>
          <a:xfrm>
            <a:off x="1549400" y="2557661"/>
            <a:ext cx="99153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ADCFC"/>
                </a:solidFill>
                <a:latin typeface="IBM Plex Mono" pitchFamily="49" charset="0"/>
                <a:ea typeface="IBM Plex Mono" pitchFamily="49" charset="-122"/>
                <a:cs typeface="IBM Plex Mono" pitchFamily="49" charset="-120"/>
              </a:rPr>
              <a:t>https://www.yourbank.com.</a:t>
            </a:r>
            <a:r>
              <a:rPr lang="en-US" sz="1500" b="1" dirty="0">
                <a:solidFill>
                  <a:srgbClr val="0A1628"/>
                </a:solidFill>
                <a:latin typeface="IBM Plex Mono" pitchFamily="49" charset="0"/>
                <a:ea typeface="IBM Plex Mono" pitchFamily="49" charset="-122"/>
                <a:cs typeface="IBM Plex Mono" pitchFamily="49" charset="-120"/>
              </a:rPr>
              <a:t>secure-login.net</a:t>
            </a:r>
            <a:r>
              <a:rPr lang="en-US" sz="1500" dirty="0">
                <a:solidFill>
                  <a:srgbClr val="CADCFC"/>
                </a:solidFill>
                <a:latin typeface="IBM Plex Mono" pitchFamily="49" charset="0"/>
                <a:ea typeface="IBM Plex Mono" pitchFamily="49" charset="-122"/>
                <a:cs typeface="IBM Plex Mono" pitchFamily="49" charset="-120"/>
              </a:rPr>
              <a:t>/verify</a:t>
            </a:r>
            <a:endParaRPr lang="en-US" sz="1500" dirty="0"/>
          </a:p>
        </p:txBody>
      </p:sp>
      <p:sp>
        <p:nvSpPr>
          <p:cNvPr id="12" name="Text 7"/>
          <p:cNvSpPr/>
          <p:nvPr/>
        </p:nvSpPr>
        <p:spPr>
          <a:xfrm>
            <a:off x="1549400" y="2862461"/>
            <a:ext cx="9915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A5C"/>
                </a:solidFill>
                <a:latin typeface="Calibri" pitchFamily="34" charset="0"/>
                <a:ea typeface="Calibri" pitchFamily="34" charset="-122"/>
                <a:cs typeface="Calibri" pitchFamily="34" charset="-120"/>
              </a:rPr>
              <a:t>Fake: the real domain is secure-login.net</a:t>
            </a:r>
            <a:endParaRPr lang="en-US" sz="1200" dirty="0"/>
          </a:p>
        </p:txBody>
      </p:sp>
      <p:sp>
        <p:nvSpPr>
          <p:cNvPr id="13" name="Shape 8"/>
          <p:cNvSpPr/>
          <p:nvPr/>
        </p:nvSpPr>
        <p:spPr>
          <a:xfrm>
            <a:off x="812800" y="3317081"/>
            <a:ext cx="10566400" cy="797520"/>
          </a:xfrm>
          <a:prstGeom prst="roundRect">
            <a:avLst>
              <a:gd name="adj" fmla="val 12739"/>
            </a:avLst>
          </a:prstGeom>
          <a:solidFill>
            <a:srgbClr val="13294B"/>
          </a:solidFill>
          <a:ln/>
        </p:spPr>
      </p:sp>
      <p:pic>
        <p:nvPicPr>
          <p:cNvPr id="14" name="Image 3" descr="Fake">    </p:cNvPr>
          <p:cNvPicPr>
            <a:picLocks noChangeAspect="1"/>
          </p:cNvPicPr>
          <p:nvPr/>
        </p:nvPicPr>
        <p:blipFill>
          <a:blip r:embed="rId4"/>
          <a:srcRect l="0" r="0" t="0" b="0"/>
          <a:stretch/>
        </p:blipFill>
        <p:spPr>
          <a:xfrm>
            <a:off x="1016000" y="3538041"/>
            <a:ext cx="355600" cy="355600"/>
          </a:xfrm>
          <a:prstGeom prst="rect">
            <a:avLst/>
          </a:prstGeom>
        </p:spPr>
      </p:pic>
      <p:sp>
        <p:nvSpPr>
          <p:cNvPr id="15" name="Text 9"/>
          <p:cNvSpPr/>
          <p:nvPr/>
        </p:nvSpPr>
        <p:spPr>
          <a:xfrm>
            <a:off x="1549400" y="3456781"/>
            <a:ext cx="99153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ADCFC"/>
                </a:solidFill>
                <a:latin typeface="IBM Plex Mono" pitchFamily="49" charset="0"/>
                <a:ea typeface="IBM Plex Mono" pitchFamily="49" charset="-122"/>
                <a:cs typeface="IBM Plex Mono" pitchFamily="49" charset="-120"/>
              </a:rPr>
              <a:t>https://www.</a:t>
            </a:r>
            <a:r>
              <a:rPr lang="en-US" sz="1500" b="1" dirty="0">
                <a:solidFill>
                  <a:srgbClr val="0A1628"/>
                </a:solidFill>
                <a:latin typeface="IBM Plex Mono" pitchFamily="49" charset="0"/>
                <a:ea typeface="IBM Plex Mono" pitchFamily="49" charset="-122"/>
                <a:cs typeface="IBM Plex Mono" pitchFamily="49" charset="-120"/>
              </a:rPr>
              <a:t>y0urbank.com</a:t>
            </a:r>
            <a:r>
              <a:rPr lang="en-US" sz="1500" dirty="0">
                <a:solidFill>
                  <a:srgbClr val="CADCFC"/>
                </a:solidFill>
                <a:latin typeface="IBM Plex Mono" pitchFamily="49" charset="0"/>
                <a:ea typeface="IBM Plex Mono" pitchFamily="49" charset="-122"/>
                <a:cs typeface="IBM Plex Mono" pitchFamily="49" charset="-120"/>
              </a:rPr>
              <a:t>/login</a:t>
            </a:r>
            <a:endParaRPr lang="en-US" sz="1500" dirty="0"/>
          </a:p>
        </p:txBody>
      </p:sp>
      <p:sp>
        <p:nvSpPr>
          <p:cNvPr id="16" name="Text 10"/>
          <p:cNvSpPr/>
          <p:nvPr/>
        </p:nvSpPr>
        <p:spPr>
          <a:xfrm>
            <a:off x="1549400" y="3761581"/>
            <a:ext cx="9915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A5C"/>
                </a:solidFill>
                <a:latin typeface="Calibri" pitchFamily="34" charset="0"/>
                <a:ea typeface="Calibri" pitchFamily="34" charset="-122"/>
                <a:cs typeface="Calibri" pitchFamily="34" charset="-120"/>
              </a:rPr>
              <a:t>Fake: a zero replaces the letter "o"</a:t>
            </a:r>
            <a:endParaRPr lang="en-US" sz="1200" dirty="0"/>
          </a:p>
        </p:txBody>
      </p:sp>
      <p:sp>
        <p:nvSpPr>
          <p:cNvPr id="17" name="Shape 11"/>
          <p:cNvSpPr/>
          <p:nvPr/>
        </p:nvSpPr>
        <p:spPr>
          <a:xfrm>
            <a:off x="812800" y="4216202"/>
            <a:ext cx="10566400" cy="797520"/>
          </a:xfrm>
          <a:prstGeom prst="roundRect">
            <a:avLst>
              <a:gd name="adj" fmla="val 12739"/>
            </a:avLst>
          </a:prstGeom>
          <a:solidFill>
            <a:srgbClr val="13294B"/>
          </a:solidFill>
          <a:ln/>
        </p:spPr>
      </p:sp>
      <p:pic>
        <p:nvPicPr>
          <p:cNvPr id="18" name="Image 4" descr="Fake">    </p:cNvPr>
          <p:cNvPicPr>
            <a:picLocks noChangeAspect="1"/>
          </p:cNvPicPr>
          <p:nvPr/>
        </p:nvPicPr>
        <p:blipFill>
          <a:blip r:embed="rId5"/>
          <a:srcRect l="0" r="0" t="0" b="0"/>
          <a:stretch/>
        </p:blipFill>
        <p:spPr>
          <a:xfrm>
            <a:off x="1016000" y="4437162"/>
            <a:ext cx="355600" cy="355600"/>
          </a:xfrm>
          <a:prstGeom prst="rect">
            <a:avLst/>
          </a:prstGeom>
        </p:spPr>
      </p:pic>
      <p:sp>
        <p:nvSpPr>
          <p:cNvPr id="19" name="Text 12"/>
          <p:cNvSpPr/>
          <p:nvPr/>
        </p:nvSpPr>
        <p:spPr>
          <a:xfrm>
            <a:off x="1549400" y="4355902"/>
            <a:ext cx="99153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ADCFC"/>
                </a:solidFill>
                <a:latin typeface="IBM Plex Mono" pitchFamily="49" charset="0"/>
                <a:ea typeface="IBM Plex Mono" pitchFamily="49" charset="-122"/>
                <a:cs typeface="IBM Plex Mono" pitchFamily="49" charset="-120"/>
              </a:rPr>
              <a:t>https://</a:t>
            </a:r>
            <a:r>
              <a:rPr lang="en-US" sz="1500" b="1" dirty="0">
                <a:solidFill>
                  <a:srgbClr val="0A1628"/>
                </a:solidFill>
                <a:latin typeface="IBM Plex Mono" pitchFamily="49" charset="0"/>
                <a:ea typeface="IBM Plex Mono" pitchFamily="49" charset="-122"/>
                <a:cs typeface="IBM Plex Mono" pitchFamily="49" charset="-120"/>
              </a:rPr>
              <a:t>yourbank-support.co</a:t>
            </a:r>
            <a:r>
              <a:rPr lang="en-US" sz="1500" dirty="0">
                <a:solidFill>
                  <a:srgbClr val="CADCFC"/>
                </a:solidFill>
                <a:latin typeface="IBM Plex Mono" pitchFamily="49" charset="0"/>
                <a:ea typeface="IBM Plex Mono" pitchFamily="49" charset="-122"/>
                <a:cs typeface="IBM Plex Mono" pitchFamily="49" charset="-120"/>
              </a:rPr>
              <a:t>/account</a:t>
            </a:r>
            <a:endParaRPr lang="en-US" sz="1500" dirty="0"/>
          </a:p>
        </p:txBody>
      </p:sp>
      <p:sp>
        <p:nvSpPr>
          <p:cNvPr id="20" name="Text 13"/>
          <p:cNvSpPr/>
          <p:nvPr/>
        </p:nvSpPr>
        <p:spPr>
          <a:xfrm>
            <a:off x="1549400" y="4660702"/>
            <a:ext cx="9915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A5C"/>
                </a:solidFill>
                <a:latin typeface="Calibri" pitchFamily="34" charset="0"/>
                <a:ea typeface="Calibri" pitchFamily="34" charset="-122"/>
                <a:cs typeface="Calibri" pitchFamily="34" charset="-120"/>
              </a:rPr>
              <a:t>Fake: extra words and a different ending</a:t>
            </a:r>
            <a:endParaRPr lang="en-US" sz="1200" dirty="0"/>
          </a:p>
        </p:txBody>
      </p:sp>
      <p:sp>
        <p:nvSpPr>
          <p:cNvPr id="21" name="Shape 14"/>
          <p:cNvSpPr/>
          <p:nvPr/>
        </p:nvSpPr>
        <p:spPr>
          <a:xfrm>
            <a:off x="819150" y="5223272"/>
            <a:ext cx="10553700" cy="596900"/>
          </a:xfrm>
          <a:prstGeom prst="roundRect">
            <a:avLst>
              <a:gd name="adj" fmla="val 15957"/>
            </a:avLst>
          </a:prstGeom>
          <a:noFill/>
          <a:ln w="12700">
            <a:solidFill>
              <a:srgbClr val="00B7C3"/>
            </a:solidFill>
            <a:prstDash val="solid"/>
          </a:ln>
        </p:spPr>
      </p:sp>
      <p:pic>
        <p:nvPicPr>
          <p:cNvPr id="22" name="Image 5" descr="search icon">    </p:cNvPr>
          <p:cNvPicPr>
            <a:picLocks noChangeAspect="1"/>
          </p:cNvPicPr>
          <p:nvPr/>
        </p:nvPicPr>
        <p:blipFill>
          <a:blip r:embed="rId6"/>
          <a:srcRect l="0" r="0" t="0" b="0"/>
          <a:stretch/>
        </p:blipFill>
        <p:spPr>
          <a:xfrm>
            <a:off x="1028700" y="5382022"/>
            <a:ext cx="279400" cy="279400"/>
          </a:xfrm>
          <a:prstGeom prst="rect">
            <a:avLst/>
          </a:prstGeom>
        </p:spPr>
      </p:pic>
      <p:sp>
        <p:nvSpPr>
          <p:cNvPr id="23" name="Text 15"/>
          <p:cNvSpPr/>
          <p:nvPr/>
        </p:nvSpPr>
        <p:spPr>
          <a:xfrm>
            <a:off x="1460500" y="5388372"/>
            <a:ext cx="96575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7FB"/>
                </a:solidFill>
                <a:latin typeface="Calibri" pitchFamily="34" charset="0"/>
                <a:ea typeface="Calibri" pitchFamily="34" charset="-122"/>
                <a:cs typeface="Calibri" pitchFamily="34" charset="-120"/>
              </a:rPr>
              <a:t>Read the domain </a:t>
            </a:r>
            <a:r>
              <a:rPr lang="en-US" sz="1500" b="1" dirty="0">
                <a:solidFill>
                  <a:srgbClr val="00B7C3"/>
                </a:solidFill>
                <a:latin typeface="Calibri" pitchFamily="34" charset="0"/>
                <a:ea typeface="Calibri" pitchFamily="34" charset="-122"/>
                <a:cs typeface="Calibri" pitchFamily="34" charset="-120"/>
              </a:rPr>
              <a:t>just before the first single "/"</a:t>
            </a:r>
            <a:r>
              <a:rPr lang="en-US" sz="1500" dirty="0">
                <a:solidFill>
                  <a:srgbClr val="F4F7FB"/>
                </a:solidFill>
                <a:latin typeface="Calibri" pitchFamily="34" charset="0"/>
                <a:ea typeface="Calibri" pitchFamily="34" charset="-122"/>
                <a:cs typeface="Calibri" pitchFamily="34" charset="-120"/>
              </a:rPr>
              <a:t>. Hover on a computer, long-press on a phone.</a:t>
            </a:r>
            <a:endParaRPr lang="en-US" sz="1500" dirty="0"/>
          </a:p>
        </p:txBody>
      </p:sp>
      <p:sp>
        <p:nvSpPr>
          <p:cNvPr id="24"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Phishing Awareness</a:t>
            </a:r>
            <a:endParaRPr lang="en-US" sz="1200" dirty="0"/>
          </a:p>
        </p:txBody>
      </p:sp>
      <p:sp>
        <p:nvSpPr>
          <p:cNvPr id="25" name="Text 17"/>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06 · SMISHING, VISHING &amp; QR CODE SCAMS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Beyond email: texts, calls, QR codes</a:t>
            </a:r>
            <a:endParaRPr lang="en-US" sz="3600" dirty="0"/>
          </a:p>
        </p:txBody>
      </p:sp>
      <p:sp>
        <p:nvSpPr>
          <p:cNvPr id="5" name="Shape 2"/>
          <p:cNvSpPr/>
          <p:nvPr/>
        </p:nvSpPr>
        <p:spPr>
          <a:xfrm>
            <a:off x="812800" y="1813620"/>
            <a:ext cx="2667000" cy="3784402"/>
          </a:xfrm>
          <a:prstGeom prst="roundRect">
            <a:avLst>
              <a:gd name="adj" fmla="val 13333"/>
            </a:avLst>
          </a:prstGeom>
          <a:solidFill>
            <a:srgbClr val="0A1628"/>
          </a:solidFill>
          <a:ln/>
        </p:spPr>
      </p:sp>
      <p:sp>
        <p:nvSpPr>
          <p:cNvPr id="6" name="Shape 3"/>
          <p:cNvSpPr/>
          <p:nvPr/>
        </p:nvSpPr>
        <p:spPr>
          <a:xfrm>
            <a:off x="990600" y="2067620"/>
            <a:ext cx="762000" cy="76200"/>
          </a:xfrm>
          <a:prstGeom prst="roundRect">
            <a:avLst>
              <a:gd name="adj" fmla="val 50000"/>
            </a:avLst>
          </a:prstGeom>
          <a:solidFill>
            <a:srgbClr val="13294B"/>
          </a:solidFill>
          <a:ln/>
        </p:spPr>
      </p:sp>
      <p:sp>
        <p:nvSpPr>
          <p:cNvPr id="7" name="Shape 4"/>
          <p:cNvSpPr/>
          <p:nvPr/>
        </p:nvSpPr>
        <p:spPr>
          <a:xfrm>
            <a:off x="990600" y="2721670"/>
            <a:ext cx="2311400" cy="0"/>
          </a:xfrm>
          <a:prstGeom prst="line">
            <a:avLst/>
          </a:prstGeom>
          <a:noFill/>
          <a:ln w="12700">
            <a:solidFill>
              <a:srgbClr val="13294B"/>
            </a:solidFill>
            <a:prstDash val="solid"/>
          </a:ln>
        </p:spPr>
      </p:sp>
      <p:sp>
        <p:nvSpPr>
          <p:cNvPr id="8" name="Shape 5"/>
          <p:cNvSpPr/>
          <p:nvPr/>
        </p:nvSpPr>
        <p:spPr>
          <a:xfrm>
            <a:off x="1041400" y="2270820"/>
            <a:ext cx="330200" cy="330200"/>
          </a:xfrm>
          <a:prstGeom prst="roundRect">
            <a:avLst>
              <a:gd name="adj" fmla="val 50000"/>
            </a:avLst>
          </a:prstGeom>
          <a:solidFill>
            <a:srgbClr val="F7630C"/>
          </a:solidFill>
          <a:ln/>
        </p:spPr>
      </p:sp>
      <p:pic>
        <p:nvPicPr>
          <p:cNvPr id="9" name="Image 1" descr="package icon">    </p:cNvPr>
          <p:cNvPicPr>
            <a:picLocks noChangeAspect="1"/>
          </p:cNvPicPr>
          <p:nvPr/>
        </p:nvPicPr>
        <p:blipFill>
          <a:blip r:embed="rId2"/>
          <a:srcRect l="0" r="0" t="0" b="0"/>
          <a:stretch/>
        </p:blipFill>
        <p:spPr>
          <a:xfrm>
            <a:off x="1117600" y="2347020"/>
            <a:ext cx="177800" cy="177800"/>
          </a:xfrm>
          <a:prstGeom prst="rect">
            <a:avLst/>
          </a:prstGeom>
        </p:spPr>
      </p:pic>
      <p:sp>
        <p:nvSpPr>
          <p:cNvPr id="10" name="Text 6"/>
          <p:cNvSpPr/>
          <p:nvPr/>
        </p:nvSpPr>
        <p:spPr>
          <a:xfrm>
            <a:off x="1473200" y="2320330"/>
            <a:ext cx="136588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7FB"/>
                </a:solidFill>
                <a:latin typeface="Calibri" pitchFamily="34" charset="0"/>
                <a:ea typeface="Calibri" pitchFamily="34" charset="-122"/>
                <a:cs typeface="Calibri" pitchFamily="34" charset="-120"/>
              </a:rPr>
              <a:t>ParcelDelivery</a:t>
            </a:r>
            <a:endParaRPr lang="en-US" sz="1300" dirty="0"/>
          </a:p>
        </p:txBody>
      </p:sp>
      <p:sp>
        <p:nvSpPr>
          <p:cNvPr id="11" name="Shape 7"/>
          <p:cNvSpPr/>
          <p:nvPr/>
        </p:nvSpPr>
        <p:spPr>
          <a:xfrm>
            <a:off x="990600" y="2855020"/>
            <a:ext cx="2311400" cy="1130201"/>
          </a:xfrm>
          <a:prstGeom prst="roundRect">
            <a:avLst>
              <a:gd name="adj" fmla="val 11237"/>
            </a:avLst>
          </a:prstGeom>
          <a:solidFill>
            <a:srgbClr val="13294B"/>
          </a:solidFill>
          <a:ln/>
        </p:spPr>
      </p:sp>
      <p:sp>
        <p:nvSpPr>
          <p:cNvPr id="12" name="Text 8"/>
          <p:cNvSpPr/>
          <p:nvPr/>
        </p:nvSpPr>
        <p:spPr>
          <a:xfrm>
            <a:off x="1143000" y="2982020"/>
            <a:ext cx="206679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7FB"/>
                </a:solidFill>
                <a:latin typeface="Calibri" pitchFamily="34" charset="0"/>
                <a:ea typeface="Calibri" pitchFamily="34" charset="-122"/>
                <a:cs typeface="Calibri" pitchFamily="34" charset="-120"/>
              </a:rPr>
              <a:t>Your parcel could not be delivered. Pay the 1.99 redelivery fee today:</a:t>
            </a:r>
            <a:endParaRPr lang="en-US" sz="1200" dirty="0"/>
          </a:p>
        </p:txBody>
      </p:sp>
      <p:sp>
        <p:nvSpPr>
          <p:cNvPr id="13" name="Text 9"/>
          <p:cNvSpPr/>
          <p:nvPr/>
        </p:nvSpPr>
        <p:spPr>
          <a:xfrm>
            <a:off x="1143000" y="36449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A5C"/>
                </a:solidFill>
                <a:latin typeface="IBM Plex Mono" pitchFamily="49" charset="0"/>
                <a:ea typeface="IBM Plex Mono" pitchFamily="49" charset="-122"/>
                <a:cs typeface="IBM Plex Mono" pitchFamily="49" charset="-120"/>
              </a:rPr>
              <a:t>parcel-redeliver.info</a:t>
            </a:r>
            <a:endParaRPr lang="en-US" sz="1200" dirty="0"/>
          </a:p>
        </p:txBody>
      </p:sp>
      <p:sp>
        <p:nvSpPr>
          <p:cNvPr id="14" name="Text 10"/>
          <p:cNvSpPr/>
          <p:nvPr/>
        </p:nvSpPr>
        <p:spPr>
          <a:xfrm>
            <a:off x="990600" y="4112220"/>
            <a:ext cx="2311400" cy="474960"/>
          </a:xfrm>
          <a:prstGeom prst="roundRect">
            <a:avLst>
              <a:gd name="adj" fmla="val 26739"/>
            </a:avLst>
          </a:prstGeom>
          <a:solidFill>
            <a:srgbClr val="13294B"/>
          </a:solidFill>
          <a:ln/>
        </p:spPr>
        <p:txBody>
          <a:bodyPr wrap="square" lIns="115203" tIns="89803" rIns="55005" bIns="64403" rtlCol="0" anchor="t">
            <a:normAutofit/>
          </a:bodyPr>
          <a:lstStyle/>
          <a:p>
            <a:pPr algn="l" indent="0" marL="0">
              <a:lnSpc>
                <a:spcPts val="1740"/>
              </a:lnSpc>
              <a:buNone/>
            </a:pPr>
            <a:r>
              <a:rPr lang="en-US" sz="1200" dirty="0">
                <a:solidFill>
                  <a:srgbClr val="F4F7FB"/>
                </a:solidFill>
                <a:latin typeface="Calibri" pitchFamily="34" charset="0"/>
                <a:ea typeface="Calibri" pitchFamily="34" charset="-122"/>
                <a:cs typeface="Calibri" pitchFamily="34" charset="-120"/>
              </a:rPr>
              <a:t>Reply STOP to opt out.</a:t>
            </a:r>
            <a:endParaRPr lang="en-US" sz="1200" dirty="0"/>
          </a:p>
        </p:txBody>
      </p:sp>
      <p:sp>
        <p:nvSpPr>
          <p:cNvPr id="15" name="Shape 11"/>
          <p:cNvSpPr/>
          <p:nvPr/>
        </p:nvSpPr>
        <p:spPr>
          <a:xfrm>
            <a:off x="990600" y="4714180"/>
            <a:ext cx="2311400" cy="629841"/>
          </a:xfrm>
          <a:prstGeom prst="roundRect">
            <a:avLst>
              <a:gd name="adj" fmla="val 16131"/>
            </a:avLst>
          </a:prstGeom>
          <a:solidFill>
            <a:srgbClr val="F7630C"/>
          </a:solidFill>
          <a:ln/>
        </p:spPr>
      </p:sp>
      <p:pic>
        <p:nvPicPr>
          <p:cNvPr id="16" name="Image 2" descr="alert triangle icon">    </p:cNvPr>
          <p:cNvPicPr>
            <a:picLocks noChangeAspect="1"/>
          </p:cNvPicPr>
          <p:nvPr/>
        </p:nvPicPr>
        <p:blipFill>
          <a:blip r:embed="rId3"/>
          <a:srcRect l="0" r="0" t="-2784" b="-2784"/>
          <a:stretch/>
        </p:blipFill>
        <p:spPr>
          <a:xfrm>
            <a:off x="1117600" y="4927501"/>
            <a:ext cx="192484" cy="203200"/>
          </a:xfrm>
          <a:prstGeom prst="rect">
            <a:avLst/>
          </a:prstGeom>
        </p:spPr>
      </p:pic>
      <p:sp>
        <p:nvSpPr>
          <p:cNvPr id="17" name="Text 12"/>
          <p:cNvSpPr/>
          <p:nvPr/>
        </p:nvSpPr>
        <p:spPr>
          <a:xfrm>
            <a:off x="1386284" y="4815780"/>
            <a:ext cx="184237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628"/>
                </a:solidFill>
                <a:latin typeface="Calibri" pitchFamily="34" charset="0"/>
                <a:ea typeface="Calibri" pitchFamily="34" charset="-122"/>
                <a:cs typeface="Calibri" pitchFamily="34" charset="-120"/>
              </a:rPr>
              <a:t>Unknown sender, odd link</a:t>
            </a:r>
            <a:endParaRPr lang="en-US" sz="1200" dirty="0"/>
          </a:p>
        </p:txBody>
      </p:sp>
      <p:sp>
        <p:nvSpPr>
          <p:cNvPr id="18" name="Shape 13"/>
          <p:cNvSpPr/>
          <p:nvPr/>
        </p:nvSpPr>
        <p:spPr>
          <a:xfrm>
            <a:off x="4114800" y="1981299"/>
            <a:ext cx="7264400" cy="965101"/>
          </a:xfrm>
          <a:prstGeom prst="roundRect">
            <a:avLst>
              <a:gd name="adj" fmla="val 10527"/>
            </a:avLst>
          </a:prstGeom>
          <a:solidFill>
            <a:srgbClr val="FFFFFF"/>
          </a:solidFill>
          <a:ln/>
          <a:effectLst>
            <a:outerShdw sx="100000" sy="100000" kx="0" ky="0" algn="bl" rotWithShape="0" blurRad="101600" dist="25400" dir="5400000">
              <a:srgbClr val="C9D6E3">
                <a:alpha val="100000"/>
              </a:srgbClr>
            </a:outerShdw>
          </a:effectLst>
        </p:spPr>
      </p:sp>
      <p:sp>
        <p:nvSpPr>
          <p:cNvPr id="19" name="Shape 14"/>
          <p:cNvSpPr/>
          <p:nvPr/>
        </p:nvSpPr>
        <p:spPr>
          <a:xfrm>
            <a:off x="4343400" y="2184499"/>
            <a:ext cx="457200" cy="457200"/>
          </a:xfrm>
          <a:prstGeom prst="roundRect">
            <a:avLst>
              <a:gd name="adj" fmla="val 50000"/>
            </a:avLst>
          </a:prstGeom>
          <a:solidFill>
            <a:srgbClr val="EAF3FC"/>
          </a:solidFill>
          <a:ln/>
        </p:spPr>
      </p:sp>
      <p:pic>
        <p:nvPicPr>
          <p:cNvPr id="20" name="Image 3" descr="message square icon">    </p:cNvPr>
          <p:cNvPicPr>
            <a:picLocks noChangeAspect="1"/>
          </p:cNvPicPr>
          <p:nvPr/>
        </p:nvPicPr>
        <p:blipFill>
          <a:blip r:embed="rId4"/>
          <a:srcRect l="0" r="0" t="0" b="0"/>
          <a:stretch/>
        </p:blipFill>
        <p:spPr>
          <a:xfrm>
            <a:off x="4457700" y="2298799"/>
            <a:ext cx="228600" cy="228600"/>
          </a:xfrm>
          <a:prstGeom prst="rect">
            <a:avLst/>
          </a:prstGeom>
        </p:spPr>
      </p:pic>
      <p:sp>
        <p:nvSpPr>
          <p:cNvPr id="21" name="Text 15"/>
          <p:cNvSpPr/>
          <p:nvPr/>
        </p:nvSpPr>
        <p:spPr>
          <a:xfrm>
            <a:off x="4978400" y="2184499"/>
            <a:ext cx="635736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Texts (smishing)</a:t>
            </a:r>
            <a:endParaRPr lang="en-US" sz="1700" dirty="0"/>
          </a:p>
        </p:txBody>
      </p:sp>
      <p:sp>
        <p:nvSpPr>
          <p:cNvPr id="22" name="Text 16"/>
          <p:cNvSpPr/>
          <p:nvPr/>
        </p:nvSpPr>
        <p:spPr>
          <a:xfrm>
            <a:off x="4978400" y="2494359"/>
            <a:ext cx="6400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Don't tap links in unexpected texts. Open the official app or website yourself.</a:t>
            </a:r>
            <a:endParaRPr lang="en-US" sz="1400" dirty="0"/>
          </a:p>
        </p:txBody>
      </p:sp>
      <p:sp>
        <p:nvSpPr>
          <p:cNvPr id="23" name="Shape 17"/>
          <p:cNvSpPr/>
          <p:nvPr/>
        </p:nvSpPr>
        <p:spPr>
          <a:xfrm>
            <a:off x="4114800" y="3098800"/>
            <a:ext cx="7264400" cy="1213941"/>
          </a:xfrm>
          <a:prstGeom prst="roundRect">
            <a:avLst>
              <a:gd name="adj" fmla="val 8369"/>
            </a:avLst>
          </a:prstGeom>
          <a:solidFill>
            <a:srgbClr val="FFFFFF"/>
          </a:solidFill>
          <a:ln/>
          <a:effectLst>
            <a:outerShdw sx="100000" sy="100000" kx="0" ky="0" algn="bl" rotWithShape="0" blurRad="101600" dist="25400" dir="5400000">
              <a:srgbClr val="C9D6E3">
                <a:alpha val="100000"/>
              </a:srgbClr>
            </a:outerShdw>
          </a:effectLst>
        </p:spPr>
      </p:sp>
      <p:sp>
        <p:nvSpPr>
          <p:cNvPr id="24" name="Shape 18"/>
          <p:cNvSpPr/>
          <p:nvPr/>
        </p:nvSpPr>
        <p:spPr>
          <a:xfrm>
            <a:off x="4343400" y="3302000"/>
            <a:ext cx="457200" cy="457200"/>
          </a:xfrm>
          <a:prstGeom prst="roundRect">
            <a:avLst>
              <a:gd name="adj" fmla="val 50000"/>
            </a:avLst>
          </a:prstGeom>
          <a:solidFill>
            <a:srgbClr val="EAF3FC"/>
          </a:solidFill>
          <a:ln/>
        </p:spPr>
      </p:sp>
      <p:pic>
        <p:nvPicPr>
          <p:cNvPr id="25" name="Image 4" descr="phone icon">    </p:cNvPr>
          <p:cNvPicPr>
            <a:picLocks noChangeAspect="1"/>
          </p:cNvPicPr>
          <p:nvPr/>
        </p:nvPicPr>
        <p:blipFill>
          <a:blip r:embed="rId5"/>
          <a:srcRect l="0" r="0" t="0" b="0"/>
          <a:stretch/>
        </p:blipFill>
        <p:spPr>
          <a:xfrm>
            <a:off x="4457700" y="3416300"/>
            <a:ext cx="228600" cy="228600"/>
          </a:xfrm>
          <a:prstGeom prst="rect">
            <a:avLst/>
          </a:prstGeom>
        </p:spPr>
      </p:pic>
      <p:sp>
        <p:nvSpPr>
          <p:cNvPr id="26" name="Text 19"/>
          <p:cNvSpPr/>
          <p:nvPr/>
        </p:nvSpPr>
        <p:spPr>
          <a:xfrm>
            <a:off x="4978400" y="3302000"/>
            <a:ext cx="635736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Calls (vishing)</a:t>
            </a:r>
            <a:endParaRPr lang="en-US" sz="1700" dirty="0"/>
          </a:p>
        </p:txBody>
      </p:sp>
      <p:sp>
        <p:nvSpPr>
          <p:cNvPr id="27" name="Text 20"/>
          <p:cNvSpPr/>
          <p:nvPr/>
        </p:nvSpPr>
        <p:spPr>
          <a:xfrm>
            <a:off x="4978400" y="3611860"/>
            <a:ext cx="635736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Hang up and call back on a number you trust. IT will never ask for your password.</a:t>
            </a:r>
            <a:endParaRPr lang="en-US" sz="1400" dirty="0"/>
          </a:p>
        </p:txBody>
      </p:sp>
      <p:sp>
        <p:nvSpPr>
          <p:cNvPr id="28" name="Shape 21"/>
          <p:cNvSpPr/>
          <p:nvPr/>
        </p:nvSpPr>
        <p:spPr>
          <a:xfrm>
            <a:off x="4114800" y="4465141"/>
            <a:ext cx="7264400" cy="965101"/>
          </a:xfrm>
          <a:prstGeom prst="roundRect">
            <a:avLst>
              <a:gd name="adj" fmla="val 10527"/>
            </a:avLst>
          </a:prstGeom>
          <a:solidFill>
            <a:srgbClr val="FFFFFF"/>
          </a:solidFill>
          <a:ln/>
          <a:effectLst>
            <a:outerShdw sx="100000" sy="100000" kx="0" ky="0" algn="bl" rotWithShape="0" blurRad="101600" dist="25400" dir="5400000">
              <a:srgbClr val="C9D6E3">
                <a:alpha val="100000"/>
              </a:srgbClr>
            </a:outerShdw>
          </a:effectLst>
        </p:spPr>
      </p:sp>
      <p:sp>
        <p:nvSpPr>
          <p:cNvPr id="29" name="Shape 22"/>
          <p:cNvSpPr/>
          <p:nvPr/>
        </p:nvSpPr>
        <p:spPr>
          <a:xfrm>
            <a:off x="4343400" y="4668341"/>
            <a:ext cx="457200" cy="457200"/>
          </a:xfrm>
          <a:prstGeom prst="roundRect">
            <a:avLst>
              <a:gd name="adj" fmla="val 50000"/>
            </a:avLst>
          </a:prstGeom>
          <a:solidFill>
            <a:srgbClr val="EAF3FC"/>
          </a:solidFill>
          <a:ln/>
        </p:spPr>
      </p:sp>
      <p:pic>
        <p:nvPicPr>
          <p:cNvPr id="30" name="Image 5" descr="qr code icon">    </p:cNvPr>
          <p:cNvPicPr>
            <a:picLocks noChangeAspect="1"/>
          </p:cNvPicPr>
          <p:nvPr/>
        </p:nvPicPr>
        <p:blipFill>
          <a:blip r:embed="rId6"/>
          <a:srcRect l="0" r="0" t="0" b="0"/>
          <a:stretch/>
        </p:blipFill>
        <p:spPr>
          <a:xfrm>
            <a:off x="4457700" y="4782641"/>
            <a:ext cx="228600" cy="228600"/>
          </a:xfrm>
          <a:prstGeom prst="rect">
            <a:avLst/>
          </a:prstGeom>
        </p:spPr>
      </p:pic>
      <p:sp>
        <p:nvSpPr>
          <p:cNvPr id="31" name="Text 23"/>
          <p:cNvSpPr/>
          <p:nvPr/>
        </p:nvSpPr>
        <p:spPr>
          <a:xfrm>
            <a:off x="4978400" y="4668341"/>
            <a:ext cx="635736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QR codes</a:t>
            </a:r>
            <a:endParaRPr lang="en-US" sz="1700" dirty="0"/>
          </a:p>
        </p:txBody>
      </p:sp>
      <p:sp>
        <p:nvSpPr>
          <p:cNvPr id="32" name="Text 24"/>
          <p:cNvSpPr/>
          <p:nvPr/>
        </p:nvSpPr>
        <p:spPr>
          <a:xfrm>
            <a:off x="4978400" y="4978202"/>
            <a:ext cx="6400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Check the address before entering details. Watch for stickers over real codes.</a:t>
            </a:r>
            <a:endParaRPr lang="en-US" sz="1400" dirty="0"/>
          </a:p>
        </p:txBody>
      </p:sp>
      <p:sp>
        <p:nvSpPr>
          <p:cNvPr id="33"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34" name="Text 26"/>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78D4"/>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No-phishing sign: a fishing hook crossed out">    </p:cNvPr>
          <p:cNvPicPr>
            <a:picLocks noChangeAspect="1"/>
          </p:cNvPicPr>
          <p:nvPr/>
        </p:nvPicPr>
        <p:blipFill>
          <a:blip r:embed="rId2"/>
          <a:srcRect l="0" r="0" t="0" b="0"/>
          <a:stretch/>
        </p:blipFill>
        <p:spPr>
          <a:xfrm>
            <a:off x="7747000" y="1397000"/>
            <a:ext cx="3810000" cy="4064000"/>
          </a:xfrm>
          <a:prstGeom prst="rect">
            <a:avLst/>
          </a:prstGeom>
        </p:spPr>
      </p:pic>
      <p:sp>
        <p:nvSpPr>
          <p:cNvPr id="4" name="Text 0"/>
          <p:cNvSpPr/>
          <p:nvPr/>
        </p:nvSpPr>
        <p:spPr>
          <a:xfrm>
            <a:off x="812800" y="16547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FFFFF"/>
                </a:solidFill>
                <a:latin typeface="Calibri" pitchFamily="34" charset="0"/>
                <a:ea typeface="Calibri" pitchFamily="34" charset="-122"/>
                <a:cs typeface="Calibri" pitchFamily="34" charset="-120"/>
              </a:rPr>
              <a:t>THE GOLDEN RULE</a:t>
            </a:r>
            <a:endParaRPr lang="en-US" sz="1600" dirty="0"/>
          </a:p>
        </p:txBody>
      </p:sp>
      <p:sp>
        <p:nvSpPr>
          <p:cNvPr id="5" name="Text 1"/>
          <p:cNvSpPr/>
          <p:nvPr>
            <p:ph type="title"/>
          </p:nvPr>
        </p:nvSpPr>
        <p:spPr>
          <a:xfrm>
            <a:off x="812800" y="2193230"/>
            <a:ext cx="6802120"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FFFFF"/>
                </a:solidFill>
                <a:latin typeface="Arial" pitchFamily="34" charset="0"/>
                <a:ea typeface="Arial" pitchFamily="34" charset="-122"/>
                <a:cs typeface="Arial" pitchFamily="34" charset="-120"/>
              </a:rPr>
              <a:t>Stop.</a:t>
            </a:r>
            <a:endParaRPr lang="en-US" sz="6000" dirty="0"/>
          </a:p>
          <a:p>
            <a:pPr algn="l" indent="0" marL="0">
              <a:lnSpc>
                <a:spcPts val="6300"/>
              </a:lnSpc>
              <a:buNone/>
            </a:pPr>
            <a:r>
              <a:rPr lang="en-US" sz="6000" b="1" i="0" dirty="0">
                <a:solidFill>
                  <a:srgbClr val="FFFFFF"/>
                </a:solidFill>
                <a:latin typeface="Arial" pitchFamily="34" charset="0"/>
                <a:ea typeface="Arial" pitchFamily="34" charset="-122"/>
                <a:cs typeface="Arial" pitchFamily="34" charset="-120"/>
              </a:rPr>
              <a:t>Check.</a:t>
            </a:r>
            <a:endParaRPr lang="en-US" sz="6000" dirty="0"/>
          </a:p>
          <a:p>
            <a:pPr algn="l" indent="0" marL="0">
              <a:lnSpc>
                <a:spcPts val="6300"/>
              </a:lnSpc>
              <a:buNone/>
            </a:pPr>
            <a:r>
              <a:rPr lang="en-US" sz="6000" b="1" i="0" dirty="0">
                <a:solidFill>
                  <a:srgbClr val="FFFFFF"/>
                </a:solidFill>
                <a:latin typeface="Arial" pitchFamily="34" charset="0"/>
                <a:ea typeface="Arial" pitchFamily="34" charset="-122"/>
                <a:cs typeface="Arial" pitchFamily="34" charset="-120"/>
              </a:rPr>
              <a:t>Report.</a:t>
            </a:r>
            <a:endParaRPr lang="en-US" sz="6000" dirty="0"/>
          </a:p>
        </p:txBody>
      </p:sp>
      <p:sp>
        <p:nvSpPr>
          <p:cNvPr id="6" name="Text 2"/>
          <p:cNvSpPr/>
          <p:nvPr/>
        </p:nvSpPr>
        <p:spPr>
          <a:xfrm>
            <a:off x="812800" y="4847530"/>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Calibri" pitchFamily="34" charset="0"/>
                <a:ea typeface="Calibri" pitchFamily="34" charset="-122"/>
                <a:cs typeface="Calibri" pitchFamily="34" charset="-120"/>
              </a:rPr>
              <a:t>If something feels off, it probably is.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07 · INCIDENT RESPONSE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Clicked by mistake? Act fast</a:t>
            </a:r>
            <a:endParaRPr lang="en-US" sz="3600" dirty="0"/>
          </a:p>
        </p:txBody>
      </p:sp>
      <p:sp>
        <p:nvSpPr>
          <p:cNvPr id="5" name="Shape 2"/>
          <p:cNvSpPr/>
          <p:nvPr/>
        </p:nvSpPr>
        <p:spPr>
          <a:xfrm>
            <a:off x="812800" y="1972469"/>
            <a:ext cx="7366000" cy="0"/>
          </a:xfrm>
          <a:prstGeom prst="line">
            <a:avLst/>
          </a:prstGeom>
          <a:noFill/>
          <a:ln w="12700">
            <a:solidFill>
              <a:srgbClr val="D6E2EE"/>
            </a:solidFill>
            <a:prstDash val="solid"/>
          </a:ln>
        </p:spPr>
      </p:sp>
      <p:sp>
        <p:nvSpPr>
          <p:cNvPr id="6" name="Text 3"/>
          <p:cNvSpPr/>
          <p:nvPr/>
        </p:nvSpPr>
        <p:spPr>
          <a:xfrm>
            <a:off x="812800" y="2105819"/>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78D4"/>
                </a:solidFill>
                <a:latin typeface="Arial" pitchFamily="34" charset="0"/>
                <a:ea typeface="Arial" pitchFamily="34" charset="-122"/>
                <a:cs typeface="Arial" pitchFamily="34" charset="-120"/>
              </a:rPr>
              <a:t>1</a:t>
            </a:r>
            <a:endParaRPr lang="en-US" sz="2400" dirty="0"/>
          </a:p>
        </p:txBody>
      </p:sp>
      <p:sp>
        <p:nvSpPr>
          <p:cNvPr id="7" name="Text 4"/>
          <p:cNvSpPr/>
          <p:nvPr/>
        </p:nvSpPr>
        <p:spPr>
          <a:xfrm>
            <a:off x="1371600" y="2195314"/>
            <a:ext cx="70114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A1628"/>
                </a:solidFill>
                <a:latin typeface="Calibri" pitchFamily="34" charset="0"/>
                <a:ea typeface="Calibri" pitchFamily="34" charset="-122"/>
                <a:cs typeface="Calibri" pitchFamily="34" charset="-120"/>
              </a:rPr>
              <a:t>Stop</a:t>
            </a:r>
            <a:r>
              <a:rPr lang="en-US" sz="1500" dirty="0">
                <a:solidFill>
                  <a:srgbClr val="0A1628"/>
                </a:solidFill>
                <a:latin typeface="Calibri" pitchFamily="34" charset="0"/>
                <a:ea typeface="Calibri" pitchFamily="34" charset="-122"/>
                <a:cs typeface="Calibri" pitchFamily="34" charset="-120"/>
              </a:rPr>
              <a:t> and don't enter any more information.</a:t>
            </a:r>
            <a:endParaRPr lang="en-US" sz="1500" dirty="0"/>
          </a:p>
        </p:txBody>
      </p:sp>
      <p:sp>
        <p:nvSpPr>
          <p:cNvPr id="8" name="Shape 5"/>
          <p:cNvSpPr/>
          <p:nvPr/>
        </p:nvSpPr>
        <p:spPr>
          <a:xfrm>
            <a:off x="812800" y="2665809"/>
            <a:ext cx="7366000" cy="0"/>
          </a:xfrm>
          <a:prstGeom prst="line">
            <a:avLst/>
          </a:prstGeom>
          <a:noFill/>
          <a:ln w="12700">
            <a:solidFill>
              <a:srgbClr val="D6E2EE"/>
            </a:solidFill>
            <a:prstDash val="solid"/>
          </a:ln>
        </p:spPr>
      </p:sp>
      <p:sp>
        <p:nvSpPr>
          <p:cNvPr id="9" name="Text 6"/>
          <p:cNvSpPr/>
          <p:nvPr/>
        </p:nvSpPr>
        <p:spPr>
          <a:xfrm>
            <a:off x="812800" y="2799159"/>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78D4"/>
                </a:solidFill>
                <a:latin typeface="Arial" pitchFamily="34" charset="0"/>
                <a:ea typeface="Arial" pitchFamily="34" charset="-122"/>
                <a:cs typeface="Arial" pitchFamily="34" charset="-120"/>
              </a:rPr>
              <a:t>2</a:t>
            </a:r>
            <a:endParaRPr lang="en-US" sz="2400" dirty="0"/>
          </a:p>
        </p:txBody>
      </p:sp>
      <p:sp>
        <p:nvSpPr>
          <p:cNvPr id="10" name="Text 7"/>
          <p:cNvSpPr/>
          <p:nvPr/>
        </p:nvSpPr>
        <p:spPr>
          <a:xfrm>
            <a:off x="1371600" y="2888655"/>
            <a:ext cx="70114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A1628"/>
                </a:solidFill>
                <a:latin typeface="Calibri" pitchFamily="34" charset="0"/>
                <a:ea typeface="Calibri" pitchFamily="34" charset="-122"/>
                <a:cs typeface="Calibri" pitchFamily="34" charset="-120"/>
              </a:rPr>
              <a:t>Report it to IT immediately</a:t>
            </a:r>
            <a:r>
              <a:rPr lang="en-US" sz="1500" dirty="0">
                <a:solidFill>
                  <a:srgbClr val="0A1628"/>
                </a:solidFill>
                <a:latin typeface="Calibri" pitchFamily="34" charset="0"/>
                <a:ea typeface="Calibri" pitchFamily="34" charset="-122"/>
                <a:cs typeface="Calibri" pitchFamily="34" charset="-120"/>
              </a:rPr>
              <a:t> on [contact]. Minutes matter.</a:t>
            </a:r>
            <a:endParaRPr lang="en-US" sz="1500" dirty="0"/>
          </a:p>
        </p:txBody>
      </p:sp>
      <p:sp>
        <p:nvSpPr>
          <p:cNvPr id="11" name="Shape 8"/>
          <p:cNvSpPr/>
          <p:nvPr/>
        </p:nvSpPr>
        <p:spPr>
          <a:xfrm>
            <a:off x="812800" y="3359150"/>
            <a:ext cx="7366000" cy="0"/>
          </a:xfrm>
          <a:prstGeom prst="line">
            <a:avLst/>
          </a:prstGeom>
          <a:noFill/>
          <a:ln w="12700">
            <a:solidFill>
              <a:srgbClr val="D6E2EE"/>
            </a:solidFill>
            <a:prstDash val="solid"/>
          </a:ln>
        </p:spPr>
      </p:sp>
      <p:sp>
        <p:nvSpPr>
          <p:cNvPr id="12" name="Text 9"/>
          <p:cNvSpPr/>
          <p:nvPr/>
        </p:nvSpPr>
        <p:spPr>
          <a:xfrm>
            <a:off x="812800" y="3492500"/>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78D4"/>
                </a:solidFill>
                <a:latin typeface="Arial" pitchFamily="34" charset="0"/>
                <a:ea typeface="Arial" pitchFamily="34" charset="-122"/>
                <a:cs typeface="Arial" pitchFamily="34" charset="-120"/>
              </a:rPr>
              <a:t>3</a:t>
            </a:r>
            <a:endParaRPr lang="en-US" sz="2400" dirty="0"/>
          </a:p>
        </p:txBody>
      </p:sp>
      <p:sp>
        <p:nvSpPr>
          <p:cNvPr id="13" name="Text 10"/>
          <p:cNvSpPr/>
          <p:nvPr/>
        </p:nvSpPr>
        <p:spPr>
          <a:xfrm>
            <a:off x="1371600" y="3581995"/>
            <a:ext cx="70114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A1628"/>
                </a:solidFill>
                <a:latin typeface="Calibri" pitchFamily="34" charset="0"/>
                <a:ea typeface="Calibri" pitchFamily="34" charset="-122"/>
                <a:cs typeface="Calibri" pitchFamily="34" charset="-120"/>
              </a:rPr>
              <a:t>Change your password</a:t>
            </a:r>
            <a:r>
              <a:rPr lang="en-US" sz="1500" dirty="0">
                <a:solidFill>
                  <a:srgbClr val="0A1628"/>
                </a:solidFill>
                <a:latin typeface="Calibri" pitchFamily="34" charset="0"/>
                <a:ea typeface="Calibri" pitchFamily="34" charset="-122"/>
                <a:cs typeface="Calibri" pitchFamily="34" charset="-120"/>
              </a:rPr>
              <a:t> from a trusted device, and anywhere you reused it.</a:t>
            </a:r>
            <a:endParaRPr lang="en-US" sz="1500" dirty="0"/>
          </a:p>
        </p:txBody>
      </p:sp>
      <p:sp>
        <p:nvSpPr>
          <p:cNvPr id="14" name="Shape 11"/>
          <p:cNvSpPr/>
          <p:nvPr/>
        </p:nvSpPr>
        <p:spPr>
          <a:xfrm>
            <a:off x="812800" y="4052491"/>
            <a:ext cx="7366000" cy="0"/>
          </a:xfrm>
          <a:prstGeom prst="line">
            <a:avLst/>
          </a:prstGeom>
          <a:noFill/>
          <a:ln w="12700">
            <a:solidFill>
              <a:srgbClr val="D6E2EE"/>
            </a:solidFill>
            <a:prstDash val="solid"/>
          </a:ln>
        </p:spPr>
      </p:sp>
      <p:sp>
        <p:nvSpPr>
          <p:cNvPr id="15" name="Text 12"/>
          <p:cNvSpPr/>
          <p:nvPr/>
        </p:nvSpPr>
        <p:spPr>
          <a:xfrm>
            <a:off x="812800" y="4185841"/>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78D4"/>
                </a:solidFill>
                <a:latin typeface="Arial" pitchFamily="34" charset="0"/>
                <a:ea typeface="Arial" pitchFamily="34" charset="-122"/>
                <a:cs typeface="Arial" pitchFamily="34" charset="-120"/>
              </a:rPr>
              <a:t>4</a:t>
            </a:r>
            <a:endParaRPr lang="en-US" sz="2400" dirty="0"/>
          </a:p>
        </p:txBody>
      </p:sp>
      <p:sp>
        <p:nvSpPr>
          <p:cNvPr id="16" name="Text 13"/>
          <p:cNvSpPr/>
          <p:nvPr/>
        </p:nvSpPr>
        <p:spPr>
          <a:xfrm>
            <a:off x="1371600" y="4275336"/>
            <a:ext cx="70114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A1628"/>
                </a:solidFill>
                <a:latin typeface="Calibri" pitchFamily="34" charset="0"/>
                <a:ea typeface="Calibri" pitchFamily="34" charset="-122"/>
                <a:cs typeface="Calibri" pitchFamily="34" charset="-120"/>
              </a:rPr>
              <a:t>Follow IT's advice</a:t>
            </a:r>
            <a:r>
              <a:rPr lang="en-US" sz="1500" dirty="0">
                <a:solidFill>
                  <a:srgbClr val="0A1628"/>
                </a:solidFill>
                <a:latin typeface="Calibri" pitchFamily="34" charset="0"/>
                <a:ea typeface="Calibri" pitchFamily="34" charset="-122"/>
                <a:cs typeface="Calibri" pitchFamily="34" charset="-120"/>
              </a:rPr>
              <a:t> if you opened an attachment, such as disconnecting.</a:t>
            </a:r>
            <a:endParaRPr lang="en-US" sz="1500" dirty="0"/>
          </a:p>
        </p:txBody>
      </p:sp>
      <p:sp>
        <p:nvSpPr>
          <p:cNvPr id="17" name="Shape 14"/>
          <p:cNvSpPr/>
          <p:nvPr/>
        </p:nvSpPr>
        <p:spPr>
          <a:xfrm>
            <a:off x="812800" y="4745831"/>
            <a:ext cx="7366000" cy="0"/>
          </a:xfrm>
          <a:prstGeom prst="line">
            <a:avLst/>
          </a:prstGeom>
          <a:noFill/>
          <a:ln w="12700">
            <a:solidFill>
              <a:srgbClr val="D6E2EE"/>
            </a:solidFill>
            <a:prstDash val="solid"/>
          </a:ln>
        </p:spPr>
      </p:sp>
      <p:sp>
        <p:nvSpPr>
          <p:cNvPr id="18" name="Shape 15"/>
          <p:cNvSpPr/>
          <p:nvPr/>
        </p:nvSpPr>
        <p:spPr>
          <a:xfrm>
            <a:off x="812800" y="5439172"/>
            <a:ext cx="7366000" cy="0"/>
          </a:xfrm>
          <a:prstGeom prst="line">
            <a:avLst/>
          </a:prstGeom>
          <a:noFill/>
          <a:ln w="12700">
            <a:solidFill>
              <a:srgbClr val="D6E2EE"/>
            </a:solidFill>
            <a:prstDash val="solid"/>
          </a:ln>
        </p:spPr>
      </p:sp>
      <p:sp>
        <p:nvSpPr>
          <p:cNvPr id="19" name="Text 16"/>
          <p:cNvSpPr/>
          <p:nvPr/>
        </p:nvSpPr>
        <p:spPr>
          <a:xfrm>
            <a:off x="812800" y="4879181"/>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78D4"/>
                </a:solidFill>
                <a:latin typeface="Arial" pitchFamily="34" charset="0"/>
                <a:ea typeface="Arial" pitchFamily="34" charset="-122"/>
                <a:cs typeface="Arial" pitchFamily="34" charset="-120"/>
              </a:rPr>
              <a:t>5</a:t>
            </a:r>
            <a:endParaRPr lang="en-US" sz="2400" dirty="0"/>
          </a:p>
        </p:txBody>
      </p:sp>
      <p:sp>
        <p:nvSpPr>
          <p:cNvPr id="20" name="Text 17"/>
          <p:cNvSpPr/>
          <p:nvPr/>
        </p:nvSpPr>
        <p:spPr>
          <a:xfrm>
            <a:off x="1371600" y="4968677"/>
            <a:ext cx="70114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A1628"/>
                </a:solidFill>
                <a:latin typeface="Calibri" pitchFamily="34" charset="0"/>
                <a:ea typeface="Calibri" pitchFamily="34" charset="-122"/>
                <a:cs typeface="Calibri" pitchFamily="34" charset="-120"/>
              </a:rPr>
              <a:t>Watch for warning signs:</a:t>
            </a:r>
            <a:r>
              <a:rPr lang="en-US" sz="1500" dirty="0">
                <a:solidFill>
                  <a:srgbClr val="0A1628"/>
                </a:solidFill>
                <a:latin typeface="Calibri" pitchFamily="34" charset="0"/>
                <a:ea typeface="Calibri" pitchFamily="34" charset="-122"/>
                <a:cs typeface="Calibri" pitchFamily="34" charset="-120"/>
              </a:rPr>
              <a:t> MFA prompts or sent emails you don't recognise.</a:t>
            </a:r>
            <a:endParaRPr lang="en-US" sz="1500" dirty="0"/>
          </a:p>
        </p:txBody>
      </p:sp>
      <p:pic>
        <p:nvPicPr>
          <p:cNvPr id="21" name="Image 1" descr="Person throwing a lifebuoy: help is available">    </p:cNvPr>
          <p:cNvPicPr>
            <a:picLocks noChangeAspect="1"/>
          </p:cNvPicPr>
          <p:nvPr/>
        </p:nvPicPr>
        <p:blipFill>
          <a:blip r:embed="rId2"/>
          <a:srcRect l="0" r="0" t="0" b="0"/>
          <a:stretch/>
        </p:blipFill>
        <p:spPr>
          <a:xfrm>
            <a:off x="8585200" y="1927820"/>
            <a:ext cx="2794000" cy="3556000"/>
          </a:xfrm>
          <a:prstGeom prst="rect">
            <a:avLst/>
          </a:prstGeom>
        </p:spPr>
      </p:pic>
      <p:sp>
        <p:nvSpPr>
          <p:cNvPr id="22"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23" name="Text 19"/>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08 · EVERYDAY PROTECTION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Six habits that beat phishing</a:t>
            </a:r>
            <a:endParaRPr lang="en-US" sz="3600" dirty="0"/>
          </a:p>
        </p:txBody>
      </p:sp>
      <p:sp>
        <p:nvSpPr>
          <p:cNvPr id="5" name="Shape 2"/>
          <p:cNvSpPr/>
          <p:nvPr/>
        </p:nvSpPr>
        <p:spPr>
          <a:xfrm>
            <a:off x="812800" y="2017117"/>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6" name="Image 1" descr="Pause symbol">    </p:cNvPr>
          <p:cNvPicPr>
            <a:picLocks noChangeAspect="1"/>
          </p:cNvPicPr>
          <p:nvPr/>
        </p:nvPicPr>
        <p:blipFill>
          <a:blip r:embed="rId2"/>
          <a:srcRect l="0" r="0" t="0" b="0"/>
          <a:stretch/>
        </p:blipFill>
        <p:spPr>
          <a:xfrm>
            <a:off x="1041400" y="2220317"/>
            <a:ext cx="508000" cy="508000"/>
          </a:xfrm>
          <a:prstGeom prst="rect">
            <a:avLst/>
          </a:prstGeom>
        </p:spPr>
      </p:pic>
      <p:sp>
        <p:nvSpPr>
          <p:cNvPr id="7" name="Text 3"/>
          <p:cNvSpPr/>
          <p:nvPr/>
        </p:nvSpPr>
        <p:spPr>
          <a:xfrm>
            <a:off x="1041400" y="2804517"/>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Pause on urgency</a:t>
            </a:r>
            <a:endParaRPr lang="en-US" sz="1700" dirty="0"/>
          </a:p>
        </p:txBody>
      </p:sp>
      <p:sp>
        <p:nvSpPr>
          <p:cNvPr id="8" name="Text 4"/>
          <p:cNvSpPr/>
          <p:nvPr/>
        </p:nvSpPr>
        <p:spPr>
          <a:xfrm>
            <a:off x="1041400" y="3139777"/>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Pressure is a red flag. Take a moment.</a:t>
            </a:r>
            <a:endParaRPr lang="en-US" sz="1400" dirty="0"/>
          </a:p>
        </p:txBody>
      </p:sp>
      <p:sp>
        <p:nvSpPr>
          <p:cNvPr id="9" name="Shape 5"/>
          <p:cNvSpPr/>
          <p:nvPr/>
        </p:nvSpPr>
        <p:spPr>
          <a:xfrm>
            <a:off x="4394200" y="2017117"/>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10" name="Image 2" descr="Two-way arrows">    </p:cNvPr>
          <p:cNvPicPr>
            <a:picLocks noChangeAspect="1"/>
          </p:cNvPicPr>
          <p:nvPr/>
        </p:nvPicPr>
        <p:blipFill>
          <a:blip r:embed="rId3"/>
          <a:srcRect l="0" r="0" t="0" b="0"/>
          <a:stretch/>
        </p:blipFill>
        <p:spPr>
          <a:xfrm>
            <a:off x="4622800" y="2220317"/>
            <a:ext cx="508000" cy="508000"/>
          </a:xfrm>
          <a:prstGeom prst="rect">
            <a:avLst/>
          </a:prstGeom>
        </p:spPr>
      </p:pic>
      <p:sp>
        <p:nvSpPr>
          <p:cNvPr id="11" name="Text 6"/>
          <p:cNvSpPr/>
          <p:nvPr/>
        </p:nvSpPr>
        <p:spPr>
          <a:xfrm>
            <a:off x="4622800" y="2804517"/>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Verify another way</a:t>
            </a:r>
            <a:endParaRPr lang="en-US" sz="1700" dirty="0"/>
          </a:p>
        </p:txBody>
      </p:sp>
      <p:sp>
        <p:nvSpPr>
          <p:cNvPr id="12" name="Text 7"/>
          <p:cNvSpPr/>
          <p:nvPr/>
        </p:nvSpPr>
        <p:spPr>
          <a:xfrm>
            <a:off x="4622800" y="3139777"/>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Call the sender on a number you know.</a:t>
            </a:r>
            <a:endParaRPr lang="en-US" sz="1400" dirty="0"/>
          </a:p>
        </p:txBody>
      </p:sp>
      <p:sp>
        <p:nvSpPr>
          <p:cNvPr id="13" name="Shape 8"/>
          <p:cNvSpPr/>
          <p:nvPr/>
        </p:nvSpPr>
        <p:spPr>
          <a:xfrm>
            <a:off x="7975600" y="2017117"/>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14" name="Image 3" descr="Mouse pointer">    </p:cNvPr>
          <p:cNvPicPr>
            <a:picLocks noChangeAspect="1"/>
          </p:cNvPicPr>
          <p:nvPr/>
        </p:nvPicPr>
        <p:blipFill>
          <a:blip r:embed="rId4"/>
          <a:srcRect l="0" r="0" t="0" b="0"/>
          <a:stretch/>
        </p:blipFill>
        <p:spPr>
          <a:xfrm>
            <a:off x="8204200" y="2220317"/>
            <a:ext cx="508000" cy="508000"/>
          </a:xfrm>
          <a:prstGeom prst="rect">
            <a:avLst/>
          </a:prstGeom>
        </p:spPr>
      </p:pic>
      <p:sp>
        <p:nvSpPr>
          <p:cNvPr id="15" name="Text 9"/>
          <p:cNvSpPr/>
          <p:nvPr/>
        </p:nvSpPr>
        <p:spPr>
          <a:xfrm>
            <a:off x="8204200" y="2804517"/>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Hover before you click</a:t>
            </a:r>
            <a:endParaRPr lang="en-US" sz="1700" dirty="0"/>
          </a:p>
        </p:txBody>
      </p:sp>
      <p:sp>
        <p:nvSpPr>
          <p:cNvPr id="16" name="Text 10"/>
          <p:cNvSpPr/>
          <p:nvPr/>
        </p:nvSpPr>
        <p:spPr>
          <a:xfrm>
            <a:off x="8204200" y="3139777"/>
            <a:ext cx="30347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Check where every link really goes.</a:t>
            </a:r>
            <a:endParaRPr lang="en-US" sz="1400" dirty="0"/>
          </a:p>
        </p:txBody>
      </p:sp>
      <p:sp>
        <p:nvSpPr>
          <p:cNvPr id="17" name="Shape 11"/>
          <p:cNvSpPr/>
          <p:nvPr/>
        </p:nvSpPr>
        <p:spPr>
          <a:xfrm>
            <a:off x="812800" y="4018459"/>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18" name="Image 4" descr="Phone with key">    </p:cNvPr>
          <p:cNvPicPr>
            <a:picLocks noChangeAspect="1"/>
          </p:cNvPicPr>
          <p:nvPr/>
        </p:nvPicPr>
        <p:blipFill>
          <a:blip r:embed="rId5"/>
          <a:srcRect l="0" r="0" t="0" b="0"/>
          <a:stretch/>
        </p:blipFill>
        <p:spPr>
          <a:xfrm>
            <a:off x="1041400" y="4221659"/>
            <a:ext cx="508000" cy="508000"/>
          </a:xfrm>
          <a:prstGeom prst="rect">
            <a:avLst/>
          </a:prstGeom>
        </p:spPr>
      </p:pic>
      <p:sp>
        <p:nvSpPr>
          <p:cNvPr id="19" name="Text 12"/>
          <p:cNvSpPr/>
          <p:nvPr/>
        </p:nvSpPr>
        <p:spPr>
          <a:xfrm>
            <a:off x="1041400" y="4805859"/>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Use MFA</a:t>
            </a:r>
            <a:endParaRPr lang="en-US" sz="1700" dirty="0"/>
          </a:p>
        </p:txBody>
      </p:sp>
      <p:sp>
        <p:nvSpPr>
          <p:cNvPr id="20" name="Text 13"/>
          <p:cNvSpPr/>
          <p:nvPr/>
        </p:nvSpPr>
        <p:spPr>
          <a:xfrm>
            <a:off x="1041400" y="5141119"/>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Never share or approve codes you didn't request.</a:t>
            </a:r>
            <a:endParaRPr lang="en-US" sz="1400" dirty="0"/>
          </a:p>
        </p:txBody>
      </p:sp>
      <p:sp>
        <p:nvSpPr>
          <p:cNvPr id="21" name="Shape 14"/>
          <p:cNvSpPr/>
          <p:nvPr/>
        </p:nvSpPr>
        <p:spPr>
          <a:xfrm>
            <a:off x="4394200" y="4018459"/>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22" name="Image 5" descr="Password vault">    </p:cNvPr>
          <p:cNvPicPr>
            <a:picLocks noChangeAspect="1"/>
          </p:cNvPicPr>
          <p:nvPr/>
        </p:nvPicPr>
        <p:blipFill>
          <a:blip r:embed="rId6"/>
          <a:srcRect l="0" r="0" t="0" b="0"/>
          <a:stretch/>
        </p:blipFill>
        <p:spPr>
          <a:xfrm>
            <a:off x="4622800" y="4221659"/>
            <a:ext cx="508000" cy="508000"/>
          </a:xfrm>
          <a:prstGeom prst="rect">
            <a:avLst/>
          </a:prstGeom>
        </p:spPr>
      </p:pic>
      <p:sp>
        <p:nvSpPr>
          <p:cNvPr id="23" name="Text 15"/>
          <p:cNvSpPr/>
          <p:nvPr/>
        </p:nvSpPr>
        <p:spPr>
          <a:xfrm>
            <a:off x="4622800" y="4805859"/>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Unique passwords</a:t>
            </a:r>
            <a:endParaRPr lang="en-US" sz="1700" dirty="0"/>
          </a:p>
        </p:txBody>
      </p:sp>
      <p:sp>
        <p:nvSpPr>
          <p:cNvPr id="24" name="Text 16"/>
          <p:cNvSpPr/>
          <p:nvPr/>
        </p:nvSpPr>
        <p:spPr>
          <a:xfrm>
            <a:off x="4622800" y="5141119"/>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password manager makes this easy.</a:t>
            </a:r>
            <a:endParaRPr lang="en-US" sz="1400" dirty="0"/>
          </a:p>
        </p:txBody>
      </p:sp>
      <p:sp>
        <p:nvSpPr>
          <p:cNvPr id="25" name="Shape 17"/>
          <p:cNvSpPr/>
          <p:nvPr/>
        </p:nvSpPr>
        <p:spPr>
          <a:xfrm>
            <a:off x="7975600" y="4018459"/>
            <a:ext cx="3403600" cy="1823541"/>
          </a:xfrm>
          <a:prstGeom prst="roundRect">
            <a:avLst>
              <a:gd name="adj" fmla="val 5572"/>
            </a:avLst>
          </a:prstGeom>
          <a:solidFill>
            <a:srgbClr val="FFFFFF"/>
          </a:solidFill>
          <a:ln/>
          <a:effectLst>
            <a:outerShdw sx="100000" sy="100000" kx="0" ky="0" algn="bl" rotWithShape="0" blurRad="101600" dist="25400" dir="5400000">
              <a:srgbClr val="C9D6E3">
                <a:alpha val="100000"/>
              </a:srgbClr>
            </a:outerShdw>
          </a:effectLst>
        </p:spPr>
      </p:sp>
      <p:pic>
        <p:nvPicPr>
          <p:cNvPr id="26" name="Image 6" descr="Megaphone">    </p:cNvPr>
          <p:cNvPicPr>
            <a:picLocks noChangeAspect="1"/>
          </p:cNvPicPr>
          <p:nvPr/>
        </p:nvPicPr>
        <p:blipFill>
          <a:blip r:embed="rId7"/>
          <a:srcRect l="0" r="0" t="0" b="0"/>
          <a:stretch/>
        </p:blipFill>
        <p:spPr>
          <a:xfrm>
            <a:off x="8204200" y="4221659"/>
            <a:ext cx="508000" cy="508000"/>
          </a:xfrm>
          <a:prstGeom prst="rect">
            <a:avLst/>
          </a:prstGeom>
        </p:spPr>
      </p:pic>
      <p:sp>
        <p:nvSpPr>
          <p:cNvPr id="27" name="Text 18"/>
          <p:cNvSpPr/>
          <p:nvPr/>
        </p:nvSpPr>
        <p:spPr>
          <a:xfrm>
            <a:off x="8204200" y="4805859"/>
            <a:ext cx="303479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A1628"/>
                </a:solidFill>
                <a:latin typeface="Calibri" pitchFamily="34" charset="0"/>
                <a:ea typeface="Calibri" pitchFamily="34" charset="-122"/>
                <a:cs typeface="Calibri" pitchFamily="34" charset="-120"/>
              </a:rPr>
              <a:t>Report, don't delete</a:t>
            </a:r>
            <a:endParaRPr lang="en-US" sz="1700" dirty="0"/>
          </a:p>
        </p:txBody>
      </p:sp>
      <p:sp>
        <p:nvSpPr>
          <p:cNvPr id="28" name="Text 19"/>
          <p:cNvSpPr/>
          <p:nvPr/>
        </p:nvSpPr>
        <p:spPr>
          <a:xfrm>
            <a:off x="8204200" y="5141119"/>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Reporting protects your colleagues too.</a:t>
            </a:r>
            <a:endParaRPr lang="en-US" sz="1400" dirty="0"/>
          </a:p>
        </p:txBody>
      </p:sp>
      <p:sp>
        <p:nvSpPr>
          <p:cNvPr id="29"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30" name="Text 21"/>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09 · REPORTING</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A1628"/>
                </a:solidFill>
                <a:latin typeface="Arial" pitchFamily="34" charset="0"/>
                <a:ea typeface="Arial" pitchFamily="34" charset="-122"/>
                <a:cs typeface="Arial" pitchFamily="34" charset="-120"/>
              </a:rPr>
              <a:t>How to report phishing</a:t>
            </a:r>
            <a:endParaRPr lang="en-US" sz="3600" dirty="0"/>
          </a:p>
        </p:txBody>
      </p:sp>
      <p:sp>
        <p:nvSpPr>
          <p:cNvPr id="5" name="Shape 2"/>
          <p:cNvSpPr/>
          <p:nvPr/>
        </p:nvSpPr>
        <p:spPr>
          <a:xfrm>
            <a:off x="819150" y="2446040"/>
            <a:ext cx="4559300" cy="2519561"/>
          </a:xfrm>
          <a:prstGeom prst="roundRect">
            <a:avLst>
              <a:gd name="adj" fmla="val 4789"/>
            </a:avLst>
          </a:prstGeom>
          <a:solidFill>
            <a:srgbClr val="FFFFFF"/>
          </a:solidFill>
          <a:ln w="12700">
            <a:solidFill>
              <a:srgbClr val="D6E2EE"/>
            </a:solidFill>
            <a:prstDash val="solid"/>
          </a:ln>
        </p:spPr>
      </p:sp>
      <p:sp>
        <p:nvSpPr>
          <p:cNvPr id="6" name="Shape 3"/>
          <p:cNvSpPr/>
          <p:nvPr/>
        </p:nvSpPr>
        <p:spPr>
          <a:xfrm>
            <a:off x="825500" y="2452390"/>
            <a:ext cx="4546600" cy="441920"/>
          </a:xfrm>
          <a:prstGeom prst="rect">
            <a:avLst/>
          </a:prstGeom>
          <a:solidFill>
            <a:srgbClr val="13294B"/>
          </a:solidFill>
          <a:ln/>
        </p:spPr>
      </p:sp>
      <p:pic>
        <p:nvPicPr>
          <p:cNvPr id="7" name="Image 1" descr="preencoded.png">    </p:cNvPr>
          <p:cNvPicPr>
            <a:picLocks noChangeAspect="1"/>
          </p:cNvPicPr>
          <p:nvPr/>
        </p:nvPicPr>
        <p:blipFill>
          <a:blip r:embed="rId2"/>
          <a:srcRect l="0" r="0" t="0" b="0"/>
          <a:stretch/>
        </p:blipFill>
        <p:spPr>
          <a:xfrm>
            <a:off x="1003300" y="2622550"/>
            <a:ext cx="381000" cy="101600"/>
          </a:xfrm>
          <a:prstGeom prst="rect">
            <a:avLst/>
          </a:prstGeom>
        </p:spPr>
      </p:pic>
      <p:sp>
        <p:nvSpPr>
          <p:cNvPr id="8" name="Text 4"/>
          <p:cNvSpPr/>
          <p:nvPr/>
        </p:nvSpPr>
        <p:spPr>
          <a:xfrm>
            <a:off x="1485900" y="2566690"/>
            <a:ext cx="10672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Calibri" pitchFamily="34" charset="0"/>
                <a:ea typeface="Calibri" pitchFamily="34" charset="-122"/>
                <a:cs typeface="Calibri" pitchFamily="34" charset="-120"/>
              </a:rPr>
              <a:t>Email toolbar</a:t>
            </a:r>
            <a:endParaRPr lang="en-US" sz="1200" dirty="0"/>
          </a:p>
        </p:txBody>
      </p:sp>
      <p:sp>
        <p:nvSpPr>
          <p:cNvPr id="9" name="Shape 5"/>
          <p:cNvSpPr/>
          <p:nvPr/>
        </p:nvSpPr>
        <p:spPr>
          <a:xfrm>
            <a:off x="825500" y="3621980"/>
            <a:ext cx="4546600" cy="0"/>
          </a:xfrm>
          <a:prstGeom prst="line">
            <a:avLst/>
          </a:prstGeom>
          <a:noFill/>
          <a:ln w="12700">
            <a:solidFill>
              <a:srgbClr val="EAF3FC"/>
            </a:solidFill>
            <a:prstDash val="solid"/>
          </a:ln>
        </p:spPr>
      </p:sp>
      <p:sp>
        <p:nvSpPr>
          <p:cNvPr id="10" name="Shape 6"/>
          <p:cNvSpPr/>
          <p:nvPr/>
        </p:nvSpPr>
        <p:spPr>
          <a:xfrm>
            <a:off x="1003300" y="3072110"/>
            <a:ext cx="859532" cy="365720"/>
          </a:xfrm>
          <a:prstGeom prst="roundRect">
            <a:avLst>
              <a:gd name="adj" fmla="val 17363"/>
            </a:avLst>
          </a:prstGeom>
          <a:solidFill>
            <a:srgbClr val="EAF3FC"/>
          </a:solidFill>
          <a:ln/>
        </p:spPr>
      </p:sp>
      <p:pic>
        <p:nvPicPr>
          <p:cNvPr id="11" name="Image 2" descr="reply icon">    </p:cNvPr>
          <p:cNvPicPr>
            <a:picLocks noChangeAspect="1"/>
          </p:cNvPicPr>
          <p:nvPr/>
        </p:nvPicPr>
        <p:blipFill>
          <a:blip r:embed="rId3"/>
          <a:srcRect l="0" r="0" t="0" b="0"/>
          <a:stretch/>
        </p:blipFill>
        <p:spPr>
          <a:xfrm>
            <a:off x="1117600" y="3166070"/>
            <a:ext cx="177800" cy="177800"/>
          </a:xfrm>
          <a:prstGeom prst="rect">
            <a:avLst/>
          </a:prstGeom>
        </p:spPr>
      </p:pic>
      <p:sp>
        <p:nvSpPr>
          <p:cNvPr id="12" name="Text 7"/>
          <p:cNvSpPr/>
          <p:nvPr/>
        </p:nvSpPr>
        <p:spPr>
          <a:xfrm>
            <a:off x="1358900" y="3148310"/>
            <a:ext cx="4675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Reply</a:t>
            </a:r>
            <a:endParaRPr lang="en-US" sz="1200" dirty="0"/>
          </a:p>
        </p:txBody>
      </p:sp>
      <p:sp>
        <p:nvSpPr>
          <p:cNvPr id="13" name="Shape 8"/>
          <p:cNvSpPr/>
          <p:nvPr/>
        </p:nvSpPr>
        <p:spPr>
          <a:xfrm>
            <a:off x="1964432" y="3072110"/>
            <a:ext cx="910431" cy="365720"/>
          </a:xfrm>
          <a:prstGeom prst="roundRect">
            <a:avLst>
              <a:gd name="adj" fmla="val 17363"/>
            </a:avLst>
          </a:prstGeom>
          <a:solidFill>
            <a:srgbClr val="EAF3FC"/>
          </a:solidFill>
          <a:ln/>
        </p:spPr>
      </p:sp>
      <p:pic>
        <p:nvPicPr>
          <p:cNvPr id="14" name="Image 3" descr="trash 2 icon">    </p:cNvPr>
          <p:cNvPicPr>
            <a:picLocks noChangeAspect="1"/>
          </p:cNvPicPr>
          <p:nvPr/>
        </p:nvPicPr>
        <p:blipFill>
          <a:blip r:embed="rId4"/>
          <a:srcRect l="0" r="0" t="0" b="0"/>
          <a:stretch/>
        </p:blipFill>
        <p:spPr>
          <a:xfrm>
            <a:off x="2078732" y="3166070"/>
            <a:ext cx="177800" cy="177800"/>
          </a:xfrm>
          <a:prstGeom prst="rect">
            <a:avLst/>
          </a:prstGeom>
        </p:spPr>
      </p:pic>
      <p:sp>
        <p:nvSpPr>
          <p:cNvPr id="15" name="Text 9"/>
          <p:cNvSpPr/>
          <p:nvPr/>
        </p:nvSpPr>
        <p:spPr>
          <a:xfrm>
            <a:off x="2320032" y="3148310"/>
            <a:ext cx="528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Delete</a:t>
            </a:r>
            <a:endParaRPr lang="en-US" sz="1200" dirty="0"/>
          </a:p>
        </p:txBody>
      </p:sp>
      <p:sp>
        <p:nvSpPr>
          <p:cNvPr id="16" name="Shape 10"/>
          <p:cNvSpPr/>
          <p:nvPr/>
        </p:nvSpPr>
        <p:spPr>
          <a:xfrm>
            <a:off x="2989163" y="3059410"/>
            <a:ext cx="1710333" cy="391120"/>
          </a:xfrm>
          <a:prstGeom prst="roundRect">
            <a:avLst>
              <a:gd name="adj" fmla="val 12988"/>
            </a:avLst>
          </a:prstGeom>
          <a:solidFill>
            <a:srgbClr val="F7630C"/>
          </a:solidFill>
          <a:ln w="25400">
            <a:solidFill>
              <a:srgbClr val="0A1628"/>
            </a:solidFill>
            <a:prstDash val="solid"/>
          </a:ln>
        </p:spPr>
      </p:sp>
      <p:pic>
        <p:nvPicPr>
          <p:cNvPr id="17" name="Image 4" descr="fish icon">    </p:cNvPr>
          <p:cNvPicPr>
            <a:picLocks noChangeAspect="1"/>
          </p:cNvPicPr>
          <p:nvPr/>
        </p:nvPicPr>
        <p:blipFill>
          <a:blip r:embed="rId5"/>
          <a:srcRect l="0" r="0" t="0" b="0"/>
          <a:stretch/>
        </p:blipFill>
        <p:spPr>
          <a:xfrm>
            <a:off x="3128863" y="3159720"/>
            <a:ext cx="190500" cy="190500"/>
          </a:xfrm>
          <a:prstGeom prst="rect">
            <a:avLst/>
          </a:prstGeom>
        </p:spPr>
      </p:pic>
      <p:sp>
        <p:nvSpPr>
          <p:cNvPr id="18" name="Text 11"/>
          <p:cNvSpPr/>
          <p:nvPr/>
        </p:nvSpPr>
        <p:spPr>
          <a:xfrm>
            <a:off x="3382863" y="3148310"/>
            <a:ext cx="13039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628"/>
                </a:solidFill>
                <a:latin typeface="Calibri" pitchFamily="34" charset="0"/>
                <a:ea typeface="Calibri" pitchFamily="34" charset="-122"/>
                <a:cs typeface="Calibri" pitchFamily="34" charset="-120"/>
              </a:rPr>
              <a:t>Report Phishing</a:t>
            </a:r>
            <a:endParaRPr lang="en-US" sz="1200" dirty="0"/>
          </a:p>
        </p:txBody>
      </p:sp>
      <p:sp>
        <p:nvSpPr>
          <p:cNvPr id="19" name="Shape 12"/>
          <p:cNvSpPr/>
          <p:nvPr/>
        </p:nvSpPr>
        <p:spPr>
          <a:xfrm>
            <a:off x="1003300" y="3806130"/>
            <a:ext cx="2667000" cy="101600"/>
          </a:xfrm>
          <a:prstGeom prst="roundRect">
            <a:avLst>
              <a:gd name="adj" fmla="val 50000"/>
            </a:avLst>
          </a:prstGeom>
          <a:solidFill>
            <a:srgbClr val="EAF3FC"/>
          </a:solidFill>
          <a:ln/>
        </p:spPr>
      </p:sp>
      <p:sp>
        <p:nvSpPr>
          <p:cNvPr id="20" name="Shape 13"/>
          <p:cNvSpPr/>
          <p:nvPr/>
        </p:nvSpPr>
        <p:spPr>
          <a:xfrm>
            <a:off x="1003300" y="3996630"/>
            <a:ext cx="3556000" cy="101600"/>
          </a:xfrm>
          <a:prstGeom prst="roundRect">
            <a:avLst>
              <a:gd name="adj" fmla="val 50000"/>
            </a:avLst>
          </a:prstGeom>
          <a:solidFill>
            <a:srgbClr val="EAF3FC"/>
          </a:solidFill>
          <a:ln/>
        </p:spPr>
      </p:sp>
      <p:sp>
        <p:nvSpPr>
          <p:cNvPr id="21" name="Shape 14"/>
          <p:cNvSpPr/>
          <p:nvPr/>
        </p:nvSpPr>
        <p:spPr>
          <a:xfrm>
            <a:off x="1003300" y="4187130"/>
            <a:ext cx="2159000" cy="101600"/>
          </a:xfrm>
          <a:prstGeom prst="roundRect">
            <a:avLst>
              <a:gd name="adj" fmla="val 50000"/>
            </a:avLst>
          </a:prstGeom>
          <a:solidFill>
            <a:srgbClr val="EAF3FC"/>
          </a:solidFill>
          <a:ln/>
        </p:spPr>
      </p:sp>
      <p:sp>
        <p:nvSpPr>
          <p:cNvPr id="22" name="Shape 15"/>
          <p:cNvSpPr/>
          <p:nvPr/>
        </p:nvSpPr>
        <p:spPr>
          <a:xfrm>
            <a:off x="825500" y="4466530"/>
            <a:ext cx="4546600" cy="492720"/>
          </a:xfrm>
          <a:custGeom>
            <a:avLst/>
            <a:gdLst/>
            <a:ahLst/>
            <a:cxnLst/>
            <a:rect l="l" t="t" r="r" b="b"/>
            <a:pathLst>
              <a:path w="4546600" h="492720">
                <a:moveTo>
                  <a:pt x="0" y="0"/>
                </a:moveTo>
                <a:lnTo>
                  <a:pt x="4546600" y="0"/>
                </a:lnTo>
                <a:lnTo>
                  <a:pt x="4546600" y="378420"/>
                </a:lnTo>
                <a:arcTo hR="114300" wR="114300" stAng="0" swAng="5400000"/>
                <a:lnTo>
                  <a:pt x="114300" y="492720"/>
                </a:lnTo>
                <a:arcTo hR="114300" wR="114300" stAng="5400000" swAng="5400000"/>
                <a:lnTo>
                  <a:pt x="0" y="0"/>
                </a:lnTo>
                <a:close/>
              </a:path>
            </a:pathLst>
          </a:custGeom>
          <a:solidFill>
            <a:srgbClr val="EAF3FC"/>
          </a:solidFill>
          <a:ln/>
        </p:spPr>
      </p:sp>
      <p:pic>
        <p:nvPicPr>
          <p:cNvPr id="23" name="Image 5" descr="check circle icon">    </p:cNvPr>
          <p:cNvPicPr>
            <a:picLocks noChangeAspect="1"/>
          </p:cNvPicPr>
          <p:nvPr/>
        </p:nvPicPr>
        <p:blipFill>
          <a:blip r:embed="rId6"/>
          <a:srcRect l="0" r="0" t="0" b="0"/>
          <a:stretch/>
        </p:blipFill>
        <p:spPr>
          <a:xfrm>
            <a:off x="1003300" y="4611291"/>
            <a:ext cx="203200" cy="203200"/>
          </a:xfrm>
          <a:prstGeom prst="rect">
            <a:avLst/>
          </a:prstGeom>
        </p:spPr>
      </p:pic>
      <p:sp>
        <p:nvSpPr>
          <p:cNvPr id="24" name="Text 16"/>
          <p:cNvSpPr/>
          <p:nvPr/>
        </p:nvSpPr>
        <p:spPr>
          <a:xfrm>
            <a:off x="1308100" y="4606230"/>
            <a:ext cx="30257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1628"/>
                </a:solidFill>
                <a:latin typeface="Calibri" pitchFamily="34" charset="0"/>
                <a:ea typeface="Calibri" pitchFamily="34" charset="-122"/>
                <a:cs typeface="Calibri" pitchFamily="34" charset="-120"/>
              </a:rPr>
              <a:t>Reported. IT removes it for everyone.</a:t>
            </a:r>
            <a:endParaRPr lang="en-US" sz="1200" dirty="0"/>
          </a:p>
        </p:txBody>
      </p:sp>
      <p:sp>
        <p:nvSpPr>
          <p:cNvPr id="25" name="Shape 17"/>
          <p:cNvSpPr/>
          <p:nvPr/>
        </p:nvSpPr>
        <p:spPr>
          <a:xfrm>
            <a:off x="5842000" y="2142629"/>
            <a:ext cx="5537200" cy="957461"/>
          </a:xfrm>
          <a:prstGeom prst="roundRect">
            <a:avLst>
              <a:gd name="adj" fmla="val 10611"/>
            </a:avLst>
          </a:prstGeom>
          <a:solidFill>
            <a:srgbClr val="FFFFFF"/>
          </a:solidFill>
          <a:ln/>
          <a:effectLst>
            <a:outerShdw sx="100000" sy="100000" kx="0" ky="0" algn="bl" rotWithShape="0" blurRad="101600" dist="25400" dir="5400000">
              <a:srgbClr val="C9D6E3">
                <a:alpha val="100000"/>
              </a:srgbClr>
            </a:outerShdw>
          </a:effectLst>
        </p:spPr>
      </p:sp>
      <p:sp>
        <p:nvSpPr>
          <p:cNvPr id="26" name="Shape 18"/>
          <p:cNvSpPr/>
          <p:nvPr/>
        </p:nvSpPr>
        <p:spPr>
          <a:xfrm>
            <a:off x="6070600" y="2367359"/>
            <a:ext cx="508000" cy="508000"/>
          </a:xfrm>
          <a:prstGeom prst="roundRect">
            <a:avLst>
              <a:gd name="adj" fmla="val 50000"/>
            </a:avLst>
          </a:prstGeom>
          <a:solidFill>
            <a:srgbClr val="0078D4"/>
          </a:solidFill>
          <a:ln/>
        </p:spPr>
      </p:sp>
      <p:pic>
        <p:nvPicPr>
          <p:cNvPr id="27" name="Image 6" descr="mouse pointer click icon">    </p:cNvPr>
          <p:cNvPicPr>
            <a:picLocks noChangeAspect="1"/>
          </p:cNvPicPr>
          <p:nvPr/>
        </p:nvPicPr>
        <p:blipFill>
          <a:blip r:embed="rId7"/>
          <a:srcRect l="0" r="0" t="0" b="0"/>
          <a:stretch/>
        </p:blipFill>
        <p:spPr>
          <a:xfrm>
            <a:off x="6197600" y="2494359"/>
            <a:ext cx="254000" cy="254000"/>
          </a:xfrm>
          <a:prstGeom prst="rect">
            <a:avLst/>
          </a:prstGeom>
        </p:spPr>
      </p:pic>
      <p:sp>
        <p:nvSpPr>
          <p:cNvPr id="28" name="Text 19"/>
          <p:cNvSpPr/>
          <p:nvPr/>
        </p:nvSpPr>
        <p:spPr>
          <a:xfrm>
            <a:off x="6756400" y="2320429"/>
            <a:ext cx="452602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Report Phishing button</a:t>
            </a:r>
            <a:endParaRPr lang="en-US" sz="1600" dirty="0"/>
          </a:p>
        </p:txBody>
      </p:sp>
      <p:sp>
        <p:nvSpPr>
          <p:cNvPr id="29" name="Text 20"/>
          <p:cNvSpPr/>
          <p:nvPr/>
        </p:nvSpPr>
        <p:spPr>
          <a:xfrm>
            <a:off x="6756400" y="2602309"/>
            <a:ext cx="452602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78D4"/>
                </a:solidFill>
                <a:latin typeface="Arial" pitchFamily="34" charset="0"/>
                <a:ea typeface="Arial" pitchFamily="34" charset="-122"/>
                <a:cs typeface="Arial" pitchFamily="34" charset="-120"/>
              </a:rPr>
              <a:t>[Button name]</a:t>
            </a:r>
            <a:endParaRPr lang="en-US" sz="1800" dirty="0"/>
          </a:p>
        </p:txBody>
      </p:sp>
      <p:sp>
        <p:nvSpPr>
          <p:cNvPr id="30" name="Shape 21"/>
          <p:cNvSpPr/>
          <p:nvPr/>
        </p:nvSpPr>
        <p:spPr>
          <a:xfrm>
            <a:off x="5842000" y="3227090"/>
            <a:ext cx="5537200" cy="957461"/>
          </a:xfrm>
          <a:prstGeom prst="roundRect">
            <a:avLst>
              <a:gd name="adj" fmla="val 10611"/>
            </a:avLst>
          </a:prstGeom>
          <a:solidFill>
            <a:srgbClr val="FFFFFF"/>
          </a:solidFill>
          <a:ln/>
          <a:effectLst>
            <a:outerShdw sx="100000" sy="100000" kx="0" ky="0" algn="bl" rotWithShape="0" blurRad="101600" dist="25400" dir="5400000">
              <a:srgbClr val="C9D6E3">
                <a:alpha val="100000"/>
              </a:srgbClr>
            </a:outerShdw>
          </a:effectLst>
        </p:spPr>
      </p:sp>
      <p:sp>
        <p:nvSpPr>
          <p:cNvPr id="31" name="Shape 22"/>
          <p:cNvSpPr/>
          <p:nvPr/>
        </p:nvSpPr>
        <p:spPr>
          <a:xfrm>
            <a:off x="6070600" y="3451820"/>
            <a:ext cx="508000" cy="508000"/>
          </a:xfrm>
          <a:prstGeom prst="roundRect">
            <a:avLst>
              <a:gd name="adj" fmla="val 50000"/>
            </a:avLst>
          </a:prstGeom>
          <a:solidFill>
            <a:srgbClr val="0078D4"/>
          </a:solidFill>
          <a:ln/>
        </p:spPr>
      </p:sp>
      <p:pic>
        <p:nvPicPr>
          <p:cNvPr id="32" name="Image 7" descr="mail icon">    </p:cNvPr>
          <p:cNvPicPr>
            <a:picLocks noChangeAspect="1"/>
          </p:cNvPicPr>
          <p:nvPr/>
        </p:nvPicPr>
        <p:blipFill>
          <a:blip r:embed="rId8"/>
          <a:srcRect l="0" r="0" t="0" b="0"/>
          <a:stretch/>
        </p:blipFill>
        <p:spPr>
          <a:xfrm>
            <a:off x="6197600" y="3578820"/>
            <a:ext cx="254000" cy="254000"/>
          </a:xfrm>
          <a:prstGeom prst="rect">
            <a:avLst/>
          </a:prstGeom>
        </p:spPr>
      </p:pic>
      <p:sp>
        <p:nvSpPr>
          <p:cNvPr id="33" name="Text 23"/>
          <p:cNvSpPr/>
          <p:nvPr/>
        </p:nvSpPr>
        <p:spPr>
          <a:xfrm>
            <a:off x="6756400" y="3404890"/>
            <a:ext cx="452602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Forward suspicious emails</a:t>
            </a:r>
            <a:endParaRPr lang="en-US" sz="1600" dirty="0"/>
          </a:p>
        </p:txBody>
      </p:sp>
      <p:sp>
        <p:nvSpPr>
          <p:cNvPr id="34" name="Text 24"/>
          <p:cNvSpPr/>
          <p:nvPr/>
        </p:nvSpPr>
        <p:spPr>
          <a:xfrm>
            <a:off x="6756400" y="3686770"/>
            <a:ext cx="452602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78D4"/>
                </a:solidFill>
                <a:latin typeface="Arial" pitchFamily="34" charset="0"/>
                <a:ea typeface="Arial" pitchFamily="34" charset="-122"/>
                <a:cs typeface="Arial" pitchFamily="34" charset="-120"/>
              </a:rPr>
              <a:t>[security@...]</a:t>
            </a:r>
            <a:endParaRPr lang="en-US" sz="1800" dirty="0"/>
          </a:p>
        </p:txBody>
      </p:sp>
      <p:sp>
        <p:nvSpPr>
          <p:cNvPr id="35" name="Shape 25"/>
          <p:cNvSpPr/>
          <p:nvPr/>
        </p:nvSpPr>
        <p:spPr>
          <a:xfrm>
            <a:off x="5842000" y="4311551"/>
            <a:ext cx="5537200" cy="957461"/>
          </a:xfrm>
          <a:prstGeom prst="roundRect">
            <a:avLst>
              <a:gd name="adj" fmla="val 10611"/>
            </a:avLst>
          </a:prstGeom>
          <a:solidFill>
            <a:srgbClr val="FFFFFF"/>
          </a:solidFill>
          <a:ln/>
          <a:effectLst>
            <a:outerShdw sx="100000" sy="100000" kx="0" ky="0" algn="bl" rotWithShape="0" blurRad="101600" dist="25400" dir="5400000">
              <a:srgbClr val="C9D6E3">
                <a:alpha val="100000"/>
              </a:srgbClr>
            </a:outerShdw>
          </a:effectLst>
        </p:spPr>
      </p:sp>
      <p:sp>
        <p:nvSpPr>
          <p:cNvPr id="36" name="Shape 26"/>
          <p:cNvSpPr/>
          <p:nvPr/>
        </p:nvSpPr>
        <p:spPr>
          <a:xfrm>
            <a:off x="6070600" y="4536281"/>
            <a:ext cx="508000" cy="508000"/>
          </a:xfrm>
          <a:prstGeom prst="roundRect">
            <a:avLst>
              <a:gd name="adj" fmla="val 50000"/>
            </a:avLst>
          </a:prstGeom>
          <a:solidFill>
            <a:srgbClr val="0078D4"/>
          </a:solidFill>
          <a:ln/>
        </p:spPr>
      </p:sp>
      <p:pic>
        <p:nvPicPr>
          <p:cNvPr id="37" name="Image 8" descr="phone icon">    </p:cNvPr>
          <p:cNvPicPr>
            <a:picLocks noChangeAspect="1"/>
          </p:cNvPicPr>
          <p:nvPr/>
        </p:nvPicPr>
        <p:blipFill>
          <a:blip r:embed="rId9"/>
          <a:srcRect l="0" r="0" t="0" b="0"/>
          <a:stretch/>
        </p:blipFill>
        <p:spPr>
          <a:xfrm>
            <a:off x="6197600" y="4663281"/>
            <a:ext cx="254000" cy="254000"/>
          </a:xfrm>
          <a:prstGeom prst="rect">
            <a:avLst/>
          </a:prstGeom>
        </p:spPr>
      </p:pic>
      <p:sp>
        <p:nvSpPr>
          <p:cNvPr id="38" name="Text 27"/>
          <p:cNvSpPr/>
          <p:nvPr/>
        </p:nvSpPr>
        <p:spPr>
          <a:xfrm>
            <a:off x="6756400" y="4489351"/>
            <a:ext cx="452602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628"/>
                </a:solidFill>
                <a:latin typeface="Calibri" pitchFamily="34" charset="0"/>
                <a:ea typeface="Calibri" pitchFamily="34" charset="-122"/>
                <a:cs typeface="Calibri" pitchFamily="34" charset="-120"/>
              </a:rPr>
              <a:t>Call IT if you clicked</a:t>
            </a:r>
            <a:endParaRPr lang="en-US" sz="1600" dirty="0"/>
          </a:p>
        </p:txBody>
      </p:sp>
      <p:sp>
        <p:nvSpPr>
          <p:cNvPr id="39" name="Text 28"/>
          <p:cNvSpPr/>
          <p:nvPr/>
        </p:nvSpPr>
        <p:spPr>
          <a:xfrm>
            <a:off x="6756400" y="4771231"/>
            <a:ext cx="452602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78D4"/>
                </a:solidFill>
                <a:latin typeface="Arial" pitchFamily="34" charset="0"/>
                <a:ea typeface="Arial" pitchFamily="34" charset="-122"/>
                <a:cs typeface="Arial" pitchFamily="34" charset="-120"/>
              </a:rPr>
              <a:t>[Extension]</a:t>
            </a:r>
            <a:endParaRPr lang="en-US" sz="1800" dirty="0"/>
          </a:p>
        </p:txBody>
      </p:sp>
      <p:sp>
        <p:nvSpPr>
          <p:cNvPr id="40"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Phishing Awareness</a:t>
            </a:r>
            <a:endParaRPr lang="en-US" sz="1200" dirty="0"/>
          </a:p>
        </p:txBody>
      </p:sp>
      <p:sp>
        <p:nvSpPr>
          <p:cNvPr id="41" name="Text 30"/>
          <p:cNvSpPr/>
          <p:nvPr/>
        </p:nvSpPr>
        <p:spPr>
          <a:xfrm>
            <a:off x="10109200" y="623828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Shield with a check mark protecting an envelope">    </p:cNvPr>
          <p:cNvPicPr>
            <a:picLocks noChangeAspect="1"/>
          </p:cNvPicPr>
          <p:nvPr/>
        </p:nvPicPr>
        <p:blipFill>
          <a:blip r:embed="rId2"/>
          <a:srcRect l="0" r="0" t="0" b="0"/>
          <a:stretch/>
        </p:blipFill>
        <p:spPr>
          <a:xfrm>
            <a:off x="7620000" y="1270000"/>
            <a:ext cx="3810000" cy="4318000"/>
          </a:xfrm>
          <a:prstGeom prst="rect">
            <a:avLst/>
          </a:prstGeom>
        </p:spPr>
      </p:pic>
      <p:sp>
        <p:nvSpPr>
          <p:cNvPr id="4" name="Text 0"/>
          <p:cNvSpPr/>
          <p:nvPr/>
        </p:nvSpPr>
        <p:spPr>
          <a:xfrm>
            <a:off x="812800" y="17094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7630C"/>
                </a:solidFill>
                <a:latin typeface="Calibri" pitchFamily="34" charset="0"/>
                <a:ea typeface="Calibri" pitchFamily="34" charset="-122"/>
                <a:cs typeface="Calibri" pitchFamily="34" charset="-120"/>
              </a:rPr>
              <a:t>REMEMBER</a:t>
            </a:r>
            <a:endParaRPr lang="en-US" sz="1600" dirty="0"/>
          </a:p>
        </p:txBody>
      </p:sp>
      <p:sp>
        <p:nvSpPr>
          <p:cNvPr id="5" name="Text 1"/>
          <p:cNvSpPr/>
          <p:nvPr>
            <p:ph type="title"/>
          </p:nvPr>
        </p:nvSpPr>
        <p:spPr>
          <a:xfrm>
            <a:off x="812800" y="2298700"/>
            <a:ext cx="65405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7FB"/>
                </a:solidFill>
                <a:latin typeface="Arial" pitchFamily="34" charset="0"/>
                <a:ea typeface="Arial" pitchFamily="34" charset="-122"/>
                <a:cs typeface="Arial" pitchFamily="34" charset="-120"/>
              </a:rPr>
              <a:t>Think before you click.</a:t>
            </a:r>
            <a:endParaRPr lang="en-US" sz="6000" dirty="0"/>
          </a:p>
        </p:txBody>
      </p:sp>
      <p:sp>
        <p:nvSpPr>
          <p:cNvPr id="6" name="Text 2"/>
          <p:cNvSpPr/>
          <p:nvPr/>
        </p:nvSpPr>
        <p:spPr>
          <a:xfrm>
            <a:off x="812800" y="4203700"/>
            <a:ext cx="640969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Stop. Check. Report. You are our best defence.</a:t>
            </a:r>
            <a:endParaRPr lang="en-US" sz="2000" dirty="0"/>
          </a:p>
        </p:txBody>
      </p:sp>
      <p:sp>
        <p:nvSpPr>
          <p:cNvPr id="7" name="Text 3"/>
          <p:cNvSpPr/>
          <p:nvPr/>
        </p:nvSpPr>
        <p:spPr>
          <a:xfrm>
            <a:off x="812800" y="48641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8"/>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Phishing Awareness">
  <a:themeElements>
    <a:clrScheme name="Phishing Awareness">
      <a:dk1>
        <a:srgbClr val="0A1628"/>
      </a:dk1>
      <a:lt1>
        <a:srgbClr val="F4F7FB"/>
      </a:lt1>
      <a:dk2>
        <a:srgbClr val="454E5D"/>
      </a:dk2>
      <a:lt2>
        <a:srgbClr val="DDE1E6"/>
      </a:lt2>
      <a:accent1>
        <a:srgbClr val="0078D4"/>
      </a:accent1>
      <a:accent2>
        <a:srgbClr val="F7630C"/>
      </a:accent2>
      <a:accent3>
        <a:srgbClr val="13294B"/>
      </a:accent3>
      <a:accent4>
        <a:srgbClr val="CADCFC"/>
      </a:accent4>
      <a:accent5>
        <a:srgbClr val="9FB3C8"/>
      </a:accent5>
      <a:accent6>
        <a:srgbClr val="FF9A5C"/>
      </a:accent6>
      <a:hlink>
        <a:srgbClr val="0563C1"/>
      </a:hlink>
      <a:folHlink>
        <a:srgbClr val="954F72"/>
      </a:folHlink>
    </a:clrScheme>
    <a:fontScheme name="Phishing Aware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dc:title>
  <dc:subject/>
  <dc:creator/>
  <cp:lastModifiedBy/>
  <cp:revision>1</cp:revision>
  <dcterms:created xsi:type="dcterms:W3CDTF">2026-10-12T15:02:43Z</dcterms:created>
  <dcterms:modified xsi:type="dcterms:W3CDTF">2026-10-12T15:02:43Z</dcterms:modified>
</cp:coreProperties>
</file>