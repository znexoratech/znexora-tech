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103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Thank you for joining. I'm [Presenter] from [Organisation name / IT team]. Today we're talking about ransomware, one of the most damaging cyber threats any organisation can face. The good news is that most ransomware attacks start with a simple human action, like clicking a link or opening an attachment. That means each of us can help stop them. In the next ten minutes, I'll explain what ransomware is, how it gets in, how to spot it, and exactly what to do if you suspect an attack.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1:30] So, what is ransomware? It's a type of malicious software that locks your files and then demands a ransom, usually in cryptocurrency, to unlock them. It does this by encrypting the files, which means scrambling them so they can't be opened without a special key that only the attacker has. Suddenly, documents, spreadsheets, databases, even entire systems become unusable. And it's become worse: many attackers now also steal a copy of the data before locking it, then threaten to publish it if the ransom isn't paid. So it's not only about losing access to our files. It can also mean sensitive information about our customers, colleagues and organisation being exposed.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2:20] Why does this matter to every one of us, not just the IT team? First, work stops. When ransomware hits, systems go offline. We may not be able to serve customers, process payments or even send email, and that disruption can last days or weeks. Second, data is exposed. Personal information about customers and colleagues, financial records and confidential plans can be stolen and leaked online. That can also bring legal and regulatory consequences. And third, cost and trust. Recovery is expensive, and paying a ransom gives no guarantee you get your data back. Worst of all, customers lose trust in us, and that can take years to rebuild.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3:20] So how does ransomware actually get in? There are four common doors. The biggest one is phishing email: a convincing message with an infected attachment or a link to a malicious website. One click can be enough. The second is unsafe downloads: fake software updates, pirated programs, browser pop-ups, or even a USB drive someone found in the car park. Third, unpatched systems. When we postpone updates, we leave known security holes open, and attackers actively scan for them. And fourth, weak or stolen passwords. If you reuse a password that was leaked somewhere else, or use something easy to guess, attackers can simply log in, often through remote access tools, as if they were you. Notice that most of these doors are opened by everyday actions. That's why awareness matters so much.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 – 4:10] Let's look at how a typical attack unfolds, because it's rarely instant. Step one is entry: someone clicks a link, opens an attachment, or the attacker uses a stolen password. Step two, spread: the attacker quietly moves across the network, looking for important servers and accounts. Step three, steal: they copy sensitive data out of the organisation. Step four, encrypt: they lock files, and they deliberately target backups too. And step five, extort: a ransom note appears demanding payment, often with a threat to publish the stolen data. The key point is this: there can be days or even weeks between entry and encryption. If someone reports a suspicious email or odd behaviour early, our security team has a real chance to stop the attack before step four.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5:20] Since phishing is the most common way in, let's practise spotting one. Look at this example. Number one: the sender. It says IT Support, but look closely at the address. The domain uses a zero instead of the letter o, and it isn't our company domain. Number two: urgency. 'Your account will be suspended today.' Pressure is designed to make you act before you think. Number three: the link. Before clicking any button or link, hover your mouse over it and check where it really goes. If it doesn't match the real website, don't click. And number four: unexpected attachments, especially zip files, files asking you to enable macros, or invoices you weren't expecting. These are classic ransomware carriers. If an email ticks even one of these boxes, don't click, don't reply, and report it using [the Report Phishing button / forwarding to security@company].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 6:00] How would you know if ransomware is already on your computer? Watch for these warning signs. Files suddenly have strange names or unfamiliar extensions added to the end. Documents won't open, show errors, or display scrambled content. A message appears on your screen, or a new text file appears in your folders, demanding payment. Or your computer behaves unusually: it becomes extremely slow, the hard drive is working constantly, or your antivirus has been switched off without you doing it. If you notice any of these, act immediately. Every minute counts, because ransomware keeps spreading while it runs.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6:30] If you remember only one thing from today, remember these three words: Disconnect. Report. Don't pay. Disconnect your device from the network to stop the spread. Report it to IT immediately, no matter how small or embarrassing it seems. And never pay, reply to, or negotiate with the attackers yourself. Those decisions belong to the organisation's leadership and security experts. Speed matters more than anything else.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7:40] Here's exactly what to do, step by step. One: disconnect from the network. Unplug the network cable and turn off Wi-Fi. This stops the ransomware from spreading to shared drives and other computers. Two: leave the device powered on, unless IT tells you otherwise. Shutting it down can destroy evidence that investigators need. Three: call the IT helpdesk immediately on [extension / number]. Call rather than email, because email may be affected. Four: note what you saw. Take a photo of the screen with your phone, and write down what you clicked or opened and when. And five: don't pay, don't reply to the attackers, and don't try to fix it yourself. Please remember, you will not get in trouble for reporting. Reporting quickly is exactly the right thing to do, even if it turns out to be a false alarm.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 – 8:50] Prevention is always better than recovery, so here are six habits that stop ransomware. One: think before you click. Pause on any link or attachment you weren't expecting. Two: install updates. When your computer asks to restart for updates, don't keep postponing it. Updates close the holes attackers use. Three: use strong, unique passwords and turn on multi-factor authentication wherever it's offered. Even if a password is stolen, the second step blocks the attacker. Four: save your work to approved storage, such as [company drive / OneDrive / SharePoint], where it's backed up, not only on your desktop. Five: use approved software only. No pirated programs, browser extensions from unknown sources, or USB drives you found. And six: report early. A suspicious email reported today can prevent a disaster next week.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 – 9:25] Here are the contacts you need. For any suspected incident, call the IT helpdesk first on [extension]. To report a suspicious email, use [the Report Phishing button / forward it to security@...]. And outside office hours, contact [on-call security contact] on [number]. Please save these contacts now, and save them on your phone too, because if ransomware hits, your computer and email may not be available.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 – 10:00] To wrap up: technology can block a lot of attacks, but not all of them. Each of us is the human firewall, the last line of defence. Think before you click, keep your devices updated, and if something looks wrong, disconnect, report, and don't pay. Nobody will ever be blamed for reporting something suspicious. Thank you for your time.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4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F1B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0F1B2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4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F1B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0F1B2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A"/>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0" y="0"/>
            <a:ext cx="152400" cy="6858000"/>
          </a:xfrm>
          <a:prstGeom prst="rect">
            <a:avLst/>
          </a:prstGeom>
        </p:spPr>
      </p:pic>
      <p:pic>
        <p:nvPicPr>
          <p:cNvPr id="3" name="Image 1" descr="Laptop with encrypted files, wrapped in a chain and locked with a padlock"/>
          <p:cNvPicPr>
            <a:picLocks noChangeAspect="1"/>
          </p:cNvPicPr>
          <p:nvPr/>
        </p:nvPicPr>
        <p:blipFill>
          <a:blip r:embed="rId4"/>
          <a:srcRect/>
          <a:stretch/>
        </p:blipFill>
        <p:spPr>
          <a:xfrm>
            <a:off x="7366000" y="1143000"/>
            <a:ext cx="4318000" cy="4572000"/>
          </a:xfrm>
          <a:prstGeom prst="rect">
            <a:avLst/>
          </a:prstGeom>
        </p:spPr>
      </p:pic>
      <p:sp>
        <p:nvSpPr>
          <p:cNvPr id="4" name="Text 0"/>
          <p:cNvSpPr/>
          <p:nvPr/>
        </p:nvSpPr>
        <p:spPr>
          <a:xfrm>
            <a:off x="812800" y="165477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28C6A"/>
                </a:solidFill>
                <a:latin typeface="Inter" pitchFamily="34" charset="0"/>
                <a:ea typeface="Inter" pitchFamily="34" charset="-122"/>
                <a:cs typeface="Inter" pitchFamily="34" charset="-120"/>
              </a:rPr>
              <a:t>SECURITY AWARENESS</a:t>
            </a:r>
            <a:endParaRPr lang="en-US" sz="1600" dirty="0"/>
          </a:p>
        </p:txBody>
      </p:sp>
      <p:sp>
        <p:nvSpPr>
          <p:cNvPr id="5" name="Text 1"/>
          <p:cNvSpPr>
            <a:spLocks noGrp="1"/>
          </p:cNvSpPr>
          <p:nvPr>
            <p:ph type="title"/>
          </p:nvPr>
        </p:nvSpPr>
        <p:spPr>
          <a:xfrm>
            <a:off x="812800" y="2193230"/>
            <a:ext cx="6540500" cy="24257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3F4F1"/>
                </a:solidFill>
                <a:latin typeface="Space Grotesk" pitchFamily="34" charset="0"/>
                <a:ea typeface="Space Grotesk" pitchFamily="34" charset="-122"/>
                <a:cs typeface="Space Grotesk" pitchFamily="34" charset="-120"/>
              </a:rPr>
              <a:t>Ransomware:</a:t>
            </a:r>
            <a:endParaRPr lang="en-US" sz="6000" dirty="0"/>
          </a:p>
          <a:p>
            <a:pPr marL="0" indent="0" algn="l">
              <a:lnSpc>
                <a:spcPts val="6300"/>
              </a:lnSpc>
              <a:buNone/>
            </a:pPr>
            <a:r>
              <a:rPr lang="en-US" sz="6000" b="1" i="0" dirty="0">
                <a:solidFill>
                  <a:srgbClr val="F3F4F1"/>
                </a:solidFill>
                <a:latin typeface="Space Grotesk" pitchFamily="34" charset="0"/>
                <a:ea typeface="Space Grotesk" pitchFamily="34" charset="-122"/>
                <a:cs typeface="Space Grotesk" pitchFamily="34" charset="-120"/>
              </a:rPr>
              <a:t>Don't Get</a:t>
            </a:r>
            <a:endParaRPr lang="en-US" sz="6000" dirty="0"/>
          </a:p>
          <a:p>
            <a:pPr marL="0" indent="0" algn="l">
              <a:lnSpc>
                <a:spcPts val="6300"/>
              </a:lnSpc>
              <a:buNone/>
            </a:pPr>
            <a:r>
              <a:rPr lang="en-US" sz="6000" b="1" i="0" dirty="0">
                <a:solidFill>
                  <a:srgbClr val="F3F4F1"/>
                </a:solidFill>
                <a:latin typeface="Space Grotesk" pitchFamily="34" charset="0"/>
                <a:ea typeface="Space Grotesk" pitchFamily="34" charset="-122"/>
                <a:cs typeface="Space Grotesk" pitchFamily="34" charset="-120"/>
              </a:rPr>
              <a:t>Locked Out</a:t>
            </a:r>
            <a:endParaRPr lang="en-US" sz="6000" dirty="0"/>
          </a:p>
        </p:txBody>
      </p:sp>
      <p:sp>
        <p:nvSpPr>
          <p:cNvPr id="6" name="Text 2"/>
          <p:cNvSpPr/>
          <p:nvPr/>
        </p:nvSpPr>
        <p:spPr>
          <a:xfrm>
            <a:off x="812800" y="4847530"/>
            <a:ext cx="627888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8CCD2"/>
                </a:solidFill>
                <a:latin typeface="Inter" pitchFamily="34" charset="0"/>
                <a:ea typeface="Inter" pitchFamily="34" charset="-122"/>
                <a:cs typeface="Inter" pitchFamily="34" charset="-120"/>
              </a:rPr>
              <a:t>How it works, how to spot it, and what to do.</a:t>
            </a:r>
            <a:endParaRPr lang="en-US" sz="2000" dirty="0"/>
          </a:p>
        </p:txBody>
      </p:sp>
      <p:sp>
        <p:nvSpPr>
          <p:cNvPr id="7" name="Text 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8A6"/>
                </a:solidFill>
                <a:latin typeface="Inter" pitchFamily="34" charset="0"/>
                <a:ea typeface="Inter" pitchFamily="34" charset="-122"/>
                <a:cs typeface="Inter" pitchFamily="34" charset="-120"/>
              </a:rPr>
              <a:t>[Organisation name] · [Presenter] · [Date]</a:t>
            </a:r>
            <a:endParaRPr lang="en-US" sz="1200" dirty="0"/>
          </a:p>
        </p:txBody>
      </p:sp>
      <p:pic>
        <p:nvPicPr>
          <p:cNvPr id="9" name="Picture 8">
            <a:extLst>
              <a:ext uri="{FF2B5EF4-FFF2-40B4-BE49-F238E27FC236}">
                <a16:creationId xmlns:a16="http://schemas.microsoft.com/office/drawing/2014/main" id="{64E6E6BC-DDBE-4CF5-F852-8C8511D6D2B7}"/>
              </a:ext>
            </a:extLst>
          </p:cNvPr>
          <p:cNvPicPr>
            <a:picLocks noChangeAspect="1"/>
          </p:cNvPicPr>
          <p:nvPr/>
        </p:nvPicPr>
        <p:blipFill>
          <a:blip r:embed="rId5"/>
          <a:stretch>
            <a:fillRect/>
          </a:stretch>
        </p:blipFill>
        <p:spPr>
          <a:xfrm>
            <a:off x="10555840" y="94655"/>
            <a:ext cx="1331515" cy="1331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What is ransomware?</a:t>
            </a:r>
            <a:endParaRPr lang="en-US" sz="3600" dirty="0"/>
          </a:p>
        </p:txBody>
      </p:sp>
      <p:sp>
        <p:nvSpPr>
          <p:cNvPr id="3" name="Text 1"/>
          <p:cNvSpPr/>
          <p:nvPr/>
        </p:nvSpPr>
        <p:spPr>
          <a:xfrm>
            <a:off x="812800" y="2292449"/>
            <a:ext cx="6802120" cy="1305322"/>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0F1B2A"/>
                </a:solidFill>
                <a:latin typeface="Space Grotesk" pitchFamily="34" charset="0"/>
                <a:ea typeface="Space Grotesk" pitchFamily="34" charset="-122"/>
                <a:cs typeface="Space Grotesk" pitchFamily="34" charset="-120"/>
              </a:rPr>
              <a:t>Malicious software that </a:t>
            </a:r>
            <a:r>
              <a:rPr lang="en-US" sz="2800" dirty="0">
                <a:solidFill>
                  <a:srgbClr val="B8401C"/>
                </a:solidFill>
                <a:latin typeface="Space Grotesk" pitchFamily="34" charset="0"/>
                <a:ea typeface="Space Grotesk" pitchFamily="34" charset="-122"/>
                <a:cs typeface="Space Grotesk" pitchFamily="34" charset="-120"/>
              </a:rPr>
              <a:t>locks your files</a:t>
            </a:r>
            <a:r>
              <a:rPr lang="en-US" sz="2800" dirty="0">
                <a:solidFill>
                  <a:srgbClr val="0F1B2A"/>
                </a:solidFill>
                <a:latin typeface="Space Grotesk" pitchFamily="34" charset="0"/>
                <a:ea typeface="Space Grotesk" pitchFamily="34" charset="-122"/>
                <a:cs typeface="Space Grotesk" pitchFamily="34" charset="-120"/>
              </a:rPr>
              <a:t> and demands a </a:t>
            </a:r>
            <a:r>
              <a:rPr lang="en-US" sz="2800" dirty="0">
                <a:solidFill>
                  <a:srgbClr val="B8401C"/>
                </a:solidFill>
                <a:latin typeface="Space Grotesk" pitchFamily="34" charset="0"/>
                <a:ea typeface="Space Grotesk" pitchFamily="34" charset="-122"/>
                <a:cs typeface="Space Grotesk" pitchFamily="34" charset="-120"/>
              </a:rPr>
              <a:t>ransom</a:t>
            </a:r>
            <a:r>
              <a:rPr lang="en-US" sz="2800" dirty="0">
                <a:solidFill>
                  <a:srgbClr val="0F1B2A"/>
                </a:solidFill>
                <a:latin typeface="Space Grotesk" pitchFamily="34" charset="0"/>
                <a:ea typeface="Space Grotesk" pitchFamily="34" charset="-122"/>
                <a:cs typeface="Space Grotesk" pitchFamily="34" charset="-120"/>
              </a:rPr>
              <a:t> to unlock them.</a:t>
            </a:r>
            <a:endParaRPr lang="en-US" sz="2800" dirty="0"/>
          </a:p>
        </p:txBody>
      </p:sp>
      <p:sp>
        <p:nvSpPr>
          <p:cNvPr id="4" name="Text 2"/>
          <p:cNvSpPr/>
          <p:nvPr/>
        </p:nvSpPr>
        <p:spPr>
          <a:xfrm>
            <a:off x="812800" y="3775571"/>
            <a:ext cx="6604000" cy="595610"/>
          </a:xfrm>
          <a:prstGeom prst="roundRect">
            <a:avLst>
              <a:gd name="adj" fmla="val 17058"/>
            </a:avLst>
          </a:prstGeom>
          <a:solidFill>
            <a:srgbClr val="E3E7EA"/>
          </a:solidFill>
          <a:ln/>
        </p:spPr>
        <p:txBody>
          <a:bodyPr wrap="square" lIns="249642" tIns="148042" rIns="15962" bIns="122642" rtlCol="0" anchor="t">
            <a:normAutofit/>
          </a:bodyPr>
          <a:lstStyle/>
          <a:p>
            <a:pPr marL="0" indent="0" algn="l">
              <a:lnSpc>
                <a:spcPts val="1890"/>
              </a:lnSpc>
              <a:buNone/>
            </a:pPr>
            <a:r>
              <a:rPr lang="en-US" sz="1400" dirty="0">
                <a:solidFill>
                  <a:srgbClr val="0F1B2A"/>
                </a:solidFill>
                <a:latin typeface="Inter" pitchFamily="34" charset="0"/>
                <a:ea typeface="Inter" pitchFamily="34" charset="-122"/>
                <a:cs typeface="Inter" pitchFamily="34" charset="-120"/>
              </a:rPr>
              <a:t>Files are </a:t>
            </a:r>
            <a:r>
              <a:rPr lang="en-US" sz="1400" b="1" dirty="0">
                <a:solidFill>
                  <a:srgbClr val="0F1B2A"/>
                </a:solidFill>
                <a:latin typeface="Inter" pitchFamily="34" charset="0"/>
                <a:ea typeface="Inter" pitchFamily="34" charset="-122"/>
                <a:cs typeface="Inter" pitchFamily="34" charset="-120"/>
              </a:rPr>
              <a:t>encrypted</a:t>
            </a:r>
            <a:r>
              <a:rPr lang="en-US" sz="1400" dirty="0">
                <a:solidFill>
                  <a:srgbClr val="0F1B2A"/>
                </a:solidFill>
                <a:latin typeface="Inter" pitchFamily="34" charset="0"/>
                <a:ea typeface="Inter" pitchFamily="34" charset="-122"/>
                <a:cs typeface="Inter" pitchFamily="34" charset="-120"/>
              </a:rPr>
              <a:t>: scrambled so no one can open them without a key.</a:t>
            </a:r>
            <a:endParaRPr lang="en-US" sz="1400" dirty="0"/>
          </a:p>
        </p:txBody>
      </p:sp>
      <p:sp>
        <p:nvSpPr>
          <p:cNvPr id="5" name="Shape 3"/>
          <p:cNvSpPr/>
          <p:nvPr/>
        </p:nvSpPr>
        <p:spPr>
          <a:xfrm>
            <a:off x="812800" y="3775571"/>
            <a:ext cx="6604000" cy="595610"/>
          </a:xfrm>
          <a:custGeom>
            <a:avLst/>
            <a:gdLst/>
            <a:ahLst/>
            <a:cxnLst/>
            <a:rect l="l" t="t" r="r" b="b"/>
            <a:pathLst>
              <a:path w="6604000" h="595610">
                <a:moveTo>
                  <a:pt x="101600" y="595610"/>
                </a:moveTo>
                <a:lnTo>
                  <a:pt x="101600" y="595610"/>
                </a:lnTo>
                <a:arcTo wR="101600" hR="101600" stAng="5400000" swAng="5400000"/>
                <a:lnTo>
                  <a:pt x="0" y="101600"/>
                </a:lnTo>
                <a:arcTo wR="101600" hR="101600" stAng="10800000" swAng="5400000"/>
                <a:lnTo>
                  <a:pt x="101600" y="0"/>
                </a:lnTo>
                <a:arcTo wR="50800" hR="101600" stAng="16200000" swAng="-5400000"/>
                <a:lnTo>
                  <a:pt x="50800" y="494010"/>
                </a:lnTo>
                <a:arcTo wR="50800" hR="101600" stAng="10800000" swAng="-5400000"/>
                <a:close/>
              </a:path>
            </a:pathLst>
          </a:custGeom>
          <a:solidFill>
            <a:srgbClr val="E4572E"/>
          </a:solidFill>
          <a:ln/>
        </p:spPr>
        <p:txBody>
          <a:bodyPr/>
          <a:lstStyle/>
          <a:p>
            <a:endParaRPr lang="en-JP"/>
          </a:p>
        </p:txBody>
      </p:sp>
      <p:sp>
        <p:nvSpPr>
          <p:cNvPr id="6" name="Text 4"/>
          <p:cNvSpPr/>
          <p:nvPr/>
        </p:nvSpPr>
        <p:spPr>
          <a:xfrm>
            <a:off x="812800" y="4574381"/>
            <a:ext cx="6604000" cy="595610"/>
          </a:xfrm>
          <a:prstGeom prst="roundRect">
            <a:avLst>
              <a:gd name="adj" fmla="val 17058"/>
            </a:avLst>
          </a:prstGeom>
          <a:solidFill>
            <a:srgbClr val="E3E7EA"/>
          </a:solidFill>
          <a:ln/>
        </p:spPr>
        <p:txBody>
          <a:bodyPr wrap="square" lIns="249642" tIns="148042" rIns="15962" bIns="122642" rtlCol="0" anchor="t">
            <a:normAutofit/>
          </a:bodyPr>
          <a:lstStyle/>
          <a:p>
            <a:pPr marL="0" indent="0" algn="l">
              <a:lnSpc>
                <a:spcPts val="1890"/>
              </a:lnSpc>
              <a:buNone/>
            </a:pPr>
            <a:r>
              <a:rPr lang="en-US" sz="1400" dirty="0">
                <a:solidFill>
                  <a:srgbClr val="0F1B2A"/>
                </a:solidFill>
                <a:latin typeface="Inter" pitchFamily="34" charset="0"/>
                <a:ea typeface="Inter" pitchFamily="34" charset="-122"/>
                <a:cs typeface="Inter" pitchFamily="34" charset="-120"/>
              </a:rPr>
              <a:t>Many attackers also </a:t>
            </a:r>
            <a:r>
              <a:rPr lang="en-US" sz="1400" b="1" dirty="0">
                <a:solidFill>
                  <a:srgbClr val="0F1B2A"/>
                </a:solidFill>
                <a:latin typeface="Inter" pitchFamily="34" charset="0"/>
                <a:ea typeface="Inter" pitchFamily="34" charset="-122"/>
                <a:cs typeface="Inter" pitchFamily="34" charset="-120"/>
              </a:rPr>
              <a:t>steal data</a:t>
            </a:r>
            <a:r>
              <a:rPr lang="en-US" sz="1400" dirty="0">
                <a:solidFill>
                  <a:srgbClr val="0F1B2A"/>
                </a:solidFill>
                <a:latin typeface="Inter" pitchFamily="34" charset="0"/>
                <a:ea typeface="Inter" pitchFamily="34" charset="-122"/>
                <a:cs typeface="Inter" pitchFamily="34" charset="-120"/>
              </a:rPr>
              <a:t> and threaten to publish it.</a:t>
            </a:r>
            <a:endParaRPr lang="en-US" sz="1400" dirty="0"/>
          </a:p>
        </p:txBody>
      </p:sp>
      <p:sp>
        <p:nvSpPr>
          <p:cNvPr id="7" name="Shape 5"/>
          <p:cNvSpPr/>
          <p:nvPr/>
        </p:nvSpPr>
        <p:spPr>
          <a:xfrm>
            <a:off x="812800" y="4574381"/>
            <a:ext cx="6604000" cy="595610"/>
          </a:xfrm>
          <a:custGeom>
            <a:avLst/>
            <a:gdLst/>
            <a:ahLst/>
            <a:cxnLst/>
            <a:rect l="l" t="t" r="r" b="b"/>
            <a:pathLst>
              <a:path w="6604000" h="595610">
                <a:moveTo>
                  <a:pt x="101600" y="595610"/>
                </a:moveTo>
                <a:lnTo>
                  <a:pt x="101600" y="595610"/>
                </a:lnTo>
                <a:arcTo wR="101600" hR="101600" stAng="5400000" swAng="5400000"/>
                <a:lnTo>
                  <a:pt x="0" y="101600"/>
                </a:lnTo>
                <a:arcTo wR="101600" hR="101600" stAng="10800000" swAng="5400000"/>
                <a:lnTo>
                  <a:pt x="101600" y="0"/>
                </a:lnTo>
                <a:arcTo wR="50800" hR="101600" stAng="16200000" swAng="-5400000"/>
                <a:lnTo>
                  <a:pt x="50800" y="494010"/>
                </a:lnTo>
                <a:arcTo wR="50800" hR="101600" stAng="10800000" swAng="-5400000"/>
                <a:close/>
              </a:path>
            </a:pathLst>
          </a:custGeom>
          <a:solidFill>
            <a:srgbClr val="2D6A8F"/>
          </a:solidFill>
          <a:ln/>
        </p:spPr>
        <p:txBody>
          <a:bodyPr/>
          <a:lstStyle/>
          <a:p>
            <a:endParaRPr lang="en-JP"/>
          </a:p>
        </p:txBody>
      </p:sp>
      <p:pic>
        <p:nvPicPr>
          <p:cNvPr id="8" name="Image 0" descr="Computer screen showing a ransom note with a padlock and a countdown timer"/>
          <p:cNvPicPr>
            <a:picLocks noChangeAspect="1"/>
          </p:cNvPicPr>
          <p:nvPr/>
        </p:nvPicPr>
        <p:blipFill>
          <a:blip r:embed="rId3"/>
          <a:srcRect/>
          <a:stretch/>
        </p:blipFill>
        <p:spPr>
          <a:xfrm>
            <a:off x="7823200" y="1953220"/>
            <a:ext cx="3556000" cy="3556000"/>
          </a:xfrm>
          <a:prstGeom prst="rect">
            <a:avLst/>
          </a:prstGeom>
        </p:spPr>
      </p:pic>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2</a:t>
            </a:r>
            <a:endParaRPr lang="en-US" sz="1200" dirty="0"/>
          </a:p>
        </p:txBody>
      </p:sp>
      <p:pic>
        <p:nvPicPr>
          <p:cNvPr id="10" name="Picture 9">
            <a:extLst>
              <a:ext uri="{FF2B5EF4-FFF2-40B4-BE49-F238E27FC236}">
                <a16:creationId xmlns:a16="http://schemas.microsoft.com/office/drawing/2014/main" id="{3F492E42-1A74-722C-D3A3-FEBFE307049D}"/>
              </a:ext>
            </a:extLst>
          </p:cNvPr>
          <p:cNvPicPr>
            <a:picLocks noChangeAspect="1"/>
          </p:cNvPicPr>
          <p:nvPr/>
        </p:nvPicPr>
        <p:blipFill>
          <a:blip r:embed="rId4"/>
          <a:stretch>
            <a:fillRect/>
          </a:stretch>
        </p:blipFill>
        <p:spPr>
          <a:xfrm>
            <a:off x="10555840" y="94655"/>
            <a:ext cx="1331515" cy="13315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Why it matters to all of us</a:t>
            </a:r>
            <a:endParaRPr lang="en-US" sz="3600" dirty="0"/>
          </a:p>
        </p:txBody>
      </p:sp>
      <p:sp>
        <p:nvSpPr>
          <p:cNvPr id="3" name="Shape 1"/>
          <p:cNvSpPr/>
          <p:nvPr/>
        </p:nvSpPr>
        <p:spPr>
          <a:xfrm>
            <a:off x="812800" y="1620441"/>
            <a:ext cx="3386634" cy="4221559"/>
          </a:xfrm>
          <a:prstGeom prst="roundRect">
            <a:avLst>
              <a:gd name="adj" fmla="val 3000"/>
            </a:avLst>
          </a:prstGeom>
          <a:solidFill>
            <a:srgbClr val="FFFFFF"/>
          </a:solidFill>
          <a:ln/>
        </p:spPr>
        <p:txBody>
          <a:bodyPr/>
          <a:lstStyle/>
          <a:p>
            <a:endParaRPr lang="en-JP"/>
          </a:p>
        </p:txBody>
      </p:sp>
      <p:sp>
        <p:nvSpPr>
          <p:cNvPr id="4" name="Shape 2"/>
          <p:cNvSpPr/>
          <p:nvPr/>
        </p:nvSpPr>
        <p:spPr>
          <a:xfrm>
            <a:off x="812800" y="1620441"/>
            <a:ext cx="3386634" cy="4221559"/>
          </a:xfrm>
          <a:custGeom>
            <a:avLst/>
            <a:gdLst/>
            <a:ahLst/>
            <a:cxnLst/>
            <a:rect l="l" t="t" r="r" b="b"/>
            <a:pathLst>
              <a:path w="3386634" h="4221559">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E4572E"/>
          </a:solidFill>
          <a:ln/>
        </p:spPr>
        <p:txBody>
          <a:bodyPr/>
          <a:lstStyle/>
          <a:p>
            <a:endParaRPr lang="en-JP"/>
          </a:p>
        </p:txBody>
      </p:sp>
      <p:pic>
        <p:nvPicPr>
          <p:cNvPr id="5" name="Image 0" descr="Stopped gears"/>
          <p:cNvPicPr>
            <a:picLocks noChangeAspect="1"/>
          </p:cNvPicPr>
          <p:nvPr/>
        </p:nvPicPr>
        <p:blipFill>
          <a:blip r:embed="rId3"/>
          <a:srcRect/>
          <a:stretch/>
        </p:blipFill>
        <p:spPr>
          <a:xfrm>
            <a:off x="1066800" y="1950641"/>
            <a:ext cx="711200" cy="711200"/>
          </a:xfrm>
          <a:prstGeom prst="rect">
            <a:avLst/>
          </a:prstGeom>
        </p:spPr>
      </p:pic>
      <p:sp>
        <p:nvSpPr>
          <p:cNvPr id="6" name="Text 3"/>
          <p:cNvSpPr/>
          <p:nvPr/>
        </p:nvSpPr>
        <p:spPr>
          <a:xfrm>
            <a:off x="1066800" y="278884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A"/>
                </a:solidFill>
                <a:latin typeface="Inter" pitchFamily="34" charset="0"/>
                <a:ea typeface="Inter" pitchFamily="34" charset="-122"/>
                <a:cs typeface="Inter" pitchFamily="34" charset="-120"/>
              </a:rPr>
              <a:t>Work stops</a:t>
            </a:r>
            <a:endParaRPr lang="en-US" sz="2000" dirty="0"/>
          </a:p>
        </p:txBody>
      </p:sp>
      <p:sp>
        <p:nvSpPr>
          <p:cNvPr id="7" name="Text 4"/>
          <p:cNvSpPr/>
          <p:nvPr/>
        </p:nvSpPr>
        <p:spPr>
          <a:xfrm>
            <a:off x="1066800" y="3220641"/>
            <a:ext cx="296499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C4654"/>
                </a:solidFill>
                <a:latin typeface="Inter" pitchFamily="34" charset="0"/>
                <a:ea typeface="Inter" pitchFamily="34" charset="-122"/>
                <a:cs typeface="Inter" pitchFamily="34" charset="-120"/>
              </a:rPr>
              <a:t>Systems go offline. We can't serve customers or do our jobs, sometimes for weeks.</a:t>
            </a:r>
            <a:endParaRPr lang="en-US" sz="1600" dirty="0"/>
          </a:p>
        </p:txBody>
      </p:sp>
      <p:sp>
        <p:nvSpPr>
          <p:cNvPr id="8" name="Shape 5"/>
          <p:cNvSpPr/>
          <p:nvPr/>
        </p:nvSpPr>
        <p:spPr>
          <a:xfrm>
            <a:off x="4402634" y="1620441"/>
            <a:ext cx="3386733" cy="4221559"/>
          </a:xfrm>
          <a:prstGeom prst="roundRect">
            <a:avLst>
              <a:gd name="adj" fmla="val 3000"/>
            </a:avLst>
          </a:prstGeom>
          <a:solidFill>
            <a:srgbClr val="FFFFFF"/>
          </a:solidFill>
          <a:ln/>
        </p:spPr>
        <p:txBody>
          <a:bodyPr/>
          <a:lstStyle/>
          <a:p>
            <a:endParaRPr lang="en-JP"/>
          </a:p>
        </p:txBody>
      </p:sp>
      <p:sp>
        <p:nvSpPr>
          <p:cNvPr id="9" name="Shape 6"/>
          <p:cNvSpPr/>
          <p:nvPr/>
        </p:nvSpPr>
        <p:spPr>
          <a:xfrm>
            <a:off x="4402634" y="1620441"/>
            <a:ext cx="3386733" cy="4221559"/>
          </a:xfrm>
          <a:custGeom>
            <a:avLst/>
            <a:gdLst/>
            <a:ahLst/>
            <a:cxnLst/>
            <a:rect l="l" t="t" r="r" b="b"/>
            <a:pathLst>
              <a:path w="3386733" h="4221559">
                <a:moveTo>
                  <a:pt x="0" y="101600"/>
                </a:moveTo>
                <a:lnTo>
                  <a:pt x="0" y="101600"/>
                </a:lnTo>
                <a:arcTo wR="101600" hR="101600" stAng="10800000" swAng="5400000"/>
                <a:lnTo>
                  <a:pt x="3285133" y="0"/>
                </a:lnTo>
                <a:arcTo wR="101600" hR="101600" stAng="16200000" swAng="5400000"/>
                <a:lnTo>
                  <a:pt x="3386733" y="101600"/>
                </a:lnTo>
                <a:arcTo wR="101600" hR="50800" stAng="0" swAng="-5400000"/>
                <a:lnTo>
                  <a:pt x="101600" y="50800"/>
                </a:lnTo>
                <a:arcTo wR="101600" hR="50800" stAng="16200000" swAng="-5400000"/>
                <a:close/>
              </a:path>
            </a:pathLst>
          </a:custGeom>
          <a:solidFill>
            <a:srgbClr val="E4572E"/>
          </a:solidFill>
          <a:ln/>
        </p:spPr>
        <p:txBody>
          <a:bodyPr/>
          <a:lstStyle/>
          <a:p>
            <a:endParaRPr lang="en-JP"/>
          </a:p>
        </p:txBody>
      </p:sp>
      <p:pic>
        <p:nvPicPr>
          <p:cNvPr id="10" name="Image 1" descr="Document being stolen"/>
          <p:cNvPicPr>
            <a:picLocks noChangeAspect="1"/>
          </p:cNvPicPr>
          <p:nvPr/>
        </p:nvPicPr>
        <p:blipFill>
          <a:blip r:embed="rId4"/>
          <a:srcRect/>
          <a:stretch/>
        </p:blipFill>
        <p:spPr>
          <a:xfrm>
            <a:off x="4656634" y="1950641"/>
            <a:ext cx="711200" cy="711200"/>
          </a:xfrm>
          <a:prstGeom prst="rect">
            <a:avLst/>
          </a:prstGeom>
        </p:spPr>
      </p:pic>
      <p:sp>
        <p:nvSpPr>
          <p:cNvPr id="11" name="Text 7"/>
          <p:cNvSpPr/>
          <p:nvPr/>
        </p:nvSpPr>
        <p:spPr>
          <a:xfrm>
            <a:off x="4656634" y="2788841"/>
            <a:ext cx="29650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A"/>
                </a:solidFill>
                <a:latin typeface="Inter" pitchFamily="34" charset="0"/>
                <a:ea typeface="Inter" pitchFamily="34" charset="-122"/>
                <a:cs typeface="Inter" pitchFamily="34" charset="-120"/>
              </a:rPr>
              <a:t>Data is exposed</a:t>
            </a:r>
            <a:endParaRPr lang="en-US" sz="2000" dirty="0"/>
          </a:p>
        </p:txBody>
      </p:sp>
      <p:sp>
        <p:nvSpPr>
          <p:cNvPr id="12" name="Text 8"/>
          <p:cNvSpPr/>
          <p:nvPr/>
        </p:nvSpPr>
        <p:spPr>
          <a:xfrm>
            <a:off x="4656634" y="3220641"/>
            <a:ext cx="2965095"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C4654"/>
                </a:solidFill>
                <a:latin typeface="Inter" pitchFamily="34" charset="0"/>
                <a:ea typeface="Inter" pitchFamily="34" charset="-122"/>
                <a:cs typeface="Inter" pitchFamily="34" charset="-120"/>
              </a:rPr>
              <a:t>Personal and confidential information can be stolen and leaked.</a:t>
            </a:r>
            <a:endParaRPr lang="en-US" sz="1600" dirty="0"/>
          </a:p>
        </p:txBody>
      </p:sp>
      <p:sp>
        <p:nvSpPr>
          <p:cNvPr id="13" name="Shape 9"/>
          <p:cNvSpPr/>
          <p:nvPr/>
        </p:nvSpPr>
        <p:spPr>
          <a:xfrm>
            <a:off x="7992566" y="1620441"/>
            <a:ext cx="3386634" cy="4221559"/>
          </a:xfrm>
          <a:prstGeom prst="roundRect">
            <a:avLst>
              <a:gd name="adj" fmla="val 3000"/>
            </a:avLst>
          </a:prstGeom>
          <a:solidFill>
            <a:srgbClr val="FFFFFF"/>
          </a:solidFill>
          <a:ln/>
        </p:spPr>
        <p:txBody>
          <a:bodyPr/>
          <a:lstStyle/>
          <a:p>
            <a:endParaRPr lang="en-JP"/>
          </a:p>
        </p:txBody>
      </p:sp>
      <p:sp>
        <p:nvSpPr>
          <p:cNvPr id="14" name="Shape 10"/>
          <p:cNvSpPr/>
          <p:nvPr/>
        </p:nvSpPr>
        <p:spPr>
          <a:xfrm>
            <a:off x="7992566" y="1620441"/>
            <a:ext cx="3386634" cy="4221559"/>
          </a:xfrm>
          <a:custGeom>
            <a:avLst/>
            <a:gdLst/>
            <a:ahLst/>
            <a:cxnLst/>
            <a:rect l="l" t="t" r="r" b="b"/>
            <a:pathLst>
              <a:path w="3386634" h="4221559">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E4572E"/>
          </a:solidFill>
          <a:ln/>
        </p:spPr>
        <p:txBody>
          <a:bodyPr/>
          <a:lstStyle/>
          <a:p>
            <a:endParaRPr lang="en-JP"/>
          </a:p>
        </p:txBody>
      </p:sp>
      <p:pic>
        <p:nvPicPr>
          <p:cNvPr id="15" name="Image 2" descr="Cracked coin"/>
          <p:cNvPicPr>
            <a:picLocks noChangeAspect="1"/>
          </p:cNvPicPr>
          <p:nvPr/>
        </p:nvPicPr>
        <p:blipFill>
          <a:blip r:embed="rId5"/>
          <a:srcRect/>
          <a:stretch/>
        </p:blipFill>
        <p:spPr>
          <a:xfrm>
            <a:off x="8246566" y="1950641"/>
            <a:ext cx="711200" cy="711200"/>
          </a:xfrm>
          <a:prstGeom prst="rect">
            <a:avLst/>
          </a:prstGeom>
        </p:spPr>
      </p:pic>
      <p:sp>
        <p:nvSpPr>
          <p:cNvPr id="16" name="Text 11"/>
          <p:cNvSpPr/>
          <p:nvPr/>
        </p:nvSpPr>
        <p:spPr>
          <a:xfrm>
            <a:off x="8246566" y="278884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A"/>
                </a:solidFill>
                <a:latin typeface="Inter" pitchFamily="34" charset="0"/>
                <a:ea typeface="Inter" pitchFamily="34" charset="-122"/>
                <a:cs typeface="Inter" pitchFamily="34" charset="-120"/>
              </a:rPr>
              <a:t>Costs and trust</a:t>
            </a:r>
            <a:endParaRPr lang="en-US" sz="2000" dirty="0"/>
          </a:p>
        </p:txBody>
      </p:sp>
      <p:sp>
        <p:nvSpPr>
          <p:cNvPr id="17" name="Text 12"/>
          <p:cNvSpPr/>
          <p:nvPr/>
        </p:nvSpPr>
        <p:spPr>
          <a:xfrm>
            <a:off x="8246566" y="3220641"/>
            <a:ext cx="296499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C4654"/>
                </a:solidFill>
                <a:latin typeface="Inter" pitchFamily="34" charset="0"/>
                <a:ea typeface="Inter" pitchFamily="34" charset="-122"/>
                <a:cs typeface="Inter" pitchFamily="34" charset="-120"/>
              </a:rPr>
              <a:t>Recovery is expensive, and our reputation can take years to rebuild.</a:t>
            </a:r>
            <a:endParaRPr lang="en-US" sz="1600" dirty="0"/>
          </a:p>
        </p:txBody>
      </p:sp>
      <p:sp>
        <p:nvSpPr>
          <p:cNvPr id="18"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How ransomware gets in</a:t>
            </a:r>
            <a:endParaRPr lang="en-US" sz="3600" dirty="0"/>
          </a:p>
        </p:txBody>
      </p:sp>
      <p:sp>
        <p:nvSpPr>
          <p:cNvPr id="3" name="Shape 1"/>
          <p:cNvSpPr/>
          <p:nvPr/>
        </p:nvSpPr>
        <p:spPr>
          <a:xfrm>
            <a:off x="812800" y="3078956"/>
            <a:ext cx="5194300" cy="1292622"/>
          </a:xfrm>
          <a:prstGeom prst="roundRect">
            <a:avLst>
              <a:gd name="adj" fmla="val 7860"/>
            </a:avLst>
          </a:prstGeom>
          <a:solidFill>
            <a:srgbClr val="FFFFFF"/>
          </a:solidFill>
          <a:ln/>
        </p:spPr>
        <p:txBody>
          <a:bodyPr/>
          <a:lstStyle/>
          <a:p>
            <a:endParaRPr lang="en-JP"/>
          </a:p>
        </p:txBody>
      </p:sp>
      <p:pic>
        <p:nvPicPr>
          <p:cNvPr id="4" name="Image 0" descr="Envelope with a hook"/>
          <p:cNvPicPr>
            <a:picLocks noChangeAspect="1"/>
          </p:cNvPicPr>
          <p:nvPr/>
        </p:nvPicPr>
        <p:blipFill>
          <a:blip r:embed="rId3"/>
          <a:srcRect/>
          <a:stretch/>
        </p:blipFill>
        <p:spPr>
          <a:xfrm>
            <a:off x="1066800" y="3307556"/>
            <a:ext cx="558800" cy="558800"/>
          </a:xfrm>
          <a:prstGeom prst="rect">
            <a:avLst/>
          </a:prstGeom>
        </p:spPr>
      </p:pic>
      <p:sp>
        <p:nvSpPr>
          <p:cNvPr id="5" name="Text 2"/>
          <p:cNvSpPr/>
          <p:nvPr/>
        </p:nvSpPr>
        <p:spPr>
          <a:xfrm>
            <a:off x="1803400" y="3307556"/>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Phishing emails</a:t>
            </a:r>
            <a:endParaRPr lang="en-US" sz="1800" dirty="0"/>
          </a:p>
        </p:txBody>
      </p:sp>
      <p:sp>
        <p:nvSpPr>
          <p:cNvPr id="6" name="Text 3"/>
          <p:cNvSpPr/>
          <p:nvPr/>
        </p:nvSpPr>
        <p:spPr>
          <a:xfrm>
            <a:off x="1803400" y="3645297"/>
            <a:ext cx="406819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Infected attachments or links in convincing messages.</a:t>
            </a:r>
            <a:endParaRPr lang="en-US" sz="1400" dirty="0"/>
          </a:p>
        </p:txBody>
      </p:sp>
      <p:sp>
        <p:nvSpPr>
          <p:cNvPr id="7" name="Shape 4"/>
          <p:cNvSpPr/>
          <p:nvPr/>
        </p:nvSpPr>
        <p:spPr>
          <a:xfrm>
            <a:off x="6184900" y="3078956"/>
            <a:ext cx="5194300" cy="1292622"/>
          </a:xfrm>
          <a:prstGeom prst="roundRect">
            <a:avLst>
              <a:gd name="adj" fmla="val 7860"/>
            </a:avLst>
          </a:prstGeom>
          <a:solidFill>
            <a:srgbClr val="FFFFFF"/>
          </a:solidFill>
          <a:ln/>
        </p:spPr>
        <p:txBody>
          <a:bodyPr/>
          <a:lstStyle/>
          <a:p>
            <a:endParaRPr lang="en-JP"/>
          </a:p>
        </p:txBody>
      </p:sp>
      <p:pic>
        <p:nvPicPr>
          <p:cNvPr id="8" name="Image 1" descr="Download arrow with a warning"/>
          <p:cNvPicPr>
            <a:picLocks noChangeAspect="1"/>
          </p:cNvPicPr>
          <p:nvPr/>
        </p:nvPicPr>
        <p:blipFill>
          <a:blip r:embed="rId4"/>
          <a:srcRect/>
          <a:stretch/>
        </p:blipFill>
        <p:spPr>
          <a:xfrm>
            <a:off x="6438900" y="3307556"/>
            <a:ext cx="558800" cy="558800"/>
          </a:xfrm>
          <a:prstGeom prst="rect">
            <a:avLst/>
          </a:prstGeom>
        </p:spPr>
      </p:pic>
      <p:sp>
        <p:nvSpPr>
          <p:cNvPr id="9" name="Text 5"/>
          <p:cNvSpPr/>
          <p:nvPr/>
        </p:nvSpPr>
        <p:spPr>
          <a:xfrm>
            <a:off x="7175500" y="3307556"/>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Unsafe downloads</a:t>
            </a:r>
            <a:endParaRPr lang="en-US" sz="1800" dirty="0"/>
          </a:p>
        </p:txBody>
      </p:sp>
      <p:sp>
        <p:nvSpPr>
          <p:cNvPr id="10" name="Text 6"/>
          <p:cNvSpPr/>
          <p:nvPr/>
        </p:nvSpPr>
        <p:spPr>
          <a:xfrm>
            <a:off x="7175500" y="3645297"/>
            <a:ext cx="406819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Fake updates, pirated software and infected USB drives.</a:t>
            </a:r>
            <a:endParaRPr lang="en-US" sz="1400" dirty="0"/>
          </a:p>
        </p:txBody>
      </p:sp>
      <p:sp>
        <p:nvSpPr>
          <p:cNvPr id="11" name="Shape 7"/>
          <p:cNvSpPr/>
          <p:nvPr/>
        </p:nvSpPr>
        <p:spPr>
          <a:xfrm>
            <a:off x="812800" y="4549378"/>
            <a:ext cx="5194300" cy="1292622"/>
          </a:xfrm>
          <a:prstGeom prst="roundRect">
            <a:avLst>
              <a:gd name="adj" fmla="val 7860"/>
            </a:avLst>
          </a:prstGeom>
          <a:solidFill>
            <a:srgbClr val="FFFFFF"/>
          </a:solidFill>
          <a:ln/>
        </p:spPr>
        <p:txBody>
          <a:bodyPr/>
          <a:lstStyle/>
          <a:p>
            <a:endParaRPr lang="en-JP"/>
          </a:p>
        </p:txBody>
      </p:sp>
      <p:pic>
        <p:nvPicPr>
          <p:cNvPr id="12" name="Image 2" descr="Outdated software update symbol"/>
          <p:cNvPicPr>
            <a:picLocks noChangeAspect="1"/>
          </p:cNvPicPr>
          <p:nvPr/>
        </p:nvPicPr>
        <p:blipFill>
          <a:blip r:embed="rId5"/>
          <a:srcRect/>
          <a:stretch/>
        </p:blipFill>
        <p:spPr>
          <a:xfrm>
            <a:off x="1066800" y="4777978"/>
            <a:ext cx="558800" cy="558800"/>
          </a:xfrm>
          <a:prstGeom prst="rect">
            <a:avLst/>
          </a:prstGeom>
        </p:spPr>
      </p:pic>
      <p:sp>
        <p:nvSpPr>
          <p:cNvPr id="13" name="Text 8"/>
          <p:cNvSpPr/>
          <p:nvPr/>
        </p:nvSpPr>
        <p:spPr>
          <a:xfrm>
            <a:off x="1803400" y="4777978"/>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Unpatched systems</a:t>
            </a:r>
            <a:endParaRPr lang="en-US" sz="1800" dirty="0"/>
          </a:p>
        </p:txBody>
      </p:sp>
      <p:sp>
        <p:nvSpPr>
          <p:cNvPr id="14" name="Text 9"/>
          <p:cNvSpPr/>
          <p:nvPr/>
        </p:nvSpPr>
        <p:spPr>
          <a:xfrm>
            <a:off x="1803400" y="5115719"/>
            <a:ext cx="406819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Skipped updates leave known security holes open.</a:t>
            </a:r>
            <a:endParaRPr lang="en-US" sz="1400" dirty="0"/>
          </a:p>
        </p:txBody>
      </p:sp>
      <p:sp>
        <p:nvSpPr>
          <p:cNvPr id="15" name="Shape 10"/>
          <p:cNvSpPr/>
          <p:nvPr/>
        </p:nvSpPr>
        <p:spPr>
          <a:xfrm>
            <a:off x="6184900" y="4549378"/>
            <a:ext cx="5194300" cy="1292622"/>
          </a:xfrm>
          <a:prstGeom prst="roundRect">
            <a:avLst>
              <a:gd name="adj" fmla="val 7860"/>
            </a:avLst>
          </a:prstGeom>
          <a:solidFill>
            <a:srgbClr val="FFFFFF"/>
          </a:solidFill>
          <a:ln/>
        </p:spPr>
        <p:txBody>
          <a:bodyPr/>
          <a:lstStyle/>
          <a:p>
            <a:endParaRPr lang="en-JP"/>
          </a:p>
        </p:txBody>
      </p:sp>
      <p:pic>
        <p:nvPicPr>
          <p:cNvPr id="16" name="Image 3" descr="Stolen key"/>
          <p:cNvPicPr>
            <a:picLocks noChangeAspect="1"/>
          </p:cNvPicPr>
          <p:nvPr/>
        </p:nvPicPr>
        <p:blipFill>
          <a:blip r:embed="rId6"/>
          <a:srcRect/>
          <a:stretch/>
        </p:blipFill>
        <p:spPr>
          <a:xfrm>
            <a:off x="6438900" y="4777978"/>
            <a:ext cx="558800" cy="558800"/>
          </a:xfrm>
          <a:prstGeom prst="rect">
            <a:avLst/>
          </a:prstGeom>
        </p:spPr>
      </p:pic>
      <p:sp>
        <p:nvSpPr>
          <p:cNvPr id="17" name="Text 11"/>
          <p:cNvSpPr/>
          <p:nvPr/>
        </p:nvSpPr>
        <p:spPr>
          <a:xfrm>
            <a:off x="7175500" y="4777978"/>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Weak or stolen passwords</a:t>
            </a:r>
            <a:endParaRPr lang="en-US" sz="1800" dirty="0"/>
          </a:p>
        </p:txBody>
      </p:sp>
      <p:sp>
        <p:nvSpPr>
          <p:cNvPr id="18" name="Text 12"/>
          <p:cNvSpPr/>
          <p:nvPr/>
        </p:nvSpPr>
        <p:spPr>
          <a:xfrm>
            <a:off x="7175500" y="5115719"/>
            <a:ext cx="406819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Attackers log in remotely using reused or guessed passwords.</a:t>
            </a:r>
            <a:endParaRPr lang="en-US" sz="1400" dirty="0"/>
          </a:p>
        </p:txBody>
      </p:sp>
      <p:sp>
        <p:nvSpPr>
          <p:cNvPr id="19"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4</a:t>
            </a:r>
            <a:endParaRPr lang="en-US" sz="1200" dirty="0"/>
          </a:p>
        </p:txBody>
      </p:sp>
      <p:pic>
        <p:nvPicPr>
          <p:cNvPr id="20" name="Picture 19">
            <a:extLst>
              <a:ext uri="{FF2B5EF4-FFF2-40B4-BE49-F238E27FC236}">
                <a16:creationId xmlns:a16="http://schemas.microsoft.com/office/drawing/2014/main" id="{6CB1B437-1BC3-5504-D656-94F65023224A}"/>
              </a:ext>
            </a:extLst>
          </p:cNvPr>
          <p:cNvPicPr>
            <a:picLocks noChangeAspect="1"/>
          </p:cNvPicPr>
          <p:nvPr/>
        </p:nvPicPr>
        <p:blipFill>
          <a:blip r:embed="rId7"/>
          <a:stretch>
            <a:fillRect/>
          </a:stretch>
        </p:blipFill>
        <p:spPr>
          <a:xfrm>
            <a:off x="10555840" y="94655"/>
            <a:ext cx="1331515" cy="13315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4F1"/>
                </a:solidFill>
                <a:latin typeface="Space Grotesk" pitchFamily="34" charset="0"/>
                <a:ea typeface="Space Grotesk" pitchFamily="34" charset="-122"/>
                <a:cs typeface="Space Grotesk" pitchFamily="34" charset="-120"/>
              </a:rPr>
              <a:t>Anatomy of an attack</a:t>
            </a:r>
            <a:endParaRPr lang="en-US" sz="3600" dirty="0"/>
          </a:p>
        </p:txBody>
      </p:sp>
      <p:sp>
        <p:nvSpPr>
          <p:cNvPr id="3" name="Shape 1"/>
          <p:cNvSpPr/>
          <p:nvPr/>
        </p:nvSpPr>
        <p:spPr>
          <a:xfrm>
            <a:off x="812800" y="2204839"/>
            <a:ext cx="1767780" cy="2463502"/>
          </a:xfrm>
          <a:prstGeom prst="roundRect">
            <a:avLst>
              <a:gd name="adj" fmla="val 5747"/>
            </a:avLst>
          </a:prstGeom>
          <a:solidFill>
            <a:srgbClr val="1A2C42"/>
          </a:solidFill>
          <a:ln/>
        </p:spPr>
        <p:txBody>
          <a:bodyPr/>
          <a:lstStyle/>
          <a:p>
            <a:endParaRPr lang="en-JP"/>
          </a:p>
        </p:txBody>
      </p:sp>
      <p:pic>
        <p:nvPicPr>
          <p:cNvPr id="4" name="Image 0" descr="Door opening"/>
          <p:cNvPicPr>
            <a:picLocks noChangeAspect="1"/>
          </p:cNvPicPr>
          <p:nvPr/>
        </p:nvPicPr>
        <p:blipFill>
          <a:blip r:embed="rId3"/>
          <a:srcRect/>
          <a:stretch/>
        </p:blipFill>
        <p:spPr>
          <a:xfrm>
            <a:off x="990600" y="2433439"/>
            <a:ext cx="558800" cy="558800"/>
          </a:xfrm>
          <a:prstGeom prst="rect">
            <a:avLst/>
          </a:prstGeom>
        </p:spPr>
      </p:pic>
      <p:sp>
        <p:nvSpPr>
          <p:cNvPr id="5" name="Text 2"/>
          <p:cNvSpPr/>
          <p:nvPr/>
        </p:nvSpPr>
        <p:spPr>
          <a:xfrm>
            <a:off x="990600" y="3081139"/>
            <a:ext cx="14629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8C6A"/>
                </a:solidFill>
                <a:latin typeface="Inter" pitchFamily="34" charset="0"/>
                <a:ea typeface="Inter" pitchFamily="34" charset="-122"/>
                <a:cs typeface="Inter" pitchFamily="34" charset="-120"/>
              </a:rPr>
              <a:t>STEP 1</a:t>
            </a:r>
            <a:endParaRPr lang="en-US" sz="1200" dirty="0"/>
          </a:p>
        </p:txBody>
      </p:sp>
      <p:sp>
        <p:nvSpPr>
          <p:cNvPr id="6" name="Text 3"/>
          <p:cNvSpPr/>
          <p:nvPr/>
        </p:nvSpPr>
        <p:spPr>
          <a:xfrm>
            <a:off x="990600" y="3383359"/>
            <a:ext cx="146298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4F1"/>
                </a:solidFill>
                <a:latin typeface="Inter" pitchFamily="34" charset="0"/>
                <a:ea typeface="Inter" pitchFamily="34" charset="-122"/>
                <a:cs typeface="Inter" pitchFamily="34" charset="-120"/>
              </a:rPr>
              <a:t>Entry</a:t>
            </a:r>
            <a:endParaRPr lang="en-US" sz="1800" dirty="0"/>
          </a:p>
        </p:txBody>
      </p:sp>
      <p:sp>
        <p:nvSpPr>
          <p:cNvPr id="7" name="Text 4"/>
          <p:cNvSpPr/>
          <p:nvPr/>
        </p:nvSpPr>
        <p:spPr>
          <a:xfrm>
            <a:off x="990600" y="3746500"/>
            <a:ext cx="146298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8CCD2"/>
                </a:solidFill>
                <a:latin typeface="Inter" pitchFamily="34" charset="0"/>
                <a:ea typeface="Inter" pitchFamily="34" charset="-122"/>
                <a:cs typeface="Inter" pitchFamily="34" charset="-120"/>
              </a:rPr>
              <a:t>A click, a download or a stolen password.</a:t>
            </a:r>
            <a:endParaRPr lang="en-US" sz="1300" dirty="0"/>
          </a:p>
        </p:txBody>
      </p:sp>
      <p:pic>
        <p:nvPicPr>
          <p:cNvPr id="8" name="Image 1" descr="arrow-right"/>
          <p:cNvPicPr>
            <a:picLocks noChangeAspect="1"/>
          </p:cNvPicPr>
          <p:nvPr/>
        </p:nvPicPr>
        <p:blipFill>
          <a:blip r:embed="rId4"/>
          <a:srcRect/>
          <a:stretch/>
        </p:blipFill>
        <p:spPr>
          <a:xfrm>
            <a:off x="2682180" y="3334941"/>
            <a:ext cx="228600" cy="203200"/>
          </a:xfrm>
          <a:prstGeom prst="rect">
            <a:avLst/>
          </a:prstGeom>
        </p:spPr>
      </p:pic>
      <p:sp>
        <p:nvSpPr>
          <p:cNvPr id="9" name="Shape 5"/>
          <p:cNvSpPr/>
          <p:nvPr/>
        </p:nvSpPr>
        <p:spPr>
          <a:xfrm>
            <a:off x="3012380" y="2204839"/>
            <a:ext cx="1767880" cy="2463502"/>
          </a:xfrm>
          <a:prstGeom prst="roundRect">
            <a:avLst>
              <a:gd name="adj" fmla="val 5747"/>
            </a:avLst>
          </a:prstGeom>
          <a:solidFill>
            <a:srgbClr val="1A2C42"/>
          </a:solidFill>
          <a:ln/>
        </p:spPr>
        <p:txBody>
          <a:bodyPr/>
          <a:lstStyle/>
          <a:p>
            <a:endParaRPr lang="en-JP"/>
          </a:p>
        </p:txBody>
      </p:sp>
      <p:pic>
        <p:nvPicPr>
          <p:cNvPr id="10" name="Image 2" descr="Network spreading"/>
          <p:cNvPicPr>
            <a:picLocks noChangeAspect="1"/>
          </p:cNvPicPr>
          <p:nvPr/>
        </p:nvPicPr>
        <p:blipFill>
          <a:blip r:embed="rId5"/>
          <a:srcRect/>
          <a:stretch/>
        </p:blipFill>
        <p:spPr>
          <a:xfrm>
            <a:off x="3190180" y="2433439"/>
            <a:ext cx="558800" cy="558800"/>
          </a:xfrm>
          <a:prstGeom prst="rect">
            <a:avLst/>
          </a:prstGeom>
        </p:spPr>
      </p:pic>
      <p:sp>
        <p:nvSpPr>
          <p:cNvPr id="11" name="Text 6"/>
          <p:cNvSpPr/>
          <p:nvPr/>
        </p:nvSpPr>
        <p:spPr>
          <a:xfrm>
            <a:off x="3190180" y="3081139"/>
            <a:ext cx="14630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8C6A"/>
                </a:solidFill>
                <a:latin typeface="Inter" pitchFamily="34" charset="0"/>
                <a:ea typeface="Inter" pitchFamily="34" charset="-122"/>
                <a:cs typeface="Inter" pitchFamily="34" charset="-120"/>
              </a:rPr>
              <a:t>STEP 2</a:t>
            </a:r>
            <a:endParaRPr lang="en-US" sz="1200" dirty="0"/>
          </a:p>
        </p:txBody>
      </p:sp>
      <p:sp>
        <p:nvSpPr>
          <p:cNvPr id="12" name="Text 7"/>
          <p:cNvSpPr/>
          <p:nvPr/>
        </p:nvSpPr>
        <p:spPr>
          <a:xfrm>
            <a:off x="3190180" y="3383359"/>
            <a:ext cx="146308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4F1"/>
                </a:solidFill>
                <a:latin typeface="Inter" pitchFamily="34" charset="0"/>
                <a:ea typeface="Inter" pitchFamily="34" charset="-122"/>
                <a:cs typeface="Inter" pitchFamily="34" charset="-120"/>
              </a:rPr>
              <a:t>Spread</a:t>
            </a:r>
            <a:endParaRPr lang="en-US" sz="1800" dirty="0"/>
          </a:p>
        </p:txBody>
      </p:sp>
      <p:sp>
        <p:nvSpPr>
          <p:cNvPr id="13" name="Text 8"/>
          <p:cNvSpPr/>
          <p:nvPr/>
        </p:nvSpPr>
        <p:spPr>
          <a:xfrm>
            <a:off x="3190180" y="3746500"/>
            <a:ext cx="146308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8CCD2"/>
                </a:solidFill>
                <a:latin typeface="Inter" pitchFamily="34" charset="0"/>
                <a:ea typeface="Inter" pitchFamily="34" charset="-122"/>
                <a:cs typeface="Inter" pitchFamily="34" charset="-120"/>
              </a:rPr>
              <a:t>Quietly moves across the network.</a:t>
            </a:r>
            <a:endParaRPr lang="en-US" sz="1300" dirty="0"/>
          </a:p>
        </p:txBody>
      </p:sp>
      <p:pic>
        <p:nvPicPr>
          <p:cNvPr id="14" name="Image 3" descr="arrow-right"/>
          <p:cNvPicPr>
            <a:picLocks noChangeAspect="1"/>
          </p:cNvPicPr>
          <p:nvPr/>
        </p:nvPicPr>
        <p:blipFill>
          <a:blip r:embed="rId4"/>
          <a:srcRect/>
          <a:stretch/>
        </p:blipFill>
        <p:spPr>
          <a:xfrm>
            <a:off x="4881860" y="3334941"/>
            <a:ext cx="228600" cy="203200"/>
          </a:xfrm>
          <a:prstGeom prst="rect">
            <a:avLst/>
          </a:prstGeom>
        </p:spPr>
      </p:pic>
      <p:sp>
        <p:nvSpPr>
          <p:cNvPr id="15" name="Shape 9"/>
          <p:cNvSpPr/>
          <p:nvPr/>
        </p:nvSpPr>
        <p:spPr>
          <a:xfrm>
            <a:off x="5212060" y="2320330"/>
            <a:ext cx="1767780" cy="2232422"/>
          </a:xfrm>
          <a:prstGeom prst="roundRect">
            <a:avLst>
              <a:gd name="adj" fmla="val 5747"/>
            </a:avLst>
          </a:prstGeom>
          <a:solidFill>
            <a:srgbClr val="1A2C42"/>
          </a:solidFill>
          <a:ln/>
        </p:spPr>
        <p:txBody>
          <a:bodyPr/>
          <a:lstStyle/>
          <a:p>
            <a:endParaRPr lang="en-JP"/>
          </a:p>
        </p:txBody>
      </p:sp>
      <p:pic>
        <p:nvPicPr>
          <p:cNvPr id="16" name="Image 4" descr="Data leaving"/>
          <p:cNvPicPr>
            <a:picLocks noChangeAspect="1"/>
          </p:cNvPicPr>
          <p:nvPr/>
        </p:nvPicPr>
        <p:blipFill>
          <a:blip r:embed="rId6"/>
          <a:srcRect/>
          <a:stretch/>
        </p:blipFill>
        <p:spPr>
          <a:xfrm>
            <a:off x="5389860" y="2548930"/>
            <a:ext cx="558800" cy="558800"/>
          </a:xfrm>
          <a:prstGeom prst="rect">
            <a:avLst/>
          </a:prstGeom>
        </p:spPr>
      </p:pic>
      <p:sp>
        <p:nvSpPr>
          <p:cNvPr id="17" name="Text 10"/>
          <p:cNvSpPr/>
          <p:nvPr/>
        </p:nvSpPr>
        <p:spPr>
          <a:xfrm>
            <a:off x="5389860" y="3196630"/>
            <a:ext cx="14629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8C6A"/>
                </a:solidFill>
                <a:latin typeface="Inter" pitchFamily="34" charset="0"/>
                <a:ea typeface="Inter" pitchFamily="34" charset="-122"/>
                <a:cs typeface="Inter" pitchFamily="34" charset="-120"/>
              </a:rPr>
              <a:t>STEP 3</a:t>
            </a:r>
            <a:endParaRPr lang="en-US" sz="1200" dirty="0"/>
          </a:p>
        </p:txBody>
      </p:sp>
      <p:sp>
        <p:nvSpPr>
          <p:cNvPr id="18" name="Text 11"/>
          <p:cNvSpPr/>
          <p:nvPr/>
        </p:nvSpPr>
        <p:spPr>
          <a:xfrm>
            <a:off x="5389860" y="3498850"/>
            <a:ext cx="146298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4F1"/>
                </a:solidFill>
                <a:latin typeface="Inter" pitchFamily="34" charset="0"/>
                <a:ea typeface="Inter" pitchFamily="34" charset="-122"/>
                <a:cs typeface="Inter" pitchFamily="34" charset="-120"/>
              </a:rPr>
              <a:t>Steal</a:t>
            </a:r>
            <a:endParaRPr lang="en-US" sz="1800" dirty="0"/>
          </a:p>
        </p:txBody>
      </p:sp>
      <p:sp>
        <p:nvSpPr>
          <p:cNvPr id="19" name="Text 12"/>
          <p:cNvSpPr/>
          <p:nvPr/>
        </p:nvSpPr>
        <p:spPr>
          <a:xfrm>
            <a:off x="5389860" y="3861991"/>
            <a:ext cx="146298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8CCD2"/>
                </a:solidFill>
                <a:latin typeface="Inter" pitchFamily="34" charset="0"/>
                <a:ea typeface="Inter" pitchFamily="34" charset="-122"/>
                <a:cs typeface="Inter" pitchFamily="34" charset="-120"/>
              </a:rPr>
              <a:t>Copies sensitive data out.</a:t>
            </a:r>
            <a:endParaRPr lang="en-US" sz="1300" dirty="0"/>
          </a:p>
        </p:txBody>
      </p:sp>
      <p:pic>
        <p:nvPicPr>
          <p:cNvPr id="20" name="Image 5" descr="arrow-right"/>
          <p:cNvPicPr>
            <a:picLocks noChangeAspect="1"/>
          </p:cNvPicPr>
          <p:nvPr/>
        </p:nvPicPr>
        <p:blipFill>
          <a:blip r:embed="rId4"/>
          <a:srcRect/>
          <a:stretch/>
        </p:blipFill>
        <p:spPr>
          <a:xfrm>
            <a:off x="7081441" y="3334941"/>
            <a:ext cx="228600" cy="203200"/>
          </a:xfrm>
          <a:prstGeom prst="rect">
            <a:avLst/>
          </a:prstGeom>
        </p:spPr>
      </p:pic>
      <p:sp>
        <p:nvSpPr>
          <p:cNvPr id="21" name="Shape 13"/>
          <p:cNvSpPr/>
          <p:nvPr/>
        </p:nvSpPr>
        <p:spPr>
          <a:xfrm>
            <a:off x="7411641" y="2204839"/>
            <a:ext cx="1767880" cy="2463502"/>
          </a:xfrm>
          <a:prstGeom prst="roundRect">
            <a:avLst>
              <a:gd name="adj" fmla="val 5747"/>
            </a:avLst>
          </a:prstGeom>
          <a:solidFill>
            <a:srgbClr val="1A2C42"/>
          </a:solidFill>
          <a:ln/>
        </p:spPr>
        <p:txBody>
          <a:bodyPr/>
          <a:lstStyle/>
          <a:p>
            <a:endParaRPr lang="en-JP"/>
          </a:p>
        </p:txBody>
      </p:sp>
      <p:pic>
        <p:nvPicPr>
          <p:cNvPr id="22" name="Image 6" descr="Locked file"/>
          <p:cNvPicPr>
            <a:picLocks noChangeAspect="1"/>
          </p:cNvPicPr>
          <p:nvPr/>
        </p:nvPicPr>
        <p:blipFill>
          <a:blip r:embed="rId7"/>
          <a:srcRect/>
          <a:stretch/>
        </p:blipFill>
        <p:spPr>
          <a:xfrm>
            <a:off x="7589441" y="2433439"/>
            <a:ext cx="558800" cy="558800"/>
          </a:xfrm>
          <a:prstGeom prst="rect">
            <a:avLst/>
          </a:prstGeom>
        </p:spPr>
      </p:pic>
      <p:sp>
        <p:nvSpPr>
          <p:cNvPr id="23" name="Text 14"/>
          <p:cNvSpPr/>
          <p:nvPr/>
        </p:nvSpPr>
        <p:spPr>
          <a:xfrm>
            <a:off x="7589441" y="3081139"/>
            <a:ext cx="14630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8C6A"/>
                </a:solidFill>
                <a:latin typeface="Inter" pitchFamily="34" charset="0"/>
                <a:ea typeface="Inter" pitchFamily="34" charset="-122"/>
                <a:cs typeface="Inter" pitchFamily="34" charset="-120"/>
              </a:rPr>
              <a:t>STEP 4</a:t>
            </a:r>
            <a:endParaRPr lang="en-US" sz="1200" dirty="0"/>
          </a:p>
        </p:txBody>
      </p:sp>
      <p:sp>
        <p:nvSpPr>
          <p:cNvPr id="24" name="Text 15"/>
          <p:cNvSpPr/>
          <p:nvPr/>
        </p:nvSpPr>
        <p:spPr>
          <a:xfrm>
            <a:off x="7589441" y="3383359"/>
            <a:ext cx="146308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4F1"/>
                </a:solidFill>
                <a:latin typeface="Inter" pitchFamily="34" charset="0"/>
                <a:ea typeface="Inter" pitchFamily="34" charset="-122"/>
                <a:cs typeface="Inter" pitchFamily="34" charset="-120"/>
              </a:rPr>
              <a:t>Encrypt</a:t>
            </a:r>
            <a:endParaRPr lang="en-US" sz="1800" dirty="0"/>
          </a:p>
        </p:txBody>
      </p:sp>
      <p:sp>
        <p:nvSpPr>
          <p:cNvPr id="25" name="Text 16"/>
          <p:cNvSpPr/>
          <p:nvPr/>
        </p:nvSpPr>
        <p:spPr>
          <a:xfrm>
            <a:off x="7589441" y="3746500"/>
            <a:ext cx="146308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8CCD2"/>
                </a:solidFill>
                <a:latin typeface="Inter" pitchFamily="34" charset="0"/>
                <a:ea typeface="Inter" pitchFamily="34" charset="-122"/>
                <a:cs typeface="Inter" pitchFamily="34" charset="-120"/>
              </a:rPr>
              <a:t>Locks files and backups it can reach.</a:t>
            </a:r>
            <a:endParaRPr lang="en-US" sz="1300" dirty="0"/>
          </a:p>
        </p:txBody>
      </p:sp>
      <p:pic>
        <p:nvPicPr>
          <p:cNvPr id="26" name="Image 7" descr="arrow-right"/>
          <p:cNvPicPr>
            <a:picLocks noChangeAspect="1"/>
          </p:cNvPicPr>
          <p:nvPr/>
        </p:nvPicPr>
        <p:blipFill>
          <a:blip r:embed="rId4"/>
          <a:srcRect/>
          <a:stretch/>
        </p:blipFill>
        <p:spPr>
          <a:xfrm>
            <a:off x="9281120" y="3334941"/>
            <a:ext cx="228600" cy="203200"/>
          </a:xfrm>
          <a:prstGeom prst="rect">
            <a:avLst/>
          </a:prstGeom>
        </p:spPr>
      </p:pic>
      <p:sp>
        <p:nvSpPr>
          <p:cNvPr id="27" name="Shape 17"/>
          <p:cNvSpPr/>
          <p:nvPr/>
        </p:nvSpPr>
        <p:spPr>
          <a:xfrm>
            <a:off x="9611320" y="2204839"/>
            <a:ext cx="1767880" cy="2463502"/>
          </a:xfrm>
          <a:prstGeom prst="roundRect">
            <a:avLst>
              <a:gd name="adj" fmla="val 5747"/>
            </a:avLst>
          </a:prstGeom>
          <a:solidFill>
            <a:srgbClr val="E4572E"/>
          </a:solidFill>
          <a:ln/>
        </p:spPr>
        <p:txBody>
          <a:bodyPr/>
          <a:lstStyle/>
          <a:p>
            <a:endParaRPr lang="en-JP"/>
          </a:p>
        </p:txBody>
      </p:sp>
      <p:pic>
        <p:nvPicPr>
          <p:cNvPr id="28" name="Image 8" descr="Ransom demand"/>
          <p:cNvPicPr>
            <a:picLocks noChangeAspect="1"/>
          </p:cNvPicPr>
          <p:nvPr/>
        </p:nvPicPr>
        <p:blipFill>
          <a:blip r:embed="rId8"/>
          <a:srcRect/>
          <a:stretch/>
        </p:blipFill>
        <p:spPr>
          <a:xfrm>
            <a:off x="9789120" y="2433439"/>
            <a:ext cx="558800" cy="558800"/>
          </a:xfrm>
          <a:prstGeom prst="rect">
            <a:avLst/>
          </a:prstGeom>
        </p:spPr>
      </p:pic>
      <p:sp>
        <p:nvSpPr>
          <p:cNvPr id="29" name="Text 18"/>
          <p:cNvSpPr/>
          <p:nvPr/>
        </p:nvSpPr>
        <p:spPr>
          <a:xfrm>
            <a:off x="9789120" y="3081139"/>
            <a:ext cx="14630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A"/>
                </a:solidFill>
                <a:latin typeface="Inter" pitchFamily="34" charset="0"/>
                <a:ea typeface="Inter" pitchFamily="34" charset="-122"/>
                <a:cs typeface="Inter" pitchFamily="34" charset="-120"/>
              </a:rPr>
              <a:t>STEP 5</a:t>
            </a:r>
            <a:endParaRPr lang="en-US" sz="1200" dirty="0"/>
          </a:p>
        </p:txBody>
      </p:sp>
      <p:sp>
        <p:nvSpPr>
          <p:cNvPr id="30" name="Text 19"/>
          <p:cNvSpPr/>
          <p:nvPr/>
        </p:nvSpPr>
        <p:spPr>
          <a:xfrm>
            <a:off x="9789120" y="3383359"/>
            <a:ext cx="146308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Extort</a:t>
            </a:r>
            <a:endParaRPr lang="en-US" sz="1800" dirty="0"/>
          </a:p>
        </p:txBody>
      </p:sp>
      <p:sp>
        <p:nvSpPr>
          <p:cNvPr id="31" name="Text 20"/>
          <p:cNvSpPr/>
          <p:nvPr/>
        </p:nvSpPr>
        <p:spPr>
          <a:xfrm>
            <a:off x="9789120" y="3746500"/>
            <a:ext cx="146308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1B2A"/>
                </a:solidFill>
                <a:latin typeface="Inter" pitchFamily="34" charset="0"/>
                <a:ea typeface="Inter" pitchFamily="34" charset="-122"/>
                <a:cs typeface="Inter" pitchFamily="34" charset="-120"/>
              </a:rPr>
              <a:t>Demands payment, threatens leaks.</a:t>
            </a:r>
            <a:endParaRPr lang="en-US" sz="1300" dirty="0"/>
          </a:p>
        </p:txBody>
      </p:sp>
      <p:sp>
        <p:nvSpPr>
          <p:cNvPr id="32" name="Text 21"/>
          <p:cNvSpPr/>
          <p:nvPr/>
        </p:nvSpPr>
        <p:spPr>
          <a:xfrm>
            <a:off x="812800" y="5557540"/>
            <a:ext cx="113792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CCD2"/>
                </a:solidFill>
                <a:latin typeface="Inter" pitchFamily="34" charset="0"/>
                <a:ea typeface="Inter" pitchFamily="34" charset="-122"/>
                <a:cs typeface="Inter" pitchFamily="34" charset="-120"/>
              </a:rPr>
              <a:t>Attackers may wait </a:t>
            </a:r>
            <a:r>
              <a:rPr lang="en-US" sz="1600" b="1" dirty="0">
                <a:solidFill>
                  <a:srgbClr val="F28C6A"/>
                </a:solidFill>
                <a:latin typeface="Inter" pitchFamily="34" charset="0"/>
                <a:ea typeface="Inter" pitchFamily="34" charset="-122"/>
                <a:cs typeface="Inter" pitchFamily="34" charset="-120"/>
              </a:rPr>
              <a:t>days or weeks</a:t>
            </a:r>
            <a:r>
              <a:rPr lang="en-US" sz="1600" dirty="0">
                <a:solidFill>
                  <a:srgbClr val="C8CCD2"/>
                </a:solidFill>
                <a:latin typeface="Inter" pitchFamily="34" charset="0"/>
                <a:ea typeface="Inter" pitchFamily="34" charset="-122"/>
                <a:cs typeface="Inter" pitchFamily="34" charset="-120"/>
              </a:rPr>
              <a:t> between entry and encryption. Early reporting can stop them.</a:t>
            </a:r>
            <a:endParaRPr lang="en-US" sz="1600" dirty="0"/>
          </a:p>
        </p:txBody>
      </p:sp>
      <p:sp>
        <p:nvSpPr>
          <p:cNvPr id="33"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8A6"/>
                </a:solidFill>
                <a:latin typeface="Inter" pitchFamily="34" charset="0"/>
                <a:ea typeface="Inter" pitchFamily="34" charset="-122"/>
                <a:cs typeface="Inter" pitchFamily="34" charset="-120"/>
              </a:rPr>
              <a:t>Ransomware Security Awareness · 5</a:t>
            </a:r>
            <a:endParaRPr lang="en-US" sz="1200" dirty="0"/>
          </a:p>
        </p:txBody>
      </p:sp>
      <p:pic>
        <p:nvPicPr>
          <p:cNvPr id="34" name="Picture 33">
            <a:extLst>
              <a:ext uri="{FF2B5EF4-FFF2-40B4-BE49-F238E27FC236}">
                <a16:creationId xmlns:a16="http://schemas.microsoft.com/office/drawing/2014/main" id="{5E898EEE-4560-6DBC-9656-B3110FE1005D}"/>
              </a:ext>
            </a:extLst>
          </p:cNvPr>
          <p:cNvPicPr>
            <a:picLocks noChangeAspect="1"/>
          </p:cNvPicPr>
          <p:nvPr/>
        </p:nvPicPr>
        <p:blipFill>
          <a:blip r:embed="rId9"/>
          <a:stretch>
            <a:fillRect/>
          </a:stretch>
        </p:blipFill>
        <p:spPr>
          <a:xfrm>
            <a:off x="10555840" y="94655"/>
            <a:ext cx="1331515" cy="13315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Spotting a phishing email</a:t>
            </a:r>
            <a:endParaRPr lang="en-US" sz="3600" dirty="0"/>
          </a:p>
        </p:txBody>
      </p:sp>
      <p:sp>
        <p:nvSpPr>
          <p:cNvPr id="3" name="Shape 1"/>
          <p:cNvSpPr/>
          <p:nvPr/>
        </p:nvSpPr>
        <p:spPr>
          <a:xfrm>
            <a:off x="819150" y="1971080"/>
            <a:ext cx="4813300" cy="3469481"/>
          </a:xfrm>
          <a:prstGeom prst="roundRect">
            <a:avLst>
              <a:gd name="adj" fmla="val 3477"/>
            </a:avLst>
          </a:prstGeom>
          <a:solidFill>
            <a:srgbClr val="FFFFFF"/>
          </a:solidFill>
          <a:ln w="12700">
            <a:solidFill>
              <a:srgbClr val="D5DADE"/>
            </a:solidFill>
            <a:prstDash val="solid"/>
          </a:ln>
        </p:spPr>
        <p:txBody>
          <a:bodyPr/>
          <a:lstStyle/>
          <a:p>
            <a:endParaRPr lang="en-JP"/>
          </a:p>
        </p:txBody>
      </p:sp>
      <p:sp>
        <p:nvSpPr>
          <p:cNvPr id="4" name="Shape 2"/>
          <p:cNvSpPr/>
          <p:nvPr/>
        </p:nvSpPr>
        <p:spPr>
          <a:xfrm>
            <a:off x="825500" y="1977430"/>
            <a:ext cx="4800600" cy="441920"/>
          </a:xfrm>
          <a:prstGeom prst="rect">
            <a:avLst/>
          </a:prstGeom>
          <a:solidFill>
            <a:srgbClr val="0F1B2A"/>
          </a:solidFill>
          <a:ln/>
        </p:spPr>
        <p:txBody>
          <a:bodyPr/>
          <a:lstStyle/>
          <a:p>
            <a:endParaRPr lang="en-JP"/>
          </a:p>
        </p:txBody>
      </p:sp>
      <p:pic>
        <p:nvPicPr>
          <p:cNvPr id="5" name="Image 0" descr="preencoded.png"/>
          <p:cNvPicPr>
            <a:picLocks noChangeAspect="1"/>
          </p:cNvPicPr>
          <p:nvPr/>
        </p:nvPicPr>
        <p:blipFill>
          <a:blip r:embed="rId3"/>
          <a:srcRect/>
          <a:stretch/>
        </p:blipFill>
        <p:spPr>
          <a:xfrm>
            <a:off x="1003300" y="2147590"/>
            <a:ext cx="381000" cy="101600"/>
          </a:xfrm>
          <a:prstGeom prst="rect">
            <a:avLst/>
          </a:prstGeom>
        </p:spPr>
      </p:pic>
      <p:sp>
        <p:nvSpPr>
          <p:cNvPr id="6" name="Text 3"/>
          <p:cNvSpPr/>
          <p:nvPr/>
        </p:nvSpPr>
        <p:spPr>
          <a:xfrm>
            <a:off x="1460500" y="2091730"/>
            <a:ext cx="4745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CCD2"/>
                </a:solidFill>
                <a:latin typeface="Inter" pitchFamily="34" charset="0"/>
                <a:ea typeface="Inter" pitchFamily="34" charset="-122"/>
                <a:cs typeface="Inter" pitchFamily="34" charset="-120"/>
              </a:rPr>
              <a:t>Inbox</a:t>
            </a:r>
            <a:endParaRPr lang="en-US" sz="1200" dirty="0"/>
          </a:p>
        </p:txBody>
      </p:sp>
      <p:sp>
        <p:nvSpPr>
          <p:cNvPr id="7" name="Text 4"/>
          <p:cNvSpPr/>
          <p:nvPr/>
        </p:nvSpPr>
        <p:spPr>
          <a:xfrm>
            <a:off x="1054100" y="262255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8" name="Text 5"/>
          <p:cNvSpPr/>
          <p:nvPr/>
        </p:nvSpPr>
        <p:spPr>
          <a:xfrm>
            <a:off x="1435100" y="2655590"/>
            <a:ext cx="40894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C4654"/>
                </a:solidFill>
                <a:latin typeface="Inter" pitchFamily="34" charset="0"/>
                <a:ea typeface="Inter" pitchFamily="34" charset="-122"/>
                <a:cs typeface="Inter" pitchFamily="34" charset="-120"/>
              </a:rPr>
              <a:t>From:</a:t>
            </a:r>
            <a:r>
              <a:rPr lang="en-US" sz="1200" dirty="0">
                <a:solidFill>
                  <a:srgbClr val="3C4654"/>
                </a:solidFill>
                <a:latin typeface="Inter" pitchFamily="34" charset="0"/>
                <a:ea typeface="Inter" pitchFamily="34" charset="-122"/>
                <a:cs typeface="Inter" pitchFamily="34" charset="-120"/>
              </a:rPr>
              <a:t> IT Support &lt;helpdesk@secure-l0gin.co&gt;</a:t>
            </a:r>
            <a:endParaRPr lang="en-US" sz="1200" dirty="0"/>
          </a:p>
        </p:txBody>
      </p:sp>
      <p:sp>
        <p:nvSpPr>
          <p:cNvPr id="9" name="Text 6"/>
          <p:cNvSpPr/>
          <p:nvPr/>
        </p:nvSpPr>
        <p:spPr>
          <a:xfrm>
            <a:off x="1054100" y="301625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10" name="Text 7"/>
          <p:cNvSpPr/>
          <p:nvPr/>
        </p:nvSpPr>
        <p:spPr>
          <a:xfrm>
            <a:off x="1435100" y="3040360"/>
            <a:ext cx="4191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2A"/>
                </a:solidFill>
                <a:latin typeface="Inter" pitchFamily="34" charset="0"/>
                <a:ea typeface="Inter" pitchFamily="34" charset="-122"/>
                <a:cs typeface="Inter" pitchFamily="34" charset="-120"/>
              </a:rPr>
              <a:t>URGENT: Your account will be suspended today</a:t>
            </a:r>
            <a:endParaRPr lang="en-US" sz="1300" dirty="0"/>
          </a:p>
        </p:txBody>
      </p:sp>
      <p:pic>
        <p:nvPicPr>
          <p:cNvPr id="11" name="Image 1" descr="line"/>
          <p:cNvPicPr>
            <a:picLocks noChangeAspect="1"/>
          </p:cNvPicPr>
          <p:nvPr/>
        </p:nvPicPr>
        <p:blipFill>
          <a:blip r:embed="rId4"/>
          <a:srcRect/>
          <a:stretch/>
        </p:blipFill>
        <p:spPr>
          <a:xfrm>
            <a:off x="1054100" y="3409950"/>
            <a:ext cx="4343400" cy="12700"/>
          </a:xfrm>
          <a:prstGeom prst="rect">
            <a:avLst/>
          </a:prstGeom>
        </p:spPr>
      </p:pic>
      <p:sp>
        <p:nvSpPr>
          <p:cNvPr id="12" name="Text 8"/>
          <p:cNvSpPr/>
          <p:nvPr/>
        </p:nvSpPr>
        <p:spPr>
          <a:xfrm>
            <a:off x="1054100" y="3536950"/>
            <a:ext cx="4473702"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C4654"/>
                </a:solidFill>
                <a:latin typeface="Inter" pitchFamily="34" charset="0"/>
                <a:ea typeface="Inter" pitchFamily="34" charset="-122"/>
                <a:cs typeface="Inter" pitchFamily="34" charset="-120"/>
              </a:rPr>
              <a:t>Dear user,</a:t>
            </a:r>
            <a:endParaRPr lang="en-US" sz="1200" dirty="0"/>
          </a:p>
          <a:p>
            <a:pPr marL="0" indent="0" algn="l">
              <a:lnSpc>
                <a:spcPts val="1740"/>
              </a:lnSpc>
              <a:buNone/>
            </a:pPr>
            <a:r>
              <a:rPr lang="en-US" sz="1200" dirty="0">
                <a:solidFill>
                  <a:srgbClr val="3C4654"/>
                </a:solidFill>
                <a:latin typeface="Inter" pitchFamily="34" charset="0"/>
                <a:ea typeface="Inter" pitchFamily="34" charset="-122"/>
                <a:cs typeface="Inter" pitchFamily="34" charset="-120"/>
              </a:rPr>
              <a:t>We detected unusual activity. Verify your password within 1 hour to avoid losing access.</a:t>
            </a:r>
            <a:endParaRPr lang="en-US" sz="1200" dirty="0"/>
          </a:p>
        </p:txBody>
      </p:sp>
      <p:sp>
        <p:nvSpPr>
          <p:cNvPr id="13" name="Text 9"/>
          <p:cNvSpPr/>
          <p:nvPr/>
        </p:nvSpPr>
        <p:spPr>
          <a:xfrm>
            <a:off x="1054100" y="435729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14" name="Text 10"/>
          <p:cNvSpPr/>
          <p:nvPr/>
        </p:nvSpPr>
        <p:spPr>
          <a:xfrm>
            <a:off x="1435100" y="4314130"/>
            <a:ext cx="1154212" cy="365720"/>
          </a:xfrm>
          <a:prstGeom prst="roundRect">
            <a:avLst>
              <a:gd name="adj" fmla="val 17363"/>
            </a:avLst>
          </a:prstGeom>
          <a:solidFill>
            <a:srgbClr val="2D6A8F"/>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Verify now</a:t>
            </a:r>
            <a:endParaRPr lang="en-US" sz="1200" dirty="0"/>
          </a:p>
        </p:txBody>
      </p:sp>
      <p:sp>
        <p:nvSpPr>
          <p:cNvPr id="15" name="Text 11"/>
          <p:cNvSpPr/>
          <p:nvPr/>
        </p:nvSpPr>
        <p:spPr>
          <a:xfrm>
            <a:off x="1054100" y="487283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16" name="Shape 12"/>
          <p:cNvSpPr/>
          <p:nvPr/>
        </p:nvSpPr>
        <p:spPr>
          <a:xfrm>
            <a:off x="1435100" y="4794151"/>
            <a:ext cx="2935486" cy="436860"/>
          </a:xfrm>
          <a:prstGeom prst="roundRect">
            <a:avLst>
              <a:gd name="adj" fmla="val 14536"/>
            </a:avLst>
          </a:prstGeom>
          <a:solidFill>
            <a:srgbClr val="E3E7EA"/>
          </a:solidFill>
          <a:ln/>
        </p:spPr>
        <p:txBody>
          <a:bodyPr/>
          <a:lstStyle/>
          <a:p>
            <a:endParaRPr lang="en-JP"/>
          </a:p>
        </p:txBody>
      </p:sp>
      <p:sp>
        <p:nvSpPr>
          <p:cNvPr id="17" name="Text 13"/>
          <p:cNvSpPr/>
          <p:nvPr/>
        </p:nvSpPr>
        <p:spPr>
          <a:xfrm>
            <a:off x="1562100" y="4870351"/>
            <a:ext cx="14993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C4654"/>
                </a:solidFill>
                <a:latin typeface="Arial" pitchFamily="34" charset="0"/>
                <a:ea typeface="Arial" pitchFamily="34" charset="-122"/>
                <a:cs typeface="Arial" pitchFamily="34" charset="-120"/>
              </a:rPr>
              <a:t>[icon: paperclip]</a:t>
            </a:r>
            <a:endParaRPr lang="en-US" sz="1600" dirty="0"/>
          </a:p>
        </p:txBody>
      </p:sp>
      <p:sp>
        <p:nvSpPr>
          <p:cNvPr id="18" name="Text 14"/>
          <p:cNvSpPr/>
          <p:nvPr/>
        </p:nvSpPr>
        <p:spPr>
          <a:xfrm>
            <a:off x="3061494" y="4905871"/>
            <a:ext cx="13090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A"/>
                </a:solidFill>
                <a:latin typeface="Inter" pitchFamily="34" charset="0"/>
                <a:ea typeface="Inter" pitchFamily="34" charset="-122"/>
                <a:cs typeface="Inter" pitchFamily="34" charset="-120"/>
              </a:rPr>
              <a:t>Invoice_0921.zip</a:t>
            </a:r>
            <a:endParaRPr lang="en-US" sz="1200" dirty="0"/>
          </a:p>
        </p:txBody>
      </p:sp>
      <p:sp>
        <p:nvSpPr>
          <p:cNvPr id="19" name="Shape 15"/>
          <p:cNvSpPr/>
          <p:nvPr/>
        </p:nvSpPr>
        <p:spPr>
          <a:xfrm>
            <a:off x="6096000" y="2953445"/>
            <a:ext cx="5283200" cy="0"/>
          </a:xfrm>
          <a:prstGeom prst="line">
            <a:avLst/>
          </a:prstGeom>
          <a:noFill/>
          <a:ln w="12700">
            <a:solidFill>
              <a:srgbClr val="D5DADE"/>
            </a:solidFill>
            <a:prstDash val="solid"/>
          </a:ln>
        </p:spPr>
        <p:txBody>
          <a:bodyPr/>
          <a:lstStyle/>
          <a:p>
            <a:endParaRPr lang="en-JP"/>
          </a:p>
        </p:txBody>
      </p:sp>
      <p:sp>
        <p:nvSpPr>
          <p:cNvPr id="20" name="Text 16"/>
          <p:cNvSpPr/>
          <p:nvPr/>
        </p:nvSpPr>
        <p:spPr>
          <a:xfrm>
            <a:off x="6096000" y="2328069"/>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21" name="Text 17"/>
          <p:cNvSpPr/>
          <p:nvPr/>
        </p:nvSpPr>
        <p:spPr>
          <a:xfrm>
            <a:off x="6527800" y="2328069"/>
            <a:ext cx="499694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A"/>
                </a:solidFill>
                <a:latin typeface="Inter" pitchFamily="34" charset="0"/>
                <a:ea typeface="Inter" pitchFamily="34" charset="-122"/>
                <a:cs typeface="Inter" pitchFamily="34" charset="-120"/>
              </a:rPr>
              <a:t>Odd sender address</a:t>
            </a:r>
            <a:endParaRPr lang="en-US" sz="1600" dirty="0"/>
          </a:p>
        </p:txBody>
      </p:sp>
      <p:sp>
        <p:nvSpPr>
          <p:cNvPr id="22" name="Text 18"/>
          <p:cNvSpPr/>
          <p:nvPr/>
        </p:nvSpPr>
        <p:spPr>
          <a:xfrm>
            <a:off x="6527800" y="2609949"/>
            <a:ext cx="499694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C4654"/>
                </a:solidFill>
                <a:latin typeface="Inter" pitchFamily="34" charset="0"/>
                <a:ea typeface="Inter" pitchFamily="34" charset="-122"/>
                <a:cs typeface="Inter" pitchFamily="34" charset="-120"/>
              </a:rPr>
              <a:t>Misspelled or look-alike domains.</a:t>
            </a:r>
            <a:endParaRPr lang="en-US" sz="1300" dirty="0"/>
          </a:p>
        </p:txBody>
      </p:sp>
      <p:sp>
        <p:nvSpPr>
          <p:cNvPr id="23" name="Shape 19"/>
          <p:cNvSpPr/>
          <p:nvPr/>
        </p:nvSpPr>
        <p:spPr>
          <a:xfrm>
            <a:off x="6096000" y="3699470"/>
            <a:ext cx="5283200" cy="0"/>
          </a:xfrm>
          <a:prstGeom prst="line">
            <a:avLst/>
          </a:prstGeom>
          <a:noFill/>
          <a:ln w="12700">
            <a:solidFill>
              <a:srgbClr val="D5DADE"/>
            </a:solidFill>
            <a:prstDash val="solid"/>
          </a:ln>
        </p:spPr>
        <p:txBody>
          <a:bodyPr/>
          <a:lstStyle/>
          <a:p>
            <a:endParaRPr lang="en-JP"/>
          </a:p>
        </p:txBody>
      </p:sp>
      <p:sp>
        <p:nvSpPr>
          <p:cNvPr id="24" name="Text 20"/>
          <p:cNvSpPr/>
          <p:nvPr/>
        </p:nvSpPr>
        <p:spPr>
          <a:xfrm>
            <a:off x="6096000" y="307409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25" name="Text 21"/>
          <p:cNvSpPr/>
          <p:nvPr/>
        </p:nvSpPr>
        <p:spPr>
          <a:xfrm>
            <a:off x="6527800" y="3074095"/>
            <a:ext cx="499694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A"/>
                </a:solidFill>
                <a:latin typeface="Inter" pitchFamily="34" charset="0"/>
                <a:ea typeface="Inter" pitchFamily="34" charset="-122"/>
                <a:cs typeface="Inter" pitchFamily="34" charset="-120"/>
              </a:rPr>
              <a:t>Urgency or threats</a:t>
            </a:r>
            <a:endParaRPr lang="en-US" sz="1600" dirty="0"/>
          </a:p>
        </p:txBody>
      </p:sp>
      <p:sp>
        <p:nvSpPr>
          <p:cNvPr id="26" name="Text 22"/>
          <p:cNvSpPr/>
          <p:nvPr/>
        </p:nvSpPr>
        <p:spPr>
          <a:xfrm>
            <a:off x="6527800" y="3355975"/>
            <a:ext cx="499694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C4654"/>
                </a:solidFill>
                <a:latin typeface="Inter" pitchFamily="34" charset="0"/>
                <a:ea typeface="Inter" pitchFamily="34" charset="-122"/>
                <a:cs typeface="Inter" pitchFamily="34" charset="-120"/>
              </a:rPr>
              <a:t>Pressure to act before you think.</a:t>
            </a:r>
            <a:endParaRPr lang="en-US" sz="1300" dirty="0"/>
          </a:p>
        </p:txBody>
      </p:sp>
      <p:sp>
        <p:nvSpPr>
          <p:cNvPr id="27" name="Shape 23"/>
          <p:cNvSpPr/>
          <p:nvPr/>
        </p:nvSpPr>
        <p:spPr>
          <a:xfrm>
            <a:off x="6096000" y="4445496"/>
            <a:ext cx="5283200" cy="0"/>
          </a:xfrm>
          <a:prstGeom prst="line">
            <a:avLst/>
          </a:prstGeom>
          <a:noFill/>
          <a:ln w="12700">
            <a:solidFill>
              <a:srgbClr val="D5DADE"/>
            </a:solidFill>
            <a:prstDash val="solid"/>
          </a:ln>
        </p:spPr>
        <p:txBody>
          <a:bodyPr/>
          <a:lstStyle/>
          <a:p>
            <a:endParaRPr lang="en-JP"/>
          </a:p>
        </p:txBody>
      </p:sp>
      <p:sp>
        <p:nvSpPr>
          <p:cNvPr id="28" name="Text 24"/>
          <p:cNvSpPr/>
          <p:nvPr/>
        </p:nvSpPr>
        <p:spPr>
          <a:xfrm>
            <a:off x="6096000" y="382012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29" name="Text 25"/>
          <p:cNvSpPr/>
          <p:nvPr/>
        </p:nvSpPr>
        <p:spPr>
          <a:xfrm>
            <a:off x="6527800" y="3820120"/>
            <a:ext cx="499694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A"/>
                </a:solidFill>
                <a:latin typeface="Inter" pitchFamily="34" charset="0"/>
                <a:ea typeface="Inter" pitchFamily="34" charset="-122"/>
                <a:cs typeface="Inter" pitchFamily="34" charset="-120"/>
              </a:rPr>
              <a:t>Suspicious links</a:t>
            </a:r>
            <a:endParaRPr lang="en-US" sz="1600" dirty="0"/>
          </a:p>
        </p:txBody>
      </p:sp>
      <p:sp>
        <p:nvSpPr>
          <p:cNvPr id="30" name="Text 26"/>
          <p:cNvSpPr/>
          <p:nvPr/>
        </p:nvSpPr>
        <p:spPr>
          <a:xfrm>
            <a:off x="6527800" y="4102001"/>
            <a:ext cx="499694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C4654"/>
                </a:solidFill>
                <a:latin typeface="Inter" pitchFamily="34" charset="0"/>
                <a:ea typeface="Inter" pitchFamily="34" charset="-122"/>
                <a:cs typeface="Inter" pitchFamily="34" charset="-120"/>
              </a:rPr>
              <a:t>Hover first: does the address match?</a:t>
            </a:r>
            <a:endParaRPr lang="en-US" sz="1300" dirty="0"/>
          </a:p>
        </p:txBody>
      </p:sp>
      <p:sp>
        <p:nvSpPr>
          <p:cNvPr id="31" name="Shape 27"/>
          <p:cNvSpPr/>
          <p:nvPr/>
        </p:nvSpPr>
        <p:spPr>
          <a:xfrm>
            <a:off x="6096000" y="5191522"/>
            <a:ext cx="5283200" cy="0"/>
          </a:xfrm>
          <a:prstGeom prst="line">
            <a:avLst/>
          </a:prstGeom>
          <a:noFill/>
          <a:ln w="12700">
            <a:solidFill>
              <a:srgbClr val="D5DADE"/>
            </a:solidFill>
            <a:prstDash val="solid"/>
          </a:ln>
        </p:spPr>
        <p:txBody>
          <a:bodyPr/>
          <a:lstStyle/>
          <a:p>
            <a:endParaRPr lang="en-JP"/>
          </a:p>
        </p:txBody>
      </p:sp>
      <p:sp>
        <p:nvSpPr>
          <p:cNvPr id="32" name="Text 28"/>
          <p:cNvSpPr/>
          <p:nvPr/>
        </p:nvSpPr>
        <p:spPr>
          <a:xfrm>
            <a:off x="6096000" y="4566146"/>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E4572E"/>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33" name="Text 29"/>
          <p:cNvSpPr/>
          <p:nvPr/>
        </p:nvSpPr>
        <p:spPr>
          <a:xfrm>
            <a:off x="6527800" y="4566146"/>
            <a:ext cx="499694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A"/>
                </a:solidFill>
                <a:latin typeface="Inter" pitchFamily="34" charset="0"/>
                <a:ea typeface="Inter" pitchFamily="34" charset="-122"/>
                <a:cs typeface="Inter" pitchFamily="34" charset="-120"/>
              </a:rPr>
              <a:t>Unexpected attachments</a:t>
            </a:r>
            <a:endParaRPr lang="en-US" sz="1600" dirty="0"/>
          </a:p>
        </p:txBody>
      </p:sp>
      <p:sp>
        <p:nvSpPr>
          <p:cNvPr id="34" name="Text 30"/>
          <p:cNvSpPr/>
          <p:nvPr/>
        </p:nvSpPr>
        <p:spPr>
          <a:xfrm>
            <a:off x="6527800" y="4848027"/>
            <a:ext cx="499694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C4654"/>
                </a:solidFill>
                <a:latin typeface="Inter" pitchFamily="34" charset="0"/>
                <a:ea typeface="Inter" pitchFamily="34" charset="-122"/>
                <a:cs typeface="Inter" pitchFamily="34" charset="-120"/>
              </a:rPr>
              <a:t>Zip files, macros or "invoices".</a:t>
            </a:r>
            <a:endParaRPr lang="en-US" sz="1300" dirty="0"/>
          </a:p>
        </p:txBody>
      </p:sp>
      <p:sp>
        <p:nvSpPr>
          <p:cNvPr id="35" name="Text 3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6</a:t>
            </a:r>
            <a:endParaRPr lang="en-US" sz="1200" dirty="0"/>
          </a:p>
        </p:txBody>
      </p:sp>
      <p:pic>
        <p:nvPicPr>
          <p:cNvPr id="36" name="Picture 35">
            <a:extLst>
              <a:ext uri="{FF2B5EF4-FFF2-40B4-BE49-F238E27FC236}">
                <a16:creationId xmlns:a16="http://schemas.microsoft.com/office/drawing/2014/main" id="{A162DD36-A8F3-2DA9-E40B-51AED39F9944}"/>
              </a:ext>
            </a:extLst>
          </p:cNvPr>
          <p:cNvPicPr>
            <a:picLocks noChangeAspect="1"/>
          </p:cNvPicPr>
          <p:nvPr/>
        </p:nvPicPr>
        <p:blipFill>
          <a:blip r:embed="rId5"/>
          <a:stretch>
            <a:fillRect/>
          </a:stretch>
        </p:blipFill>
        <p:spPr>
          <a:xfrm>
            <a:off x="10555840" y="94655"/>
            <a:ext cx="1331515" cy="1331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Warning signs of an infection</a:t>
            </a:r>
            <a:endParaRPr lang="en-US" sz="3600" dirty="0"/>
          </a:p>
        </p:txBody>
      </p:sp>
      <p:sp>
        <p:nvSpPr>
          <p:cNvPr id="3" name="Shape 1"/>
          <p:cNvSpPr/>
          <p:nvPr/>
        </p:nvSpPr>
        <p:spPr>
          <a:xfrm>
            <a:off x="812800" y="2215059"/>
            <a:ext cx="5194300" cy="980281"/>
          </a:xfrm>
          <a:prstGeom prst="roundRect">
            <a:avLst>
              <a:gd name="adj" fmla="val 10364"/>
            </a:avLst>
          </a:prstGeom>
          <a:solidFill>
            <a:srgbClr val="FFFFFF"/>
          </a:solidFill>
          <a:ln/>
        </p:spPr>
        <p:txBody>
          <a:bodyPr/>
          <a:lstStyle/>
          <a:p>
            <a:endParaRPr lang="en-JP"/>
          </a:p>
        </p:txBody>
      </p:sp>
      <p:pic>
        <p:nvPicPr>
          <p:cNvPr id="4" name="Image 0" descr="File with a strange extension"/>
          <p:cNvPicPr>
            <a:picLocks noChangeAspect="1"/>
          </p:cNvPicPr>
          <p:nvPr/>
        </p:nvPicPr>
        <p:blipFill>
          <a:blip r:embed="rId3"/>
          <a:srcRect/>
          <a:stretch/>
        </p:blipFill>
        <p:spPr>
          <a:xfrm>
            <a:off x="1066800" y="2425799"/>
            <a:ext cx="558800" cy="558800"/>
          </a:xfrm>
          <a:prstGeom prst="rect">
            <a:avLst/>
          </a:prstGeom>
        </p:spPr>
      </p:pic>
      <p:sp>
        <p:nvSpPr>
          <p:cNvPr id="5" name="Text 2"/>
          <p:cNvSpPr/>
          <p:nvPr/>
        </p:nvSpPr>
        <p:spPr>
          <a:xfrm>
            <a:off x="1803400" y="2418259"/>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Strange file names</a:t>
            </a:r>
            <a:endParaRPr lang="en-US" sz="1800" dirty="0"/>
          </a:p>
        </p:txBody>
      </p:sp>
      <p:sp>
        <p:nvSpPr>
          <p:cNvPr id="6" name="Text 3"/>
          <p:cNvSpPr/>
          <p:nvPr/>
        </p:nvSpPr>
        <p:spPr>
          <a:xfrm>
            <a:off x="1803400" y="2743299"/>
            <a:ext cx="406819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Files renamed with unfamiliar extensions.</a:t>
            </a:r>
            <a:endParaRPr lang="en-US" sz="1400" dirty="0"/>
          </a:p>
        </p:txBody>
      </p:sp>
      <p:sp>
        <p:nvSpPr>
          <p:cNvPr id="7" name="Shape 4"/>
          <p:cNvSpPr/>
          <p:nvPr/>
        </p:nvSpPr>
        <p:spPr>
          <a:xfrm>
            <a:off x="6184900" y="2215059"/>
            <a:ext cx="5194300" cy="980281"/>
          </a:xfrm>
          <a:prstGeom prst="roundRect">
            <a:avLst>
              <a:gd name="adj" fmla="val 10364"/>
            </a:avLst>
          </a:prstGeom>
          <a:solidFill>
            <a:srgbClr val="FFFFFF"/>
          </a:solidFill>
          <a:ln/>
        </p:spPr>
        <p:txBody>
          <a:bodyPr/>
          <a:lstStyle/>
          <a:p>
            <a:endParaRPr lang="en-JP"/>
          </a:p>
        </p:txBody>
      </p:sp>
      <p:pic>
        <p:nvPicPr>
          <p:cNvPr id="8" name="Image 1" descr="Broken file"/>
          <p:cNvPicPr>
            <a:picLocks noChangeAspect="1"/>
          </p:cNvPicPr>
          <p:nvPr/>
        </p:nvPicPr>
        <p:blipFill>
          <a:blip r:embed="rId4"/>
          <a:srcRect/>
          <a:stretch/>
        </p:blipFill>
        <p:spPr>
          <a:xfrm>
            <a:off x="6438900" y="2425799"/>
            <a:ext cx="558800" cy="558800"/>
          </a:xfrm>
          <a:prstGeom prst="rect">
            <a:avLst/>
          </a:prstGeom>
        </p:spPr>
      </p:pic>
      <p:sp>
        <p:nvSpPr>
          <p:cNvPr id="9" name="Text 5"/>
          <p:cNvSpPr/>
          <p:nvPr/>
        </p:nvSpPr>
        <p:spPr>
          <a:xfrm>
            <a:off x="7175500" y="2418259"/>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Files won't open</a:t>
            </a:r>
            <a:endParaRPr lang="en-US" sz="1800" dirty="0"/>
          </a:p>
        </p:txBody>
      </p:sp>
      <p:sp>
        <p:nvSpPr>
          <p:cNvPr id="10" name="Text 6"/>
          <p:cNvSpPr/>
          <p:nvPr/>
        </p:nvSpPr>
        <p:spPr>
          <a:xfrm>
            <a:off x="7175500" y="2743299"/>
            <a:ext cx="42037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Documents show errors or scrambled content.</a:t>
            </a:r>
            <a:endParaRPr lang="en-US" sz="1400" dirty="0"/>
          </a:p>
        </p:txBody>
      </p:sp>
      <p:sp>
        <p:nvSpPr>
          <p:cNvPr id="11" name="Shape 7"/>
          <p:cNvSpPr/>
          <p:nvPr/>
        </p:nvSpPr>
        <p:spPr>
          <a:xfrm>
            <a:off x="812800" y="3373140"/>
            <a:ext cx="5194300" cy="980281"/>
          </a:xfrm>
          <a:prstGeom prst="roundRect">
            <a:avLst>
              <a:gd name="adj" fmla="val 10364"/>
            </a:avLst>
          </a:prstGeom>
          <a:solidFill>
            <a:srgbClr val="FFFFFF"/>
          </a:solidFill>
          <a:ln/>
        </p:spPr>
        <p:txBody>
          <a:bodyPr/>
          <a:lstStyle/>
          <a:p>
            <a:endParaRPr lang="en-JP"/>
          </a:p>
        </p:txBody>
      </p:sp>
      <p:pic>
        <p:nvPicPr>
          <p:cNvPr id="12" name="Image 2" descr="Ransom note on screen"/>
          <p:cNvPicPr>
            <a:picLocks noChangeAspect="1"/>
          </p:cNvPicPr>
          <p:nvPr/>
        </p:nvPicPr>
        <p:blipFill>
          <a:blip r:embed="rId5"/>
          <a:srcRect/>
          <a:stretch/>
        </p:blipFill>
        <p:spPr>
          <a:xfrm>
            <a:off x="1066800" y="3583880"/>
            <a:ext cx="558800" cy="558800"/>
          </a:xfrm>
          <a:prstGeom prst="rect">
            <a:avLst/>
          </a:prstGeom>
        </p:spPr>
      </p:pic>
      <p:sp>
        <p:nvSpPr>
          <p:cNvPr id="13" name="Text 8"/>
          <p:cNvSpPr/>
          <p:nvPr/>
        </p:nvSpPr>
        <p:spPr>
          <a:xfrm>
            <a:off x="1803400" y="3576340"/>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A ransom message</a:t>
            </a:r>
            <a:endParaRPr lang="en-US" sz="1800" dirty="0"/>
          </a:p>
        </p:txBody>
      </p:sp>
      <p:sp>
        <p:nvSpPr>
          <p:cNvPr id="14" name="Text 9"/>
          <p:cNvSpPr/>
          <p:nvPr/>
        </p:nvSpPr>
        <p:spPr>
          <a:xfrm>
            <a:off x="1803400" y="3901380"/>
            <a:ext cx="406819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A pop-up or text file demanding payment.</a:t>
            </a:r>
            <a:endParaRPr lang="en-US" sz="1400" dirty="0"/>
          </a:p>
        </p:txBody>
      </p:sp>
      <p:sp>
        <p:nvSpPr>
          <p:cNvPr id="15" name="Shape 10"/>
          <p:cNvSpPr/>
          <p:nvPr/>
        </p:nvSpPr>
        <p:spPr>
          <a:xfrm>
            <a:off x="6184900" y="3373140"/>
            <a:ext cx="5194300" cy="980281"/>
          </a:xfrm>
          <a:prstGeom prst="roundRect">
            <a:avLst>
              <a:gd name="adj" fmla="val 10364"/>
            </a:avLst>
          </a:prstGeom>
          <a:solidFill>
            <a:srgbClr val="FFFFFF"/>
          </a:solidFill>
          <a:ln/>
        </p:spPr>
        <p:txBody>
          <a:bodyPr/>
          <a:lstStyle/>
          <a:p>
            <a:endParaRPr lang="en-JP"/>
          </a:p>
        </p:txBody>
      </p:sp>
      <p:pic>
        <p:nvPicPr>
          <p:cNvPr id="16" name="Image 3" descr="Slow computer with disabled shield"/>
          <p:cNvPicPr>
            <a:picLocks noChangeAspect="1"/>
          </p:cNvPicPr>
          <p:nvPr/>
        </p:nvPicPr>
        <p:blipFill>
          <a:blip r:embed="rId6"/>
          <a:srcRect/>
          <a:stretch/>
        </p:blipFill>
        <p:spPr>
          <a:xfrm>
            <a:off x="6438900" y="3583880"/>
            <a:ext cx="558800" cy="558800"/>
          </a:xfrm>
          <a:prstGeom prst="rect">
            <a:avLst/>
          </a:prstGeom>
        </p:spPr>
      </p:pic>
      <p:sp>
        <p:nvSpPr>
          <p:cNvPr id="17" name="Text 11"/>
          <p:cNvSpPr/>
          <p:nvPr/>
        </p:nvSpPr>
        <p:spPr>
          <a:xfrm>
            <a:off x="7175500" y="3576340"/>
            <a:ext cx="40681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Unusual behaviour</a:t>
            </a:r>
            <a:endParaRPr lang="en-US" sz="1800" dirty="0"/>
          </a:p>
        </p:txBody>
      </p:sp>
      <p:sp>
        <p:nvSpPr>
          <p:cNvPr id="18" name="Text 12"/>
          <p:cNvSpPr/>
          <p:nvPr/>
        </p:nvSpPr>
        <p:spPr>
          <a:xfrm>
            <a:off x="7175500" y="3901380"/>
            <a:ext cx="406819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Very slow PC, or antivirus suddenly off.</a:t>
            </a:r>
            <a:endParaRPr lang="en-US" sz="1400" dirty="0"/>
          </a:p>
        </p:txBody>
      </p:sp>
      <p:sp>
        <p:nvSpPr>
          <p:cNvPr id="19" name="Shape 13"/>
          <p:cNvSpPr/>
          <p:nvPr/>
        </p:nvSpPr>
        <p:spPr>
          <a:xfrm>
            <a:off x="812800" y="5252740"/>
            <a:ext cx="10566400" cy="589260"/>
          </a:xfrm>
          <a:prstGeom prst="roundRect">
            <a:avLst>
              <a:gd name="adj" fmla="val 17242"/>
            </a:avLst>
          </a:prstGeom>
          <a:solidFill>
            <a:srgbClr val="0F1B2A"/>
          </a:solidFill>
          <a:ln/>
        </p:spPr>
        <p:txBody>
          <a:bodyPr/>
          <a:lstStyle/>
          <a:p>
            <a:endParaRPr lang="en-JP"/>
          </a:p>
        </p:txBody>
      </p:sp>
      <p:sp>
        <p:nvSpPr>
          <p:cNvPr id="20" name="Text 14"/>
          <p:cNvSpPr/>
          <p:nvPr/>
        </p:nvSpPr>
        <p:spPr>
          <a:xfrm>
            <a:off x="1041400" y="5405140"/>
            <a:ext cx="18549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8C6A"/>
                </a:solidFill>
                <a:latin typeface="Arial" pitchFamily="34" charset="0"/>
                <a:ea typeface="Arial" pitchFamily="34" charset="-122"/>
                <a:cs typeface="Arial" pitchFamily="34" charset="-120"/>
              </a:rPr>
              <a:t>[icon: alert-triangle]</a:t>
            </a:r>
            <a:endParaRPr lang="en-US" sz="1600" dirty="0"/>
          </a:p>
        </p:txBody>
      </p:sp>
      <p:sp>
        <p:nvSpPr>
          <p:cNvPr id="21" name="Text 15"/>
          <p:cNvSpPr/>
          <p:nvPr/>
        </p:nvSpPr>
        <p:spPr>
          <a:xfrm>
            <a:off x="2896394" y="5405140"/>
            <a:ext cx="692658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3F4F1"/>
                </a:solidFill>
                <a:latin typeface="Inter" pitchFamily="34" charset="0"/>
                <a:ea typeface="Inter" pitchFamily="34" charset="-122"/>
                <a:cs typeface="Inter" pitchFamily="34" charset="-120"/>
              </a:rPr>
              <a:t>Notice any of these? </a:t>
            </a:r>
            <a:r>
              <a:rPr lang="en-US" sz="1600" b="1" dirty="0">
                <a:solidFill>
                  <a:srgbClr val="F28C6A"/>
                </a:solidFill>
                <a:latin typeface="Inter" pitchFamily="34" charset="0"/>
                <a:ea typeface="Inter" pitchFamily="34" charset="-122"/>
                <a:cs typeface="Inter" pitchFamily="34" charset="-120"/>
              </a:rPr>
              <a:t>Act immediately</a:t>
            </a:r>
            <a:r>
              <a:rPr lang="en-US" sz="1600" dirty="0">
                <a:solidFill>
                  <a:srgbClr val="F3F4F1"/>
                </a:solidFill>
                <a:latin typeface="Inter" pitchFamily="34" charset="0"/>
                <a:ea typeface="Inter" pitchFamily="34" charset="-122"/>
                <a:cs typeface="Inter" pitchFamily="34" charset="-120"/>
              </a:rPr>
              <a:t>: every minute counts.</a:t>
            </a:r>
            <a:endParaRPr lang="en-US" sz="1600" dirty="0"/>
          </a:p>
        </p:txBody>
      </p:sp>
      <p:sp>
        <p:nvSpPr>
          <p:cNvPr id="22"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7</a:t>
            </a:r>
            <a:endParaRPr lang="en-US" sz="1200" dirty="0"/>
          </a:p>
        </p:txBody>
      </p:sp>
      <p:pic>
        <p:nvPicPr>
          <p:cNvPr id="23" name="Picture 22">
            <a:extLst>
              <a:ext uri="{FF2B5EF4-FFF2-40B4-BE49-F238E27FC236}">
                <a16:creationId xmlns:a16="http://schemas.microsoft.com/office/drawing/2014/main" id="{48913927-0531-BDDA-739D-5054F59A8610}"/>
              </a:ext>
            </a:extLst>
          </p:cNvPr>
          <p:cNvPicPr>
            <a:picLocks noChangeAspect="1"/>
          </p:cNvPicPr>
          <p:nvPr/>
        </p:nvPicPr>
        <p:blipFill>
          <a:blip r:embed="rId7"/>
          <a:stretch>
            <a:fillRect/>
          </a:stretch>
        </p:blipFill>
        <p:spPr>
          <a:xfrm>
            <a:off x="10555840" y="94655"/>
            <a:ext cx="1331515" cy="13315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4572E"/>
        </a:solidFill>
        <a:effectLst/>
      </p:bgPr>
    </p:bg>
    <p:spTree>
      <p:nvGrpSpPr>
        <p:cNvPr id="1" name=""/>
        <p:cNvGrpSpPr/>
        <p:nvPr/>
      </p:nvGrpSpPr>
      <p:grpSpPr>
        <a:xfrm>
          <a:off x="0" y="0"/>
          <a:ext cx="0" cy="0"/>
          <a:chOff x="0" y="0"/>
          <a:chExt cx="0" cy="0"/>
        </a:xfrm>
      </p:grpSpPr>
      <p:pic>
        <p:nvPicPr>
          <p:cNvPr id="2" name="Image 0" descr="Network cable unplugged from a laptop"/>
          <p:cNvPicPr>
            <a:picLocks noChangeAspect="1"/>
          </p:cNvPicPr>
          <p:nvPr/>
        </p:nvPicPr>
        <p:blipFill>
          <a:blip r:embed="rId3"/>
          <a:srcRect/>
          <a:stretch/>
        </p:blipFill>
        <p:spPr>
          <a:xfrm>
            <a:off x="7747000" y="1397000"/>
            <a:ext cx="3810000" cy="4064000"/>
          </a:xfrm>
          <a:prstGeom prst="rect">
            <a:avLst/>
          </a:prstGeom>
        </p:spPr>
      </p:pic>
      <p:sp>
        <p:nvSpPr>
          <p:cNvPr id="3" name="Text 0"/>
          <p:cNvSpPr/>
          <p:nvPr/>
        </p:nvSpPr>
        <p:spPr>
          <a:xfrm>
            <a:off x="812800" y="165477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0F1B2A"/>
                </a:solidFill>
                <a:latin typeface="Inter" pitchFamily="34" charset="0"/>
                <a:ea typeface="Inter" pitchFamily="34" charset="-122"/>
                <a:cs typeface="Inter" pitchFamily="34" charset="-120"/>
              </a:rPr>
              <a:t>IF YOU SUSPECT RANSOMWARE</a:t>
            </a:r>
            <a:endParaRPr lang="en-US" sz="1600" dirty="0"/>
          </a:p>
        </p:txBody>
      </p:sp>
      <p:sp>
        <p:nvSpPr>
          <p:cNvPr id="4" name="Text 1"/>
          <p:cNvSpPr>
            <a:spLocks noGrp="1"/>
          </p:cNvSpPr>
          <p:nvPr>
            <p:ph type="title"/>
          </p:nvPr>
        </p:nvSpPr>
        <p:spPr>
          <a:xfrm>
            <a:off x="812800" y="2193230"/>
            <a:ext cx="6802120" cy="24257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0F1B2A"/>
                </a:solidFill>
                <a:latin typeface="Space Grotesk" pitchFamily="34" charset="0"/>
                <a:ea typeface="Space Grotesk" pitchFamily="34" charset="-122"/>
                <a:cs typeface="Space Grotesk" pitchFamily="34" charset="-120"/>
              </a:rPr>
              <a:t>Disconnect.</a:t>
            </a:r>
            <a:endParaRPr lang="en-US" sz="6000" dirty="0"/>
          </a:p>
          <a:p>
            <a:pPr marL="0" indent="0" algn="l">
              <a:lnSpc>
                <a:spcPts val="6300"/>
              </a:lnSpc>
              <a:buNone/>
            </a:pPr>
            <a:r>
              <a:rPr lang="en-US" sz="6000" b="1" i="0" dirty="0">
                <a:solidFill>
                  <a:srgbClr val="0F1B2A"/>
                </a:solidFill>
                <a:latin typeface="Space Grotesk" pitchFamily="34" charset="0"/>
                <a:ea typeface="Space Grotesk" pitchFamily="34" charset="-122"/>
                <a:cs typeface="Space Grotesk" pitchFamily="34" charset="-120"/>
              </a:rPr>
              <a:t>Report.</a:t>
            </a:r>
            <a:endParaRPr lang="en-US" sz="6000" dirty="0"/>
          </a:p>
          <a:p>
            <a:pPr marL="0" indent="0" algn="l">
              <a:lnSpc>
                <a:spcPts val="6300"/>
              </a:lnSpc>
              <a:buNone/>
            </a:pPr>
            <a:r>
              <a:rPr lang="en-US" sz="6000" b="1" i="0" dirty="0">
                <a:solidFill>
                  <a:srgbClr val="0F1B2A"/>
                </a:solidFill>
                <a:latin typeface="Space Grotesk" pitchFamily="34" charset="0"/>
                <a:ea typeface="Space Grotesk" pitchFamily="34" charset="-122"/>
                <a:cs typeface="Space Grotesk" pitchFamily="34" charset="-120"/>
              </a:rPr>
              <a:t>Don't pay.</a:t>
            </a:r>
            <a:endParaRPr lang="en-US" sz="6000" dirty="0"/>
          </a:p>
        </p:txBody>
      </p:sp>
      <p:sp>
        <p:nvSpPr>
          <p:cNvPr id="5" name="Text 2"/>
          <p:cNvSpPr/>
          <p:nvPr/>
        </p:nvSpPr>
        <p:spPr>
          <a:xfrm>
            <a:off x="812800" y="4847530"/>
            <a:ext cx="65405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0F1B2A"/>
                </a:solidFill>
                <a:latin typeface="Inter" pitchFamily="34" charset="0"/>
                <a:ea typeface="Inter" pitchFamily="34" charset="-122"/>
                <a:cs typeface="Inter" pitchFamily="34" charset="-120"/>
              </a:rPr>
              <a:t>Speed matters more than anything else.</a:t>
            </a:r>
            <a:endParaRPr lang="en-US" sz="2000" dirty="0"/>
          </a:p>
        </p:txBody>
      </p:sp>
      <p:pic>
        <p:nvPicPr>
          <p:cNvPr id="6" name="Picture 5">
            <a:extLst>
              <a:ext uri="{FF2B5EF4-FFF2-40B4-BE49-F238E27FC236}">
                <a16:creationId xmlns:a16="http://schemas.microsoft.com/office/drawing/2014/main" id="{FE042EE2-21B1-74D3-51E1-B67C6C72A446}"/>
              </a:ext>
            </a:extLst>
          </p:cNvPr>
          <p:cNvPicPr>
            <a:picLocks noChangeAspect="1"/>
          </p:cNvPicPr>
          <p:nvPr/>
        </p:nvPicPr>
        <p:blipFill>
          <a:blip r:embed="rId4"/>
          <a:stretch>
            <a:fillRect/>
          </a:stretch>
        </p:blipFill>
        <p:spPr>
          <a:xfrm>
            <a:off x="10555840" y="94655"/>
            <a:ext cx="1331515" cy="1331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What to do, step by step</a:t>
            </a:r>
            <a:endParaRPr lang="en-US" sz="3600" dirty="0"/>
          </a:p>
        </p:txBody>
      </p:sp>
      <p:sp>
        <p:nvSpPr>
          <p:cNvPr id="3" name="Shape 1"/>
          <p:cNvSpPr/>
          <p:nvPr/>
        </p:nvSpPr>
        <p:spPr>
          <a:xfrm>
            <a:off x="812800" y="1972469"/>
            <a:ext cx="7366000" cy="0"/>
          </a:xfrm>
          <a:prstGeom prst="line">
            <a:avLst/>
          </a:prstGeom>
          <a:noFill/>
          <a:ln w="12700">
            <a:solidFill>
              <a:srgbClr val="D5DADE"/>
            </a:solidFill>
            <a:prstDash val="solid"/>
          </a:ln>
        </p:spPr>
        <p:txBody>
          <a:bodyPr/>
          <a:lstStyle/>
          <a:p>
            <a:endParaRPr lang="en-JP"/>
          </a:p>
        </p:txBody>
      </p:sp>
      <p:sp>
        <p:nvSpPr>
          <p:cNvPr id="4" name="Text 2"/>
          <p:cNvSpPr/>
          <p:nvPr/>
        </p:nvSpPr>
        <p:spPr>
          <a:xfrm>
            <a:off x="812800" y="2105819"/>
            <a:ext cx="4064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371600" y="2195314"/>
            <a:ext cx="7011416"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A"/>
                </a:solidFill>
                <a:latin typeface="Inter" pitchFamily="34" charset="0"/>
                <a:ea typeface="Inter" pitchFamily="34" charset="-122"/>
                <a:cs typeface="Inter" pitchFamily="34" charset="-120"/>
              </a:rPr>
              <a:t>Disconnect from the network:</a:t>
            </a:r>
            <a:r>
              <a:rPr lang="en-US" sz="1500" dirty="0">
                <a:solidFill>
                  <a:srgbClr val="0F1B2A"/>
                </a:solidFill>
                <a:latin typeface="Inter" pitchFamily="34" charset="0"/>
                <a:ea typeface="Inter" pitchFamily="34" charset="-122"/>
                <a:cs typeface="Inter" pitchFamily="34" charset="-120"/>
              </a:rPr>
              <a:t> unplug the cable and turn off Wi-Fi.</a:t>
            </a:r>
            <a:endParaRPr lang="en-US" sz="1500" dirty="0"/>
          </a:p>
        </p:txBody>
      </p:sp>
      <p:sp>
        <p:nvSpPr>
          <p:cNvPr id="6" name="Shape 4"/>
          <p:cNvSpPr/>
          <p:nvPr/>
        </p:nvSpPr>
        <p:spPr>
          <a:xfrm>
            <a:off x="812800" y="2665809"/>
            <a:ext cx="7366000" cy="0"/>
          </a:xfrm>
          <a:prstGeom prst="line">
            <a:avLst/>
          </a:prstGeom>
          <a:noFill/>
          <a:ln w="12700">
            <a:solidFill>
              <a:srgbClr val="D5DADE"/>
            </a:solidFill>
            <a:prstDash val="solid"/>
          </a:ln>
        </p:spPr>
        <p:txBody>
          <a:bodyPr/>
          <a:lstStyle/>
          <a:p>
            <a:endParaRPr lang="en-JP"/>
          </a:p>
        </p:txBody>
      </p:sp>
      <p:sp>
        <p:nvSpPr>
          <p:cNvPr id="7" name="Text 5"/>
          <p:cNvSpPr/>
          <p:nvPr/>
        </p:nvSpPr>
        <p:spPr>
          <a:xfrm>
            <a:off x="812800" y="2799159"/>
            <a:ext cx="4064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2</a:t>
            </a:r>
            <a:endParaRPr lang="en-US" sz="2400" dirty="0"/>
          </a:p>
        </p:txBody>
      </p:sp>
      <p:sp>
        <p:nvSpPr>
          <p:cNvPr id="8" name="Text 6"/>
          <p:cNvSpPr/>
          <p:nvPr/>
        </p:nvSpPr>
        <p:spPr>
          <a:xfrm>
            <a:off x="1371600" y="2888655"/>
            <a:ext cx="7011416"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A"/>
                </a:solidFill>
                <a:latin typeface="Inter" pitchFamily="34" charset="0"/>
                <a:ea typeface="Inter" pitchFamily="34" charset="-122"/>
                <a:cs typeface="Inter" pitchFamily="34" charset="-120"/>
              </a:rPr>
              <a:t>Leave the device powered on</a:t>
            </a:r>
            <a:r>
              <a:rPr lang="en-US" sz="1500" dirty="0">
                <a:solidFill>
                  <a:srgbClr val="0F1B2A"/>
                </a:solidFill>
                <a:latin typeface="Inter" pitchFamily="34" charset="0"/>
                <a:ea typeface="Inter" pitchFamily="34" charset="-122"/>
                <a:cs typeface="Inter" pitchFamily="34" charset="-120"/>
              </a:rPr>
              <a:t> unless IT tells you otherwise.</a:t>
            </a:r>
            <a:endParaRPr lang="en-US" sz="1500" dirty="0"/>
          </a:p>
        </p:txBody>
      </p:sp>
      <p:sp>
        <p:nvSpPr>
          <p:cNvPr id="9" name="Shape 7"/>
          <p:cNvSpPr/>
          <p:nvPr/>
        </p:nvSpPr>
        <p:spPr>
          <a:xfrm>
            <a:off x="812800" y="3359150"/>
            <a:ext cx="7366000" cy="0"/>
          </a:xfrm>
          <a:prstGeom prst="line">
            <a:avLst/>
          </a:prstGeom>
          <a:noFill/>
          <a:ln w="12700">
            <a:solidFill>
              <a:srgbClr val="D5DADE"/>
            </a:solidFill>
            <a:prstDash val="solid"/>
          </a:ln>
        </p:spPr>
        <p:txBody>
          <a:bodyPr/>
          <a:lstStyle/>
          <a:p>
            <a:endParaRPr lang="en-JP"/>
          </a:p>
        </p:txBody>
      </p:sp>
      <p:sp>
        <p:nvSpPr>
          <p:cNvPr id="10" name="Text 8"/>
          <p:cNvSpPr/>
          <p:nvPr/>
        </p:nvSpPr>
        <p:spPr>
          <a:xfrm>
            <a:off x="812800" y="3492500"/>
            <a:ext cx="4064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3</a:t>
            </a:r>
            <a:endParaRPr lang="en-US" sz="2400" dirty="0"/>
          </a:p>
        </p:txBody>
      </p:sp>
      <p:sp>
        <p:nvSpPr>
          <p:cNvPr id="11" name="Text 9"/>
          <p:cNvSpPr/>
          <p:nvPr/>
        </p:nvSpPr>
        <p:spPr>
          <a:xfrm>
            <a:off x="1371600" y="3581995"/>
            <a:ext cx="7011416"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A"/>
                </a:solidFill>
                <a:latin typeface="Inter" pitchFamily="34" charset="0"/>
                <a:ea typeface="Inter" pitchFamily="34" charset="-122"/>
                <a:cs typeface="Inter" pitchFamily="34" charset="-120"/>
              </a:rPr>
              <a:t>Call the IT helpdesk immediately</a:t>
            </a:r>
            <a:r>
              <a:rPr lang="en-US" sz="1500" dirty="0">
                <a:solidFill>
                  <a:srgbClr val="0F1B2A"/>
                </a:solidFill>
                <a:latin typeface="Inter" pitchFamily="34" charset="0"/>
                <a:ea typeface="Inter" pitchFamily="34" charset="-122"/>
                <a:cs typeface="Inter" pitchFamily="34" charset="-120"/>
              </a:rPr>
              <a:t> on [extension / number].</a:t>
            </a:r>
            <a:endParaRPr lang="en-US" sz="1500" dirty="0"/>
          </a:p>
        </p:txBody>
      </p:sp>
      <p:sp>
        <p:nvSpPr>
          <p:cNvPr id="12" name="Shape 10"/>
          <p:cNvSpPr/>
          <p:nvPr/>
        </p:nvSpPr>
        <p:spPr>
          <a:xfrm>
            <a:off x="812800" y="4052491"/>
            <a:ext cx="7366000" cy="0"/>
          </a:xfrm>
          <a:prstGeom prst="line">
            <a:avLst/>
          </a:prstGeom>
          <a:noFill/>
          <a:ln w="12700">
            <a:solidFill>
              <a:srgbClr val="D5DADE"/>
            </a:solidFill>
            <a:prstDash val="solid"/>
          </a:ln>
        </p:spPr>
        <p:txBody>
          <a:bodyPr/>
          <a:lstStyle/>
          <a:p>
            <a:endParaRPr lang="en-JP"/>
          </a:p>
        </p:txBody>
      </p:sp>
      <p:sp>
        <p:nvSpPr>
          <p:cNvPr id="13" name="Text 11"/>
          <p:cNvSpPr/>
          <p:nvPr/>
        </p:nvSpPr>
        <p:spPr>
          <a:xfrm>
            <a:off x="812800" y="4185841"/>
            <a:ext cx="4064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4</a:t>
            </a:r>
            <a:endParaRPr lang="en-US" sz="2400" dirty="0"/>
          </a:p>
        </p:txBody>
      </p:sp>
      <p:sp>
        <p:nvSpPr>
          <p:cNvPr id="14" name="Text 12"/>
          <p:cNvSpPr/>
          <p:nvPr/>
        </p:nvSpPr>
        <p:spPr>
          <a:xfrm>
            <a:off x="1371600" y="4275336"/>
            <a:ext cx="7011416"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A"/>
                </a:solidFill>
                <a:latin typeface="Inter" pitchFamily="34" charset="0"/>
                <a:ea typeface="Inter" pitchFamily="34" charset="-122"/>
                <a:cs typeface="Inter" pitchFamily="34" charset="-120"/>
              </a:rPr>
              <a:t>Note what you saw:</a:t>
            </a:r>
            <a:r>
              <a:rPr lang="en-US" sz="1500" dirty="0">
                <a:solidFill>
                  <a:srgbClr val="0F1B2A"/>
                </a:solidFill>
                <a:latin typeface="Inter" pitchFamily="34" charset="0"/>
                <a:ea typeface="Inter" pitchFamily="34" charset="-122"/>
                <a:cs typeface="Inter" pitchFamily="34" charset="-120"/>
              </a:rPr>
              <a:t> take a photo of the screen with your phone.</a:t>
            </a:r>
            <a:endParaRPr lang="en-US" sz="1500" dirty="0"/>
          </a:p>
        </p:txBody>
      </p:sp>
      <p:sp>
        <p:nvSpPr>
          <p:cNvPr id="15" name="Shape 13"/>
          <p:cNvSpPr/>
          <p:nvPr/>
        </p:nvSpPr>
        <p:spPr>
          <a:xfrm>
            <a:off x="812800" y="4745831"/>
            <a:ext cx="7366000" cy="0"/>
          </a:xfrm>
          <a:prstGeom prst="line">
            <a:avLst/>
          </a:prstGeom>
          <a:noFill/>
          <a:ln w="12700">
            <a:solidFill>
              <a:srgbClr val="D5DADE"/>
            </a:solidFill>
            <a:prstDash val="solid"/>
          </a:ln>
        </p:spPr>
        <p:txBody>
          <a:bodyPr/>
          <a:lstStyle/>
          <a:p>
            <a:endParaRPr lang="en-JP"/>
          </a:p>
        </p:txBody>
      </p:sp>
      <p:sp>
        <p:nvSpPr>
          <p:cNvPr id="16" name="Shape 14"/>
          <p:cNvSpPr/>
          <p:nvPr/>
        </p:nvSpPr>
        <p:spPr>
          <a:xfrm>
            <a:off x="812800" y="5439172"/>
            <a:ext cx="7366000" cy="0"/>
          </a:xfrm>
          <a:prstGeom prst="line">
            <a:avLst/>
          </a:prstGeom>
          <a:noFill/>
          <a:ln w="12700">
            <a:solidFill>
              <a:srgbClr val="D5DADE"/>
            </a:solidFill>
            <a:prstDash val="solid"/>
          </a:ln>
        </p:spPr>
        <p:txBody>
          <a:bodyPr/>
          <a:lstStyle/>
          <a:p>
            <a:endParaRPr lang="en-JP"/>
          </a:p>
        </p:txBody>
      </p:sp>
      <p:sp>
        <p:nvSpPr>
          <p:cNvPr id="17" name="Text 15"/>
          <p:cNvSpPr/>
          <p:nvPr/>
        </p:nvSpPr>
        <p:spPr>
          <a:xfrm>
            <a:off x="812800" y="4879181"/>
            <a:ext cx="4064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5</a:t>
            </a:r>
            <a:endParaRPr lang="en-US" sz="2400" dirty="0"/>
          </a:p>
        </p:txBody>
      </p:sp>
      <p:sp>
        <p:nvSpPr>
          <p:cNvPr id="18" name="Text 16"/>
          <p:cNvSpPr/>
          <p:nvPr/>
        </p:nvSpPr>
        <p:spPr>
          <a:xfrm>
            <a:off x="1371600" y="4968677"/>
            <a:ext cx="7011416"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A"/>
                </a:solidFill>
                <a:latin typeface="Inter" pitchFamily="34" charset="0"/>
                <a:ea typeface="Inter" pitchFamily="34" charset="-122"/>
                <a:cs typeface="Inter" pitchFamily="34" charset="-120"/>
              </a:rPr>
              <a:t>Don't pay, reply or try to fix it</a:t>
            </a:r>
            <a:r>
              <a:rPr lang="en-US" sz="1500" dirty="0">
                <a:solidFill>
                  <a:srgbClr val="0F1B2A"/>
                </a:solidFill>
                <a:latin typeface="Inter" pitchFamily="34" charset="0"/>
                <a:ea typeface="Inter" pitchFamily="34" charset="-122"/>
                <a:cs typeface="Inter" pitchFamily="34" charset="-120"/>
              </a:rPr>
              <a:t> yourself.</a:t>
            </a:r>
            <a:endParaRPr lang="en-US" sz="1500" dirty="0"/>
          </a:p>
        </p:txBody>
      </p:sp>
      <p:pic>
        <p:nvPicPr>
          <p:cNvPr id="19" name="Image 0" descr="Phone calling the IT helpdesk next to a shield"/>
          <p:cNvPicPr>
            <a:picLocks noChangeAspect="1"/>
          </p:cNvPicPr>
          <p:nvPr/>
        </p:nvPicPr>
        <p:blipFill>
          <a:blip r:embed="rId3"/>
          <a:srcRect/>
          <a:stretch/>
        </p:blipFill>
        <p:spPr>
          <a:xfrm>
            <a:off x="8585200" y="1927820"/>
            <a:ext cx="2794000" cy="3556000"/>
          </a:xfrm>
          <a:prstGeom prst="rect">
            <a:avLst/>
          </a:prstGeom>
        </p:spPr>
      </p:pic>
      <p:sp>
        <p:nvSpPr>
          <p:cNvPr id="20"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9</a:t>
            </a:r>
            <a:endParaRPr lang="en-US" sz="1200" dirty="0"/>
          </a:p>
        </p:txBody>
      </p:sp>
      <p:pic>
        <p:nvPicPr>
          <p:cNvPr id="21" name="Picture 20">
            <a:extLst>
              <a:ext uri="{FF2B5EF4-FFF2-40B4-BE49-F238E27FC236}">
                <a16:creationId xmlns:a16="http://schemas.microsoft.com/office/drawing/2014/main" id="{3340252E-8FC7-7C7D-06DD-C5B211173C7F}"/>
              </a:ext>
            </a:extLst>
          </p:cNvPr>
          <p:cNvPicPr>
            <a:picLocks noChangeAspect="1"/>
          </p:cNvPicPr>
          <p:nvPr/>
        </p:nvPicPr>
        <p:blipFill>
          <a:blip r:embed="rId4"/>
          <a:stretch>
            <a:fillRect/>
          </a:stretch>
        </p:blipFill>
        <p:spPr>
          <a:xfrm>
            <a:off x="10555840" y="94655"/>
            <a:ext cx="1331515" cy="13315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Six habits that stop ransomware</a:t>
            </a:r>
            <a:endParaRPr lang="en-US" sz="3600" dirty="0"/>
          </a:p>
        </p:txBody>
      </p:sp>
      <p:sp>
        <p:nvSpPr>
          <p:cNvPr id="3" name="Shape 1"/>
          <p:cNvSpPr/>
          <p:nvPr/>
        </p:nvSpPr>
        <p:spPr>
          <a:xfrm>
            <a:off x="812800" y="1986756"/>
            <a:ext cx="3403600" cy="1838722"/>
          </a:xfrm>
          <a:prstGeom prst="roundRect">
            <a:avLst>
              <a:gd name="adj" fmla="val 5526"/>
            </a:avLst>
          </a:prstGeom>
          <a:solidFill>
            <a:srgbClr val="FFFFFF"/>
          </a:solidFill>
          <a:ln/>
        </p:spPr>
        <p:txBody>
          <a:bodyPr/>
          <a:lstStyle/>
          <a:p>
            <a:endParaRPr lang="en-JP"/>
          </a:p>
        </p:txBody>
      </p:sp>
      <p:sp>
        <p:nvSpPr>
          <p:cNvPr id="4" name="Shape 2"/>
          <p:cNvSpPr/>
          <p:nvPr/>
        </p:nvSpPr>
        <p:spPr>
          <a:xfrm>
            <a:off x="812800" y="1986756"/>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D6A8F"/>
          </a:solidFill>
          <a:ln/>
        </p:spPr>
        <p:txBody>
          <a:bodyPr/>
          <a:lstStyle/>
          <a:p>
            <a:endParaRPr lang="en-JP"/>
          </a:p>
        </p:txBody>
      </p:sp>
      <p:pic>
        <p:nvPicPr>
          <p:cNvPr id="5" name="Image 0" descr="Mouse pointer"/>
          <p:cNvPicPr>
            <a:picLocks noChangeAspect="1"/>
          </p:cNvPicPr>
          <p:nvPr/>
        </p:nvPicPr>
        <p:blipFill>
          <a:blip r:embed="rId3"/>
          <a:srcRect/>
          <a:stretch/>
        </p:blipFill>
        <p:spPr>
          <a:xfrm>
            <a:off x="1092200" y="2189956"/>
            <a:ext cx="508000" cy="508000"/>
          </a:xfrm>
          <a:prstGeom prst="rect">
            <a:avLst/>
          </a:prstGeom>
        </p:spPr>
      </p:pic>
      <p:sp>
        <p:nvSpPr>
          <p:cNvPr id="6" name="Text 3"/>
          <p:cNvSpPr/>
          <p:nvPr/>
        </p:nvSpPr>
        <p:spPr>
          <a:xfrm>
            <a:off x="1092200" y="2774156"/>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Think before you click</a:t>
            </a:r>
            <a:endParaRPr lang="en-US" sz="1800" dirty="0"/>
          </a:p>
        </p:txBody>
      </p:sp>
      <p:sp>
        <p:nvSpPr>
          <p:cNvPr id="7" name="Text 4"/>
          <p:cNvSpPr/>
          <p:nvPr/>
        </p:nvSpPr>
        <p:spPr>
          <a:xfrm>
            <a:off x="1092200" y="3124597"/>
            <a:ext cx="298246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Pause on links and attachments.</a:t>
            </a:r>
            <a:endParaRPr lang="en-US" sz="1400" dirty="0"/>
          </a:p>
        </p:txBody>
      </p:sp>
      <p:sp>
        <p:nvSpPr>
          <p:cNvPr id="8" name="Shape 5"/>
          <p:cNvSpPr/>
          <p:nvPr/>
        </p:nvSpPr>
        <p:spPr>
          <a:xfrm>
            <a:off x="4394200" y="1986756"/>
            <a:ext cx="3403600" cy="1838722"/>
          </a:xfrm>
          <a:prstGeom prst="roundRect">
            <a:avLst>
              <a:gd name="adj" fmla="val 5526"/>
            </a:avLst>
          </a:prstGeom>
          <a:solidFill>
            <a:srgbClr val="FFFFFF"/>
          </a:solidFill>
          <a:ln/>
        </p:spPr>
        <p:txBody>
          <a:bodyPr/>
          <a:lstStyle/>
          <a:p>
            <a:endParaRPr lang="en-JP"/>
          </a:p>
        </p:txBody>
      </p:sp>
      <p:sp>
        <p:nvSpPr>
          <p:cNvPr id="9" name="Shape 6"/>
          <p:cNvSpPr/>
          <p:nvPr/>
        </p:nvSpPr>
        <p:spPr>
          <a:xfrm>
            <a:off x="4394200" y="1986756"/>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D6A8F"/>
          </a:solidFill>
          <a:ln/>
        </p:spPr>
        <p:txBody>
          <a:bodyPr/>
          <a:lstStyle/>
          <a:p>
            <a:endParaRPr lang="en-JP"/>
          </a:p>
        </p:txBody>
      </p:sp>
      <p:pic>
        <p:nvPicPr>
          <p:cNvPr id="10" name="Image 1" descr="Update arrows"/>
          <p:cNvPicPr>
            <a:picLocks noChangeAspect="1"/>
          </p:cNvPicPr>
          <p:nvPr/>
        </p:nvPicPr>
        <p:blipFill>
          <a:blip r:embed="rId4"/>
          <a:srcRect/>
          <a:stretch/>
        </p:blipFill>
        <p:spPr>
          <a:xfrm>
            <a:off x="4673600" y="2189956"/>
            <a:ext cx="508000" cy="508000"/>
          </a:xfrm>
          <a:prstGeom prst="rect">
            <a:avLst/>
          </a:prstGeom>
        </p:spPr>
      </p:pic>
      <p:sp>
        <p:nvSpPr>
          <p:cNvPr id="11" name="Text 7"/>
          <p:cNvSpPr/>
          <p:nvPr/>
        </p:nvSpPr>
        <p:spPr>
          <a:xfrm>
            <a:off x="4673600" y="2774156"/>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Install updates</a:t>
            </a:r>
            <a:endParaRPr lang="en-US" sz="1800" dirty="0"/>
          </a:p>
        </p:txBody>
      </p:sp>
      <p:sp>
        <p:nvSpPr>
          <p:cNvPr id="12" name="Text 8"/>
          <p:cNvSpPr/>
          <p:nvPr/>
        </p:nvSpPr>
        <p:spPr>
          <a:xfrm>
            <a:off x="4673600" y="3124597"/>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Restart when prompted; don't delay.</a:t>
            </a:r>
            <a:endParaRPr lang="en-US" sz="1400" dirty="0"/>
          </a:p>
        </p:txBody>
      </p:sp>
      <p:sp>
        <p:nvSpPr>
          <p:cNvPr id="13" name="Shape 9"/>
          <p:cNvSpPr/>
          <p:nvPr/>
        </p:nvSpPr>
        <p:spPr>
          <a:xfrm>
            <a:off x="7975600" y="1986756"/>
            <a:ext cx="3403600" cy="1838722"/>
          </a:xfrm>
          <a:prstGeom prst="roundRect">
            <a:avLst>
              <a:gd name="adj" fmla="val 5526"/>
            </a:avLst>
          </a:prstGeom>
          <a:solidFill>
            <a:srgbClr val="FFFFFF"/>
          </a:solidFill>
          <a:ln/>
        </p:spPr>
        <p:txBody>
          <a:bodyPr/>
          <a:lstStyle/>
          <a:p>
            <a:endParaRPr lang="en-JP"/>
          </a:p>
        </p:txBody>
      </p:sp>
      <p:sp>
        <p:nvSpPr>
          <p:cNvPr id="14" name="Shape 10"/>
          <p:cNvSpPr/>
          <p:nvPr/>
        </p:nvSpPr>
        <p:spPr>
          <a:xfrm>
            <a:off x="7975600" y="1986756"/>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D6A8F"/>
          </a:solidFill>
          <a:ln/>
        </p:spPr>
        <p:txBody>
          <a:bodyPr/>
          <a:lstStyle/>
          <a:p>
            <a:endParaRPr lang="en-JP"/>
          </a:p>
        </p:txBody>
      </p:sp>
      <p:pic>
        <p:nvPicPr>
          <p:cNvPr id="15" name="Image 2" descr="Password with second factor"/>
          <p:cNvPicPr>
            <a:picLocks noChangeAspect="1"/>
          </p:cNvPicPr>
          <p:nvPr/>
        </p:nvPicPr>
        <p:blipFill>
          <a:blip r:embed="rId5"/>
          <a:srcRect/>
          <a:stretch/>
        </p:blipFill>
        <p:spPr>
          <a:xfrm>
            <a:off x="8255000" y="2189956"/>
            <a:ext cx="508000" cy="508000"/>
          </a:xfrm>
          <a:prstGeom prst="rect">
            <a:avLst/>
          </a:prstGeom>
        </p:spPr>
      </p:pic>
      <p:sp>
        <p:nvSpPr>
          <p:cNvPr id="16" name="Text 11"/>
          <p:cNvSpPr/>
          <p:nvPr/>
        </p:nvSpPr>
        <p:spPr>
          <a:xfrm>
            <a:off x="8255000" y="2774156"/>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Strong passwords + MFA</a:t>
            </a:r>
            <a:endParaRPr lang="en-US" sz="1800" dirty="0"/>
          </a:p>
        </p:txBody>
      </p:sp>
      <p:sp>
        <p:nvSpPr>
          <p:cNvPr id="17" name="Text 12"/>
          <p:cNvSpPr/>
          <p:nvPr/>
        </p:nvSpPr>
        <p:spPr>
          <a:xfrm>
            <a:off x="8255000" y="3124597"/>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Unique passwords and two-step login.</a:t>
            </a:r>
            <a:endParaRPr lang="en-US" sz="1400" dirty="0"/>
          </a:p>
        </p:txBody>
      </p:sp>
      <p:sp>
        <p:nvSpPr>
          <p:cNvPr id="18" name="Shape 13"/>
          <p:cNvSpPr/>
          <p:nvPr/>
        </p:nvSpPr>
        <p:spPr>
          <a:xfrm>
            <a:off x="812800" y="4003278"/>
            <a:ext cx="3403600" cy="1838722"/>
          </a:xfrm>
          <a:prstGeom prst="roundRect">
            <a:avLst>
              <a:gd name="adj" fmla="val 5526"/>
            </a:avLst>
          </a:prstGeom>
          <a:solidFill>
            <a:srgbClr val="FFFFFF"/>
          </a:solidFill>
          <a:ln/>
        </p:spPr>
        <p:txBody>
          <a:bodyPr/>
          <a:lstStyle/>
          <a:p>
            <a:endParaRPr lang="en-JP"/>
          </a:p>
        </p:txBody>
      </p:sp>
      <p:sp>
        <p:nvSpPr>
          <p:cNvPr id="19" name="Shape 14"/>
          <p:cNvSpPr/>
          <p:nvPr/>
        </p:nvSpPr>
        <p:spPr>
          <a:xfrm>
            <a:off x="812800" y="4003278"/>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D6A8F"/>
          </a:solidFill>
          <a:ln/>
        </p:spPr>
        <p:txBody>
          <a:bodyPr/>
          <a:lstStyle/>
          <a:p>
            <a:endParaRPr lang="en-JP"/>
          </a:p>
        </p:txBody>
      </p:sp>
      <p:pic>
        <p:nvPicPr>
          <p:cNvPr id="20" name="Image 3" descr="Cloud backup"/>
          <p:cNvPicPr>
            <a:picLocks noChangeAspect="1"/>
          </p:cNvPicPr>
          <p:nvPr/>
        </p:nvPicPr>
        <p:blipFill>
          <a:blip r:embed="rId6"/>
          <a:srcRect/>
          <a:stretch/>
        </p:blipFill>
        <p:spPr>
          <a:xfrm>
            <a:off x="1092200" y="4206478"/>
            <a:ext cx="508000" cy="508000"/>
          </a:xfrm>
          <a:prstGeom prst="rect">
            <a:avLst/>
          </a:prstGeom>
        </p:spPr>
      </p:pic>
      <p:sp>
        <p:nvSpPr>
          <p:cNvPr id="21" name="Text 15"/>
          <p:cNvSpPr/>
          <p:nvPr/>
        </p:nvSpPr>
        <p:spPr>
          <a:xfrm>
            <a:off x="1092200" y="4790678"/>
            <a:ext cx="31242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Save to approved storage</a:t>
            </a:r>
            <a:endParaRPr lang="en-US" sz="1800" dirty="0"/>
          </a:p>
        </p:txBody>
      </p:sp>
      <p:sp>
        <p:nvSpPr>
          <p:cNvPr id="22" name="Text 16"/>
          <p:cNvSpPr/>
          <p:nvPr/>
        </p:nvSpPr>
        <p:spPr>
          <a:xfrm>
            <a:off x="1092200" y="5141119"/>
            <a:ext cx="298246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Keep work where it's backed up.</a:t>
            </a:r>
            <a:endParaRPr lang="en-US" sz="1400" dirty="0"/>
          </a:p>
        </p:txBody>
      </p:sp>
      <p:sp>
        <p:nvSpPr>
          <p:cNvPr id="23" name="Shape 17"/>
          <p:cNvSpPr/>
          <p:nvPr/>
        </p:nvSpPr>
        <p:spPr>
          <a:xfrm>
            <a:off x="4394200" y="4003278"/>
            <a:ext cx="3403600" cy="1838722"/>
          </a:xfrm>
          <a:prstGeom prst="roundRect">
            <a:avLst>
              <a:gd name="adj" fmla="val 5526"/>
            </a:avLst>
          </a:prstGeom>
          <a:solidFill>
            <a:srgbClr val="FFFFFF"/>
          </a:solidFill>
          <a:ln/>
        </p:spPr>
        <p:txBody>
          <a:bodyPr/>
          <a:lstStyle/>
          <a:p>
            <a:endParaRPr lang="en-JP"/>
          </a:p>
        </p:txBody>
      </p:sp>
      <p:sp>
        <p:nvSpPr>
          <p:cNvPr id="24" name="Shape 18"/>
          <p:cNvSpPr/>
          <p:nvPr/>
        </p:nvSpPr>
        <p:spPr>
          <a:xfrm>
            <a:off x="4394200" y="4003278"/>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D6A8F"/>
          </a:solidFill>
          <a:ln/>
        </p:spPr>
        <p:txBody>
          <a:bodyPr/>
          <a:lstStyle/>
          <a:p>
            <a:endParaRPr lang="en-JP"/>
          </a:p>
        </p:txBody>
      </p:sp>
      <p:pic>
        <p:nvPicPr>
          <p:cNvPr id="25" name="Image 4" descr="Approved software badge"/>
          <p:cNvPicPr>
            <a:picLocks noChangeAspect="1"/>
          </p:cNvPicPr>
          <p:nvPr/>
        </p:nvPicPr>
        <p:blipFill>
          <a:blip r:embed="rId7"/>
          <a:srcRect/>
          <a:stretch/>
        </p:blipFill>
        <p:spPr>
          <a:xfrm>
            <a:off x="4673600" y="4206478"/>
            <a:ext cx="508000" cy="508000"/>
          </a:xfrm>
          <a:prstGeom prst="rect">
            <a:avLst/>
          </a:prstGeom>
        </p:spPr>
      </p:pic>
      <p:sp>
        <p:nvSpPr>
          <p:cNvPr id="26" name="Text 19"/>
          <p:cNvSpPr/>
          <p:nvPr/>
        </p:nvSpPr>
        <p:spPr>
          <a:xfrm>
            <a:off x="4673600" y="4790678"/>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Approved software only</a:t>
            </a:r>
            <a:endParaRPr lang="en-US" sz="1800" dirty="0"/>
          </a:p>
        </p:txBody>
      </p:sp>
      <p:sp>
        <p:nvSpPr>
          <p:cNvPr id="27" name="Text 20"/>
          <p:cNvSpPr/>
          <p:nvPr/>
        </p:nvSpPr>
        <p:spPr>
          <a:xfrm>
            <a:off x="4673600" y="5141119"/>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No pirated apps or unknown USBs.</a:t>
            </a:r>
            <a:endParaRPr lang="en-US" sz="1400" dirty="0"/>
          </a:p>
        </p:txBody>
      </p:sp>
      <p:sp>
        <p:nvSpPr>
          <p:cNvPr id="28" name="Shape 21"/>
          <p:cNvSpPr/>
          <p:nvPr/>
        </p:nvSpPr>
        <p:spPr>
          <a:xfrm>
            <a:off x="7975600" y="4003278"/>
            <a:ext cx="3403600" cy="1838722"/>
          </a:xfrm>
          <a:prstGeom prst="roundRect">
            <a:avLst>
              <a:gd name="adj" fmla="val 5526"/>
            </a:avLst>
          </a:prstGeom>
          <a:solidFill>
            <a:srgbClr val="FFFFFF"/>
          </a:solidFill>
          <a:ln/>
        </p:spPr>
        <p:txBody>
          <a:bodyPr/>
          <a:lstStyle/>
          <a:p>
            <a:endParaRPr lang="en-JP"/>
          </a:p>
        </p:txBody>
      </p:sp>
      <p:sp>
        <p:nvSpPr>
          <p:cNvPr id="29" name="Shape 22"/>
          <p:cNvSpPr/>
          <p:nvPr/>
        </p:nvSpPr>
        <p:spPr>
          <a:xfrm>
            <a:off x="7975600" y="4003278"/>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D6A8F"/>
          </a:solidFill>
          <a:ln/>
        </p:spPr>
        <p:txBody>
          <a:bodyPr/>
          <a:lstStyle/>
          <a:p>
            <a:endParaRPr lang="en-JP"/>
          </a:p>
        </p:txBody>
      </p:sp>
      <p:pic>
        <p:nvPicPr>
          <p:cNvPr id="30" name="Image 5" descr="Megaphone"/>
          <p:cNvPicPr>
            <a:picLocks noChangeAspect="1"/>
          </p:cNvPicPr>
          <p:nvPr/>
        </p:nvPicPr>
        <p:blipFill>
          <a:blip r:embed="rId8"/>
          <a:srcRect/>
          <a:stretch/>
        </p:blipFill>
        <p:spPr>
          <a:xfrm>
            <a:off x="8255000" y="4206478"/>
            <a:ext cx="508000" cy="508000"/>
          </a:xfrm>
          <a:prstGeom prst="rect">
            <a:avLst/>
          </a:prstGeom>
        </p:spPr>
      </p:pic>
      <p:sp>
        <p:nvSpPr>
          <p:cNvPr id="31" name="Text 23"/>
          <p:cNvSpPr/>
          <p:nvPr/>
        </p:nvSpPr>
        <p:spPr>
          <a:xfrm>
            <a:off x="8255000" y="4790678"/>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Report early</a:t>
            </a:r>
            <a:endParaRPr lang="en-US" sz="1800" dirty="0"/>
          </a:p>
        </p:txBody>
      </p:sp>
      <p:sp>
        <p:nvSpPr>
          <p:cNvPr id="32" name="Text 24"/>
          <p:cNvSpPr/>
          <p:nvPr/>
        </p:nvSpPr>
        <p:spPr>
          <a:xfrm>
            <a:off x="8255000" y="5141119"/>
            <a:ext cx="298246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Suspicious? Tell IT straight away.</a:t>
            </a:r>
            <a:endParaRPr lang="en-US" sz="1400" dirty="0"/>
          </a:p>
        </p:txBody>
      </p:sp>
      <p:sp>
        <p:nvSpPr>
          <p:cNvPr id="33"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10</a:t>
            </a:r>
            <a:endParaRPr lang="en-US" sz="1200" dirty="0"/>
          </a:p>
        </p:txBody>
      </p:sp>
      <p:pic>
        <p:nvPicPr>
          <p:cNvPr id="34" name="Picture 33">
            <a:extLst>
              <a:ext uri="{FF2B5EF4-FFF2-40B4-BE49-F238E27FC236}">
                <a16:creationId xmlns:a16="http://schemas.microsoft.com/office/drawing/2014/main" id="{0F6DDD2F-E6C9-C149-31EB-E4EB3AE96FA6}"/>
              </a:ext>
            </a:extLst>
          </p:cNvPr>
          <p:cNvPicPr>
            <a:picLocks noChangeAspect="1"/>
          </p:cNvPicPr>
          <p:nvPr/>
        </p:nvPicPr>
        <p:blipFill>
          <a:blip r:embed="rId9"/>
          <a:stretch>
            <a:fillRect/>
          </a:stretch>
        </p:blipFill>
        <p:spPr>
          <a:xfrm>
            <a:off x="10555840" y="94655"/>
            <a:ext cx="1331515" cy="13315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A"/>
                </a:solidFill>
                <a:latin typeface="Space Grotesk" pitchFamily="34" charset="0"/>
                <a:ea typeface="Space Grotesk" pitchFamily="34" charset="-122"/>
                <a:cs typeface="Space Grotesk" pitchFamily="34" charset="-120"/>
              </a:rPr>
              <a:t>Who to contact</a:t>
            </a:r>
            <a:endParaRPr lang="en-US" sz="3600" dirty="0"/>
          </a:p>
        </p:txBody>
      </p:sp>
      <p:sp>
        <p:nvSpPr>
          <p:cNvPr id="3" name="Shape 1"/>
          <p:cNvSpPr/>
          <p:nvPr/>
        </p:nvSpPr>
        <p:spPr>
          <a:xfrm>
            <a:off x="812800" y="1897559"/>
            <a:ext cx="3386634" cy="2773363"/>
          </a:xfrm>
          <a:prstGeom prst="roundRect">
            <a:avLst>
              <a:gd name="adj" fmla="val 3663"/>
            </a:avLst>
          </a:prstGeom>
          <a:solidFill>
            <a:srgbClr val="FFFFFF"/>
          </a:solidFill>
          <a:ln/>
        </p:spPr>
        <p:txBody>
          <a:bodyPr/>
          <a:lstStyle/>
          <a:p>
            <a:endParaRPr lang="en-JP"/>
          </a:p>
        </p:txBody>
      </p:sp>
      <p:sp>
        <p:nvSpPr>
          <p:cNvPr id="4" name="Shape 2"/>
          <p:cNvSpPr/>
          <p:nvPr/>
        </p:nvSpPr>
        <p:spPr>
          <a:xfrm>
            <a:off x="812800" y="1897559"/>
            <a:ext cx="3386634" cy="2773363"/>
          </a:xfrm>
          <a:custGeom>
            <a:avLst/>
            <a:gdLst/>
            <a:ahLst/>
            <a:cxnLst/>
            <a:rect l="l" t="t" r="r" b="b"/>
            <a:pathLst>
              <a:path w="3386634" h="2773363">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2D6A8F"/>
          </a:solidFill>
          <a:ln/>
        </p:spPr>
        <p:txBody>
          <a:bodyPr/>
          <a:lstStyle/>
          <a:p>
            <a:endParaRPr lang="en-JP"/>
          </a:p>
        </p:txBody>
      </p:sp>
      <p:pic>
        <p:nvPicPr>
          <p:cNvPr id="5" name="Image 0" descr="Headset"/>
          <p:cNvPicPr>
            <a:picLocks noChangeAspect="1"/>
          </p:cNvPicPr>
          <p:nvPr/>
        </p:nvPicPr>
        <p:blipFill>
          <a:blip r:embed="rId3"/>
          <a:srcRect/>
          <a:stretch/>
        </p:blipFill>
        <p:spPr>
          <a:xfrm>
            <a:off x="1066800" y="2227759"/>
            <a:ext cx="660400" cy="660400"/>
          </a:xfrm>
          <a:prstGeom prst="rect">
            <a:avLst/>
          </a:prstGeom>
        </p:spPr>
      </p:pic>
      <p:sp>
        <p:nvSpPr>
          <p:cNvPr id="6" name="Text 3"/>
          <p:cNvSpPr/>
          <p:nvPr/>
        </p:nvSpPr>
        <p:spPr>
          <a:xfrm>
            <a:off x="1066800" y="2989759"/>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IT helpdesk</a:t>
            </a:r>
            <a:endParaRPr lang="en-US" sz="1800" dirty="0"/>
          </a:p>
        </p:txBody>
      </p:sp>
      <p:sp>
        <p:nvSpPr>
          <p:cNvPr id="7" name="Text 4"/>
          <p:cNvSpPr/>
          <p:nvPr/>
        </p:nvSpPr>
        <p:spPr>
          <a:xfrm>
            <a:off x="1066800" y="3365599"/>
            <a:ext cx="296499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[Extension]</a:t>
            </a:r>
            <a:endParaRPr lang="en-US" sz="2400" dirty="0"/>
          </a:p>
        </p:txBody>
      </p:sp>
      <p:sp>
        <p:nvSpPr>
          <p:cNvPr id="8" name="Text 5"/>
          <p:cNvSpPr/>
          <p:nvPr/>
        </p:nvSpPr>
        <p:spPr>
          <a:xfrm>
            <a:off x="1066800" y="3893840"/>
            <a:ext cx="296499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Call first for any suspected incident</a:t>
            </a:r>
            <a:endParaRPr lang="en-US" sz="1400" dirty="0"/>
          </a:p>
        </p:txBody>
      </p:sp>
      <p:sp>
        <p:nvSpPr>
          <p:cNvPr id="9" name="Shape 6"/>
          <p:cNvSpPr/>
          <p:nvPr/>
        </p:nvSpPr>
        <p:spPr>
          <a:xfrm>
            <a:off x="4402634" y="1897559"/>
            <a:ext cx="3386733" cy="2773363"/>
          </a:xfrm>
          <a:prstGeom prst="roundRect">
            <a:avLst>
              <a:gd name="adj" fmla="val 3663"/>
            </a:avLst>
          </a:prstGeom>
          <a:solidFill>
            <a:srgbClr val="FFFFFF"/>
          </a:solidFill>
          <a:ln/>
        </p:spPr>
        <p:txBody>
          <a:bodyPr/>
          <a:lstStyle/>
          <a:p>
            <a:endParaRPr lang="en-JP"/>
          </a:p>
        </p:txBody>
      </p:sp>
      <p:sp>
        <p:nvSpPr>
          <p:cNvPr id="10" name="Shape 7"/>
          <p:cNvSpPr/>
          <p:nvPr/>
        </p:nvSpPr>
        <p:spPr>
          <a:xfrm>
            <a:off x="4402634" y="1897559"/>
            <a:ext cx="3386733" cy="2773363"/>
          </a:xfrm>
          <a:custGeom>
            <a:avLst/>
            <a:gdLst/>
            <a:ahLst/>
            <a:cxnLst/>
            <a:rect l="l" t="t" r="r" b="b"/>
            <a:pathLst>
              <a:path w="3386733" h="2773363">
                <a:moveTo>
                  <a:pt x="0" y="101600"/>
                </a:moveTo>
                <a:lnTo>
                  <a:pt x="0" y="101600"/>
                </a:lnTo>
                <a:arcTo wR="101600" hR="101600" stAng="10800000" swAng="5400000"/>
                <a:lnTo>
                  <a:pt x="3285133" y="0"/>
                </a:lnTo>
                <a:arcTo wR="101600" hR="101600" stAng="16200000" swAng="5400000"/>
                <a:lnTo>
                  <a:pt x="3386733" y="101600"/>
                </a:lnTo>
                <a:arcTo wR="101600" hR="50800" stAng="0" swAng="-5400000"/>
                <a:lnTo>
                  <a:pt x="101600" y="50800"/>
                </a:lnTo>
                <a:arcTo wR="101600" hR="50800" stAng="16200000" swAng="-5400000"/>
                <a:close/>
              </a:path>
            </a:pathLst>
          </a:custGeom>
          <a:solidFill>
            <a:srgbClr val="2D6A8F"/>
          </a:solidFill>
          <a:ln/>
        </p:spPr>
        <p:txBody>
          <a:bodyPr/>
          <a:lstStyle/>
          <a:p>
            <a:endParaRPr lang="en-JP"/>
          </a:p>
        </p:txBody>
      </p:sp>
      <p:pic>
        <p:nvPicPr>
          <p:cNvPr id="11" name="Image 1" descr="Envelope with shield"/>
          <p:cNvPicPr>
            <a:picLocks noChangeAspect="1"/>
          </p:cNvPicPr>
          <p:nvPr/>
        </p:nvPicPr>
        <p:blipFill>
          <a:blip r:embed="rId4"/>
          <a:srcRect/>
          <a:stretch/>
        </p:blipFill>
        <p:spPr>
          <a:xfrm>
            <a:off x="4656634" y="2227759"/>
            <a:ext cx="660400" cy="660400"/>
          </a:xfrm>
          <a:prstGeom prst="rect">
            <a:avLst/>
          </a:prstGeom>
        </p:spPr>
      </p:pic>
      <p:sp>
        <p:nvSpPr>
          <p:cNvPr id="12" name="Text 8"/>
          <p:cNvSpPr/>
          <p:nvPr/>
        </p:nvSpPr>
        <p:spPr>
          <a:xfrm>
            <a:off x="4656634" y="2989759"/>
            <a:ext cx="29650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Report phishing</a:t>
            </a:r>
            <a:endParaRPr lang="en-US" sz="1800" dirty="0"/>
          </a:p>
        </p:txBody>
      </p:sp>
      <p:sp>
        <p:nvSpPr>
          <p:cNvPr id="13" name="Text 9"/>
          <p:cNvSpPr/>
          <p:nvPr/>
        </p:nvSpPr>
        <p:spPr>
          <a:xfrm>
            <a:off x="4656634" y="3365599"/>
            <a:ext cx="2965095"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[security@...]</a:t>
            </a:r>
            <a:endParaRPr lang="en-US" sz="2400" dirty="0"/>
          </a:p>
        </p:txBody>
      </p:sp>
      <p:sp>
        <p:nvSpPr>
          <p:cNvPr id="14" name="Text 10"/>
          <p:cNvSpPr/>
          <p:nvPr/>
        </p:nvSpPr>
        <p:spPr>
          <a:xfrm>
            <a:off x="4656634" y="3893840"/>
            <a:ext cx="296509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[Or the Report Phishing button]</a:t>
            </a:r>
            <a:endParaRPr lang="en-US" sz="1400" dirty="0"/>
          </a:p>
        </p:txBody>
      </p:sp>
      <p:sp>
        <p:nvSpPr>
          <p:cNvPr id="15" name="Shape 11"/>
          <p:cNvSpPr/>
          <p:nvPr/>
        </p:nvSpPr>
        <p:spPr>
          <a:xfrm>
            <a:off x="7992566" y="1897559"/>
            <a:ext cx="3386634" cy="2773363"/>
          </a:xfrm>
          <a:prstGeom prst="roundRect">
            <a:avLst>
              <a:gd name="adj" fmla="val 3663"/>
            </a:avLst>
          </a:prstGeom>
          <a:solidFill>
            <a:srgbClr val="FFFFFF"/>
          </a:solidFill>
          <a:ln/>
        </p:spPr>
        <p:txBody>
          <a:bodyPr/>
          <a:lstStyle/>
          <a:p>
            <a:endParaRPr lang="en-JP"/>
          </a:p>
        </p:txBody>
      </p:sp>
      <p:sp>
        <p:nvSpPr>
          <p:cNvPr id="16" name="Shape 12"/>
          <p:cNvSpPr/>
          <p:nvPr/>
        </p:nvSpPr>
        <p:spPr>
          <a:xfrm>
            <a:off x="7992566" y="1897559"/>
            <a:ext cx="3386634" cy="2773363"/>
          </a:xfrm>
          <a:custGeom>
            <a:avLst/>
            <a:gdLst/>
            <a:ahLst/>
            <a:cxnLst/>
            <a:rect l="l" t="t" r="r" b="b"/>
            <a:pathLst>
              <a:path w="3386634" h="2773363">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2D6A8F"/>
          </a:solidFill>
          <a:ln/>
        </p:spPr>
        <p:txBody>
          <a:bodyPr/>
          <a:lstStyle/>
          <a:p>
            <a:endParaRPr lang="en-JP"/>
          </a:p>
        </p:txBody>
      </p:sp>
      <p:pic>
        <p:nvPicPr>
          <p:cNvPr id="17" name="Image 2" descr="Clock"/>
          <p:cNvPicPr>
            <a:picLocks noChangeAspect="1"/>
          </p:cNvPicPr>
          <p:nvPr/>
        </p:nvPicPr>
        <p:blipFill>
          <a:blip r:embed="rId5"/>
          <a:srcRect/>
          <a:stretch/>
        </p:blipFill>
        <p:spPr>
          <a:xfrm>
            <a:off x="8246566" y="2227759"/>
            <a:ext cx="660400" cy="660400"/>
          </a:xfrm>
          <a:prstGeom prst="rect">
            <a:avLst/>
          </a:prstGeom>
        </p:spPr>
      </p:pic>
      <p:sp>
        <p:nvSpPr>
          <p:cNvPr id="18" name="Text 13"/>
          <p:cNvSpPr/>
          <p:nvPr/>
        </p:nvSpPr>
        <p:spPr>
          <a:xfrm>
            <a:off x="8246566" y="2989759"/>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A"/>
                </a:solidFill>
                <a:latin typeface="Inter" pitchFamily="34" charset="0"/>
                <a:ea typeface="Inter" pitchFamily="34" charset="-122"/>
                <a:cs typeface="Inter" pitchFamily="34" charset="-120"/>
              </a:rPr>
              <a:t>Out of hours</a:t>
            </a:r>
            <a:endParaRPr lang="en-US" sz="1800" dirty="0"/>
          </a:p>
        </p:txBody>
      </p:sp>
      <p:sp>
        <p:nvSpPr>
          <p:cNvPr id="19" name="Text 14"/>
          <p:cNvSpPr/>
          <p:nvPr/>
        </p:nvSpPr>
        <p:spPr>
          <a:xfrm>
            <a:off x="8246566" y="3365599"/>
            <a:ext cx="296499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8401C"/>
                </a:solidFill>
                <a:latin typeface="Space Grotesk" pitchFamily="34" charset="0"/>
                <a:ea typeface="Space Grotesk" pitchFamily="34" charset="-122"/>
                <a:cs typeface="Space Grotesk" pitchFamily="34" charset="-120"/>
              </a:rPr>
              <a:t>[Number]</a:t>
            </a:r>
            <a:endParaRPr lang="en-US" sz="2400" dirty="0"/>
          </a:p>
        </p:txBody>
      </p:sp>
      <p:sp>
        <p:nvSpPr>
          <p:cNvPr id="20" name="Text 15"/>
          <p:cNvSpPr/>
          <p:nvPr/>
        </p:nvSpPr>
        <p:spPr>
          <a:xfrm>
            <a:off x="8246566" y="3893840"/>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4"/>
                </a:solidFill>
                <a:latin typeface="Inter" pitchFamily="34" charset="0"/>
                <a:ea typeface="Inter" pitchFamily="34" charset="-122"/>
                <a:cs typeface="Inter" pitchFamily="34" charset="-120"/>
              </a:rPr>
              <a:t>[On-call security contact]</a:t>
            </a:r>
            <a:endParaRPr lang="en-US" sz="1400" dirty="0"/>
          </a:p>
        </p:txBody>
      </p:sp>
      <p:sp>
        <p:nvSpPr>
          <p:cNvPr id="21" name="Shape 16"/>
          <p:cNvSpPr/>
          <p:nvPr/>
        </p:nvSpPr>
        <p:spPr>
          <a:xfrm>
            <a:off x="812800" y="5252740"/>
            <a:ext cx="10566400" cy="589260"/>
          </a:xfrm>
          <a:prstGeom prst="roundRect">
            <a:avLst>
              <a:gd name="adj" fmla="val 17242"/>
            </a:avLst>
          </a:prstGeom>
          <a:solidFill>
            <a:srgbClr val="0F1B2A"/>
          </a:solidFill>
          <a:ln/>
        </p:spPr>
        <p:txBody>
          <a:bodyPr/>
          <a:lstStyle/>
          <a:p>
            <a:endParaRPr lang="en-JP"/>
          </a:p>
        </p:txBody>
      </p:sp>
      <p:sp>
        <p:nvSpPr>
          <p:cNvPr id="22" name="Text 17"/>
          <p:cNvSpPr/>
          <p:nvPr/>
        </p:nvSpPr>
        <p:spPr>
          <a:xfrm>
            <a:off x="1041400" y="5405140"/>
            <a:ext cx="161776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8C6A"/>
                </a:solidFill>
                <a:latin typeface="Arial" pitchFamily="34" charset="0"/>
                <a:ea typeface="Arial" pitchFamily="34" charset="-122"/>
                <a:cs typeface="Arial" pitchFamily="34" charset="-120"/>
              </a:rPr>
              <a:t>[icon: bookmark]</a:t>
            </a:r>
            <a:endParaRPr lang="en-US" sz="1600" dirty="0"/>
          </a:p>
        </p:txBody>
      </p:sp>
      <p:sp>
        <p:nvSpPr>
          <p:cNvPr id="23" name="Text 18"/>
          <p:cNvSpPr/>
          <p:nvPr/>
        </p:nvSpPr>
        <p:spPr>
          <a:xfrm>
            <a:off x="2659162" y="5405140"/>
            <a:ext cx="7676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3F4F1"/>
                </a:solidFill>
                <a:latin typeface="Inter" pitchFamily="34" charset="0"/>
                <a:ea typeface="Inter" pitchFamily="34" charset="-122"/>
                <a:cs typeface="Inter" pitchFamily="34" charset="-120"/>
              </a:rPr>
              <a:t>Save these contacts now, on your phone as well as your computer.</a:t>
            </a:r>
            <a:endParaRPr lang="en-US" sz="1600" dirty="0"/>
          </a:p>
        </p:txBody>
      </p:sp>
      <p:sp>
        <p:nvSpPr>
          <p:cNvPr id="24"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nter" pitchFamily="34" charset="0"/>
                <a:ea typeface="Inter" pitchFamily="34" charset="-122"/>
                <a:cs typeface="Inter" pitchFamily="34" charset="-120"/>
              </a:rPr>
              <a:t>Ransomware Security Awareness · 11</a:t>
            </a:r>
            <a:endParaRPr lang="en-US" sz="1200" dirty="0"/>
          </a:p>
        </p:txBody>
      </p:sp>
      <p:pic>
        <p:nvPicPr>
          <p:cNvPr id="25" name="Picture 24">
            <a:extLst>
              <a:ext uri="{FF2B5EF4-FFF2-40B4-BE49-F238E27FC236}">
                <a16:creationId xmlns:a16="http://schemas.microsoft.com/office/drawing/2014/main" id="{EF172A8B-DBD2-499D-011D-862444251BEE}"/>
              </a:ext>
            </a:extLst>
          </p:cNvPr>
          <p:cNvPicPr>
            <a:picLocks noChangeAspect="1"/>
          </p:cNvPicPr>
          <p:nvPr/>
        </p:nvPicPr>
        <p:blipFill>
          <a:blip r:embed="rId6"/>
          <a:stretch>
            <a:fillRect/>
          </a:stretch>
        </p:blipFill>
        <p:spPr>
          <a:xfrm>
            <a:off x="10555840" y="94655"/>
            <a:ext cx="1331515" cy="13315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A"/>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0" y="0"/>
            <a:ext cx="152400" cy="6858000"/>
          </a:xfrm>
          <a:prstGeom prst="rect">
            <a:avLst/>
          </a:prstGeom>
        </p:spPr>
      </p:pic>
      <p:pic>
        <p:nvPicPr>
          <p:cNvPr id="3" name="Image 1" descr="A person standing behind a shield, the human firewall"/>
          <p:cNvPicPr>
            <a:picLocks noChangeAspect="1"/>
          </p:cNvPicPr>
          <p:nvPr/>
        </p:nvPicPr>
        <p:blipFill>
          <a:blip r:embed="rId4"/>
          <a:srcRect/>
          <a:stretch/>
        </p:blipFill>
        <p:spPr>
          <a:xfrm>
            <a:off x="7620000" y="1270000"/>
            <a:ext cx="3810000" cy="4318000"/>
          </a:xfrm>
          <a:prstGeom prst="rect">
            <a:avLst/>
          </a:prstGeom>
        </p:spPr>
      </p:pic>
      <p:sp>
        <p:nvSpPr>
          <p:cNvPr id="4" name="Text 0"/>
          <p:cNvSpPr/>
          <p:nvPr/>
        </p:nvSpPr>
        <p:spPr>
          <a:xfrm>
            <a:off x="812800" y="17094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28C6A"/>
                </a:solidFill>
                <a:latin typeface="Inter" pitchFamily="34" charset="0"/>
                <a:ea typeface="Inter" pitchFamily="34" charset="-122"/>
                <a:cs typeface="Inter" pitchFamily="34" charset="-120"/>
              </a:rPr>
              <a:t>REMEMBER</a:t>
            </a:r>
            <a:endParaRPr lang="en-US" sz="1600" dirty="0"/>
          </a:p>
        </p:txBody>
      </p:sp>
      <p:sp>
        <p:nvSpPr>
          <p:cNvPr id="5" name="Text 1"/>
          <p:cNvSpPr>
            <a:spLocks noGrp="1"/>
          </p:cNvSpPr>
          <p:nvPr>
            <p:ph type="title"/>
          </p:nvPr>
        </p:nvSpPr>
        <p:spPr>
          <a:xfrm>
            <a:off x="812800" y="2298700"/>
            <a:ext cx="65405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3F4F1"/>
                </a:solidFill>
                <a:latin typeface="Space Grotesk" pitchFamily="34" charset="0"/>
                <a:ea typeface="Space Grotesk" pitchFamily="34" charset="-122"/>
                <a:cs typeface="Space Grotesk" pitchFamily="34" charset="-120"/>
              </a:rPr>
              <a:t>You are the human firewall.</a:t>
            </a:r>
            <a:endParaRPr lang="en-US" sz="6000" dirty="0"/>
          </a:p>
        </p:txBody>
      </p:sp>
      <p:sp>
        <p:nvSpPr>
          <p:cNvPr id="6" name="Text 2"/>
          <p:cNvSpPr/>
          <p:nvPr/>
        </p:nvSpPr>
        <p:spPr>
          <a:xfrm>
            <a:off x="812800" y="4203700"/>
            <a:ext cx="68072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8CCD2"/>
                </a:solidFill>
                <a:latin typeface="Inter" pitchFamily="34" charset="0"/>
                <a:ea typeface="Inter" pitchFamily="34" charset="-122"/>
                <a:cs typeface="Inter" pitchFamily="34" charset="-120"/>
              </a:rPr>
              <a:t>Think before you click. Report anything suspicious.</a:t>
            </a:r>
            <a:endParaRPr lang="en-US" sz="2000" dirty="0"/>
          </a:p>
        </p:txBody>
      </p:sp>
      <p:sp>
        <p:nvSpPr>
          <p:cNvPr id="7" name="Text 3"/>
          <p:cNvSpPr/>
          <p:nvPr/>
        </p:nvSpPr>
        <p:spPr>
          <a:xfrm>
            <a:off x="812800" y="48641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E98A6"/>
                </a:solidFill>
                <a:latin typeface="Inter" pitchFamily="34" charset="0"/>
                <a:ea typeface="Inter" pitchFamily="34" charset="-122"/>
                <a:cs typeface="Inter" pitchFamily="34" charset="-120"/>
              </a:rPr>
              <a:t>Thank you · Questions?</a:t>
            </a:r>
            <a:endParaRPr lang="en-US" sz="1600" dirty="0"/>
          </a:p>
        </p:txBody>
      </p:sp>
      <p:pic>
        <p:nvPicPr>
          <p:cNvPr id="8" name="Picture 7">
            <a:extLst>
              <a:ext uri="{FF2B5EF4-FFF2-40B4-BE49-F238E27FC236}">
                <a16:creationId xmlns:a16="http://schemas.microsoft.com/office/drawing/2014/main" id="{7E870124-9398-0E4D-A34D-CC685FD71582}"/>
              </a:ext>
            </a:extLst>
          </p:cNvPr>
          <p:cNvPicPr>
            <a:picLocks noChangeAspect="1"/>
          </p:cNvPicPr>
          <p:nvPr/>
        </p:nvPicPr>
        <p:blipFill>
          <a:blip r:embed="rId5"/>
          <a:stretch>
            <a:fillRect/>
          </a:stretch>
        </p:blipFill>
        <p:spPr>
          <a:xfrm>
            <a:off x="10555840" y="94655"/>
            <a:ext cx="1331515" cy="1331515"/>
          </a:xfrm>
          <a:prstGeom prst="rect">
            <a:avLst/>
          </a:prstGeom>
        </p:spPr>
      </p:pic>
    </p:spTree>
  </p:cSld>
  <p:clrMapOvr>
    <a:masterClrMapping/>
  </p:clrMapOvr>
</p:sld>
</file>

<file path=ppt/theme/theme1.xml><?xml version="1.0" encoding="utf-8"?>
<a:theme xmlns:a="http://schemas.openxmlformats.org/drawingml/2006/main" name="Ransomware Security Awareness">
  <a:themeElements>
    <a:clrScheme name="Ransomware Security Awareness">
      <a:dk1>
        <a:srgbClr val="0F1B2A"/>
      </a:dk1>
      <a:lt1>
        <a:srgbClr val="F3F4F1"/>
      </a:lt1>
      <a:dk2>
        <a:srgbClr val="48515C"/>
      </a:dk2>
      <a:lt2>
        <a:srgbClr val="DCDEDD"/>
      </a:lt2>
      <a:accent1>
        <a:srgbClr val="E4572E"/>
      </a:accent1>
      <a:accent2>
        <a:srgbClr val="F28C6A"/>
      </a:accent2>
      <a:accent3>
        <a:srgbClr val="B8401C"/>
      </a:accent3>
      <a:accent4>
        <a:srgbClr val="2D6A8F"/>
      </a:accent4>
      <a:accent5>
        <a:srgbClr val="3C4654"/>
      </a:accent5>
      <a:accent6>
        <a:srgbClr val="C8CCD2"/>
      </a:accent6>
      <a:hlink>
        <a:srgbClr val="0563C1"/>
      </a:hlink>
      <a:folHlink>
        <a:srgbClr val="954F72"/>
      </a:folHlink>
    </a:clrScheme>
    <a:fontScheme name="Ransomware Security Awareness">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2304</Words>
  <Application>Microsoft Macintosh PowerPoint</Application>
  <PresentationFormat>Widescreen</PresentationFormat>
  <Paragraphs>157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Inter</vt:lpstr>
      <vt:lpstr>Space Grotesk</vt:lpstr>
      <vt:lpstr>Arial</vt:lpstr>
      <vt:lpstr>Ransomware Security Awareness</vt:lpstr>
      <vt:lpstr>Ransomware: Don't Get Locked Out</vt:lpstr>
      <vt:lpstr>What is ransomware?</vt:lpstr>
      <vt:lpstr>Why it matters to all of us</vt:lpstr>
      <vt:lpstr>How ransomware gets in</vt:lpstr>
      <vt:lpstr>Anatomy of an attack</vt:lpstr>
      <vt:lpstr>Spotting a phishing email</vt:lpstr>
      <vt:lpstr>Warning signs of an infection</vt:lpstr>
      <vt:lpstr>Disconnect. Report. Don't pay.</vt:lpstr>
      <vt:lpstr>What to do, step by step</vt:lpstr>
      <vt:lpstr>Six habits that stop ransomware</vt:lpstr>
      <vt:lpstr>Who to contact</vt:lpstr>
      <vt:lpstr>You are the human firewall.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Ransomware Security Awareness</dc:title>
  <dc:subject/>
  <dc:creator/>
  <cp:lastModifiedBy>ZIN MAR LWIN</cp:lastModifiedBy>
  <cp:revision>2</cp:revision>
  <dcterms:created xsi:type="dcterms:W3CDTF">2026-10-12T13:53:43Z</dcterms:created>
  <dcterms:modified xsi:type="dcterms:W3CDTF">2026-10-12T14:15:04Z</dcterms:modified>
</cp:coreProperties>
</file>