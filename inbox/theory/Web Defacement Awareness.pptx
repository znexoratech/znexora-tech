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0:40] Good [morning/afternoon], everyone, and thank you for joining. I'm [Presenter] from ZNexora Tech. Today's topic is web defacement: when attackers break into a website and change what visitors see. Our website is often the first thing customers, partners and the public see of us, so when it's defaced, everyone notices. In the next ten minutes, I'll cover what web defacement is, why it matters, how attackers get in, how to spot it, and what each of us should do to prevent it and respond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1:30] So what is web defacement? It's an attack where someone gains unauthorised access to a website and changes what visitors see. Sometimes it's obvious: the homepage is replaced with a message, an image, a political slogan, or a hacker's signature. Other times it's subtle: a few links are changed to point to scam sites, or hidden code is added that infects visitors' devices. The image shows a normal page on top, and the same page after a defacement below. The key point is this: defacement is the visible symptom of a security breach. If someone could change our website, they had access to our systems, and that's what we need to worry about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2:30] Why does web defacement matter? First, reputation and trust. Our website is our public face. When it's defaced, customers, partners and the media see it immediately, and they start asking whether we can protect their information. Second, service disruption. We may need to take the site offline while we investigate and clean it up, which affects anyone relying on it. Third, and most importantly, it's often a sign of a deeper breach. The attacker who changed the homepage may also have stolen data, created hidden accounts, or planted malware that infects visitors. And fourth, legal exposure. If personal data is involved, we may have regulatory reporting obligations, and potential penalties. So a defacement is never just a cosmetic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3:15] Who defaces websites, and why? There are three main groups. Hacktivists want to spread a political or social message, and a defaced website gives them a large, public audience. Opportunists scan the internet looking for any site with a known weakness, often just to show off or build a reputation in hacker communities. And cybercriminals often don't want you to notice at all. They quietly hide malware, scam pages or spam links on a trusted site to make money. The important lesson is at the bottom of the slide: most attacks are automated and opportunistic. Attackers don't need to pick us specifically. Their tools find any vulnerable site, so no website is too small to be a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 – 4:25] So how do attackers actually get in? Here are the six most common doors. One: outdated content management systems and plug-ins. Platforms like WordPress are safe when updated, but old versions and plug-ins have publicly known flaws that automated tools exploit within days. Two: weak or stolen passwords. Admin logins that are guessable, reused from another site, or stolen through phishing give attackers the keys. Three: injection flaws, where insecure forms or code let an attacker send commands to our website or database. Four: insecure file uploads, where a contact form or media tool accepts a malicious file. Five: misconfigured servers, such as default settings, exposed admin panels or overly broad permissions. And six: third parties. If our hosting provider, DNS account or web agency is compromised, our site can be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 – 5:10] Let's look at how a typical defacement unfolds. Step one: scan. Automated tools crawl the internet looking for websites with known weaknesses. Step two: exploit. The attacker uses an unpatched flaw, or a stolen or guessed password. Step three: access. They gain administrator control of the website or the server behind it. Step four: deface. They change or replace pages, sometimes publicly, sometimes quietly. And step five, which people often forget: persist. Attackers frequently leave hidden backdoors so they can come back. That's why simply restoring the old homepage is never enough. We have to find and close the way in, or the attackers will simply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 – 6:00] How would we know our site has been defaced? Watch for these warning signs. Pages, images or text that have changed without anyone approving the change. Unknown pages, unexpected pop-ups, or links that redirect visitors to other websites. Browser or search engine security warnings, such as a red warning page saying the site may be harmful, or search results showing strange titles. New administrator accounts or unexpected file changes, which the web team may notice. And very often, the first sign comes from outside: a customer, partner or colleague reporting that something looks odd. Every one of us visits our website, so every one of us can be the first to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 6:30] If you remember one thing today, remember this: if you see it, capture it, report it, and don't touch it. Capture it by taking a screenshot and noting the web address and time. Report it immediately to [IT / Security contact]. And don't try to fix it yourself, or share it on social media. Editing or deleting content can destroy the evidence the investigators need. Fast reporting limits the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 – 7:40] Here's how we respond, and who does what. For everyone: one, report it immediately to [IT / Security contact]. Don't assume someone else already has. Two, capture evidence: take a screenshot and note the web address and the time you saw it. Three, don't edit, delete or share the defaced content, and please don't post it on social media. For the web and IT team, the next steps are: four, isolate the site, usually by switching to a maintenance page so visitors aren't exposed. Five, fix the root cause: patch the weakness, remove any backdoors, and reset all admin and hosting passwords. And six, restore the site from a clean, verified backup. In parallel, our Communications team handles any messages to customers or the media, so we speak with one clear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 – 8:40] Prevention is far cheaper than recovery. Here are six controls our web and IT teams rely on. One: patch quickly. Keep the CMS, plug-ins, themes and servers up to date, and remove anything unused. Two: multi-factor authentication everywhere that matters: the website admin panel, hosting control panel, DNS and domain registrar accounts. Three: least privilege. Each person gets only the access they need, and accounts are removed when people leave. Four: a web application firewall, which filters out common attacks like injection attempts before they reach the site. Five: monitor changes, with file integrity monitoring and uptime alerts so we know within minutes if a page changes unexpectedly. And six: tested backups, kept offline or separate, so we can restore a clean site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 – 9:20] Website security is a shared responsibility, and everyone has a role. All staff: report anything odd you see on our website, never share website or hosting logins, and be alert to phishing emails, because attackers often target the people who manage our site. Content editors: always use your own named account with multi-factor authentication, install only approved plug-ins, and log out when you use a shared device. And the web and IT team: keep everything patched, monitor for changes and review logs, remove unused accounts and plug-ins, and regularly test our backups and our response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 – 9:40] Here's who to contact. For a suspected defacement, call IT and Security on [extension]. For unexpected changes or errors on the site, contact the web team at [web@...]. And all messages to the media or customers go through the Communications team at [contact]. Outside office hours, call [on-call number]. Every minute a defaced site stays online increases the damage, so please don't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[9:40 – 10:00] To wrap up: our website is our front door to the world. Keeping it secure protects our reputation, our data, and everyone who visits it. If you see something odd, capture it, report it, and don't touch it. Thank you for your time.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A1628"/>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A1628"/>
                </a:solidFill>
                <a:latin typeface="Calibri" pitchFamily="34" charset="0"/>
                <a:ea typeface="Calibri" pitchFamily="34" charset="-122"/>
                <a:cs typeface="Calibri"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A1628"/>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A1628"/>
                </a:solidFill>
                <a:latin typeface="Calibri" pitchFamily="34" charset="0"/>
                <a:ea typeface="Calibri" pitchFamily="34" charset="-122"/>
                <a:cs typeface="Calibri"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2.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slideLayout" Target="../slideLayouts/slideLayout2.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A website in a browser that has been defaced with graffiti, protected by a shield">    </p:cNvPr>
          <p:cNvPicPr>
            <a:picLocks noChangeAspect="1"/>
          </p:cNvPicPr>
          <p:nvPr/>
        </p:nvPicPr>
        <p:blipFill>
          <a:blip r:embed="rId2"/>
          <a:srcRect l="0" r="0" t="0" b="0"/>
          <a:stretch/>
        </p:blipFill>
        <p:spPr>
          <a:xfrm>
            <a:off x="7366000" y="1206500"/>
            <a:ext cx="4318000" cy="4572000"/>
          </a:xfrm>
          <a:prstGeom prst="rect">
            <a:avLst/>
          </a:prstGeom>
        </p:spPr>
      </p:pic>
      <p:sp>
        <p:nvSpPr>
          <p:cNvPr id="4" name="Text 0"/>
          <p:cNvSpPr/>
          <p:nvPr/>
        </p:nvSpPr>
        <p:spPr>
          <a:xfrm>
            <a:off x="812800" y="21082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00B7C3"/>
                </a:solidFill>
                <a:latin typeface="Calibri" pitchFamily="34" charset="0"/>
                <a:ea typeface="Calibri" pitchFamily="34" charset="-122"/>
                <a:cs typeface="Calibri" pitchFamily="34" charset="-120"/>
              </a:rPr>
              <a:t>ZNEXORA TECH | SECURITY BRIEFING</a:t>
            </a:r>
            <a:endParaRPr lang="en-US" sz="1600" dirty="0"/>
          </a:p>
        </p:txBody>
      </p:sp>
      <p:sp>
        <p:nvSpPr>
          <p:cNvPr id="5" name="Text 1"/>
          <p:cNvSpPr/>
          <p:nvPr>
            <p:ph type="title"/>
          </p:nvPr>
        </p:nvSpPr>
        <p:spPr>
          <a:xfrm>
            <a:off x="812800" y="2646660"/>
            <a:ext cx="6540500"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4F7FB"/>
                </a:solidFill>
                <a:latin typeface="Arial" pitchFamily="34" charset="0"/>
                <a:ea typeface="Arial" pitchFamily="34" charset="-122"/>
                <a:cs typeface="Arial" pitchFamily="34" charset="-120"/>
              </a:rPr>
              <a:t>Web Defacement Awareness</a:t>
            </a:r>
            <a:endParaRPr lang="en-US" sz="5600" dirty="0"/>
          </a:p>
        </p:txBody>
      </p:sp>
      <p:sp>
        <p:nvSpPr>
          <p:cNvPr id="6" name="Text 2"/>
          <p:cNvSpPr/>
          <p:nvPr/>
        </p:nvSpPr>
        <p:spPr>
          <a:xfrm>
            <a:off x="812800" y="4394101"/>
            <a:ext cx="65532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ADCFC"/>
                </a:solidFill>
                <a:latin typeface="Calibri" pitchFamily="34" charset="0"/>
                <a:ea typeface="Calibri" pitchFamily="34" charset="-122"/>
                <a:cs typeface="Calibri" pitchFamily="34" charset="-120"/>
              </a:rPr>
              <a:t>Protecting our website, our reputation and our visitors.</a:t>
            </a:r>
            <a:endParaRPr lang="en-US" sz="2000" dirty="0"/>
          </a:p>
        </p:txBody>
      </p:sp>
      <p:sp>
        <p:nvSpPr>
          <p:cNvPr id="7"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Presented by: </a:t>
            </a:r>
            <a:r>
              <a:rPr lang="en-US" sz="1200" b="1" dirty="0">
                <a:solidFill>
                  <a:srgbClr val="FFFFFF"/>
                </a:solidFill>
                <a:latin typeface="Calibri" pitchFamily="34" charset="0"/>
                <a:ea typeface="Calibri" pitchFamily="34" charset="-122"/>
                <a:cs typeface="Calibri" pitchFamily="34" charset="-120"/>
              </a:rPr>
              <a:t>ZNexora Tech</a:t>
            </a:r>
            <a:r>
              <a:rPr lang="en-US" sz="1200" dirty="0">
                <a:solidFill>
                  <a:srgbClr val="9FB3C8"/>
                </a:solidFill>
                <a:latin typeface="Calibri" pitchFamily="34" charset="0"/>
                <a:ea typeface="Calibri" pitchFamily="34" charset="-122"/>
                <a:cs typeface="Calibri" pitchFamily="34" charset="-120"/>
              </a:rPr>
              <a:t> · [Presenter]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01 · UNDERSTANDING THE THREAT</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What is web defacement?</a:t>
            </a:r>
            <a:endParaRPr lang="en-US" sz="3600" dirty="0"/>
          </a:p>
        </p:txBody>
      </p:sp>
      <p:sp>
        <p:nvSpPr>
          <p:cNvPr id="5" name="Text 2"/>
          <p:cNvSpPr/>
          <p:nvPr/>
        </p:nvSpPr>
        <p:spPr>
          <a:xfrm>
            <a:off x="812800" y="2178050"/>
            <a:ext cx="6540500" cy="1213941"/>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0A1628"/>
                </a:solidFill>
                <a:latin typeface="Arial" pitchFamily="34" charset="0"/>
                <a:ea typeface="Arial" pitchFamily="34" charset="-122"/>
                <a:cs typeface="Arial" pitchFamily="34" charset="-120"/>
              </a:rPr>
              <a:t>An attack where someone gains access to a website and </a:t>
            </a:r>
            <a:r>
              <a:rPr lang="en-US" sz="2600" b="1" dirty="0">
                <a:solidFill>
                  <a:srgbClr val="0078D4"/>
                </a:solidFill>
                <a:latin typeface="Arial" pitchFamily="34" charset="0"/>
                <a:ea typeface="Arial" pitchFamily="34" charset="-122"/>
                <a:cs typeface="Arial" pitchFamily="34" charset="-120"/>
              </a:rPr>
              <a:t>changes what visitors see</a:t>
            </a:r>
            <a:r>
              <a:rPr lang="en-US" sz="2600" b="1" dirty="0">
                <a:solidFill>
                  <a:srgbClr val="0A1628"/>
                </a:solidFill>
                <a:latin typeface="Arial" pitchFamily="34" charset="0"/>
                <a:ea typeface="Arial" pitchFamily="34" charset="-122"/>
                <a:cs typeface="Arial" pitchFamily="34" charset="-120"/>
              </a:rPr>
              <a:t>.</a:t>
            </a:r>
            <a:endParaRPr lang="en-US" sz="2600" dirty="0"/>
          </a:p>
        </p:txBody>
      </p:sp>
      <p:sp>
        <p:nvSpPr>
          <p:cNvPr id="6" name="Text 3"/>
          <p:cNvSpPr/>
          <p:nvPr/>
        </p:nvSpPr>
        <p:spPr>
          <a:xfrm>
            <a:off x="812800" y="3569791"/>
            <a:ext cx="6350000" cy="889000"/>
          </a:xfrm>
          <a:prstGeom prst="roundRect">
            <a:avLst>
              <a:gd name="adj" fmla="val 11429"/>
            </a:avLst>
          </a:prstGeom>
          <a:solidFill>
            <a:srgbClr val="EAF3FC"/>
          </a:solidFill>
          <a:ln/>
        </p:spPr>
        <p:txBody>
          <a:bodyPr wrap="square" lIns="198842" tIns="148042" rIns="22058" bIns="122642" rtlCol="0" anchor="t">
            <a:normAutofit/>
          </a:bodyPr>
          <a:lstStyle/>
          <a:p>
            <a:pPr algn="l" indent="0" marL="0">
              <a:lnSpc>
                <a:spcPts val="2100"/>
              </a:lnSpc>
              <a:buNone/>
            </a:pPr>
            <a:r>
              <a:rPr lang="en-US" sz="1500" dirty="0">
                <a:solidFill>
                  <a:srgbClr val="0A1628"/>
                </a:solidFill>
                <a:latin typeface="Calibri" pitchFamily="34" charset="0"/>
                <a:ea typeface="Calibri" pitchFamily="34" charset="-122"/>
                <a:cs typeface="Calibri" pitchFamily="34" charset="-120"/>
              </a:rPr>
              <a:t>Pages may be replaced with </a:t>
            </a:r>
            <a:r>
              <a:rPr lang="en-US" sz="1500" b="1" dirty="0">
                <a:solidFill>
                  <a:srgbClr val="0A1628"/>
                </a:solidFill>
                <a:latin typeface="Calibri" pitchFamily="34" charset="0"/>
                <a:ea typeface="Calibri" pitchFamily="34" charset="-122"/>
                <a:cs typeface="Calibri" pitchFamily="34" charset="-120"/>
              </a:rPr>
              <a:t>messages, images or political slogans</a:t>
            </a:r>
            <a:r>
              <a:rPr lang="en-US" sz="1500" dirty="0">
                <a:solidFill>
                  <a:srgbClr val="0A1628"/>
                </a:solidFill>
                <a:latin typeface="Calibri" pitchFamily="34" charset="0"/>
                <a:ea typeface="Calibri" pitchFamily="34" charset="-122"/>
                <a:cs typeface="Calibri" pitchFamily="34" charset="-120"/>
              </a:rPr>
              <a:t>, or quietly altered with </a:t>
            </a:r>
            <a:r>
              <a:rPr lang="en-US" sz="1500" b="1" dirty="0">
                <a:solidFill>
                  <a:srgbClr val="0A1628"/>
                </a:solidFill>
                <a:latin typeface="Calibri" pitchFamily="34" charset="0"/>
                <a:ea typeface="Calibri" pitchFamily="34" charset="-122"/>
                <a:cs typeface="Calibri" pitchFamily="34" charset="-120"/>
              </a:rPr>
              <a:t>fake links and hidden code</a:t>
            </a:r>
            <a:r>
              <a:rPr lang="en-US" sz="1500" dirty="0">
                <a:solidFill>
                  <a:srgbClr val="0A1628"/>
                </a:solidFill>
                <a:latin typeface="Calibri" pitchFamily="34" charset="0"/>
                <a:ea typeface="Calibri" pitchFamily="34" charset="-122"/>
                <a:cs typeface="Calibri" pitchFamily="34" charset="-120"/>
              </a:rPr>
              <a:t>.</a:t>
            </a:r>
            <a:endParaRPr lang="en-US" sz="1500" dirty="0"/>
          </a:p>
        </p:txBody>
      </p:sp>
      <p:sp>
        <p:nvSpPr>
          <p:cNvPr id="7" name="Text 4"/>
          <p:cNvSpPr/>
          <p:nvPr/>
        </p:nvSpPr>
        <p:spPr>
          <a:xfrm>
            <a:off x="812800" y="4661991"/>
            <a:ext cx="6350000" cy="622300"/>
          </a:xfrm>
          <a:prstGeom prst="roundRect">
            <a:avLst>
              <a:gd name="adj" fmla="val 16327"/>
            </a:avLst>
          </a:prstGeom>
          <a:solidFill>
            <a:srgbClr val="FDEBDD"/>
          </a:solidFill>
          <a:ln/>
        </p:spPr>
        <p:txBody>
          <a:bodyPr wrap="square" lIns="198842" tIns="148042" rIns="22058" bIns="122642" rtlCol="0" anchor="t">
            <a:normAutofit/>
          </a:bodyPr>
          <a:lstStyle/>
          <a:p>
            <a:pPr algn="l" indent="0" marL="0">
              <a:lnSpc>
                <a:spcPts val="2100"/>
              </a:lnSpc>
              <a:buNone/>
            </a:pPr>
            <a:r>
              <a:rPr lang="en-US" sz="1500" dirty="0">
                <a:solidFill>
                  <a:srgbClr val="0A1628"/>
                </a:solidFill>
                <a:latin typeface="Calibri" pitchFamily="34" charset="0"/>
                <a:ea typeface="Calibri" pitchFamily="34" charset="-122"/>
                <a:cs typeface="Calibri" pitchFamily="34" charset="-120"/>
              </a:rPr>
              <a:t>It is the </a:t>
            </a:r>
            <a:r>
              <a:rPr lang="en-US" sz="1500" b="1" dirty="0">
                <a:solidFill>
                  <a:srgbClr val="0A1628"/>
                </a:solidFill>
                <a:latin typeface="Calibri" pitchFamily="34" charset="0"/>
                <a:ea typeface="Calibri" pitchFamily="34" charset="-122"/>
                <a:cs typeface="Calibri" pitchFamily="34" charset="-120"/>
              </a:rPr>
              <a:t>visible symptom</a:t>
            </a:r>
            <a:r>
              <a:rPr lang="en-US" sz="1500" dirty="0">
                <a:solidFill>
                  <a:srgbClr val="0A1628"/>
                </a:solidFill>
                <a:latin typeface="Calibri" pitchFamily="34" charset="0"/>
                <a:ea typeface="Calibri" pitchFamily="34" charset="-122"/>
                <a:cs typeface="Calibri" pitchFamily="34" charset="-120"/>
              </a:rPr>
              <a:t> of a security breach.</a:t>
            </a:r>
            <a:endParaRPr lang="en-US" sz="1500" dirty="0"/>
          </a:p>
        </p:txBody>
      </p:sp>
      <p:pic>
        <p:nvPicPr>
          <p:cNvPr id="8" name="Image 1" descr="Before and after: a normal web page, and the same page defaced">    </p:cNvPr>
          <p:cNvPicPr>
            <a:picLocks noChangeAspect="1"/>
          </p:cNvPicPr>
          <p:nvPr/>
        </p:nvPicPr>
        <p:blipFill>
          <a:blip r:embed="rId2"/>
          <a:srcRect l="0" r="0" t="0" b="0"/>
          <a:stretch/>
        </p:blipFill>
        <p:spPr>
          <a:xfrm>
            <a:off x="7569200" y="1826220"/>
            <a:ext cx="3810000" cy="3810000"/>
          </a:xfrm>
          <a:prstGeom prst="rect">
            <a:avLst/>
          </a:prstGeom>
        </p:spPr>
      </p:pic>
      <p:sp>
        <p:nvSpPr>
          <p:cNvPr id="9"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Web Defacement Awareness</a:t>
            </a:r>
            <a:endParaRPr lang="en-US" sz="1200" dirty="0"/>
          </a:p>
        </p:txBody>
      </p:sp>
      <p:sp>
        <p:nvSpPr>
          <p:cNvPr id="10" name="Text 6"/>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02 · THE BUSINESS IMPACT</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Why web defacement matters</a:t>
            </a:r>
            <a:endParaRPr lang="en-US" sz="3600" dirty="0"/>
          </a:p>
        </p:txBody>
      </p:sp>
      <p:sp>
        <p:nvSpPr>
          <p:cNvPr id="5" name="Shape 2"/>
          <p:cNvSpPr/>
          <p:nvPr/>
        </p:nvSpPr>
        <p:spPr>
          <a:xfrm>
            <a:off x="812800" y="1620441"/>
            <a:ext cx="2508250" cy="4221559"/>
          </a:xfrm>
          <a:prstGeom prst="roundRect">
            <a:avLst>
              <a:gd name="adj" fmla="val 4051"/>
            </a:avLst>
          </a:prstGeom>
          <a:solidFill>
            <a:srgbClr val="FFFFFF"/>
          </a:solidFill>
          <a:ln/>
          <a:effectLst>
            <a:outerShdw sx="100000" sy="100000" kx="0" ky="0" algn="bl" rotWithShape="0" blurRad="101600" dist="25400" dir="5400000">
              <a:srgbClr val="C9D6E3">
                <a:alpha val="100000"/>
              </a:srgbClr>
            </a:outerShdw>
          </a:effectLst>
        </p:spPr>
      </p:sp>
      <p:pic>
        <p:nvPicPr>
          <p:cNvPr id="6" name="Image 1" descr="Broken heart">    </p:cNvPr>
          <p:cNvPicPr>
            <a:picLocks noChangeAspect="1"/>
          </p:cNvPicPr>
          <p:nvPr/>
        </p:nvPicPr>
        <p:blipFill>
          <a:blip r:embed="rId2"/>
          <a:srcRect l="0" r="0" t="0" b="0"/>
          <a:stretch/>
        </p:blipFill>
        <p:spPr>
          <a:xfrm>
            <a:off x="1041400" y="1899841"/>
            <a:ext cx="711200" cy="711200"/>
          </a:xfrm>
          <a:prstGeom prst="rect">
            <a:avLst/>
          </a:prstGeom>
        </p:spPr>
      </p:pic>
      <p:sp>
        <p:nvSpPr>
          <p:cNvPr id="7" name="Text 3"/>
          <p:cNvSpPr/>
          <p:nvPr/>
        </p:nvSpPr>
        <p:spPr>
          <a:xfrm>
            <a:off x="1041400" y="2725341"/>
            <a:ext cx="2112582"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1628"/>
                </a:solidFill>
                <a:latin typeface="Calibri" pitchFamily="34" charset="0"/>
                <a:ea typeface="Calibri" pitchFamily="34" charset="-122"/>
                <a:cs typeface="Calibri" pitchFamily="34" charset="-120"/>
              </a:rPr>
              <a:t>Reputation and trust</a:t>
            </a:r>
            <a:endParaRPr lang="en-US" sz="1800" dirty="0"/>
          </a:p>
        </p:txBody>
      </p:sp>
      <p:sp>
        <p:nvSpPr>
          <p:cNvPr id="8" name="Text 4"/>
          <p:cNvSpPr/>
          <p:nvPr/>
        </p:nvSpPr>
        <p:spPr>
          <a:xfrm>
            <a:off x="1041400" y="3388122"/>
            <a:ext cx="211258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Customers and partners lose confidence in our security.</a:t>
            </a:r>
            <a:endParaRPr lang="en-US" sz="1400" dirty="0"/>
          </a:p>
        </p:txBody>
      </p:sp>
      <p:sp>
        <p:nvSpPr>
          <p:cNvPr id="9" name="Shape 5"/>
          <p:cNvSpPr/>
          <p:nvPr/>
        </p:nvSpPr>
        <p:spPr>
          <a:xfrm>
            <a:off x="3498850" y="1620441"/>
            <a:ext cx="2508250" cy="4221559"/>
          </a:xfrm>
          <a:prstGeom prst="roundRect">
            <a:avLst>
              <a:gd name="adj" fmla="val 4051"/>
            </a:avLst>
          </a:prstGeom>
          <a:solidFill>
            <a:srgbClr val="FFFFFF"/>
          </a:solidFill>
          <a:ln/>
          <a:effectLst>
            <a:outerShdw sx="100000" sy="100000" kx="0" ky="0" algn="bl" rotWithShape="0" blurRad="101600" dist="25400" dir="5400000">
              <a:srgbClr val="C9D6E3">
                <a:alpha val="100000"/>
              </a:srgbClr>
            </a:outerShdw>
          </a:effectLst>
        </p:spPr>
      </p:sp>
      <p:pic>
        <p:nvPicPr>
          <p:cNvPr id="10" name="Image 2" descr="Website offline">    </p:cNvPr>
          <p:cNvPicPr>
            <a:picLocks noChangeAspect="1"/>
          </p:cNvPicPr>
          <p:nvPr/>
        </p:nvPicPr>
        <p:blipFill>
          <a:blip r:embed="rId3"/>
          <a:srcRect l="0" r="0" t="0" b="0"/>
          <a:stretch/>
        </p:blipFill>
        <p:spPr>
          <a:xfrm>
            <a:off x="3727450" y="1899841"/>
            <a:ext cx="711200" cy="711200"/>
          </a:xfrm>
          <a:prstGeom prst="rect">
            <a:avLst/>
          </a:prstGeom>
        </p:spPr>
      </p:pic>
      <p:sp>
        <p:nvSpPr>
          <p:cNvPr id="11" name="Text 6"/>
          <p:cNvSpPr/>
          <p:nvPr/>
        </p:nvSpPr>
        <p:spPr>
          <a:xfrm>
            <a:off x="3727450" y="2725341"/>
            <a:ext cx="227965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1628"/>
                </a:solidFill>
                <a:latin typeface="Calibri" pitchFamily="34" charset="0"/>
                <a:ea typeface="Calibri" pitchFamily="34" charset="-122"/>
                <a:cs typeface="Calibri" pitchFamily="34" charset="-120"/>
              </a:rPr>
              <a:t>Service disruption</a:t>
            </a:r>
            <a:endParaRPr lang="en-US" sz="1800" dirty="0"/>
          </a:p>
        </p:txBody>
      </p:sp>
      <p:sp>
        <p:nvSpPr>
          <p:cNvPr id="12" name="Text 7"/>
          <p:cNvSpPr/>
          <p:nvPr/>
        </p:nvSpPr>
        <p:spPr>
          <a:xfrm>
            <a:off x="3727450" y="3113881"/>
            <a:ext cx="211258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The site may need to go offline while we investigate and recover.</a:t>
            </a:r>
            <a:endParaRPr lang="en-US" sz="1400" dirty="0"/>
          </a:p>
        </p:txBody>
      </p:sp>
      <p:sp>
        <p:nvSpPr>
          <p:cNvPr id="13" name="Shape 8"/>
          <p:cNvSpPr/>
          <p:nvPr/>
        </p:nvSpPr>
        <p:spPr>
          <a:xfrm>
            <a:off x="6184900" y="1620441"/>
            <a:ext cx="2508250" cy="4221559"/>
          </a:xfrm>
          <a:prstGeom prst="roundRect">
            <a:avLst>
              <a:gd name="adj" fmla="val 4051"/>
            </a:avLst>
          </a:prstGeom>
          <a:solidFill>
            <a:srgbClr val="FFFFFF"/>
          </a:solidFill>
          <a:ln/>
          <a:effectLst>
            <a:outerShdw sx="100000" sy="100000" kx="0" ky="0" algn="bl" rotWithShape="0" blurRad="101600" dist="25400" dir="5400000">
              <a:srgbClr val="C9D6E3">
                <a:alpha val="100000"/>
              </a:srgbClr>
            </a:outerShdw>
          </a:effectLst>
        </p:spPr>
      </p:sp>
      <p:pic>
        <p:nvPicPr>
          <p:cNvPr id="14" name="Image 3" descr="Iceberg: hidden compromise">    </p:cNvPr>
          <p:cNvPicPr>
            <a:picLocks noChangeAspect="1"/>
          </p:cNvPicPr>
          <p:nvPr/>
        </p:nvPicPr>
        <p:blipFill>
          <a:blip r:embed="rId4"/>
          <a:srcRect l="0" r="0" t="0" b="0"/>
          <a:stretch/>
        </p:blipFill>
        <p:spPr>
          <a:xfrm>
            <a:off x="6413500" y="1899841"/>
            <a:ext cx="711200" cy="711200"/>
          </a:xfrm>
          <a:prstGeom prst="rect">
            <a:avLst/>
          </a:prstGeom>
        </p:spPr>
      </p:pic>
      <p:sp>
        <p:nvSpPr>
          <p:cNvPr id="15" name="Text 9"/>
          <p:cNvSpPr/>
          <p:nvPr/>
        </p:nvSpPr>
        <p:spPr>
          <a:xfrm>
            <a:off x="6413500" y="2725341"/>
            <a:ext cx="211258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1628"/>
                </a:solidFill>
                <a:latin typeface="Calibri" pitchFamily="34" charset="0"/>
                <a:ea typeface="Calibri" pitchFamily="34" charset="-122"/>
                <a:cs typeface="Calibri" pitchFamily="34" charset="-120"/>
              </a:rPr>
              <a:t>A deeper breach</a:t>
            </a:r>
            <a:endParaRPr lang="en-US" sz="1800" dirty="0"/>
          </a:p>
        </p:txBody>
      </p:sp>
      <p:sp>
        <p:nvSpPr>
          <p:cNvPr id="16" name="Text 10"/>
          <p:cNvSpPr/>
          <p:nvPr/>
        </p:nvSpPr>
        <p:spPr>
          <a:xfrm>
            <a:off x="6413500" y="3113881"/>
            <a:ext cx="211258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Attackers may also have stolen data or planted malware.</a:t>
            </a:r>
            <a:endParaRPr lang="en-US" sz="1400" dirty="0"/>
          </a:p>
        </p:txBody>
      </p:sp>
      <p:sp>
        <p:nvSpPr>
          <p:cNvPr id="17" name="Shape 11"/>
          <p:cNvSpPr/>
          <p:nvPr/>
        </p:nvSpPr>
        <p:spPr>
          <a:xfrm>
            <a:off x="8870950" y="1620441"/>
            <a:ext cx="2508250" cy="4221559"/>
          </a:xfrm>
          <a:prstGeom prst="roundRect">
            <a:avLst>
              <a:gd name="adj" fmla="val 4051"/>
            </a:avLst>
          </a:prstGeom>
          <a:solidFill>
            <a:srgbClr val="FFFFFF"/>
          </a:solidFill>
          <a:ln/>
          <a:effectLst>
            <a:outerShdw sx="100000" sy="100000" kx="0" ky="0" algn="bl" rotWithShape="0" blurRad="101600" dist="25400" dir="5400000">
              <a:srgbClr val="C9D6E3">
                <a:alpha val="100000"/>
              </a:srgbClr>
            </a:outerShdw>
          </a:effectLst>
        </p:spPr>
      </p:sp>
      <p:pic>
        <p:nvPicPr>
          <p:cNvPr id="18" name="Image 4" descr="Legal scales">    </p:cNvPr>
          <p:cNvPicPr>
            <a:picLocks noChangeAspect="1"/>
          </p:cNvPicPr>
          <p:nvPr/>
        </p:nvPicPr>
        <p:blipFill>
          <a:blip r:embed="rId5"/>
          <a:srcRect l="0" r="0" t="0" b="0"/>
          <a:stretch/>
        </p:blipFill>
        <p:spPr>
          <a:xfrm>
            <a:off x="9099550" y="1899841"/>
            <a:ext cx="711200" cy="711200"/>
          </a:xfrm>
          <a:prstGeom prst="rect">
            <a:avLst/>
          </a:prstGeom>
        </p:spPr>
      </p:pic>
      <p:sp>
        <p:nvSpPr>
          <p:cNvPr id="19" name="Text 12"/>
          <p:cNvSpPr/>
          <p:nvPr/>
        </p:nvSpPr>
        <p:spPr>
          <a:xfrm>
            <a:off x="9099550" y="2725341"/>
            <a:ext cx="211258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1628"/>
                </a:solidFill>
                <a:latin typeface="Calibri" pitchFamily="34" charset="0"/>
                <a:ea typeface="Calibri" pitchFamily="34" charset="-122"/>
                <a:cs typeface="Calibri" pitchFamily="34" charset="-120"/>
              </a:rPr>
              <a:t>Legal exposure</a:t>
            </a:r>
            <a:endParaRPr lang="en-US" sz="1800" dirty="0"/>
          </a:p>
        </p:txBody>
      </p:sp>
      <p:sp>
        <p:nvSpPr>
          <p:cNvPr id="20" name="Text 13"/>
          <p:cNvSpPr/>
          <p:nvPr/>
        </p:nvSpPr>
        <p:spPr>
          <a:xfrm>
            <a:off x="9099550" y="3113881"/>
            <a:ext cx="211258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Possible regulatory reporting duties if personal data is affected.</a:t>
            </a:r>
            <a:endParaRPr lang="en-US" sz="1400" dirty="0"/>
          </a:p>
        </p:txBody>
      </p:sp>
      <p:sp>
        <p:nvSpPr>
          <p:cNvPr id="21"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Web Defacement Awareness</a:t>
            </a:r>
            <a:endParaRPr lang="en-US" sz="1200" dirty="0"/>
          </a:p>
        </p:txBody>
      </p:sp>
      <p:sp>
        <p:nvSpPr>
          <p:cNvPr id="22" name="Text 15"/>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03 · KNOW YOUR ADVERSARY</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Who defaces websites, and why</a:t>
            </a:r>
            <a:endParaRPr lang="en-US" sz="3600" dirty="0"/>
          </a:p>
        </p:txBody>
      </p:sp>
      <p:sp>
        <p:nvSpPr>
          <p:cNvPr id="5" name="Shape 2"/>
          <p:cNvSpPr/>
          <p:nvPr/>
        </p:nvSpPr>
        <p:spPr>
          <a:xfrm>
            <a:off x="812800" y="1569641"/>
            <a:ext cx="3386634" cy="3383359"/>
          </a:xfrm>
          <a:prstGeom prst="roundRect">
            <a:avLst>
              <a:gd name="adj" fmla="val 3003"/>
            </a:avLst>
          </a:prstGeom>
          <a:solidFill>
            <a:srgbClr val="FFFFFF"/>
          </a:solidFill>
          <a:ln/>
          <a:effectLst>
            <a:outerShdw sx="100000" sy="100000" kx="0" ky="0" algn="bl" rotWithShape="0" blurRad="101600" dist="25400" dir="5400000">
              <a:srgbClr val="C9D6E3">
                <a:alpha val="100000"/>
              </a:srgbClr>
            </a:outerShdw>
          </a:effectLst>
        </p:spPr>
      </p:sp>
      <p:pic>
        <p:nvPicPr>
          <p:cNvPr id="6" name="Image 1" descr="Megaphone">    </p:cNvPr>
          <p:cNvPicPr>
            <a:picLocks noChangeAspect="1"/>
          </p:cNvPicPr>
          <p:nvPr/>
        </p:nvPicPr>
        <p:blipFill>
          <a:blip r:embed="rId2"/>
          <a:srcRect l="0" r="0" t="0" b="0"/>
          <a:stretch/>
        </p:blipFill>
        <p:spPr>
          <a:xfrm>
            <a:off x="1066800" y="1849041"/>
            <a:ext cx="711200" cy="711200"/>
          </a:xfrm>
          <a:prstGeom prst="rect">
            <a:avLst/>
          </a:prstGeom>
        </p:spPr>
      </p:pic>
      <p:sp>
        <p:nvSpPr>
          <p:cNvPr id="7" name="Text 3"/>
          <p:cNvSpPr/>
          <p:nvPr/>
        </p:nvSpPr>
        <p:spPr>
          <a:xfrm>
            <a:off x="1066800" y="2674541"/>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A1628"/>
                </a:solidFill>
                <a:latin typeface="Calibri" pitchFamily="34" charset="0"/>
                <a:ea typeface="Calibri" pitchFamily="34" charset="-122"/>
                <a:cs typeface="Calibri" pitchFamily="34" charset="-120"/>
              </a:rPr>
              <a:t>Hacktivists</a:t>
            </a:r>
            <a:endParaRPr lang="en-US" sz="2000" dirty="0"/>
          </a:p>
        </p:txBody>
      </p:sp>
      <p:sp>
        <p:nvSpPr>
          <p:cNvPr id="8" name="Text 4"/>
          <p:cNvSpPr/>
          <p:nvPr/>
        </p:nvSpPr>
        <p:spPr>
          <a:xfrm>
            <a:off x="1066800" y="3093641"/>
            <a:ext cx="296499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6B"/>
                </a:solidFill>
                <a:latin typeface="Calibri" pitchFamily="34" charset="0"/>
                <a:ea typeface="Calibri" pitchFamily="34" charset="-122"/>
                <a:cs typeface="Calibri" pitchFamily="34" charset="-120"/>
              </a:rPr>
              <a:t>Spread political or social messages to a wide audience.</a:t>
            </a:r>
            <a:endParaRPr lang="en-US" sz="1500" dirty="0"/>
          </a:p>
        </p:txBody>
      </p:sp>
      <p:sp>
        <p:nvSpPr>
          <p:cNvPr id="9" name="Shape 5"/>
          <p:cNvSpPr/>
          <p:nvPr/>
        </p:nvSpPr>
        <p:spPr>
          <a:xfrm>
            <a:off x="4402634" y="1569641"/>
            <a:ext cx="3386733" cy="3383359"/>
          </a:xfrm>
          <a:prstGeom prst="roundRect">
            <a:avLst>
              <a:gd name="adj" fmla="val 3003"/>
            </a:avLst>
          </a:prstGeom>
          <a:solidFill>
            <a:srgbClr val="FFFFFF"/>
          </a:solidFill>
          <a:ln/>
          <a:effectLst>
            <a:outerShdw sx="100000" sy="100000" kx="0" ky="0" algn="bl" rotWithShape="0" blurRad="101600" dist="25400" dir="5400000">
              <a:srgbClr val="C9D6E3">
                <a:alpha val="100000"/>
              </a:srgbClr>
            </a:outerShdw>
          </a:effectLst>
        </p:spPr>
      </p:sp>
      <p:pic>
        <p:nvPicPr>
          <p:cNvPr id="10" name="Image 2" descr="Trophy">    </p:cNvPr>
          <p:cNvPicPr>
            <a:picLocks noChangeAspect="1"/>
          </p:cNvPicPr>
          <p:nvPr/>
        </p:nvPicPr>
        <p:blipFill>
          <a:blip r:embed="rId3"/>
          <a:srcRect l="0" r="0" t="0" b="0"/>
          <a:stretch/>
        </p:blipFill>
        <p:spPr>
          <a:xfrm>
            <a:off x="4656634" y="1849041"/>
            <a:ext cx="711200" cy="711200"/>
          </a:xfrm>
          <a:prstGeom prst="rect">
            <a:avLst/>
          </a:prstGeom>
        </p:spPr>
      </p:pic>
      <p:sp>
        <p:nvSpPr>
          <p:cNvPr id="11" name="Text 6"/>
          <p:cNvSpPr/>
          <p:nvPr/>
        </p:nvSpPr>
        <p:spPr>
          <a:xfrm>
            <a:off x="4656634" y="2674541"/>
            <a:ext cx="29650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A1628"/>
                </a:solidFill>
                <a:latin typeface="Calibri" pitchFamily="34" charset="0"/>
                <a:ea typeface="Calibri" pitchFamily="34" charset="-122"/>
                <a:cs typeface="Calibri" pitchFamily="34" charset="-120"/>
              </a:rPr>
              <a:t>Opportunists</a:t>
            </a:r>
            <a:endParaRPr lang="en-US" sz="2000" dirty="0"/>
          </a:p>
        </p:txBody>
      </p:sp>
      <p:sp>
        <p:nvSpPr>
          <p:cNvPr id="12" name="Text 7"/>
          <p:cNvSpPr/>
          <p:nvPr/>
        </p:nvSpPr>
        <p:spPr>
          <a:xfrm>
            <a:off x="4656634" y="3093641"/>
            <a:ext cx="296509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6B"/>
                </a:solidFill>
                <a:latin typeface="Calibri" pitchFamily="34" charset="0"/>
                <a:ea typeface="Calibri" pitchFamily="34" charset="-122"/>
                <a:cs typeface="Calibri" pitchFamily="34" charset="-120"/>
              </a:rPr>
              <a:t>Scan the internet for easy targets, often for bragging rights.</a:t>
            </a:r>
            <a:endParaRPr lang="en-US" sz="1500" dirty="0"/>
          </a:p>
        </p:txBody>
      </p:sp>
      <p:sp>
        <p:nvSpPr>
          <p:cNvPr id="13" name="Shape 8"/>
          <p:cNvSpPr/>
          <p:nvPr/>
        </p:nvSpPr>
        <p:spPr>
          <a:xfrm>
            <a:off x="7992566" y="1569641"/>
            <a:ext cx="3386634" cy="3383359"/>
          </a:xfrm>
          <a:prstGeom prst="roundRect">
            <a:avLst>
              <a:gd name="adj" fmla="val 3003"/>
            </a:avLst>
          </a:prstGeom>
          <a:solidFill>
            <a:srgbClr val="FFFFFF"/>
          </a:solidFill>
          <a:ln/>
          <a:effectLst>
            <a:outerShdw sx="100000" sy="100000" kx="0" ky="0" algn="bl" rotWithShape="0" blurRad="101600" dist="25400" dir="5400000">
              <a:srgbClr val="C9D6E3">
                <a:alpha val="100000"/>
              </a:srgbClr>
            </a:outerShdw>
          </a:effectLst>
        </p:spPr>
      </p:sp>
      <p:pic>
        <p:nvPicPr>
          <p:cNvPr id="14" name="Image 3" descr="Bug with money">    </p:cNvPr>
          <p:cNvPicPr>
            <a:picLocks noChangeAspect="1"/>
          </p:cNvPicPr>
          <p:nvPr/>
        </p:nvPicPr>
        <p:blipFill>
          <a:blip r:embed="rId4"/>
          <a:srcRect l="0" r="0" t="0" b="0"/>
          <a:stretch/>
        </p:blipFill>
        <p:spPr>
          <a:xfrm>
            <a:off x="8246566" y="1849041"/>
            <a:ext cx="711200" cy="711200"/>
          </a:xfrm>
          <a:prstGeom prst="rect">
            <a:avLst/>
          </a:prstGeom>
        </p:spPr>
      </p:pic>
      <p:sp>
        <p:nvSpPr>
          <p:cNvPr id="15" name="Text 9"/>
          <p:cNvSpPr/>
          <p:nvPr/>
        </p:nvSpPr>
        <p:spPr>
          <a:xfrm>
            <a:off x="8246566" y="2674541"/>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A1628"/>
                </a:solidFill>
                <a:latin typeface="Calibri" pitchFamily="34" charset="0"/>
                <a:ea typeface="Calibri" pitchFamily="34" charset="-122"/>
                <a:cs typeface="Calibri" pitchFamily="34" charset="-120"/>
              </a:rPr>
              <a:t>Cybercriminals</a:t>
            </a:r>
            <a:endParaRPr lang="en-US" sz="2000" dirty="0"/>
          </a:p>
        </p:txBody>
      </p:sp>
      <p:sp>
        <p:nvSpPr>
          <p:cNvPr id="16" name="Text 10"/>
          <p:cNvSpPr/>
          <p:nvPr/>
        </p:nvSpPr>
        <p:spPr>
          <a:xfrm>
            <a:off x="8246566" y="3093641"/>
            <a:ext cx="296499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6B"/>
                </a:solidFill>
                <a:latin typeface="Calibri" pitchFamily="34" charset="0"/>
                <a:ea typeface="Calibri" pitchFamily="34" charset="-122"/>
                <a:cs typeface="Calibri" pitchFamily="34" charset="-120"/>
              </a:rPr>
              <a:t>Hide malware, scam pages or spam links on trusted sites.</a:t>
            </a:r>
            <a:endParaRPr lang="en-US" sz="1500" dirty="0"/>
          </a:p>
        </p:txBody>
      </p:sp>
      <p:sp>
        <p:nvSpPr>
          <p:cNvPr id="17" name="Shape 11"/>
          <p:cNvSpPr/>
          <p:nvPr/>
        </p:nvSpPr>
        <p:spPr>
          <a:xfrm>
            <a:off x="812800" y="5207000"/>
            <a:ext cx="10566400" cy="635000"/>
          </a:xfrm>
          <a:prstGeom prst="roundRect">
            <a:avLst>
              <a:gd name="adj" fmla="val 16000"/>
            </a:avLst>
          </a:prstGeom>
          <a:solidFill>
            <a:srgbClr val="0A1628"/>
          </a:solidFill>
          <a:ln/>
        </p:spPr>
      </p:sp>
      <p:pic>
        <p:nvPicPr>
          <p:cNvPr id="18" name="Image 4" descr="Radar">    </p:cNvPr>
          <p:cNvPicPr>
            <a:picLocks noChangeAspect="1"/>
          </p:cNvPicPr>
          <p:nvPr/>
        </p:nvPicPr>
        <p:blipFill>
          <a:blip r:embed="rId5"/>
          <a:srcRect l="0" r="0" t="0" b="0"/>
          <a:stretch/>
        </p:blipFill>
        <p:spPr>
          <a:xfrm>
            <a:off x="1041400" y="5372100"/>
            <a:ext cx="304800" cy="304800"/>
          </a:xfrm>
          <a:prstGeom prst="rect">
            <a:avLst/>
          </a:prstGeom>
        </p:spPr>
      </p:pic>
      <p:sp>
        <p:nvSpPr>
          <p:cNvPr id="19" name="Text 12"/>
          <p:cNvSpPr/>
          <p:nvPr/>
        </p:nvSpPr>
        <p:spPr>
          <a:xfrm>
            <a:off x="1498600" y="5391150"/>
            <a:ext cx="879121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7FB"/>
                </a:solidFill>
                <a:latin typeface="Calibri" pitchFamily="34" charset="0"/>
                <a:ea typeface="Calibri" pitchFamily="34" charset="-122"/>
                <a:cs typeface="Calibri" pitchFamily="34" charset="-120"/>
              </a:rPr>
              <a:t>Most attacks are </a:t>
            </a:r>
            <a:r>
              <a:rPr lang="en-US" sz="1500" b="1" dirty="0">
                <a:solidFill>
                  <a:srgbClr val="00B7C3"/>
                </a:solidFill>
                <a:latin typeface="Calibri" pitchFamily="34" charset="0"/>
                <a:ea typeface="Calibri" pitchFamily="34" charset="-122"/>
                <a:cs typeface="Calibri" pitchFamily="34" charset="-120"/>
              </a:rPr>
              <a:t>automated and opportunistic</a:t>
            </a:r>
            <a:r>
              <a:rPr lang="en-US" sz="1500" dirty="0">
                <a:solidFill>
                  <a:srgbClr val="F4F7FB"/>
                </a:solidFill>
                <a:latin typeface="Calibri" pitchFamily="34" charset="0"/>
                <a:ea typeface="Calibri" pitchFamily="34" charset="-122"/>
                <a:cs typeface="Calibri" pitchFamily="34" charset="-120"/>
              </a:rPr>
              <a:t>: no website is too small to be a target.</a:t>
            </a:r>
            <a:endParaRPr lang="en-US" sz="1500" dirty="0"/>
          </a:p>
        </p:txBody>
      </p:sp>
      <p:sp>
        <p:nvSpPr>
          <p:cNvPr id="20"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Web Defacement Awareness</a:t>
            </a:r>
            <a:endParaRPr lang="en-US" sz="1200" dirty="0"/>
          </a:p>
        </p:txBody>
      </p:sp>
      <p:sp>
        <p:nvSpPr>
          <p:cNvPr id="21" name="Text 14"/>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04 · ATTACK VECTORS</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How attackers get in</a:t>
            </a:r>
            <a:endParaRPr lang="en-US" sz="3600" dirty="0"/>
          </a:p>
        </p:txBody>
      </p:sp>
      <p:sp>
        <p:nvSpPr>
          <p:cNvPr id="5" name="Shape 2"/>
          <p:cNvSpPr/>
          <p:nvPr/>
        </p:nvSpPr>
        <p:spPr>
          <a:xfrm>
            <a:off x="812800" y="2863056"/>
            <a:ext cx="3403600" cy="1638002"/>
          </a:xfrm>
          <a:prstGeom prst="roundRect">
            <a:avLst>
              <a:gd name="adj" fmla="val 6203"/>
            </a:avLst>
          </a:prstGeom>
          <a:solidFill>
            <a:srgbClr val="FFFFFF"/>
          </a:solidFill>
          <a:ln/>
          <a:effectLst>
            <a:outerShdw sx="100000" sy="100000" kx="0" ky="0" algn="bl" rotWithShape="0" blurRad="101600" dist="25400" dir="5400000">
              <a:srgbClr val="C9D6E3">
                <a:alpha val="100000"/>
              </a:srgbClr>
            </a:outerShdw>
          </a:effectLst>
        </p:spPr>
      </p:sp>
      <p:pic>
        <p:nvPicPr>
          <p:cNvPr id="6" name="Image 1" descr="Outdated plug-in">    </p:cNvPr>
          <p:cNvPicPr>
            <a:picLocks noChangeAspect="1"/>
          </p:cNvPicPr>
          <p:nvPr/>
        </p:nvPicPr>
        <p:blipFill>
          <a:blip r:embed="rId2"/>
          <a:srcRect l="0" r="0" t="0" b="0"/>
          <a:stretch/>
        </p:blipFill>
        <p:spPr>
          <a:xfrm>
            <a:off x="1016000" y="3066256"/>
            <a:ext cx="508000" cy="508000"/>
          </a:xfrm>
          <a:prstGeom prst="rect">
            <a:avLst/>
          </a:prstGeom>
        </p:spPr>
      </p:pic>
      <p:sp>
        <p:nvSpPr>
          <p:cNvPr id="7" name="Text 3"/>
          <p:cNvSpPr/>
          <p:nvPr/>
        </p:nvSpPr>
        <p:spPr>
          <a:xfrm>
            <a:off x="1676400" y="3066256"/>
            <a:ext cx="2406904"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1628"/>
                </a:solidFill>
                <a:latin typeface="Calibri" pitchFamily="34" charset="0"/>
                <a:ea typeface="Calibri" pitchFamily="34" charset="-122"/>
                <a:cs typeface="Calibri" pitchFamily="34" charset="-120"/>
              </a:rPr>
              <a:t>Outdated CMS and plug-ins</a:t>
            </a:r>
            <a:endParaRPr lang="en-US" sz="1600" dirty="0"/>
          </a:p>
        </p:txBody>
      </p:sp>
      <p:sp>
        <p:nvSpPr>
          <p:cNvPr id="8" name="Text 4"/>
          <p:cNvSpPr/>
          <p:nvPr/>
        </p:nvSpPr>
        <p:spPr>
          <a:xfrm>
            <a:off x="1676400" y="3604617"/>
            <a:ext cx="2406904"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Known flaws in WordPress, themes or plug-ins left unpatched.</a:t>
            </a:r>
            <a:endParaRPr lang="en-US" sz="1300" dirty="0"/>
          </a:p>
        </p:txBody>
      </p:sp>
      <p:sp>
        <p:nvSpPr>
          <p:cNvPr id="9" name="Shape 5"/>
          <p:cNvSpPr/>
          <p:nvPr/>
        </p:nvSpPr>
        <p:spPr>
          <a:xfrm>
            <a:off x="4394200" y="2863056"/>
            <a:ext cx="3403600" cy="1638002"/>
          </a:xfrm>
          <a:prstGeom prst="roundRect">
            <a:avLst>
              <a:gd name="adj" fmla="val 6203"/>
            </a:avLst>
          </a:prstGeom>
          <a:solidFill>
            <a:srgbClr val="FFFFFF"/>
          </a:solidFill>
          <a:ln/>
          <a:effectLst>
            <a:outerShdw sx="100000" sy="100000" kx="0" ky="0" algn="bl" rotWithShape="0" blurRad="101600" dist="25400" dir="5400000">
              <a:srgbClr val="C9D6E3">
                <a:alpha val="100000"/>
              </a:srgbClr>
            </a:outerShdw>
          </a:effectLst>
        </p:spPr>
      </p:sp>
      <p:pic>
        <p:nvPicPr>
          <p:cNvPr id="10" name="Image 2" descr="Stolen key">    </p:cNvPr>
          <p:cNvPicPr>
            <a:picLocks noChangeAspect="1"/>
          </p:cNvPicPr>
          <p:nvPr/>
        </p:nvPicPr>
        <p:blipFill>
          <a:blip r:embed="rId3"/>
          <a:srcRect l="0" r="0" t="0" b="0"/>
          <a:stretch/>
        </p:blipFill>
        <p:spPr>
          <a:xfrm>
            <a:off x="4597400" y="3066256"/>
            <a:ext cx="508000" cy="508000"/>
          </a:xfrm>
          <a:prstGeom prst="rect">
            <a:avLst/>
          </a:prstGeom>
        </p:spPr>
      </p:pic>
      <p:sp>
        <p:nvSpPr>
          <p:cNvPr id="11" name="Text 6"/>
          <p:cNvSpPr/>
          <p:nvPr/>
        </p:nvSpPr>
        <p:spPr>
          <a:xfrm>
            <a:off x="5257800" y="3066256"/>
            <a:ext cx="2406904"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1628"/>
                </a:solidFill>
                <a:latin typeface="Calibri" pitchFamily="34" charset="0"/>
                <a:ea typeface="Calibri" pitchFamily="34" charset="-122"/>
                <a:cs typeface="Calibri" pitchFamily="34" charset="-120"/>
              </a:rPr>
              <a:t>Weak or stolen passwords</a:t>
            </a:r>
            <a:endParaRPr lang="en-US" sz="1600" dirty="0"/>
          </a:p>
        </p:txBody>
      </p:sp>
      <p:sp>
        <p:nvSpPr>
          <p:cNvPr id="12" name="Text 7"/>
          <p:cNvSpPr/>
          <p:nvPr/>
        </p:nvSpPr>
        <p:spPr>
          <a:xfrm>
            <a:off x="5257800" y="3604617"/>
            <a:ext cx="24069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Admin logins guessed, reused, or phished from staff.</a:t>
            </a:r>
            <a:endParaRPr lang="en-US" sz="1300" dirty="0"/>
          </a:p>
        </p:txBody>
      </p:sp>
      <p:sp>
        <p:nvSpPr>
          <p:cNvPr id="13" name="Shape 8"/>
          <p:cNvSpPr/>
          <p:nvPr/>
        </p:nvSpPr>
        <p:spPr>
          <a:xfrm>
            <a:off x="7975600" y="2863056"/>
            <a:ext cx="3403600" cy="1638002"/>
          </a:xfrm>
          <a:prstGeom prst="roundRect">
            <a:avLst>
              <a:gd name="adj" fmla="val 6203"/>
            </a:avLst>
          </a:prstGeom>
          <a:solidFill>
            <a:srgbClr val="FFFFFF"/>
          </a:solidFill>
          <a:ln/>
          <a:effectLst>
            <a:outerShdw sx="100000" sy="100000" kx="0" ky="0" algn="bl" rotWithShape="0" blurRad="101600" dist="25400" dir="5400000">
              <a:srgbClr val="C9D6E3">
                <a:alpha val="100000"/>
              </a:srgbClr>
            </a:outerShdw>
          </a:effectLst>
        </p:spPr>
      </p:sp>
      <p:pic>
        <p:nvPicPr>
          <p:cNvPr id="14" name="Image 3" descr="Code injection">    </p:cNvPr>
          <p:cNvPicPr>
            <a:picLocks noChangeAspect="1"/>
          </p:cNvPicPr>
          <p:nvPr/>
        </p:nvPicPr>
        <p:blipFill>
          <a:blip r:embed="rId4"/>
          <a:srcRect l="0" r="0" t="0" b="0"/>
          <a:stretch/>
        </p:blipFill>
        <p:spPr>
          <a:xfrm>
            <a:off x="8178800" y="3066256"/>
            <a:ext cx="508000" cy="508000"/>
          </a:xfrm>
          <a:prstGeom prst="rect">
            <a:avLst/>
          </a:prstGeom>
        </p:spPr>
      </p:pic>
      <p:sp>
        <p:nvSpPr>
          <p:cNvPr id="15" name="Text 9"/>
          <p:cNvSpPr/>
          <p:nvPr/>
        </p:nvSpPr>
        <p:spPr>
          <a:xfrm>
            <a:off x="8839200" y="3066256"/>
            <a:ext cx="240690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1628"/>
                </a:solidFill>
                <a:latin typeface="Calibri" pitchFamily="34" charset="0"/>
                <a:ea typeface="Calibri" pitchFamily="34" charset="-122"/>
                <a:cs typeface="Calibri" pitchFamily="34" charset="-120"/>
              </a:rPr>
              <a:t>Injection flaws</a:t>
            </a:r>
            <a:endParaRPr lang="en-US" sz="1600" dirty="0"/>
          </a:p>
        </p:txBody>
      </p:sp>
      <p:sp>
        <p:nvSpPr>
          <p:cNvPr id="16" name="Text 10"/>
          <p:cNvSpPr/>
          <p:nvPr/>
        </p:nvSpPr>
        <p:spPr>
          <a:xfrm>
            <a:off x="8839200" y="3360837"/>
            <a:ext cx="24069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Insecure forms or code let attackers run commands.</a:t>
            </a:r>
            <a:endParaRPr lang="en-US" sz="1300" dirty="0"/>
          </a:p>
        </p:txBody>
      </p:sp>
      <p:sp>
        <p:nvSpPr>
          <p:cNvPr id="17" name="Shape 11"/>
          <p:cNvSpPr/>
          <p:nvPr/>
        </p:nvSpPr>
        <p:spPr>
          <a:xfrm>
            <a:off x="812800" y="4678859"/>
            <a:ext cx="3403600" cy="1163141"/>
          </a:xfrm>
          <a:prstGeom prst="roundRect">
            <a:avLst>
              <a:gd name="adj" fmla="val 8735"/>
            </a:avLst>
          </a:prstGeom>
          <a:solidFill>
            <a:srgbClr val="FFFFFF"/>
          </a:solidFill>
          <a:ln/>
          <a:effectLst>
            <a:outerShdw sx="100000" sy="100000" kx="0" ky="0" algn="bl" rotWithShape="0" blurRad="101600" dist="25400" dir="5400000">
              <a:srgbClr val="C9D6E3">
                <a:alpha val="100000"/>
              </a:srgbClr>
            </a:outerShdw>
          </a:effectLst>
        </p:spPr>
      </p:sp>
      <p:pic>
        <p:nvPicPr>
          <p:cNvPr id="18" name="Image 4" descr="File upload">    </p:cNvPr>
          <p:cNvPicPr>
            <a:picLocks noChangeAspect="1"/>
          </p:cNvPicPr>
          <p:nvPr/>
        </p:nvPicPr>
        <p:blipFill>
          <a:blip r:embed="rId5"/>
          <a:srcRect l="0" r="0" t="0" b="0"/>
          <a:stretch/>
        </p:blipFill>
        <p:spPr>
          <a:xfrm>
            <a:off x="1016000" y="4882059"/>
            <a:ext cx="508000" cy="508000"/>
          </a:xfrm>
          <a:prstGeom prst="rect">
            <a:avLst/>
          </a:prstGeom>
        </p:spPr>
      </p:pic>
      <p:sp>
        <p:nvSpPr>
          <p:cNvPr id="19" name="Text 12"/>
          <p:cNvSpPr/>
          <p:nvPr/>
        </p:nvSpPr>
        <p:spPr>
          <a:xfrm>
            <a:off x="1676400" y="4882059"/>
            <a:ext cx="240690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1628"/>
                </a:solidFill>
                <a:latin typeface="Calibri" pitchFamily="34" charset="0"/>
                <a:ea typeface="Calibri" pitchFamily="34" charset="-122"/>
                <a:cs typeface="Calibri" pitchFamily="34" charset="-120"/>
              </a:rPr>
              <a:t>Insecure file uploads</a:t>
            </a:r>
            <a:endParaRPr lang="en-US" sz="1600" dirty="0"/>
          </a:p>
        </p:txBody>
      </p:sp>
      <p:sp>
        <p:nvSpPr>
          <p:cNvPr id="20" name="Text 13"/>
          <p:cNvSpPr/>
          <p:nvPr/>
        </p:nvSpPr>
        <p:spPr>
          <a:xfrm>
            <a:off x="1676400" y="5176639"/>
            <a:ext cx="24069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Malicious files uploaded through forms or media tools.</a:t>
            </a:r>
            <a:endParaRPr lang="en-US" sz="1300" dirty="0"/>
          </a:p>
        </p:txBody>
      </p:sp>
      <p:sp>
        <p:nvSpPr>
          <p:cNvPr id="21" name="Shape 14"/>
          <p:cNvSpPr/>
          <p:nvPr/>
        </p:nvSpPr>
        <p:spPr>
          <a:xfrm>
            <a:off x="4394200" y="4678859"/>
            <a:ext cx="3403600" cy="1163141"/>
          </a:xfrm>
          <a:prstGeom prst="roundRect">
            <a:avLst>
              <a:gd name="adj" fmla="val 8735"/>
            </a:avLst>
          </a:prstGeom>
          <a:solidFill>
            <a:srgbClr val="FFFFFF"/>
          </a:solidFill>
          <a:ln/>
          <a:effectLst>
            <a:outerShdw sx="100000" sy="100000" kx="0" ky="0" algn="bl" rotWithShape="0" blurRad="101600" dist="25400" dir="5400000">
              <a:srgbClr val="C9D6E3">
                <a:alpha val="100000"/>
              </a:srgbClr>
            </a:outerShdw>
          </a:effectLst>
        </p:spPr>
      </p:sp>
      <p:pic>
        <p:nvPicPr>
          <p:cNvPr id="22" name="Image 5" descr="Server settings">    </p:cNvPr>
          <p:cNvPicPr>
            <a:picLocks noChangeAspect="1"/>
          </p:cNvPicPr>
          <p:nvPr/>
        </p:nvPicPr>
        <p:blipFill>
          <a:blip r:embed="rId6"/>
          <a:srcRect l="0" r="0" t="0" b="0"/>
          <a:stretch/>
        </p:blipFill>
        <p:spPr>
          <a:xfrm>
            <a:off x="4597400" y="4882059"/>
            <a:ext cx="508000" cy="508000"/>
          </a:xfrm>
          <a:prstGeom prst="rect">
            <a:avLst/>
          </a:prstGeom>
        </p:spPr>
      </p:pic>
      <p:sp>
        <p:nvSpPr>
          <p:cNvPr id="23" name="Text 15"/>
          <p:cNvSpPr/>
          <p:nvPr/>
        </p:nvSpPr>
        <p:spPr>
          <a:xfrm>
            <a:off x="5257800" y="4882059"/>
            <a:ext cx="240690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1628"/>
                </a:solidFill>
                <a:latin typeface="Calibri" pitchFamily="34" charset="0"/>
                <a:ea typeface="Calibri" pitchFamily="34" charset="-122"/>
                <a:cs typeface="Calibri" pitchFamily="34" charset="-120"/>
              </a:rPr>
              <a:t>Misconfigured servers</a:t>
            </a:r>
            <a:endParaRPr lang="en-US" sz="1600" dirty="0"/>
          </a:p>
        </p:txBody>
      </p:sp>
      <p:sp>
        <p:nvSpPr>
          <p:cNvPr id="24" name="Text 16"/>
          <p:cNvSpPr/>
          <p:nvPr/>
        </p:nvSpPr>
        <p:spPr>
          <a:xfrm>
            <a:off x="5257800" y="5176639"/>
            <a:ext cx="24069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Default settings, open admin panels, loose permissions.</a:t>
            </a:r>
            <a:endParaRPr lang="en-US" sz="1300" dirty="0"/>
          </a:p>
        </p:txBody>
      </p:sp>
      <p:sp>
        <p:nvSpPr>
          <p:cNvPr id="25" name="Shape 17"/>
          <p:cNvSpPr/>
          <p:nvPr/>
        </p:nvSpPr>
        <p:spPr>
          <a:xfrm>
            <a:off x="7975600" y="4678859"/>
            <a:ext cx="3403600" cy="1163141"/>
          </a:xfrm>
          <a:prstGeom prst="roundRect">
            <a:avLst>
              <a:gd name="adj" fmla="val 8735"/>
            </a:avLst>
          </a:prstGeom>
          <a:solidFill>
            <a:srgbClr val="FFFFFF"/>
          </a:solidFill>
          <a:ln/>
          <a:effectLst>
            <a:outerShdw sx="100000" sy="100000" kx="0" ky="0" algn="bl" rotWithShape="0" blurRad="101600" dist="25400" dir="5400000">
              <a:srgbClr val="C9D6E3">
                <a:alpha val="100000"/>
              </a:srgbClr>
            </a:outerShdw>
          </a:effectLst>
        </p:spPr>
      </p:sp>
      <p:pic>
        <p:nvPicPr>
          <p:cNvPr id="26" name="Image 6" descr="Third-party link">    </p:cNvPr>
          <p:cNvPicPr>
            <a:picLocks noChangeAspect="1"/>
          </p:cNvPicPr>
          <p:nvPr/>
        </p:nvPicPr>
        <p:blipFill>
          <a:blip r:embed="rId7"/>
          <a:srcRect l="0" r="0" t="0" b="0"/>
          <a:stretch/>
        </p:blipFill>
        <p:spPr>
          <a:xfrm>
            <a:off x="8178800" y="4882059"/>
            <a:ext cx="508000" cy="508000"/>
          </a:xfrm>
          <a:prstGeom prst="rect">
            <a:avLst/>
          </a:prstGeom>
        </p:spPr>
      </p:pic>
      <p:sp>
        <p:nvSpPr>
          <p:cNvPr id="27" name="Text 18"/>
          <p:cNvSpPr/>
          <p:nvPr/>
        </p:nvSpPr>
        <p:spPr>
          <a:xfrm>
            <a:off x="8839200" y="4882059"/>
            <a:ext cx="240690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1628"/>
                </a:solidFill>
                <a:latin typeface="Calibri" pitchFamily="34" charset="0"/>
                <a:ea typeface="Calibri" pitchFamily="34" charset="-122"/>
                <a:cs typeface="Calibri" pitchFamily="34" charset="-120"/>
              </a:rPr>
              <a:t>Third parties</a:t>
            </a:r>
            <a:endParaRPr lang="en-US" sz="1600" dirty="0"/>
          </a:p>
        </p:txBody>
      </p:sp>
      <p:sp>
        <p:nvSpPr>
          <p:cNvPr id="28" name="Text 19"/>
          <p:cNvSpPr/>
          <p:nvPr/>
        </p:nvSpPr>
        <p:spPr>
          <a:xfrm>
            <a:off x="8839200" y="5176639"/>
            <a:ext cx="24069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Compromised hosting, DNS accounts or web agencies.</a:t>
            </a:r>
            <a:endParaRPr lang="en-US" sz="1300" dirty="0"/>
          </a:p>
        </p:txBody>
      </p:sp>
      <p:sp>
        <p:nvSpPr>
          <p:cNvPr id="29"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Web Defacement Awareness</a:t>
            </a:r>
            <a:endParaRPr lang="en-US" sz="1200" dirty="0"/>
          </a:p>
        </p:txBody>
      </p:sp>
      <p:sp>
        <p:nvSpPr>
          <p:cNvPr id="30" name="Text 21"/>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B7C3"/>
                </a:solidFill>
                <a:latin typeface="Calibri" pitchFamily="34" charset="0"/>
                <a:ea typeface="Calibri" pitchFamily="34" charset="-122"/>
                <a:cs typeface="Calibri" pitchFamily="34" charset="-120"/>
              </a:rPr>
              <a:t>05 · ATTACK LIFECYCLE</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7FB"/>
                </a:solidFill>
                <a:latin typeface="Arial" pitchFamily="34" charset="0"/>
                <a:ea typeface="Arial" pitchFamily="34" charset="-122"/>
                <a:cs typeface="Arial" pitchFamily="34" charset="-120"/>
              </a:rPr>
              <a:t>How a defacement attack unfolds</a:t>
            </a:r>
            <a:endParaRPr lang="en-US" sz="3600" dirty="0"/>
          </a:p>
        </p:txBody>
      </p:sp>
      <p:sp>
        <p:nvSpPr>
          <p:cNvPr id="5" name="Shape 2"/>
          <p:cNvSpPr/>
          <p:nvPr/>
        </p:nvSpPr>
        <p:spPr>
          <a:xfrm>
            <a:off x="812800" y="2204839"/>
            <a:ext cx="1767780" cy="2463502"/>
          </a:xfrm>
          <a:prstGeom prst="roundRect">
            <a:avLst>
              <a:gd name="adj" fmla="val 5747"/>
            </a:avLst>
          </a:prstGeom>
          <a:solidFill>
            <a:srgbClr val="13294B"/>
          </a:solidFill>
          <a:ln/>
        </p:spPr>
      </p:sp>
      <p:pic>
        <p:nvPicPr>
          <p:cNvPr id="6" name="Image 1" descr="Scanning">    </p:cNvPr>
          <p:cNvPicPr>
            <a:picLocks noChangeAspect="1"/>
          </p:cNvPicPr>
          <p:nvPr/>
        </p:nvPicPr>
        <p:blipFill>
          <a:blip r:embed="rId2"/>
          <a:srcRect l="0" r="0" t="0" b="0"/>
          <a:stretch/>
        </p:blipFill>
        <p:spPr>
          <a:xfrm>
            <a:off x="990600" y="2433439"/>
            <a:ext cx="558800" cy="558800"/>
          </a:xfrm>
          <a:prstGeom prst="rect">
            <a:avLst/>
          </a:prstGeom>
        </p:spPr>
      </p:pic>
      <p:sp>
        <p:nvSpPr>
          <p:cNvPr id="7" name="Text 3"/>
          <p:cNvSpPr/>
          <p:nvPr/>
        </p:nvSpPr>
        <p:spPr>
          <a:xfrm>
            <a:off x="990600" y="3081139"/>
            <a:ext cx="14629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B7C3"/>
                </a:solidFill>
                <a:latin typeface="Calibri" pitchFamily="34" charset="0"/>
                <a:ea typeface="Calibri" pitchFamily="34" charset="-122"/>
                <a:cs typeface="Calibri" pitchFamily="34" charset="-120"/>
              </a:rPr>
              <a:t>STEP 1</a:t>
            </a:r>
            <a:endParaRPr lang="en-US" sz="1200" dirty="0"/>
          </a:p>
        </p:txBody>
      </p:sp>
      <p:sp>
        <p:nvSpPr>
          <p:cNvPr id="8" name="Text 4"/>
          <p:cNvSpPr/>
          <p:nvPr/>
        </p:nvSpPr>
        <p:spPr>
          <a:xfrm>
            <a:off x="990600" y="3383359"/>
            <a:ext cx="146298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7FB"/>
                </a:solidFill>
                <a:latin typeface="Calibri" pitchFamily="34" charset="0"/>
                <a:ea typeface="Calibri" pitchFamily="34" charset="-122"/>
                <a:cs typeface="Calibri" pitchFamily="34" charset="-120"/>
              </a:rPr>
              <a:t>Scan</a:t>
            </a:r>
            <a:endParaRPr lang="en-US" sz="1800" dirty="0"/>
          </a:p>
        </p:txBody>
      </p:sp>
      <p:sp>
        <p:nvSpPr>
          <p:cNvPr id="9" name="Text 5"/>
          <p:cNvSpPr/>
          <p:nvPr/>
        </p:nvSpPr>
        <p:spPr>
          <a:xfrm>
            <a:off x="990600" y="3746500"/>
            <a:ext cx="146298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ADCFC"/>
                </a:solidFill>
                <a:latin typeface="Calibri" pitchFamily="34" charset="0"/>
                <a:ea typeface="Calibri" pitchFamily="34" charset="-122"/>
                <a:cs typeface="Calibri" pitchFamily="34" charset="-120"/>
              </a:rPr>
              <a:t>Automated tools hunt for weak sites.</a:t>
            </a:r>
            <a:endParaRPr lang="en-US" sz="1300" dirty="0"/>
          </a:p>
        </p:txBody>
      </p:sp>
      <p:pic>
        <p:nvPicPr>
          <p:cNvPr id="10" name="Image 2" descr="arrow-right">    </p:cNvPr>
          <p:cNvPicPr>
            <a:picLocks noChangeAspect="1"/>
          </p:cNvPicPr>
          <p:nvPr/>
        </p:nvPicPr>
        <p:blipFill>
          <a:blip r:embed="rId3"/>
          <a:srcRect l="0" r="0" t="0" b="0"/>
          <a:stretch/>
        </p:blipFill>
        <p:spPr>
          <a:xfrm>
            <a:off x="2682180" y="3334941"/>
            <a:ext cx="228600" cy="203200"/>
          </a:xfrm>
          <a:prstGeom prst="rect">
            <a:avLst/>
          </a:prstGeom>
        </p:spPr>
      </p:pic>
      <p:sp>
        <p:nvSpPr>
          <p:cNvPr id="11" name="Shape 6"/>
          <p:cNvSpPr/>
          <p:nvPr/>
        </p:nvSpPr>
        <p:spPr>
          <a:xfrm>
            <a:off x="3012380" y="2320330"/>
            <a:ext cx="1767880" cy="2232422"/>
          </a:xfrm>
          <a:prstGeom prst="roundRect">
            <a:avLst>
              <a:gd name="adj" fmla="val 5747"/>
            </a:avLst>
          </a:prstGeom>
          <a:solidFill>
            <a:srgbClr val="13294B"/>
          </a:solidFill>
          <a:ln/>
        </p:spPr>
      </p:sp>
      <p:pic>
        <p:nvPicPr>
          <p:cNvPr id="12" name="Image 3" descr="Exploit">    </p:cNvPr>
          <p:cNvPicPr>
            <a:picLocks noChangeAspect="1"/>
          </p:cNvPicPr>
          <p:nvPr/>
        </p:nvPicPr>
        <p:blipFill>
          <a:blip r:embed="rId4"/>
          <a:srcRect l="0" r="0" t="0" b="0"/>
          <a:stretch/>
        </p:blipFill>
        <p:spPr>
          <a:xfrm>
            <a:off x="3190180" y="2548930"/>
            <a:ext cx="558800" cy="558800"/>
          </a:xfrm>
          <a:prstGeom prst="rect">
            <a:avLst/>
          </a:prstGeom>
        </p:spPr>
      </p:pic>
      <p:sp>
        <p:nvSpPr>
          <p:cNvPr id="13" name="Text 7"/>
          <p:cNvSpPr/>
          <p:nvPr/>
        </p:nvSpPr>
        <p:spPr>
          <a:xfrm>
            <a:off x="3190180" y="3196630"/>
            <a:ext cx="14630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B7C3"/>
                </a:solidFill>
                <a:latin typeface="Calibri" pitchFamily="34" charset="0"/>
                <a:ea typeface="Calibri" pitchFamily="34" charset="-122"/>
                <a:cs typeface="Calibri" pitchFamily="34" charset="-120"/>
              </a:rPr>
              <a:t>STEP 2</a:t>
            </a:r>
            <a:endParaRPr lang="en-US" sz="1200" dirty="0"/>
          </a:p>
        </p:txBody>
      </p:sp>
      <p:sp>
        <p:nvSpPr>
          <p:cNvPr id="14" name="Text 8"/>
          <p:cNvSpPr/>
          <p:nvPr/>
        </p:nvSpPr>
        <p:spPr>
          <a:xfrm>
            <a:off x="3190180" y="3498850"/>
            <a:ext cx="146308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7FB"/>
                </a:solidFill>
                <a:latin typeface="Calibri" pitchFamily="34" charset="0"/>
                <a:ea typeface="Calibri" pitchFamily="34" charset="-122"/>
                <a:cs typeface="Calibri" pitchFamily="34" charset="-120"/>
              </a:rPr>
              <a:t>Exploit</a:t>
            </a:r>
            <a:endParaRPr lang="en-US" sz="1800" dirty="0"/>
          </a:p>
        </p:txBody>
      </p:sp>
      <p:sp>
        <p:nvSpPr>
          <p:cNvPr id="15" name="Text 9"/>
          <p:cNvSpPr/>
          <p:nvPr/>
        </p:nvSpPr>
        <p:spPr>
          <a:xfrm>
            <a:off x="3190180" y="3861991"/>
            <a:ext cx="146308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ADCFC"/>
                </a:solidFill>
                <a:latin typeface="Calibri" pitchFamily="34" charset="0"/>
                <a:ea typeface="Calibri" pitchFamily="34" charset="-122"/>
                <a:cs typeface="Calibri" pitchFamily="34" charset="-120"/>
              </a:rPr>
              <a:t>A flaw or stolen password is used.</a:t>
            </a:r>
            <a:endParaRPr lang="en-US" sz="1300" dirty="0"/>
          </a:p>
        </p:txBody>
      </p:sp>
      <p:pic>
        <p:nvPicPr>
          <p:cNvPr id="16" name="Image 4" descr="arrow-right">    </p:cNvPr>
          <p:cNvPicPr>
            <a:picLocks noChangeAspect="1"/>
          </p:cNvPicPr>
          <p:nvPr/>
        </p:nvPicPr>
        <p:blipFill>
          <a:blip r:embed="rId5"/>
          <a:srcRect l="0" r="0" t="0" b="0"/>
          <a:stretch/>
        </p:blipFill>
        <p:spPr>
          <a:xfrm>
            <a:off x="4881860" y="3334941"/>
            <a:ext cx="228600" cy="203200"/>
          </a:xfrm>
          <a:prstGeom prst="rect">
            <a:avLst/>
          </a:prstGeom>
        </p:spPr>
      </p:pic>
      <p:sp>
        <p:nvSpPr>
          <p:cNvPr id="17" name="Shape 10"/>
          <p:cNvSpPr/>
          <p:nvPr/>
        </p:nvSpPr>
        <p:spPr>
          <a:xfrm>
            <a:off x="5212060" y="2320330"/>
            <a:ext cx="1767780" cy="2232422"/>
          </a:xfrm>
          <a:prstGeom prst="roundRect">
            <a:avLst>
              <a:gd name="adj" fmla="val 5747"/>
            </a:avLst>
          </a:prstGeom>
          <a:solidFill>
            <a:srgbClr val="13294B"/>
          </a:solidFill>
          <a:ln/>
        </p:spPr>
      </p:sp>
      <p:pic>
        <p:nvPicPr>
          <p:cNvPr id="18" name="Image 5" descr="Access">    </p:cNvPr>
          <p:cNvPicPr>
            <a:picLocks noChangeAspect="1"/>
          </p:cNvPicPr>
          <p:nvPr/>
        </p:nvPicPr>
        <p:blipFill>
          <a:blip r:embed="rId6"/>
          <a:srcRect l="0" r="0" t="0" b="0"/>
          <a:stretch/>
        </p:blipFill>
        <p:spPr>
          <a:xfrm>
            <a:off x="5389860" y="2548930"/>
            <a:ext cx="558800" cy="558800"/>
          </a:xfrm>
          <a:prstGeom prst="rect">
            <a:avLst/>
          </a:prstGeom>
        </p:spPr>
      </p:pic>
      <p:sp>
        <p:nvSpPr>
          <p:cNvPr id="19" name="Text 11"/>
          <p:cNvSpPr/>
          <p:nvPr/>
        </p:nvSpPr>
        <p:spPr>
          <a:xfrm>
            <a:off x="5389860" y="3196630"/>
            <a:ext cx="14629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B7C3"/>
                </a:solidFill>
                <a:latin typeface="Calibri" pitchFamily="34" charset="0"/>
                <a:ea typeface="Calibri" pitchFamily="34" charset="-122"/>
                <a:cs typeface="Calibri" pitchFamily="34" charset="-120"/>
              </a:rPr>
              <a:t>STEP 3</a:t>
            </a:r>
            <a:endParaRPr lang="en-US" sz="1200" dirty="0"/>
          </a:p>
        </p:txBody>
      </p:sp>
      <p:sp>
        <p:nvSpPr>
          <p:cNvPr id="20" name="Text 12"/>
          <p:cNvSpPr/>
          <p:nvPr/>
        </p:nvSpPr>
        <p:spPr>
          <a:xfrm>
            <a:off x="5389860" y="3498850"/>
            <a:ext cx="146298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7FB"/>
                </a:solidFill>
                <a:latin typeface="Calibri" pitchFamily="34" charset="0"/>
                <a:ea typeface="Calibri" pitchFamily="34" charset="-122"/>
                <a:cs typeface="Calibri" pitchFamily="34" charset="-120"/>
              </a:rPr>
              <a:t>Access</a:t>
            </a:r>
            <a:endParaRPr lang="en-US" sz="1800" dirty="0"/>
          </a:p>
        </p:txBody>
      </p:sp>
      <p:sp>
        <p:nvSpPr>
          <p:cNvPr id="21" name="Text 13"/>
          <p:cNvSpPr/>
          <p:nvPr/>
        </p:nvSpPr>
        <p:spPr>
          <a:xfrm>
            <a:off x="5389860" y="3861991"/>
            <a:ext cx="146298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ADCFC"/>
                </a:solidFill>
                <a:latin typeface="Calibri" pitchFamily="34" charset="0"/>
                <a:ea typeface="Calibri" pitchFamily="34" charset="-122"/>
                <a:cs typeface="Calibri" pitchFamily="34" charset="-120"/>
              </a:rPr>
              <a:t>Attacker gains admin control.</a:t>
            </a:r>
            <a:endParaRPr lang="en-US" sz="1300" dirty="0"/>
          </a:p>
        </p:txBody>
      </p:sp>
      <p:pic>
        <p:nvPicPr>
          <p:cNvPr id="22" name="Image 6" descr="arrow-right">    </p:cNvPr>
          <p:cNvPicPr>
            <a:picLocks noChangeAspect="1"/>
          </p:cNvPicPr>
          <p:nvPr/>
        </p:nvPicPr>
        <p:blipFill>
          <a:blip r:embed="rId7"/>
          <a:srcRect l="0" r="0" t="0" b="0"/>
          <a:stretch/>
        </p:blipFill>
        <p:spPr>
          <a:xfrm>
            <a:off x="7081441" y="3334941"/>
            <a:ext cx="228600" cy="203200"/>
          </a:xfrm>
          <a:prstGeom prst="rect">
            <a:avLst/>
          </a:prstGeom>
        </p:spPr>
      </p:pic>
      <p:sp>
        <p:nvSpPr>
          <p:cNvPr id="23" name="Shape 14"/>
          <p:cNvSpPr/>
          <p:nvPr/>
        </p:nvSpPr>
        <p:spPr>
          <a:xfrm>
            <a:off x="7411641" y="2204839"/>
            <a:ext cx="1767880" cy="2463502"/>
          </a:xfrm>
          <a:prstGeom prst="roundRect">
            <a:avLst>
              <a:gd name="adj" fmla="val 5747"/>
            </a:avLst>
          </a:prstGeom>
          <a:solidFill>
            <a:srgbClr val="13294B"/>
          </a:solidFill>
          <a:ln/>
        </p:spPr>
      </p:sp>
      <p:pic>
        <p:nvPicPr>
          <p:cNvPr id="24" name="Image 7" descr="Spray paint">    </p:cNvPr>
          <p:cNvPicPr>
            <a:picLocks noChangeAspect="1"/>
          </p:cNvPicPr>
          <p:nvPr/>
        </p:nvPicPr>
        <p:blipFill>
          <a:blip r:embed="rId8"/>
          <a:srcRect l="0" r="0" t="0" b="0"/>
          <a:stretch/>
        </p:blipFill>
        <p:spPr>
          <a:xfrm>
            <a:off x="7589441" y="2433439"/>
            <a:ext cx="558800" cy="558800"/>
          </a:xfrm>
          <a:prstGeom prst="rect">
            <a:avLst/>
          </a:prstGeom>
        </p:spPr>
      </p:pic>
      <p:sp>
        <p:nvSpPr>
          <p:cNvPr id="25" name="Text 15"/>
          <p:cNvSpPr/>
          <p:nvPr/>
        </p:nvSpPr>
        <p:spPr>
          <a:xfrm>
            <a:off x="7589441" y="3081139"/>
            <a:ext cx="14630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B7C3"/>
                </a:solidFill>
                <a:latin typeface="Calibri" pitchFamily="34" charset="0"/>
                <a:ea typeface="Calibri" pitchFamily="34" charset="-122"/>
                <a:cs typeface="Calibri" pitchFamily="34" charset="-120"/>
              </a:rPr>
              <a:t>STEP 4</a:t>
            </a:r>
            <a:endParaRPr lang="en-US" sz="1200" dirty="0"/>
          </a:p>
        </p:txBody>
      </p:sp>
      <p:sp>
        <p:nvSpPr>
          <p:cNvPr id="26" name="Text 16"/>
          <p:cNvSpPr/>
          <p:nvPr/>
        </p:nvSpPr>
        <p:spPr>
          <a:xfrm>
            <a:off x="7589441" y="3383359"/>
            <a:ext cx="146308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7FB"/>
                </a:solidFill>
                <a:latin typeface="Calibri" pitchFamily="34" charset="0"/>
                <a:ea typeface="Calibri" pitchFamily="34" charset="-122"/>
                <a:cs typeface="Calibri" pitchFamily="34" charset="-120"/>
              </a:rPr>
              <a:t>Deface</a:t>
            </a:r>
            <a:endParaRPr lang="en-US" sz="1800" dirty="0"/>
          </a:p>
        </p:txBody>
      </p:sp>
      <p:sp>
        <p:nvSpPr>
          <p:cNvPr id="27" name="Text 17"/>
          <p:cNvSpPr/>
          <p:nvPr/>
        </p:nvSpPr>
        <p:spPr>
          <a:xfrm>
            <a:off x="7589441" y="3746500"/>
            <a:ext cx="146308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ADCFC"/>
                </a:solidFill>
                <a:latin typeface="Calibri" pitchFamily="34" charset="0"/>
                <a:ea typeface="Calibri" pitchFamily="34" charset="-122"/>
                <a:cs typeface="Calibri" pitchFamily="34" charset="-120"/>
              </a:rPr>
              <a:t>Pages are changed or replaced.</a:t>
            </a:r>
            <a:endParaRPr lang="en-US" sz="1300" dirty="0"/>
          </a:p>
        </p:txBody>
      </p:sp>
      <p:pic>
        <p:nvPicPr>
          <p:cNvPr id="28" name="Image 8" descr="arrow-right">    </p:cNvPr>
          <p:cNvPicPr>
            <a:picLocks noChangeAspect="1"/>
          </p:cNvPicPr>
          <p:nvPr/>
        </p:nvPicPr>
        <p:blipFill>
          <a:blip r:embed="rId9"/>
          <a:srcRect l="0" r="0" t="0" b="0"/>
          <a:stretch/>
        </p:blipFill>
        <p:spPr>
          <a:xfrm>
            <a:off x="9281120" y="3334941"/>
            <a:ext cx="228600" cy="203200"/>
          </a:xfrm>
          <a:prstGeom prst="rect">
            <a:avLst/>
          </a:prstGeom>
        </p:spPr>
      </p:pic>
      <p:sp>
        <p:nvSpPr>
          <p:cNvPr id="29" name="Shape 18"/>
          <p:cNvSpPr/>
          <p:nvPr/>
        </p:nvSpPr>
        <p:spPr>
          <a:xfrm>
            <a:off x="9611320" y="2320330"/>
            <a:ext cx="1767880" cy="2232422"/>
          </a:xfrm>
          <a:prstGeom prst="roundRect">
            <a:avLst>
              <a:gd name="adj" fmla="val 5747"/>
            </a:avLst>
          </a:prstGeom>
          <a:solidFill>
            <a:srgbClr val="F7630C"/>
          </a:solidFill>
          <a:ln/>
        </p:spPr>
      </p:sp>
      <p:pic>
        <p:nvPicPr>
          <p:cNvPr id="30" name="Image 9" descr="Hidden backdoor">    </p:cNvPr>
          <p:cNvPicPr>
            <a:picLocks noChangeAspect="1"/>
          </p:cNvPicPr>
          <p:nvPr/>
        </p:nvPicPr>
        <p:blipFill>
          <a:blip r:embed="rId10"/>
          <a:srcRect l="0" r="0" t="0" b="0"/>
          <a:stretch/>
        </p:blipFill>
        <p:spPr>
          <a:xfrm>
            <a:off x="9789120" y="2548930"/>
            <a:ext cx="558800" cy="558800"/>
          </a:xfrm>
          <a:prstGeom prst="rect">
            <a:avLst/>
          </a:prstGeom>
        </p:spPr>
      </p:pic>
      <p:sp>
        <p:nvSpPr>
          <p:cNvPr id="31" name="Text 19"/>
          <p:cNvSpPr/>
          <p:nvPr/>
        </p:nvSpPr>
        <p:spPr>
          <a:xfrm>
            <a:off x="9789120" y="3196630"/>
            <a:ext cx="14630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1628"/>
                </a:solidFill>
                <a:latin typeface="Calibri" pitchFamily="34" charset="0"/>
                <a:ea typeface="Calibri" pitchFamily="34" charset="-122"/>
                <a:cs typeface="Calibri" pitchFamily="34" charset="-120"/>
              </a:rPr>
              <a:t>STEP 5</a:t>
            </a:r>
            <a:endParaRPr lang="en-US" sz="1200" dirty="0"/>
          </a:p>
        </p:txBody>
      </p:sp>
      <p:sp>
        <p:nvSpPr>
          <p:cNvPr id="32" name="Text 20"/>
          <p:cNvSpPr/>
          <p:nvPr/>
        </p:nvSpPr>
        <p:spPr>
          <a:xfrm>
            <a:off x="9789120" y="3498850"/>
            <a:ext cx="146308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1628"/>
                </a:solidFill>
                <a:latin typeface="Calibri" pitchFamily="34" charset="0"/>
                <a:ea typeface="Calibri" pitchFamily="34" charset="-122"/>
                <a:cs typeface="Calibri" pitchFamily="34" charset="-120"/>
              </a:rPr>
              <a:t>Persist</a:t>
            </a:r>
            <a:endParaRPr lang="en-US" sz="1800" dirty="0"/>
          </a:p>
        </p:txBody>
      </p:sp>
      <p:sp>
        <p:nvSpPr>
          <p:cNvPr id="33" name="Text 21"/>
          <p:cNvSpPr/>
          <p:nvPr/>
        </p:nvSpPr>
        <p:spPr>
          <a:xfrm>
            <a:off x="9789120" y="3861991"/>
            <a:ext cx="146308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A1628"/>
                </a:solidFill>
                <a:latin typeface="Calibri" pitchFamily="34" charset="0"/>
                <a:ea typeface="Calibri" pitchFamily="34" charset="-122"/>
                <a:cs typeface="Calibri" pitchFamily="34" charset="-120"/>
              </a:rPr>
              <a:t>Backdoors left to return later.</a:t>
            </a:r>
            <a:endParaRPr lang="en-US" sz="1300" dirty="0"/>
          </a:p>
        </p:txBody>
      </p:sp>
      <p:sp>
        <p:nvSpPr>
          <p:cNvPr id="34" name="Text 22"/>
          <p:cNvSpPr/>
          <p:nvPr/>
        </p:nvSpPr>
        <p:spPr>
          <a:xfrm>
            <a:off x="812800" y="5557540"/>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ADCFC"/>
                </a:solidFill>
                <a:latin typeface="Calibri" pitchFamily="34" charset="0"/>
                <a:ea typeface="Calibri" pitchFamily="34" charset="-122"/>
                <a:cs typeface="Calibri" pitchFamily="34" charset="-120"/>
              </a:rPr>
              <a:t>Restoring the page is not enough: </a:t>
            </a:r>
            <a:r>
              <a:rPr lang="en-US" sz="1600" b="1" dirty="0">
                <a:solidFill>
                  <a:srgbClr val="00B7C3"/>
                </a:solidFill>
                <a:latin typeface="Calibri" pitchFamily="34" charset="0"/>
                <a:ea typeface="Calibri" pitchFamily="34" charset="-122"/>
                <a:cs typeface="Calibri" pitchFamily="34" charset="-120"/>
              </a:rPr>
              <a:t>find and close the way in</a:t>
            </a:r>
            <a:r>
              <a:rPr lang="en-US" sz="1600" dirty="0">
                <a:solidFill>
                  <a:srgbClr val="CADCFC"/>
                </a:solidFill>
                <a:latin typeface="Calibri" pitchFamily="34" charset="0"/>
                <a:ea typeface="Calibri" pitchFamily="34" charset="-122"/>
                <a:cs typeface="Calibri" pitchFamily="34" charset="-120"/>
              </a:rPr>
              <a:t>, or they will be back.</a:t>
            </a:r>
            <a:endParaRPr lang="en-US" sz="1600" dirty="0"/>
          </a:p>
        </p:txBody>
      </p:sp>
      <p:sp>
        <p:nvSpPr>
          <p:cNvPr id="35" name="Text 2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ZNexora Tech | Web Defacement Awareness</a:t>
            </a:r>
            <a:endParaRPr lang="en-US" sz="1200" dirty="0"/>
          </a:p>
        </p:txBody>
      </p:sp>
      <p:sp>
        <p:nvSpPr>
          <p:cNvPr id="36" name="Text 24"/>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C8"/>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06 · DETECTION</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Warning signs of a defacement</a:t>
            </a:r>
            <a:endParaRPr lang="en-US" sz="3600" dirty="0"/>
          </a:p>
        </p:txBody>
      </p:sp>
      <p:sp>
        <p:nvSpPr>
          <p:cNvPr id="5" name="Shape 2"/>
          <p:cNvSpPr/>
          <p:nvPr/>
        </p:nvSpPr>
        <p:spPr>
          <a:xfrm>
            <a:off x="812800" y="2169120"/>
            <a:ext cx="6807200" cy="533400"/>
          </a:xfrm>
          <a:prstGeom prst="roundRect">
            <a:avLst>
              <a:gd name="adj" fmla="val 19048"/>
            </a:avLst>
          </a:prstGeom>
          <a:solidFill>
            <a:srgbClr val="FFFFFF"/>
          </a:solidFill>
          <a:ln/>
          <a:effectLst>
            <a:outerShdw sx="100000" sy="100000" kx="0" ky="0" algn="bl" rotWithShape="0" blurRad="101600" dist="25400" dir="5400000">
              <a:srgbClr val="C9D6E3">
                <a:alpha val="100000"/>
              </a:srgbClr>
            </a:outerShdw>
          </a:effectLst>
        </p:spPr>
      </p:sp>
      <p:pic>
        <p:nvPicPr>
          <p:cNvPr id="6" name="Image 1" descr="Warning">    </p:cNvPr>
          <p:cNvPicPr>
            <a:picLocks noChangeAspect="1"/>
          </p:cNvPicPr>
          <p:nvPr/>
        </p:nvPicPr>
        <p:blipFill>
          <a:blip r:embed="rId2"/>
          <a:srcRect l="0" r="0" t="0" b="0"/>
          <a:stretch/>
        </p:blipFill>
        <p:spPr>
          <a:xfrm>
            <a:off x="990600" y="2296120"/>
            <a:ext cx="279400" cy="279400"/>
          </a:xfrm>
          <a:prstGeom prst="rect">
            <a:avLst/>
          </a:prstGeom>
        </p:spPr>
      </p:pic>
      <p:sp>
        <p:nvSpPr>
          <p:cNvPr id="7" name="Text 3"/>
          <p:cNvSpPr/>
          <p:nvPr/>
        </p:nvSpPr>
        <p:spPr>
          <a:xfrm>
            <a:off x="1422400" y="2302470"/>
            <a:ext cx="62003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A1628"/>
                </a:solidFill>
                <a:latin typeface="Calibri" pitchFamily="34" charset="0"/>
                <a:ea typeface="Calibri" pitchFamily="34" charset="-122"/>
                <a:cs typeface="Calibri" pitchFamily="34" charset="-120"/>
              </a:rPr>
              <a:t>Pages, images or text </a:t>
            </a:r>
            <a:r>
              <a:rPr lang="en-US" sz="1500" b="1" dirty="0">
                <a:solidFill>
                  <a:srgbClr val="0A1628"/>
                </a:solidFill>
                <a:latin typeface="Calibri" pitchFamily="34" charset="0"/>
                <a:ea typeface="Calibri" pitchFamily="34" charset="-122"/>
                <a:cs typeface="Calibri" pitchFamily="34" charset="-120"/>
              </a:rPr>
              <a:t>changed without approval</a:t>
            </a:r>
            <a:endParaRPr lang="en-US" sz="1500" dirty="0"/>
          </a:p>
        </p:txBody>
      </p:sp>
      <p:sp>
        <p:nvSpPr>
          <p:cNvPr id="8" name="Shape 4"/>
          <p:cNvSpPr/>
          <p:nvPr/>
        </p:nvSpPr>
        <p:spPr>
          <a:xfrm>
            <a:off x="812800" y="2804120"/>
            <a:ext cx="6807200" cy="533400"/>
          </a:xfrm>
          <a:prstGeom prst="roundRect">
            <a:avLst>
              <a:gd name="adj" fmla="val 19048"/>
            </a:avLst>
          </a:prstGeom>
          <a:solidFill>
            <a:srgbClr val="FFFFFF"/>
          </a:solidFill>
          <a:ln/>
          <a:effectLst>
            <a:outerShdw sx="100000" sy="100000" kx="0" ky="0" algn="bl" rotWithShape="0" blurRad="101600" dist="25400" dir="5400000">
              <a:srgbClr val="C9D6E3">
                <a:alpha val="100000"/>
              </a:srgbClr>
            </a:outerShdw>
          </a:effectLst>
        </p:spPr>
      </p:sp>
      <p:pic>
        <p:nvPicPr>
          <p:cNvPr id="9" name="Image 2" descr="Warning">    </p:cNvPr>
          <p:cNvPicPr>
            <a:picLocks noChangeAspect="1"/>
          </p:cNvPicPr>
          <p:nvPr/>
        </p:nvPicPr>
        <p:blipFill>
          <a:blip r:embed="rId3"/>
          <a:srcRect l="0" r="0" t="0" b="0"/>
          <a:stretch/>
        </p:blipFill>
        <p:spPr>
          <a:xfrm>
            <a:off x="990600" y="2931120"/>
            <a:ext cx="279400" cy="279400"/>
          </a:xfrm>
          <a:prstGeom prst="rect">
            <a:avLst/>
          </a:prstGeom>
        </p:spPr>
      </p:pic>
      <p:sp>
        <p:nvSpPr>
          <p:cNvPr id="10" name="Text 5"/>
          <p:cNvSpPr/>
          <p:nvPr/>
        </p:nvSpPr>
        <p:spPr>
          <a:xfrm>
            <a:off x="1422400" y="2937470"/>
            <a:ext cx="620039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1628"/>
                </a:solidFill>
                <a:latin typeface="Calibri" pitchFamily="34" charset="0"/>
                <a:ea typeface="Calibri" pitchFamily="34" charset="-122"/>
                <a:cs typeface="Calibri" pitchFamily="34" charset="-120"/>
              </a:rPr>
              <a:t>Unknown pages</a:t>
            </a:r>
            <a:r>
              <a:rPr lang="en-US" sz="1500" dirty="0">
                <a:solidFill>
                  <a:srgbClr val="0A1628"/>
                </a:solidFill>
                <a:latin typeface="Calibri" pitchFamily="34" charset="0"/>
                <a:ea typeface="Calibri" pitchFamily="34" charset="-122"/>
                <a:cs typeface="Calibri" pitchFamily="34" charset="-120"/>
              </a:rPr>
              <a:t>, pop-ups or redirects to other sites</a:t>
            </a:r>
            <a:endParaRPr lang="en-US" sz="1500" dirty="0"/>
          </a:p>
        </p:txBody>
      </p:sp>
      <p:sp>
        <p:nvSpPr>
          <p:cNvPr id="11" name="Shape 6"/>
          <p:cNvSpPr/>
          <p:nvPr/>
        </p:nvSpPr>
        <p:spPr>
          <a:xfrm>
            <a:off x="812800" y="3439120"/>
            <a:ext cx="6807200" cy="533400"/>
          </a:xfrm>
          <a:prstGeom prst="roundRect">
            <a:avLst>
              <a:gd name="adj" fmla="val 19048"/>
            </a:avLst>
          </a:prstGeom>
          <a:solidFill>
            <a:srgbClr val="FFFFFF"/>
          </a:solidFill>
          <a:ln/>
          <a:effectLst>
            <a:outerShdw sx="100000" sy="100000" kx="0" ky="0" algn="bl" rotWithShape="0" blurRad="101600" dist="25400" dir="5400000">
              <a:srgbClr val="C9D6E3">
                <a:alpha val="100000"/>
              </a:srgbClr>
            </a:outerShdw>
          </a:effectLst>
        </p:spPr>
      </p:sp>
      <p:pic>
        <p:nvPicPr>
          <p:cNvPr id="12" name="Image 3" descr="Warning">    </p:cNvPr>
          <p:cNvPicPr>
            <a:picLocks noChangeAspect="1"/>
          </p:cNvPicPr>
          <p:nvPr/>
        </p:nvPicPr>
        <p:blipFill>
          <a:blip r:embed="rId4"/>
          <a:srcRect l="0" r="0" t="0" b="0"/>
          <a:stretch/>
        </p:blipFill>
        <p:spPr>
          <a:xfrm>
            <a:off x="990600" y="3566120"/>
            <a:ext cx="279400" cy="279400"/>
          </a:xfrm>
          <a:prstGeom prst="rect">
            <a:avLst/>
          </a:prstGeom>
        </p:spPr>
      </p:pic>
      <p:sp>
        <p:nvSpPr>
          <p:cNvPr id="13" name="Text 7"/>
          <p:cNvSpPr/>
          <p:nvPr/>
        </p:nvSpPr>
        <p:spPr>
          <a:xfrm>
            <a:off x="1422400" y="3572470"/>
            <a:ext cx="62003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A1628"/>
                </a:solidFill>
                <a:latin typeface="Calibri" pitchFamily="34" charset="0"/>
                <a:ea typeface="Calibri" pitchFamily="34" charset="-122"/>
                <a:cs typeface="Calibri" pitchFamily="34" charset="-120"/>
              </a:rPr>
              <a:t>Browser or search engine </a:t>
            </a:r>
            <a:r>
              <a:rPr lang="en-US" sz="1500" b="1" dirty="0">
                <a:solidFill>
                  <a:srgbClr val="0A1628"/>
                </a:solidFill>
                <a:latin typeface="Calibri" pitchFamily="34" charset="0"/>
                <a:ea typeface="Calibri" pitchFamily="34" charset="-122"/>
                <a:cs typeface="Calibri" pitchFamily="34" charset="-120"/>
              </a:rPr>
              <a:t>security warnings</a:t>
            </a:r>
            <a:endParaRPr lang="en-US" sz="1500" dirty="0"/>
          </a:p>
        </p:txBody>
      </p:sp>
      <p:sp>
        <p:nvSpPr>
          <p:cNvPr id="14" name="Shape 8"/>
          <p:cNvSpPr/>
          <p:nvPr/>
        </p:nvSpPr>
        <p:spPr>
          <a:xfrm>
            <a:off x="812800" y="4074120"/>
            <a:ext cx="6807200" cy="533400"/>
          </a:xfrm>
          <a:prstGeom prst="roundRect">
            <a:avLst>
              <a:gd name="adj" fmla="val 19048"/>
            </a:avLst>
          </a:prstGeom>
          <a:solidFill>
            <a:srgbClr val="FFFFFF"/>
          </a:solidFill>
          <a:ln/>
          <a:effectLst>
            <a:outerShdw sx="100000" sy="100000" kx="0" ky="0" algn="bl" rotWithShape="0" blurRad="101600" dist="25400" dir="5400000">
              <a:srgbClr val="C9D6E3">
                <a:alpha val="100000"/>
              </a:srgbClr>
            </a:outerShdw>
          </a:effectLst>
        </p:spPr>
      </p:sp>
      <p:pic>
        <p:nvPicPr>
          <p:cNvPr id="15" name="Image 4" descr="Warning">    </p:cNvPr>
          <p:cNvPicPr>
            <a:picLocks noChangeAspect="1"/>
          </p:cNvPicPr>
          <p:nvPr/>
        </p:nvPicPr>
        <p:blipFill>
          <a:blip r:embed="rId5"/>
          <a:srcRect l="0" r="0" t="0" b="0"/>
          <a:stretch/>
        </p:blipFill>
        <p:spPr>
          <a:xfrm>
            <a:off x="990600" y="4201120"/>
            <a:ext cx="279400" cy="279400"/>
          </a:xfrm>
          <a:prstGeom prst="rect">
            <a:avLst/>
          </a:prstGeom>
        </p:spPr>
      </p:pic>
      <p:sp>
        <p:nvSpPr>
          <p:cNvPr id="16" name="Text 9"/>
          <p:cNvSpPr/>
          <p:nvPr/>
        </p:nvSpPr>
        <p:spPr>
          <a:xfrm>
            <a:off x="1422400" y="4207470"/>
            <a:ext cx="620039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1628"/>
                </a:solidFill>
                <a:latin typeface="Calibri" pitchFamily="34" charset="0"/>
                <a:ea typeface="Calibri" pitchFamily="34" charset="-122"/>
                <a:cs typeface="Calibri" pitchFamily="34" charset="-120"/>
              </a:rPr>
              <a:t>New admin accounts</a:t>
            </a:r>
            <a:r>
              <a:rPr lang="en-US" sz="1500" dirty="0">
                <a:solidFill>
                  <a:srgbClr val="0A1628"/>
                </a:solidFill>
                <a:latin typeface="Calibri" pitchFamily="34" charset="0"/>
                <a:ea typeface="Calibri" pitchFamily="34" charset="-122"/>
                <a:cs typeface="Calibri" pitchFamily="34" charset="-120"/>
              </a:rPr>
              <a:t> or unexpected file changes</a:t>
            </a:r>
            <a:endParaRPr lang="en-US" sz="1500" dirty="0"/>
          </a:p>
        </p:txBody>
      </p:sp>
      <p:sp>
        <p:nvSpPr>
          <p:cNvPr id="17" name="Shape 10"/>
          <p:cNvSpPr/>
          <p:nvPr/>
        </p:nvSpPr>
        <p:spPr>
          <a:xfrm>
            <a:off x="812800" y="4709120"/>
            <a:ext cx="6807200" cy="533400"/>
          </a:xfrm>
          <a:prstGeom prst="roundRect">
            <a:avLst>
              <a:gd name="adj" fmla="val 19048"/>
            </a:avLst>
          </a:prstGeom>
          <a:solidFill>
            <a:srgbClr val="FFFFFF"/>
          </a:solidFill>
          <a:ln/>
          <a:effectLst>
            <a:outerShdw sx="100000" sy="100000" kx="0" ky="0" algn="bl" rotWithShape="0" blurRad="101600" dist="25400" dir="5400000">
              <a:srgbClr val="C9D6E3">
                <a:alpha val="100000"/>
              </a:srgbClr>
            </a:outerShdw>
          </a:effectLst>
        </p:spPr>
      </p:sp>
      <p:pic>
        <p:nvPicPr>
          <p:cNvPr id="18" name="Image 5" descr="Warning">    </p:cNvPr>
          <p:cNvPicPr>
            <a:picLocks noChangeAspect="1"/>
          </p:cNvPicPr>
          <p:nvPr/>
        </p:nvPicPr>
        <p:blipFill>
          <a:blip r:embed="rId6"/>
          <a:srcRect l="0" r="0" t="0" b="0"/>
          <a:stretch/>
        </p:blipFill>
        <p:spPr>
          <a:xfrm>
            <a:off x="990600" y="4836120"/>
            <a:ext cx="279400" cy="279400"/>
          </a:xfrm>
          <a:prstGeom prst="rect">
            <a:avLst/>
          </a:prstGeom>
        </p:spPr>
      </p:pic>
      <p:sp>
        <p:nvSpPr>
          <p:cNvPr id="19" name="Text 11"/>
          <p:cNvSpPr/>
          <p:nvPr/>
        </p:nvSpPr>
        <p:spPr>
          <a:xfrm>
            <a:off x="1422400" y="4842470"/>
            <a:ext cx="620039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1628"/>
                </a:solidFill>
                <a:latin typeface="Calibri" pitchFamily="34" charset="0"/>
                <a:ea typeface="Calibri" pitchFamily="34" charset="-122"/>
                <a:cs typeface="Calibri" pitchFamily="34" charset="-120"/>
              </a:rPr>
              <a:t>Visitors or customers</a:t>
            </a:r>
            <a:r>
              <a:rPr lang="en-US" sz="1500" dirty="0">
                <a:solidFill>
                  <a:srgbClr val="0A1628"/>
                </a:solidFill>
                <a:latin typeface="Calibri" pitchFamily="34" charset="0"/>
                <a:ea typeface="Calibri" pitchFamily="34" charset="-122"/>
                <a:cs typeface="Calibri" pitchFamily="34" charset="-120"/>
              </a:rPr>
              <a:t> reporting something odd</a:t>
            </a:r>
            <a:endParaRPr lang="en-US" sz="1500" dirty="0"/>
          </a:p>
        </p:txBody>
      </p:sp>
      <p:pic>
        <p:nvPicPr>
          <p:cNvPr id="20" name="Image 6" descr="Browser showing a red security warning page instead of the website">    </p:cNvPr>
          <p:cNvPicPr>
            <a:picLocks noChangeAspect="1"/>
          </p:cNvPicPr>
          <p:nvPr/>
        </p:nvPicPr>
        <p:blipFill>
          <a:blip r:embed="rId7"/>
          <a:srcRect l="0" r="0" t="0" b="0"/>
          <a:stretch/>
        </p:blipFill>
        <p:spPr>
          <a:xfrm>
            <a:off x="8077200" y="1991320"/>
            <a:ext cx="3302000" cy="3429000"/>
          </a:xfrm>
          <a:prstGeom prst="rect">
            <a:avLst/>
          </a:prstGeom>
        </p:spPr>
      </p:pic>
      <p:sp>
        <p:nvSpPr>
          <p:cNvPr id="21"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Web Defacement Awareness</a:t>
            </a:r>
            <a:endParaRPr lang="en-US" sz="1200" dirty="0"/>
          </a:p>
        </p:txBody>
      </p:sp>
      <p:sp>
        <p:nvSpPr>
          <p:cNvPr id="22" name="Text 13"/>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78D4"/>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A camera capturing a defaced web page, next to a megaphone">    </p:cNvPr>
          <p:cNvPicPr>
            <a:picLocks noChangeAspect="1"/>
          </p:cNvPicPr>
          <p:nvPr/>
        </p:nvPicPr>
        <p:blipFill>
          <a:blip r:embed="rId2"/>
          <a:srcRect l="0" r="0" t="0" b="0"/>
          <a:stretch/>
        </p:blipFill>
        <p:spPr>
          <a:xfrm>
            <a:off x="7747000" y="1397000"/>
            <a:ext cx="3810000" cy="4064000"/>
          </a:xfrm>
          <a:prstGeom prst="rect">
            <a:avLst/>
          </a:prstGeom>
        </p:spPr>
      </p:pic>
      <p:sp>
        <p:nvSpPr>
          <p:cNvPr id="4" name="Text 0"/>
          <p:cNvSpPr/>
          <p:nvPr/>
        </p:nvSpPr>
        <p:spPr>
          <a:xfrm>
            <a:off x="812800" y="17348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FFFFF"/>
                </a:solidFill>
                <a:latin typeface="Calibri" pitchFamily="34" charset="0"/>
                <a:ea typeface="Calibri" pitchFamily="34" charset="-122"/>
                <a:cs typeface="Calibri" pitchFamily="34" charset="-120"/>
              </a:rPr>
              <a:t>IF YOU SEE IT</a:t>
            </a:r>
            <a:endParaRPr lang="en-US" sz="1600" dirty="0"/>
          </a:p>
        </p:txBody>
      </p:sp>
      <p:sp>
        <p:nvSpPr>
          <p:cNvPr id="5" name="Text 1"/>
          <p:cNvSpPr/>
          <p:nvPr>
            <p:ph type="title"/>
          </p:nvPr>
        </p:nvSpPr>
        <p:spPr>
          <a:xfrm>
            <a:off x="812800" y="2273300"/>
            <a:ext cx="6802120" cy="226556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FFFFF"/>
                </a:solidFill>
                <a:latin typeface="Arial" pitchFamily="34" charset="0"/>
                <a:ea typeface="Arial" pitchFamily="34" charset="-122"/>
                <a:cs typeface="Arial" pitchFamily="34" charset="-120"/>
              </a:rPr>
              <a:t>Capture it.</a:t>
            </a:r>
            <a:endParaRPr lang="en-US" sz="5600" dirty="0"/>
          </a:p>
          <a:p>
            <a:pPr algn="l" indent="0" marL="0">
              <a:lnSpc>
                <a:spcPts val="5880"/>
              </a:lnSpc>
              <a:buNone/>
            </a:pPr>
            <a:r>
              <a:rPr lang="en-US" sz="5600" b="1" i="0" dirty="0">
                <a:solidFill>
                  <a:srgbClr val="FFFFFF"/>
                </a:solidFill>
                <a:latin typeface="Arial" pitchFamily="34" charset="0"/>
                <a:ea typeface="Arial" pitchFamily="34" charset="-122"/>
                <a:cs typeface="Arial" pitchFamily="34" charset="-120"/>
              </a:rPr>
              <a:t>Report it.</a:t>
            </a:r>
            <a:endParaRPr lang="en-US" sz="5600" dirty="0"/>
          </a:p>
          <a:p>
            <a:pPr algn="l" indent="0" marL="0">
              <a:lnSpc>
                <a:spcPts val="5880"/>
              </a:lnSpc>
              <a:buNone/>
            </a:pPr>
            <a:r>
              <a:rPr lang="en-US" sz="5600" b="1" i="0" dirty="0">
                <a:solidFill>
                  <a:srgbClr val="FFFFFF"/>
                </a:solidFill>
                <a:latin typeface="Arial" pitchFamily="34" charset="0"/>
                <a:ea typeface="Arial" pitchFamily="34" charset="-122"/>
                <a:cs typeface="Arial" pitchFamily="34" charset="-120"/>
              </a:rPr>
              <a:t>Don't touch it.</a:t>
            </a:r>
            <a:endParaRPr lang="en-US" sz="5600" dirty="0"/>
          </a:p>
        </p:txBody>
      </p:sp>
      <p:sp>
        <p:nvSpPr>
          <p:cNvPr id="6" name="Text 2"/>
          <p:cNvSpPr/>
          <p:nvPr/>
        </p:nvSpPr>
        <p:spPr>
          <a:xfrm>
            <a:off x="812800" y="4767461"/>
            <a:ext cx="65405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FFF"/>
                </a:solidFill>
                <a:latin typeface="Calibri" pitchFamily="34" charset="0"/>
                <a:ea typeface="Calibri" pitchFamily="34" charset="-122"/>
                <a:cs typeface="Calibri" pitchFamily="34" charset="-120"/>
              </a:rPr>
              <a:t>Fast reporting limits the damage.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07 · INCIDENT RESPONSE</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Responding to a defacement</a:t>
            </a:r>
            <a:endParaRPr lang="en-US" sz="3600" dirty="0"/>
          </a:p>
        </p:txBody>
      </p:sp>
      <p:sp>
        <p:nvSpPr>
          <p:cNvPr id="5" name="Text 2"/>
          <p:cNvSpPr/>
          <p:nvPr/>
        </p:nvSpPr>
        <p:spPr>
          <a:xfrm>
            <a:off x="812800" y="1492250"/>
            <a:ext cx="77177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630C"/>
                </a:solidFill>
                <a:latin typeface="Calibri" pitchFamily="34" charset="0"/>
                <a:ea typeface="Calibri" pitchFamily="34" charset="-122"/>
                <a:cs typeface="Calibri" pitchFamily="34" charset="-120"/>
              </a:rPr>
              <a:t>EVERYONE</a:t>
            </a:r>
            <a:endParaRPr lang="en-US" sz="1200" dirty="0"/>
          </a:p>
        </p:txBody>
      </p:sp>
      <p:sp>
        <p:nvSpPr>
          <p:cNvPr id="6" name="Shape 3"/>
          <p:cNvSpPr/>
          <p:nvPr/>
        </p:nvSpPr>
        <p:spPr>
          <a:xfrm>
            <a:off x="812800" y="1794470"/>
            <a:ext cx="7493000" cy="558800"/>
          </a:xfrm>
          <a:prstGeom prst="roundRect">
            <a:avLst>
              <a:gd name="adj" fmla="val 15909"/>
            </a:avLst>
          </a:prstGeom>
          <a:solidFill>
            <a:srgbClr val="FFFFFF"/>
          </a:solidFill>
          <a:ln/>
          <a:effectLst>
            <a:outerShdw sx="100000" sy="100000" kx="0" ky="0" algn="bl" rotWithShape="0" blurRad="101600" dist="25400" dir="5400000">
              <a:srgbClr val="C9D6E3">
                <a:alpha val="100000"/>
              </a:srgbClr>
            </a:outerShdw>
          </a:effectLst>
        </p:spPr>
      </p:sp>
      <p:sp>
        <p:nvSpPr>
          <p:cNvPr id="7" name="Text 4"/>
          <p:cNvSpPr/>
          <p:nvPr/>
        </p:nvSpPr>
        <p:spPr>
          <a:xfrm>
            <a:off x="990600" y="1908770"/>
            <a:ext cx="330200" cy="330200"/>
          </a:xfrm>
          <a:prstGeom prst="roundRect">
            <a:avLst>
              <a:gd name="adj" fmla="val 50000"/>
            </a:avLst>
          </a:prstGeom>
          <a:solidFill>
            <a:srgbClr val="F7630C"/>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498600" y="1958280"/>
            <a:ext cx="682828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A1628"/>
                </a:solidFill>
                <a:latin typeface="Calibri" pitchFamily="34" charset="0"/>
                <a:ea typeface="Calibri" pitchFamily="34" charset="-122"/>
                <a:cs typeface="Calibri" pitchFamily="34" charset="-120"/>
              </a:rPr>
              <a:t>Report immediately</a:t>
            </a:r>
            <a:r>
              <a:rPr lang="en-US" sz="1400" dirty="0">
                <a:solidFill>
                  <a:srgbClr val="0A1628"/>
                </a:solidFill>
                <a:latin typeface="Calibri" pitchFamily="34" charset="0"/>
                <a:ea typeface="Calibri" pitchFamily="34" charset="-122"/>
                <a:cs typeface="Calibri" pitchFamily="34" charset="-120"/>
              </a:rPr>
              <a:t> to [IT / Security contact]</a:t>
            </a:r>
            <a:endParaRPr lang="en-US" sz="1400" dirty="0"/>
          </a:p>
        </p:txBody>
      </p:sp>
      <p:sp>
        <p:nvSpPr>
          <p:cNvPr id="9" name="Shape 6"/>
          <p:cNvSpPr/>
          <p:nvPr/>
        </p:nvSpPr>
        <p:spPr>
          <a:xfrm>
            <a:off x="812800" y="2442170"/>
            <a:ext cx="7493000" cy="558800"/>
          </a:xfrm>
          <a:prstGeom prst="roundRect">
            <a:avLst>
              <a:gd name="adj" fmla="val 15909"/>
            </a:avLst>
          </a:prstGeom>
          <a:solidFill>
            <a:srgbClr val="FFFFFF"/>
          </a:solidFill>
          <a:ln/>
          <a:effectLst>
            <a:outerShdw sx="100000" sy="100000" kx="0" ky="0" algn="bl" rotWithShape="0" blurRad="101600" dist="25400" dir="5400000">
              <a:srgbClr val="C9D6E3">
                <a:alpha val="100000"/>
              </a:srgbClr>
            </a:outerShdw>
          </a:effectLst>
        </p:spPr>
      </p:sp>
      <p:sp>
        <p:nvSpPr>
          <p:cNvPr id="10" name="Text 7"/>
          <p:cNvSpPr/>
          <p:nvPr/>
        </p:nvSpPr>
        <p:spPr>
          <a:xfrm>
            <a:off x="990600" y="2556470"/>
            <a:ext cx="330200" cy="330200"/>
          </a:xfrm>
          <a:prstGeom prst="roundRect">
            <a:avLst>
              <a:gd name="adj" fmla="val 50000"/>
            </a:avLst>
          </a:prstGeom>
          <a:solidFill>
            <a:srgbClr val="F7630C"/>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1498600" y="2605980"/>
            <a:ext cx="682828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A1628"/>
                </a:solidFill>
                <a:latin typeface="Calibri" pitchFamily="34" charset="0"/>
                <a:ea typeface="Calibri" pitchFamily="34" charset="-122"/>
                <a:cs typeface="Calibri" pitchFamily="34" charset="-120"/>
              </a:rPr>
              <a:t>Capture evidence:</a:t>
            </a:r>
            <a:r>
              <a:rPr lang="en-US" sz="1400" dirty="0">
                <a:solidFill>
                  <a:srgbClr val="0A1628"/>
                </a:solidFill>
                <a:latin typeface="Calibri" pitchFamily="34" charset="0"/>
                <a:ea typeface="Calibri" pitchFamily="34" charset="-122"/>
                <a:cs typeface="Calibri" pitchFamily="34" charset="-120"/>
              </a:rPr>
              <a:t> screenshot, web address and time</a:t>
            </a:r>
            <a:endParaRPr lang="en-US" sz="1400" dirty="0"/>
          </a:p>
        </p:txBody>
      </p:sp>
      <p:sp>
        <p:nvSpPr>
          <p:cNvPr id="12" name="Shape 9"/>
          <p:cNvSpPr/>
          <p:nvPr/>
        </p:nvSpPr>
        <p:spPr>
          <a:xfrm>
            <a:off x="812800" y="3089870"/>
            <a:ext cx="7493000" cy="558800"/>
          </a:xfrm>
          <a:prstGeom prst="roundRect">
            <a:avLst>
              <a:gd name="adj" fmla="val 15909"/>
            </a:avLst>
          </a:prstGeom>
          <a:solidFill>
            <a:srgbClr val="FFFFFF"/>
          </a:solidFill>
          <a:ln/>
          <a:effectLst>
            <a:outerShdw sx="100000" sy="100000" kx="0" ky="0" algn="bl" rotWithShape="0" blurRad="101600" dist="25400" dir="5400000">
              <a:srgbClr val="C9D6E3">
                <a:alpha val="100000"/>
              </a:srgbClr>
            </a:outerShdw>
          </a:effectLst>
        </p:spPr>
      </p:sp>
      <p:sp>
        <p:nvSpPr>
          <p:cNvPr id="13" name="Text 10"/>
          <p:cNvSpPr/>
          <p:nvPr/>
        </p:nvSpPr>
        <p:spPr>
          <a:xfrm>
            <a:off x="990600" y="3204170"/>
            <a:ext cx="330200" cy="330200"/>
          </a:xfrm>
          <a:prstGeom prst="roundRect">
            <a:avLst>
              <a:gd name="adj" fmla="val 50000"/>
            </a:avLst>
          </a:prstGeom>
          <a:solidFill>
            <a:srgbClr val="F7630C"/>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1"/>
          <p:cNvSpPr/>
          <p:nvPr/>
        </p:nvSpPr>
        <p:spPr>
          <a:xfrm>
            <a:off x="1498600" y="3253680"/>
            <a:ext cx="682828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A1628"/>
                </a:solidFill>
                <a:latin typeface="Calibri" pitchFamily="34" charset="0"/>
                <a:ea typeface="Calibri" pitchFamily="34" charset="-122"/>
                <a:cs typeface="Calibri" pitchFamily="34" charset="-120"/>
              </a:rPr>
              <a:t>Don't edit, delete or share</a:t>
            </a:r>
            <a:r>
              <a:rPr lang="en-US" sz="1400" dirty="0">
                <a:solidFill>
                  <a:srgbClr val="0A1628"/>
                </a:solidFill>
                <a:latin typeface="Calibri" pitchFamily="34" charset="0"/>
                <a:ea typeface="Calibri" pitchFamily="34" charset="-122"/>
                <a:cs typeface="Calibri" pitchFamily="34" charset="-120"/>
              </a:rPr>
              <a:t> the defaced content</a:t>
            </a:r>
            <a:endParaRPr lang="en-US" sz="1400" dirty="0"/>
          </a:p>
        </p:txBody>
      </p:sp>
      <p:sp>
        <p:nvSpPr>
          <p:cNvPr id="15" name="Text 12"/>
          <p:cNvSpPr/>
          <p:nvPr/>
        </p:nvSpPr>
        <p:spPr>
          <a:xfrm>
            <a:off x="812800" y="3737570"/>
            <a:ext cx="77177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WEB AND IT TEAM</a:t>
            </a:r>
            <a:endParaRPr lang="en-US" sz="1200" dirty="0"/>
          </a:p>
        </p:txBody>
      </p:sp>
      <p:sp>
        <p:nvSpPr>
          <p:cNvPr id="16" name="Shape 13"/>
          <p:cNvSpPr/>
          <p:nvPr/>
        </p:nvSpPr>
        <p:spPr>
          <a:xfrm>
            <a:off x="812800" y="4039791"/>
            <a:ext cx="7493000" cy="558800"/>
          </a:xfrm>
          <a:prstGeom prst="roundRect">
            <a:avLst>
              <a:gd name="adj" fmla="val 15909"/>
            </a:avLst>
          </a:prstGeom>
          <a:solidFill>
            <a:srgbClr val="FFFFFF"/>
          </a:solidFill>
          <a:ln/>
          <a:effectLst>
            <a:outerShdw sx="100000" sy="100000" kx="0" ky="0" algn="bl" rotWithShape="0" blurRad="101600" dist="25400" dir="5400000">
              <a:srgbClr val="C9D6E3">
                <a:alpha val="100000"/>
              </a:srgbClr>
            </a:outerShdw>
          </a:effectLst>
        </p:spPr>
      </p:sp>
      <p:sp>
        <p:nvSpPr>
          <p:cNvPr id="17" name="Text 14"/>
          <p:cNvSpPr/>
          <p:nvPr/>
        </p:nvSpPr>
        <p:spPr>
          <a:xfrm>
            <a:off x="990600" y="4154091"/>
            <a:ext cx="330200" cy="330200"/>
          </a:xfrm>
          <a:prstGeom prst="roundRect">
            <a:avLst>
              <a:gd name="adj" fmla="val 50000"/>
            </a:avLst>
          </a:prstGeom>
          <a:solidFill>
            <a:srgbClr val="0078D4"/>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498600" y="4203601"/>
            <a:ext cx="682828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A1628"/>
                </a:solidFill>
                <a:latin typeface="Calibri" pitchFamily="34" charset="0"/>
                <a:ea typeface="Calibri" pitchFamily="34" charset="-122"/>
                <a:cs typeface="Calibri" pitchFamily="34" charset="-120"/>
              </a:rPr>
              <a:t>Isolate:</a:t>
            </a:r>
            <a:r>
              <a:rPr lang="en-US" sz="1400" dirty="0">
                <a:solidFill>
                  <a:srgbClr val="0A1628"/>
                </a:solidFill>
                <a:latin typeface="Calibri" pitchFamily="34" charset="0"/>
                <a:ea typeface="Calibri" pitchFamily="34" charset="-122"/>
                <a:cs typeface="Calibri" pitchFamily="34" charset="-120"/>
              </a:rPr>
              <a:t> switch to a maintenance page</a:t>
            </a:r>
            <a:endParaRPr lang="en-US" sz="1400" dirty="0"/>
          </a:p>
        </p:txBody>
      </p:sp>
      <p:sp>
        <p:nvSpPr>
          <p:cNvPr id="19" name="Shape 16"/>
          <p:cNvSpPr/>
          <p:nvPr/>
        </p:nvSpPr>
        <p:spPr>
          <a:xfrm>
            <a:off x="812800" y="4687491"/>
            <a:ext cx="7493000" cy="558800"/>
          </a:xfrm>
          <a:prstGeom prst="roundRect">
            <a:avLst>
              <a:gd name="adj" fmla="val 15909"/>
            </a:avLst>
          </a:prstGeom>
          <a:solidFill>
            <a:srgbClr val="FFFFFF"/>
          </a:solidFill>
          <a:ln/>
          <a:effectLst>
            <a:outerShdw sx="100000" sy="100000" kx="0" ky="0" algn="bl" rotWithShape="0" blurRad="101600" dist="25400" dir="5400000">
              <a:srgbClr val="C9D6E3">
                <a:alpha val="100000"/>
              </a:srgbClr>
            </a:outerShdw>
          </a:effectLst>
        </p:spPr>
      </p:sp>
      <p:sp>
        <p:nvSpPr>
          <p:cNvPr id="20" name="Text 17"/>
          <p:cNvSpPr/>
          <p:nvPr/>
        </p:nvSpPr>
        <p:spPr>
          <a:xfrm>
            <a:off x="990600" y="4801791"/>
            <a:ext cx="330200" cy="330200"/>
          </a:xfrm>
          <a:prstGeom prst="roundRect">
            <a:avLst>
              <a:gd name="adj" fmla="val 50000"/>
            </a:avLst>
          </a:prstGeom>
          <a:solidFill>
            <a:srgbClr val="0078D4"/>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8"/>
          <p:cNvSpPr/>
          <p:nvPr/>
        </p:nvSpPr>
        <p:spPr>
          <a:xfrm>
            <a:off x="1498600" y="4851301"/>
            <a:ext cx="682828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A1628"/>
                </a:solidFill>
                <a:latin typeface="Calibri" pitchFamily="34" charset="0"/>
                <a:ea typeface="Calibri" pitchFamily="34" charset="-122"/>
                <a:cs typeface="Calibri" pitchFamily="34" charset="-120"/>
              </a:rPr>
              <a:t>Fix the cause:</a:t>
            </a:r>
            <a:r>
              <a:rPr lang="en-US" sz="1400" dirty="0">
                <a:solidFill>
                  <a:srgbClr val="0A1628"/>
                </a:solidFill>
                <a:latin typeface="Calibri" pitchFamily="34" charset="0"/>
                <a:ea typeface="Calibri" pitchFamily="34" charset="-122"/>
                <a:cs typeface="Calibri" pitchFamily="34" charset="-120"/>
              </a:rPr>
              <a:t> patch, remove backdoors, reset passwords</a:t>
            </a:r>
            <a:endParaRPr lang="en-US" sz="1400" dirty="0"/>
          </a:p>
        </p:txBody>
      </p:sp>
      <p:sp>
        <p:nvSpPr>
          <p:cNvPr id="22" name="Shape 19"/>
          <p:cNvSpPr/>
          <p:nvPr/>
        </p:nvSpPr>
        <p:spPr>
          <a:xfrm>
            <a:off x="812800" y="5335191"/>
            <a:ext cx="7493000" cy="558800"/>
          </a:xfrm>
          <a:prstGeom prst="roundRect">
            <a:avLst>
              <a:gd name="adj" fmla="val 15909"/>
            </a:avLst>
          </a:prstGeom>
          <a:solidFill>
            <a:srgbClr val="FFFFFF"/>
          </a:solidFill>
          <a:ln/>
          <a:effectLst>
            <a:outerShdw sx="100000" sy="100000" kx="0" ky="0" algn="bl" rotWithShape="0" blurRad="101600" dist="25400" dir="5400000">
              <a:srgbClr val="C9D6E3">
                <a:alpha val="100000"/>
              </a:srgbClr>
            </a:outerShdw>
          </a:effectLst>
        </p:spPr>
      </p:sp>
      <p:sp>
        <p:nvSpPr>
          <p:cNvPr id="23" name="Text 20"/>
          <p:cNvSpPr/>
          <p:nvPr/>
        </p:nvSpPr>
        <p:spPr>
          <a:xfrm>
            <a:off x="990600" y="5449491"/>
            <a:ext cx="330200" cy="330200"/>
          </a:xfrm>
          <a:prstGeom prst="roundRect">
            <a:avLst>
              <a:gd name="adj" fmla="val 50000"/>
            </a:avLst>
          </a:prstGeom>
          <a:solidFill>
            <a:srgbClr val="0078D4"/>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4" name="Text 21"/>
          <p:cNvSpPr/>
          <p:nvPr/>
        </p:nvSpPr>
        <p:spPr>
          <a:xfrm>
            <a:off x="1498600" y="5499001"/>
            <a:ext cx="682828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A1628"/>
                </a:solidFill>
                <a:latin typeface="Calibri" pitchFamily="34" charset="0"/>
                <a:ea typeface="Calibri" pitchFamily="34" charset="-122"/>
                <a:cs typeface="Calibri" pitchFamily="34" charset="-120"/>
              </a:rPr>
              <a:t>Restore</a:t>
            </a:r>
            <a:r>
              <a:rPr lang="en-US" sz="1400" dirty="0">
                <a:solidFill>
                  <a:srgbClr val="0A1628"/>
                </a:solidFill>
                <a:latin typeface="Calibri" pitchFamily="34" charset="0"/>
                <a:ea typeface="Calibri" pitchFamily="34" charset="-122"/>
                <a:cs typeface="Calibri" pitchFamily="34" charset="-120"/>
              </a:rPr>
              <a:t> from a clean backup; Comms team informs users</a:t>
            </a:r>
            <a:endParaRPr lang="en-US" sz="1400" dirty="0"/>
          </a:p>
        </p:txBody>
      </p:sp>
      <p:pic>
        <p:nvPicPr>
          <p:cNvPr id="25" name="Image 1" descr="Incident response cycle around a protected web page">    </p:cNvPr>
          <p:cNvPicPr>
            <a:picLocks noChangeAspect="1"/>
          </p:cNvPicPr>
          <p:nvPr/>
        </p:nvPicPr>
        <p:blipFill>
          <a:blip r:embed="rId2"/>
          <a:srcRect l="0" r="0" t="0" b="0"/>
          <a:stretch/>
        </p:blipFill>
        <p:spPr>
          <a:xfrm>
            <a:off x="8712200" y="2042120"/>
            <a:ext cx="2667000" cy="3302000"/>
          </a:xfrm>
          <a:prstGeom prst="rect">
            <a:avLst/>
          </a:prstGeom>
        </p:spPr>
      </p:pic>
      <p:sp>
        <p:nvSpPr>
          <p:cNvPr id="26" name="Text 2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Web Defacement Awareness</a:t>
            </a:r>
            <a:endParaRPr lang="en-US" sz="1200" dirty="0"/>
          </a:p>
        </p:txBody>
      </p:sp>
      <p:sp>
        <p:nvSpPr>
          <p:cNvPr id="27" name="Text 23"/>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08 · PREVENTION</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Six controls that prevent defacement</a:t>
            </a:r>
            <a:endParaRPr lang="en-US" sz="3600" dirty="0"/>
          </a:p>
        </p:txBody>
      </p:sp>
      <p:sp>
        <p:nvSpPr>
          <p:cNvPr id="5" name="Shape 2"/>
          <p:cNvSpPr/>
          <p:nvPr/>
        </p:nvSpPr>
        <p:spPr>
          <a:xfrm>
            <a:off x="812800" y="2017117"/>
            <a:ext cx="3403600" cy="1823541"/>
          </a:xfrm>
          <a:prstGeom prst="roundRect">
            <a:avLst>
              <a:gd name="adj" fmla="val 5572"/>
            </a:avLst>
          </a:prstGeom>
          <a:solidFill>
            <a:srgbClr val="FFFFFF"/>
          </a:solidFill>
          <a:ln/>
          <a:effectLst>
            <a:outerShdw sx="100000" sy="100000" kx="0" ky="0" algn="bl" rotWithShape="0" blurRad="101600" dist="25400" dir="5400000">
              <a:srgbClr val="C9D6E3">
                <a:alpha val="100000"/>
              </a:srgbClr>
            </a:outerShdw>
          </a:effectLst>
        </p:spPr>
      </p:sp>
      <p:pic>
        <p:nvPicPr>
          <p:cNvPr id="6" name="Image 1" descr="Update arrows">    </p:cNvPr>
          <p:cNvPicPr>
            <a:picLocks noChangeAspect="1"/>
          </p:cNvPicPr>
          <p:nvPr/>
        </p:nvPicPr>
        <p:blipFill>
          <a:blip r:embed="rId2"/>
          <a:srcRect l="0" r="0" t="0" b="0"/>
          <a:stretch/>
        </p:blipFill>
        <p:spPr>
          <a:xfrm>
            <a:off x="1041400" y="2220317"/>
            <a:ext cx="508000" cy="508000"/>
          </a:xfrm>
          <a:prstGeom prst="rect">
            <a:avLst/>
          </a:prstGeom>
        </p:spPr>
      </p:pic>
      <p:sp>
        <p:nvSpPr>
          <p:cNvPr id="7" name="Text 3"/>
          <p:cNvSpPr/>
          <p:nvPr/>
        </p:nvSpPr>
        <p:spPr>
          <a:xfrm>
            <a:off x="1041400" y="2804517"/>
            <a:ext cx="30347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Patch quickly</a:t>
            </a:r>
            <a:endParaRPr lang="en-US" sz="1700" dirty="0"/>
          </a:p>
        </p:txBody>
      </p:sp>
      <p:sp>
        <p:nvSpPr>
          <p:cNvPr id="8" name="Text 4"/>
          <p:cNvSpPr/>
          <p:nvPr/>
        </p:nvSpPr>
        <p:spPr>
          <a:xfrm>
            <a:off x="1041400" y="3139777"/>
            <a:ext cx="30347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CMS, plug-ins, themes and servers.</a:t>
            </a:r>
            <a:endParaRPr lang="en-US" sz="1400" dirty="0"/>
          </a:p>
        </p:txBody>
      </p:sp>
      <p:sp>
        <p:nvSpPr>
          <p:cNvPr id="9" name="Shape 5"/>
          <p:cNvSpPr/>
          <p:nvPr/>
        </p:nvSpPr>
        <p:spPr>
          <a:xfrm>
            <a:off x="4394200" y="2017117"/>
            <a:ext cx="3403600" cy="1823541"/>
          </a:xfrm>
          <a:prstGeom prst="roundRect">
            <a:avLst>
              <a:gd name="adj" fmla="val 5572"/>
            </a:avLst>
          </a:prstGeom>
          <a:solidFill>
            <a:srgbClr val="FFFFFF"/>
          </a:solidFill>
          <a:ln/>
          <a:effectLst>
            <a:outerShdw sx="100000" sy="100000" kx="0" ky="0" algn="bl" rotWithShape="0" blurRad="101600" dist="25400" dir="5400000">
              <a:srgbClr val="C9D6E3">
                <a:alpha val="100000"/>
              </a:srgbClr>
            </a:outerShdw>
          </a:effectLst>
        </p:spPr>
      </p:sp>
      <p:pic>
        <p:nvPicPr>
          <p:cNvPr id="10" name="Image 2" descr="Phone with check">    </p:cNvPr>
          <p:cNvPicPr>
            <a:picLocks noChangeAspect="1"/>
          </p:cNvPicPr>
          <p:nvPr/>
        </p:nvPicPr>
        <p:blipFill>
          <a:blip r:embed="rId3"/>
          <a:srcRect l="0" r="0" t="0" b="0"/>
          <a:stretch/>
        </p:blipFill>
        <p:spPr>
          <a:xfrm>
            <a:off x="4622800" y="2220317"/>
            <a:ext cx="508000" cy="508000"/>
          </a:xfrm>
          <a:prstGeom prst="rect">
            <a:avLst/>
          </a:prstGeom>
        </p:spPr>
      </p:pic>
      <p:sp>
        <p:nvSpPr>
          <p:cNvPr id="11" name="Text 6"/>
          <p:cNvSpPr/>
          <p:nvPr/>
        </p:nvSpPr>
        <p:spPr>
          <a:xfrm>
            <a:off x="4622800" y="2804517"/>
            <a:ext cx="30347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MFA everywhere</a:t>
            </a:r>
            <a:endParaRPr lang="en-US" sz="1700" dirty="0"/>
          </a:p>
        </p:txBody>
      </p:sp>
      <p:sp>
        <p:nvSpPr>
          <p:cNvPr id="12" name="Text 7"/>
          <p:cNvSpPr/>
          <p:nvPr/>
        </p:nvSpPr>
        <p:spPr>
          <a:xfrm>
            <a:off x="4622800" y="3139777"/>
            <a:ext cx="30347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Website, hosting, DNS and domain logins.</a:t>
            </a:r>
            <a:endParaRPr lang="en-US" sz="1400" dirty="0"/>
          </a:p>
        </p:txBody>
      </p:sp>
      <p:sp>
        <p:nvSpPr>
          <p:cNvPr id="13" name="Shape 8"/>
          <p:cNvSpPr/>
          <p:nvPr/>
        </p:nvSpPr>
        <p:spPr>
          <a:xfrm>
            <a:off x="7975600" y="2017117"/>
            <a:ext cx="3403600" cy="1823541"/>
          </a:xfrm>
          <a:prstGeom prst="roundRect">
            <a:avLst>
              <a:gd name="adj" fmla="val 5572"/>
            </a:avLst>
          </a:prstGeom>
          <a:solidFill>
            <a:srgbClr val="FFFFFF"/>
          </a:solidFill>
          <a:ln/>
          <a:effectLst>
            <a:outerShdw sx="100000" sy="100000" kx="0" ky="0" algn="bl" rotWithShape="0" blurRad="101600" dist="25400" dir="5400000">
              <a:srgbClr val="C9D6E3">
                <a:alpha val="100000"/>
              </a:srgbClr>
            </a:outerShdw>
          </a:effectLst>
        </p:spPr>
      </p:sp>
      <p:pic>
        <p:nvPicPr>
          <p:cNvPr id="14" name="Image 3" descr="Users with limited access">    </p:cNvPr>
          <p:cNvPicPr>
            <a:picLocks noChangeAspect="1"/>
          </p:cNvPicPr>
          <p:nvPr/>
        </p:nvPicPr>
        <p:blipFill>
          <a:blip r:embed="rId4"/>
          <a:srcRect l="0" r="0" t="0" b="0"/>
          <a:stretch/>
        </p:blipFill>
        <p:spPr>
          <a:xfrm>
            <a:off x="8204200" y="2220317"/>
            <a:ext cx="508000" cy="508000"/>
          </a:xfrm>
          <a:prstGeom prst="rect">
            <a:avLst/>
          </a:prstGeom>
        </p:spPr>
      </p:pic>
      <p:sp>
        <p:nvSpPr>
          <p:cNvPr id="15" name="Text 9"/>
          <p:cNvSpPr/>
          <p:nvPr/>
        </p:nvSpPr>
        <p:spPr>
          <a:xfrm>
            <a:off x="8204200" y="2804517"/>
            <a:ext cx="30347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Least privilege</a:t>
            </a:r>
            <a:endParaRPr lang="en-US" sz="1700" dirty="0"/>
          </a:p>
        </p:txBody>
      </p:sp>
      <p:sp>
        <p:nvSpPr>
          <p:cNvPr id="16" name="Text 10"/>
          <p:cNvSpPr/>
          <p:nvPr/>
        </p:nvSpPr>
        <p:spPr>
          <a:xfrm>
            <a:off x="8204200" y="3139777"/>
            <a:ext cx="31750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Only the access each person needs.</a:t>
            </a:r>
            <a:endParaRPr lang="en-US" sz="1400" dirty="0"/>
          </a:p>
        </p:txBody>
      </p:sp>
      <p:sp>
        <p:nvSpPr>
          <p:cNvPr id="17" name="Shape 11"/>
          <p:cNvSpPr/>
          <p:nvPr/>
        </p:nvSpPr>
        <p:spPr>
          <a:xfrm>
            <a:off x="812800" y="4018459"/>
            <a:ext cx="3403600" cy="1823541"/>
          </a:xfrm>
          <a:prstGeom prst="roundRect">
            <a:avLst>
              <a:gd name="adj" fmla="val 5572"/>
            </a:avLst>
          </a:prstGeom>
          <a:solidFill>
            <a:srgbClr val="FFFFFF"/>
          </a:solidFill>
          <a:ln/>
          <a:effectLst>
            <a:outerShdw sx="100000" sy="100000" kx="0" ky="0" algn="bl" rotWithShape="0" blurRad="101600" dist="25400" dir="5400000">
              <a:srgbClr val="C9D6E3">
                <a:alpha val="100000"/>
              </a:srgbClr>
            </a:outerShdw>
          </a:effectLst>
        </p:spPr>
      </p:sp>
      <p:pic>
        <p:nvPicPr>
          <p:cNvPr id="18" name="Image 4" descr="Firewall shield">    </p:cNvPr>
          <p:cNvPicPr>
            <a:picLocks noChangeAspect="1"/>
          </p:cNvPicPr>
          <p:nvPr/>
        </p:nvPicPr>
        <p:blipFill>
          <a:blip r:embed="rId5"/>
          <a:srcRect l="0" r="0" t="0" b="0"/>
          <a:stretch/>
        </p:blipFill>
        <p:spPr>
          <a:xfrm>
            <a:off x="1041400" y="4221659"/>
            <a:ext cx="508000" cy="508000"/>
          </a:xfrm>
          <a:prstGeom prst="rect">
            <a:avLst/>
          </a:prstGeom>
        </p:spPr>
      </p:pic>
      <p:sp>
        <p:nvSpPr>
          <p:cNvPr id="19" name="Text 12"/>
          <p:cNvSpPr/>
          <p:nvPr/>
        </p:nvSpPr>
        <p:spPr>
          <a:xfrm>
            <a:off x="1041400" y="4805859"/>
            <a:ext cx="30347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Web application firewall</a:t>
            </a:r>
            <a:endParaRPr lang="en-US" sz="1700" dirty="0"/>
          </a:p>
        </p:txBody>
      </p:sp>
      <p:sp>
        <p:nvSpPr>
          <p:cNvPr id="20" name="Text 13"/>
          <p:cNvSpPr/>
          <p:nvPr/>
        </p:nvSpPr>
        <p:spPr>
          <a:xfrm>
            <a:off x="1041400" y="5141119"/>
            <a:ext cx="30347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Blocks common attacks before they land.</a:t>
            </a:r>
            <a:endParaRPr lang="en-US" sz="1400" dirty="0"/>
          </a:p>
        </p:txBody>
      </p:sp>
      <p:sp>
        <p:nvSpPr>
          <p:cNvPr id="21" name="Shape 14"/>
          <p:cNvSpPr/>
          <p:nvPr/>
        </p:nvSpPr>
        <p:spPr>
          <a:xfrm>
            <a:off x="4394200" y="4018459"/>
            <a:ext cx="3403600" cy="1823541"/>
          </a:xfrm>
          <a:prstGeom prst="roundRect">
            <a:avLst>
              <a:gd name="adj" fmla="val 5572"/>
            </a:avLst>
          </a:prstGeom>
          <a:solidFill>
            <a:srgbClr val="FFFFFF"/>
          </a:solidFill>
          <a:ln/>
          <a:effectLst>
            <a:outerShdw sx="100000" sy="100000" kx="0" ky="0" algn="bl" rotWithShape="0" blurRad="101600" dist="25400" dir="5400000">
              <a:srgbClr val="C9D6E3">
                <a:alpha val="100000"/>
              </a:srgbClr>
            </a:outerShdw>
          </a:effectLst>
        </p:spPr>
      </p:sp>
      <p:pic>
        <p:nvPicPr>
          <p:cNvPr id="22" name="Image 5" descr="Monitoring pulse">    </p:cNvPr>
          <p:cNvPicPr>
            <a:picLocks noChangeAspect="1"/>
          </p:cNvPicPr>
          <p:nvPr/>
        </p:nvPicPr>
        <p:blipFill>
          <a:blip r:embed="rId6"/>
          <a:srcRect l="0" r="0" t="0" b="0"/>
          <a:stretch/>
        </p:blipFill>
        <p:spPr>
          <a:xfrm>
            <a:off x="4622800" y="4221659"/>
            <a:ext cx="508000" cy="508000"/>
          </a:xfrm>
          <a:prstGeom prst="rect">
            <a:avLst/>
          </a:prstGeom>
        </p:spPr>
      </p:pic>
      <p:sp>
        <p:nvSpPr>
          <p:cNvPr id="23" name="Text 15"/>
          <p:cNvSpPr/>
          <p:nvPr/>
        </p:nvSpPr>
        <p:spPr>
          <a:xfrm>
            <a:off x="4622800" y="4805859"/>
            <a:ext cx="30347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Monitor changes</a:t>
            </a:r>
            <a:endParaRPr lang="en-US" sz="1700" dirty="0"/>
          </a:p>
        </p:txBody>
      </p:sp>
      <p:sp>
        <p:nvSpPr>
          <p:cNvPr id="24" name="Text 16"/>
          <p:cNvSpPr/>
          <p:nvPr/>
        </p:nvSpPr>
        <p:spPr>
          <a:xfrm>
            <a:off x="4622800" y="5141119"/>
            <a:ext cx="30347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File integrity and uptime alerts.</a:t>
            </a:r>
            <a:endParaRPr lang="en-US" sz="1400" dirty="0"/>
          </a:p>
        </p:txBody>
      </p:sp>
      <p:sp>
        <p:nvSpPr>
          <p:cNvPr id="25" name="Shape 17"/>
          <p:cNvSpPr/>
          <p:nvPr/>
        </p:nvSpPr>
        <p:spPr>
          <a:xfrm>
            <a:off x="7975600" y="4018459"/>
            <a:ext cx="3403600" cy="1823541"/>
          </a:xfrm>
          <a:prstGeom prst="roundRect">
            <a:avLst>
              <a:gd name="adj" fmla="val 5572"/>
            </a:avLst>
          </a:prstGeom>
          <a:solidFill>
            <a:srgbClr val="FFFFFF"/>
          </a:solidFill>
          <a:ln/>
          <a:effectLst>
            <a:outerShdw sx="100000" sy="100000" kx="0" ky="0" algn="bl" rotWithShape="0" blurRad="101600" dist="25400" dir="5400000">
              <a:srgbClr val="C9D6E3">
                <a:alpha val="100000"/>
              </a:srgbClr>
            </a:outerShdw>
          </a:effectLst>
        </p:spPr>
      </p:sp>
      <p:pic>
        <p:nvPicPr>
          <p:cNvPr id="26" name="Image 6" descr="Backup">    </p:cNvPr>
          <p:cNvPicPr>
            <a:picLocks noChangeAspect="1"/>
          </p:cNvPicPr>
          <p:nvPr/>
        </p:nvPicPr>
        <p:blipFill>
          <a:blip r:embed="rId7"/>
          <a:srcRect l="0" r="0" t="0" b="0"/>
          <a:stretch/>
        </p:blipFill>
        <p:spPr>
          <a:xfrm>
            <a:off x="8204200" y="4221659"/>
            <a:ext cx="508000" cy="508000"/>
          </a:xfrm>
          <a:prstGeom prst="rect">
            <a:avLst/>
          </a:prstGeom>
        </p:spPr>
      </p:pic>
      <p:sp>
        <p:nvSpPr>
          <p:cNvPr id="27" name="Text 18"/>
          <p:cNvSpPr/>
          <p:nvPr/>
        </p:nvSpPr>
        <p:spPr>
          <a:xfrm>
            <a:off x="8204200" y="4805859"/>
            <a:ext cx="30347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Tested backups</a:t>
            </a:r>
            <a:endParaRPr lang="en-US" sz="1700" dirty="0"/>
          </a:p>
        </p:txBody>
      </p:sp>
      <p:sp>
        <p:nvSpPr>
          <p:cNvPr id="28" name="Text 19"/>
          <p:cNvSpPr/>
          <p:nvPr/>
        </p:nvSpPr>
        <p:spPr>
          <a:xfrm>
            <a:off x="8204200" y="5141119"/>
            <a:ext cx="30347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Offline copies we can restore fast.</a:t>
            </a:r>
            <a:endParaRPr lang="en-US" sz="1400" dirty="0"/>
          </a:p>
        </p:txBody>
      </p:sp>
      <p:sp>
        <p:nvSpPr>
          <p:cNvPr id="29"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Web Defacement Awareness</a:t>
            </a:r>
            <a:endParaRPr lang="en-US" sz="1200" dirty="0"/>
          </a:p>
        </p:txBody>
      </p:sp>
      <p:sp>
        <p:nvSpPr>
          <p:cNvPr id="30" name="Text 21"/>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B7C3"/>
                </a:solidFill>
                <a:latin typeface="Calibri" pitchFamily="34" charset="0"/>
                <a:ea typeface="Calibri" pitchFamily="34" charset="-122"/>
                <a:cs typeface="Calibri" pitchFamily="34" charset="-120"/>
              </a:rPr>
              <a:t>09 · SHARED RESPONSIBILITY</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7FB"/>
                </a:solidFill>
                <a:latin typeface="Arial" pitchFamily="34" charset="0"/>
                <a:ea typeface="Arial" pitchFamily="34" charset="-122"/>
                <a:cs typeface="Arial" pitchFamily="34" charset="-120"/>
              </a:rPr>
              <a:t>Everyone has a role</a:t>
            </a:r>
            <a:endParaRPr lang="en-US" sz="3600" dirty="0"/>
          </a:p>
        </p:txBody>
      </p:sp>
      <p:sp>
        <p:nvSpPr>
          <p:cNvPr id="5" name="Shape 2"/>
          <p:cNvSpPr/>
          <p:nvPr/>
        </p:nvSpPr>
        <p:spPr>
          <a:xfrm>
            <a:off x="812800" y="1620441"/>
            <a:ext cx="3403600" cy="4221559"/>
          </a:xfrm>
          <a:prstGeom prst="roundRect">
            <a:avLst>
              <a:gd name="adj" fmla="val 2985"/>
            </a:avLst>
          </a:prstGeom>
          <a:solidFill>
            <a:srgbClr val="13294B"/>
          </a:solidFill>
          <a:ln/>
        </p:spPr>
      </p:sp>
      <p:sp>
        <p:nvSpPr>
          <p:cNvPr id="6" name="Shape 3"/>
          <p:cNvSpPr/>
          <p:nvPr/>
        </p:nvSpPr>
        <p:spPr>
          <a:xfrm>
            <a:off x="1041400" y="1874441"/>
            <a:ext cx="457200" cy="457200"/>
          </a:xfrm>
          <a:prstGeom prst="roundRect">
            <a:avLst>
              <a:gd name="adj" fmla="val 50000"/>
            </a:avLst>
          </a:prstGeom>
          <a:solidFill>
            <a:srgbClr val="0078D4"/>
          </a:solidFill>
          <a:ln/>
        </p:spPr>
      </p:sp>
      <p:pic>
        <p:nvPicPr>
          <p:cNvPr id="7" name="Image 1" descr="People">    </p:cNvPr>
          <p:cNvPicPr>
            <a:picLocks noChangeAspect="1"/>
          </p:cNvPicPr>
          <p:nvPr/>
        </p:nvPicPr>
        <p:blipFill>
          <a:blip r:embed="rId2"/>
          <a:srcRect l="0" r="0" t="0" b="0"/>
          <a:stretch/>
        </p:blipFill>
        <p:spPr>
          <a:xfrm>
            <a:off x="1149350" y="1982391"/>
            <a:ext cx="241300" cy="241300"/>
          </a:xfrm>
          <a:prstGeom prst="rect">
            <a:avLst/>
          </a:prstGeom>
        </p:spPr>
      </p:pic>
      <p:sp>
        <p:nvSpPr>
          <p:cNvPr id="8" name="Text 4"/>
          <p:cNvSpPr/>
          <p:nvPr/>
        </p:nvSpPr>
        <p:spPr>
          <a:xfrm>
            <a:off x="1625600" y="1965920"/>
            <a:ext cx="100595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Calibri" pitchFamily="34" charset="0"/>
                <a:ea typeface="Calibri" pitchFamily="34" charset="-122"/>
                <a:cs typeface="Calibri" pitchFamily="34" charset="-120"/>
              </a:rPr>
              <a:t>All staff</a:t>
            </a:r>
            <a:endParaRPr lang="en-US" sz="1800" dirty="0"/>
          </a:p>
        </p:txBody>
      </p:sp>
      <p:pic>
        <p:nvPicPr>
          <p:cNvPr id="9" name="Image 2" descr="Check">    </p:cNvPr>
          <p:cNvPicPr>
            <a:picLocks noChangeAspect="1"/>
          </p:cNvPicPr>
          <p:nvPr/>
        </p:nvPicPr>
        <p:blipFill>
          <a:blip r:embed="rId3"/>
          <a:srcRect l="0" r="0" t="0" b="0"/>
          <a:stretch/>
        </p:blipFill>
        <p:spPr>
          <a:xfrm>
            <a:off x="1041400" y="2484041"/>
            <a:ext cx="203200" cy="203200"/>
          </a:xfrm>
          <a:prstGeom prst="rect">
            <a:avLst/>
          </a:prstGeom>
        </p:spPr>
      </p:pic>
      <p:sp>
        <p:nvSpPr>
          <p:cNvPr id="10" name="Text 5"/>
          <p:cNvSpPr/>
          <p:nvPr/>
        </p:nvSpPr>
        <p:spPr>
          <a:xfrm>
            <a:off x="1346200" y="2484041"/>
            <a:ext cx="272084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7FB"/>
                </a:solidFill>
                <a:latin typeface="Calibri" pitchFamily="34" charset="0"/>
                <a:ea typeface="Calibri" pitchFamily="34" charset="-122"/>
                <a:cs typeface="Calibri" pitchFamily="34" charset="-120"/>
              </a:rPr>
              <a:t>Report anything odd on our website</a:t>
            </a:r>
            <a:endParaRPr lang="en-US" sz="1400" dirty="0"/>
          </a:p>
        </p:txBody>
      </p:sp>
      <p:pic>
        <p:nvPicPr>
          <p:cNvPr id="11" name="Image 3" descr="Check">    </p:cNvPr>
          <p:cNvPicPr>
            <a:picLocks noChangeAspect="1"/>
          </p:cNvPicPr>
          <p:nvPr/>
        </p:nvPicPr>
        <p:blipFill>
          <a:blip r:embed="rId4"/>
          <a:srcRect l="0" r="0" t="0" b="0"/>
          <a:stretch/>
        </p:blipFill>
        <p:spPr>
          <a:xfrm>
            <a:off x="1041400" y="3116461"/>
            <a:ext cx="203200" cy="203200"/>
          </a:xfrm>
          <a:prstGeom prst="rect">
            <a:avLst/>
          </a:prstGeom>
        </p:spPr>
      </p:pic>
      <p:sp>
        <p:nvSpPr>
          <p:cNvPr id="12" name="Text 6"/>
          <p:cNvSpPr/>
          <p:nvPr/>
        </p:nvSpPr>
        <p:spPr>
          <a:xfrm>
            <a:off x="1346200" y="3116461"/>
            <a:ext cx="272084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7FB"/>
                </a:solidFill>
                <a:latin typeface="Calibri" pitchFamily="34" charset="0"/>
                <a:ea typeface="Calibri" pitchFamily="34" charset="-122"/>
                <a:cs typeface="Calibri" pitchFamily="34" charset="-120"/>
              </a:rPr>
              <a:t>Never share website or hosting logins</a:t>
            </a:r>
            <a:endParaRPr lang="en-US" sz="1400" dirty="0"/>
          </a:p>
        </p:txBody>
      </p:sp>
      <p:pic>
        <p:nvPicPr>
          <p:cNvPr id="13" name="Image 4" descr="Check">    </p:cNvPr>
          <p:cNvPicPr>
            <a:picLocks noChangeAspect="1"/>
          </p:cNvPicPr>
          <p:nvPr/>
        </p:nvPicPr>
        <p:blipFill>
          <a:blip r:embed="rId5"/>
          <a:srcRect l="0" r="0" t="0" b="0"/>
          <a:stretch/>
        </p:blipFill>
        <p:spPr>
          <a:xfrm>
            <a:off x="1041400" y="3748881"/>
            <a:ext cx="203200" cy="203200"/>
          </a:xfrm>
          <a:prstGeom prst="rect">
            <a:avLst/>
          </a:prstGeom>
        </p:spPr>
      </p:pic>
      <p:sp>
        <p:nvSpPr>
          <p:cNvPr id="14" name="Text 7"/>
          <p:cNvSpPr/>
          <p:nvPr/>
        </p:nvSpPr>
        <p:spPr>
          <a:xfrm>
            <a:off x="1346200" y="3748881"/>
            <a:ext cx="272084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7FB"/>
                </a:solidFill>
                <a:latin typeface="Calibri" pitchFamily="34" charset="0"/>
                <a:ea typeface="Calibri" pitchFamily="34" charset="-122"/>
                <a:cs typeface="Calibri" pitchFamily="34" charset="-120"/>
              </a:rPr>
              <a:t>Watch for phishing aimed at admins</a:t>
            </a:r>
            <a:endParaRPr lang="en-US" sz="1400" dirty="0"/>
          </a:p>
        </p:txBody>
      </p:sp>
      <p:sp>
        <p:nvSpPr>
          <p:cNvPr id="15" name="Shape 8"/>
          <p:cNvSpPr/>
          <p:nvPr/>
        </p:nvSpPr>
        <p:spPr>
          <a:xfrm>
            <a:off x="4394200" y="1620441"/>
            <a:ext cx="3403600" cy="4221559"/>
          </a:xfrm>
          <a:prstGeom prst="roundRect">
            <a:avLst>
              <a:gd name="adj" fmla="val 2985"/>
            </a:avLst>
          </a:prstGeom>
          <a:solidFill>
            <a:srgbClr val="13294B"/>
          </a:solidFill>
          <a:ln/>
        </p:spPr>
      </p:sp>
      <p:sp>
        <p:nvSpPr>
          <p:cNvPr id="16" name="Shape 9"/>
          <p:cNvSpPr/>
          <p:nvPr/>
        </p:nvSpPr>
        <p:spPr>
          <a:xfrm>
            <a:off x="4622800" y="1874441"/>
            <a:ext cx="457200" cy="457200"/>
          </a:xfrm>
          <a:prstGeom prst="roundRect">
            <a:avLst>
              <a:gd name="adj" fmla="val 50000"/>
            </a:avLst>
          </a:prstGeom>
          <a:solidFill>
            <a:srgbClr val="0078D4"/>
          </a:solidFill>
          <a:ln/>
        </p:spPr>
      </p:sp>
      <p:pic>
        <p:nvPicPr>
          <p:cNvPr id="17" name="Image 5" descr="Pen">    </p:cNvPr>
          <p:cNvPicPr>
            <a:picLocks noChangeAspect="1"/>
          </p:cNvPicPr>
          <p:nvPr/>
        </p:nvPicPr>
        <p:blipFill>
          <a:blip r:embed="rId6"/>
          <a:srcRect l="0" r="0" t="0" b="0"/>
          <a:stretch/>
        </p:blipFill>
        <p:spPr>
          <a:xfrm>
            <a:off x="4730750" y="1982391"/>
            <a:ext cx="241300" cy="241300"/>
          </a:xfrm>
          <a:prstGeom prst="rect">
            <a:avLst/>
          </a:prstGeom>
        </p:spPr>
      </p:pic>
      <p:sp>
        <p:nvSpPr>
          <p:cNvPr id="18" name="Text 10"/>
          <p:cNvSpPr/>
          <p:nvPr/>
        </p:nvSpPr>
        <p:spPr>
          <a:xfrm>
            <a:off x="5207000" y="1965920"/>
            <a:ext cx="202692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Calibri" pitchFamily="34" charset="0"/>
                <a:ea typeface="Calibri" pitchFamily="34" charset="-122"/>
                <a:cs typeface="Calibri" pitchFamily="34" charset="-120"/>
              </a:rPr>
              <a:t>Content editors</a:t>
            </a:r>
            <a:endParaRPr lang="en-US" sz="1800" dirty="0"/>
          </a:p>
        </p:txBody>
      </p:sp>
      <p:pic>
        <p:nvPicPr>
          <p:cNvPr id="19" name="Image 6" descr="Check">    </p:cNvPr>
          <p:cNvPicPr>
            <a:picLocks noChangeAspect="1"/>
          </p:cNvPicPr>
          <p:nvPr/>
        </p:nvPicPr>
        <p:blipFill>
          <a:blip r:embed="rId7"/>
          <a:srcRect l="0" r="0" t="0" b="0"/>
          <a:stretch/>
        </p:blipFill>
        <p:spPr>
          <a:xfrm>
            <a:off x="4622800" y="2484041"/>
            <a:ext cx="203200" cy="203200"/>
          </a:xfrm>
          <a:prstGeom prst="rect">
            <a:avLst/>
          </a:prstGeom>
        </p:spPr>
      </p:pic>
      <p:sp>
        <p:nvSpPr>
          <p:cNvPr id="20" name="Text 11"/>
          <p:cNvSpPr/>
          <p:nvPr/>
        </p:nvSpPr>
        <p:spPr>
          <a:xfrm>
            <a:off x="4927600" y="2484041"/>
            <a:ext cx="28702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7FB"/>
                </a:solidFill>
                <a:latin typeface="Calibri" pitchFamily="34" charset="0"/>
                <a:ea typeface="Calibri" pitchFamily="34" charset="-122"/>
                <a:cs typeface="Calibri" pitchFamily="34" charset="-120"/>
              </a:rPr>
              <a:t>Use your own account, with MFA</a:t>
            </a:r>
            <a:endParaRPr lang="en-US" sz="1400" dirty="0"/>
          </a:p>
        </p:txBody>
      </p:sp>
      <p:pic>
        <p:nvPicPr>
          <p:cNvPr id="21" name="Image 7" descr="Check">    </p:cNvPr>
          <p:cNvPicPr>
            <a:picLocks noChangeAspect="1"/>
          </p:cNvPicPr>
          <p:nvPr/>
        </p:nvPicPr>
        <p:blipFill>
          <a:blip r:embed="rId8"/>
          <a:srcRect l="0" r="0" t="0" b="0"/>
          <a:stretch/>
        </p:blipFill>
        <p:spPr>
          <a:xfrm>
            <a:off x="4622800" y="2876451"/>
            <a:ext cx="203200" cy="203200"/>
          </a:xfrm>
          <a:prstGeom prst="rect">
            <a:avLst/>
          </a:prstGeom>
        </p:spPr>
      </p:pic>
      <p:sp>
        <p:nvSpPr>
          <p:cNvPr id="22" name="Text 12"/>
          <p:cNvSpPr/>
          <p:nvPr/>
        </p:nvSpPr>
        <p:spPr>
          <a:xfrm>
            <a:off x="4927600" y="2876451"/>
            <a:ext cx="272084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7FB"/>
                </a:solidFill>
                <a:latin typeface="Calibri" pitchFamily="34" charset="0"/>
                <a:ea typeface="Calibri" pitchFamily="34" charset="-122"/>
                <a:cs typeface="Calibri" pitchFamily="34" charset="-120"/>
              </a:rPr>
              <a:t>Install only approved plug-ins</a:t>
            </a:r>
            <a:endParaRPr lang="en-US" sz="1400" dirty="0"/>
          </a:p>
        </p:txBody>
      </p:sp>
      <p:pic>
        <p:nvPicPr>
          <p:cNvPr id="23" name="Image 8" descr="Check">    </p:cNvPr>
          <p:cNvPicPr>
            <a:picLocks noChangeAspect="1"/>
          </p:cNvPicPr>
          <p:nvPr/>
        </p:nvPicPr>
        <p:blipFill>
          <a:blip r:embed="rId9"/>
          <a:srcRect l="0" r="0" t="0" b="0"/>
          <a:stretch/>
        </p:blipFill>
        <p:spPr>
          <a:xfrm>
            <a:off x="4622800" y="3268861"/>
            <a:ext cx="203200" cy="203200"/>
          </a:xfrm>
          <a:prstGeom prst="rect">
            <a:avLst/>
          </a:prstGeom>
        </p:spPr>
      </p:pic>
      <p:sp>
        <p:nvSpPr>
          <p:cNvPr id="24" name="Text 13"/>
          <p:cNvSpPr/>
          <p:nvPr/>
        </p:nvSpPr>
        <p:spPr>
          <a:xfrm>
            <a:off x="4927600" y="3268861"/>
            <a:ext cx="272084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7FB"/>
                </a:solidFill>
                <a:latin typeface="Calibri" pitchFamily="34" charset="0"/>
                <a:ea typeface="Calibri" pitchFamily="34" charset="-122"/>
                <a:cs typeface="Calibri" pitchFamily="34" charset="-120"/>
              </a:rPr>
              <a:t>Log out on shared devices</a:t>
            </a:r>
            <a:endParaRPr lang="en-US" sz="1400" dirty="0"/>
          </a:p>
        </p:txBody>
      </p:sp>
      <p:sp>
        <p:nvSpPr>
          <p:cNvPr id="25" name="Shape 14"/>
          <p:cNvSpPr/>
          <p:nvPr/>
        </p:nvSpPr>
        <p:spPr>
          <a:xfrm>
            <a:off x="7975600" y="1620441"/>
            <a:ext cx="3403600" cy="4221559"/>
          </a:xfrm>
          <a:prstGeom prst="roundRect">
            <a:avLst>
              <a:gd name="adj" fmla="val 2985"/>
            </a:avLst>
          </a:prstGeom>
          <a:solidFill>
            <a:srgbClr val="13294B"/>
          </a:solidFill>
          <a:ln/>
        </p:spPr>
      </p:sp>
      <p:sp>
        <p:nvSpPr>
          <p:cNvPr id="26" name="Shape 15"/>
          <p:cNvSpPr/>
          <p:nvPr/>
        </p:nvSpPr>
        <p:spPr>
          <a:xfrm>
            <a:off x="8204200" y="1874441"/>
            <a:ext cx="457200" cy="457200"/>
          </a:xfrm>
          <a:prstGeom prst="roundRect">
            <a:avLst>
              <a:gd name="adj" fmla="val 50000"/>
            </a:avLst>
          </a:prstGeom>
          <a:solidFill>
            <a:srgbClr val="0078D4"/>
          </a:solidFill>
          <a:ln/>
        </p:spPr>
      </p:sp>
      <p:pic>
        <p:nvPicPr>
          <p:cNvPr id="27" name="Image 9" descr="Server">    </p:cNvPr>
          <p:cNvPicPr>
            <a:picLocks noChangeAspect="1"/>
          </p:cNvPicPr>
          <p:nvPr/>
        </p:nvPicPr>
        <p:blipFill>
          <a:blip r:embed="rId10"/>
          <a:srcRect l="0" r="0" t="0" b="0"/>
          <a:stretch/>
        </p:blipFill>
        <p:spPr>
          <a:xfrm>
            <a:off x="8312150" y="1982391"/>
            <a:ext cx="241300" cy="241300"/>
          </a:xfrm>
          <a:prstGeom prst="rect">
            <a:avLst/>
          </a:prstGeom>
        </p:spPr>
      </p:pic>
      <p:sp>
        <p:nvSpPr>
          <p:cNvPr id="28" name="Text 16"/>
          <p:cNvSpPr/>
          <p:nvPr/>
        </p:nvSpPr>
        <p:spPr>
          <a:xfrm>
            <a:off x="8788400" y="1965920"/>
            <a:ext cx="217467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Calibri" pitchFamily="34" charset="0"/>
                <a:ea typeface="Calibri" pitchFamily="34" charset="-122"/>
                <a:cs typeface="Calibri" pitchFamily="34" charset="-120"/>
              </a:rPr>
              <a:t>Web and IT team</a:t>
            </a:r>
            <a:endParaRPr lang="en-US" sz="1800" dirty="0"/>
          </a:p>
        </p:txBody>
      </p:sp>
      <p:pic>
        <p:nvPicPr>
          <p:cNvPr id="29" name="Image 10" descr="Check">    </p:cNvPr>
          <p:cNvPicPr>
            <a:picLocks noChangeAspect="1"/>
          </p:cNvPicPr>
          <p:nvPr/>
        </p:nvPicPr>
        <p:blipFill>
          <a:blip r:embed="rId11"/>
          <a:srcRect l="0" r="0" t="0" b="0"/>
          <a:stretch/>
        </p:blipFill>
        <p:spPr>
          <a:xfrm>
            <a:off x="8204200" y="2484041"/>
            <a:ext cx="203200" cy="203200"/>
          </a:xfrm>
          <a:prstGeom prst="rect">
            <a:avLst/>
          </a:prstGeom>
        </p:spPr>
      </p:pic>
      <p:sp>
        <p:nvSpPr>
          <p:cNvPr id="30" name="Text 17"/>
          <p:cNvSpPr/>
          <p:nvPr/>
        </p:nvSpPr>
        <p:spPr>
          <a:xfrm>
            <a:off x="8509000" y="2484041"/>
            <a:ext cx="272084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7FB"/>
                </a:solidFill>
                <a:latin typeface="Calibri" pitchFamily="34" charset="0"/>
                <a:ea typeface="Calibri" pitchFamily="34" charset="-122"/>
                <a:cs typeface="Calibri" pitchFamily="34" charset="-120"/>
              </a:rPr>
              <a:t>Patch, monitor and review logs</a:t>
            </a:r>
            <a:endParaRPr lang="en-US" sz="1400" dirty="0"/>
          </a:p>
        </p:txBody>
      </p:sp>
      <p:pic>
        <p:nvPicPr>
          <p:cNvPr id="31" name="Image 11" descr="Check">    </p:cNvPr>
          <p:cNvPicPr>
            <a:picLocks noChangeAspect="1"/>
          </p:cNvPicPr>
          <p:nvPr/>
        </p:nvPicPr>
        <p:blipFill>
          <a:blip r:embed="rId12"/>
          <a:srcRect l="0" r="0" t="0" b="0"/>
          <a:stretch/>
        </p:blipFill>
        <p:spPr>
          <a:xfrm>
            <a:off x="8204200" y="2876451"/>
            <a:ext cx="203200" cy="203200"/>
          </a:xfrm>
          <a:prstGeom prst="rect">
            <a:avLst/>
          </a:prstGeom>
        </p:spPr>
      </p:pic>
      <p:sp>
        <p:nvSpPr>
          <p:cNvPr id="32" name="Text 18"/>
          <p:cNvSpPr/>
          <p:nvPr/>
        </p:nvSpPr>
        <p:spPr>
          <a:xfrm>
            <a:off x="8509000" y="2876451"/>
            <a:ext cx="272084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7FB"/>
                </a:solidFill>
                <a:latin typeface="Calibri" pitchFamily="34" charset="0"/>
                <a:ea typeface="Calibri" pitchFamily="34" charset="-122"/>
                <a:cs typeface="Calibri" pitchFamily="34" charset="-120"/>
              </a:rPr>
              <a:t>Remove unused accounts and plug-ins</a:t>
            </a:r>
            <a:endParaRPr lang="en-US" sz="1400" dirty="0"/>
          </a:p>
        </p:txBody>
      </p:sp>
      <p:pic>
        <p:nvPicPr>
          <p:cNvPr id="33" name="Image 12" descr="Check">    </p:cNvPr>
          <p:cNvPicPr>
            <a:picLocks noChangeAspect="1"/>
          </p:cNvPicPr>
          <p:nvPr/>
        </p:nvPicPr>
        <p:blipFill>
          <a:blip r:embed="rId13"/>
          <a:srcRect l="0" r="0" t="0" b="0"/>
          <a:stretch/>
        </p:blipFill>
        <p:spPr>
          <a:xfrm>
            <a:off x="8204200" y="3508871"/>
            <a:ext cx="203200" cy="203200"/>
          </a:xfrm>
          <a:prstGeom prst="rect">
            <a:avLst/>
          </a:prstGeom>
        </p:spPr>
      </p:pic>
      <p:sp>
        <p:nvSpPr>
          <p:cNvPr id="34" name="Text 19"/>
          <p:cNvSpPr/>
          <p:nvPr/>
        </p:nvSpPr>
        <p:spPr>
          <a:xfrm>
            <a:off x="8509000" y="3508871"/>
            <a:ext cx="272084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7FB"/>
                </a:solidFill>
                <a:latin typeface="Calibri" pitchFamily="34" charset="0"/>
                <a:ea typeface="Calibri" pitchFamily="34" charset="-122"/>
                <a:cs typeface="Calibri" pitchFamily="34" charset="-120"/>
              </a:rPr>
              <a:t>Test backups and the response plan</a:t>
            </a:r>
            <a:endParaRPr lang="en-US" sz="1400" dirty="0"/>
          </a:p>
        </p:txBody>
      </p:sp>
      <p:sp>
        <p:nvSpPr>
          <p:cNvPr id="35"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ZNexora Tech | Web Defacement Awareness</a:t>
            </a:r>
            <a:endParaRPr lang="en-US" sz="1200" dirty="0"/>
          </a:p>
        </p:txBody>
      </p:sp>
      <p:sp>
        <p:nvSpPr>
          <p:cNvPr id="36" name="Text 21"/>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C8"/>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10 · REPORTING</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Who to contact</a:t>
            </a:r>
            <a:endParaRPr lang="en-US" sz="3600" dirty="0"/>
          </a:p>
        </p:txBody>
      </p:sp>
      <p:sp>
        <p:nvSpPr>
          <p:cNvPr id="5" name="Shape 2"/>
          <p:cNvSpPr/>
          <p:nvPr/>
        </p:nvSpPr>
        <p:spPr>
          <a:xfrm>
            <a:off x="812800" y="2087959"/>
            <a:ext cx="3386634" cy="2372221"/>
          </a:xfrm>
          <a:prstGeom prst="roundRect">
            <a:avLst>
              <a:gd name="adj" fmla="val 4283"/>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1066800" y="2367359"/>
            <a:ext cx="609600" cy="609600"/>
          </a:xfrm>
          <a:prstGeom prst="roundRect">
            <a:avLst>
              <a:gd name="adj" fmla="val 50000"/>
            </a:avLst>
          </a:prstGeom>
          <a:solidFill>
            <a:srgbClr val="EAF3FC"/>
          </a:solidFill>
          <a:ln/>
        </p:spPr>
      </p:sp>
      <p:pic>
        <p:nvPicPr>
          <p:cNvPr id="7" name="Image 1" descr="Shield">    </p:cNvPr>
          <p:cNvPicPr>
            <a:picLocks noChangeAspect="1"/>
          </p:cNvPicPr>
          <p:nvPr/>
        </p:nvPicPr>
        <p:blipFill>
          <a:blip r:embed="rId2"/>
          <a:srcRect l="0" r="0" t="0" b="0"/>
          <a:stretch/>
        </p:blipFill>
        <p:spPr>
          <a:xfrm>
            <a:off x="1219200" y="2519759"/>
            <a:ext cx="304800" cy="304800"/>
          </a:xfrm>
          <a:prstGeom prst="rect">
            <a:avLst/>
          </a:prstGeom>
        </p:spPr>
      </p:pic>
      <p:sp>
        <p:nvSpPr>
          <p:cNvPr id="8" name="Text 4"/>
          <p:cNvSpPr/>
          <p:nvPr/>
        </p:nvSpPr>
        <p:spPr>
          <a:xfrm>
            <a:off x="1066800" y="3078559"/>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IT / Security</a:t>
            </a:r>
            <a:endParaRPr lang="en-US" sz="1700" dirty="0"/>
          </a:p>
        </p:txBody>
      </p:sp>
      <p:sp>
        <p:nvSpPr>
          <p:cNvPr id="9" name="Text 5"/>
          <p:cNvSpPr/>
          <p:nvPr/>
        </p:nvSpPr>
        <p:spPr>
          <a:xfrm>
            <a:off x="1066800" y="3439220"/>
            <a:ext cx="296499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78D4"/>
                </a:solidFill>
                <a:latin typeface="Arial" pitchFamily="34" charset="0"/>
                <a:ea typeface="Arial" pitchFamily="34" charset="-122"/>
                <a:cs typeface="Arial" pitchFamily="34" charset="-120"/>
              </a:rPr>
              <a:t>[Extension]</a:t>
            </a:r>
            <a:endParaRPr lang="en-US" sz="2200" dirty="0"/>
          </a:p>
        </p:txBody>
      </p:sp>
      <p:sp>
        <p:nvSpPr>
          <p:cNvPr id="10" name="Text 6"/>
          <p:cNvSpPr/>
          <p:nvPr/>
        </p:nvSpPr>
        <p:spPr>
          <a:xfrm>
            <a:off x="1066800" y="3931940"/>
            <a:ext cx="296499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Report a suspected defacement</a:t>
            </a:r>
            <a:endParaRPr lang="en-US" sz="1400" dirty="0"/>
          </a:p>
        </p:txBody>
      </p:sp>
      <p:sp>
        <p:nvSpPr>
          <p:cNvPr id="11" name="Shape 7"/>
          <p:cNvSpPr/>
          <p:nvPr/>
        </p:nvSpPr>
        <p:spPr>
          <a:xfrm>
            <a:off x="4402634" y="2087959"/>
            <a:ext cx="3386733" cy="2372221"/>
          </a:xfrm>
          <a:prstGeom prst="roundRect">
            <a:avLst>
              <a:gd name="adj" fmla="val 4283"/>
            </a:avLst>
          </a:prstGeom>
          <a:solidFill>
            <a:srgbClr val="FFFFFF"/>
          </a:solidFill>
          <a:ln/>
          <a:effectLst>
            <a:outerShdw sx="100000" sy="100000" kx="0" ky="0" algn="bl" rotWithShape="0" blurRad="101600" dist="25400" dir="5400000">
              <a:srgbClr val="C9D6E3">
                <a:alpha val="100000"/>
              </a:srgbClr>
            </a:outerShdw>
          </a:effectLst>
        </p:spPr>
      </p:sp>
      <p:sp>
        <p:nvSpPr>
          <p:cNvPr id="12" name="Shape 8"/>
          <p:cNvSpPr/>
          <p:nvPr/>
        </p:nvSpPr>
        <p:spPr>
          <a:xfrm>
            <a:off x="4656634" y="2367359"/>
            <a:ext cx="609600" cy="609600"/>
          </a:xfrm>
          <a:prstGeom prst="roundRect">
            <a:avLst>
              <a:gd name="adj" fmla="val 50000"/>
            </a:avLst>
          </a:prstGeom>
          <a:solidFill>
            <a:srgbClr val="EAF3FC"/>
          </a:solidFill>
          <a:ln/>
        </p:spPr>
      </p:sp>
      <p:pic>
        <p:nvPicPr>
          <p:cNvPr id="13" name="Image 2" descr="Globe">    </p:cNvPr>
          <p:cNvPicPr>
            <a:picLocks noChangeAspect="1"/>
          </p:cNvPicPr>
          <p:nvPr/>
        </p:nvPicPr>
        <p:blipFill>
          <a:blip r:embed="rId3"/>
          <a:srcRect l="0" r="0" t="0" b="0"/>
          <a:stretch/>
        </p:blipFill>
        <p:spPr>
          <a:xfrm>
            <a:off x="4809034" y="2519759"/>
            <a:ext cx="304800" cy="304800"/>
          </a:xfrm>
          <a:prstGeom prst="rect">
            <a:avLst/>
          </a:prstGeom>
        </p:spPr>
      </p:pic>
      <p:sp>
        <p:nvSpPr>
          <p:cNvPr id="14" name="Text 9"/>
          <p:cNvSpPr/>
          <p:nvPr/>
        </p:nvSpPr>
        <p:spPr>
          <a:xfrm>
            <a:off x="4656634" y="3078559"/>
            <a:ext cx="296509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Web team</a:t>
            </a:r>
            <a:endParaRPr lang="en-US" sz="1700" dirty="0"/>
          </a:p>
        </p:txBody>
      </p:sp>
      <p:sp>
        <p:nvSpPr>
          <p:cNvPr id="15" name="Text 10"/>
          <p:cNvSpPr/>
          <p:nvPr/>
        </p:nvSpPr>
        <p:spPr>
          <a:xfrm>
            <a:off x="4656634" y="3439220"/>
            <a:ext cx="296509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78D4"/>
                </a:solidFill>
                <a:latin typeface="Arial" pitchFamily="34" charset="0"/>
                <a:ea typeface="Arial" pitchFamily="34" charset="-122"/>
                <a:cs typeface="Arial" pitchFamily="34" charset="-120"/>
              </a:rPr>
              <a:t>[web@...]</a:t>
            </a:r>
            <a:endParaRPr lang="en-US" sz="2200" dirty="0"/>
          </a:p>
        </p:txBody>
      </p:sp>
      <p:sp>
        <p:nvSpPr>
          <p:cNvPr id="16" name="Text 11"/>
          <p:cNvSpPr/>
          <p:nvPr/>
        </p:nvSpPr>
        <p:spPr>
          <a:xfrm>
            <a:off x="4656634" y="3931940"/>
            <a:ext cx="296509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Unexpected changes or errors</a:t>
            </a:r>
            <a:endParaRPr lang="en-US" sz="1400" dirty="0"/>
          </a:p>
        </p:txBody>
      </p:sp>
      <p:sp>
        <p:nvSpPr>
          <p:cNvPr id="17" name="Shape 12"/>
          <p:cNvSpPr/>
          <p:nvPr/>
        </p:nvSpPr>
        <p:spPr>
          <a:xfrm>
            <a:off x="7992566" y="2087959"/>
            <a:ext cx="3386634" cy="2372221"/>
          </a:xfrm>
          <a:prstGeom prst="roundRect">
            <a:avLst>
              <a:gd name="adj" fmla="val 4283"/>
            </a:avLst>
          </a:prstGeom>
          <a:solidFill>
            <a:srgbClr val="FFFFFF"/>
          </a:solidFill>
          <a:ln/>
          <a:effectLst>
            <a:outerShdw sx="100000" sy="100000" kx="0" ky="0" algn="bl" rotWithShape="0" blurRad="101600" dist="25400" dir="5400000">
              <a:srgbClr val="C9D6E3">
                <a:alpha val="100000"/>
              </a:srgbClr>
            </a:outerShdw>
          </a:effectLst>
        </p:spPr>
      </p:sp>
      <p:sp>
        <p:nvSpPr>
          <p:cNvPr id="18" name="Shape 13"/>
          <p:cNvSpPr/>
          <p:nvPr/>
        </p:nvSpPr>
        <p:spPr>
          <a:xfrm>
            <a:off x="8246566" y="2367359"/>
            <a:ext cx="609600" cy="609600"/>
          </a:xfrm>
          <a:prstGeom prst="roundRect">
            <a:avLst>
              <a:gd name="adj" fmla="val 50000"/>
            </a:avLst>
          </a:prstGeom>
          <a:solidFill>
            <a:srgbClr val="EAF3FC"/>
          </a:solidFill>
          <a:ln/>
        </p:spPr>
      </p:sp>
      <p:pic>
        <p:nvPicPr>
          <p:cNvPr id="19" name="Image 3" descr="Megaphone">    </p:cNvPr>
          <p:cNvPicPr>
            <a:picLocks noChangeAspect="1"/>
          </p:cNvPicPr>
          <p:nvPr/>
        </p:nvPicPr>
        <p:blipFill>
          <a:blip r:embed="rId4"/>
          <a:srcRect l="0" r="0" t="0" b="0"/>
          <a:stretch/>
        </p:blipFill>
        <p:spPr>
          <a:xfrm>
            <a:off x="8398966" y="2519759"/>
            <a:ext cx="304800" cy="304800"/>
          </a:xfrm>
          <a:prstGeom prst="rect">
            <a:avLst/>
          </a:prstGeom>
        </p:spPr>
      </p:pic>
      <p:sp>
        <p:nvSpPr>
          <p:cNvPr id="20" name="Text 14"/>
          <p:cNvSpPr/>
          <p:nvPr/>
        </p:nvSpPr>
        <p:spPr>
          <a:xfrm>
            <a:off x="8246566" y="3078559"/>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Communications</a:t>
            </a:r>
            <a:endParaRPr lang="en-US" sz="1700" dirty="0"/>
          </a:p>
        </p:txBody>
      </p:sp>
      <p:sp>
        <p:nvSpPr>
          <p:cNvPr id="21" name="Text 15"/>
          <p:cNvSpPr/>
          <p:nvPr/>
        </p:nvSpPr>
        <p:spPr>
          <a:xfrm>
            <a:off x="8246566" y="3439220"/>
            <a:ext cx="296499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78D4"/>
                </a:solidFill>
                <a:latin typeface="Arial" pitchFamily="34" charset="0"/>
                <a:ea typeface="Arial" pitchFamily="34" charset="-122"/>
                <a:cs typeface="Arial" pitchFamily="34" charset="-120"/>
              </a:rPr>
              <a:t>[Contact]</a:t>
            </a:r>
            <a:endParaRPr lang="en-US" sz="2200" dirty="0"/>
          </a:p>
        </p:txBody>
      </p:sp>
      <p:sp>
        <p:nvSpPr>
          <p:cNvPr id="22" name="Text 16"/>
          <p:cNvSpPr/>
          <p:nvPr/>
        </p:nvSpPr>
        <p:spPr>
          <a:xfrm>
            <a:off x="8246566" y="3931940"/>
            <a:ext cx="296499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All media and customer messages</a:t>
            </a:r>
            <a:endParaRPr lang="en-US" sz="1400" dirty="0"/>
          </a:p>
        </p:txBody>
      </p:sp>
      <p:sp>
        <p:nvSpPr>
          <p:cNvPr id="23" name="Shape 17"/>
          <p:cNvSpPr/>
          <p:nvPr/>
        </p:nvSpPr>
        <p:spPr>
          <a:xfrm>
            <a:off x="812800" y="5232400"/>
            <a:ext cx="10566400" cy="609600"/>
          </a:xfrm>
          <a:prstGeom prst="roundRect">
            <a:avLst>
              <a:gd name="adj" fmla="val 16667"/>
            </a:avLst>
          </a:prstGeom>
          <a:solidFill>
            <a:srgbClr val="0A1628"/>
          </a:solidFill>
          <a:ln/>
        </p:spPr>
      </p:sp>
      <p:pic>
        <p:nvPicPr>
          <p:cNvPr id="24" name="Image 4" descr="Clock">    </p:cNvPr>
          <p:cNvPicPr>
            <a:picLocks noChangeAspect="1"/>
          </p:cNvPicPr>
          <p:nvPr/>
        </p:nvPicPr>
        <p:blipFill>
          <a:blip r:embed="rId5"/>
          <a:srcRect l="0" r="0" t="0" b="0"/>
          <a:stretch/>
        </p:blipFill>
        <p:spPr>
          <a:xfrm>
            <a:off x="1041400" y="5397500"/>
            <a:ext cx="279400" cy="279400"/>
          </a:xfrm>
          <a:prstGeom prst="rect">
            <a:avLst/>
          </a:prstGeom>
        </p:spPr>
      </p:pic>
      <p:sp>
        <p:nvSpPr>
          <p:cNvPr id="25" name="Text 18"/>
          <p:cNvSpPr/>
          <p:nvPr/>
        </p:nvSpPr>
        <p:spPr>
          <a:xfrm>
            <a:off x="1473200" y="5403850"/>
            <a:ext cx="82078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7FB"/>
                </a:solidFill>
                <a:latin typeface="Calibri" pitchFamily="34" charset="0"/>
                <a:ea typeface="Calibri" pitchFamily="34" charset="-122"/>
                <a:cs typeface="Calibri" pitchFamily="34" charset="-120"/>
              </a:rPr>
              <a:t>Out of hours? Call </a:t>
            </a:r>
            <a:r>
              <a:rPr lang="en-US" sz="1500" b="1" dirty="0">
                <a:solidFill>
                  <a:srgbClr val="00B7C3"/>
                </a:solidFill>
                <a:latin typeface="Calibri" pitchFamily="34" charset="0"/>
                <a:ea typeface="Calibri" pitchFamily="34" charset="-122"/>
                <a:cs typeface="Calibri" pitchFamily="34" charset="-120"/>
              </a:rPr>
              <a:t>[on-call number]</a:t>
            </a:r>
            <a:r>
              <a:rPr lang="en-US" sz="1500" dirty="0">
                <a:solidFill>
                  <a:srgbClr val="F4F7FB"/>
                </a:solidFill>
                <a:latin typeface="Calibri" pitchFamily="34" charset="0"/>
                <a:ea typeface="Calibri" pitchFamily="34" charset="-122"/>
                <a:cs typeface="Calibri" pitchFamily="34" charset="-120"/>
              </a:rPr>
              <a:t>. Every minute online increases the damage.</a:t>
            </a:r>
            <a:endParaRPr lang="en-US" sz="1500" dirty="0"/>
          </a:p>
        </p:txBody>
      </p:sp>
      <p:sp>
        <p:nvSpPr>
          <p:cNvPr id="26"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Web Defacement Awareness</a:t>
            </a:r>
            <a:endParaRPr lang="en-US" sz="1200" dirty="0"/>
          </a:p>
        </p:txBody>
      </p:sp>
      <p:sp>
        <p:nvSpPr>
          <p:cNvPr id="27" name="Text 20"/>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A secure website protected by a shield">    </p:cNvPr>
          <p:cNvPicPr>
            <a:picLocks noChangeAspect="1"/>
          </p:cNvPicPr>
          <p:nvPr/>
        </p:nvPicPr>
        <p:blipFill>
          <a:blip r:embed="rId2"/>
          <a:srcRect l="0" r="0" t="0" b="0"/>
          <a:stretch/>
        </p:blipFill>
        <p:spPr>
          <a:xfrm>
            <a:off x="7620000" y="1270000"/>
            <a:ext cx="3810000" cy="4318000"/>
          </a:xfrm>
          <a:prstGeom prst="rect">
            <a:avLst/>
          </a:prstGeom>
        </p:spPr>
      </p:pic>
      <p:sp>
        <p:nvSpPr>
          <p:cNvPr id="4" name="Text 0"/>
          <p:cNvSpPr/>
          <p:nvPr/>
        </p:nvSpPr>
        <p:spPr>
          <a:xfrm>
            <a:off x="812800" y="17628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00B7C3"/>
                </a:solidFill>
                <a:latin typeface="Calibri" pitchFamily="34" charset="0"/>
                <a:ea typeface="Calibri" pitchFamily="34" charset="-122"/>
                <a:cs typeface="Calibri" pitchFamily="34" charset="-120"/>
              </a:rPr>
              <a:t>QUESTIONS AND DISCUSSION</a:t>
            </a:r>
            <a:endParaRPr lang="en-US" sz="1600" dirty="0"/>
          </a:p>
        </p:txBody>
      </p:sp>
      <p:sp>
        <p:nvSpPr>
          <p:cNvPr id="5" name="Text 1"/>
          <p:cNvSpPr/>
          <p:nvPr>
            <p:ph type="title"/>
          </p:nvPr>
        </p:nvSpPr>
        <p:spPr>
          <a:xfrm>
            <a:off x="812800" y="2352080"/>
            <a:ext cx="6540500"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4F7FB"/>
                </a:solidFill>
                <a:latin typeface="Arial" pitchFamily="34" charset="0"/>
                <a:ea typeface="Arial" pitchFamily="34" charset="-122"/>
                <a:cs typeface="Arial" pitchFamily="34" charset="-120"/>
              </a:rPr>
              <a:t>Our website is our front door.</a:t>
            </a:r>
            <a:endParaRPr lang="en-US" sz="5600" dirty="0"/>
          </a:p>
        </p:txBody>
      </p:sp>
      <p:sp>
        <p:nvSpPr>
          <p:cNvPr id="6" name="Text 2"/>
          <p:cNvSpPr/>
          <p:nvPr/>
        </p:nvSpPr>
        <p:spPr>
          <a:xfrm>
            <a:off x="812800" y="4150320"/>
            <a:ext cx="640969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ADCFC"/>
                </a:solidFill>
                <a:latin typeface="Calibri" pitchFamily="34" charset="0"/>
                <a:ea typeface="Calibri" pitchFamily="34" charset="-122"/>
                <a:cs typeface="Calibri" pitchFamily="34" charset="-120"/>
              </a:rPr>
              <a:t>Let's keep it secure, together.</a:t>
            </a:r>
            <a:endParaRPr lang="en-US" sz="2000" dirty="0"/>
          </a:p>
        </p:txBody>
      </p:sp>
      <p:sp>
        <p:nvSpPr>
          <p:cNvPr id="7" name="Text 3"/>
          <p:cNvSpPr/>
          <p:nvPr/>
        </p:nvSpPr>
        <p:spPr>
          <a:xfrm>
            <a:off x="812800" y="48107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3C8"/>
                </a:solidFill>
                <a:latin typeface="Calibri" pitchFamily="34" charset="0"/>
                <a:ea typeface="Calibri" pitchFamily="34" charset="-122"/>
                <a:cs typeface="Calibri" pitchFamily="34" charset="-120"/>
              </a:rPr>
              <a:t>Thank you · Presented by </a:t>
            </a:r>
            <a:r>
              <a:rPr lang="en-US" sz="1600" b="1" dirty="0">
                <a:solidFill>
                  <a:srgbClr val="FFFFFF"/>
                </a:solidFill>
                <a:latin typeface="Calibri" pitchFamily="34" charset="0"/>
                <a:ea typeface="Calibri" pitchFamily="34" charset="-122"/>
                <a:cs typeface="Calibri" pitchFamily="34" charset="-120"/>
              </a:rPr>
              <a:t>ZNexora Tech</a:t>
            </a:r>
            <a:endParaRPr lang="en-US" sz="1600" dirty="0"/>
          </a:p>
        </p:txBody>
      </p:sp>
    </p:spTree>
  </p:cSld>
  <p:clrMapOvr>
    <a:masterClrMapping/>
  </p:clrMapOvr>
</p:sld>
</file>

<file path=ppt/theme/theme1.xml><?xml version="1.0" encoding="utf-8"?>
<a:theme xmlns:a="http://schemas.openxmlformats.org/drawingml/2006/main" name="Web Defacement Awareness">
  <a:themeElements>
    <a:clrScheme name="Web Defacement Awareness">
      <a:dk1>
        <a:srgbClr val="0A1628"/>
      </a:dk1>
      <a:lt1>
        <a:srgbClr val="F4F7FB"/>
      </a:lt1>
      <a:dk2>
        <a:srgbClr val="454E5D"/>
      </a:dk2>
      <a:lt2>
        <a:srgbClr val="DDE1E6"/>
      </a:lt2>
      <a:accent1>
        <a:srgbClr val="0078D4"/>
      </a:accent1>
      <a:accent2>
        <a:srgbClr val="00B7C3"/>
      </a:accent2>
      <a:accent3>
        <a:srgbClr val="13294B"/>
      </a:accent3>
      <a:accent4>
        <a:srgbClr val="CADCFC"/>
      </a:accent4>
      <a:accent5>
        <a:srgbClr val="9FB3C8"/>
      </a:accent5>
      <a:accent6>
        <a:srgbClr val="F7630C"/>
      </a:accent6>
      <a:hlink>
        <a:srgbClr val="0563C1"/>
      </a:hlink>
      <a:folHlink>
        <a:srgbClr val="954F72"/>
      </a:folHlink>
    </a:clrScheme>
    <a:fontScheme name="Web Defacement Awarenes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Defacement Awareness</dc:title>
  <dc:subject/>
  <dc:creator/>
  <cp:lastModifiedBy/>
  <cp:revision>1</cp:revision>
  <dcterms:created xsi:type="dcterms:W3CDTF">2026-10-13T13:39:44Z</dcterms:created>
  <dcterms:modified xsi:type="dcterms:W3CDTF">2026-10-13T13:39:44Z</dcterms:modified>
</cp:coreProperties>
</file>