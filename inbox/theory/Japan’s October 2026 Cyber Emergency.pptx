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4" d="100"/>
          <a:sy n="124" d="100"/>
        </p:scale>
        <p:origin x="28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3797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In the next ten minutes I’ll walk through the wave of cyberattacks that has hit Japan this autumn: how big it is, the main attack types, the key incidents, and then what to do about it — both immediate remediation and longer-term prevention. Everything here comes from public disclosures and official advisories, and the sources are on the last slide. Note that many figures are the maximum number of records that may be affected, and investigations are still ongoing.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set the scene. Japan passed 500 cyber incidents this year, already a record before November. A single ransomware attack on one cloud provider, IDC Frontier, affected 495 organisations at once. Police counted 123 ransomware cases in just the first half of the year, the highest ever, and most of them hit small and medium companies. On October 9 the National Cybersecurity Strategy Headquarters declared a state of emergency in cyberspace. The timing matters: the Active Cyber Defense Law came into force on October 1, adding mandatory reporting for critical infrastructure and allowing the government to take steps to neutralize attackers’ tools.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sequence. Late September brought large breaches at Times Car and an outsourced vendor of Tokyo Metro. In early October, ransomware took down Osaka Metropolitan University and then IDC Frontier’s cloud, which rippled out to nearly 500 customers. The government declared the emergency on October 9. Then the focus shifted to a critical PHP vulnerability that attackers began probing on October 17, four days before a fix existed. Most recently, GMO Internet Group disclosed a breach of its FX trading servers and refused a 50 million dollar ransom. TV Asahi counted more than 40 breach announcements in roughly a month.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incidents fall into six broad types. Ransomware encrypts systems, and in this wave it often reached the backups too. Data theft with extortion is the biggest driver of the October spike. Supply-chain attacks hit a vendor or a cloud provider and reach everyone who depends on it. Vulnerability exploitation, most notably PHP2Shell, targets unpatched software. Hijacked accounts and misconfigured CMS or API settings opened other doors. And there is a new accelerant: on October 19, GMO Cybersecurity by IERAE linked infrastructure targeting about 20 Japanese companies to ARTEX, a Chinese-developed AI penetration-testing tool. No single attacker has been officially named.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ransomware cases show why this wave was so damaging. At IDC Frontier, SoftBank’s cloud subsidiary, ransomware hit one region early on October 7 and affected 495 customer organisations at once. Customers like JR East and Views Card then had to disclose possible exposure of millions of member records. IDC Frontier told customers that data in the affected zones would be difficult to recover and to use their own backups. At Osaka Metropolitan University, the attacker reached the virtualization platform underneath many systems, about 500 servers went down, and most backups were encrypted. The common lesson: if your backups depend on the same layer that failed, you don’t really have a backup.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companies disclosed how attackers got in, the answers were ordinary. A vendor’s server: one overnight intrusion at Scala Communications exposed customers of Daiwa Securities and Citizen Watch. Configuration: Shueisha’s CMS error let an attacker create a high-privilege account and pull data through the API. Software vulnerabilities at GMO Research and AI and Mr Max. A single hijacked Microsoft 365 account at Nikkei. And the virtualization or cloud layer, as we just saw. Equally worrying is detection: in five of the seven cases where we know how the breach was found, the first signal came from outside — a customer, a stranger, a platform provider or a vendor.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PHP2Shell is the name for two critical PHP flaws that affect versions 5.4 through 8.5 and allow an unauthenticated attacker to run code on the web server. PHP is used by a large share of the world’s websites, so this is broad exposure. Exploitation attempts were seen on October 17, four days before PHP shipped fixes on October 21. JPCERT/CC and IPA issued alerts the next day, asking organisations both to patch and to check whether they had already been compromised. On October 23, PHP disclosed a separate session-handling flaw, CVE-2026-115560, which the October 21 releases do not fix. Many Japanese organisations, including banks and government agencies, temporarily took sites offline.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recent incident, still developing as of October 27, is GMO Internet Group. Intruders got in through its Onamae.com Desktop Cloud service, potentially exposing more than 26,000 servers. Five FX margin-trading services were breached and unauthorized trades were made, reaching accounts at more than 70 securities and FX firms. The attackers demanded 50 million dollars; some early media reports said 1 million, but GMO’s president disclosed the 50 million figure and said the company will not pay. After the deadline, the attackers claimed to publish customer information. GMO asked customers to scan their PCs, back up files, and unplug their devices, and it will reimburse trading losses and pay each client 5,000 yen.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organisation is affected, these are the immediate steps. First, contain: isolate affected systems, and if a provider like GMO tells you to disconnect, do it. Second, patch: upgrade PHP to the October 21 releases; the PHP Group says its temporary mitigations only block specific paths and updating is the only real fix. For the newer flaw, CVE-2026-115560, disable session upload progress until a patch ships. Third, hunt: JPCERT/CC asks organisations to check whether they were already compromised, so review logs back to October 17. Fourth, rotate exposed credentials and require MFA. Fifth, restore from backups you control, as IDC Frontier advised, while preserving logs. Finally, report to the police and the Personal Information Protection Commission.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prevention, each control maps to an entry point we saw. Patch or replace VPN appliances and put MFA in front of them; police data show VPNs were the most common first way in for ransomware. Keep at least one backup that your IT provider, hypervisor credentials and cloud provider cannot reach, and actually test a restore. List every vendor that holds your customer data, and get written confirmation of deletion when you leave one — Yoshinoya’s data was taken from a recruiting platform it had stopped using. Alert on new privileged accounts. Review Microsoft 365 or Google Workspace sign-ins every day. Patch quickly and follow JVN and JPCERT alerts. And decide in advance who you will call.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 is one message to take away: none of the ways in were new. Vendor servers, misconfigured APIs, unpatched software, single hijacked accounts and shared infrastructure are long-known weaknesses. What has changed is speed — AI tools help attackers find those weaknesses across many organisations at once, and attackers claimed IDC Frontier’s encryption took only minutes, though that figure is unverified. So detection measured in days is too slow, and the fundamentals matter more than ever. With that,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links to every source are on this and the next two slides. The official advisories from JPCERT/CC and IPA are the best place to check for updates on the PHP vulnerabilities. Remember that investigations are ongoing and many record counts are maximums that may be affected, not confirmed leaks.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news sources for the GMO Internet Group incident. Note that early reports, such as TokyoReporter’s, cited a 1 million dollar demand, while GMO’s president later disclosed the 50 million dollar figure.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remaining news sources, covering the wider wave of attacks, the government’s warnings and the PHP2Shell shutdowns.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2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6742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16202E"/>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2019201"/>
            <a:ext cx="10566400" cy="4025999"/>
          </a:xfrm>
          <a:prstGeom prst="rect">
            <a:avLst/>
          </a:prstGeom>
          <a:noFill/>
          <a:ln/>
        </p:spPr>
        <p:txBody>
          <a:bodyPr wrap="square" lIns="0" tIns="0" rIns="0" bIns="0" rtlCol="0" anchor="t"/>
          <a:lstStyle>
            <a:lvl1pPr marL="0" indent="0" algn="l">
              <a:lnSpc>
                <a:spcPct val="140000"/>
              </a:lnSpc>
              <a:buNone/>
              <a:defRPr lang="en-US" sz="1600" dirty="0">
                <a:solidFill>
                  <a:srgbClr val="16202E"/>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2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6742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16202E"/>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2019201"/>
            <a:ext cx="10566400" cy="4025999"/>
          </a:xfrm>
          <a:prstGeom prst="rect">
            <a:avLst/>
          </a:prstGeom>
          <a:noFill/>
          <a:ln/>
        </p:spPr>
        <p:txBody>
          <a:bodyPr wrap="square" lIns="0" tIns="0" rIns="0" bIns="0" rtlCol="0" anchor="t"/>
          <a:lstStyle>
            <a:lvl1pPr marL="0" indent="0" algn="l">
              <a:lnSpc>
                <a:spcPct val="140000"/>
              </a:lnSpc>
              <a:buNone/>
              <a:defRPr lang="en-US" sz="1600" dirty="0">
                <a:solidFill>
                  <a:srgbClr val="16202E"/>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hyperlink" Target="https://malware.news/t/japan-data-breaches-2026-inside-the-october-surge/126558" TargetMode="External"/><Relationship Id="rId3" Type="http://schemas.openxmlformats.org/officeDocument/2006/relationships/hyperlink" Target="https://www.jpcert.or.jp/at/2026/at260033.html" TargetMode="External"/><Relationship Id="rId7" Type="http://schemas.openxmlformats.org/officeDocument/2006/relationships/hyperlink" Target="https://www.uvcyber.com/resources/threat-advisories/threat-advisory-japans-cyber-emergency-and-its-ripple-effects"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www.cybers2.com/blog/japan-breach-wave-october-2026.html" TargetMode="External"/><Relationship Id="rId5" Type="http://schemas.openxmlformats.org/officeDocument/2006/relationships/hyperlink" Target="https://jvn.jp/" TargetMode="External"/><Relationship Id="rId10" Type="http://schemas.openxmlformats.org/officeDocument/2006/relationships/image" Target="../media/image1.png"/><Relationship Id="rId4" Type="http://schemas.openxmlformats.org/officeDocument/2006/relationships/hyperlink" Target="https://www.ipa.go.jp/security/security-alert/2026/alert20261022.html" TargetMode="External"/><Relationship Id="rId9" Type="http://schemas.openxmlformats.org/officeDocument/2006/relationships/hyperlink" Target="https://socradar.io/blog/php2shell-cve-2026-109618-cve-2026-109619/"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hyperlink" Target="https://www.bloomberg.com/news/articles/2026-10-26/japan-s-katayama-vows-to-address-cyber-attack-on-fx-with-urgency" TargetMode="External"/><Relationship Id="rId7" Type="http://schemas.openxmlformats.org/officeDocument/2006/relationships/hyperlink" Target="https://www.tokyoreporter.com/japan-news/tech-giant-gmo-refuses-1m-ransom-demand-from-hacker-syndicate-after-massive-cyberattack/"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hyperlink" Target="https://coincentral.com/gmo-internet-group-warns-users-to-unplug-computers-as-hackers-threaten-ransomware-attack" TargetMode="External"/><Relationship Id="rId5" Type="http://schemas.openxmlformats.org/officeDocument/2006/relationships/hyperlink" Target="https://finance.biggo.com/news/b79624a0-b5ec-4c7d-bc8b-9dcb4f00ed22" TargetMode="External"/><Relationship Id="rId4" Type="http://schemas.openxmlformats.org/officeDocument/2006/relationships/hyperlink" Target="https://newsonjapan.com/article/151147.php"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newsonjapan.com/article/151111.php" TargetMode="External"/><Relationship Id="rId7"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www.techtimes.com/articles/328908/20261012/japan-declares-first-cyberspace-emergency-ai-turns-ransomware-carpet-bombing.htm" TargetMode="External"/><Relationship Id="rId5" Type="http://schemas.openxmlformats.org/officeDocument/2006/relationships/hyperlink" Target="https://www.aa.com.tr/en/asia-pacific/japan-suspends-several-websites-over-critical-php-security-vulnerabilities/4096314" TargetMode="External"/><Relationship Id="rId4" Type="http://schemas.openxmlformats.org/officeDocument/2006/relationships/hyperlink" Target="https://thenextweb.com/news/japan-cyberattacks-warning-data-leaks"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4"/>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5533D"/>
          </a:solidFill>
          <a:ln/>
        </p:spPr>
        <p:txBody>
          <a:bodyPr/>
          <a:lstStyle/>
          <a:p>
            <a:endParaRPr lang="en-JP"/>
          </a:p>
        </p:txBody>
      </p:sp>
      <p:sp>
        <p:nvSpPr>
          <p:cNvPr id="3" name="Text 1"/>
          <p:cNvSpPr/>
          <p:nvPr/>
        </p:nvSpPr>
        <p:spPr>
          <a:xfrm>
            <a:off x="812800" y="198387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50" dirty="0">
                <a:solidFill>
                  <a:srgbClr val="F08A78"/>
                </a:solidFill>
                <a:latin typeface="IBM Plex Mono" pitchFamily="49" charset="0"/>
                <a:ea typeface="IBM Plex Mono" pitchFamily="49" charset="-122"/>
                <a:cs typeface="IBM Plex Mono" pitchFamily="49" charset="-120"/>
              </a:rPr>
              <a:t>THREAT BRIEFING · 27 OCTOBER 2026</a:t>
            </a:r>
            <a:endParaRPr lang="en-US" sz="1400" dirty="0"/>
          </a:p>
        </p:txBody>
      </p:sp>
      <p:sp>
        <p:nvSpPr>
          <p:cNvPr id="4" name="Text 2"/>
          <p:cNvSpPr>
            <a:spLocks noGrp="1"/>
          </p:cNvSpPr>
          <p:nvPr>
            <p:ph type="title"/>
          </p:nvPr>
        </p:nvSpPr>
        <p:spPr>
          <a:xfrm>
            <a:off x="812800" y="2486720"/>
            <a:ext cx="9810750" cy="1518841"/>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4F2EE"/>
                </a:solidFill>
                <a:latin typeface="IBM Plex Sans" pitchFamily="34" charset="0"/>
                <a:ea typeface="IBM Plex Sans" pitchFamily="34" charset="-122"/>
                <a:cs typeface="IBM Plex Sans" pitchFamily="34" charset="-120"/>
              </a:rPr>
              <a:t>Japan’s October 2026 Cyber Emergency</a:t>
            </a:r>
            <a:endParaRPr lang="en-US" sz="5600" dirty="0"/>
          </a:p>
        </p:txBody>
      </p:sp>
      <p:sp>
        <p:nvSpPr>
          <p:cNvPr id="5" name="Text 3"/>
          <p:cNvSpPr/>
          <p:nvPr/>
        </p:nvSpPr>
        <p:spPr>
          <a:xfrm>
            <a:off x="812800" y="4234160"/>
            <a:ext cx="8502650" cy="665361"/>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9C2CF"/>
                </a:solidFill>
                <a:latin typeface="IBM Plex Sans" pitchFamily="34" charset="0"/>
                <a:ea typeface="IBM Plex Sans" pitchFamily="34" charset="-122"/>
                <a:cs typeface="IBM Plex Sans" pitchFamily="34" charset="-120"/>
              </a:rPr>
              <a:t>Attack types, what happened, how to remediate, and how to prevent the next one</a:t>
            </a:r>
            <a:endParaRPr lang="en-US" sz="1800" dirty="0"/>
          </a:p>
        </p:txBody>
      </p:sp>
      <p:pic>
        <p:nvPicPr>
          <p:cNvPr id="6" name="Picture 5" descr="ZT_logo(3).png">
            <a:extLst>
              <a:ext uri="{FF2B5EF4-FFF2-40B4-BE49-F238E27FC236}">
                <a16:creationId xmlns:a16="http://schemas.microsoft.com/office/drawing/2014/main" id="{496E81DA-5713-39A1-5388-D7C009193530}"/>
              </a:ext>
            </a:extLst>
          </p:cNvPr>
          <p:cNvPicPr>
            <a:picLocks noChangeAspect="1"/>
          </p:cNvPicPr>
          <p:nvPr/>
        </p:nvPicPr>
        <p:blipFill>
          <a:blip r:embed="rId3"/>
          <a:stretch>
            <a:fillRect/>
          </a:stretch>
        </p:blipFill>
        <p:spPr>
          <a:xfrm>
            <a:off x="10927080" y="256032"/>
            <a:ext cx="713232" cy="71323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23A26"/>
                </a:solidFill>
                <a:latin typeface="IBM Plex Mono" pitchFamily="49" charset="0"/>
                <a:ea typeface="IBM Plex Mono" pitchFamily="49" charset="-122"/>
                <a:cs typeface="IBM Plex Mono" pitchFamily="49" charset="-120"/>
              </a:rPr>
              <a:t>THE SCALE</a:t>
            </a:r>
            <a:endParaRPr lang="en-US" sz="1200" dirty="0"/>
          </a:p>
        </p:txBody>
      </p:sp>
      <p:sp>
        <p:nvSpPr>
          <p:cNvPr id="3" name="Text 1"/>
          <p:cNvSpPr>
            <a:spLocks noGrp="1"/>
          </p:cNvSpPr>
          <p:nvPr>
            <p:ph type="title"/>
          </p:nvPr>
        </p:nvSpPr>
        <p:spPr>
          <a:xfrm>
            <a:off x="812800" y="13309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A record year, then a national emergency</a:t>
            </a:r>
            <a:endParaRPr lang="en-US" sz="3200" dirty="0"/>
          </a:p>
        </p:txBody>
      </p:sp>
      <p:sp>
        <p:nvSpPr>
          <p:cNvPr id="4" name="Shape 2"/>
          <p:cNvSpPr/>
          <p:nvPr/>
        </p:nvSpPr>
        <p:spPr>
          <a:xfrm>
            <a:off x="815975" y="2085876"/>
            <a:ext cx="2486025" cy="2281833"/>
          </a:xfrm>
          <a:prstGeom prst="roundRect">
            <a:avLst>
              <a:gd name="adj" fmla="val 4313"/>
            </a:avLst>
          </a:prstGeom>
          <a:solidFill>
            <a:srgbClr val="FFFFFF"/>
          </a:solidFill>
          <a:ln w="6350">
            <a:solidFill>
              <a:srgbClr val="DDD8CF"/>
            </a:solidFill>
            <a:prstDash val="solid"/>
          </a:ln>
        </p:spPr>
        <p:txBody>
          <a:bodyPr/>
          <a:lstStyle/>
          <a:p>
            <a:endParaRPr lang="en-JP"/>
          </a:p>
        </p:txBody>
      </p:sp>
      <p:sp>
        <p:nvSpPr>
          <p:cNvPr id="5" name="Text 3"/>
          <p:cNvSpPr/>
          <p:nvPr/>
        </p:nvSpPr>
        <p:spPr>
          <a:xfrm>
            <a:off x="1073150" y="2343051"/>
            <a:ext cx="2030825"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B23A26"/>
                </a:solidFill>
                <a:latin typeface="IBM Plex Sans" pitchFamily="34" charset="0"/>
                <a:ea typeface="IBM Plex Sans" pitchFamily="34" charset="-122"/>
                <a:cs typeface="IBM Plex Sans" pitchFamily="34" charset="-120"/>
              </a:rPr>
              <a:t>500+</a:t>
            </a:r>
            <a:endParaRPr lang="en-US" sz="4800" dirty="0"/>
          </a:p>
        </p:txBody>
      </p:sp>
      <p:sp>
        <p:nvSpPr>
          <p:cNvPr id="6" name="Text 4"/>
          <p:cNvSpPr/>
          <p:nvPr/>
        </p:nvSpPr>
        <p:spPr>
          <a:xfrm>
            <a:off x="1073150" y="3115171"/>
            <a:ext cx="2030825"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02E"/>
                </a:solidFill>
                <a:latin typeface="IBM Plex Sans" pitchFamily="34" charset="0"/>
                <a:ea typeface="IBM Plex Sans" pitchFamily="34" charset="-122"/>
                <a:cs typeface="IBM Plex Sans" pitchFamily="34" charset="-120"/>
              </a:rPr>
              <a:t>cyber incidents in Japan in 2026, a new annual record</a:t>
            </a:r>
            <a:endParaRPr lang="en-US" sz="1400" dirty="0"/>
          </a:p>
        </p:txBody>
      </p:sp>
      <p:sp>
        <p:nvSpPr>
          <p:cNvPr id="7" name="Shape 5"/>
          <p:cNvSpPr/>
          <p:nvPr/>
        </p:nvSpPr>
        <p:spPr>
          <a:xfrm>
            <a:off x="3511550" y="2085876"/>
            <a:ext cx="2486025" cy="2281833"/>
          </a:xfrm>
          <a:prstGeom prst="roundRect">
            <a:avLst>
              <a:gd name="adj" fmla="val 4313"/>
            </a:avLst>
          </a:prstGeom>
          <a:solidFill>
            <a:srgbClr val="FFFFFF"/>
          </a:solidFill>
          <a:ln w="6350">
            <a:solidFill>
              <a:srgbClr val="DDD8CF"/>
            </a:solidFill>
            <a:prstDash val="solid"/>
          </a:ln>
        </p:spPr>
        <p:txBody>
          <a:bodyPr/>
          <a:lstStyle/>
          <a:p>
            <a:endParaRPr lang="en-JP"/>
          </a:p>
        </p:txBody>
      </p:sp>
      <p:sp>
        <p:nvSpPr>
          <p:cNvPr id="8" name="Text 6"/>
          <p:cNvSpPr/>
          <p:nvPr/>
        </p:nvSpPr>
        <p:spPr>
          <a:xfrm>
            <a:off x="3768725" y="2343051"/>
            <a:ext cx="2030825"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B23A26"/>
                </a:solidFill>
                <a:latin typeface="IBM Plex Sans" pitchFamily="34" charset="0"/>
                <a:ea typeface="IBM Plex Sans" pitchFamily="34" charset="-122"/>
                <a:cs typeface="IBM Plex Sans" pitchFamily="34" charset="-120"/>
              </a:rPr>
              <a:t>495</a:t>
            </a:r>
            <a:endParaRPr lang="en-US" sz="4800" dirty="0"/>
          </a:p>
        </p:txBody>
      </p:sp>
      <p:sp>
        <p:nvSpPr>
          <p:cNvPr id="9" name="Text 7"/>
          <p:cNvSpPr/>
          <p:nvPr/>
        </p:nvSpPr>
        <p:spPr>
          <a:xfrm>
            <a:off x="3768725" y="3115171"/>
            <a:ext cx="2030825" cy="1020763"/>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02E"/>
                </a:solidFill>
                <a:latin typeface="IBM Plex Sans" pitchFamily="34" charset="0"/>
                <a:ea typeface="IBM Plex Sans" pitchFamily="34" charset="-122"/>
                <a:cs typeface="IBM Plex Sans" pitchFamily="34" charset="-120"/>
              </a:rPr>
              <a:t>companies and local governments hit by one cloud ransomware attack</a:t>
            </a:r>
            <a:endParaRPr lang="en-US" sz="1400" dirty="0"/>
          </a:p>
        </p:txBody>
      </p:sp>
      <p:sp>
        <p:nvSpPr>
          <p:cNvPr id="10" name="Shape 8"/>
          <p:cNvSpPr/>
          <p:nvPr/>
        </p:nvSpPr>
        <p:spPr>
          <a:xfrm>
            <a:off x="6207125" y="2085876"/>
            <a:ext cx="2486025" cy="2281833"/>
          </a:xfrm>
          <a:prstGeom prst="roundRect">
            <a:avLst>
              <a:gd name="adj" fmla="val 4313"/>
            </a:avLst>
          </a:prstGeom>
          <a:solidFill>
            <a:srgbClr val="FFFFFF"/>
          </a:solidFill>
          <a:ln w="6350">
            <a:solidFill>
              <a:srgbClr val="DDD8CF"/>
            </a:solidFill>
            <a:prstDash val="solid"/>
          </a:ln>
        </p:spPr>
        <p:txBody>
          <a:bodyPr/>
          <a:lstStyle/>
          <a:p>
            <a:endParaRPr lang="en-JP"/>
          </a:p>
        </p:txBody>
      </p:sp>
      <p:sp>
        <p:nvSpPr>
          <p:cNvPr id="11" name="Text 9"/>
          <p:cNvSpPr/>
          <p:nvPr/>
        </p:nvSpPr>
        <p:spPr>
          <a:xfrm>
            <a:off x="6464300" y="2343051"/>
            <a:ext cx="2030825"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B23A26"/>
                </a:solidFill>
                <a:latin typeface="IBM Plex Sans" pitchFamily="34" charset="0"/>
                <a:ea typeface="IBM Plex Sans" pitchFamily="34" charset="-122"/>
                <a:cs typeface="IBM Plex Sans" pitchFamily="34" charset="-120"/>
              </a:rPr>
              <a:t>123</a:t>
            </a:r>
            <a:endParaRPr lang="en-US" sz="4800" dirty="0"/>
          </a:p>
        </p:txBody>
      </p:sp>
      <p:sp>
        <p:nvSpPr>
          <p:cNvPr id="12" name="Text 10"/>
          <p:cNvSpPr/>
          <p:nvPr/>
        </p:nvSpPr>
        <p:spPr>
          <a:xfrm>
            <a:off x="6464300" y="3115171"/>
            <a:ext cx="2030825" cy="1020763"/>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02E"/>
                </a:solidFill>
                <a:latin typeface="IBM Plex Sans" pitchFamily="34" charset="0"/>
                <a:ea typeface="IBM Plex Sans" pitchFamily="34" charset="-122"/>
                <a:cs typeface="IBM Plex Sans" pitchFamily="34" charset="-120"/>
              </a:rPr>
              <a:t>ransomware cases reported to police in the first half of 2026, a record</a:t>
            </a:r>
            <a:endParaRPr lang="en-US" sz="1400" dirty="0"/>
          </a:p>
        </p:txBody>
      </p:sp>
      <p:sp>
        <p:nvSpPr>
          <p:cNvPr id="13" name="Shape 11"/>
          <p:cNvSpPr/>
          <p:nvPr/>
        </p:nvSpPr>
        <p:spPr>
          <a:xfrm>
            <a:off x="8899525" y="2082701"/>
            <a:ext cx="2479675" cy="2288183"/>
          </a:xfrm>
          <a:prstGeom prst="roundRect">
            <a:avLst>
              <a:gd name="adj" fmla="val 4440"/>
            </a:avLst>
          </a:prstGeom>
          <a:solidFill>
            <a:srgbClr val="0F1724"/>
          </a:solidFill>
          <a:ln/>
        </p:spPr>
        <p:txBody>
          <a:bodyPr/>
          <a:lstStyle/>
          <a:p>
            <a:endParaRPr lang="en-JP"/>
          </a:p>
        </p:txBody>
      </p:sp>
      <p:sp>
        <p:nvSpPr>
          <p:cNvPr id="14" name="Text 12"/>
          <p:cNvSpPr/>
          <p:nvPr/>
        </p:nvSpPr>
        <p:spPr>
          <a:xfrm>
            <a:off x="9153525" y="2336701"/>
            <a:ext cx="2030825"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F08A78"/>
                </a:solidFill>
                <a:latin typeface="IBM Plex Sans" pitchFamily="34" charset="0"/>
                <a:ea typeface="IBM Plex Sans" pitchFamily="34" charset="-122"/>
                <a:cs typeface="IBM Plex Sans" pitchFamily="34" charset="-120"/>
              </a:rPr>
              <a:t>Oct 9</a:t>
            </a:r>
            <a:endParaRPr lang="en-US" sz="4800" dirty="0"/>
          </a:p>
        </p:txBody>
      </p:sp>
      <p:sp>
        <p:nvSpPr>
          <p:cNvPr id="15" name="Text 13"/>
          <p:cNvSpPr/>
          <p:nvPr/>
        </p:nvSpPr>
        <p:spPr>
          <a:xfrm>
            <a:off x="9153525" y="3108821"/>
            <a:ext cx="2030825"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4F2EE"/>
                </a:solidFill>
                <a:latin typeface="IBM Plex Sans" pitchFamily="34" charset="0"/>
                <a:ea typeface="IBM Plex Sans" pitchFamily="34" charset="-122"/>
                <a:cs typeface="IBM Plex Sans" pitchFamily="34" charset="-120"/>
              </a:rPr>
              <a:t>government declares a “state of emergency in cyberspace”</a:t>
            </a:r>
            <a:endParaRPr lang="en-US" sz="1400" dirty="0"/>
          </a:p>
        </p:txBody>
      </p:sp>
      <p:sp>
        <p:nvSpPr>
          <p:cNvPr id="16" name="Text 14"/>
          <p:cNvSpPr/>
          <p:nvPr/>
        </p:nvSpPr>
        <p:spPr>
          <a:xfrm>
            <a:off x="812800" y="4675684"/>
            <a:ext cx="1088339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756"/>
                </a:solidFill>
                <a:latin typeface="IBM Plex Sans" pitchFamily="34" charset="0"/>
                <a:ea typeface="IBM Plex Sans" pitchFamily="34" charset="-122"/>
                <a:cs typeface="IBM Plex Sans" pitchFamily="34" charset="-120"/>
              </a:rPr>
              <a:t>Japan’s Active Cyber Defense Law took effect on 1 October: mandatory incident reporting for 257 critical infrastructure operators and new powers to neutralize attacker infrastructure.</a:t>
            </a:r>
            <a:endParaRPr lang="en-US" sz="14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Sources: UV Cyber threat advisory; CS2 / National Police Agency; The Next Web</a:t>
            </a:r>
            <a:endParaRPr lang="en-US" sz="1200" dirty="0"/>
          </a:p>
        </p:txBody>
      </p:sp>
      <p:pic>
        <p:nvPicPr>
          <p:cNvPr id="18" name="Picture 17" descr="ZT_logo(3).png">
            <a:extLst>
              <a:ext uri="{FF2B5EF4-FFF2-40B4-BE49-F238E27FC236}">
                <a16:creationId xmlns:a16="http://schemas.microsoft.com/office/drawing/2014/main" id="{AAABFA7D-35A9-F87F-F638-B0B8DF3DCEA0}"/>
              </a:ext>
            </a:extLst>
          </p:cNvPr>
          <p:cNvPicPr>
            <a:picLocks noChangeAspect="1"/>
          </p:cNvPicPr>
          <p:nvPr/>
        </p:nvPicPr>
        <p:blipFill>
          <a:blip r:embed="rId3"/>
          <a:stretch>
            <a:fillRect/>
          </a:stretch>
        </p:blipFill>
        <p:spPr>
          <a:xfrm>
            <a:off x="10927080" y="256032"/>
            <a:ext cx="713232" cy="7132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23A26"/>
                </a:solidFill>
                <a:latin typeface="IBM Plex Mono" pitchFamily="49" charset="0"/>
                <a:ea typeface="IBM Plex Mono" pitchFamily="49" charset="-122"/>
                <a:cs typeface="IBM Plex Mono" pitchFamily="49" charset="-120"/>
              </a:rPr>
              <a:t>WHAT HAPPENED</a:t>
            </a:r>
            <a:endParaRPr lang="en-US" sz="1200" dirty="0"/>
          </a:p>
        </p:txBody>
      </p:sp>
      <p:sp>
        <p:nvSpPr>
          <p:cNvPr id="3" name="Text 1"/>
          <p:cNvSpPr>
            <a:spLocks noGrp="1"/>
          </p:cNvSpPr>
          <p:nvPr>
            <p:ph type="title"/>
          </p:nvPr>
        </p:nvSpPr>
        <p:spPr>
          <a:xfrm>
            <a:off x="812800" y="12293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Five weeks of disclosures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01"/>
          <a:ext cx="10553700" cy="3233439"/>
        </p:xfrm>
        <a:graphic>
          <a:graphicData uri="http://schemas.openxmlformats.org/drawingml/2006/table">
            <a:tbl>
              <a:tblPr/>
              <a:tblGrid>
                <a:gridCol w="1688592">
                  <a:extLst>
                    <a:ext uri="{9D8B030D-6E8A-4147-A177-3AD203B41FA5}">
                      <a16:colId xmlns:a16="http://schemas.microsoft.com/office/drawing/2014/main" val="20000"/>
                    </a:ext>
                  </a:extLst>
                </a:gridCol>
                <a:gridCol w="8865108">
                  <a:extLst>
                    <a:ext uri="{9D8B030D-6E8A-4147-A177-3AD203B41FA5}">
                      <a16:colId xmlns:a16="http://schemas.microsoft.com/office/drawing/2014/main" val="20001"/>
                    </a:ext>
                  </a:extLst>
                </a:gridCol>
              </a:tblGrid>
              <a:tr h="359271">
                <a:tc>
                  <a:txBody>
                    <a:bodyPr/>
                    <a:lstStyle/>
                    <a:p>
                      <a:pPr marL="0" indent="0">
                        <a:lnSpc>
                          <a:spcPts val="1820"/>
                        </a:lnSpc>
                        <a:buNone/>
                      </a:pPr>
                      <a:r>
                        <a:rPr lang="en-US" sz="1300" b="1" dirty="0">
                          <a:solidFill>
                            <a:srgbClr val="16202E"/>
                          </a:solidFill>
                          <a:latin typeface="IBM Plex Sans" pitchFamily="34" charset="0"/>
                          <a:ea typeface="IBM Plex Sans" pitchFamily="34" charset="-122"/>
                          <a:cs typeface="IBM Plex Sans" pitchFamily="34" charset="-120"/>
                        </a:rPr>
                        <a:t>Date</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E"/>
                      </a:solidFill>
                      <a:prstDash val="solid"/>
                      <a:round/>
                      <a:headEnd type="none" w="med" len="med"/>
                      <a:tailEnd type="none" w="med" len="med"/>
                    </a:lnL>
                    <a:lnR w="12700" cap="flat" cmpd="sng" algn="ctr">
                      <a:solidFill>
                        <a:srgbClr val="B5B3B0"/>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5B3B0"/>
                      </a:solidFill>
                      <a:prstDash val="solid"/>
                      <a:round/>
                      <a:headEnd type="none" w="med" len="med"/>
                      <a:tailEnd type="none" w="med" len="med"/>
                    </a:lnB>
                    <a:solidFill>
                      <a:srgbClr val="E2E0DC"/>
                    </a:solidFill>
                  </a:tcPr>
                </a:tc>
                <a:tc>
                  <a:txBody>
                    <a:bodyPr/>
                    <a:lstStyle/>
                    <a:p>
                      <a:pPr marL="0" indent="0">
                        <a:lnSpc>
                          <a:spcPts val="1820"/>
                        </a:lnSpc>
                        <a:buNone/>
                      </a:pPr>
                      <a:r>
                        <a:rPr lang="en-US" sz="1300" b="1" dirty="0">
                          <a:solidFill>
                            <a:srgbClr val="16202E"/>
                          </a:solidFill>
                          <a:latin typeface="IBM Plex Sans" pitchFamily="34" charset="0"/>
                          <a:ea typeface="IBM Plex Sans" pitchFamily="34" charset="-122"/>
                          <a:cs typeface="IBM Plex Sans" pitchFamily="34" charset="-120"/>
                        </a:rPr>
                        <a:t>Event</a:t>
                      </a:r>
                      <a:endParaRPr lang="en-US" sz="1300" dirty="0">
                        <a:latin typeface="IBM Plex Sans" charset="0"/>
                        <a:ea typeface="IBM Plex Sans" charset="0"/>
                        <a:cs typeface="IBM Plex Sans" charset="0"/>
                      </a:endParaRPr>
                    </a:p>
                  </a:txBody>
                  <a:tcPr marL="57785" marR="57785" marT="57785" marB="57785">
                    <a:lnL w="12700" cap="flat" cmpd="sng" algn="ctr">
                      <a:solidFill>
                        <a:srgbClr val="B5B3B0"/>
                      </a:solidFill>
                      <a:prstDash val="solid"/>
                      <a:round/>
                      <a:headEnd type="none" w="med" len="med"/>
                      <a:tailEnd type="none" w="med" len="med"/>
                    </a:lnL>
                    <a:lnR w="12700" cap="flat" cmpd="sng" algn="ctr">
                      <a:solidFill>
                        <a:srgbClr val="B5B3B0"/>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5B3B0"/>
                      </a:solidFill>
                      <a:prstDash val="solid"/>
                      <a:round/>
                      <a:headEnd type="none" w="med" len="med"/>
                      <a:tailEnd type="none" w="med" len="med"/>
                    </a:lnB>
                    <a:solidFill>
                      <a:srgbClr val="E2E0DC"/>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25 Sep</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5B3B0"/>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Times Car: about 6.6 million records; Tokyo Metro’s outsourced mail server accessed</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5B3B0"/>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2 Oct</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E"/>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BE7DF"/>
                    </a:solidFill>
                  </a:tcPr>
                </a:tc>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Osaka Metropolitan University ransomware: about 500 servers stop</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BE7DF"/>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5 Oct</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Yakiniku King (10.8M records); Daiwa Securities hit through vendor Scala Communications</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7 Oct</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E"/>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BE7DF"/>
                    </a:solidFill>
                  </a:tcPr>
                </a:tc>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IDC Frontier cloud ransomware: 495 companies and local governments affected</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BE7DF"/>
                    </a:solidFill>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9 Oct</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Government declares a state of emergency in cyberspace</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extLst>
                  <a:ext uri="{0D108BD9-81ED-4DB2-BD59-A6C34878D82A}">
                    <a16:rowId xmlns:a16="http://schemas.microsoft.com/office/drawing/2014/main" val="10005"/>
                  </a:ext>
                </a:extLst>
              </a:tr>
              <a:tr h="359271">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17 Oct</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E"/>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BE7DF"/>
                    </a:solidFill>
                  </a:tcPr>
                </a:tc>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First attempts to exploit the PHP2Shell flaws, before any patch exists</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BE7DF"/>
                    </a:solidFill>
                  </a:tcPr>
                </a:tc>
                <a:extLst>
                  <a:ext uri="{0D108BD9-81ED-4DB2-BD59-A6C34878D82A}">
                    <a16:rowId xmlns:a16="http://schemas.microsoft.com/office/drawing/2014/main" val="10006"/>
                  </a:ext>
                </a:extLst>
              </a:tr>
              <a:tr h="359271">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21 Oct</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PHP patch released; Japanese banks and agencies pause sites; Saitama Police data of 13,000 staff at risk</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extLst>
                  <a:ext uri="{0D108BD9-81ED-4DB2-BD59-A6C34878D82A}">
                    <a16:rowId xmlns:a16="http://schemas.microsoft.com/office/drawing/2014/main" val="10007"/>
                  </a:ext>
                </a:extLst>
              </a:tr>
              <a:tr h="359271">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26–27 Oct</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E"/>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BE7DF"/>
                    </a:solidFill>
                  </a:tcPr>
                </a:tc>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GMO Internet Group FX breach; $50M ransom refused</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BE7DF"/>
                    </a:solidFill>
                  </a:tcPr>
                </a:tc>
                <a:extLst>
                  <a:ext uri="{0D108BD9-81ED-4DB2-BD59-A6C34878D82A}">
                    <a16:rowId xmlns:a16="http://schemas.microsoft.com/office/drawing/2014/main" val="10008"/>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Sources: CS2 breach-wave analysis; SOCRadar; News On Japan; Bloomberg</a:t>
            </a:r>
            <a:endParaRPr lang="en-US" sz="1200" dirty="0"/>
          </a:p>
        </p:txBody>
      </p:sp>
      <p:pic>
        <p:nvPicPr>
          <p:cNvPr id="6" name="Picture 5" descr="ZT_logo(3).png">
            <a:extLst>
              <a:ext uri="{FF2B5EF4-FFF2-40B4-BE49-F238E27FC236}">
                <a16:creationId xmlns:a16="http://schemas.microsoft.com/office/drawing/2014/main" id="{8B00CCAE-B904-C9A7-819B-64B537716B79}"/>
              </a:ext>
            </a:extLst>
          </p:cNvPr>
          <p:cNvPicPr>
            <a:picLocks noChangeAspect="1"/>
          </p:cNvPicPr>
          <p:nvPr/>
        </p:nvPicPr>
        <p:blipFill>
          <a:blip r:embed="rId3"/>
          <a:stretch>
            <a:fillRect/>
          </a:stretch>
        </p:blipFill>
        <p:spPr>
          <a:xfrm>
            <a:off x="10927080" y="256032"/>
            <a:ext cx="713232" cy="7132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2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23A26"/>
                </a:solidFill>
                <a:latin typeface="IBM Plex Mono" pitchFamily="49" charset="0"/>
                <a:ea typeface="IBM Plex Mono" pitchFamily="49" charset="-122"/>
                <a:cs typeface="IBM Plex Mono" pitchFamily="49" charset="-120"/>
              </a:rPr>
              <a:t>ATTACK TYPES</a:t>
            </a:r>
            <a:endParaRPr lang="en-US" sz="1200" dirty="0"/>
          </a:p>
        </p:txBody>
      </p:sp>
      <p:sp>
        <p:nvSpPr>
          <p:cNvPr id="3" name="Text 1"/>
          <p:cNvSpPr>
            <a:spLocks noGrp="1"/>
          </p:cNvSpPr>
          <p:nvPr>
            <p:ph type="title"/>
          </p:nvPr>
        </p:nvSpPr>
        <p:spPr>
          <a:xfrm>
            <a:off x="812800" y="12801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Six ways the attacks unfolded</a:t>
            </a:r>
            <a:endParaRPr lang="en-US" sz="3200" dirty="0"/>
          </a:p>
        </p:txBody>
      </p:sp>
      <p:sp>
        <p:nvSpPr>
          <p:cNvPr id="4" name="Shape 2"/>
          <p:cNvSpPr/>
          <p:nvPr/>
        </p:nvSpPr>
        <p:spPr>
          <a:xfrm>
            <a:off x="815975" y="1984276"/>
            <a:ext cx="3397250" cy="1565771"/>
          </a:xfrm>
          <a:prstGeom prst="roundRect">
            <a:avLst>
              <a:gd name="adj" fmla="val 6286"/>
            </a:avLst>
          </a:prstGeom>
          <a:solidFill>
            <a:srgbClr val="FFFFFF"/>
          </a:solidFill>
          <a:ln w="6350">
            <a:solidFill>
              <a:srgbClr val="DDD8CF"/>
            </a:solidFill>
            <a:prstDash val="solid"/>
          </a:ln>
        </p:spPr>
        <p:txBody>
          <a:bodyPr/>
          <a:lstStyle/>
          <a:p>
            <a:endParaRPr lang="en-JP"/>
          </a:p>
        </p:txBody>
      </p:sp>
      <p:pic>
        <p:nvPicPr>
          <p:cNvPr id="5" name="Image 0" descr="Lock"/>
          <p:cNvPicPr>
            <a:picLocks noChangeAspect="1"/>
          </p:cNvPicPr>
          <p:nvPr/>
        </p:nvPicPr>
        <p:blipFill>
          <a:blip r:embed="rId3"/>
          <a:srcRect/>
          <a:stretch/>
        </p:blipFill>
        <p:spPr>
          <a:xfrm>
            <a:off x="1022350" y="2190651"/>
            <a:ext cx="279400" cy="279400"/>
          </a:xfrm>
          <a:prstGeom prst="rect">
            <a:avLst/>
          </a:prstGeom>
        </p:spPr>
      </p:pic>
      <p:sp>
        <p:nvSpPr>
          <p:cNvPr id="6" name="Text 3"/>
          <p:cNvSpPr/>
          <p:nvPr/>
        </p:nvSpPr>
        <p:spPr>
          <a:xfrm>
            <a:off x="1022350" y="2546251"/>
            <a:ext cx="307403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Ransomware</a:t>
            </a:r>
            <a:endParaRPr lang="en-US" sz="1700" dirty="0"/>
          </a:p>
        </p:txBody>
      </p:sp>
      <p:sp>
        <p:nvSpPr>
          <p:cNvPr id="7" name="Text 4"/>
          <p:cNvSpPr/>
          <p:nvPr/>
        </p:nvSpPr>
        <p:spPr>
          <a:xfrm>
            <a:off x="1022350" y="2881511"/>
            <a:ext cx="307403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756"/>
                </a:solidFill>
                <a:latin typeface="IBM Plex Sans" pitchFamily="34" charset="0"/>
                <a:ea typeface="IBM Plex Sans" pitchFamily="34" charset="-122"/>
                <a:cs typeface="IBM Plex Sans" pitchFamily="34" charset="-120"/>
              </a:rPr>
              <a:t>Encrypts servers and backups, then demands payment</a:t>
            </a:r>
            <a:endParaRPr lang="en-US" sz="1300" dirty="0"/>
          </a:p>
        </p:txBody>
      </p:sp>
      <p:sp>
        <p:nvSpPr>
          <p:cNvPr id="8" name="Shape 5"/>
          <p:cNvSpPr/>
          <p:nvPr/>
        </p:nvSpPr>
        <p:spPr>
          <a:xfrm>
            <a:off x="4397375" y="1984276"/>
            <a:ext cx="3397250" cy="1565771"/>
          </a:xfrm>
          <a:prstGeom prst="roundRect">
            <a:avLst>
              <a:gd name="adj" fmla="val 6286"/>
            </a:avLst>
          </a:prstGeom>
          <a:solidFill>
            <a:srgbClr val="FFFFFF"/>
          </a:solidFill>
          <a:ln w="6350">
            <a:solidFill>
              <a:srgbClr val="DDD8CF"/>
            </a:solidFill>
            <a:prstDash val="solid"/>
          </a:ln>
        </p:spPr>
        <p:txBody>
          <a:bodyPr/>
          <a:lstStyle/>
          <a:p>
            <a:endParaRPr lang="en-JP"/>
          </a:p>
        </p:txBody>
      </p:sp>
      <p:pic>
        <p:nvPicPr>
          <p:cNvPr id="9" name="Image 1" descr="Database"/>
          <p:cNvPicPr>
            <a:picLocks noChangeAspect="1"/>
          </p:cNvPicPr>
          <p:nvPr/>
        </p:nvPicPr>
        <p:blipFill>
          <a:blip r:embed="rId4"/>
          <a:srcRect/>
          <a:stretch/>
        </p:blipFill>
        <p:spPr>
          <a:xfrm>
            <a:off x="4603750" y="2190651"/>
            <a:ext cx="279400" cy="279400"/>
          </a:xfrm>
          <a:prstGeom prst="rect">
            <a:avLst/>
          </a:prstGeom>
        </p:spPr>
      </p:pic>
      <p:sp>
        <p:nvSpPr>
          <p:cNvPr id="10" name="Text 6"/>
          <p:cNvSpPr/>
          <p:nvPr/>
        </p:nvSpPr>
        <p:spPr>
          <a:xfrm>
            <a:off x="4603750" y="2546251"/>
            <a:ext cx="307403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Data theft and extortion</a:t>
            </a:r>
            <a:endParaRPr lang="en-US" sz="1700" dirty="0"/>
          </a:p>
        </p:txBody>
      </p:sp>
      <p:sp>
        <p:nvSpPr>
          <p:cNvPr id="11" name="Text 7"/>
          <p:cNvSpPr/>
          <p:nvPr/>
        </p:nvSpPr>
        <p:spPr>
          <a:xfrm>
            <a:off x="4603750" y="2881511"/>
            <a:ext cx="307403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756"/>
                </a:solidFill>
                <a:latin typeface="IBM Plex Sans" pitchFamily="34" charset="0"/>
                <a:ea typeface="IBM Plex Sans" pitchFamily="34" charset="-122"/>
                <a:cs typeface="IBM Plex Sans" pitchFamily="34" charset="-120"/>
              </a:rPr>
              <a:t>Customer records stolen, with threats to leak them</a:t>
            </a:r>
            <a:endParaRPr lang="en-US" sz="1300" dirty="0"/>
          </a:p>
        </p:txBody>
      </p:sp>
      <p:sp>
        <p:nvSpPr>
          <p:cNvPr id="12" name="Shape 8"/>
          <p:cNvSpPr/>
          <p:nvPr/>
        </p:nvSpPr>
        <p:spPr>
          <a:xfrm>
            <a:off x="7978775" y="1984276"/>
            <a:ext cx="3397250" cy="1565771"/>
          </a:xfrm>
          <a:prstGeom prst="roundRect">
            <a:avLst>
              <a:gd name="adj" fmla="val 6286"/>
            </a:avLst>
          </a:prstGeom>
          <a:solidFill>
            <a:srgbClr val="FFFFFF"/>
          </a:solidFill>
          <a:ln w="6350">
            <a:solidFill>
              <a:srgbClr val="DDD8CF"/>
            </a:solidFill>
            <a:prstDash val="solid"/>
          </a:ln>
        </p:spPr>
        <p:txBody>
          <a:bodyPr/>
          <a:lstStyle/>
          <a:p>
            <a:endParaRPr lang="en-JP"/>
          </a:p>
        </p:txBody>
      </p:sp>
      <p:pic>
        <p:nvPicPr>
          <p:cNvPr id="13" name="Image 2" descr="Link"/>
          <p:cNvPicPr>
            <a:picLocks noChangeAspect="1"/>
          </p:cNvPicPr>
          <p:nvPr/>
        </p:nvPicPr>
        <p:blipFill>
          <a:blip r:embed="rId5"/>
          <a:srcRect/>
          <a:stretch/>
        </p:blipFill>
        <p:spPr>
          <a:xfrm>
            <a:off x="8185150" y="2190651"/>
            <a:ext cx="279400" cy="279400"/>
          </a:xfrm>
          <a:prstGeom prst="rect">
            <a:avLst/>
          </a:prstGeom>
        </p:spPr>
      </p:pic>
      <p:sp>
        <p:nvSpPr>
          <p:cNvPr id="14" name="Text 9"/>
          <p:cNvSpPr/>
          <p:nvPr/>
        </p:nvSpPr>
        <p:spPr>
          <a:xfrm>
            <a:off x="8185150" y="2546251"/>
            <a:ext cx="307403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Supply chain</a:t>
            </a:r>
            <a:endParaRPr lang="en-US" sz="1700" dirty="0"/>
          </a:p>
        </p:txBody>
      </p:sp>
      <p:sp>
        <p:nvSpPr>
          <p:cNvPr id="15" name="Text 10"/>
          <p:cNvSpPr/>
          <p:nvPr/>
        </p:nvSpPr>
        <p:spPr>
          <a:xfrm>
            <a:off x="8185150" y="2881511"/>
            <a:ext cx="307403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756"/>
                </a:solidFill>
                <a:latin typeface="IBM Plex Sans" pitchFamily="34" charset="0"/>
                <a:ea typeface="IBM Plex Sans" pitchFamily="34" charset="-122"/>
                <a:cs typeface="IBM Plex Sans" pitchFamily="34" charset="-120"/>
              </a:rPr>
              <a:t>A vendor or cloud breach reaches all of its clients</a:t>
            </a:r>
            <a:endParaRPr lang="en-US" sz="1300" dirty="0"/>
          </a:p>
        </p:txBody>
      </p:sp>
      <p:sp>
        <p:nvSpPr>
          <p:cNvPr id="16" name="Shape 11"/>
          <p:cNvSpPr/>
          <p:nvPr/>
        </p:nvSpPr>
        <p:spPr>
          <a:xfrm>
            <a:off x="815975" y="3734197"/>
            <a:ext cx="3397250" cy="1565771"/>
          </a:xfrm>
          <a:prstGeom prst="roundRect">
            <a:avLst>
              <a:gd name="adj" fmla="val 6286"/>
            </a:avLst>
          </a:prstGeom>
          <a:solidFill>
            <a:srgbClr val="FFFFFF"/>
          </a:solidFill>
          <a:ln w="6350">
            <a:solidFill>
              <a:srgbClr val="DDD8CF"/>
            </a:solidFill>
            <a:prstDash val="solid"/>
          </a:ln>
        </p:spPr>
        <p:txBody>
          <a:bodyPr/>
          <a:lstStyle/>
          <a:p>
            <a:endParaRPr lang="en-JP"/>
          </a:p>
        </p:txBody>
      </p:sp>
      <p:pic>
        <p:nvPicPr>
          <p:cNvPr id="17" name="Image 3" descr="Warning"/>
          <p:cNvPicPr>
            <a:picLocks noChangeAspect="1"/>
          </p:cNvPicPr>
          <p:nvPr/>
        </p:nvPicPr>
        <p:blipFill>
          <a:blip r:embed="rId6"/>
          <a:srcRect/>
          <a:stretch/>
        </p:blipFill>
        <p:spPr>
          <a:xfrm>
            <a:off x="1022350" y="3940572"/>
            <a:ext cx="279400" cy="279400"/>
          </a:xfrm>
          <a:prstGeom prst="rect">
            <a:avLst/>
          </a:prstGeom>
        </p:spPr>
      </p:pic>
      <p:sp>
        <p:nvSpPr>
          <p:cNvPr id="18" name="Text 12"/>
          <p:cNvSpPr/>
          <p:nvPr/>
        </p:nvSpPr>
        <p:spPr>
          <a:xfrm>
            <a:off x="1022350" y="4296172"/>
            <a:ext cx="307403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Vulnerability exploits</a:t>
            </a:r>
            <a:endParaRPr lang="en-US" sz="1700" dirty="0"/>
          </a:p>
        </p:txBody>
      </p:sp>
      <p:sp>
        <p:nvSpPr>
          <p:cNvPr id="19" name="Text 13"/>
          <p:cNvSpPr/>
          <p:nvPr/>
        </p:nvSpPr>
        <p:spPr>
          <a:xfrm>
            <a:off x="1022350" y="4631432"/>
            <a:ext cx="307403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756"/>
                </a:solidFill>
                <a:latin typeface="IBM Plex Sans" pitchFamily="34" charset="0"/>
                <a:ea typeface="IBM Plex Sans" pitchFamily="34" charset="-122"/>
                <a:cs typeface="IBM Plex Sans" pitchFamily="34" charset="-120"/>
              </a:rPr>
              <a:t>Unpatched software, such as the PHP2Shell flaws</a:t>
            </a:r>
            <a:endParaRPr lang="en-US" sz="1300" dirty="0"/>
          </a:p>
        </p:txBody>
      </p:sp>
      <p:sp>
        <p:nvSpPr>
          <p:cNvPr id="20" name="Shape 14"/>
          <p:cNvSpPr/>
          <p:nvPr/>
        </p:nvSpPr>
        <p:spPr>
          <a:xfrm>
            <a:off x="4397375" y="3734197"/>
            <a:ext cx="3397250" cy="1565771"/>
          </a:xfrm>
          <a:prstGeom prst="roundRect">
            <a:avLst>
              <a:gd name="adj" fmla="val 6286"/>
            </a:avLst>
          </a:prstGeom>
          <a:solidFill>
            <a:srgbClr val="FFFFFF"/>
          </a:solidFill>
          <a:ln w="6350">
            <a:solidFill>
              <a:srgbClr val="DDD8CF"/>
            </a:solidFill>
            <a:prstDash val="solid"/>
          </a:ln>
        </p:spPr>
        <p:txBody>
          <a:bodyPr/>
          <a:lstStyle/>
          <a:p>
            <a:endParaRPr lang="en-JP"/>
          </a:p>
        </p:txBody>
      </p:sp>
      <p:pic>
        <p:nvPicPr>
          <p:cNvPr id="21" name="Image 4" descr="Key"/>
          <p:cNvPicPr>
            <a:picLocks noChangeAspect="1"/>
          </p:cNvPicPr>
          <p:nvPr/>
        </p:nvPicPr>
        <p:blipFill>
          <a:blip r:embed="rId7"/>
          <a:srcRect/>
          <a:stretch/>
        </p:blipFill>
        <p:spPr>
          <a:xfrm>
            <a:off x="4603750" y="3940572"/>
            <a:ext cx="279400" cy="279400"/>
          </a:xfrm>
          <a:prstGeom prst="rect">
            <a:avLst/>
          </a:prstGeom>
        </p:spPr>
      </p:pic>
      <p:sp>
        <p:nvSpPr>
          <p:cNvPr id="22" name="Text 15"/>
          <p:cNvSpPr/>
          <p:nvPr/>
        </p:nvSpPr>
        <p:spPr>
          <a:xfrm>
            <a:off x="4603750" y="4296172"/>
            <a:ext cx="307403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Accounts and settings</a:t>
            </a:r>
            <a:endParaRPr lang="en-US" sz="1700" dirty="0"/>
          </a:p>
        </p:txBody>
      </p:sp>
      <p:sp>
        <p:nvSpPr>
          <p:cNvPr id="23" name="Text 16"/>
          <p:cNvSpPr/>
          <p:nvPr/>
        </p:nvSpPr>
        <p:spPr>
          <a:xfrm>
            <a:off x="4603750" y="4631432"/>
            <a:ext cx="307403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756"/>
                </a:solidFill>
                <a:latin typeface="IBM Plex Sans" pitchFamily="34" charset="0"/>
                <a:ea typeface="IBM Plex Sans" pitchFamily="34" charset="-122"/>
                <a:cs typeface="IBM Plex Sans" pitchFamily="34" charset="-120"/>
              </a:rPr>
              <a:t>Hijacked accounts and CMS or API misconfiguration</a:t>
            </a:r>
            <a:endParaRPr lang="en-US" sz="1300" dirty="0"/>
          </a:p>
        </p:txBody>
      </p:sp>
      <p:sp>
        <p:nvSpPr>
          <p:cNvPr id="24" name="Shape 17"/>
          <p:cNvSpPr/>
          <p:nvPr/>
        </p:nvSpPr>
        <p:spPr>
          <a:xfrm>
            <a:off x="7975600" y="3731022"/>
            <a:ext cx="3403600" cy="1572121"/>
          </a:xfrm>
          <a:prstGeom prst="roundRect">
            <a:avLst>
              <a:gd name="adj" fmla="val 6463"/>
            </a:avLst>
          </a:prstGeom>
          <a:solidFill>
            <a:srgbClr val="0F1724"/>
          </a:solidFill>
          <a:ln/>
        </p:spPr>
        <p:txBody>
          <a:bodyPr/>
          <a:lstStyle/>
          <a:p>
            <a:endParaRPr lang="en-JP"/>
          </a:p>
        </p:txBody>
      </p:sp>
      <p:pic>
        <p:nvPicPr>
          <p:cNvPr id="25" name="Image 5" descr="Lightning"/>
          <p:cNvPicPr>
            <a:picLocks noChangeAspect="1"/>
          </p:cNvPicPr>
          <p:nvPr/>
        </p:nvPicPr>
        <p:blipFill>
          <a:blip r:embed="rId8"/>
          <a:srcRect/>
          <a:stretch/>
        </p:blipFill>
        <p:spPr>
          <a:xfrm>
            <a:off x="8178800" y="3934222"/>
            <a:ext cx="279400" cy="279400"/>
          </a:xfrm>
          <a:prstGeom prst="rect">
            <a:avLst/>
          </a:prstGeom>
        </p:spPr>
      </p:pic>
      <p:sp>
        <p:nvSpPr>
          <p:cNvPr id="26" name="Text 18"/>
          <p:cNvSpPr/>
          <p:nvPr/>
        </p:nvSpPr>
        <p:spPr>
          <a:xfrm>
            <a:off x="8178800" y="4289822"/>
            <a:ext cx="308711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4F2EE"/>
                </a:solidFill>
                <a:latin typeface="IBM Plex Sans" pitchFamily="34" charset="0"/>
                <a:ea typeface="IBM Plex Sans" pitchFamily="34" charset="-122"/>
                <a:cs typeface="IBM Plex Sans" pitchFamily="34" charset="-120"/>
              </a:rPr>
              <a:t>AI-accelerated</a:t>
            </a:r>
            <a:endParaRPr lang="en-US" sz="1700" dirty="0"/>
          </a:p>
        </p:txBody>
      </p:sp>
      <p:sp>
        <p:nvSpPr>
          <p:cNvPr id="27" name="Text 19"/>
          <p:cNvSpPr/>
          <p:nvPr/>
        </p:nvSpPr>
        <p:spPr>
          <a:xfrm>
            <a:off x="8178800" y="4625082"/>
            <a:ext cx="3087116"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2CF"/>
                </a:solidFill>
                <a:latin typeface="IBM Plex Sans" pitchFamily="34" charset="0"/>
                <a:ea typeface="IBM Plex Sans" pitchFamily="34" charset="-122"/>
                <a:cs typeface="IBM Plex Sans" pitchFamily="34" charset="-120"/>
              </a:rPr>
              <a:t>An AI pen-testing tool, ARTEX, linked to attacks on ~20 firms</a:t>
            </a:r>
            <a:endParaRPr lang="en-US" sz="1300" dirty="0"/>
          </a:p>
        </p:txBody>
      </p:sp>
      <p:sp>
        <p:nvSpPr>
          <p:cNvPr id="28"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Sources: CS2; Malware News / SOCRadar; GMO Cybersecurity by IERAE (19 Oct)</a:t>
            </a:r>
            <a:endParaRPr lang="en-US" sz="1200" dirty="0"/>
          </a:p>
        </p:txBody>
      </p:sp>
      <p:pic>
        <p:nvPicPr>
          <p:cNvPr id="29" name="Picture 28" descr="ZT_logo(3).png">
            <a:extLst>
              <a:ext uri="{FF2B5EF4-FFF2-40B4-BE49-F238E27FC236}">
                <a16:creationId xmlns:a16="http://schemas.microsoft.com/office/drawing/2014/main" id="{369A8A23-81E3-DD13-FB2D-18B858C5ED03}"/>
              </a:ext>
            </a:extLst>
          </p:cNvPr>
          <p:cNvPicPr>
            <a:picLocks noChangeAspect="1"/>
          </p:cNvPicPr>
          <p:nvPr/>
        </p:nvPicPr>
        <p:blipFill>
          <a:blip r:embed="rId9"/>
          <a:stretch>
            <a:fillRect/>
          </a:stretch>
        </p:blipFill>
        <p:spPr>
          <a:xfrm>
            <a:off x="10927080" y="256032"/>
            <a:ext cx="713232" cy="7132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2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23A26"/>
                </a:solidFill>
                <a:latin typeface="IBM Plex Mono" pitchFamily="49" charset="0"/>
                <a:ea typeface="IBM Plex Mono" pitchFamily="49" charset="-122"/>
                <a:cs typeface="IBM Plex Mono" pitchFamily="49" charset="-120"/>
              </a:rPr>
              <a:t>KEY INCIDENTS · RANSOMWARE</a:t>
            </a:r>
            <a:endParaRPr lang="en-US" sz="1200" dirty="0"/>
          </a:p>
        </p:txBody>
      </p:sp>
      <p:sp>
        <p:nvSpPr>
          <p:cNvPr id="3" name="Text 1"/>
          <p:cNvSpPr>
            <a:spLocks noGrp="1"/>
          </p:cNvSpPr>
          <p:nvPr>
            <p:ph type="title"/>
          </p:nvPr>
        </p:nvSpPr>
        <p:spPr>
          <a:xfrm>
            <a:off x="812800" y="12801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One shared layer, hundreds of victims</a:t>
            </a:r>
            <a:endParaRPr lang="en-US" sz="3200" dirty="0"/>
          </a:p>
        </p:txBody>
      </p:sp>
      <p:sp>
        <p:nvSpPr>
          <p:cNvPr id="4" name="Shape 2"/>
          <p:cNvSpPr/>
          <p:nvPr/>
        </p:nvSpPr>
        <p:spPr>
          <a:xfrm>
            <a:off x="815975" y="1984276"/>
            <a:ext cx="5175250" cy="2436813"/>
          </a:xfrm>
          <a:prstGeom prst="roundRect">
            <a:avLst>
              <a:gd name="adj" fmla="val 4039"/>
            </a:avLst>
          </a:prstGeom>
          <a:solidFill>
            <a:srgbClr val="FFFFFF"/>
          </a:solidFill>
          <a:ln w="6350">
            <a:solidFill>
              <a:srgbClr val="DDD8CF"/>
            </a:solidFill>
            <a:prstDash val="solid"/>
          </a:ln>
        </p:spPr>
        <p:txBody>
          <a:bodyPr/>
          <a:lstStyle/>
          <a:p>
            <a:endParaRPr lang="en-JP"/>
          </a:p>
        </p:txBody>
      </p:sp>
      <p:sp>
        <p:nvSpPr>
          <p:cNvPr id="5" name="Text 3"/>
          <p:cNvSpPr/>
          <p:nvPr/>
        </p:nvSpPr>
        <p:spPr>
          <a:xfrm>
            <a:off x="1073150" y="2241451"/>
            <a:ext cx="4800727"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02E"/>
                </a:solidFill>
                <a:latin typeface="IBM Plex Sans" pitchFamily="34" charset="0"/>
                <a:ea typeface="IBM Plex Sans" pitchFamily="34" charset="-122"/>
                <a:cs typeface="IBM Plex Sans" pitchFamily="34" charset="-120"/>
              </a:rPr>
              <a:t>IDC Frontier (SoftBank cloud)</a:t>
            </a:r>
            <a:endParaRPr lang="en-US" sz="1800" dirty="0"/>
          </a:p>
        </p:txBody>
      </p:sp>
      <p:sp>
        <p:nvSpPr>
          <p:cNvPr id="6" name="Text 4"/>
          <p:cNvSpPr/>
          <p:nvPr/>
        </p:nvSpPr>
        <p:spPr>
          <a:xfrm>
            <a:off x="1151382" y="2617291"/>
            <a:ext cx="4714875" cy="1572022"/>
          </a:xfrm>
          <a:prstGeom prst="rect">
            <a:avLst/>
          </a:prstGeom>
          <a:noFill/>
          <a:ln/>
        </p:spPr>
        <p:txBody>
          <a:bodyPr wrap="square" lIns="0" tIns="0" rIns="0" bIns="0" rtlCol="0" anchor="t">
            <a:normAutofit/>
          </a:bodyPr>
          <a:lstStyle/>
          <a:p>
            <a:pPr marL="175768" indent="-175768" algn="l">
              <a:lnSpc>
                <a:spcPts val="2030"/>
              </a:lnSpc>
              <a:buSzPct val="100000"/>
              <a:buChar char="•"/>
            </a:pPr>
            <a:r>
              <a:rPr lang="en-US" sz="1400" dirty="0">
                <a:solidFill>
                  <a:srgbClr val="3D4756"/>
                </a:solidFill>
                <a:latin typeface="IBM Plex Sans" pitchFamily="34" charset="0"/>
                <a:ea typeface="IBM Plex Sans" pitchFamily="34" charset="-122"/>
                <a:cs typeface="IBM Plex Sans" pitchFamily="34" charset="-120"/>
              </a:rPr>
              <a:t>7 Oct, about 03:40: ransomware hits IDCF Cloud East Japan Region 1</a:t>
            </a:r>
            <a:endParaRPr lang="en-US" sz="1400" dirty="0"/>
          </a:p>
          <a:p>
            <a:pPr marL="175768" indent="-175768" algn="l">
              <a:lnSpc>
                <a:spcPts val="2030"/>
              </a:lnSpc>
              <a:buSzPct val="100000"/>
              <a:buChar char="•"/>
            </a:pPr>
            <a:r>
              <a:rPr lang="en-US" sz="1400" dirty="0">
                <a:solidFill>
                  <a:srgbClr val="3D4756"/>
                </a:solidFill>
                <a:latin typeface="IBM Plex Sans" pitchFamily="34" charset="0"/>
                <a:ea typeface="IBM Plex Sans" pitchFamily="34" charset="-122"/>
                <a:cs typeface="IBM Plex Sans" pitchFamily="34" charset="-120"/>
              </a:rPr>
              <a:t>495 companies and local governments affected</a:t>
            </a:r>
            <a:endParaRPr lang="en-US" sz="1400" dirty="0"/>
          </a:p>
          <a:p>
            <a:pPr marL="175768" indent="-175768" algn="l">
              <a:lnSpc>
                <a:spcPts val="2030"/>
              </a:lnSpc>
              <a:buSzPct val="100000"/>
              <a:buChar char="•"/>
            </a:pPr>
            <a:r>
              <a:rPr lang="en-US" sz="1400" dirty="0">
                <a:solidFill>
                  <a:srgbClr val="3D4756"/>
                </a:solidFill>
                <a:latin typeface="IBM Plex Sans" pitchFamily="34" charset="0"/>
                <a:ea typeface="IBM Plex Sans" pitchFamily="34" charset="-122"/>
                <a:cs typeface="IBM Plex Sans" pitchFamily="34" charset="-120"/>
              </a:rPr>
              <a:t>JR East and Views Card: up to ~6M member records possibly exposed</a:t>
            </a:r>
            <a:endParaRPr lang="en-US" sz="1400" dirty="0"/>
          </a:p>
          <a:p>
            <a:pPr marL="175768" indent="-175768" algn="l">
              <a:lnSpc>
                <a:spcPts val="2030"/>
              </a:lnSpc>
              <a:buSzPct val="100000"/>
              <a:buChar char="•"/>
            </a:pPr>
            <a:r>
              <a:rPr lang="en-US" sz="1400" dirty="0">
                <a:solidFill>
                  <a:srgbClr val="3D4756"/>
                </a:solidFill>
                <a:latin typeface="IBM Plex Sans" pitchFamily="34" charset="0"/>
                <a:ea typeface="IBM Plex Sans" pitchFamily="34" charset="-122"/>
                <a:cs typeface="IBM Plex Sans" pitchFamily="34" charset="-120"/>
              </a:rPr>
              <a:t>Customers told to restore from their own backups</a:t>
            </a:r>
            <a:endParaRPr lang="en-US" sz="1400" dirty="0"/>
          </a:p>
        </p:txBody>
      </p:sp>
      <p:sp>
        <p:nvSpPr>
          <p:cNvPr id="7" name="Shape 5"/>
          <p:cNvSpPr/>
          <p:nvPr/>
        </p:nvSpPr>
        <p:spPr>
          <a:xfrm>
            <a:off x="6200775" y="1984276"/>
            <a:ext cx="5175250" cy="2436813"/>
          </a:xfrm>
          <a:prstGeom prst="roundRect">
            <a:avLst>
              <a:gd name="adj" fmla="val 4039"/>
            </a:avLst>
          </a:prstGeom>
          <a:solidFill>
            <a:srgbClr val="FFFFFF"/>
          </a:solidFill>
          <a:ln w="6350">
            <a:solidFill>
              <a:srgbClr val="DDD8CF"/>
            </a:solidFill>
            <a:prstDash val="solid"/>
          </a:ln>
        </p:spPr>
        <p:txBody>
          <a:bodyPr/>
          <a:lstStyle/>
          <a:p>
            <a:endParaRPr lang="en-JP"/>
          </a:p>
        </p:txBody>
      </p:sp>
      <p:sp>
        <p:nvSpPr>
          <p:cNvPr id="8" name="Text 6"/>
          <p:cNvSpPr/>
          <p:nvPr/>
        </p:nvSpPr>
        <p:spPr>
          <a:xfrm>
            <a:off x="6457950" y="2241451"/>
            <a:ext cx="4800727"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02E"/>
                </a:solidFill>
                <a:latin typeface="IBM Plex Sans" pitchFamily="34" charset="0"/>
                <a:ea typeface="IBM Plex Sans" pitchFamily="34" charset="-122"/>
                <a:cs typeface="IBM Plex Sans" pitchFamily="34" charset="-120"/>
              </a:rPr>
              <a:t>Osaka Metropolitan University</a:t>
            </a:r>
            <a:endParaRPr lang="en-US" sz="1800" dirty="0"/>
          </a:p>
        </p:txBody>
      </p:sp>
      <p:sp>
        <p:nvSpPr>
          <p:cNvPr id="9" name="Text 7"/>
          <p:cNvSpPr/>
          <p:nvPr/>
        </p:nvSpPr>
        <p:spPr>
          <a:xfrm>
            <a:off x="6536182" y="2617291"/>
            <a:ext cx="4714875" cy="1056481"/>
          </a:xfrm>
          <a:prstGeom prst="rect">
            <a:avLst/>
          </a:prstGeom>
          <a:noFill/>
          <a:ln/>
        </p:spPr>
        <p:txBody>
          <a:bodyPr wrap="square" lIns="0" tIns="0" rIns="0" bIns="0" rtlCol="0" anchor="t">
            <a:normAutofit/>
          </a:bodyPr>
          <a:lstStyle/>
          <a:p>
            <a:pPr marL="175768" indent="-175768" algn="l">
              <a:lnSpc>
                <a:spcPts val="2030"/>
              </a:lnSpc>
              <a:buSzPct val="100000"/>
              <a:buChar char="•"/>
            </a:pPr>
            <a:r>
              <a:rPr lang="en-US" sz="1400" dirty="0">
                <a:solidFill>
                  <a:srgbClr val="3D4756"/>
                </a:solidFill>
                <a:latin typeface="IBM Plex Sans" pitchFamily="34" charset="0"/>
                <a:ea typeface="IBM Plex Sans" pitchFamily="34" charset="-122"/>
                <a:cs typeface="IBM Plex Sans" pitchFamily="34" charset="-120"/>
              </a:rPr>
              <a:t>2 Oct: outage across all five campuses</a:t>
            </a:r>
            <a:endParaRPr lang="en-US" sz="1400" dirty="0"/>
          </a:p>
          <a:p>
            <a:pPr marL="175768" indent="-175768" algn="l">
              <a:lnSpc>
                <a:spcPts val="2030"/>
              </a:lnSpc>
              <a:buSzPct val="100000"/>
              <a:buChar char="•"/>
            </a:pPr>
            <a:r>
              <a:rPr lang="en-US" sz="1400" dirty="0">
                <a:solidFill>
                  <a:srgbClr val="3D4756"/>
                </a:solidFill>
                <a:latin typeface="IBM Plex Sans" pitchFamily="34" charset="0"/>
                <a:ea typeface="IBM Plex Sans" pitchFamily="34" charset="-122"/>
                <a:cs typeface="IBM Plex Sans" pitchFamily="34" charset="-120"/>
              </a:rPr>
              <a:t>Attacker reached the shared virtualization platform</a:t>
            </a:r>
            <a:endParaRPr lang="en-US" sz="1400" dirty="0"/>
          </a:p>
          <a:p>
            <a:pPr marL="175768" indent="-175768" algn="l">
              <a:lnSpc>
                <a:spcPts val="2030"/>
              </a:lnSpc>
              <a:buSzPct val="100000"/>
              <a:buChar char="•"/>
            </a:pPr>
            <a:r>
              <a:rPr lang="en-US" sz="1400" dirty="0">
                <a:solidFill>
                  <a:srgbClr val="3D4756"/>
                </a:solidFill>
                <a:latin typeface="IBM Plex Sans" pitchFamily="34" charset="0"/>
                <a:ea typeface="IBM Plex Sans" pitchFamily="34" charset="-122"/>
                <a:cs typeface="IBM Plex Sans" pitchFamily="34" charset="-120"/>
              </a:rPr>
              <a:t>About 500 servers stopped</a:t>
            </a:r>
            <a:endParaRPr lang="en-US" sz="1400" dirty="0"/>
          </a:p>
          <a:p>
            <a:pPr marL="175768" indent="-175768" algn="l">
              <a:lnSpc>
                <a:spcPts val="2030"/>
              </a:lnSpc>
              <a:buSzPct val="100000"/>
              <a:buChar char="•"/>
            </a:pPr>
            <a:r>
              <a:rPr lang="en-US" sz="1400" dirty="0">
                <a:solidFill>
                  <a:srgbClr val="3D4756"/>
                </a:solidFill>
                <a:latin typeface="IBM Plex Sans" pitchFamily="34" charset="0"/>
                <a:ea typeface="IBM Plex Sans" pitchFamily="34" charset="-122"/>
                <a:cs typeface="IBM Plex Sans" pitchFamily="34" charset="-120"/>
              </a:rPr>
              <a:t>Most backups were encrypted too</a:t>
            </a:r>
            <a:endParaRPr lang="en-US" sz="1400" dirty="0"/>
          </a:p>
        </p:txBody>
      </p:sp>
      <p:sp>
        <p:nvSpPr>
          <p:cNvPr id="10" name="Text 8"/>
          <p:cNvSpPr/>
          <p:nvPr/>
        </p:nvSpPr>
        <p:spPr>
          <a:xfrm>
            <a:off x="812800" y="4678263"/>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B23A26"/>
                </a:solidFill>
                <a:latin typeface="IBM Plex Sans" pitchFamily="34" charset="0"/>
                <a:ea typeface="IBM Plex Sans" pitchFamily="34" charset="-122"/>
                <a:cs typeface="IBM Plex Sans" pitchFamily="34" charset="-120"/>
              </a:rPr>
              <a:t>Lesson: backups and recovery that live on the same layer fail together.</a:t>
            </a:r>
            <a:endParaRPr lang="en-US" sz="15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Sources: CS2 breach-wave analysis (citing TECH+, NHK, IDC Frontier reports); UV Cyber</a:t>
            </a:r>
            <a:endParaRPr lang="en-US" sz="1200" dirty="0"/>
          </a:p>
        </p:txBody>
      </p:sp>
      <p:pic>
        <p:nvPicPr>
          <p:cNvPr id="12" name="Picture 11" descr="ZT_logo(3).png">
            <a:extLst>
              <a:ext uri="{FF2B5EF4-FFF2-40B4-BE49-F238E27FC236}">
                <a16:creationId xmlns:a16="http://schemas.microsoft.com/office/drawing/2014/main" id="{83839610-965C-D4D5-84C4-87D68D125A5E}"/>
              </a:ext>
            </a:extLst>
          </p:cNvPr>
          <p:cNvPicPr>
            <a:picLocks noChangeAspect="1"/>
          </p:cNvPicPr>
          <p:nvPr/>
        </p:nvPicPr>
        <p:blipFill>
          <a:blip r:embed="rId3"/>
          <a:stretch>
            <a:fillRect/>
          </a:stretch>
        </p:blipFill>
        <p:spPr>
          <a:xfrm>
            <a:off x="10927080" y="256032"/>
            <a:ext cx="713232" cy="71323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2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23A26"/>
                </a:solidFill>
                <a:latin typeface="IBM Plex Mono" pitchFamily="49" charset="0"/>
                <a:ea typeface="IBM Plex Mono" pitchFamily="49" charset="-122"/>
                <a:cs typeface="IBM Plex Mono" pitchFamily="49" charset="-120"/>
              </a:rPr>
              <a:t>KEY INCIDENTS · DATA BREACHES</a:t>
            </a:r>
            <a:endParaRPr lang="en-US" sz="1200" dirty="0"/>
          </a:p>
        </p:txBody>
      </p:sp>
      <p:sp>
        <p:nvSpPr>
          <p:cNvPr id="3" name="Text 1"/>
          <p:cNvSpPr>
            <a:spLocks noGrp="1"/>
          </p:cNvSpPr>
          <p:nvPr>
            <p:ph type="title"/>
          </p:nvPr>
        </p:nvSpPr>
        <p:spPr>
          <a:xfrm>
            <a:off x="812800" y="1254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How the attackers got in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3001"/>
          <a:ext cx="10553700" cy="2475407"/>
        </p:xfrm>
        <a:graphic>
          <a:graphicData uri="http://schemas.openxmlformats.org/drawingml/2006/table">
            <a:tbl>
              <a:tblPr/>
              <a:tblGrid>
                <a:gridCol w="2955036">
                  <a:extLst>
                    <a:ext uri="{9D8B030D-6E8A-4147-A177-3AD203B41FA5}">
                      <a16:colId xmlns:a16="http://schemas.microsoft.com/office/drawing/2014/main" val="20000"/>
                    </a:ext>
                  </a:extLst>
                </a:gridCol>
                <a:gridCol w="7598664">
                  <a:extLst>
                    <a:ext uri="{9D8B030D-6E8A-4147-A177-3AD203B41FA5}">
                      <a16:colId xmlns:a16="http://schemas.microsoft.com/office/drawing/2014/main" val="20001"/>
                    </a:ext>
                  </a:extLst>
                </a:gridCol>
              </a:tblGrid>
              <a:tr h="372566">
                <a:tc>
                  <a:txBody>
                    <a:bodyPr/>
                    <a:lstStyle/>
                    <a:p>
                      <a:pPr marL="0" indent="0">
                        <a:lnSpc>
                          <a:spcPts val="1890"/>
                        </a:lnSpc>
                        <a:buNone/>
                      </a:pPr>
                      <a:r>
                        <a:rPr lang="en-US" sz="1350" b="1" dirty="0">
                          <a:solidFill>
                            <a:srgbClr val="16202E"/>
                          </a:solidFill>
                          <a:latin typeface="IBM Plex Sans" pitchFamily="34" charset="0"/>
                          <a:ea typeface="IBM Plex Sans" pitchFamily="34" charset="-122"/>
                          <a:cs typeface="IBM Plex Sans" pitchFamily="34" charset="-120"/>
                        </a:rPr>
                        <a:t>Entry point</a:t>
                      </a:r>
                      <a:endParaRPr lang="en-US" sz="1350" dirty="0">
                        <a:latin typeface="IBM Plex Sans" charset="0"/>
                        <a:ea typeface="IBM Plex Sans" charset="0"/>
                        <a:cs typeface="IBM Plex Sans" charset="0"/>
                      </a:endParaRPr>
                    </a:p>
                  </a:txBody>
                  <a:tcPr marL="60007" marR="60007" marT="60007" marB="60007">
                    <a:lnL w="12700" cap="flat" cmpd="sng" algn="ctr">
                      <a:solidFill>
                        <a:srgbClr val="C3C1BE"/>
                      </a:solidFill>
                      <a:prstDash val="solid"/>
                      <a:round/>
                      <a:headEnd type="none" w="med" len="med"/>
                      <a:tailEnd type="none" w="med" len="med"/>
                    </a:lnL>
                    <a:lnR w="12700" cap="flat" cmpd="sng" algn="ctr">
                      <a:solidFill>
                        <a:srgbClr val="B5B3B0"/>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5B3B0"/>
                      </a:solidFill>
                      <a:prstDash val="solid"/>
                      <a:round/>
                      <a:headEnd type="none" w="med" len="med"/>
                      <a:tailEnd type="none" w="med" len="med"/>
                    </a:lnB>
                    <a:solidFill>
                      <a:srgbClr val="E2E0DC"/>
                    </a:solidFill>
                  </a:tcPr>
                </a:tc>
                <a:tc>
                  <a:txBody>
                    <a:bodyPr/>
                    <a:lstStyle/>
                    <a:p>
                      <a:pPr marL="0" indent="0">
                        <a:lnSpc>
                          <a:spcPts val="1890"/>
                        </a:lnSpc>
                        <a:buNone/>
                      </a:pPr>
                      <a:r>
                        <a:rPr lang="en-US" sz="1350" b="1" dirty="0">
                          <a:solidFill>
                            <a:srgbClr val="16202E"/>
                          </a:solidFill>
                          <a:latin typeface="IBM Plex Sans" pitchFamily="34" charset="0"/>
                          <a:ea typeface="IBM Plex Sans" pitchFamily="34" charset="-122"/>
                          <a:cs typeface="IBM Plex Sans" pitchFamily="34" charset="-120"/>
                        </a:rPr>
                        <a:t>Disclosed examples</a:t>
                      </a:r>
                      <a:endParaRPr lang="en-US" sz="1350" dirty="0">
                        <a:latin typeface="IBM Plex Sans" charset="0"/>
                        <a:ea typeface="IBM Plex Sans" charset="0"/>
                        <a:cs typeface="IBM Plex Sans" charset="0"/>
                      </a:endParaRPr>
                    </a:p>
                  </a:txBody>
                  <a:tcPr marL="60007" marR="60007" marT="60007" marB="60007">
                    <a:lnL w="12700" cap="flat" cmpd="sng" algn="ctr">
                      <a:solidFill>
                        <a:srgbClr val="B5B3B0"/>
                      </a:solidFill>
                      <a:prstDash val="solid"/>
                      <a:round/>
                      <a:headEnd type="none" w="med" len="med"/>
                      <a:tailEnd type="none" w="med" len="med"/>
                    </a:lnL>
                    <a:lnR w="12700" cap="flat" cmpd="sng" algn="ctr">
                      <a:solidFill>
                        <a:srgbClr val="B5B3B0"/>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5B3B0"/>
                      </a:solidFill>
                      <a:prstDash val="solid"/>
                      <a:round/>
                      <a:headEnd type="none" w="med" len="med"/>
                      <a:tailEnd type="none" w="med" len="med"/>
                    </a:lnB>
                    <a:solidFill>
                      <a:srgbClr val="E2E0DC"/>
                    </a:solidFill>
                  </a:tcPr>
                </a:tc>
                <a:extLst>
                  <a:ext uri="{0D108BD9-81ED-4DB2-BD59-A6C34878D82A}">
                    <a16:rowId xmlns:a16="http://schemas.microsoft.com/office/drawing/2014/main" val="10000"/>
                  </a:ext>
                </a:extLst>
              </a:tr>
              <a:tr h="612577">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A vendor’s server</a:t>
                      </a:r>
                      <a:endParaRPr lang="en-US" sz="1350" dirty="0">
                        <a:latin typeface="IBM Plex Sans" charset="0"/>
                        <a:ea typeface="IBM Plex Sans" charset="0"/>
                        <a:cs typeface="IBM Plex Sans" charset="0"/>
                      </a:endParaRPr>
                    </a:p>
                  </a:txBody>
                  <a:tcPr marL="60007" marR="60007" marT="60007" marB="60007">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5B3B0"/>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Scala Communications: Daiwa Securities (~110k), Citizen Watch (~100k); Tokyo Metro’s mail vendor (~59k)</a:t>
                      </a:r>
                      <a:endParaRPr lang="en-US" sz="1350" dirty="0">
                        <a:latin typeface="IBM Plex Sans" charset="0"/>
                        <a:ea typeface="IBM Plex Sans" charset="0"/>
                        <a:cs typeface="IBM Plex Sans" charset="0"/>
                      </a:endParaRPr>
                    </a:p>
                  </a:txBody>
                  <a:tcPr marL="60007" marR="60007" marT="60007" marB="60007">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5B3B0"/>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extLst>
                  <a:ext uri="{0D108BD9-81ED-4DB2-BD59-A6C34878D82A}">
                    <a16:rowId xmlns:a16="http://schemas.microsoft.com/office/drawing/2014/main" val="10001"/>
                  </a:ext>
                </a:extLst>
              </a:tr>
              <a:tr h="372566">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API or CMS setting</a:t>
                      </a:r>
                      <a:endParaRPr lang="en-US" sz="1350" dirty="0">
                        <a:latin typeface="IBM Plex Sans" charset="0"/>
                        <a:ea typeface="IBM Plex Sans" charset="0"/>
                        <a:cs typeface="IBM Plex Sans" charset="0"/>
                      </a:endParaRPr>
                    </a:p>
                  </a:txBody>
                  <a:tcPr marL="60007" marR="60007" marT="60007" marB="60007">
                    <a:lnL w="12700" cap="flat" cmpd="sng" algn="ctr">
                      <a:solidFill>
                        <a:srgbClr val="C3C1BE"/>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BE7DF"/>
                    </a:solidFill>
                  </a:tcPr>
                </a:tc>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Shueisha: config error; attacker created a high-privilege account via the API</a:t>
                      </a:r>
                      <a:endParaRPr lang="en-US" sz="1350" dirty="0">
                        <a:latin typeface="IBM Plex Sans" charset="0"/>
                        <a:ea typeface="IBM Plex Sans" charset="0"/>
                        <a:cs typeface="IBM Plex Sans" charset="0"/>
                      </a:endParaRPr>
                    </a:p>
                  </a:txBody>
                  <a:tcPr marL="60007" marR="60007" marT="60007" marB="60007">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BE7DF"/>
                    </a:solidFill>
                  </a:tcPr>
                </a:tc>
                <a:extLst>
                  <a:ext uri="{0D108BD9-81ED-4DB2-BD59-A6C34878D82A}">
                    <a16:rowId xmlns:a16="http://schemas.microsoft.com/office/drawing/2014/main" val="10002"/>
                  </a:ext>
                </a:extLst>
              </a:tr>
              <a:tr h="372566">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Software vulnerability</a:t>
                      </a:r>
                      <a:endParaRPr lang="en-US" sz="1350" dirty="0">
                        <a:latin typeface="IBM Plex Sans" charset="0"/>
                        <a:ea typeface="IBM Plex Sans" charset="0"/>
                        <a:cs typeface="IBM Plex Sans" charset="0"/>
                      </a:endParaRPr>
                    </a:p>
                  </a:txBody>
                  <a:tcPr marL="60007" marR="60007" marT="60007" marB="60007">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GMO Research &amp; AI (up to 948k records); Mr Max (up to 1.7M members)</a:t>
                      </a:r>
                      <a:endParaRPr lang="en-US" sz="1350" dirty="0">
                        <a:latin typeface="IBM Plex Sans" charset="0"/>
                        <a:ea typeface="IBM Plex Sans" charset="0"/>
                        <a:cs typeface="IBM Plex Sans" charset="0"/>
                      </a:endParaRPr>
                    </a:p>
                  </a:txBody>
                  <a:tcPr marL="60007" marR="60007" marT="60007" marB="60007">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extLst>
                  <a:ext uri="{0D108BD9-81ED-4DB2-BD59-A6C34878D82A}">
                    <a16:rowId xmlns:a16="http://schemas.microsoft.com/office/drawing/2014/main" val="10003"/>
                  </a:ext>
                </a:extLst>
              </a:tr>
              <a:tr h="372566">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One compromised account</a:t>
                      </a:r>
                      <a:endParaRPr lang="en-US" sz="1350" dirty="0">
                        <a:latin typeface="IBM Plex Sans" charset="0"/>
                        <a:ea typeface="IBM Plex Sans" charset="0"/>
                        <a:cs typeface="IBM Plex Sans" charset="0"/>
                      </a:endParaRPr>
                    </a:p>
                  </a:txBody>
                  <a:tcPr marL="60007" marR="60007" marT="60007" marB="60007">
                    <a:lnL w="12700" cap="flat" cmpd="sng" algn="ctr">
                      <a:solidFill>
                        <a:srgbClr val="C3C1BE"/>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BE7DF"/>
                    </a:solidFill>
                  </a:tcPr>
                </a:tc>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Nikkei: a Microsoft 365 account sent about 9,000 phishing emails</a:t>
                      </a:r>
                      <a:endParaRPr lang="en-US" sz="1350" dirty="0">
                        <a:latin typeface="IBM Plex Sans" charset="0"/>
                        <a:ea typeface="IBM Plex Sans" charset="0"/>
                        <a:cs typeface="IBM Plex Sans" charset="0"/>
                      </a:endParaRPr>
                    </a:p>
                  </a:txBody>
                  <a:tcPr marL="60007" marR="60007" marT="60007" marB="60007">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BE7DF"/>
                    </a:solidFill>
                  </a:tcPr>
                </a:tc>
                <a:extLst>
                  <a:ext uri="{0D108BD9-81ED-4DB2-BD59-A6C34878D82A}">
                    <a16:rowId xmlns:a16="http://schemas.microsoft.com/office/drawing/2014/main" val="10004"/>
                  </a:ext>
                </a:extLst>
              </a:tr>
              <a:tr h="372566">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Virtualization or cloud</a:t>
                      </a:r>
                      <a:endParaRPr lang="en-US" sz="1350" dirty="0">
                        <a:latin typeface="IBM Plex Sans" charset="0"/>
                        <a:ea typeface="IBM Plex Sans" charset="0"/>
                        <a:cs typeface="IBM Plex Sans" charset="0"/>
                      </a:endParaRPr>
                    </a:p>
                  </a:txBody>
                  <a:tcPr marL="60007" marR="60007" marT="60007" marB="60007">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Osaka Metropolitan University; IDC Frontier and its customers</a:t>
                      </a:r>
                      <a:endParaRPr lang="en-US" sz="1350" dirty="0">
                        <a:latin typeface="IBM Plex Sans" charset="0"/>
                        <a:ea typeface="IBM Plex Sans" charset="0"/>
                        <a:cs typeface="IBM Plex Sans" charset="0"/>
                      </a:endParaRPr>
                    </a:p>
                  </a:txBody>
                  <a:tcPr marL="60007" marR="60007" marT="60007" marB="60007">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4647009"/>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B23A26"/>
                </a:solidFill>
                <a:latin typeface="IBM Plex Sans" pitchFamily="34" charset="0"/>
                <a:ea typeface="IBM Plex Sans" pitchFamily="34" charset="-122"/>
                <a:cs typeface="IBM Plex Sans" pitchFamily="34" charset="-120"/>
              </a:rPr>
              <a:t>In 5 of 7 cases with a known discovery route, an outsider noticed first.</a:t>
            </a:r>
            <a:endParaRPr lang="en-US" sz="15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Source: CS2, “Japan’s October 2026 breach wave” (14 Oct 2026). Counts are maximums possibly affected.</a:t>
            </a:r>
            <a:endParaRPr lang="en-US" sz="1200" dirty="0"/>
          </a:p>
        </p:txBody>
      </p:sp>
      <p:pic>
        <p:nvPicPr>
          <p:cNvPr id="7" name="Picture 6" descr="ZT_logo(3).png">
            <a:extLst>
              <a:ext uri="{FF2B5EF4-FFF2-40B4-BE49-F238E27FC236}">
                <a16:creationId xmlns:a16="http://schemas.microsoft.com/office/drawing/2014/main" id="{9011572C-7464-C229-19E9-BB612FB40EC3}"/>
              </a:ext>
            </a:extLst>
          </p:cNvPr>
          <p:cNvPicPr>
            <a:picLocks noChangeAspect="1"/>
          </p:cNvPicPr>
          <p:nvPr/>
        </p:nvPicPr>
        <p:blipFill>
          <a:blip r:embed="rId3"/>
          <a:stretch>
            <a:fillRect/>
          </a:stretch>
        </p:blipFill>
        <p:spPr>
          <a:xfrm>
            <a:off x="10927080" y="256032"/>
            <a:ext cx="713232" cy="7132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2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23A26"/>
                </a:solidFill>
                <a:latin typeface="IBM Plex Mono" pitchFamily="49" charset="0"/>
                <a:ea typeface="IBM Plex Mono" pitchFamily="49" charset="-122"/>
                <a:cs typeface="IBM Plex Mono" pitchFamily="49" charset="-120"/>
              </a:rPr>
              <a:t>KEY INCIDENTS · VULNERABILITY</a:t>
            </a:r>
            <a:endParaRPr lang="en-US" sz="1200" dirty="0"/>
          </a:p>
        </p:txBody>
      </p:sp>
      <p:sp>
        <p:nvSpPr>
          <p:cNvPr id="3" name="Text 1"/>
          <p:cNvSpPr>
            <a:spLocks noGrp="1"/>
          </p:cNvSpPr>
          <p:nvPr>
            <p:ph type="title"/>
          </p:nvPr>
        </p:nvSpPr>
        <p:spPr>
          <a:xfrm>
            <a:off x="812800" y="12801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PHP2Shell: exploited before the patch</a:t>
            </a:r>
            <a:endParaRPr lang="en-US" sz="3200" dirty="0"/>
          </a:p>
        </p:txBody>
      </p:sp>
      <p:sp>
        <p:nvSpPr>
          <p:cNvPr id="4" name="Shape 2"/>
          <p:cNvSpPr/>
          <p:nvPr/>
        </p:nvSpPr>
        <p:spPr>
          <a:xfrm>
            <a:off x="812800" y="1981101"/>
            <a:ext cx="3937000" cy="2750939"/>
          </a:xfrm>
          <a:prstGeom prst="roundRect">
            <a:avLst>
              <a:gd name="adj" fmla="val 3693"/>
            </a:avLst>
          </a:prstGeom>
          <a:solidFill>
            <a:srgbClr val="0F1724"/>
          </a:solidFill>
          <a:ln/>
        </p:spPr>
        <p:txBody>
          <a:bodyPr/>
          <a:lstStyle/>
          <a:p>
            <a:endParaRPr lang="en-JP"/>
          </a:p>
        </p:txBody>
      </p:sp>
      <p:sp>
        <p:nvSpPr>
          <p:cNvPr id="5" name="Text 3"/>
          <p:cNvSpPr/>
          <p:nvPr/>
        </p:nvSpPr>
        <p:spPr>
          <a:xfrm>
            <a:off x="1066800" y="2235101"/>
            <a:ext cx="353187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08A78"/>
                </a:solidFill>
                <a:latin typeface="IBM Plex Mono" pitchFamily="49" charset="0"/>
                <a:ea typeface="IBM Plex Mono" pitchFamily="49" charset="-122"/>
                <a:cs typeface="IBM Plex Mono" pitchFamily="49" charset="-120"/>
              </a:rPr>
              <a:t>CVE-2026-109618</a:t>
            </a:r>
            <a:endParaRPr lang="en-US" sz="1400" dirty="0"/>
          </a:p>
          <a:p>
            <a:pPr marL="0" indent="0" algn="l">
              <a:lnSpc>
                <a:spcPts val="1960"/>
              </a:lnSpc>
              <a:buNone/>
            </a:pPr>
            <a:r>
              <a:rPr lang="en-US" sz="1400" dirty="0">
                <a:solidFill>
                  <a:srgbClr val="F08A78"/>
                </a:solidFill>
                <a:latin typeface="IBM Plex Mono" pitchFamily="49" charset="0"/>
                <a:ea typeface="IBM Plex Mono" pitchFamily="49" charset="-122"/>
                <a:cs typeface="IBM Plex Mono" pitchFamily="49" charset="-120"/>
              </a:rPr>
              <a:t>CVE-2026-109619</a:t>
            </a:r>
            <a:endParaRPr lang="en-US" sz="1400" dirty="0"/>
          </a:p>
        </p:txBody>
      </p:sp>
      <p:sp>
        <p:nvSpPr>
          <p:cNvPr id="6" name="Text 4"/>
          <p:cNvSpPr/>
          <p:nvPr/>
        </p:nvSpPr>
        <p:spPr>
          <a:xfrm>
            <a:off x="1066800" y="2859782"/>
            <a:ext cx="3531870" cy="79871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F4F2EE"/>
                </a:solidFill>
                <a:latin typeface="IBM Plex Sans" pitchFamily="34" charset="0"/>
                <a:ea typeface="IBM Plex Sans" pitchFamily="34" charset="-122"/>
                <a:cs typeface="IBM Plex Sans" pitchFamily="34" charset="-120"/>
              </a:rPr>
              <a:t>Memory-safety flaws in PHP 5.4–8.5 that allow </a:t>
            </a:r>
            <a:r>
              <a:rPr lang="en-US" sz="1400" b="1" dirty="0">
                <a:solidFill>
                  <a:srgbClr val="F4F2EE"/>
                </a:solidFill>
                <a:latin typeface="IBM Plex Sans" pitchFamily="34" charset="0"/>
                <a:ea typeface="IBM Plex Sans" pitchFamily="34" charset="-122"/>
                <a:cs typeface="IBM Plex Sans" pitchFamily="34" charset="-120"/>
              </a:rPr>
              <a:t>remote code execution without authentication</a:t>
            </a:r>
            <a:endParaRPr lang="en-US" sz="1400" dirty="0"/>
          </a:p>
        </p:txBody>
      </p:sp>
      <p:sp>
        <p:nvSpPr>
          <p:cNvPr id="7" name="Text 5"/>
          <p:cNvSpPr/>
          <p:nvPr/>
        </p:nvSpPr>
        <p:spPr>
          <a:xfrm>
            <a:off x="1066800" y="3760093"/>
            <a:ext cx="3531870"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B9C2CF"/>
                </a:solidFill>
                <a:latin typeface="IBM Plex Sans" pitchFamily="34" charset="0"/>
                <a:ea typeface="IBM Plex Sans" pitchFamily="34" charset="-122"/>
                <a:cs typeface="IBM Plex Sans" pitchFamily="34" charset="-120"/>
              </a:rPr>
              <a:t>Japanese banks, restaurant chains and government sites paused online services as a precaution</a:t>
            </a:r>
            <a:endParaRPr lang="en-US" sz="1300" dirty="0"/>
          </a:p>
        </p:txBody>
      </p:sp>
      <p:sp>
        <p:nvSpPr>
          <p:cNvPr id="8" name="Shape 6"/>
          <p:cNvSpPr/>
          <p:nvPr/>
        </p:nvSpPr>
        <p:spPr>
          <a:xfrm>
            <a:off x="5003800" y="2487116"/>
            <a:ext cx="6375400" cy="0"/>
          </a:xfrm>
          <a:prstGeom prst="line">
            <a:avLst/>
          </a:prstGeom>
          <a:noFill/>
          <a:ln w="6350">
            <a:solidFill>
              <a:srgbClr val="DDD8CF"/>
            </a:solidFill>
            <a:prstDash val="solid"/>
          </a:ln>
        </p:spPr>
        <p:txBody>
          <a:bodyPr/>
          <a:lstStyle/>
          <a:p>
            <a:endParaRPr lang="en-JP"/>
          </a:p>
        </p:txBody>
      </p:sp>
      <p:sp>
        <p:nvSpPr>
          <p:cNvPr id="9" name="Text 7"/>
          <p:cNvSpPr/>
          <p:nvPr/>
        </p:nvSpPr>
        <p:spPr>
          <a:xfrm>
            <a:off x="5003800" y="2108101"/>
            <a:ext cx="9398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23A26"/>
                </a:solidFill>
                <a:latin typeface="IBM Plex Sans" pitchFamily="34" charset="0"/>
                <a:ea typeface="IBM Plex Sans" pitchFamily="34" charset="-122"/>
                <a:cs typeface="IBM Plex Sans" pitchFamily="34" charset="-120"/>
              </a:rPr>
              <a:t>17 Oct</a:t>
            </a:r>
            <a:endParaRPr lang="en-US" sz="1400" dirty="0"/>
          </a:p>
        </p:txBody>
      </p:sp>
      <p:sp>
        <p:nvSpPr>
          <p:cNvPr id="10" name="Text 8"/>
          <p:cNvSpPr/>
          <p:nvPr/>
        </p:nvSpPr>
        <p:spPr>
          <a:xfrm>
            <a:off x="6045200" y="2108101"/>
            <a:ext cx="549402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02E"/>
                </a:solidFill>
                <a:latin typeface="IBM Plex Sans" pitchFamily="34" charset="0"/>
                <a:ea typeface="IBM Plex Sans" pitchFamily="34" charset="-122"/>
                <a:cs typeface="IBM Plex Sans" pitchFamily="34" charset="-120"/>
              </a:rPr>
              <a:t>First exploitation attempts observed</a:t>
            </a:r>
            <a:endParaRPr lang="en-US" sz="1400" dirty="0"/>
          </a:p>
        </p:txBody>
      </p:sp>
      <p:sp>
        <p:nvSpPr>
          <p:cNvPr id="11" name="Shape 9"/>
          <p:cNvSpPr/>
          <p:nvPr/>
        </p:nvSpPr>
        <p:spPr>
          <a:xfrm>
            <a:off x="5003800" y="2996307"/>
            <a:ext cx="6375400" cy="0"/>
          </a:xfrm>
          <a:prstGeom prst="line">
            <a:avLst/>
          </a:prstGeom>
          <a:noFill/>
          <a:ln w="6350">
            <a:solidFill>
              <a:srgbClr val="DDD8CF"/>
            </a:solidFill>
            <a:prstDash val="solid"/>
          </a:ln>
        </p:spPr>
        <p:txBody>
          <a:bodyPr/>
          <a:lstStyle/>
          <a:p>
            <a:endParaRPr lang="en-JP"/>
          </a:p>
        </p:txBody>
      </p:sp>
      <p:sp>
        <p:nvSpPr>
          <p:cNvPr id="12" name="Text 10"/>
          <p:cNvSpPr/>
          <p:nvPr/>
        </p:nvSpPr>
        <p:spPr>
          <a:xfrm>
            <a:off x="5003800" y="2617291"/>
            <a:ext cx="9398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23A26"/>
                </a:solidFill>
                <a:latin typeface="IBM Plex Sans" pitchFamily="34" charset="0"/>
                <a:ea typeface="IBM Plex Sans" pitchFamily="34" charset="-122"/>
                <a:cs typeface="IBM Plex Sans" pitchFamily="34" charset="-120"/>
              </a:rPr>
              <a:t>21 Oct</a:t>
            </a:r>
            <a:endParaRPr lang="en-US" sz="1400" dirty="0"/>
          </a:p>
        </p:txBody>
      </p:sp>
      <p:sp>
        <p:nvSpPr>
          <p:cNvPr id="13" name="Text 11"/>
          <p:cNvSpPr/>
          <p:nvPr/>
        </p:nvSpPr>
        <p:spPr>
          <a:xfrm>
            <a:off x="6045200" y="2617291"/>
            <a:ext cx="549402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02E"/>
                </a:solidFill>
                <a:latin typeface="IBM Plex Sans" pitchFamily="34" charset="0"/>
                <a:ea typeface="IBM Plex Sans" pitchFamily="34" charset="-122"/>
                <a:cs typeface="IBM Plex Sans" pitchFamily="34" charset="-120"/>
              </a:rPr>
              <a:t>Fixes: PHP 8.5.12, 8.4.27, 8.3.36, 8.2.35</a:t>
            </a:r>
            <a:endParaRPr lang="en-US" sz="1400" dirty="0"/>
          </a:p>
        </p:txBody>
      </p:sp>
      <p:sp>
        <p:nvSpPr>
          <p:cNvPr id="14" name="Shape 12"/>
          <p:cNvSpPr/>
          <p:nvPr/>
        </p:nvSpPr>
        <p:spPr>
          <a:xfrm>
            <a:off x="5003800" y="3505498"/>
            <a:ext cx="6375400" cy="0"/>
          </a:xfrm>
          <a:prstGeom prst="line">
            <a:avLst/>
          </a:prstGeom>
          <a:noFill/>
          <a:ln w="6350">
            <a:solidFill>
              <a:srgbClr val="DDD8CF"/>
            </a:solidFill>
            <a:prstDash val="solid"/>
          </a:ln>
        </p:spPr>
        <p:txBody>
          <a:bodyPr/>
          <a:lstStyle/>
          <a:p>
            <a:endParaRPr lang="en-JP"/>
          </a:p>
        </p:txBody>
      </p:sp>
      <p:sp>
        <p:nvSpPr>
          <p:cNvPr id="15" name="Text 13"/>
          <p:cNvSpPr/>
          <p:nvPr/>
        </p:nvSpPr>
        <p:spPr>
          <a:xfrm>
            <a:off x="5003800" y="3126482"/>
            <a:ext cx="9398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23A26"/>
                </a:solidFill>
                <a:latin typeface="IBM Plex Sans" pitchFamily="34" charset="0"/>
                <a:ea typeface="IBM Plex Sans" pitchFamily="34" charset="-122"/>
                <a:cs typeface="IBM Plex Sans" pitchFamily="34" charset="-120"/>
              </a:rPr>
              <a:t>22 Oct</a:t>
            </a:r>
            <a:endParaRPr lang="en-US" sz="1400" dirty="0"/>
          </a:p>
        </p:txBody>
      </p:sp>
      <p:sp>
        <p:nvSpPr>
          <p:cNvPr id="16" name="Text 14"/>
          <p:cNvSpPr/>
          <p:nvPr/>
        </p:nvSpPr>
        <p:spPr>
          <a:xfrm>
            <a:off x="6045200" y="3126482"/>
            <a:ext cx="549402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02E"/>
                </a:solidFill>
                <a:latin typeface="IBM Plex Sans" pitchFamily="34" charset="0"/>
                <a:ea typeface="IBM Plex Sans" pitchFamily="34" charset="-122"/>
                <a:cs typeface="IBM Plex Sans" pitchFamily="34" charset="-120"/>
              </a:rPr>
              <a:t>JPCERT/CC and IPA issue alerts; patch and check for compromise</a:t>
            </a:r>
            <a:endParaRPr lang="en-US" sz="1400" dirty="0"/>
          </a:p>
        </p:txBody>
      </p:sp>
      <p:sp>
        <p:nvSpPr>
          <p:cNvPr id="17" name="Text 15"/>
          <p:cNvSpPr/>
          <p:nvPr/>
        </p:nvSpPr>
        <p:spPr>
          <a:xfrm>
            <a:off x="5003800" y="3635673"/>
            <a:ext cx="939800"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23A26"/>
                </a:solidFill>
                <a:latin typeface="IBM Plex Sans" pitchFamily="34" charset="0"/>
                <a:ea typeface="IBM Plex Sans" pitchFamily="34" charset="-122"/>
                <a:cs typeface="IBM Plex Sans" pitchFamily="34" charset="-120"/>
              </a:rPr>
              <a:t>23 Oct</a:t>
            </a:r>
            <a:endParaRPr lang="en-US" sz="1400" dirty="0"/>
          </a:p>
        </p:txBody>
      </p:sp>
      <p:sp>
        <p:nvSpPr>
          <p:cNvPr id="18" name="Text 16"/>
          <p:cNvSpPr/>
          <p:nvPr/>
        </p:nvSpPr>
        <p:spPr>
          <a:xfrm>
            <a:off x="6045200" y="3635673"/>
            <a:ext cx="549402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02E"/>
                </a:solidFill>
                <a:latin typeface="IBM Plex Sans" pitchFamily="34" charset="0"/>
                <a:ea typeface="IBM Plex Sans" pitchFamily="34" charset="-122"/>
                <a:cs typeface="IBM Plex Sans" pitchFamily="34" charset="-120"/>
              </a:rPr>
              <a:t>Separate flaw CVE-2026-115560 disclosed, not fixed by the 21 Oct releases</a:t>
            </a:r>
            <a:endParaRPr lang="en-US" sz="14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Sources: JPCERT-AT-2026-0033; IPA alert 20261022; SOCRadar; Anadolu Agency; News On Japan</a:t>
            </a:r>
            <a:endParaRPr lang="en-US" sz="1200" dirty="0"/>
          </a:p>
        </p:txBody>
      </p:sp>
      <p:pic>
        <p:nvPicPr>
          <p:cNvPr id="20" name="Picture 19" descr="ZT_logo(3).png">
            <a:extLst>
              <a:ext uri="{FF2B5EF4-FFF2-40B4-BE49-F238E27FC236}">
                <a16:creationId xmlns:a16="http://schemas.microsoft.com/office/drawing/2014/main" id="{AA1C698A-0B3E-7697-88F9-A0D45190CB2B}"/>
              </a:ext>
            </a:extLst>
          </p:cNvPr>
          <p:cNvPicPr>
            <a:picLocks noChangeAspect="1"/>
          </p:cNvPicPr>
          <p:nvPr/>
        </p:nvPicPr>
        <p:blipFill>
          <a:blip r:embed="rId3"/>
          <a:stretch>
            <a:fillRect/>
          </a:stretch>
        </p:blipFill>
        <p:spPr>
          <a:xfrm>
            <a:off x="10927080" y="256032"/>
            <a:ext cx="713232" cy="71323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2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23A26"/>
                </a:solidFill>
                <a:latin typeface="IBM Plex Mono" pitchFamily="49" charset="0"/>
                <a:ea typeface="IBM Plex Mono" pitchFamily="49" charset="-122"/>
                <a:cs typeface="IBM Plex Mono" pitchFamily="49" charset="-120"/>
              </a:rPr>
              <a:t>KEY INCIDENTS · EXTORTION</a:t>
            </a:r>
            <a:endParaRPr lang="en-US" sz="1200" dirty="0"/>
          </a:p>
        </p:txBody>
      </p:sp>
      <p:sp>
        <p:nvSpPr>
          <p:cNvPr id="3" name="Text 1"/>
          <p:cNvSpPr>
            <a:spLocks noGrp="1"/>
          </p:cNvSpPr>
          <p:nvPr>
            <p:ph type="title"/>
          </p:nvPr>
        </p:nvSpPr>
        <p:spPr>
          <a:xfrm>
            <a:off x="812800" y="12801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GMO Internet Group: the latest target</a:t>
            </a:r>
            <a:endParaRPr lang="en-US" sz="3200" dirty="0"/>
          </a:p>
        </p:txBody>
      </p:sp>
      <p:sp>
        <p:nvSpPr>
          <p:cNvPr id="4" name="Shape 2"/>
          <p:cNvSpPr/>
          <p:nvPr/>
        </p:nvSpPr>
        <p:spPr>
          <a:xfrm>
            <a:off x="812800" y="1981101"/>
            <a:ext cx="3556000" cy="2468761"/>
          </a:xfrm>
          <a:prstGeom prst="roundRect">
            <a:avLst>
              <a:gd name="adj" fmla="val 4115"/>
            </a:avLst>
          </a:prstGeom>
          <a:solidFill>
            <a:srgbClr val="0F1724"/>
          </a:solidFill>
          <a:ln/>
        </p:spPr>
        <p:txBody>
          <a:bodyPr/>
          <a:lstStyle/>
          <a:p>
            <a:endParaRPr lang="en-JP"/>
          </a:p>
        </p:txBody>
      </p:sp>
      <p:sp>
        <p:nvSpPr>
          <p:cNvPr id="5" name="Text 3"/>
          <p:cNvSpPr/>
          <p:nvPr/>
        </p:nvSpPr>
        <p:spPr>
          <a:xfrm>
            <a:off x="1066800" y="2235101"/>
            <a:ext cx="3139440"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F08A78"/>
                </a:solidFill>
                <a:latin typeface="IBM Plex Sans" pitchFamily="34" charset="0"/>
                <a:ea typeface="IBM Plex Sans" pitchFamily="34" charset="-122"/>
                <a:cs typeface="IBM Plex Sans" pitchFamily="34" charset="-120"/>
              </a:rPr>
              <a:t>$50M</a:t>
            </a:r>
            <a:endParaRPr lang="en-US" sz="6000" dirty="0"/>
          </a:p>
        </p:txBody>
      </p:sp>
      <p:sp>
        <p:nvSpPr>
          <p:cNvPr id="6" name="Text 4"/>
          <p:cNvSpPr/>
          <p:nvPr/>
        </p:nvSpPr>
        <p:spPr>
          <a:xfrm>
            <a:off x="1066800" y="3136801"/>
            <a:ext cx="3139440"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F4F2EE"/>
                </a:solidFill>
                <a:latin typeface="IBM Plex Sans" pitchFamily="34" charset="0"/>
                <a:ea typeface="IBM Plex Sans" pitchFamily="34" charset="-122"/>
                <a:cs typeface="IBM Plex Sans" pitchFamily="34" charset="-120"/>
              </a:rPr>
              <a:t>ransom demanded (about ¥7.9B) — refused by GMO</a:t>
            </a:r>
            <a:endParaRPr lang="en-US" sz="1400" dirty="0"/>
          </a:p>
        </p:txBody>
      </p:sp>
      <p:sp>
        <p:nvSpPr>
          <p:cNvPr id="7" name="Text 5"/>
          <p:cNvSpPr/>
          <p:nvPr/>
        </p:nvSpPr>
        <p:spPr>
          <a:xfrm>
            <a:off x="1066800" y="3753941"/>
            <a:ext cx="3139440"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B9C2CF"/>
                </a:solidFill>
                <a:latin typeface="IBM Plex Sans" pitchFamily="34" charset="0"/>
                <a:ea typeface="IBM Plex Sans" pitchFamily="34" charset="-122"/>
                <a:cs typeface="IBM Plex Sans" pitchFamily="34" charset="-120"/>
              </a:rPr>
              <a:t>Early reports cited $1M; GMO’s president disclosed $50M</a:t>
            </a:r>
            <a:endParaRPr lang="en-US" sz="1200" dirty="0"/>
          </a:p>
        </p:txBody>
      </p:sp>
      <p:sp>
        <p:nvSpPr>
          <p:cNvPr id="8" name="Text 6"/>
          <p:cNvSpPr/>
          <p:nvPr/>
        </p:nvSpPr>
        <p:spPr>
          <a:xfrm>
            <a:off x="4622800" y="1981101"/>
            <a:ext cx="6959092" cy="540941"/>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16202E"/>
                </a:solidFill>
                <a:latin typeface="IBM Plex Sans" pitchFamily="34" charset="0"/>
                <a:ea typeface="IBM Plex Sans" pitchFamily="34" charset="-122"/>
                <a:cs typeface="IBM Plex Sans" pitchFamily="34" charset="-120"/>
              </a:rPr>
              <a:t>Entry:</a:t>
            </a:r>
            <a:r>
              <a:rPr lang="en-US" sz="1400" dirty="0">
                <a:solidFill>
                  <a:srgbClr val="16202E"/>
                </a:solidFill>
                <a:latin typeface="IBM Plex Sans" pitchFamily="34" charset="0"/>
                <a:ea typeface="IBM Plex Sans" pitchFamily="34" charset="-122"/>
                <a:cs typeface="IBM Plex Sans" pitchFamily="34" charset="-120"/>
              </a:rPr>
              <a:t> Onamae.com Desktop Cloud service; up to 26,739 servers potentially exposed</a:t>
            </a:r>
            <a:endParaRPr lang="en-US" sz="1400" dirty="0"/>
          </a:p>
        </p:txBody>
      </p:sp>
      <p:sp>
        <p:nvSpPr>
          <p:cNvPr id="9" name="Text 7"/>
          <p:cNvSpPr/>
          <p:nvPr/>
        </p:nvSpPr>
        <p:spPr>
          <a:xfrm>
            <a:off x="4622800" y="2623641"/>
            <a:ext cx="6959092" cy="540941"/>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16202E"/>
                </a:solidFill>
                <a:latin typeface="IBM Plex Sans" pitchFamily="34" charset="0"/>
                <a:ea typeface="IBM Plex Sans" pitchFamily="34" charset="-122"/>
                <a:cs typeface="IBM Plex Sans" pitchFamily="34" charset="-120"/>
              </a:rPr>
              <a:t>Impact:</a:t>
            </a:r>
            <a:r>
              <a:rPr lang="en-US" sz="1400" dirty="0">
                <a:solidFill>
                  <a:srgbClr val="16202E"/>
                </a:solidFill>
                <a:latin typeface="IBM Plex Sans" pitchFamily="34" charset="0"/>
                <a:ea typeface="IBM Plex Sans" pitchFamily="34" charset="-122"/>
                <a:cs typeface="IBM Plex Sans" pitchFamily="34" charset="-120"/>
              </a:rPr>
              <a:t> five FX margin-trading services breached, unauthorized trades; accounts at 70+ securities and FX firms reached</a:t>
            </a:r>
            <a:endParaRPr lang="en-US" sz="1400" dirty="0"/>
          </a:p>
        </p:txBody>
      </p:sp>
      <p:sp>
        <p:nvSpPr>
          <p:cNvPr id="10" name="Text 8"/>
          <p:cNvSpPr/>
          <p:nvPr/>
        </p:nvSpPr>
        <p:spPr>
          <a:xfrm>
            <a:off x="4622800" y="3266182"/>
            <a:ext cx="6959092" cy="283170"/>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16202E"/>
                </a:solidFill>
                <a:latin typeface="IBM Plex Sans" pitchFamily="34" charset="0"/>
                <a:ea typeface="IBM Plex Sans" pitchFamily="34" charset="-122"/>
                <a:cs typeface="IBM Plex Sans" pitchFamily="34" charset="-120"/>
              </a:rPr>
              <a:t>Threat:</a:t>
            </a:r>
            <a:r>
              <a:rPr lang="en-US" sz="1400" dirty="0">
                <a:solidFill>
                  <a:srgbClr val="16202E"/>
                </a:solidFill>
                <a:latin typeface="IBM Plex Sans" pitchFamily="34" charset="0"/>
                <a:ea typeface="IBM Plex Sans" pitchFamily="34" charset="-122"/>
                <a:cs typeface="IBM Plex Sans" pitchFamily="34" charset="-120"/>
              </a:rPr>
              <a:t> attackers claimed to publish customer data after the deadline</a:t>
            </a:r>
            <a:endParaRPr lang="en-US" sz="1400" dirty="0"/>
          </a:p>
        </p:txBody>
      </p:sp>
      <p:sp>
        <p:nvSpPr>
          <p:cNvPr id="11" name="Text 9"/>
          <p:cNvSpPr/>
          <p:nvPr/>
        </p:nvSpPr>
        <p:spPr>
          <a:xfrm>
            <a:off x="4622800" y="3650952"/>
            <a:ext cx="6959092" cy="540941"/>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16202E"/>
                </a:solidFill>
                <a:latin typeface="IBM Plex Sans" pitchFamily="34" charset="0"/>
                <a:ea typeface="IBM Plex Sans" pitchFamily="34" charset="-122"/>
                <a:cs typeface="IBM Plex Sans" pitchFamily="34" charset="-120"/>
              </a:rPr>
              <a:t>Response:</a:t>
            </a:r>
            <a:r>
              <a:rPr lang="en-US" sz="1400" dirty="0">
                <a:solidFill>
                  <a:srgbClr val="16202E"/>
                </a:solidFill>
                <a:latin typeface="IBM Plex Sans" pitchFamily="34" charset="0"/>
                <a:ea typeface="IBM Plex Sans" pitchFamily="34" charset="-122"/>
                <a:cs typeface="IBM Plex Sans" pitchFamily="34" charset="-120"/>
              </a:rPr>
              <a:t> customers told to scan PCs, back up files, unplug and power off; losses reimbursed plus ¥5,000 per client</a:t>
            </a:r>
            <a:endParaRPr lang="en-US" sz="14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Sources: Bloomberg (26 Oct); News On Japan; BigGo Finance; CoinCentral; TokyoReporter</a:t>
            </a:r>
            <a:endParaRPr lang="en-US" sz="1200" dirty="0"/>
          </a:p>
        </p:txBody>
      </p:sp>
      <p:pic>
        <p:nvPicPr>
          <p:cNvPr id="13" name="Picture 12" descr="ZT_logo(3).png">
            <a:extLst>
              <a:ext uri="{FF2B5EF4-FFF2-40B4-BE49-F238E27FC236}">
                <a16:creationId xmlns:a16="http://schemas.microsoft.com/office/drawing/2014/main" id="{B96A2DD9-BFDD-074E-F094-9B2714C3CCBB}"/>
              </a:ext>
            </a:extLst>
          </p:cNvPr>
          <p:cNvPicPr>
            <a:picLocks noChangeAspect="1"/>
          </p:cNvPicPr>
          <p:nvPr/>
        </p:nvPicPr>
        <p:blipFill>
          <a:blip r:embed="rId3"/>
          <a:stretch>
            <a:fillRect/>
          </a:stretch>
        </p:blipFill>
        <p:spPr>
          <a:xfrm>
            <a:off x="10927080" y="256032"/>
            <a:ext cx="713232" cy="71323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D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5F99"/>
                </a:solidFill>
                <a:latin typeface="IBM Plex Mono" pitchFamily="49" charset="0"/>
                <a:ea typeface="IBM Plex Mono" pitchFamily="49" charset="-122"/>
                <a:cs typeface="IBM Plex Mono" pitchFamily="49" charset="-120"/>
              </a:rPr>
              <a:t>REMEDIATION</a:t>
            </a:r>
            <a:endParaRPr lang="en-US" sz="1200" b="1" dirty="0"/>
          </a:p>
        </p:txBody>
      </p:sp>
      <p:sp>
        <p:nvSpPr>
          <p:cNvPr id="3" name="Text 1"/>
          <p:cNvSpPr>
            <a:spLocks noGrp="1"/>
          </p:cNvSpPr>
          <p:nvPr>
            <p:ph type="title"/>
          </p:nvPr>
        </p:nvSpPr>
        <p:spPr>
          <a:xfrm>
            <a:off x="812800" y="12801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If you are affected: six steps now</a:t>
            </a:r>
            <a:endParaRPr lang="en-US" sz="3200" dirty="0"/>
          </a:p>
        </p:txBody>
      </p:sp>
      <p:sp>
        <p:nvSpPr>
          <p:cNvPr id="4" name="Shape 2"/>
          <p:cNvSpPr/>
          <p:nvPr/>
        </p:nvSpPr>
        <p:spPr>
          <a:xfrm>
            <a:off x="812800" y="1981101"/>
            <a:ext cx="3403600" cy="1798042"/>
          </a:xfrm>
          <a:prstGeom prst="roundRect">
            <a:avLst>
              <a:gd name="adj" fmla="val 4238"/>
            </a:avLst>
          </a:prstGeom>
          <a:solidFill>
            <a:srgbClr val="FFFFFF"/>
          </a:solidFill>
          <a:ln/>
        </p:spPr>
        <p:txBody>
          <a:bodyPr/>
          <a:lstStyle/>
          <a:p>
            <a:endParaRPr lang="en-JP"/>
          </a:p>
        </p:txBody>
      </p:sp>
      <p:sp>
        <p:nvSpPr>
          <p:cNvPr id="5" name="Shape 3"/>
          <p:cNvSpPr/>
          <p:nvPr/>
        </p:nvSpPr>
        <p:spPr>
          <a:xfrm>
            <a:off x="812800" y="1981101"/>
            <a:ext cx="3403600" cy="1798042"/>
          </a:xfrm>
          <a:custGeom>
            <a:avLst/>
            <a:gdLst/>
            <a:ahLst/>
            <a:cxnLst/>
            <a:rect l="l" t="t" r="r" b="b"/>
            <a:pathLst>
              <a:path w="3403600" h="1798042">
                <a:moveTo>
                  <a:pt x="0" y="76200"/>
                </a:moveTo>
                <a:lnTo>
                  <a:pt x="0" y="76200"/>
                </a:lnTo>
                <a:arcTo wR="76200" hR="76200" stAng="10800000" swAng="5400000"/>
                <a:lnTo>
                  <a:pt x="3327400" y="0"/>
                </a:lnTo>
                <a:arcTo wR="76200" hR="76200" stAng="16200000" swAng="5400000"/>
                <a:lnTo>
                  <a:pt x="3403600" y="76200"/>
                </a:lnTo>
                <a:arcTo wR="76200" hR="38100" stAng="0" swAng="-5400000"/>
                <a:lnTo>
                  <a:pt x="76200" y="38100"/>
                </a:lnTo>
                <a:arcTo wR="76200" hR="38100" stAng="16200000" swAng="-5400000"/>
                <a:close/>
              </a:path>
            </a:pathLst>
          </a:custGeom>
          <a:solidFill>
            <a:srgbClr val="1F5F99"/>
          </a:solidFill>
          <a:ln/>
        </p:spPr>
        <p:txBody>
          <a:bodyPr/>
          <a:lstStyle/>
          <a:p>
            <a:endParaRPr lang="en-JP"/>
          </a:p>
        </p:txBody>
      </p:sp>
      <p:sp>
        <p:nvSpPr>
          <p:cNvPr id="6" name="Text 4"/>
          <p:cNvSpPr/>
          <p:nvPr/>
        </p:nvSpPr>
        <p:spPr>
          <a:xfrm>
            <a:off x="1016000" y="2222401"/>
            <a:ext cx="308711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5F99"/>
                </a:solidFill>
                <a:latin typeface="IBM Plex Mono" pitchFamily="49" charset="0"/>
                <a:ea typeface="IBM Plex Mono" pitchFamily="49" charset="-122"/>
                <a:cs typeface="IBM Plex Mono" pitchFamily="49" charset="-120"/>
              </a:rPr>
              <a:t>01</a:t>
            </a:r>
            <a:endParaRPr lang="en-US" sz="1400" dirty="0"/>
          </a:p>
        </p:txBody>
      </p:sp>
      <p:sp>
        <p:nvSpPr>
          <p:cNvPr id="7" name="Text 5"/>
          <p:cNvSpPr/>
          <p:nvPr/>
        </p:nvSpPr>
        <p:spPr>
          <a:xfrm>
            <a:off x="1016000" y="2547441"/>
            <a:ext cx="308711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Contain</a:t>
            </a:r>
            <a:endParaRPr lang="en-US" sz="1700" dirty="0"/>
          </a:p>
        </p:txBody>
      </p:sp>
      <p:sp>
        <p:nvSpPr>
          <p:cNvPr id="8" name="Text 6"/>
          <p:cNvSpPr/>
          <p:nvPr/>
        </p:nvSpPr>
        <p:spPr>
          <a:xfrm>
            <a:off x="1016000" y="2882702"/>
            <a:ext cx="3087116"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756"/>
                </a:solidFill>
                <a:latin typeface="IBM Plex Sans" pitchFamily="34" charset="0"/>
                <a:ea typeface="IBM Plex Sans" pitchFamily="34" charset="-122"/>
                <a:cs typeface="IBM Plex Sans" pitchFamily="34" charset="-120"/>
              </a:rPr>
              <a:t>Isolate affected systems; follow vendor instructions to disconnect</a:t>
            </a:r>
            <a:endParaRPr lang="en-US" sz="1300" dirty="0"/>
          </a:p>
        </p:txBody>
      </p:sp>
      <p:sp>
        <p:nvSpPr>
          <p:cNvPr id="9" name="Shape 7"/>
          <p:cNvSpPr/>
          <p:nvPr/>
        </p:nvSpPr>
        <p:spPr>
          <a:xfrm>
            <a:off x="4394200" y="1981101"/>
            <a:ext cx="3403600" cy="1798042"/>
          </a:xfrm>
          <a:prstGeom prst="roundRect">
            <a:avLst>
              <a:gd name="adj" fmla="val 4238"/>
            </a:avLst>
          </a:prstGeom>
          <a:solidFill>
            <a:srgbClr val="FFFFFF"/>
          </a:solidFill>
          <a:ln/>
        </p:spPr>
        <p:txBody>
          <a:bodyPr/>
          <a:lstStyle/>
          <a:p>
            <a:endParaRPr lang="en-JP"/>
          </a:p>
        </p:txBody>
      </p:sp>
      <p:sp>
        <p:nvSpPr>
          <p:cNvPr id="10" name="Shape 8"/>
          <p:cNvSpPr/>
          <p:nvPr/>
        </p:nvSpPr>
        <p:spPr>
          <a:xfrm>
            <a:off x="4394200" y="1981101"/>
            <a:ext cx="3403600" cy="1798042"/>
          </a:xfrm>
          <a:custGeom>
            <a:avLst/>
            <a:gdLst/>
            <a:ahLst/>
            <a:cxnLst/>
            <a:rect l="l" t="t" r="r" b="b"/>
            <a:pathLst>
              <a:path w="3403600" h="1798042">
                <a:moveTo>
                  <a:pt x="0" y="76200"/>
                </a:moveTo>
                <a:lnTo>
                  <a:pt x="0" y="76200"/>
                </a:lnTo>
                <a:arcTo wR="76200" hR="76200" stAng="10800000" swAng="5400000"/>
                <a:lnTo>
                  <a:pt x="3327400" y="0"/>
                </a:lnTo>
                <a:arcTo wR="76200" hR="76200" stAng="16200000" swAng="5400000"/>
                <a:lnTo>
                  <a:pt x="3403600" y="76200"/>
                </a:lnTo>
                <a:arcTo wR="76200" hR="38100" stAng="0" swAng="-5400000"/>
                <a:lnTo>
                  <a:pt x="76200" y="38100"/>
                </a:lnTo>
                <a:arcTo wR="76200" hR="38100" stAng="16200000" swAng="-5400000"/>
                <a:close/>
              </a:path>
            </a:pathLst>
          </a:custGeom>
          <a:solidFill>
            <a:srgbClr val="1F5F99"/>
          </a:solidFill>
          <a:ln/>
        </p:spPr>
        <p:txBody>
          <a:bodyPr/>
          <a:lstStyle/>
          <a:p>
            <a:endParaRPr lang="en-JP"/>
          </a:p>
        </p:txBody>
      </p:sp>
      <p:sp>
        <p:nvSpPr>
          <p:cNvPr id="11" name="Text 9"/>
          <p:cNvSpPr/>
          <p:nvPr/>
        </p:nvSpPr>
        <p:spPr>
          <a:xfrm>
            <a:off x="4597400" y="2222401"/>
            <a:ext cx="308711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5F99"/>
                </a:solidFill>
                <a:latin typeface="IBM Plex Mono" pitchFamily="49" charset="0"/>
                <a:ea typeface="IBM Plex Mono" pitchFamily="49" charset="-122"/>
                <a:cs typeface="IBM Plex Mono" pitchFamily="49" charset="-120"/>
              </a:rPr>
              <a:t>02</a:t>
            </a:r>
            <a:endParaRPr lang="en-US" sz="1400" dirty="0"/>
          </a:p>
        </p:txBody>
      </p:sp>
      <p:sp>
        <p:nvSpPr>
          <p:cNvPr id="12" name="Text 10"/>
          <p:cNvSpPr/>
          <p:nvPr/>
        </p:nvSpPr>
        <p:spPr>
          <a:xfrm>
            <a:off x="4597400" y="2547441"/>
            <a:ext cx="308711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Patch</a:t>
            </a:r>
            <a:endParaRPr lang="en-US" sz="1700" dirty="0"/>
          </a:p>
        </p:txBody>
      </p:sp>
      <p:sp>
        <p:nvSpPr>
          <p:cNvPr id="13" name="Text 11"/>
          <p:cNvSpPr/>
          <p:nvPr/>
        </p:nvSpPr>
        <p:spPr>
          <a:xfrm>
            <a:off x="4597400" y="2882702"/>
            <a:ext cx="3087116"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756"/>
                </a:solidFill>
                <a:latin typeface="IBM Plex Sans" pitchFamily="34" charset="0"/>
                <a:ea typeface="IBM Plex Sans" pitchFamily="34" charset="-122"/>
                <a:cs typeface="IBM Plex Sans" pitchFamily="34" charset="-120"/>
              </a:rPr>
              <a:t>Upgrade PHP now; for CVE-2026-115560, turn off session upload progress until fixed</a:t>
            </a:r>
            <a:endParaRPr lang="en-US" sz="1300" dirty="0"/>
          </a:p>
        </p:txBody>
      </p:sp>
      <p:sp>
        <p:nvSpPr>
          <p:cNvPr id="14" name="Shape 12"/>
          <p:cNvSpPr/>
          <p:nvPr/>
        </p:nvSpPr>
        <p:spPr>
          <a:xfrm>
            <a:off x="7975600" y="1981101"/>
            <a:ext cx="3403600" cy="1798042"/>
          </a:xfrm>
          <a:prstGeom prst="roundRect">
            <a:avLst>
              <a:gd name="adj" fmla="val 4238"/>
            </a:avLst>
          </a:prstGeom>
          <a:solidFill>
            <a:srgbClr val="FFFFFF"/>
          </a:solidFill>
          <a:ln/>
        </p:spPr>
        <p:txBody>
          <a:bodyPr/>
          <a:lstStyle/>
          <a:p>
            <a:endParaRPr lang="en-JP"/>
          </a:p>
        </p:txBody>
      </p:sp>
      <p:sp>
        <p:nvSpPr>
          <p:cNvPr id="15" name="Shape 13"/>
          <p:cNvSpPr/>
          <p:nvPr/>
        </p:nvSpPr>
        <p:spPr>
          <a:xfrm>
            <a:off x="7975600" y="1981101"/>
            <a:ext cx="3403600" cy="1798042"/>
          </a:xfrm>
          <a:custGeom>
            <a:avLst/>
            <a:gdLst/>
            <a:ahLst/>
            <a:cxnLst/>
            <a:rect l="l" t="t" r="r" b="b"/>
            <a:pathLst>
              <a:path w="3403600" h="1798042">
                <a:moveTo>
                  <a:pt x="0" y="76200"/>
                </a:moveTo>
                <a:lnTo>
                  <a:pt x="0" y="76200"/>
                </a:lnTo>
                <a:arcTo wR="76200" hR="76200" stAng="10800000" swAng="5400000"/>
                <a:lnTo>
                  <a:pt x="3327400" y="0"/>
                </a:lnTo>
                <a:arcTo wR="76200" hR="76200" stAng="16200000" swAng="5400000"/>
                <a:lnTo>
                  <a:pt x="3403600" y="76200"/>
                </a:lnTo>
                <a:arcTo wR="76200" hR="38100" stAng="0" swAng="-5400000"/>
                <a:lnTo>
                  <a:pt x="76200" y="38100"/>
                </a:lnTo>
                <a:arcTo wR="76200" hR="38100" stAng="16200000" swAng="-5400000"/>
                <a:close/>
              </a:path>
            </a:pathLst>
          </a:custGeom>
          <a:solidFill>
            <a:srgbClr val="1F5F99"/>
          </a:solidFill>
          <a:ln/>
        </p:spPr>
        <p:txBody>
          <a:bodyPr/>
          <a:lstStyle/>
          <a:p>
            <a:endParaRPr lang="en-JP"/>
          </a:p>
        </p:txBody>
      </p:sp>
      <p:sp>
        <p:nvSpPr>
          <p:cNvPr id="16" name="Text 14"/>
          <p:cNvSpPr/>
          <p:nvPr/>
        </p:nvSpPr>
        <p:spPr>
          <a:xfrm>
            <a:off x="8178800" y="2222401"/>
            <a:ext cx="308711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5F99"/>
                </a:solidFill>
                <a:latin typeface="IBM Plex Mono" pitchFamily="49" charset="0"/>
                <a:ea typeface="IBM Plex Mono" pitchFamily="49" charset="-122"/>
                <a:cs typeface="IBM Plex Mono" pitchFamily="49" charset="-120"/>
              </a:rPr>
              <a:t>03</a:t>
            </a:r>
            <a:endParaRPr lang="en-US" sz="1400" dirty="0"/>
          </a:p>
        </p:txBody>
      </p:sp>
      <p:sp>
        <p:nvSpPr>
          <p:cNvPr id="17" name="Text 15"/>
          <p:cNvSpPr/>
          <p:nvPr/>
        </p:nvSpPr>
        <p:spPr>
          <a:xfrm>
            <a:off x="8178800" y="2547441"/>
            <a:ext cx="308711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Hunt</a:t>
            </a:r>
            <a:endParaRPr lang="en-US" sz="1700" dirty="0"/>
          </a:p>
        </p:txBody>
      </p:sp>
      <p:sp>
        <p:nvSpPr>
          <p:cNvPr id="18" name="Text 16"/>
          <p:cNvSpPr/>
          <p:nvPr/>
        </p:nvSpPr>
        <p:spPr>
          <a:xfrm>
            <a:off x="8178800" y="2882702"/>
            <a:ext cx="3087116"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756"/>
                </a:solidFill>
                <a:latin typeface="IBM Plex Sans" pitchFamily="34" charset="0"/>
                <a:ea typeface="IBM Plex Sans" pitchFamily="34" charset="-122"/>
                <a:cs typeface="IBM Plex Sans" pitchFamily="34" charset="-120"/>
              </a:rPr>
              <a:t>Check logs back to 17 Oct for signs of compromise, not just patch</a:t>
            </a:r>
            <a:endParaRPr lang="en-US" sz="1300" dirty="0"/>
          </a:p>
        </p:txBody>
      </p:sp>
      <p:sp>
        <p:nvSpPr>
          <p:cNvPr id="19" name="Shape 17"/>
          <p:cNvSpPr/>
          <p:nvPr/>
        </p:nvSpPr>
        <p:spPr>
          <a:xfrm>
            <a:off x="812800" y="3956943"/>
            <a:ext cx="3403600" cy="1566962"/>
          </a:xfrm>
          <a:prstGeom prst="roundRect">
            <a:avLst>
              <a:gd name="adj" fmla="val 4863"/>
            </a:avLst>
          </a:prstGeom>
          <a:solidFill>
            <a:srgbClr val="FFFFFF"/>
          </a:solidFill>
          <a:ln/>
        </p:spPr>
        <p:txBody>
          <a:bodyPr/>
          <a:lstStyle/>
          <a:p>
            <a:endParaRPr lang="en-JP"/>
          </a:p>
        </p:txBody>
      </p:sp>
      <p:sp>
        <p:nvSpPr>
          <p:cNvPr id="20" name="Shape 18"/>
          <p:cNvSpPr/>
          <p:nvPr/>
        </p:nvSpPr>
        <p:spPr>
          <a:xfrm>
            <a:off x="812800" y="3956943"/>
            <a:ext cx="3403600" cy="1566962"/>
          </a:xfrm>
          <a:custGeom>
            <a:avLst/>
            <a:gdLst/>
            <a:ahLst/>
            <a:cxnLst/>
            <a:rect l="l" t="t" r="r" b="b"/>
            <a:pathLst>
              <a:path w="3403600" h="1566962">
                <a:moveTo>
                  <a:pt x="0" y="76200"/>
                </a:moveTo>
                <a:lnTo>
                  <a:pt x="0" y="76200"/>
                </a:lnTo>
                <a:arcTo wR="76200" hR="76200" stAng="10800000" swAng="5400000"/>
                <a:lnTo>
                  <a:pt x="3327400" y="0"/>
                </a:lnTo>
                <a:arcTo wR="76200" hR="76200" stAng="16200000" swAng="5400000"/>
                <a:lnTo>
                  <a:pt x="3403600" y="76200"/>
                </a:lnTo>
                <a:arcTo wR="76200" hR="38100" stAng="0" swAng="-5400000"/>
                <a:lnTo>
                  <a:pt x="76200" y="38100"/>
                </a:lnTo>
                <a:arcTo wR="76200" hR="38100" stAng="16200000" swAng="-5400000"/>
                <a:close/>
              </a:path>
            </a:pathLst>
          </a:custGeom>
          <a:solidFill>
            <a:srgbClr val="1F5F99"/>
          </a:solidFill>
          <a:ln/>
        </p:spPr>
        <p:txBody>
          <a:bodyPr/>
          <a:lstStyle/>
          <a:p>
            <a:endParaRPr lang="en-JP"/>
          </a:p>
        </p:txBody>
      </p:sp>
      <p:sp>
        <p:nvSpPr>
          <p:cNvPr id="21" name="Text 19"/>
          <p:cNvSpPr/>
          <p:nvPr/>
        </p:nvSpPr>
        <p:spPr>
          <a:xfrm>
            <a:off x="1016000" y="4198243"/>
            <a:ext cx="308711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5F99"/>
                </a:solidFill>
                <a:latin typeface="IBM Plex Mono" pitchFamily="49" charset="0"/>
                <a:ea typeface="IBM Plex Mono" pitchFamily="49" charset="-122"/>
                <a:cs typeface="IBM Plex Mono" pitchFamily="49" charset="-120"/>
              </a:rPr>
              <a:t>04</a:t>
            </a:r>
            <a:endParaRPr lang="en-US" sz="1400" dirty="0"/>
          </a:p>
        </p:txBody>
      </p:sp>
      <p:sp>
        <p:nvSpPr>
          <p:cNvPr id="22" name="Text 20"/>
          <p:cNvSpPr/>
          <p:nvPr/>
        </p:nvSpPr>
        <p:spPr>
          <a:xfrm>
            <a:off x="1016000" y="4523284"/>
            <a:ext cx="308711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Reset</a:t>
            </a:r>
            <a:endParaRPr lang="en-US" sz="1700" dirty="0"/>
          </a:p>
        </p:txBody>
      </p:sp>
      <p:sp>
        <p:nvSpPr>
          <p:cNvPr id="23" name="Text 21"/>
          <p:cNvSpPr/>
          <p:nvPr/>
        </p:nvSpPr>
        <p:spPr>
          <a:xfrm>
            <a:off x="1016000" y="4858544"/>
            <a:ext cx="3087116"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756"/>
                </a:solidFill>
                <a:latin typeface="IBM Plex Sans" pitchFamily="34" charset="0"/>
                <a:ea typeface="IBM Plex Sans" pitchFamily="34" charset="-122"/>
                <a:cs typeface="IBM Plex Sans" pitchFamily="34" charset="-120"/>
              </a:rPr>
              <a:t>Rotate exposed credentials and enforce multi-factor authentication</a:t>
            </a:r>
            <a:endParaRPr lang="en-US" sz="1300" dirty="0"/>
          </a:p>
        </p:txBody>
      </p:sp>
      <p:sp>
        <p:nvSpPr>
          <p:cNvPr id="24" name="Shape 22"/>
          <p:cNvSpPr/>
          <p:nvPr/>
        </p:nvSpPr>
        <p:spPr>
          <a:xfrm>
            <a:off x="4394200" y="3956943"/>
            <a:ext cx="3403600" cy="1566962"/>
          </a:xfrm>
          <a:prstGeom prst="roundRect">
            <a:avLst>
              <a:gd name="adj" fmla="val 4863"/>
            </a:avLst>
          </a:prstGeom>
          <a:solidFill>
            <a:srgbClr val="FFFFFF"/>
          </a:solidFill>
          <a:ln/>
        </p:spPr>
        <p:txBody>
          <a:bodyPr/>
          <a:lstStyle/>
          <a:p>
            <a:endParaRPr lang="en-JP"/>
          </a:p>
        </p:txBody>
      </p:sp>
      <p:sp>
        <p:nvSpPr>
          <p:cNvPr id="25" name="Shape 23"/>
          <p:cNvSpPr/>
          <p:nvPr/>
        </p:nvSpPr>
        <p:spPr>
          <a:xfrm>
            <a:off x="4394200" y="3956943"/>
            <a:ext cx="3403600" cy="1566962"/>
          </a:xfrm>
          <a:custGeom>
            <a:avLst/>
            <a:gdLst/>
            <a:ahLst/>
            <a:cxnLst/>
            <a:rect l="l" t="t" r="r" b="b"/>
            <a:pathLst>
              <a:path w="3403600" h="1566962">
                <a:moveTo>
                  <a:pt x="0" y="76200"/>
                </a:moveTo>
                <a:lnTo>
                  <a:pt x="0" y="76200"/>
                </a:lnTo>
                <a:arcTo wR="76200" hR="76200" stAng="10800000" swAng="5400000"/>
                <a:lnTo>
                  <a:pt x="3327400" y="0"/>
                </a:lnTo>
                <a:arcTo wR="76200" hR="76200" stAng="16200000" swAng="5400000"/>
                <a:lnTo>
                  <a:pt x="3403600" y="76200"/>
                </a:lnTo>
                <a:arcTo wR="76200" hR="38100" stAng="0" swAng="-5400000"/>
                <a:lnTo>
                  <a:pt x="76200" y="38100"/>
                </a:lnTo>
                <a:arcTo wR="76200" hR="38100" stAng="16200000" swAng="-5400000"/>
                <a:close/>
              </a:path>
            </a:pathLst>
          </a:custGeom>
          <a:solidFill>
            <a:srgbClr val="1F5F99"/>
          </a:solidFill>
          <a:ln/>
        </p:spPr>
        <p:txBody>
          <a:bodyPr/>
          <a:lstStyle/>
          <a:p>
            <a:endParaRPr lang="en-JP"/>
          </a:p>
        </p:txBody>
      </p:sp>
      <p:sp>
        <p:nvSpPr>
          <p:cNvPr id="26" name="Text 24"/>
          <p:cNvSpPr/>
          <p:nvPr/>
        </p:nvSpPr>
        <p:spPr>
          <a:xfrm>
            <a:off x="4597400" y="4198243"/>
            <a:ext cx="308711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5F99"/>
                </a:solidFill>
                <a:latin typeface="IBM Plex Mono" pitchFamily="49" charset="0"/>
                <a:ea typeface="IBM Plex Mono" pitchFamily="49" charset="-122"/>
                <a:cs typeface="IBM Plex Mono" pitchFamily="49" charset="-120"/>
              </a:rPr>
              <a:t>05</a:t>
            </a:r>
            <a:endParaRPr lang="en-US" sz="1400" dirty="0"/>
          </a:p>
        </p:txBody>
      </p:sp>
      <p:sp>
        <p:nvSpPr>
          <p:cNvPr id="27" name="Text 25"/>
          <p:cNvSpPr/>
          <p:nvPr/>
        </p:nvSpPr>
        <p:spPr>
          <a:xfrm>
            <a:off x="4597400" y="4523284"/>
            <a:ext cx="308711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Restore</a:t>
            </a:r>
            <a:endParaRPr lang="en-US" sz="1700" dirty="0"/>
          </a:p>
        </p:txBody>
      </p:sp>
      <p:sp>
        <p:nvSpPr>
          <p:cNvPr id="28" name="Text 26"/>
          <p:cNvSpPr/>
          <p:nvPr/>
        </p:nvSpPr>
        <p:spPr>
          <a:xfrm>
            <a:off x="4597400" y="4858544"/>
            <a:ext cx="3087116"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756"/>
                </a:solidFill>
                <a:latin typeface="IBM Plex Sans" pitchFamily="34" charset="0"/>
                <a:ea typeface="IBM Plex Sans" pitchFamily="34" charset="-122"/>
                <a:cs typeface="IBM Plex Sans" pitchFamily="34" charset="-120"/>
              </a:rPr>
              <a:t>Recover from your own isolated backups; preserve logs for forensics</a:t>
            </a:r>
            <a:endParaRPr lang="en-US" sz="1300" dirty="0"/>
          </a:p>
        </p:txBody>
      </p:sp>
      <p:sp>
        <p:nvSpPr>
          <p:cNvPr id="29" name="Shape 27"/>
          <p:cNvSpPr/>
          <p:nvPr/>
        </p:nvSpPr>
        <p:spPr>
          <a:xfrm>
            <a:off x="7975600" y="3956943"/>
            <a:ext cx="3403600" cy="1566962"/>
          </a:xfrm>
          <a:prstGeom prst="roundRect">
            <a:avLst>
              <a:gd name="adj" fmla="val 4863"/>
            </a:avLst>
          </a:prstGeom>
          <a:solidFill>
            <a:srgbClr val="FFFFFF"/>
          </a:solidFill>
          <a:ln/>
        </p:spPr>
        <p:txBody>
          <a:bodyPr/>
          <a:lstStyle/>
          <a:p>
            <a:endParaRPr lang="en-JP"/>
          </a:p>
        </p:txBody>
      </p:sp>
      <p:sp>
        <p:nvSpPr>
          <p:cNvPr id="30" name="Shape 28"/>
          <p:cNvSpPr/>
          <p:nvPr/>
        </p:nvSpPr>
        <p:spPr>
          <a:xfrm>
            <a:off x="7975600" y="3956943"/>
            <a:ext cx="3403600" cy="1566962"/>
          </a:xfrm>
          <a:custGeom>
            <a:avLst/>
            <a:gdLst/>
            <a:ahLst/>
            <a:cxnLst/>
            <a:rect l="l" t="t" r="r" b="b"/>
            <a:pathLst>
              <a:path w="3403600" h="1566962">
                <a:moveTo>
                  <a:pt x="0" y="76200"/>
                </a:moveTo>
                <a:lnTo>
                  <a:pt x="0" y="76200"/>
                </a:lnTo>
                <a:arcTo wR="76200" hR="76200" stAng="10800000" swAng="5400000"/>
                <a:lnTo>
                  <a:pt x="3327400" y="0"/>
                </a:lnTo>
                <a:arcTo wR="76200" hR="76200" stAng="16200000" swAng="5400000"/>
                <a:lnTo>
                  <a:pt x="3403600" y="76200"/>
                </a:lnTo>
                <a:arcTo wR="76200" hR="38100" stAng="0" swAng="-5400000"/>
                <a:lnTo>
                  <a:pt x="76200" y="38100"/>
                </a:lnTo>
                <a:arcTo wR="76200" hR="38100" stAng="16200000" swAng="-5400000"/>
                <a:close/>
              </a:path>
            </a:pathLst>
          </a:custGeom>
          <a:solidFill>
            <a:srgbClr val="1F5F99"/>
          </a:solidFill>
          <a:ln/>
        </p:spPr>
        <p:txBody>
          <a:bodyPr/>
          <a:lstStyle/>
          <a:p>
            <a:endParaRPr lang="en-JP"/>
          </a:p>
        </p:txBody>
      </p:sp>
      <p:sp>
        <p:nvSpPr>
          <p:cNvPr id="31" name="Text 29"/>
          <p:cNvSpPr/>
          <p:nvPr/>
        </p:nvSpPr>
        <p:spPr>
          <a:xfrm>
            <a:off x="8178800" y="4198243"/>
            <a:ext cx="308711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5F99"/>
                </a:solidFill>
                <a:latin typeface="IBM Plex Mono" pitchFamily="49" charset="0"/>
                <a:ea typeface="IBM Plex Mono" pitchFamily="49" charset="-122"/>
                <a:cs typeface="IBM Plex Mono" pitchFamily="49" charset="-120"/>
              </a:rPr>
              <a:t>06</a:t>
            </a:r>
            <a:endParaRPr lang="en-US" sz="1400" dirty="0"/>
          </a:p>
        </p:txBody>
      </p:sp>
      <p:sp>
        <p:nvSpPr>
          <p:cNvPr id="32" name="Text 30"/>
          <p:cNvSpPr/>
          <p:nvPr/>
        </p:nvSpPr>
        <p:spPr>
          <a:xfrm>
            <a:off x="8178800" y="4523284"/>
            <a:ext cx="308711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Report</a:t>
            </a:r>
            <a:endParaRPr lang="en-US" sz="1700" dirty="0"/>
          </a:p>
        </p:txBody>
      </p:sp>
      <p:sp>
        <p:nvSpPr>
          <p:cNvPr id="33" name="Text 31"/>
          <p:cNvSpPr/>
          <p:nvPr/>
        </p:nvSpPr>
        <p:spPr>
          <a:xfrm>
            <a:off x="8178800" y="4858544"/>
            <a:ext cx="3087116"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756"/>
                </a:solidFill>
                <a:latin typeface="IBM Plex Sans" pitchFamily="34" charset="0"/>
                <a:ea typeface="IBM Plex Sans" pitchFamily="34" charset="-122"/>
                <a:cs typeface="IBM Plex Sans" pitchFamily="34" charset="-120"/>
              </a:rPr>
              <a:t>Notify police and the Personal Information Protection Commission</a:t>
            </a:r>
            <a:endParaRPr lang="en-US" sz="1300" dirty="0"/>
          </a:p>
        </p:txBody>
      </p:sp>
      <p:sp>
        <p:nvSpPr>
          <p:cNvPr id="34" name="Text 3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Sources: JPCERT-AT-2026-0033; IPA alert 20261022; IDC Frontier guidance via CS2; GMO customer notice</a:t>
            </a:r>
            <a:endParaRPr lang="en-US" sz="1200" dirty="0"/>
          </a:p>
        </p:txBody>
      </p:sp>
      <p:pic>
        <p:nvPicPr>
          <p:cNvPr id="35" name="Picture 34" descr="ZT_logo(3).png">
            <a:extLst>
              <a:ext uri="{FF2B5EF4-FFF2-40B4-BE49-F238E27FC236}">
                <a16:creationId xmlns:a16="http://schemas.microsoft.com/office/drawing/2014/main" id="{4A931B49-7654-A611-8683-5D150EB9FA97}"/>
              </a:ext>
            </a:extLst>
          </p:cNvPr>
          <p:cNvPicPr>
            <a:picLocks noChangeAspect="1"/>
          </p:cNvPicPr>
          <p:nvPr/>
        </p:nvPicPr>
        <p:blipFill>
          <a:blip r:embed="rId3"/>
          <a:stretch>
            <a:fillRect/>
          </a:stretch>
        </p:blipFill>
        <p:spPr>
          <a:xfrm>
            <a:off x="10927080" y="256032"/>
            <a:ext cx="713232" cy="71323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9ED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1F5F99"/>
                </a:solidFill>
                <a:latin typeface="IBM Plex Mono" pitchFamily="49" charset="0"/>
                <a:ea typeface="IBM Plex Mono" pitchFamily="49" charset="-122"/>
                <a:cs typeface="IBM Plex Mono" pitchFamily="49" charset="-120"/>
              </a:rPr>
              <a:t>PREVENTION</a:t>
            </a:r>
            <a:endParaRPr lang="en-US" sz="1200" dirty="0"/>
          </a:p>
        </p:txBody>
      </p:sp>
      <p:sp>
        <p:nvSpPr>
          <p:cNvPr id="3" name="Text 1"/>
          <p:cNvSpPr>
            <a:spLocks noGrp="1"/>
          </p:cNvSpPr>
          <p:nvPr>
            <p:ph type="title"/>
          </p:nvPr>
        </p:nvSpPr>
        <p:spPr>
          <a:xfrm>
            <a:off x="812800" y="1254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Close the doors these attacks used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3001"/>
          <a:ext cx="10553700" cy="2980528"/>
        </p:xfrm>
        <a:graphic>
          <a:graphicData uri="http://schemas.openxmlformats.org/drawingml/2006/table">
            <a:tbl>
              <a:tblPr/>
              <a:tblGrid>
                <a:gridCol w="3799332">
                  <a:extLst>
                    <a:ext uri="{9D8B030D-6E8A-4147-A177-3AD203B41FA5}">
                      <a16:colId xmlns:a16="http://schemas.microsoft.com/office/drawing/2014/main" val="20000"/>
                    </a:ext>
                  </a:extLst>
                </a:gridCol>
                <a:gridCol w="6754368">
                  <a:extLst>
                    <a:ext uri="{9D8B030D-6E8A-4147-A177-3AD203B41FA5}">
                      <a16:colId xmlns:a16="http://schemas.microsoft.com/office/drawing/2014/main" val="20001"/>
                    </a:ext>
                  </a:extLst>
                </a:gridCol>
              </a:tblGrid>
              <a:tr h="372566">
                <a:tc>
                  <a:txBody>
                    <a:bodyPr/>
                    <a:lstStyle/>
                    <a:p>
                      <a:pPr marL="0" indent="0">
                        <a:lnSpc>
                          <a:spcPts val="1890"/>
                        </a:lnSpc>
                        <a:buNone/>
                      </a:pPr>
                      <a:r>
                        <a:rPr lang="en-US" sz="1350" b="1" dirty="0">
                          <a:solidFill>
                            <a:srgbClr val="16202E"/>
                          </a:solidFill>
                          <a:latin typeface="IBM Plex Sans" pitchFamily="34" charset="0"/>
                          <a:ea typeface="IBM Plex Sans" pitchFamily="34" charset="-122"/>
                          <a:cs typeface="IBM Plex Sans" pitchFamily="34" charset="-120"/>
                        </a:rPr>
                        <a:t>Control</a:t>
                      </a:r>
                      <a:endParaRPr lang="en-US" sz="1350" dirty="0">
                        <a:latin typeface="IBM Plex Sans" charset="0"/>
                        <a:ea typeface="IBM Plex Sans" charset="0"/>
                        <a:cs typeface="IBM Plex Sans" charset="0"/>
                      </a:endParaRPr>
                    </a:p>
                  </a:txBody>
                  <a:tcPr marL="60007" marR="60007" marT="60007" marB="60007">
                    <a:lnL w="12700" cap="flat" cmpd="sng" algn="ctr">
                      <a:solidFill>
                        <a:srgbClr val="BABDC1"/>
                      </a:solidFill>
                      <a:prstDash val="solid"/>
                      <a:round/>
                      <a:headEnd type="none" w="med" len="med"/>
                      <a:tailEnd type="none" w="med" len="med"/>
                    </a:lnL>
                    <a:lnR w="12700" cap="flat" cmpd="sng" algn="ctr">
                      <a:solidFill>
                        <a:srgbClr val="ADB0B3"/>
                      </a:solidFill>
                      <a:prstDash val="solid"/>
                      <a:round/>
                      <a:headEnd type="none" w="med" len="med"/>
                      <a:tailEnd type="none" w="med" len="med"/>
                    </a:lnR>
                    <a:lnT w="12700" cap="flat" cmpd="sng" algn="ctr">
                      <a:solidFill>
                        <a:srgbClr val="BABDC1"/>
                      </a:solidFill>
                      <a:prstDash val="solid"/>
                      <a:round/>
                      <a:headEnd type="none" w="med" len="med"/>
                      <a:tailEnd type="none" w="med" len="med"/>
                    </a:lnT>
                    <a:lnB w="12700" cap="flat" cmpd="sng" algn="ctr">
                      <a:solidFill>
                        <a:srgbClr val="ADB0B3"/>
                      </a:solidFill>
                      <a:prstDash val="solid"/>
                      <a:round/>
                      <a:headEnd type="none" w="med" len="med"/>
                      <a:tailEnd type="none" w="med" len="med"/>
                    </a:lnB>
                    <a:solidFill>
                      <a:srgbClr val="D8DCE0"/>
                    </a:solidFill>
                  </a:tcPr>
                </a:tc>
                <a:tc>
                  <a:txBody>
                    <a:bodyPr/>
                    <a:lstStyle/>
                    <a:p>
                      <a:pPr marL="0" indent="0">
                        <a:lnSpc>
                          <a:spcPts val="1890"/>
                        </a:lnSpc>
                        <a:buNone/>
                      </a:pPr>
                      <a:r>
                        <a:rPr lang="en-US" sz="1350" b="1" dirty="0">
                          <a:solidFill>
                            <a:srgbClr val="16202E"/>
                          </a:solidFill>
                          <a:latin typeface="IBM Plex Sans" pitchFamily="34" charset="0"/>
                          <a:ea typeface="IBM Plex Sans" pitchFamily="34" charset="-122"/>
                          <a:cs typeface="IBM Plex Sans" pitchFamily="34" charset="-120"/>
                        </a:rPr>
                        <a:t>Why it matters</a:t>
                      </a:r>
                      <a:endParaRPr lang="en-US" sz="1350" dirty="0">
                        <a:latin typeface="IBM Plex Sans" charset="0"/>
                        <a:ea typeface="IBM Plex Sans" charset="0"/>
                        <a:cs typeface="IBM Plex Sans" charset="0"/>
                      </a:endParaRPr>
                    </a:p>
                  </a:txBody>
                  <a:tcPr marL="60007" marR="60007" marT="60007" marB="60007">
                    <a:lnL w="12700" cap="flat" cmpd="sng" algn="ctr">
                      <a:solidFill>
                        <a:srgbClr val="ADB0B3"/>
                      </a:solidFill>
                      <a:prstDash val="solid"/>
                      <a:round/>
                      <a:headEnd type="none" w="med" len="med"/>
                      <a:tailEnd type="none" w="med" len="med"/>
                    </a:lnL>
                    <a:lnR w="12700" cap="flat" cmpd="sng" algn="ctr">
                      <a:solidFill>
                        <a:srgbClr val="ADB0B3"/>
                      </a:solidFill>
                      <a:prstDash val="solid"/>
                      <a:round/>
                      <a:headEnd type="none" w="med" len="med"/>
                      <a:tailEnd type="none" w="med" len="med"/>
                    </a:lnR>
                    <a:lnT w="12700" cap="flat" cmpd="sng" algn="ctr">
                      <a:solidFill>
                        <a:srgbClr val="BABDC1"/>
                      </a:solidFill>
                      <a:prstDash val="solid"/>
                      <a:round/>
                      <a:headEnd type="none" w="med" len="med"/>
                      <a:tailEnd type="none" w="med" len="med"/>
                    </a:lnT>
                    <a:lnB w="12700" cap="flat" cmpd="sng" algn="ctr">
                      <a:solidFill>
                        <a:srgbClr val="ADB0B3"/>
                      </a:solidFill>
                      <a:prstDash val="solid"/>
                      <a:round/>
                      <a:headEnd type="none" w="med" len="med"/>
                      <a:tailEnd type="none" w="med" len="med"/>
                    </a:lnB>
                    <a:solidFill>
                      <a:srgbClr val="D8DCE0"/>
                    </a:solidFill>
                  </a:tcPr>
                </a:tc>
                <a:extLst>
                  <a:ext uri="{0D108BD9-81ED-4DB2-BD59-A6C34878D82A}">
                    <a16:rowId xmlns:a16="http://schemas.microsoft.com/office/drawing/2014/main" val="10000"/>
                  </a:ext>
                </a:extLst>
              </a:tr>
              <a:tr h="372566">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Patch VPNs and add MFA</a:t>
                      </a:r>
                      <a:endParaRPr lang="en-US" sz="1350" dirty="0">
                        <a:latin typeface="IBM Plex Sans" charset="0"/>
                        <a:ea typeface="IBM Plex Sans" charset="0"/>
                        <a:cs typeface="IBM Plex Sans" charset="0"/>
                      </a:endParaRPr>
                    </a:p>
                  </a:txBody>
                  <a:tcPr marL="60007" marR="60007" marT="60007" marB="60007">
                    <a:lnL w="12700" cap="flat" cmpd="sng" algn="ctr">
                      <a:solidFill>
                        <a:srgbClr val="BABDC1"/>
                      </a:solidFill>
                      <a:prstDash val="solid"/>
                      <a:round/>
                      <a:headEnd type="none" w="med" len="med"/>
                      <a:tailEnd type="none" w="med" len="med"/>
                    </a:lnL>
                    <a:lnR w="12700" cap="flat" cmpd="sng" algn="ctr">
                      <a:solidFill>
                        <a:srgbClr val="BABDC1"/>
                      </a:solidFill>
                      <a:prstDash val="solid"/>
                      <a:round/>
                      <a:headEnd type="none" w="med" len="med"/>
                      <a:tailEnd type="none" w="med" len="med"/>
                    </a:lnR>
                    <a:lnT w="12700" cap="flat" cmpd="sng" algn="ctr">
                      <a:solidFill>
                        <a:srgbClr val="ADB0B3"/>
                      </a:solidFill>
                      <a:prstDash val="solid"/>
                      <a:round/>
                      <a:headEnd type="none" w="med" len="med"/>
                      <a:tailEnd type="none" w="med" len="med"/>
                    </a:lnT>
                    <a:lnB w="12700" cap="flat" cmpd="sng" algn="ctr">
                      <a:solidFill>
                        <a:srgbClr val="BABDC1"/>
                      </a:solidFill>
                      <a:prstDash val="solid"/>
                      <a:round/>
                      <a:headEnd type="none" w="med" len="med"/>
                      <a:tailEnd type="none" w="med" len="med"/>
                    </a:lnB>
                  </a:tcPr>
                </a:tc>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VPN devices were the most common first entry point for ransomware</a:t>
                      </a:r>
                      <a:endParaRPr lang="en-US" sz="1350" dirty="0">
                        <a:latin typeface="IBM Plex Sans" charset="0"/>
                        <a:ea typeface="IBM Plex Sans" charset="0"/>
                        <a:cs typeface="IBM Plex Sans" charset="0"/>
                      </a:endParaRPr>
                    </a:p>
                  </a:txBody>
                  <a:tcPr marL="60007" marR="60007" marT="60007" marB="60007">
                    <a:lnL w="12700" cap="flat" cmpd="sng" algn="ctr">
                      <a:solidFill>
                        <a:srgbClr val="BABDC1"/>
                      </a:solidFill>
                      <a:prstDash val="solid"/>
                      <a:round/>
                      <a:headEnd type="none" w="med" len="med"/>
                      <a:tailEnd type="none" w="med" len="med"/>
                    </a:lnL>
                    <a:lnR w="12700" cap="flat" cmpd="sng" algn="ctr">
                      <a:solidFill>
                        <a:srgbClr val="BABDC1"/>
                      </a:solidFill>
                      <a:prstDash val="solid"/>
                      <a:round/>
                      <a:headEnd type="none" w="med" len="med"/>
                      <a:tailEnd type="none" w="med" len="med"/>
                    </a:lnR>
                    <a:lnT w="12700" cap="flat" cmpd="sng" algn="ctr">
                      <a:solidFill>
                        <a:srgbClr val="ADB0B3"/>
                      </a:solidFill>
                      <a:prstDash val="solid"/>
                      <a:round/>
                      <a:headEnd type="none" w="med" len="med"/>
                      <a:tailEnd type="none" w="med" len="med"/>
                    </a:lnT>
                    <a:lnB w="12700" cap="flat" cmpd="sng" algn="ctr">
                      <a:solidFill>
                        <a:srgbClr val="BABDC1"/>
                      </a:solidFill>
                      <a:prstDash val="solid"/>
                      <a:round/>
                      <a:headEnd type="none" w="med" len="med"/>
                      <a:tailEnd type="none" w="med" len="med"/>
                    </a:lnB>
                  </a:tcPr>
                </a:tc>
                <a:extLst>
                  <a:ext uri="{0D108BD9-81ED-4DB2-BD59-A6C34878D82A}">
                    <a16:rowId xmlns:a16="http://schemas.microsoft.com/office/drawing/2014/main" val="10001"/>
                  </a:ext>
                </a:extLst>
              </a:tr>
              <a:tr h="372566">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Keep an isolated backup; test it</a:t>
                      </a:r>
                      <a:endParaRPr lang="en-US" sz="1350" dirty="0">
                        <a:latin typeface="IBM Plex Sans" charset="0"/>
                        <a:ea typeface="IBM Plex Sans" charset="0"/>
                        <a:cs typeface="IBM Plex Sans" charset="0"/>
                      </a:endParaRPr>
                    </a:p>
                  </a:txBody>
                  <a:tcPr marL="60007" marR="60007" marT="60007" marB="60007">
                    <a:lnL w="12700" cap="flat" cmpd="sng" algn="ctr">
                      <a:solidFill>
                        <a:srgbClr val="BABDC1"/>
                      </a:solidFill>
                      <a:prstDash val="solid"/>
                      <a:round/>
                      <a:headEnd type="none" w="med" len="med"/>
                      <a:tailEnd type="none" w="med" len="med"/>
                    </a:lnL>
                    <a:lnR w="12700" cap="flat" cmpd="sng" algn="ctr">
                      <a:solidFill>
                        <a:srgbClr val="B1B5BB"/>
                      </a:solidFill>
                      <a:prstDash val="solid"/>
                      <a:round/>
                      <a:headEnd type="none" w="med" len="med"/>
                      <a:tailEnd type="none" w="med" len="med"/>
                    </a:lnR>
                    <a:lnT w="12700" cap="flat" cmpd="sng" algn="ctr">
                      <a:solidFill>
                        <a:srgbClr val="BABDC1"/>
                      </a:solidFill>
                      <a:prstDash val="solid"/>
                      <a:round/>
                      <a:headEnd type="none" w="med" len="med"/>
                      <a:tailEnd type="none" w="med" len="med"/>
                    </a:lnT>
                    <a:lnB w="12700" cap="flat" cmpd="sng" algn="ctr">
                      <a:solidFill>
                        <a:srgbClr val="B1B5BB"/>
                      </a:solidFill>
                      <a:prstDash val="solid"/>
                      <a:round/>
                      <a:headEnd type="none" w="med" len="med"/>
                      <a:tailEnd type="none" w="med" len="med"/>
                    </a:lnB>
                    <a:solidFill>
                      <a:srgbClr val="DDE3EA"/>
                    </a:solidFill>
                  </a:tcPr>
                </a:tc>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Osaka and IDC Frontier lost backups on the same layer</a:t>
                      </a:r>
                      <a:endParaRPr lang="en-US" sz="1350" dirty="0">
                        <a:latin typeface="IBM Plex Sans" charset="0"/>
                        <a:ea typeface="IBM Plex Sans" charset="0"/>
                        <a:cs typeface="IBM Plex Sans" charset="0"/>
                      </a:endParaRPr>
                    </a:p>
                  </a:txBody>
                  <a:tcPr marL="60007" marR="60007" marT="60007" marB="60007">
                    <a:lnL w="12700" cap="flat" cmpd="sng" algn="ctr">
                      <a:solidFill>
                        <a:srgbClr val="B1B5BB"/>
                      </a:solidFill>
                      <a:prstDash val="solid"/>
                      <a:round/>
                      <a:headEnd type="none" w="med" len="med"/>
                      <a:tailEnd type="none" w="med" len="med"/>
                    </a:lnL>
                    <a:lnR w="12700" cap="flat" cmpd="sng" algn="ctr">
                      <a:solidFill>
                        <a:srgbClr val="B1B5BB"/>
                      </a:solidFill>
                      <a:prstDash val="solid"/>
                      <a:round/>
                      <a:headEnd type="none" w="med" len="med"/>
                      <a:tailEnd type="none" w="med" len="med"/>
                    </a:lnR>
                    <a:lnT w="12700" cap="flat" cmpd="sng" algn="ctr">
                      <a:solidFill>
                        <a:srgbClr val="BABDC1"/>
                      </a:solidFill>
                      <a:prstDash val="solid"/>
                      <a:round/>
                      <a:headEnd type="none" w="med" len="med"/>
                      <a:tailEnd type="none" w="med" len="med"/>
                    </a:lnT>
                    <a:lnB w="12700" cap="flat" cmpd="sng" algn="ctr">
                      <a:solidFill>
                        <a:srgbClr val="B1B5BB"/>
                      </a:solidFill>
                      <a:prstDash val="solid"/>
                      <a:round/>
                      <a:headEnd type="none" w="med" len="med"/>
                      <a:tailEnd type="none" w="med" len="med"/>
                    </a:lnB>
                    <a:solidFill>
                      <a:srgbClr val="DDE3EA"/>
                    </a:solidFill>
                  </a:tcPr>
                </a:tc>
                <a:extLst>
                  <a:ext uri="{0D108BD9-81ED-4DB2-BD59-A6C34878D82A}">
                    <a16:rowId xmlns:a16="http://schemas.microsoft.com/office/drawing/2014/main" val="10002"/>
                  </a:ext>
                </a:extLst>
              </a:tr>
              <a:tr h="372566">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Inventory your vendors</a:t>
                      </a:r>
                      <a:endParaRPr lang="en-US" sz="1350" dirty="0">
                        <a:latin typeface="IBM Plex Sans" charset="0"/>
                        <a:ea typeface="IBM Plex Sans" charset="0"/>
                        <a:cs typeface="IBM Plex Sans" charset="0"/>
                      </a:endParaRPr>
                    </a:p>
                  </a:txBody>
                  <a:tcPr marL="60007" marR="60007" marT="60007" marB="60007">
                    <a:lnL w="12700" cap="flat" cmpd="sng" algn="ctr">
                      <a:solidFill>
                        <a:srgbClr val="BABDC1"/>
                      </a:solidFill>
                      <a:prstDash val="solid"/>
                      <a:round/>
                      <a:headEnd type="none" w="med" len="med"/>
                      <a:tailEnd type="none" w="med" len="med"/>
                    </a:lnL>
                    <a:lnR w="12700" cap="flat" cmpd="sng" algn="ctr">
                      <a:solidFill>
                        <a:srgbClr val="BABDC1"/>
                      </a:solidFill>
                      <a:prstDash val="solid"/>
                      <a:round/>
                      <a:headEnd type="none" w="med" len="med"/>
                      <a:tailEnd type="none" w="med" len="med"/>
                    </a:lnR>
                    <a:lnT w="12700" cap="flat" cmpd="sng" algn="ctr">
                      <a:solidFill>
                        <a:srgbClr val="B1B5BB"/>
                      </a:solidFill>
                      <a:prstDash val="solid"/>
                      <a:round/>
                      <a:headEnd type="none" w="med" len="med"/>
                      <a:tailEnd type="none" w="med" len="med"/>
                    </a:lnT>
                    <a:lnB w="12700" cap="flat" cmpd="sng" algn="ctr">
                      <a:solidFill>
                        <a:srgbClr val="BABDC1"/>
                      </a:solidFill>
                      <a:prstDash val="solid"/>
                      <a:round/>
                      <a:headEnd type="none" w="med" len="med"/>
                      <a:tailEnd type="none" w="med" len="med"/>
                    </a:lnB>
                  </a:tcPr>
                </a:tc>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Know who holds customer data; confirm deletion when contracts end</a:t>
                      </a:r>
                      <a:endParaRPr lang="en-US" sz="1350" dirty="0">
                        <a:latin typeface="IBM Plex Sans" charset="0"/>
                        <a:ea typeface="IBM Plex Sans" charset="0"/>
                        <a:cs typeface="IBM Plex Sans" charset="0"/>
                      </a:endParaRPr>
                    </a:p>
                  </a:txBody>
                  <a:tcPr marL="60007" marR="60007" marT="60007" marB="60007">
                    <a:lnL w="12700" cap="flat" cmpd="sng" algn="ctr">
                      <a:solidFill>
                        <a:srgbClr val="BABDC1"/>
                      </a:solidFill>
                      <a:prstDash val="solid"/>
                      <a:round/>
                      <a:headEnd type="none" w="med" len="med"/>
                      <a:tailEnd type="none" w="med" len="med"/>
                    </a:lnL>
                    <a:lnR w="12700" cap="flat" cmpd="sng" algn="ctr">
                      <a:solidFill>
                        <a:srgbClr val="BABDC1"/>
                      </a:solidFill>
                      <a:prstDash val="solid"/>
                      <a:round/>
                      <a:headEnd type="none" w="med" len="med"/>
                      <a:tailEnd type="none" w="med" len="med"/>
                    </a:lnR>
                    <a:lnT w="12700" cap="flat" cmpd="sng" algn="ctr">
                      <a:solidFill>
                        <a:srgbClr val="B1B5BB"/>
                      </a:solidFill>
                      <a:prstDash val="solid"/>
                      <a:round/>
                      <a:headEnd type="none" w="med" len="med"/>
                      <a:tailEnd type="none" w="med" len="med"/>
                    </a:lnT>
                    <a:lnB w="12700" cap="flat" cmpd="sng" algn="ctr">
                      <a:solidFill>
                        <a:srgbClr val="BABDC1"/>
                      </a:solidFill>
                      <a:prstDash val="solid"/>
                      <a:round/>
                      <a:headEnd type="none" w="med" len="med"/>
                      <a:tailEnd type="none" w="med" len="med"/>
                    </a:lnB>
                  </a:tcPr>
                </a:tc>
                <a:extLst>
                  <a:ext uri="{0D108BD9-81ED-4DB2-BD59-A6C34878D82A}">
                    <a16:rowId xmlns:a16="http://schemas.microsoft.com/office/drawing/2014/main" val="10003"/>
                  </a:ext>
                </a:extLst>
              </a:tr>
              <a:tr h="372566">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Alert on new admin accounts</a:t>
                      </a:r>
                      <a:endParaRPr lang="en-US" sz="1350" dirty="0">
                        <a:latin typeface="IBM Plex Sans" charset="0"/>
                        <a:ea typeface="IBM Plex Sans" charset="0"/>
                        <a:cs typeface="IBM Plex Sans" charset="0"/>
                      </a:endParaRPr>
                    </a:p>
                  </a:txBody>
                  <a:tcPr marL="60007" marR="60007" marT="60007" marB="60007">
                    <a:lnL w="12700" cap="flat" cmpd="sng" algn="ctr">
                      <a:solidFill>
                        <a:srgbClr val="BABDC1"/>
                      </a:solidFill>
                      <a:prstDash val="solid"/>
                      <a:round/>
                      <a:headEnd type="none" w="med" len="med"/>
                      <a:tailEnd type="none" w="med" len="med"/>
                    </a:lnL>
                    <a:lnR w="12700" cap="flat" cmpd="sng" algn="ctr">
                      <a:solidFill>
                        <a:srgbClr val="B1B5BB"/>
                      </a:solidFill>
                      <a:prstDash val="solid"/>
                      <a:round/>
                      <a:headEnd type="none" w="med" len="med"/>
                      <a:tailEnd type="none" w="med" len="med"/>
                    </a:lnR>
                    <a:lnT w="12700" cap="flat" cmpd="sng" algn="ctr">
                      <a:solidFill>
                        <a:srgbClr val="BABDC1"/>
                      </a:solidFill>
                      <a:prstDash val="solid"/>
                      <a:round/>
                      <a:headEnd type="none" w="med" len="med"/>
                      <a:tailEnd type="none" w="med" len="med"/>
                    </a:lnT>
                    <a:lnB w="12700" cap="flat" cmpd="sng" algn="ctr">
                      <a:solidFill>
                        <a:srgbClr val="B1B5BB"/>
                      </a:solidFill>
                      <a:prstDash val="solid"/>
                      <a:round/>
                      <a:headEnd type="none" w="med" len="med"/>
                      <a:tailEnd type="none" w="med" len="med"/>
                    </a:lnB>
                    <a:solidFill>
                      <a:srgbClr val="DDE3EA"/>
                    </a:solidFill>
                  </a:tcPr>
                </a:tc>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Shueisha’s attacker created a high-privilege account via API</a:t>
                      </a:r>
                      <a:endParaRPr lang="en-US" sz="1350" dirty="0">
                        <a:latin typeface="IBM Plex Sans" charset="0"/>
                        <a:ea typeface="IBM Plex Sans" charset="0"/>
                        <a:cs typeface="IBM Plex Sans" charset="0"/>
                      </a:endParaRPr>
                    </a:p>
                  </a:txBody>
                  <a:tcPr marL="60007" marR="60007" marT="60007" marB="60007">
                    <a:lnL w="12700" cap="flat" cmpd="sng" algn="ctr">
                      <a:solidFill>
                        <a:srgbClr val="B1B5BB"/>
                      </a:solidFill>
                      <a:prstDash val="solid"/>
                      <a:round/>
                      <a:headEnd type="none" w="med" len="med"/>
                      <a:tailEnd type="none" w="med" len="med"/>
                    </a:lnL>
                    <a:lnR w="12700" cap="flat" cmpd="sng" algn="ctr">
                      <a:solidFill>
                        <a:srgbClr val="B1B5BB"/>
                      </a:solidFill>
                      <a:prstDash val="solid"/>
                      <a:round/>
                      <a:headEnd type="none" w="med" len="med"/>
                      <a:tailEnd type="none" w="med" len="med"/>
                    </a:lnR>
                    <a:lnT w="12700" cap="flat" cmpd="sng" algn="ctr">
                      <a:solidFill>
                        <a:srgbClr val="BABDC1"/>
                      </a:solidFill>
                      <a:prstDash val="solid"/>
                      <a:round/>
                      <a:headEnd type="none" w="med" len="med"/>
                      <a:tailEnd type="none" w="med" len="med"/>
                    </a:lnT>
                    <a:lnB w="12700" cap="flat" cmpd="sng" algn="ctr">
                      <a:solidFill>
                        <a:srgbClr val="B1B5BB"/>
                      </a:solidFill>
                      <a:prstDash val="solid"/>
                      <a:round/>
                      <a:headEnd type="none" w="med" len="med"/>
                      <a:tailEnd type="none" w="med" len="med"/>
                    </a:lnB>
                    <a:solidFill>
                      <a:srgbClr val="DDE3EA"/>
                    </a:solidFill>
                  </a:tcPr>
                </a:tc>
                <a:extLst>
                  <a:ext uri="{0D108BD9-81ED-4DB2-BD59-A6C34878D82A}">
                    <a16:rowId xmlns:a16="http://schemas.microsoft.com/office/drawing/2014/main" val="10004"/>
                  </a:ext>
                </a:extLst>
              </a:tr>
              <a:tr h="372566">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Review sign-ins daily</a:t>
                      </a:r>
                      <a:endParaRPr lang="en-US" sz="1350" dirty="0">
                        <a:latin typeface="IBM Plex Sans" charset="0"/>
                        <a:ea typeface="IBM Plex Sans" charset="0"/>
                        <a:cs typeface="IBM Plex Sans" charset="0"/>
                      </a:endParaRPr>
                    </a:p>
                  </a:txBody>
                  <a:tcPr marL="60007" marR="60007" marT="60007" marB="60007">
                    <a:lnL w="12700" cap="flat" cmpd="sng" algn="ctr">
                      <a:solidFill>
                        <a:srgbClr val="BABDC1"/>
                      </a:solidFill>
                      <a:prstDash val="solid"/>
                      <a:round/>
                      <a:headEnd type="none" w="med" len="med"/>
                      <a:tailEnd type="none" w="med" len="med"/>
                    </a:lnL>
                    <a:lnR w="12700" cap="flat" cmpd="sng" algn="ctr">
                      <a:solidFill>
                        <a:srgbClr val="BABDC1"/>
                      </a:solidFill>
                      <a:prstDash val="solid"/>
                      <a:round/>
                      <a:headEnd type="none" w="med" len="med"/>
                      <a:tailEnd type="none" w="med" len="med"/>
                    </a:lnR>
                    <a:lnT w="12700" cap="flat" cmpd="sng" algn="ctr">
                      <a:solidFill>
                        <a:srgbClr val="B1B5BB"/>
                      </a:solidFill>
                      <a:prstDash val="solid"/>
                      <a:round/>
                      <a:headEnd type="none" w="med" len="med"/>
                      <a:tailEnd type="none" w="med" len="med"/>
                    </a:lnT>
                    <a:lnB w="12700" cap="flat" cmpd="sng" algn="ctr">
                      <a:solidFill>
                        <a:srgbClr val="BABDC1"/>
                      </a:solidFill>
                      <a:prstDash val="solid"/>
                      <a:round/>
                      <a:headEnd type="none" w="med" len="med"/>
                      <a:tailEnd type="none" w="med" len="med"/>
                    </a:lnB>
                  </a:tcPr>
                </a:tc>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Outsiders spotted most breaches before the victims did</a:t>
                      </a:r>
                      <a:endParaRPr lang="en-US" sz="1350" dirty="0">
                        <a:latin typeface="IBM Plex Sans" charset="0"/>
                        <a:ea typeface="IBM Plex Sans" charset="0"/>
                        <a:cs typeface="IBM Plex Sans" charset="0"/>
                      </a:endParaRPr>
                    </a:p>
                  </a:txBody>
                  <a:tcPr marL="60007" marR="60007" marT="60007" marB="60007">
                    <a:lnL w="12700" cap="flat" cmpd="sng" algn="ctr">
                      <a:solidFill>
                        <a:srgbClr val="BABDC1"/>
                      </a:solidFill>
                      <a:prstDash val="solid"/>
                      <a:round/>
                      <a:headEnd type="none" w="med" len="med"/>
                      <a:tailEnd type="none" w="med" len="med"/>
                    </a:lnL>
                    <a:lnR w="12700" cap="flat" cmpd="sng" algn="ctr">
                      <a:solidFill>
                        <a:srgbClr val="BABDC1"/>
                      </a:solidFill>
                      <a:prstDash val="solid"/>
                      <a:round/>
                      <a:headEnd type="none" w="med" len="med"/>
                      <a:tailEnd type="none" w="med" len="med"/>
                    </a:lnR>
                    <a:lnT w="12700" cap="flat" cmpd="sng" algn="ctr">
                      <a:solidFill>
                        <a:srgbClr val="B1B5BB"/>
                      </a:solidFill>
                      <a:prstDash val="solid"/>
                      <a:round/>
                      <a:headEnd type="none" w="med" len="med"/>
                      <a:tailEnd type="none" w="med" len="med"/>
                    </a:lnT>
                    <a:lnB w="12700" cap="flat" cmpd="sng" algn="ctr">
                      <a:solidFill>
                        <a:srgbClr val="BABDC1"/>
                      </a:solidFill>
                      <a:prstDash val="solid"/>
                      <a:round/>
                      <a:headEnd type="none" w="med" len="med"/>
                      <a:tailEnd type="none" w="med" len="med"/>
                    </a:lnB>
                  </a:tcPr>
                </a:tc>
                <a:extLst>
                  <a:ext uri="{0D108BD9-81ED-4DB2-BD59-A6C34878D82A}">
                    <a16:rowId xmlns:a16="http://schemas.microsoft.com/office/drawing/2014/main" val="10005"/>
                  </a:ext>
                </a:extLst>
              </a:tr>
              <a:tr h="372566">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Patch fast; watch JVN alerts</a:t>
                      </a:r>
                      <a:endParaRPr lang="en-US" sz="1350" dirty="0">
                        <a:latin typeface="IBM Plex Sans" charset="0"/>
                        <a:ea typeface="IBM Plex Sans" charset="0"/>
                        <a:cs typeface="IBM Plex Sans" charset="0"/>
                      </a:endParaRPr>
                    </a:p>
                  </a:txBody>
                  <a:tcPr marL="60007" marR="60007" marT="60007" marB="60007">
                    <a:lnL w="12700" cap="flat" cmpd="sng" algn="ctr">
                      <a:solidFill>
                        <a:srgbClr val="BABDC1"/>
                      </a:solidFill>
                      <a:prstDash val="solid"/>
                      <a:round/>
                      <a:headEnd type="none" w="med" len="med"/>
                      <a:tailEnd type="none" w="med" len="med"/>
                    </a:lnL>
                    <a:lnR w="12700" cap="flat" cmpd="sng" algn="ctr">
                      <a:solidFill>
                        <a:srgbClr val="B1B5BB"/>
                      </a:solidFill>
                      <a:prstDash val="solid"/>
                      <a:round/>
                      <a:headEnd type="none" w="med" len="med"/>
                      <a:tailEnd type="none" w="med" len="med"/>
                    </a:lnR>
                    <a:lnT w="12700" cap="flat" cmpd="sng" algn="ctr">
                      <a:solidFill>
                        <a:srgbClr val="BABDC1"/>
                      </a:solidFill>
                      <a:prstDash val="solid"/>
                      <a:round/>
                      <a:headEnd type="none" w="med" len="med"/>
                      <a:tailEnd type="none" w="med" len="med"/>
                    </a:lnT>
                    <a:lnB w="12700" cap="flat" cmpd="sng" algn="ctr">
                      <a:solidFill>
                        <a:srgbClr val="B1B5BB"/>
                      </a:solidFill>
                      <a:prstDash val="solid"/>
                      <a:round/>
                      <a:headEnd type="none" w="med" len="med"/>
                      <a:tailEnd type="none" w="med" len="med"/>
                    </a:lnB>
                    <a:solidFill>
                      <a:srgbClr val="DDE3EA"/>
                    </a:solidFill>
                  </a:tcPr>
                </a:tc>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PHP2Shell was exploited before a fix existed</a:t>
                      </a:r>
                      <a:endParaRPr lang="en-US" sz="1350" dirty="0">
                        <a:latin typeface="IBM Plex Sans" charset="0"/>
                        <a:ea typeface="IBM Plex Sans" charset="0"/>
                        <a:cs typeface="IBM Plex Sans" charset="0"/>
                      </a:endParaRPr>
                    </a:p>
                  </a:txBody>
                  <a:tcPr marL="60007" marR="60007" marT="60007" marB="60007">
                    <a:lnL w="12700" cap="flat" cmpd="sng" algn="ctr">
                      <a:solidFill>
                        <a:srgbClr val="B1B5BB"/>
                      </a:solidFill>
                      <a:prstDash val="solid"/>
                      <a:round/>
                      <a:headEnd type="none" w="med" len="med"/>
                      <a:tailEnd type="none" w="med" len="med"/>
                    </a:lnL>
                    <a:lnR w="12700" cap="flat" cmpd="sng" algn="ctr">
                      <a:solidFill>
                        <a:srgbClr val="B1B5BB"/>
                      </a:solidFill>
                      <a:prstDash val="solid"/>
                      <a:round/>
                      <a:headEnd type="none" w="med" len="med"/>
                      <a:tailEnd type="none" w="med" len="med"/>
                    </a:lnR>
                    <a:lnT w="12700" cap="flat" cmpd="sng" algn="ctr">
                      <a:solidFill>
                        <a:srgbClr val="BABDC1"/>
                      </a:solidFill>
                      <a:prstDash val="solid"/>
                      <a:round/>
                      <a:headEnd type="none" w="med" len="med"/>
                      <a:tailEnd type="none" w="med" len="med"/>
                    </a:lnT>
                    <a:lnB w="12700" cap="flat" cmpd="sng" algn="ctr">
                      <a:solidFill>
                        <a:srgbClr val="B1B5BB"/>
                      </a:solidFill>
                      <a:prstDash val="solid"/>
                      <a:round/>
                      <a:headEnd type="none" w="med" len="med"/>
                      <a:tailEnd type="none" w="med" len="med"/>
                    </a:lnB>
                    <a:solidFill>
                      <a:srgbClr val="DDE3EA"/>
                    </a:solidFill>
                  </a:tcPr>
                </a:tc>
                <a:extLst>
                  <a:ext uri="{0D108BD9-81ED-4DB2-BD59-A6C34878D82A}">
                    <a16:rowId xmlns:a16="http://schemas.microsoft.com/office/drawing/2014/main" val="10006"/>
                  </a:ext>
                </a:extLst>
              </a:tr>
              <a:tr h="372566">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Write a response contact list</a:t>
                      </a:r>
                      <a:endParaRPr lang="en-US" sz="1350" dirty="0">
                        <a:latin typeface="IBM Plex Sans" charset="0"/>
                        <a:ea typeface="IBM Plex Sans" charset="0"/>
                        <a:cs typeface="IBM Plex Sans" charset="0"/>
                      </a:endParaRPr>
                    </a:p>
                  </a:txBody>
                  <a:tcPr marL="60007" marR="60007" marT="60007" marB="60007">
                    <a:lnL w="12700" cap="flat" cmpd="sng" algn="ctr">
                      <a:solidFill>
                        <a:srgbClr val="BABDC1"/>
                      </a:solidFill>
                      <a:prstDash val="solid"/>
                      <a:round/>
                      <a:headEnd type="none" w="med" len="med"/>
                      <a:tailEnd type="none" w="med" len="med"/>
                    </a:lnL>
                    <a:lnR w="12700" cap="flat" cmpd="sng" algn="ctr">
                      <a:solidFill>
                        <a:srgbClr val="BABDC1"/>
                      </a:solidFill>
                      <a:prstDash val="solid"/>
                      <a:round/>
                      <a:headEnd type="none" w="med" len="med"/>
                      <a:tailEnd type="none" w="med" len="med"/>
                    </a:lnR>
                    <a:lnT w="12700" cap="flat" cmpd="sng" algn="ctr">
                      <a:solidFill>
                        <a:srgbClr val="B1B5BB"/>
                      </a:solidFill>
                      <a:prstDash val="solid"/>
                      <a:round/>
                      <a:headEnd type="none" w="med" len="med"/>
                      <a:tailEnd type="none" w="med" len="med"/>
                    </a:lnT>
                    <a:lnB w="12700" cap="flat" cmpd="sng" algn="ctr">
                      <a:solidFill>
                        <a:srgbClr val="BABDC1"/>
                      </a:solidFill>
                      <a:prstDash val="solid"/>
                      <a:round/>
                      <a:headEnd type="none" w="med" len="med"/>
                      <a:tailEnd type="none" w="med" len="med"/>
                    </a:lnB>
                  </a:tcPr>
                </a:tc>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IT, cloud, forensics, police and PPC — decided in advance</a:t>
                      </a:r>
                      <a:endParaRPr lang="en-US" sz="1350" dirty="0">
                        <a:latin typeface="IBM Plex Sans" charset="0"/>
                        <a:ea typeface="IBM Plex Sans" charset="0"/>
                        <a:cs typeface="IBM Plex Sans" charset="0"/>
                      </a:endParaRPr>
                    </a:p>
                  </a:txBody>
                  <a:tcPr marL="60007" marR="60007" marT="60007" marB="60007">
                    <a:lnL w="12700" cap="flat" cmpd="sng" algn="ctr">
                      <a:solidFill>
                        <a:srgbClr val="BABDC1"/>
                      </a:solidFill>
                      <a:prstDash val="solid"/>
                      <a:round/>
                      <a:headEnd type="none" w="med" len="med"/>
                      <a:tailEnd type="none" w="med" len="med"/>
                    </a:lnL>
                    <a:lnR w="12700" cap="flat" cmpd="sng" algn="ctr">
                      <a:solidFill>
                        <a:srgbClr val="BABDC1"/>
                      </a:solidFill>
                      <a:prstDash val="solid"/>
                      <a:round/>
                      <a:headEnd type="none" w="med" len="med"/>
                      <a:tailEnd type="none" w="med" len="med"/>
                    </a:lnR>
                    <a:lnT w="12700" cap="flat" cmpd="sng" algn="ctr">
                      <a:solidFill>
                        <a:srgbClr val="B1B5BB"/>
                      </a:solidFill>
                      <a:prstDash val="solid"/>
                      <a:round/>
                      <a:headEnd type="none" w="med" len="med"/>
                      <a:tailEnd type="none" w="med" len="med"/>
                    </a:lnT>
                    <a:lnB w="12700" cap="flat" cmpd="sng" algn="ctr">
                      <a:solidFill>
                        <a:srgbClr val="BABDC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Sources: CS2 checklist (citing National Police Agency data); JPCERT/CC; JVN</a:t>
            </a:r>
            <a:endParaRPr lang="en-US" sz="1200" dirty="0"/>
          </a:p>
        </p:txBody>
      </p:sp>
      <p:pic>
        <p:nvPicPr>
          <p:cNvPr id="6" name="Picture 5" descr="ZT_logo(3).png">
            <a:extLst>
              <a:ext uri="{FF2B5EF4-FFF2-40B4-BE49-F238E27FC236}">
                <a16:creationId xmlns:a16="http://schemas.microsoft.com/office/drawing/2014/main" id="{5C91F554-C644-1DEE-1C0A-78B97E5FD14A}"/>
              </a:ext>
            </a:extLst>
          </p:cNvPr>
          <p:cNvPicPr>
            <a:picLocks noChangeAspect="1"/>
          </p:cNvPicPr>
          <p:nvPr/>
        </p:nvPicPr>
        <p:blipFill>
          <a:blip r:embed="rId3"/>
          <a:stretch>
            <a:fillRect/>
          </a:stretch>
        </p:blipFill>
        <p:spPr>
          <a:xfrm>
            <a:off x="10927080" y="256032"/>
            <a:ext cx="713232" cy="7132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B23A26"/>
        </a:solidFill>
        <a:effectLst/>
      </p:bgPr>
    </p:bg>
    <p:spTree>
      <p:nvGrpSpPr>
        <p:cNvPr id="1" name=""/>
        <p:cNvGrpSpPr/>
        <p:nvPr/>
      </p:nvGrpSpPr>
      <p:grpSpPr>
        <a:xfrm>
          <a:off x="0" y="0"/>
          <a:ext cx="0" cy="0"/>
          <a:chOff x="0" y="0"/>
          <a:chExt cx="0" cy="0"/>
        </a:xfrm>
      </p:grpSpPr>
      <p:sp>
        <p:nvSpPr>
          <p:cNvPr id="2" name="Text 0"/>
          <p:cNvSpPr/>
          <p:nvPr/>
        </p:nvSpPr>
        <p:spPr>
          <a:xfrm>
            <a:off x="812800" y="175775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50" dirty="0">
                <a:solidFill>
                  <a:srgbClr val="F7D9CF"/>
                </a:solidFill>
                <a:latin typeface="IBM Plex Mono" pitchFamily="49" charset="0"/>
                <a:ea typeface="IBM Plex Mono" pitchFamily="49" charset="-122"/>
                <a:cs typeface="IBM Plex Mono" pitchFamily="49" charset="-120"/>
              </a:rPr>
              <a:t>TAKEAWAY</a:t>
            </a:r>
            <a:endParaRPr lang="en-US" sz="1400" dirty="0"/>
          </a:p>
        </p:txBody>
      </p:sp>
      <p:sp>
        <p:nvSpPr>
          <p:cNvPr id="3" name="Text 1"/>
          <p:cNvSpPr>
            <a:spLocks noGrp="1"/>
          </p:cNvSpPr>
          <p:nvPr>
            <p:ph type="title"/>
          </p:nvPr>
        </p:nvSpPr>
        <p:spPr>
          <a:xfrm>
            <a:off x="812800" y="2311400"/>
            <a:ext cx="10203180" cy="1869380"/>
          </a:xfrm>
          <a:prstGeom prst="rect">
            <a:avLst/>
          </a:prstGeom>
          <a:noFill/>
          <a:ln/>
        </p:spPr>
        <p:txBody>
          <a:bodyPr wrap="square" lIns="0" tIns="0" rIns="0" bIns="0" rtlCol="0" anchor="t">
            <a:normAutofit/>
          </a:bodyPr>
          <a:lstStyle/>
          <a:p>
            <a:pPr marL="0" indent="0" algn="l">
              <a:lnSpc>
                <a:spcPts val="4840"/>
              </a:lnSpc>
              <a:buNone/>
            </a:pPr>
            <a:r>
              <a:rPr lang="en-US" sz="4400" b="1" i="0" dirty="0">
                <a:solidFill>
                  <a:srgbClr val="F7EFE9"/>
                </a:solidFill>
                <a:latin typeface="IBM Plex Sans" pitchFamily="34" charset="0"/>
                <a:ea typeface="IBM Plex Sans" pitchFamily="34" charset="-122"/>
                <a:cs typeface="IBM Plex Sans" pitchFamily="34" charset="-120"/>
              </a:rPr>
              <a:t>None of these entry points were new. AI is changing the speed, not the method.</a:t>
            </a:r>
            <a:endParaRPr lang="en-US" sz="4400" dirty="0"/>
          </a:p>
        </p:txBody>
      </p:sp>
      <p:sp>
        <p:nvSpPr>
          <p:cNvPr id="4" name="Text 2"/>
          <p:cNvSpPr/>
          <p:nvPr/>
        </p:nvSpPr>
        <p:spPr>
          <a:xfrm>
            <a:off x="812800" y="4460180"/>
            <a:ext cx="9156700" cy="665361"/>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F7D9CF"/>
                </a:solidFill>
                <a:latin typeface="IBM Plex Sans" pitchFamily="34" charset="0"/>
                <a:ea typeface="IBM Plex Sans" pitchFamily="34" charset="-122"/>
                <a:cs typeface="IBM Plex Sans" pitchFamily="34" charset="-120"/>
              </a:rPr>
              <a:t>The basics — patching, MFA, isolated backups, vendor control and daily monitoring — still stop most of this wave.</a:t>
            </a:r>
            <a:endParaRPr lang="en-US" sz="1800" dirty="0"/>
          </a:p>
        </p:txBody>
      </p:sp>
      <p:pic>
        <p:nvPicPr>
          <p:cNvPr id="5" name="Picture 4" descr="ZT_logo(3).png">
            <a:extLst>
              <a:ext uri="{FF2B5EF4-FFF2-40B4-BE49-F238E27FC236}">
                <a16:creationId xmlns:a16="http://schemas.microsoft.com/office/drawing/2014/main" id="{68C679D7-3366-FFFE-BD94-2055198039D2}"/>
              </a:ext>
            </a:extLst>
          </p:cNvPr>
          <p:cNvPicPr>
            <a:picLocks noChangeAspect="1"/>
          </p:cNvPicPr>
          <p:nvPr/>
        </p:nvPicPr>
        <p:blipFill>
          <a:blip r:embed="rId3"/>
          <a:stretch>
            <a:fillRect/>
          </a:stretch>
        </p:blipFill>
        <p:spPr>
          <a:xfrm>
            <a:off x="10927080" y="256032"/>
            <a:ext cx="713232" cy="71323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2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23A26"/>
                </a:solidFill>
                <a:latin typeface="IBM Plex Mono" pitchFamily="49" charset="0"/>
                <a:ea typeface="IBM Plex Mono" pitchFamily="49" charset="-122"/>
                <a:cs typeface="IBM Plex Mono" pitchFamily="49" charset="-120"/>
              </a:rPr>
              <a:t>REFERENCES · 1 OF 3</a:t>
            </a:r>
            <a:endParaRPr lang="en-US" sz="1200" dirty="0"/>
          </a:p>
        </p:txBody>
      </p:sp>
      <p:sp>
        <p:nvSpPr>
          <p:cNvPr id="3" name="Text 1"/>
          <p:cNvSpPr>
            <a:spLocks noGrp="1"/>
          </p:cNvSpPr>
          <p:nvPr>
            <p:ph type="title"/>
          </p:nvPr>
        </p:nvSpPr>
        <p:spPr>
          <a:xfrm>
            <a:off x="812800" y="11785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Official advisories and analysis</a:t>
            </a:r>
            <a:endParaRPr lang="en-US" sz="3200" dirty="0"/>
          </a:p>
        </p:txBody>
      </p:sp>
      <p:sp>
        <p:nvSpPr>
          <p:cNvPr id="4" name="Text 2"/>
          <p:cNvSpPr/>
          <p:nvPr/>
        </p:nvSpPr>
        <p:spPr>
          <a:xfrm>
            <a:off x="812800" y="1777901"/>
            <a:ext cx="1088339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F5F99"/>
                </a:solidFill>
                <a:latin typeface="IBM Plex Sans" pitchFamily="34" charset="0"/>
                <a:ea typeface="IBM Plex Sans" pitchFamily="34" charset="-122"/>
                <a:cs typeface="IBM Plex Sans" pitchFamily="34" charset="-120"/>
              </a:rPr>
              <a:t>Official advisories</a:t>
            </a:r>
            <a:endParaRPr lang="en-US" sz="1500" dirty="0"/>
          </a:p>
        </p:txBody>
      </p:sp>
      <p:sp>
        <p:nvSpPr>
          <p:cNvPr id="5" name="Text 3"/>
          <p:cNvSpPr/>
          <p:nvPr/>
        </p:nvSpPr>
        <p:spPr>
          <a:xfrm>
            <a:off x="812800" y="2082701"/>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JPCERT/CC alert JPCERT-AT-2026-0033 (PHP vulnerabilities)</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3">
                  <a:extLst>
                    <a:ext uri="{A12FA001-AC4F-418D-AE19-62706E023703}">
                      <ahyp:hlinkClr xmlns:ahyp="http://schemas.microsoft.com/office/drawing/2018/hyperlinkcolor" val="tx"/>
                    </a:ext>
                  </a:extLst>
                </a:hlinkClick>
              </a:rPr>
              <a:t>https://www.jpcert.or.jp/at/2026/at260033.html</a:t>
            </a:r>
            <a:endParaRPr lang="en-US" sz="1200" dirty="0"/>
          </a:p>
        </p:txBody>
      </p:sp>
      <p:sp>
        <p:nvSpPr>
          <p:cNvPr id="6" name="Text 4"/>
          <p:cNvSpPr/>
          <p:nvPr/>
        </p:nvSpPr>
        <p:spPr>
          <a:xfrm>
            <a:off x="812800" y="2554982"/>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IPA security alert on PHP2Shell (22 Oct 2026)</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4">
                  <a:extLst>
                    <a:ext uri="{A12FA001-AC4F-418D-AE19-62706E023703}">
                      <ahyp:hlinkClr xmlns:ahyp="http://schemas.microsoft.com/office/drawing/2018/hyperlinkcolor" val="tx"/>
                    </a:ext>
                  </a:extLst>
                </a:hlinkClick>
              </a:rPr>
              <a:t>https://www.ipa.go.jp/security/security-alert/2026/alert20261022.html</a:t>
            </a:r>
            <a:endParaRPr lang="en-US" sz="1200" dirty="0"/>
          </a:p>
        </p:txBody>
      </p:sp>
      <p:sp>
        <p:nvSpPr>
          <p:cNvPr id="7" name="Text 5"/>
          <p:cNvSpPr/>
          <p:nvPr/>
        </p:nvSpPr>
        <p:spPr>
          <a:xfrm>
            <a:off x="812800" y="3027263"/>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Japan Vulnerability Notes (JVNVU#99905564)</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5">
                  <a:extLst>
                    <a:ext uri="{A12FA001-AC4F-418D-AE19-62706E023703}">
                      <ahyp:hlinkClr xmlns:ahyp="http://schemas.microsoft.com/office/drawing/2018/hyperlinkcolor" val="tx"/>
                    </a:ext>
                  </a:extLst>
                </a:hlinkClick>
              </a:rPr>
              <a:t>https://jvn.jp/</a:t>
            </a:r>
            <a:endParaRPr lang="en-US" sz="1200" dirty="0"/>
          </a:p>
        </p:txBody>
      </p:sp>
      <p:sp>
        <p:nvSpPr>
          <p:cNvPr id="8" name="Text 6"/>
          <p:cNvSpPr/>
          <p:nvPr/>
        </p:nvSpPr>
        <p:spPr>
          <a:xfrm>
            <a:off x="812800" y="3499545"/>
            <a:ext cx="1088339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F5F99"/>
                </a:solidFill>
                <a:latin typeface="IBM Plex Sans" pitchFamily="34" charset="0"/>
                <a:ea typeface="IBM Plex Sans" pitchFamily="34" charset="-122"/>
                <a:cs typeface="IBM Plex Sans" pitchFamily="34" charset="-120"/>
              </a:rPr>
              <a:t>Analysis</a:t>
            </a:r>
            <a:endParaRPr lang="en-US" sz="1500" dirty="0"/>
          </a:p>
        </p:txBody>
      </p:sp>
      <p:sp>
        <p:nvSpPr>
          <p:cNvPr id="9" name="Text 7"/>
          <p:cNvSpPr/>
          <p:nvPr/>
        </p:nvSpPr>
        <p:spPr>
          <a:xfrm>
            <a:off x="812800" y="3804345"/>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CS2: Japan’s October 2026 breach wave</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6">
                  <a:extLst>
                    <a:ext uri="{A12FA001-AC4F-418D-AE19-62706E023703}">
                      <ahyp:hlinkClr xmlns:ahyp="http://schemas.microsoft.com/office/drawing/2018/hyperlinkcolor" val="tx"/>
                    </a:ext>
                  </a:extLst>
                </a:hlinkClick>
              </a:rPr>
              <a:t>https://www.cybers2.com/blog/japan-breach-wave-october-2026.html</a:t>
            </a:r>
            <a:endParaRPr lang="en-US" sz="1200" dirty="0"/>
          </a:p>
        </p:txBody>
      </p:sp>
      <p:sp>
        <p:nvSpPr>
          <p:cNvPr id="10" name="Text 8"/>
          <p:cNvSpPr/>
          <p:nvPr/>
        </p:nvSpPr>
        <p:spPr>
          <a:xfrm>
            <a:off x="812800" y="4276626"/>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UV Cyber: Japan’s cyber emergency and its ripple effects</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7">
                  <a:extLst>
                    <a:ext uri="{A12FA001-AC4F-418D-AE19-62706E023703}">
                      <ahyp:hlinkClr xmlns:ahyp="http://schemas.microsoft.com/office/drawing/2018/hyperlinkcolor" val="tx"/>
                    </a:ext>
                  </a:extLst>
                </a:hlinkClick>
              </a:rPr>
              <a:t>https://www.uvcyber.com/resources/threat-advisories/threat-advisory-japans-cyber-emergency-and-its-ripple-effects</a:t>
            </a:r>
            <a:endParaRPr lang="en-US" sz="1200" dirty="0"/>
          </a:p>
        </p:txBody>
      </p:sp>
      <p:sp>
        <p:nvSpPr>
          <p:cNvPr id="11" name="Text 9"/>
          <p:cNvSpPr/>
          <p:nvPr/>
        </p:nvSpPr>
        <p:spPr>
          <a:xfrm>
            <a:off x="812800" y="4748907"/>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Malware News / SOCRadar: Inside the October surge</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8">
                  <a:extLst>
                    <a:ext uri="{A12FA001-AC4F-418D-AE19-62706E023703}">
                      <ahyp:hlinkClr xmlns:ahyp="http://schemas.microsoft.com/office/drawing/2018/hyperlinkcolor" val="tx"/>
                    </a:ext>
                  </a:extLst>
                </a:hlinkClick>
              </a:rPr>
              <a:t>https://malware.news/t/japan-data-breaches-2026-inside-the-october-surge/126558</a:t>
            </a:r>
            <a:endParaRPr lang="en-US" sz="1200" dirty="0"/>
          </a:p>
        </p:txBody>
      </p:sp>
      <p:sp>
        <p:nvSpPr>
          <p:cNvPr id="12" name="Text 10"/>
          <p:cNvSpPr/>
          <p:nvPr/>
        </p:nvSpPr>
        <p:spPr>
          <a:xfrm>
            <a:off x="812800" y="5221188"/>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SOCRadar: PHP2Shell explained</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9">
                  <a:extLst>
                    <a:ext uri="{A12FA001-AC4F-418D-AE19-62706E023703}">
                      <ahyp:hlinkClr xmlns:ahyp="http://schemas.microsoft.com/office/drawing/2018/hyperlinkcolor" val="tx"/>
                    </a:ext>
                  </a:extLst>
                </a:hlinkClick>
              </a:rPr>
              <a:t>https://socradar.io/blog/php2shell-cve-2026-109618-cve-2026-109619/</a:t>
            </a:r>
            <a:endParaRPr lang="en-US" sz="1200" dirty="0"/>
          </a:p>
        </p:txBody>
      </p:sp>
      <p:pic>
        <p:nvPicPr>
          <p:cNvPr id="13" name="Picture 12" descr="ZT_logo(3).png">
            <a:extLst>
              <a:ext uri="{FF2B5EF4-FFF2-40B4-BE49-F238E27FC236}">
                <a16:creationId xmlns:a16="http://schemas.microsoft.com/office/drawing/2014/main" id="{87326129-FB82-D8CB-982D-7A4037CCFD28}"/>
              </a:ext>
            </a:extLst>
          </p:cNvPr>
          <p:cNvPicPr>
            <a:picLocks noChangeAspect="1"/>
          </p:cNvPicPr>
          <p:nvPr/>
        </p:nvPicPr>
        <p:blipFill>
          <a:blip r:embed="rId10"/>
          <a:stretch>
            <a:fillRect/>
          </a:stretch>
        </p:blipFill>
        <p:spPr>
          <a:xfrm>
            <a:off x="10927080" y="256032"/>
            <a:ext cx="713232" cy="71323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2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23A26"/>
                </a:solidFill>
                <a:latin typeface="IBM Plex Mono" pitchFamily="49" charset="0"/>
                <a:ea typeface="IBM Plex Mono" pitchFamily="49" charset="-122"/>
                <a:cs typeface="IBM Plex Mono" pitchFamily="49" charset="-120"/>
              </a:rPr>
              <a:t>REFERENCES · 2 OF 3</a:t>
            </a:r>
            <a:endParaRPr lang="en-US" sz="1200" dirty="0"/>
          </a:p>
        </p:txBody>
      </p:sp>
      <p:sp>
        <p:nvSpPr>
          <p:cNvPr id="3" name="Text 1"/>
          <p:cNvSpPr>
            <a:spLocks noGrp="1"/>
          </p:cNvSpPr>
          <p:nvPr>
            <p:ph type="title"/>
          </p:nvPr>
        </p:nvSpPr>
        <p:spPr>
          <a:xfrm>
            <a:off x="812800" y="11785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News: the GMO Internet Group attack</a:t>
            </a:r>
            <a:endParaRPr lang="en-US" sz="3200" dirty="0"/>
          </a:p>
        </p:txBody>
      </p:sp>
      <p:sp>
        <p:nvSpPr>
          <p:cNvPr id="4" name="Text 2"/>
          <p:cNvSpPr/>
          <p:nvPr/>
        </p:nvSpPr>
        <p:spPr>
          <a:xfrm>
            <a:off x="812800" y="1777901"/>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Bloomberg: Trading platform rocked by Japan hack, $50 million ransom (26 Oct)</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3">
                  <a:extLst>
                    <a:ext uri="{A12FA001-AC4F-418D-AE19-62706E023703}">
                      <ahyp:hlinkClr xmlns:ahyp="http://schemas.microsoft.com/office/drawing/2018/hyperlinkcolor" val="tx"/>
                    </a:ext>
                  </a:extLst>
                </a:hlinkClick>
              </a:rPr>
              <a:t>https://www.bloomberg.com/news/articles/2026-10-26/japan-s-katayama-vows-to-address-cyber-attack-on-fx-with-urgency</a:t>
            </a:r>
            <a:endParaRPr lang="en-US" sz="1200" dirty="0"/>
          </a:p>
        </p:txBody>
      </p:sp>
      <p:sp>
        <p:nvSpPr>
          <p:cNvPr id="5" name="Text 3"/>
          <p:cNvSpPr/>
          <p:nvPr/>
        </p:nvSpPr>
        <p:spPr>
          <a:xfrm>
            <a:off x="812800" y="2275582"/>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News On Japan: GMO refuses to pay $50 million cyberattack ransom</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4">
                  <a:extLst>
                    <a:ext uri="{A12FA001-AC4F-418D-AE19-62706E023703}">
                      <ahyp:hlinkClr xmlns:ahyp="http://schemas.microsoft.com/office/drawing/2018/hyperlinkcolor" val="tx"/>
                    </a:ext>
                  </a:extLst>
                </a:hlinkClick>
              </a:rPr>
              <a:t>https://newsonjapan.com/article/151147.php</a:t>
            </a:r>
            <a:endParaRPr lang="en-US" sz="1200" dirty="0"/>
          </a:p>
        </p:txBody>
      </p:sp>
      <p:sp>
        <p:nvSpPr>
          <p:cNvPr id="6" name="Text 4"/>
          <p:cNvSpPr/>
          <p:nvPr/>
        </p:nvSpPr>
        <p:spPr>
          <a:xfrm>
            <a:off x="812800" y="2773263"/>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BigGo Finance: GMO refuses $50 million ransom, will repay FX losses</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5">
                  <a:extLst>
                    <a:ext uri="{A12FA001-AC4F-418D-AE19-62706E023703}">
                      <ahyp:hlinkClr xmlns:ahyp="http://schemas.microsoft.com/office/drawing/2018/hyperlinkcolor" val="tx"/>
                    </a:ext>
                  </a:extLst>
                </a:hlinkClick>
              </a:rPr>
              <a:t>https://finance.biggo.com/news/b79624a0-b5ec-4c7d-bc8b-9dcb4f00ed22</a:t>
            </a:r>
            <a:endParaRPr lang="en-US" sz="1200" dirty="0"/>
          </a:p>
        </p:txBody>
      </p:sp>
      <p:sp>
        <p:nvSpPr>
          <p:cNvPr id="7" name="Text 5"/>
          <p:cNvSpPr/>
          <p:nvPr/>
        </p:nvSpPr>
        <p:spPr>
          <a:xfrm>
            <a:off x="812800" y="3270945"/>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CoinCentral: GMO warns users to unplug computers</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6">
                  <a:extLst>
                    <a:ext uri="{A12FA001-AC4F-418D-AE19-62706E023703}">
                      <ahyp:hlinkClr xmlns:ahyp="http://schemas.microsoft.com/office/drawing/2018/hyperlinkcolor" val="tx"/>
                    </a:ext>
                  </a:extLst>
                </a:hlinkClick>
              </a:rPr>
              <a:t>https://coincentral.com/gmo-internet-group-warns-users-to-unplug-computers-as-hackers-threaten-ransomware-attack</a:t>
            </a:r>
            <a:endParaRPr lang="en-US" sz="1200" dirty="0"/>
          </a:p>
        </p:txBody>
      </p:sp>
      <p:sp>
        <p:nvSpPr>
          <p:cNvPr id="8" name="Text 6"/>
          <p:cNvSpPr/>
          <p:nvPr/>
        </p:nvSpPr>
        <p:spPr>
          <a:xfrm>
            <a:off x="812800" y="3768626"/>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TokyoReporter: GMO refuses ransom demand after cyberattack</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7">
                  <a:extLst>
                    <a:ext uri="{A12FA001-AC4F-418D-AE19-62706E023703}">
                      <ahyp:hlinkClr xmlns:ahyp="http://schemas.microsoft.com/office/drawing/2018/hyperlinkcolor" val="tx"/>
                    </a:ext>
                  </a:extLst>
                </a:hlinkClick>
              </a:rPr>
              <a:t>https://www.tokyoreporter.com/japan-news/tech-giant-gmo-refuses-1m-ransom-demand-from-hacker-syndicate-after-massive-cyberattack/</a:t>
            </a:r>
            <a:endParaRPr lang="en-US" sz="1200" dirty="0"/>
          </a:p>
        </p:txBody>
      </p:sp>
      <p:pic>
        <p:nvPicPr>
          <p:cNvPr id="9" name="Picture 8" descr="ZT_logo(3).png">
            <a:extLst>
              <a:ext uri="{FF2B5EF4-FFF2-40B4-BE49-F238E27FC236}">
                <a16:creationId xmlns:a16="http://schemas.microsoft.com/office/drawing/2014/main" id="{72A0BFED-A17E-48D5-8DA2-AB6B8D20C2AA}"/>
              </a:ext>
            </a:extLst>
          </p:cNvPr>
          <p:cNvPicPr>
            <a:picLocks noChangeAspect="1"/>
          </p:cNvPicPr>
          <p:nvPr/>
        </p:nvPicPr>
        <p:blipFill>
          <a:blip r:embed="rId8"/>
          <a:stretch>
            <a:fillRect/>
          </a:stretch>
        </p:blipFill>
        <p:spPr>
          <a:xfrm>
            <a:off x="10927080" y="256032"/>
            <a:ext cx="713232" cy="71323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2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23A26"/>
                </a:solidFill>
                <a:latin typeface="IBM Plex Mono" pitchFamily="49" charset="0"/>
                <a:ea typeface="IBM Plex Mono" pitchFamily="49" charset="-122"/>
                <a:cs typeface="IBM Plex Mono" pitchFamily="49" charset="-120"/>
              </a:rPr>
              <a:t>REFERENCES · 3 OF 3</a:t>
            </a:r>
            <a:endParaRPr lang="en-US" sz="1200" dirty="0"/>
          </a:p>
        </p:txBody>
      </p:sp>
      <p:sp>
        <p:nvSpPr>
          <p:cNvPr id="3" name="Text 1"/>
          <p:cNvSpPr>
            <a:spLocks noGrp="1"/>
          </p:cNvSpPr>
          <p:nvPr>
            <p:ph type="title"/>
          </p:nvPr>
        </p:nvSpPr>
        <p:spPr>
          <a:xfrm>
            <a:off x="812800" y="11785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News: the wider wave and PHP2Shell</a:t>
            </a:r>
            <a:endParaRPr lang="en-US" sz="3200" dirty="0"/>
          </a:p>
        </p:txBody>
      </p:sp>
      <p:sp>
        <p:nvSpPr>
          <p:cNvPr id="4" name="Text 2"/>
          <p:cNvSpPr/>
          <p:nvPr/>
        </p:nvSpPr>
        <p:spPr>
          <a:xfrm>
            <a:off x="812800" y="1777901"/>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News On Japan: Cyberattacks hit Japanese police and businesses</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3">
                  <a:extLst>
                    <a:ext uri="{A12FA001-AC4F-418D-AE19-62706E023703}">
                      <ahyp:hlinkClr xmlns:ahyp="http://schemas.microsoft.com/office/drawing/2018/hyperlinkcolor" val="tx"/>
                    </a:ext>
                  </a:extLst>
                </a:hlinkClick>
              </a:rPr>
              <a:t>https://newsonjapan.com/article/151111.php</a:t>
            </a:r>
            <a:endParaRPr lang="en-US" sz="1200" dirty="0"/>
          </a:p>
        </p:txBody>
      </p:sp>
      <p:sp>
        <p:nvSpPr>
          <p:cNvPr id="5" name="Text 3"/>
          <p:cNvSpPr/>
          <p:nvPr/>
        </p:nvSpPr>
        <p:spPr>
          <a:xfrm>
            <a:off x="812800" y="2275582"/>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The Next Web: Japan steps up cyber warnings as data leaks hit millions</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4">
                  <a:extLst>
                    <a:ext uri="{A12FA001-AC4F-418D-AE19-62706E023703}">
                      <ahyp:hlinkClr xmlns:ahyp="http://schemas.microsoft.com/office/drawing/2018/hyperlinkcolor" val="tx"/>
                    </a:ext>
                  </a:extLst>
                </a:hlinkClick>
              </a:rPr>
              <a:t>https://thenextweb.com/news/japan-cyberattacks-warning-data-leaks</a:t>
            </a:r>
            <a:endParaRPr lang="en-US" sz="1200" dirty="0"/>
          </a:p>
        </p:txBody>
      </p:sp>
      <p:sp>
        <p:nvSpPr>
          <p:cNvPr id="6" name="Text 4"/>
          <p:cNvSpPr/>
          <p:nvPr/>
        </p:nvSpPr>
        <p:spPr>
          <a:xfrm>
            <a:off x="812800" y="2773263"/>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Anadolu Agency: Japan suspends websites over critical PHP vulnerabilities</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5">
                  <a:extLst>
                    <a:ext uri="{A12FA001-AC4F-418D-AE19-62706E023703}">
                      <ahyp:hlinkClr xmlns:ahyp="http://schemas.microsoft.com/office/drawing/2018/hyperlinkcolor" val="tx"/>
                    </a:ext>
                  </a:extLst>
                </a:hlinkClick>
              </a:rPr>
              <a:t>https://www.aa.com.tr/en/asia-pacific/japan-suspends-several-websites-over-critical-php-security-vulnerabilities/4096314</a:t>
            </a:r>
            <a:endParaRPr lang="en-US" sz="1200" dirty="0"/>
          </a:p>
        </p:txBody>
      </p:sp>
      <p:sp>
        <p:nvSpPr>
          <p:cNvPr id="7" name="Text 5"/>
          <p:cNvSpPr/>
          <p:nvPr/>
        </p:nvSpPr>
        <p:spPr>
          <a:xfrm>
            <a:off x="812800" y="3270945"/>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Tech Times: Japan declares first cyberspace emergency</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6">
                  <a:extLst>
                    <a:ext uri="{A12FA001-AC4F-418D-AE19-62706E023703}">
                      <ahyp:hlinkClr xmlns:ahyp="http://schemas.microsoft.com/office/drawing/2018/hyperlinkcolor" val="tx"/>
                    </a:ext>
                  </a:extLst>
                </a:hlinkClick>
              </a:rPr>
              <a:t>https://www.techtimes.com/articles/328908/20261012/japan-declares-first-cyberspace-emergency-ai-turns-ransomware-carpet-bombing.htm</a:t>
            </a:r>
            <a:endParaRPr lang="en-US" sz="1200" dirty="0"/>
          </a:p>
        </p:txBody>
      </p:sp>
      <p:sp>
        <p:nvSpPr>
          <p:cNvPr id="8" name="Text 6"/>
          <p:cNvSpPr/>
          <p:nvPr/>
        </p:nvSpPr>
        <p:spPr>
          <a:xfrm>
            <a:off x="812800" y="3819426"/>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Figures as reported up to 27 Oct 2026; many are maximums possibly affected, not confirmed leaks.</a:t>
            </a:r>
            <a:endParaRPr lang="en-US" sz="1200" dirty="0"/>
          </a:p>
        </p:txBody>
      </p:sp>
      <p:pic>
        <p:nvPicPr>
          <p:cNvPr id="9" name="Picture 8" descr="ZT_logo(3).png">
            <a:extLst>
              <a:ext uri="{FF2B5EF4-FFF2-40B4-BE49-F238E27FC236}">
                <a16:creationId xmlns:a16="http://schemas.microsoft.com/office/drawing/2014/main" id="{8EE7314D-4A06-80B1-9990-245778C3A24D}"/>
              </a:ext>
            </a:extLst>
          </p:cNvPr>
          <p:cNvPicPr>
            <a:picLocks noChangeAspect="1"/>
          </p:cNvPicPr>
          <p:nvPr/>
        </p:nvPicPr>
        <p:blipFill>
          <a:blip r:embed="rId7"/>
          <a:stretch>
            <a:fillRect/>
          </a:stretch>
        </p:blipFill>
        <p:spPr>
          <a:xfrm>
            <a:off x="10927080" y="256032"/>
            <a:ext cx="713232" cy="713232"/>
          </a:xfrm>
          <a:prstGeom prst="rect">
            <a:avLst/>
          </a:prstGeom>
        </p:spPr>
      </p:pic>
    </p:spTree>
  </p:cSld>
  <p:clrMapOvr>
    <a:masterClrMapping/>
  </p:clrMapOvr>
</p:sld>
</file>

<file path=ppt/theme/theme1.xml><?xml version="1.0" encoding="utf-8"?>
<a:theme xmlns:a="http://schemas.openxmlformats.org/drawingml/2006/main" name="Japan’s October 2026 Cyber Emergency">
  <a:themeElements>
    <a:clrScheme name="Japan’s October 2026 Cyber Emergency">
      <a:dk1>
        <a:srgbClr val="16202E"/>
      </a:dk1>
      <a:lt1>
        <a:srgbClr val="F4F2EE"/>
      </a:lt1>
      <a:dk2>
        <a:srgbClr val="4E555E"/>
      </a:dk2>
      <a:lt2>
        <a:srgbClr val="DEDDDB"/>
      </a:lt2>
      <a:accent1>
        <a:srgbClr val="B23A26"/>
      </a:accent1>
      <a:accent2>
        <a:srgbClr val="1F5F99"/>
      </a:accent2>
      <a:accent3>
        <a:srgbClr val="F08A78"/>
      </a:accent3>
      <a:accent4>
        <a:srgbClr val="F7D9CF"/>
      </a:accent4>
      <a:accent5>
        <a:srgbClr val="E5533D"/>
      </a:accent5>
      <a:accent6>
        <a:srgbClr val="3D4756"/>
      </a:accent6>
      <a:hlink>
        <a:srgbClr val="0563C1"/>
      </a:hlink>
      <a:folHlink>
        <a:srgbClr val="954F72"/>
      </a:folHlink>
    </a:clrScheme>
    <a:fontScheme name="Japan’s October 2026 Cyber Emergency">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2967</Words>
  <Application>Microsoft Macintosh PowerPoint</Application>
  <PresentationFormat>Widescreen</PresentationFormat>
  <Paragraphs>218</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IBM Plex Mono</vt:lpstr>
      <vt:lpstr>IBM Plex Sans</vt:lpstr>
      <vt:lpstr>Japan’s October 2026 Cyber Emergency</vt:lpstr>
      <vt:lpstr>Japan’s October 2026 Cyber Emergency</vt:lpstr>
      <vt:lpstr>A record year, then a national emergency</vt:lpstr>
      <vt:lpstr>Five weeks of disclosures</vt:lpstr>
      <vt:lpstr>Six ways the attacks unfolded</vt:lpstr>
      <vt:lpstr>One shared layer, hundreds of victims</vt:lpstr>
      <vt:lpstr>How the attackers got in</vt:lpstr>
      <vt:lpstr>PHP2Shell: exploited before the patch</vt:lpstr>
      <vt:lpstr>GMO Internet Group: the latest target</vt:lpstr>
      <vt:lpstr>If you are affected: six steps now</vt:lpstr>
      <vt:lpstr>Close the doors these attacks used</vt:lpstr>
      <vt:lpstr>None of these entry points were new. AI is changing the speed, not the method.</vt:lpstr>
      <vt:lpstr>Official advisories and analysis</vt:lpstr>
      <vt:lpstr>News: the GMO Internet Group attack</vt:lpstr>
      <vt:lpstr>News: the wider wave and PHP2Shell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Japan’s October 2026 Cyber Emergency</dc:title>
  <dc:subject/>
  <dc:creator/>
  <cp:lastModifiedBy>ZIN MAR LWIN</cp:lastModifiedBy>
  <cp:revision>2</cp:revision>
  <dcterms:created xsi:type="dcterms:W3CDTF">2026-10-27T13:45:31Z</dcterms:created>
  <dcterms:modified xsi:type="dcterms:W3CDTF">2026-10-28T14:35:44Z</dcterms:modified>
</cp:coreProperties>
</file>