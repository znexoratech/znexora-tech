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In an earlier session we covered Windows hardening. Today we'll do the same for macOS. Macs are now common across our organisation, especially with leadership, developers and creative teams, and they hold the same sensitive data and access as any other device. This session is a practical guide for system administrators and security teams, aligned with Apple's Platform Security Guide, the CIS Benchmarks for macOS, and the NIST macOS Security Compliance Project, known as mSCP.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1:40] Let's start with a common myth: 'Macs don't get malware.' They do, and attackers are actively targeting them. Infostealers such as Atomic Stealer, also called AMOS, steal Keychain items, browser cookies and crypto wallets, just like Lumma does on Windows. Malvertising and cracked apps deliver malware disguised as popular tools. ClickFix-style pages now target Mac users too, asking them to paste commands into Terminal. And malicious scripts pop up convincing dialogs asking for the Mac password, which is often all an attacker needs. Mac users are also high-value targets, because executives, developers and finance teams often use them. So Macs need the same hardening discipline as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2:30] The good news is that macOS has strong security built in, in layers. At the hardware level, Apple silicon, the Secure Enclave and Secure Boot protect keys and make sure only trusted software starts. System Integrity Protection and the Signed System Volume stop even admin users from tampering with the operating system. Gatekeeper, notarization, XProtect and the App Sandbox control which apps can run and what they can do. FileVault and the Keychain protect data. And TCC, the privacy framework, asks permission before apps use the camera, files or screen. But here's the catch: these protections only help if they stay switched on and are enforced. Users can turn some off, approve risky prompts, or run as admin. Hardening is about locking those settings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3:10] We organise macOS hardening into seven areas, the same defense-in-depth approach we used for Windows. Device management: every Mac enrolled in MDM. Identity and accounts: standard users and strong authentication. Patching: enforced, on-time updates. App control: only trusted software runs. Data protection: encryption and backups. Network: firewall on and unnecessary sharing off. And monitoring: logging, EDR and alerts. The goal is simple: every Mac managed, verified and monitored. Let's go through each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4:10] Everything starts with device management, because you can't harden what you don't manage. Use Automated Device Enrollment through Apple Business Manager, so new Macs enroll into MDM the first time they're switched on, before a user can change anything. Make the MDM profile non-removable, so users can't unenroll and escape policy. Push security settings centrally with configuration profiles, and use Declarative Device Management, where the Mac itself enforces settings and reports its status back. Connect MDM compliance to your identity provider, so non-compliant Macs can't reach company apps, which is Zero Trust in action. And make sure you can remotely lock and wipe lost, stolen or departing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5:00] Next, identity and accounts. Users should work as standard users, not local administrators. When someone genuinely needs admin rights, grant them just in time: temporary elevation that's approved and logged. Use Platform Single Sign-On, so users sign in to their Mac with their company identity and MFA, and passwords stay in sync. Enforce a password policy and a short screen auto-lock. Turn off the guest account and automatic login. And enable Touch ID and passkeys for phishing-resistant sign-in. Removing everyday admin rights is one of the most effective controls, because many Mac stealers rely on tricking the user into entering an admin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5:50] Patching is the next layer. Enforce operating system updates with deadlines through Declarative Device Management, not just reminders users can dismiss forever. Allow Apple's background security updates to apply automatically, so urgent fixes reach Macs quickly. Keep automatic security data updates switched on, so XProtect, Apple's built-in malware protection, stays current. Don't forget third-party apps: browsers, Office, video conferencing and developer tools are frequent targets. And retire Macs that can no longer run a supported version of macOS, because a device with no security updates has no protection against new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6:50] Here are the core built-in protections to keep on, with how to verify each one. System Integrity Protection must be enabled; check it with csrutil status. Gatekeeper should allow only apps from the App Store and identified developers; check with spctl dash dash status. FileVault must be on, with the recovery key escrowed to MDM; check with fdesetup status. The application firewall should be on, with stealth mode; you can check it with socketfilterfw. And Lockdown Mode is an extreme protection option for high-risk users, such as executives or people targeted by advanced attackers. These commands are useful for spot checks, but the real control is enforcing these settings through MDM, so users can't switch them off, and reporting their state centrally.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 7:50] Application control is next. Keep Gatekeeper and notarization enforced, so unsigned and un-notarized apps are blocked. Go further with app allowlisting: approve apps through MDM, and consider tools like Santa, an open-source binary authorization tool for macOS, to block everything else. Use Privacy Preferences Policy Control profiles to decide centrally which apps can have Full Disk Access, screen recording or accessibility permissions, because malware loves those. Deploy approved apps through MDM or the App Store, so users don't download installers from the web. Watch for suspicious scripts, like osascript popping up password prompts or commands that download and run code from the internet. And train users never to paste commands into Terminal or type their password into unexpected pop-ups.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8:40] On the network side, the aim is to reduce the attack surface. Turn on the firewall with stealth mode, so the Mac doesn't respond to unsolicited connections. Disable sharing services that aren't needed, such as Screen Sharing, Remote Login over SSH and File Sharing; where they're needed, restrict them to specific admins. Deploy secure Wi-Fi profiles using 802.1X and certificates. Use DNS and web filtering to block malicious and newly registered domains. Give access to internal apps through a VPN or Zero Trust access, never by exposing them directly. And set AirDrop to contacts only, or turn it off on managed Macs.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9:30] Monitoring and detection come next. Deploy an EDR built on Apple's Endpoint Security framework on every Mac. Forward key events from macOS unified logging to your SIEM. Then watch for these signals: new launch agents and daemons, which are the most common way Mac malware survives a reboot; changes to privacy permissions, such as an app suddenly granted Full Disk Access or screen recording; changes to the admin group; and users overriding Gatekeeper warnings to open blocked apps. In particular, Mac stealers often add a LaunchAgent to keep running. A new LaunchAgent in a user's Library folder is a strong signal worth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10:20] Data protection makes sure a lost or stolen Mac doesn't become a data breach. Turn on FileVault everywhere, with the recovery key escrowed in MDM, so IT can always recover the device. Manage Activation Lock, storing bypass codes in MDM, so company Macs aren't locked to a personal Apple account. Keep tested backups, using encrypted Time Machine or an approved cloud backup. Restrict or block USB storage through MDM where appropriate. Manage iCloud settings to limit personal iCloud syncing of company data. And when a Mac is reassigned or retired, use Erase All Content and Settings so no data is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11:00] Here's the essential baseline as a checklist. Every Mac should be enrolled in MDM, fully patched, and used with a standard user account. System Integrity Protection enabled, Gatekeeper enforced, FileVault on with the key escrowed. Firewall and stealth mode on, unused sharing disabled. EDR installed and reporting. And backups tested. Rather than checking these by hand, use the NIST macOS Security Compliance Project, which can generate baselines, configuration profiles and compliance scripts mapped to CIS and NIST controls. And review the baseline after every major macOS release, because settings and defaults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11:40] To wrap up: macOS is secure by default, but only if it stays that way. Five takeaways. Manage every Mac through MDM. Remove everyday admin rights. Enforce updates with deadlines. Keep the built-in protections on, and verify them centrally. And monitor for persistence, especially new launch agents. Do these consistently, and our Macs will be as well protected as any device in the organisation.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2741"/>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F2741"/>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F2741"/>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F2741"/>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1"/>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 laptop protected by a shield and a padlock, connected to a managed network">    </p:cNvPr>
          <p:cNvPicPr>
            <a:picLocks noChangeAspect="1"/>
          </p:cNvPicPr>
          <p:nvPr/>
        </p:nvPicPr>
        <p:blipFill>
          <a:blip r:embed="rId2"/>
          <a:srcRect l="0" r="0" t="0" b="0"/>
          <a:stretch/>
        </p:blipFill>
        <p:spPr>
          <a:xfrm>
            <a:off x="7874000" y="1397000"/>
            <a:ext cx="3810000" cy="3810000"/>
          </a:xfrm>
          <a:prstGeom prst="rect">
            <a:avLst/>
          </a:prstGeom>
        </p:spPr>
      </p:pic>
      <p:sp>
        <p:nvSpPr>
          <p:cNvPr id="4" name="Shape 0"/>
          <p:cNvSpPr/>
          <p:nvPr/>
        </p:nvSpPr>
        <p:spPr>
          <a:xfrm>
            <a:off x="812800" y="1414959"/>
            <a:ext cx="762000" cy="50800"/>
          </a:xfrm>
          <a:prstGeom prst="roundRect">
            <a:avLst>
              <a:gd name="adj" fmla="val 50000"/>
            </a:avLst>
          </a:prstGeom>
          <a:solidFill>
            <a:srgbClr val="D4AF5A"/>
          </a:solidFill>
          <a:ln/>
        </p:spPr>
      </p:sp>
      <p:sp>
        <p:nvSpPr>
          <p:cNvPr id="5" name="Text 1"/>
          <p:cNvSpPr/>
          <p:nvPr/>
        </p:nvSpPr>
        <p:spPr>
          <a:xfrm>
            <a:off x="812800" y="16689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4AF5A"/>
                </a:solidFill>
                <a:latin typeface="Inter" pitchFamily="34" charset="0"/>
                <a:ea typeface="Inter" pitchFamily="34" charset="-122"/>
                <a:cs typeface="Inter" pitchFamily="34" charset="-120"/>
              </a:rPr>
              <a:t>ZNEXORA TECH | SECURITY BRIEFING</a:t>
            </a:r>
            <a:endParaRPr lang="en-US" sz="1400" dirty="0"/>
          </a:p>
        </p:txBody>
      </p:sp>
      <p:sp>
        <p:nvSpPr>
          <p:cNvPr id="6" name="Text 2"/>
          <p:cNvSpPr/>
          <p:nvPr>
            <p:ph type="title"/>
          </p:nvPr>
        </p:nvSpPr>
        <p:spPr>
          <a:xfrm>
            <a:off x="812800" y="2120999"/>
            <a:ext cx="7063740" cy="1412081"/>
          </a:xfrm>
          <a:prstGeom prst="rect">
            <a:avLst/>
          </a:prstGeom>
          <a:noFill/>
          <a:ln/>
        </p:spPr>
        <p:txBody>
          <a:bodyPr wrap="square" lIns="0" tIns="0" rIns="0" bIns="0" rtlCol="0" anchor="t">
            <a:normAutofit/>
          </a:bodyPr>
          <a:lstStyle/>
          <a:p>
            <a:pPr algn="l" indent="0" marL="0">
              <a:lnSpc>
                <a:spcPts val="5460"/>
              </a:lnSpc>
              <a:buNone/>
            </a:pPr>
            <a:r>
              <a:rPr lang="en-US" sz="5200" b="1" i="0" spc="-50" kern="0" dirty="0">
                <a:solidFill>
                  <a:srgbClr val="FFFFFF"/>
                </a:solidFill>
                <a:latin typeface="Inter" pitchFamily="34" charset="0"/>
                <a:ea typeface="Inter" pitchFamily="34" charset="-122"/>
                <a:cs typeface="Inter" pitchFamily="34" charset="-120"/>
              </a:rPr>
              <a:t>macOS Security Hardening</a:t>
            </a:r>
            <a:endParaRPr lang="en-US" sz="5200" dirty="0"/>
          </a:p>
        </p:txBody>
      </p:sp>
      <p:sp>
        <p:nvSpPr>
          <p:cNvPr id="7" name="Text 3"/>
          <p:cNvSpPr/>
          <p:nvPr/>
        </p:nvSpPr>
        <p:spPr>
          <a:xfrm>
            <a:off x="812800" y="3710880"/>
            <a:ext cx="65405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E4EE"/>
                </a:solidFill>
                <a:latin typeface="Inter" pitchFamily="34" charset="0"/>
                <a:ea typeface="Inter" pitchFamily="34" charset="-122"/>
                <a:cs typeface="Inter" pitchFamily="34" charset="-120"/>
              </a:rPr>
              <a:t>Protecting enterprise Macs through secure configuration</a:t>
            </a:r>
            <a:endParaRPr lang="en-US" sz="2000" dirty="0"/>
          </a:p>
        </p:txBody>
      </p:sp>
      <p:sp>
        <p:nvSpPr>
          <p:cNvPr id="8" name="Text 4"/>
          <p:cNvSpPr/>
          <p:nvPr/>
        </p:nvSpPr>
        <p:spPr>
          <a:xfrm>
            <a:off x="812800" y="4625280"/>
            <a:ext cx="654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8B8"/>
                </a:solidFill>
                <a:latin typeface="Inter" pitchFamily="34" charset="0"/>
                <a:ea typeface="Inter" pitchFamily="34" charset="-122"/>
                <a:cs typeface="Inter" pitchFamily="34" charset="-120"/>
              </a:rPr>
              <a:t>A practical guide for system administrators and security teams</a:t>
            </a:r>
            <a:endParaRPr lang="en-US" sz="1400" dirty="0"/>
          </a:p>
        </p:txBody>
      </p:sp>
      <p:sp>
        <p:nvSpPr>
          <p:cNvPr id="9" name="Text 5"/>
          <p:cNvSpPr/>
          <p:nvPr/>
        </p:nvSpPr>
        <p:spPr>
          <a:xfrm>
            <a:off x="819150" y="5083671"/>
            <a:ext cx="2487116" cy="353020"/>
          </a:xfrm>
          <a:prstGeom prst="roundRect">
            <a:avLst>
              <a:gd name="adj" fmla="val 48567"/>
            </a:avLst>
          </a:prstGeom>
          <a:solidFill>
            <a:srgbClr val="1B3A5C"/>
          </a:solidFill>
          <a:ln w="12700">
            <a:solidFill>
              <a:srgbClr val="D4AF5A"/>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Inter" pitchFamily="34" charset="0"/>
                <a:ea typeface="Inter" pitchFamily="34" charset="-122"/>
                <a:cs typeface="Inter" pitchFamily="34" charset="-120"/>
              </a:rPr>
              <a:t>Apple Platform Security Guide</a:t>
            </a:r>
            <a:endParaRPr lang="en-US" sz="1200" dirty="0"/>
          </a:p>
        </p:txBody>
      </p:sp>
      <p:sp>
        <p:nvSpPr>
          <p:cNvPr id="10" name="Text 6"/>
          <p:cNvSpPr/>
          <p:nvPr/>
        </p:nvSpPr>
        <p:spPr>
          <a:xfrm>
            <a:off x="3420566" y="5083671"/>
            <a:ext cx="1509117" cy="353020"/>
          </a:xfrm>
          <a:prstGeom prst="roundRect">
            <a:avLst>
              <a:gd name="adj" fmla="val 48567"/>
            </a:avLst>
          </a:prstGeom>
          <a:solidFill>
            <a:srgbClr val="1B3A5C"/>
          </a:solidFill>
          <a:ln w="12700">
            <a:solidFill>
              <a:srgbClr val="D4AF5A"/>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Inter" pitchFamily="34" charset="0"/>
                <a:ea typeface="Inter" pitchFamily="34" charset="-122"/>
                <a:cs typeface="Inter" pitchFamily="34" charset="-120"/>
              </a:rPr>
              <a:t>CIS Benchmarks</a:t>
            </a:r>
            <a:endParaRPr lang="en-US" sz="1200" dirty="0"/>
          </a:p>
        </p:txBody>
      </p:sp>
      <p:sp>
        <p:nvSpPr>
          <p:cNvPr id="11" name="Text 7"/>
          <p:cNvSpPr/>
          <p:nvPr/>
        </p:nvSpPr>
        <p:spPr>
          <a:xfrm>
            <a:off x="5043984" y="5083671"/>
            <a:ext cx="1151533" cy="353020"/>
          </a:xfrm>
          <a:prstGeom prst="roundRect">
            <a:avLst>
              <a:gd name="adj" fmla="val 48567"/>
            </a:avLst>
          </a:prstGeom>
          <a:solidFill>
            <a:srgbClr val="1B3A5C"/>
          </a:solidFill>
          <a:ln w="12700">
            <a:solidFill>
              <a:srgbClr val="D4AF5A"/>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Inter" pitchFamily="34" charset="0"/>
                <a:ea typeface="Inter" pitchFamily="34" charset="-122"/>
                <a:cs typeface="Inter" pitchFamily="34" charset="-120"/>
              </a:rPr>
              <a:t>NIST mSCP</a:t>
            </a:r>
            <a:endParaRPr lang="en-US" sz="1200" dirty="0"/>
          </a:p>
        </p:txBody>
      </p:sp>
      <p:sp>
        <p:nvSpPr>
          <p:cNvPr id="12"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8"/>
                </a:solidFill>
                <a:latin typeface="Inter" pitchFamily="34" charset="0"/>
                <a:ea typeface="Inter" pitchFamily="34" charset="-122"/>
                <a:cs typeface="Inter" pitchFamily="34" charset="-120"/>
              </a:rPr>
              <a:t>Presented by: </a:t>
            </a:r>
            <a:r>
              <a:rPr lang="en-US" sz="1200" b="1" dirty="0">
                <a:solidFill>
                  <a:srgbClr val="FFFFFF"/>
                </a:solidFill>
                <a:latin typeface="Inter" pitchFamily="34" charset="0"/>
                <a:ea typeface="Inter" pitchFamily="34" charset="-122"/>
                <a:cs typeface="Inter" pitchFamily="34" charset="-120"/>
              </a:rPr>
              <a:t>ZNexora Tech</a:t>
            </a:r>
            <a:r>
              <a:rPr lang="en-US" sz="1200" dirty="0">
                <a:solidFill>
                  <a:srgbClr val="9AA8B8"/>
                </a:solidFill>
                <a:latin typeface="Inter" pitchFamily="34" charset="0"/>
                <a:ea typeface="Inter" pitchFamily="34" charset="-122"/>
                <a:cs typeface="Inter"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01 · WHY HARDEN MACS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“Macs don’t get malware” is a myth</a:t>
            </a:r>
            <a:endParaRPr lang="en-US" sz="3600" dirty="0"/>
          </a:p>
        </p:txBody>
      </p:sp>
      <p:sp>
        <p:nvSpPr>
          <p:cNvPr id="5" name="Shape 2"/>
          <p:cNvSpPr/>
          <p:nvPr/>
        </p:nvSpPr>
        <p:spPr>
          <a:xfrm>
            <a:off x="819150" y="1575991"/>
            <a:ext cx="5194300" cy="1080691"/>
          </a:xfrm>
          <a:prstGeom prst="roundRect">
            <a:avLst>
              <a:gd name="adj" fmla="val 11164"/>
            </a:avLst>
          </a:prstGeom>
          <a:solidFill>
            <a:srgbClr val="FFFFFF"/>
          </a:solidFill>
          <a:ln w="12700">
            <a:solidFill>
              <a:srgbClr val="E1E7EF"/>
            </a:solidFill>
            <a:prstDash val="solid"/>
          </a:ln>
        </p:spPr>
      </p:sp>
      <p:sp>
        <p:nvSpPr>
          <p:cNvPr id="6" name="Shape 3"/>
          <p:cNvSpPr/>
          <p:nvPr/>
        </p:nvSpPr>
        <p:spPr>
          <a:xfrm>
            <a:off x="1028700" y="1887736"/>
            <a:ext cx="457200" cy="457200"/>
          </a:xfrm>
          <a:prstGeom prst="roundRect">
            <a:avLst>
              <a:gd name="adj" fmla="val 50000"/>
            </a:avLst>
          </a:prstGeom>
          <a:solidFill>
            <a:srgbClr val="FBF0E4"/>
          </a:solidFill>
          <a:ln/>
        </p:spPr>
      </p:sp>
      <p:pic>
        <p:nvPicPr>
          <p:cNvPr id="7" name="Image 1" descr="key icon">    </p:cNvPr>
          <p:cNvPicPr>
            <a:picLocks noChangeAspect="1"/>
          </p:cNvPicPr>
          <p:nvPr/>
        </p:nvPicPr>
        <p:blipFill>
          <a:blip r:embed="rId2"/>
          <a:srcRect l="0" r="0" t="0" b="0"/>
          <a:stretch/>
        </p:blipFill>
        <p:spPr>
          <a:xfrm>
            <a:off x="1143000" y="2002036"/>
            <a:ext cx="228600" cy="228600"/>
          </a:xfrm>
          <a:prstGeom prst="rect">
            <a:avLst/>
          </a:prstGeom>
        </p:spPr>
      </p:pic>
      <p:sp>
        <p:nvSpPr>
          <p:cNvPr id="8" name="Text 4"/>
          <p:cNvSpPr/>
          <p:nvPr/>
        </p:nvSpPr>
        <p:spPr>
          <a:xfrm>
            <a:off x="1638300" y="1760141"/>
            <a:ext cx="42905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Infostealers</a:t>
            </a:r>
            <a:endParaRPr lang="en-US" sz="1500" dirty="0"/>
          </a:p>
        </p:txBody>
      </p:sp>
      <p:sp>
        <p:nvSpPr>
          <p:cNvPr id="9" name="Text 5"/>
          <p:cNvSpPr/>
          <p:nvPr/>
        </p:nvSpPr>
        <p:spPr>
          <a:xfrm>
            <a:off x="1638300" y="2026841"/>
            <a:ext cx="42905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Atomic (AMOS) and similar stealers take Keychain items, browser cookies and crypto wallets.</a:t>
            </a:r>
            <a:endParaRPr lang="en-US" sz="1300" dirty="0"/>
          </a:p>
        </p:txBody>
      </p:sp>
      <p:sp>
        <p:nvSpPr>
          <p:cNvPr id="10" name="Shape 6"/>
          <p:cNvSpPr/>
          <p:nvPr/>
        </p:nvSpPr>
        <p:spPr>
          <a:xfrm>
            <a:off x="6178550" y="1575991"/>
            <a:ext cx="5194300" cy="1080691"/>
          </a:xfrm>
          <a:prstGeom prst="roundRect">
            <a:avLst>
              <a:gd name="adj" fmla="val 11164"/>
            </a:avLst>
          </a:prstGeom>
          <a:solidFill>
            <a:srgbClr val="FFFFFF"/>
          </a:solidFill>
          <a:ln w="12700">
            <a:solidFill>
              <a:srgbClr val="E1E7EF"/>
            </a:solidFill>
            <a:prstDash val="solid"/>
          </a:ln>
        </p:spPr>
      </p:sp>
      <p:sp>
        <p:nvSpPr>
          <p:cNvPr id="11" name="Shape 7"/>
          <p:cNvSpPr/>
          <p:nvPr/>
        </p:nvSpPr>
        <p:spPr>
          <a:xfrm>
            <a:off x="6388100" y="1887736"/>
            <a:ext cx="457200" cy="457200"/>
          </a:xfrm>
          <a:prstGeom prst="roundRect">
            <a:avLst>
              <a:gd name="adj" fmla="val 50000"/>
            </a:avLst>
          </a:prstGeom>
          <a:solidFill>
            <a:srgbClr val="FBF0E4"/>
          </a:solidFill>
          <a:ln/>
        </p:spPr>
      </p:sp>
      <p:pic>
        <p:nvPicPr>
          <p:cNvPr id="12" name="Image 2" descr="globe icon">    </p:cNvPr>
          <p:cNvPicPr>
            <a:picLocks noChangeAspect="1"/>
          </p:cNvPicPr>
          <p:nvPr/>
        </p:nvPicPr>
        <p:blipFill>
          <a:blip r:embed="rId3"/>
          <a:srcRect l="0" r="0" t="0" b="0"/>
          <a:stretch/>
        </p:blipFill>
        <p:spPr>
          <a:xfrm>
            <a:off x="6502400" y="2002036"/>
            <a:ext cx="228600" cy="228600"/>
          </a:xfrm>
          <a:prstGeom prst="rect">
            <a:avLst/>
          </a:prstGeom>
        </p:spPr>
      </p:pic>
      <p:sp>
        <p:nvSpPr>
          <p:cNvPr id="13" name="Text 8"/>
          <p:cNvSpPr/>
          <p:nvPr/>
        </p:nvSpPr>
        <p:spPr>
          <a:xfrm>
            <a:off x="6997700" y="1760141"/>
            <a:ext cx="42905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Fake apps and ads</a:t>
            </a:r>
            <a:endParaRPr lang="en-US" sz="1500" dirty="0"/>
          </a:p>
        </p:txBody>
      </p:sp>
      <p:sp>
        <p:nvSpPr>
          <p:cNvPr id="14" name="Text 9"/>
          <p:cNvSpPr/>
          <p:nvPr/>
        </p:nvSpPr>
        <p:spPr>
          <a:xfrm>
            <a:off x="6997700" y="2026841"/>
            <a:ext cx="42905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Malvertising and cracked apps deliver malware disguised as popular tools.</a:t>
            </a:r>
            <a:endParaRPr lang="en-US" sz="1300" dirty="0"/>
          </a:p>
        </p:txBody>
      </p:sp>
      <p:sp>
        <p:nvSpPr>
          <p:cNvPr id="15" name="Shape 10"/>
          <p:cNvSpPr/>
          <p:nvPr/>
        </p:nvSpPr>
        <p:spPr>
          <a:xfrm>
            <a:off x="819150" y="2821781"/>
            <a:ext cx="5194300" cy="1080691"/>
          </a:xfrm>
          <a:prstGeom prst="roundRect">
            <a:avLst>
              <a:gd name="adj" fmla="val 11164"/>
            </a:avLst>
          </a:prstGeom>
          <a:solidFill>
            <a:srgbClr val="FFFFFF"/>
          </a:solidFill>
          <a:ln w="12700">
            <a:solidFill>
              <a:srgbClr val="E1E7EF"/>
            </a:solidFill>
            <a:prstDash val="solid"/>
          </a:ln>
        </p:spPr>
      </p:sp>
      <p:sp>
        <p:nvSpPr>
          <p:cNvPr id="16" name="Shape 11"/>
          <p:cNvSpPr/>
          <p:nvPr/>
        </p:nvSpPr>
        <p:spPr>
          <a:xfrm>
            <a:off x="1028700" y="3133527"/>
            <a:ext cx="457200" cy="457200"/>
          </a:xfrm>
          <a:prstGeom prst="roundRect">
            <a:avLst>
              <a:gd name="adj" fmla="val 50000"/>
            </a:avLst>
          </a:prstGeom>
          <a:solidFill>
            <a:srgbClr val="FBF0E4"/>
          </a:solidFill>
          <a:ln/>
        </p:spPr>
      </p:sp>
      <p:pic>
        <p:nvPicPr>
          <p:cNvPr id="17" name="Image 3" descr="terminal icon">    </p:cNvPr>
          <p:cNvPicPr>
            <a:picLocks noChangeAspect="1"/>
          </p:cNvPicPr>
          <p:nvPr/>
        </p:nvPicPr>
        <p:blipFill>
          <a:blip r:embed="rId4"/>
          <a:srcRect l="0" r="0" t="0" b="0"/>
          <a:stretch/>
        </p:blipFill>
        <p:spPr>
          <a:xfrm>
            <a:off x="1143000" y="3247827"/>
            <a:ext cx="228600" cy="228600"/>
          </a:xfrm>
          <a:prstGeom prst="rect">
            <a:avLst/>
          </a:prstGeom>
        </p:spPr>
      </p:pic>
      <p:sp>
        <p:nvSpPr>
          <p:cNvPr id="18" name="Text 12"/>
          <p:cNvSpPr/>
          <p:nvPr/>
        </p:nvSpPr>
        <p:spPr>
          <a:xfrm>
            <a:off x="1638300" y="3005931"/>
            <a:ext cx="42905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Terminal paste tricks</a:t>
            </a:r>
            <a:endParaRPr lang="en-US" sz="1500" dirty="0"/>
          </a:p>
        </p:txBody>
      </p:sp>
      <p:sp>
        <p:nvSpPr>
          <p:cNvPr id="19" name="Text 13"/>
          <p:cNvSpPr/>
          <p:nvPr/>
        </p:nvSpPr>
        <p:spPr>
          <a:xfrm>
            <a:off x="1638300" y="3272631"/>
            <a:ext cx="42905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ClickFix-style pages ask Mac users to paste commands into Terminal.</a:t>
            </a:r>
            <a:endParaRPr lang="en-US" sz="1300" dirty="0"/>
          </a:p>
        </p:txBody>
      </p:sp>
      <p:sp>
        <p:nvSpPr>
          <p:cNvPr id="20" name="Shape 14"/>
          <p:cNvSpPr/>
          <p:nvPr/>
        </p:nvSpPr>
        <p:spPr>
          <a:xfrm>
            <a:off x="6178550" y="2821781"/>
            <a:ext cx="5194300" cy="1080691"/>
          </a:xfrm>
          <a:prstGeom prst="roundRect">
            <a:avLst>
              <a:gd name="adj" fmla="val 11164"/>
            </a:avLst>
          </a:prstGeom>
          <a:solidFill>
            <a:srgbClr val="FFFFFF"/>
          </a:solidFill>
          <a:ln w="12700">
            <a:solidFill>
              <a:srgbClr val="E1E7EF"/>
            </a:solidFill>
            <a:prstDash val="solid"/>
          </a:ln>
        </p:spPr>
      </p:sp>
      <p:sp>
        <p:nvSpPr>
          <p:cNvPr id="21" name="Shape 15"/>
          <p:cNvSpPr/>
          <p:nvPr/>
        </p:nvSpPr>
        <p:spPr>
          <a:xfrm>
            <a:off x="6388100" y="3133527"/>
            <a:ext cx="457200" cy="457200"/>
          </a:xfrm>
          <a:prstGeom prst="roundRect">
            <a:avLst>
              <a:gd name="adj" fmla="val 50000"/>
            </a:avLst>
          </a:prstGeom>
          <a:solidFill>
            <a:srgbClr val="FBF0E4"/>
          </a:solidFill>
          <a:ln/>
        </p:spPr>
      </p:sp>
      <p:pic>
        <p:nvPicPr>
          <p:cNvPr id="22" name="Image 4" descr="alert icon">    </p:cNvPr>
          <p:cNvPicPr>
            <a:picLocks noChangeAspect="1"/>
          </p:cNvPicPr>
          <p:nvPr/>
        </p:nvPicPr>
        <p:blipFill>
          <a:blip r:embed="rId5"/>
          <a:srcRect l="0" r="0" t="0" b="0"/>
          <a:stretch/>
        </p:blipFill>
        <p:spPr>
          <a:xfrm>
            <a:off x="6502400" y="3247827"/>
            <a:ext cx="228600" cy="228600"/>
          </a:xfrm>
          <a:prstGeom prst="rect">
            <a:avLst/>
          </a:prstGeom>
        </p:spPr>
      </p:pic>
      <p:sp>
        <p:nvSpPr>
          <p:cNvPr id="23" name="Text 16"/>
          <p:cNvSpPr/>
          <p:nvPr/>
        </p:nvSpPr>
        <p:spPr>
          <a:xfrm>
            <a:off x="6997700" y="3005931"/>
            <a:ext cx="42905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Fake password prompts</a:t>
            </a:r>
            <a:endParaRPr lang="en-US" sz="1500" dirty="0"/>
          </a:p>
        </p:txBody>
      </p:sp>
      <p:sp>
        <p:nvSpPr>
          <p:cNvPr id="24" name="Text 17"/>
          <p:cNvSpPr/>
          <p:nvPr/>
        </p:nvSpPr>
        <p:spPr>
          <a:xfrm>
            <a:off x="6997700" y="3272631"/>
            <a:ext cx="42905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Malicious scripts pop up a convincing dialog asking for the Mac password.</a:t>
            </a:r>
            <a:endParaRPr lang="en-US" sz="1300" dirty="0"/>
          </a:p>
        </p:txBody>
      </p:sp>
      <p:sp>
        <p:nvSpPr>
          <p:cNvPr id="25" name="Shape 18"/>
          <p:cNvSpPr/>
          <p:nvPr/>
        </p:nvSpPr>
        <p:spPr>
          <a:xfrm>
            <a:off x="812800" y="4162822"/>
            <a:ext cx="10566400" cy="762000"/>
          </a:xfrm>
          <a:prstGeom prst="roundRect">
            <a:avLst>
              <a:gd name="adj" fmla="val 13333"/>
            </a:avLst>
          </a:prstGeom>
          <a:solidFill>
            <a:srgbClr val="0F2741"/>
          </a:solidFill>
          <a:ln/>
        </p:spPr>
      </p:sp>
      <p:sp>
        <p:nvSpPr>
          <p:cNvPr id="26" name="Shape 19"/>
          <p:cNvSpPr/>
          <p:nvPr/>
        </p:nvSpPr>
        <p:spPr>
          <a:xfrm>
            <a:off x="1041400" y="4340622"/>
            <a:ext cx="406400" cy="406400"/>
          </a:xfrm>
          <a:prstGeom prst="roundRect">
            <a:avLst>
              <a:gd name="adj" fmla="val 50000"/>
            </a:avLst>
          </a:prstGeom>
          <a:solidFill>
            <a:srgbClr val="D9822B"/>
          </a:solidFill>
          <a:ln/>
        </p:spPr>
      </p:sp>
      <p:pic>
        <p:nvPicPr>
          <p:cNvPr id="27" name="Image 5" descr="alert icon">    </p:cNvPr>
          <p:cNvPicPr>
            <a:picLocks noChangeAspect="1"/>
          </p:cNvPicPr>
          <p:nvPr/>
        </p:nvPicPr>
        <p:blipFill>
          <a:blip r:embed="rId6"/>
          <a:srcRect l="0" r="0" t="0" b="0"/>
          <a:stretch/>
        </p:blipFill>
        <p:spPr>
          <a:xfrm>
            <a:off x="1143000" y="4442222"/>
            <a:ext cx="203200" cy="203200"/>
          </a:xfrm>
          <a:prstGeom prst="rect">
            <a:avLst/>
          </a:prstGeom>
        </p:spPr>
      </p:pic>
      <p:sp>
        <p:nvSpPr>
          <p:cNvPr id="28" name="Text 20"/>
          <p:cNvSpPr/>
          <p:nvPr/>
        </p:nvSpPr>
        <p:spPr>
          <a:xfrm>
            <a:off x="1600200" y="4410472"/>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Mac users are high-value targets: </a:t>
            </a:r>
            <a:r>
              <a:rPr lang="en-US" sz="1500" b="1" dirty="0">
                <a:solidFill>
                  <a:srgbClr val="E8B95C"/>
                </a:solidFill>
                <a:latin typeface="Inter" pitchFamily="34" charset="0"/>
                <a:ea typeface="Inter" pitchFamily="34" charset="-122"/>
                <a:cs typeface="Inter" pitchFamily="34" charset="-120"/>
              </a:rPr>
              <a:t>executives, developers and finance teams</a:t>
            </a:r>
            <a:r>
              <a:rPr lang="en-US" sz="1500" dirty="0">
                <a:solidFill>
                  <a:srgbClr val="FFFFFF"/>
                </a:solidFill>
                <a:latin typeface="Inter" pitchFamily="34" charset="0"/>
                <a:ea typeface="Inter" pitchFamily="34" charset="-122"/>
                <a:cs typeface="Inter" pitchFamily="34" charset="-120"/>
              </a:rPr>
              <a:t> often use Macs.</a:t>
            </a:r>
            <a:endParaRPr lang="en-US" sz="1500" dirty="0"/>
          </a:p>
        </p:txBody>
      </p:sp>
      <p:sp>
        <p:nvSpPr>
          <p:cNvPr id="29"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see our Lumma and Top 10 Malware sessions</a:t>
            </a:r>
            <a:endParaRPr lang="en-US" sz="1200" dirty="0"/>
          </a:p>
        </p:txBody>
      </p:sp>
      <p:sp>
        <p:nvSpPr>
          <p:cNvPr id="30" name="Text 22"/>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02 · BUILT-IN SECURITY</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macOS has strong security built in</a:t>
            </a:r>
            <a:endParaRPr lang="en-US" sz="3600" dirty="0"/>
          </a:p>
        </p:txBody>
      </p:sp>
      <p:sp>
        <p:nvSpPr>
          <p:cNvPr id="5" name="Shape 2"/>
          <p:cNvSpPr/>
          <p:nvPr/>
        </p:nvSpPr>
        <p:spPr>
          <a:xfrm>
            <a:off x="1447800" y="1569641"/>
            <a:ext cx="6223000" cy="495300"/>
          </a:xfrm>
          <a:prstGeom prst="roundRect">
            <a:avLst>
              <a:gd name="adj" fmla="val 17949"/>
            </a:avLst>
          </a:prstGeom>
          <a:solidFill>
            <a:srgbClr val="0F2741"/>
          </a:solidFill>
          <a:ln/>
        </p:spPr>
      </p:sp>
      <p:pic>
        <p:nvPicPr>
          <p:cNvPr id="6" name="Image 1" descr="chip icon">    </p:cNvPr>
          <p:cNvPicPr>
            <a:picLocks noChangeAspect="1"/>
          </p:cNvPicPr>
          <p:nvPr/>
        </p:nvPicPr>
        <p:blipFill>
          <a:blip r:embed="rId2"/>
          <a:srcRect l="0" r="0" t="0" b="0"/>
          <a:stretch/>
        </p:blipFill>
        <p:spPr>
          <a:xfrm>
            <a:off x="1651000" y="1702991"/>
            <a:ext cx="228600" cy="228600"/>
          </a:xfrm>
          <a:prstGeom prst="rect">
            <a:avLst/>
          </a:prstGeom>
        </p:spPr>
      </p:pic>
      <p:sp>
        <p:nvSpPr>
          <p:cNvPr id="7" name="Text 3"/>
          <p:cNvSpPr/>
          <p:nvPr/>
        </p:nvSpPr>
        <p:spPr>
          <a:xfrm>
            <a:off x="2032000" y="168394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FFFFFF"/>
                </a:solidFill>
                <a:latin typeface="Inter" pitchFamily="34" charset="0"/>
                <a:ea typeface="Inter" pitchFamily="34" charset="-122"/>
                <a:cs typeface="Inter" pitchFamily="34" charset="-120"/>
              </a:rPr>
              <a:t>Hardware</a:t>
            </a:r>
            <a:endParaRPr lang="en-US" sz="1500" dirty="0"/>
          </a:p>
        </p:txBody>
      </p:sp>
      <p:sp>
        <p:nvSpPr>
          <p:cNvPr id="8" name="Text 4"/>
          <p:cNvSpPr/>
          <p:nvPr/>
        </p:nvSpPr>
        <p:spPr>
          <a:xfrm>
            <a:off x="4089400" y="1701701"/>
            <a:ext cx="35814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Apple silicon, Secure Enclave, Secure Boot</a:t>
            </a:r>
            <a:endParaRPr lang="en-US" sz="1300" dirty="0"/>
          </a:p>
        </p:txBody>
      </p:sp>
      <p:sp>
        <p:nvSpPr>
          <p:cNvPr id="9" name="Shape 5"/>
          <p:cNvSpPr/>
          <p:nvPr/>
        </p:nvSpPr>
        <p:spPr>
          <a:xfrm>
            <a:off x="1289050" y="2141141"/>
            <a:ext cx="6540500" cy="690761"/>
          </a:xfrm>
          <a:prstGeom prst="roundRect">
            <a:avLst>
              <a:gd name="adj" fmla="val 12870"/>
            </a:avLst>
          </a:prstGeom>
          <a:solidFill>
            <a:srgbClr val="1B3A5C"/>
          </a:solidFill>
          <a:ln/>
        </p:spPr>
      </p:sp>
      <p:pic>
        <p:nvPicPr>
          <p:cNvPr id="10" name="Image 2" descr="shield icon">    </p:cNvPr>
          <p:cNvPicPr>
            <a:picLocks noChangeAspect="1"/>
          </p:cNvPicPr>
          <p:nvPr/>
        </p:nvPicPr>
        <p:blipFill>
          <a:blip r:embed="rId3"/>
          <a:srcRect l="0" r="0" t="0" b="0"/>
          <a:stretch/>
        </p:blipFill>
        <p:spPr>
          <a:xfrm>
            <a:off x="1492250" y="2372221"/>
            <a:ext cx="228600" cy="228600"/>
          </a:xfrm>
          <a:prstGeom prst="rect">
            <a:avLst/>
          </a:prstGeom>
        </p:spPr>
      </p:pic>
      <p:sp>
        <p:nvSpPr>
          <p:cNvPr id="11" name="Text 6"/>
          <p:cNvSpPr/>
          <p:nvPr/>
        </p:nvSpPr>
        <p:spPr>
          <a:xfrm>
            <a:off x="1873250" y="235317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FFFFFF"/>
                </a:solidFill>
                <a:latin typeface="Inter" pitchFamily="34" charset="0"/>
                <a:ea typeface="Inter" pitchFamily="34" charset="-122"/>
                <a:cs typeface="Inter" pitchFamily="34" charset="-120"/>
              </a:rPr>
              <a:t>System integrity</a:t>
            </a:r>
            <a:endParaRPr lang="en-US" sz="1500" dirty="0"/>
          </a:p>
        </p:txBody>
      </p:sp>
      <p:sp>
        <p:nvSpPr>
          <p:cNvPr id="12" name="Text 7"/>
          <p:cNvSpPr/>
          <p:nvPr/>
        </p:nvSpPr>
        <p:spPr>
          <a:xfrm>
            <a:off x="3930650" y="2255441"/>
            <a:ext cx="380657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System Integrity Protection, Signed System Volume</a:t>
            </a:r>
            <a:endParaRPr lang="en-US" sz="1300" dirty="0"/>
          </a:p>
        </p:txBody>
      </p:sp>
      <p:sp>
        <p:nvSpPr>
          <p:cNvPr id="13" name="Shape 8"/>
          <p:cNvSpPr/>
          <p:nvPr/>
        </p:nvSpPr>
        <p:spPr>
          <a:xfrm>
            <a:off x="1130300" y="2908102"/>
            <a:ext cx="6858000" cy="495300"/>
          </a:xfrm>
          <a:prstGeom prst="roundRect">
            <a:avLst>
              <a:gd name="adj" fmla="val 17949"/>
            </a:avLst>
          </a:prstGeom>
          <a:solidFill>
            <a:srgbClr val="24507A"/>
          </a:solidFill>
          <a:ln/>
        </p:spPr>
      </p:sp>
      <p:pic>
        <p:nvPicPr>
          <p:cNvPr id="14" name="Image 3" descr="box icon">    </p:cNvPr>
          <p:cNvPicPr>
            <a:picLocks noChangeAspect="1"/>
          </p:cNvPicPr>
          <p:nvPr/>
        </p:nvPicPr>
        <p:blipFill>
          <a:blip r:embed="rId4"/>
          <a:srcRect l="0" r="0" t="0" b="0"/>
          <a:stretch/>
        </p:blipFill>
        <p:spPr>
          <a:xfrm>
            <a:off x="1333500" y="3041452"/>
            <a:ext cx="228600" cy="228600"/>
          </a:xfrm>
          <a:prstGeom prst="rect">
            <a:avLst/>
          </a:prstGeom>
        </p:spPr>
      </p:pic>
      <p:sp>
        <p:nvSpPr>
          <p:cNvPr id="15" name="Text 9"/>
          <p:cNvSpPr/>
          <p:nvPr/>
        </p:nvSpPr>
        <p:spPr>
          <a:xfrm>
            <a:off x="1714500" y="302240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FFFFFF"/>
                </a:solidFill>
                <a:latin typeface="Inter" pitchFamily="34" charset="0"/>
                <a:ea typeface="Inter" pitchFamily="34" charset="-122"/>
                <a:cs typeface="Inter" pitchFamily="34" charset="-120"/>
              </a:rPr>
              <a:t>App security</a:t>
            </a:r>
            <a:endParaRPr lang="en-US" sz="1500" dirty="0"/>
          </a:p>
        </p:txBody>
      </p:sp>
      <p:sp>
        <p:nvSpPr>
          <p:cNvPr id="16" name="Text 10"/>
          <p:cNvSpPr/>
          <p:nvPr/>
        </p:nvSpPr>
        <p:spPr>
          <a:xfrm>
            <a:off x="3771900" y="3040162"/>
            <a:ext cx="41335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Gatekeeper, notarization, XProtect, App Sandbox</a:t>
            </a:r>
            <a:endParaRPr lang="en-US" sz="1300" dirty="0"/>
          </a:p>
        </p:txBody>
      </p:sp>
      <p:sp>
        <p:nvSpPr>
          <p:cNvPr id="17" name="Shape 11"/>
          <p:cNvSpPr/>
          <p:nvPr/>
        </p:nvSpPr>
        <p:spPr>
          <a:xfrm>
            <a:off x="971550" y="3479602"/>
            <a:ext cx="7175500" cy="495300"/>
          </a:xfrm>
          <a:prstGeom prst="roundRect">
            <a:avLst>
              <a:gd name="adj" fmla="val 17949"/>
            </a:avLst>
          </a:prstGeom>
          <a:solidFill>
            <a:srgbClr val="1A4F8B"/>
          </a:solidFill>
          <a:ln/>
        </p:spPr>
      </p:sp>
      <p:pic>
        <p:nvPicPr>
          <p:cNvPr id="18" name="Image 4" descr="lock icon">    </p:cNvPr>
          <p:cNvPicPr>
            <a:picLocks noChangeAspect="1"/>
          </p:cNvPicPr>
          <p:nvPr/>
        </p:nvPicPr>
        <p:blipFill>
          <a:blip r:embed="rId5"/>
          <a:srcRect l="0" r="0" t="0" b="0"/>
          <a:stretch/>
        </p:blipFill>
        <p:spPr>
          <a:xfrm>
            <a:off x="1174750" y="3612952"/>
            <a:ext cx="228600" cy="228600"/>
          </a:xfrm>
          <a:prstGeom prst="rect">
            <a:avLst/>
          </a:prstGeom>
        </p:spPr>
      </p:pic>
      <p:sp>
        <p:nvSpPr>
          <p:cNvPr id="19" name="Text 12"/>
          <p:cNvSpPr/>
          <p:nvPr/>
        </p:nvSpPr>
        <p:spPr>
          <a:xfrm>
            <a:off x="1555750" y="359390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FFFFFF"/>
                </a:solidFill>
                <a:latin typeface="Inter" pitchFamily="34" charset="0"/>
                <a:ea typeface="Inter" pitchFamily="34" charset="-122"/>
                <a:cs typeface="Inter" pitchFamily="34" charset="-120"/>
              </a:rPr>
              <a:t>Data protection</a:t>
            </a:r>
            <a:endParaRPr lang="en-US" sz="1500" dirty="0"/>
          </a:p>
        </p:txBody>
      </p:sp>
      <p:sp>
        <p:nvSpPr>
          <p:cNvPr id="20" name="Text 13"/>
          <p:cNvSpPr/>
          <p:nvPr/>
        </p:nvSpPr>
        <p:spPr>
          <a:xfrm>
            <a:off x="3613150" y="3611662"/>
            <a:ext cx="446062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FileVault encryption, Keychain</a:t>
            </a:r>
            <a:endParaRPr lang="en-US" sz="1300" dirty="0"/>
          </a:p>
        </p:txBody>
      </p:sp>
      <p:sp>
        <p:nvSpPr>
          <p:cNvPr id="21" name="Shape 14"/>
          <p:cNvSpPr/>
          <p:nvPr/>
        </p:nvSpPr>
        <p:spPr>
          <a:xfrm>
            <a:off x="812800" y="4051102"/>
            <a:ext cx="7493000" cy="495300"/>
          </a:xfrm>
          <a:prstGeom prst="roundRect">
            <a:avLst>
              <a:gd name="adj" fmla="val 17949"/>
            </a:avLst>
          </a:prstGeom>
          <a:solidFill>
            <a:srgbClr val="1F5FA8"/>
          </a:solidFill>
          <a:ln/>
        </p:spPr>
      </p:sp>
      <p:pic>
        <p:nvPicPr>
          <p:cNvPr id="22" name="Image 5" descr="eye icon">    </p:cNvPr>
          <p:cNvPicPr>
            <a:picLocks noChangeAspect="1"/>
          </p:cNvPicPr>
          <p:nvPr/>
        </p:nvPicPr>
        <p:blipFill>
          <a:blip r:embed="rId6"/>
          <a:srcRect l="0" r="0" t="0" b="0"/>
          <a:stretch/>
        </p:blipFill>
        <p:spPr>
          <a:xfrm>
            <a:off x="1016000" y="4184452"/>
            <a:ext cx="228600" cy="228600"/>
          </a:xfrm>
          <a:prstGeom prst="rect">
            <a:avLst/>
          </a:prstGeom>
        </p:spPr>
      </p:pic>
      <p:sp>
        <p:nvSpPr>
          <p:cNvPr id="23" name="Text 15"/>
          <p:cNvSpPr/>
          <p:nvPr/>
        </p:nvSpPr>
        <p:spPr>
          <a:xfrm>
            <a:off x="1397000" y="416540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spc="-50" kern="0" dirty="0">
                <a:solidFill>
                  <a:srgbClr val="FFFFFF"/>
                </a:solidFill>
                <a:latin typeface="Inter" pitchFamily="34" charset="0"/>
                <a:ea typeface="Inter" pitchFamily="34" charset="-122"/>
                <a:cs typeface="Inter" pitchFamily="34" charset="-120"/>
              </a:rPr>
              <a:t>Privacy controls</a:t>
            </a:r>
            <a:endParaRPr lang="en-US" sz="1500" dirty="0"/>
          </a:p>
        </p:txBody>
      </p:sp>
      <p:sp>
        <p:nvSpPr>
          <p:cNvPr id="24" name="Text 16"/>
          <p:cNvSpPr/>
          <p:nvPr/>
        </p:nvSpPr>
        <p:spPr>
          <a:xfrm>
            <a:off x="3454400" y="4183162"/>
            <a:ext cx="478764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TCC: permission prompts for camera, files, screen</a:t>
            </a:r>
            <a:endParaRPr lang="en-US" sz="1300" dirty="0"/>
          </a:p>
        </p:txBody>
      </p:sp>
      <p:sp>
        <p:nvSpPr>
          <p:cNvPr id="25" name="Shape 17"/>
          <p:cNvSpPr/>
          <p:nvPr/>
        </p:nvSpPr>
        <p:spPr>
          <a:xfrm>
            <a:off x="8559800" y="2100461"/>
            <a:ext cx="2819400" cy="1915120"/>
          </a:xfrm>
          <a:prstGeom prst="roundRect">
            <a:avLst>
              <a:gd name="adj" fmla="val 6631"/>
            </a:avLst>
          </a:prstGeom>
          <a:solidFill>
            <a:srgbClr val="1F5FA8"/>
          </a:solidFill>
          <a:ln/>
        </p:spPr>
      </p:sp>
      <p:sp>
        <p:nvSpPr>
          <p:cNvPr id="26" name="Text 18"/>
          <p:cNvSpPr/>
          <p:nvPr/>
        </p:nvSpPr>
        <p:spPr>
          <a:xfrm>
            <a:off x="8788400" y="2329061"/>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THE CATCH</a:t>
            </a:r>
            <a:endParaRPr lang="en-US" sz="1200" dirty="0"/>
          </a:p>
        </p:txBody>
      </p:sp>
      <p:sp>
        <p:nvSpPr>
          <p:cNvPr id="27" name="Text 19"/>
          <p:cNvSpPr/>
          <p:nvPr/>
        </p:nvSpPr>
        <p:spPr>
          <a:xfrm>
            <a:off x="8788400" y="2643981"/>
            <a:ext cx="2433066" cy="1168400"/>
          </a:xfrm>
          <a:prstGeom prst="rect">
            <a:avLst/>
          </a:prstGeom>
          <a:noFill/>
          <a:ln/>
        </p:spPr>
        <p:txBody>
          <a:bodyPr wrap="square" lIns="0" tIns="0" rIns="0" bIns="0" rtlCol="0" anchor="t">
            <a:normAutofit/>
          </a:bodyPr>
          <a:lstStyle/>
          <a:p>
            <a:pPr algn="l" indent="0" marL="0">
              <a:lnSpc>
                <a:spcPts val="2250"/>
              </a:lnSpc>
              <a:buNone/>
            </a:pPr>
            <a:r>
              <a:rPr lang="en-US" sz="1800" b="1" spc="-50" kern="0" dirty="0">
                <a:solidFill>
                  <a:srgbClr val="FFFFFF"/>
                </a:solidFill>
                <a:latin typeface="Inter" pitchFamily="34" charset="0"/>
                <a:ea typeface="Inter" pitchFamily="34" charset="-122"/>
                <a:cs typeface="Inter" pitchFamily="34" charset="-120"/>
              </a:rPr>
              <a:t>These protections only help if they stay switched on and enforced.</a:t>
            </a:r>
            <a:endParaRPr lang="en-US" sz="1800" dirty="0"/>
          </a:p>
        </p:txBody>
      </p:sp>
      <p:sp>
        <p:nvSpPr>
          <p:cNvPr id="28"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Source: Apple Platform Security Guide</a:t>
            </a:r>
            <a:endParaRPr lang="en-US" sz="1200" dirty="0"/>
          </a:p>
        </p:txBody>
      </p:sp>
      <p:sp>
        <p:nvSpPr>
          <p:cNvPr id="29" name="Text 21"/>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03 · DEFENSE IN DEPTH</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macOS hardening framework</a:t>
            </a:r>
            <a:endParaRPr lang="en-US" sz="3600" dirty="0"/>
          </a:p>
        </p:txBody>
      </p:sp>
      <p:sp>
        <p:nvSpPr>
          <p:cNvPr id="5" name="Shape 2"/>
          <p:cNvSpPr/>
          <p:nvPr/>
        </p:nvSpPr>
        <p:spPr>
          <a:xfrm>
            <a:off x="819150" y="1575991"/>
            <a:ext cx="2533650" cy="1412180"/>
          </a:xfrm>
          <a:prstGeom prst="roundRect">
            <a:avLst>
              <a:gd name="adj" fmla="val 8544"/>
            </a:avLst>
          </a:prstGeom>
          <a:solidFill>
            <a:srgbClr val="FFFFFF"/>
          </a:solidFill>
          <a:ln w="12700">
            <a:solidFill>
              <a:srgbClr val="E1E7EF"/>
            </a:solidFill>
            <a:prstDash val="solid"/>
          </a:ln>
        </p:spPr>
      </p:sp>
      <p:sp>
        <p:nvSpPr>
          <p:cNvPr id="6" name="Shape 3"/>
          <p:cNvSpPr/>
          <p:nvPr/>
        </p:nvSpPr>
        <p:spPr>
          <a:xfrm>
            <a:off x="1003300" y="1760141"/>
            <a:ext cx="406400" cy="406400"/>
          </a:xfrm>
          <a:prstGeom prst="roundRect">
            <a:avLst>
              <a:gd name="adj" fmla="val 50000"/>
            </a:avLst>
          </a:prstGeom>
          <a:solidFill>
            <a:srgbClr val="E8EFF8"/>
          </a:solidFill>
          <a:ln/>
        </p:spPr>
      </p:sp>
      <p:pic>
        <p:nvPicPr>
          <p:cNvPr id="7" name="Image 1" descr="sliders icon">    </p:cNvPr>
          <p:cNvPicPr>
            <a:picLocks noChangeAspect="1"/>
          </p:cNvPicPr>
          <p:nvPr/>
        </p:nvPicPr>
        <p:blipFill>
          <a:blip r:embed="rId2"/>
          <a:srcRect l="0" r="0" t="0" b="0"/>
          <a:stretch/>
        </p:blipFill>
        <p:spPr>
          <a:xfrm>
            <a:off x="1104900" y="1861741"/>
            <a:ext cx="203200" cy="203200"/>
          </a:xfrm>
          <a:prstGeom prst="rect">
            <a:avLst/>
          </a:prstGeom>
        </p:spPr>
      </p:pic>
      <p:sp>
        <p:nvSpPr>
          <p:cNvPr id="8" name="Text 4"/>
          <p:cNvSpPr/>
          <p:nvPr/>
        </p:nvSpPr>
        <p:spPr>
          <a:xfrm>
            <a:off x="2824917" y="1785541"/>
            <a:ext cx="343733"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01</a:t>
            </a:r>
            <a:endParaRPr lang="en-US" sz="2000" dirty="0"/>
          </a:p>
        </p:txBody>
      </p:sp>
      <p:sp>
        <p:nvSpPr>
          <p:cNvPr id="9" name="Text 5"/>
          <p:cNvSpPr/>
          <p:nvPr/>
        </p:nvSpPr>
        <p:spPr>
          <a:xfrm>
            <a:off x="1003300" y="225544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Device management</a:t>
            </a:r>
            <a:endParaRPr lang="en-US" sz="1500" dirty="0"/>
          </a:p>
        </p:txBody>
      </p:sp>
      <p:sp>
        <p:nvSpPr>
          <p:cNvPr id="10" name="Text 6"/>
          <p:cNvSpPr/>
          <p:nvPr/>
        </p:nvSpPr>
        <p:spPr>
          <a:xfrm>
            <a:off x="1003300" y="257294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Enroll every Mac in MDM</a:t>
            </a:r>
            <a:endParaRPr lang="en-US" sz="1300" dirty="0"/>
          </a:p>
        </p:txBody>
      </p:sp>
      <p:sp>
        <p:nvSpPr>
          <p:cNvPr id="11" name="Shape 7"/>
          <p:cNvSpPr/>
          <p:nvPr/>
        </p:nvSpPr>
        <p:spPr>
          <a:xfrm>
            <a:off x="3492500" y="1575991"/>
            <a:ext cx="2533650" cy="1412180"/>
          </a:xfrm>
          <a:prstGeom prst="roundRect">
            <a:avLst>
              <a:gd name="adj" fmla="val 8544"/>
            </a:avLst>
          </a:prstGeom>
          <a:solidFill>
            <a:srgbClr val="FFFFFF"/>
          </a:solidFill>
          <a:ln w="12700">
            <a:solidFill>
              <a:srgbClr val="E1E7EF"/>
            </a:solidFill>
            <a:prstDash val="solid"/>
          </a:ln>
        </p:spPr>
      </p:sp>
      <p:sp>
        <p:nvSpPr>
          <p:cNvPr id="12" name="Shape 8"/>
          <p:cNvSpPr/>
          <p:nvPr/>
        </p:nvSpPr>
        <p:spPr>
          <a:xfrm>
            <a:off x="3676650" y="1760141"/>
            <a:ext cx="406400" cy="406400"/>
          </a:xfrm>
          <a:prstGeom prst="roundRect">
            <a:avLst>
              <a:gd name="adj" fmla="val 50000"/>
            </a:avLst>
          </a:prstGeom>
          <a:solidFill>
            <a:srgbClr val="E8EFF8"/>
          </a:solidFill>
          <a:ln/>
        </p:spPr>
      </p:sp>
      <p:pic>
        <p:nvPicPr>
          <p:cNvPr id="13" name="Image 2" descr="user icon">    </p:cNvPr>
          <p:cNvPicPr>
            <a:picLocks noChangeAspect="1"/>
          </p:cNvPicPr>
          <p:nvPr/>
        </p:nvPicPr>
        <p:blipFill>
          <a:blip r:embed="rId3"/>
          <a:srcRect l="0" r="0" t="0" b="0"/>
          <a:stretch/>
        </p:blipFill>
        <p:spPr>
          <a:xfrm>
            <a:off x="3778250" y="1861741"/>
            <a:ext cx="203200" cy="203200"/>
          </a:xfrm>
          <a:prstGeom prst="rect">
            <a:avLst/>
          </a:prstGeom>
        </p:spPr>
      </p:pic>
      <p:sp>
        <p:nvSpPr>
          <p:cNvPr id="14" name="Text 9"/>
          <p:cNvSpPr/>
          <p:nvPr/>
        </p:nvSpPr>
        <p:spPr>
          <a:xfrm>
            <a:off x="5455404" y="1785541"/>
            <a:ext cx="386596"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02</a:t>
            </a:r>
            <a:endParaRPr lang="en-US" sz="2000" dirty="0"/>
          </a:p>
        </p:txBody>
      </p:sp>
      <p:sp>
        <p:nvSpPr>
          <p:cNvPr id="15" name="Text 10"/>
          <p:cNvSpPr/>
          <p:nvPr/>
        </p:nvSpPr>
        <p:spPr>
          <a:xfrm>
            <a:off x="3676650" y="225544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Identity and accounts</a:t>
            </a:r>
            <a:endParaRPr lang="en-US" sz="1500" dirty="0"/>
          </a:p>
        </p:txBody>
      </p:sp>
      <p:sp>
        <p:nvSpPr>
          <p:cNvPr id="16" name="Text 11"/>
          <p:cNvSpPr/>
          <p:nvPr/>
        </p:nvSpPr>
        <p:spPr>
          <a:xfrm>
            <a:off x="3676650" y="2572941"/>
            <a:ext cx="2343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Standard users, strong auth</a:t>
            </a:r>
            <a:endParaRPr lang="en-US" sz="1300" dirty="0"/>
          </a:p>
        </p:txBody>
      </p:sp>
      <p:sp>
        <p:nvSpPr>
          <p:cNvPr id="17" name="Shape 12"/>
          <p:cNvSpPr/>
          <p:nvPr/>
        </p:nvSpPr>
        <p:spPr>
          <a:xfrm>
            <a:off x="6165850" y="1575991"/>
            <a:ext cx="2533650" cy="1412180"/>
          </a:xfrm>
          <a:prstGeom prst="roundRect">
            <a:avLst>
              <a:gd name="adj" fmla="val 8544"/>
            </a:avLst>
          </a:prstGeom>
          <a:solidFill>
            <a:srgbClr val="FFFFFF"/>
          </a:solidFill>
          <a:ln w="12700">
            <a:solidFill>
              <a:srgbClr val="E1E7EF"/>
            </a:solidFill>
            <a:prstDash val="solid"/>
          </a:ln>
        </p:spPr>
      </p:sp>
      <p:sp>
        <p:nvSpPr>
          <p:cNvPr id="18" name="Shape 13"/>
          <p:cNvSpPr/>
          <p:nvPr/>
        </p:nvSpPr>
        <p:spPr>
          <a:xfrm>
            <a:off x="6350000" y="1760141"/>
            <a:ext cx="406400" cy="406400"/>
          </a:xfrm>
          <a:prstGeom prst="roundRect">
            <a:avLst>
              <a:gd name="adj" fmla="val 50000"/>
            </a:avLst>
          </a:prstGeom>
          <a:solidFill>
            <a:srgbClr val="E8EFF8"/>
          </a:solidFill>
          <a:ln/>
        </p:spPr>
      </p:sp>
      <p:pic>
        <p:nvPicPr>
          <p:cNvPr id="19" name="Image 3" descr="refresh icon">    </p:cNvPr>
          <p:cNvPicPr>
            <a:picLocks noChangeAspect="1"/>
          </p:cNvPicPr>
          <p:nvPr/>
        </p:nvPicPr>
        <p:blipFill>
          <a:blip r:embed="rId4"/>
          <a:srcRect l="0" r="0" t="0" b="0"/>
          <a:stretch/>
        </p:blipFill>
        <p:spPr>
          <a:xfrm>
            <a:off x="6451600" y="1861741"/>
            <a:ext cx="203200" cy="203200"/>
          </a:xfrm>
          <a:prstGeom prst="rect">
            <a:avLst/>
          </a:prstGeom>
        </p:spPr>
      </p:pic>
      <p:sp>
        <p:nvSpPr>
          <p:cNvPr id="20" name="Text 14"/>
          <p:cNvSpPr/>
          <p:nvPr/>
        </p:nvSpPr>
        <p:spPr>
          <a:xfrm>
            <a:off x="8119824" y="1785541"/>
            <a:ext cx="395526"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03</a:t>
            </a:r>
            <a:endParaRPr lang="en-US" sz="2000" dirty="0"/>
          </a:p>
        </p:txBody>
      </p:sp>
      <p:sp>
        <p:nvSpPr>
          <p:cNvPr id="21" name="Text 15"/>
          <p:cNvSpPr/>
          <p:nvPr/>
        </p:nvSpPr>
        <p:spPr>
          <a:xfrm>
            <a:off x="6350000" y="225544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Patching</a:t>
            </a:r>
            <a:endParaRPr lang="en-US" sz="1500" dirty="0"/>
          </a:p>
        </p:txBody>
      </p:sp>
      <p:sp>
        <p:nvSpPr>
          <p:cNvPr id="22" name="Text 16"/>
          <p:cNvSpPr/>
          <p:nvPr/>
        </p:nvSpPr>
        <p:spPr>
          <a:xfrm>
            <a:off x="6350000" y="257294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Enforced, on-time updates</a:t>
            </a:r>
            <a:endParaRPr lang="en-US" sz="1300" dirty="0"/>
          </a:p>
        </p:txBody>
      </p:sp>
      <p:sp>
        <p:nvSpPr>
          <p:cNvPr id="23" name="Shape 17"/>
          <p:cNvSpPr/>
          <p:nvPr/>
        </p:nvSpPr>
        <p:spPr>
          <a:xfrm>
            <a:off x="8839200" y="1575991"/>
            <a:ext cx="2533650" cy="1412180"/>
          </a:xfrm>
          <a:prstGeom prst="roundRect">
            <a:avLst>
              <a:gd name="adj" fmla="val 8544"/>
            </a:avLst>
          </a:prstGeom>
          <a:solidFill>
            <a:srgbClr val="FFFFFF"/>
          </a:solidFill>
          <a:ln w="12700">
            <a:solidFill>
              <a:srgbClr val="E1E7EF"/>
            </a:solidFill>
            <a:prstDash val="solid"/>
          </a:ln>
        </p:spPr>
      </p:sp>
      <p:sp>
        <p:nvSpPr>
          <p:cNvPr id="24" name="Shape 18"/>
          <p:cNvSpPr/>
          <p:nvPr/>
        </p:nvSpPr>
        <p:spPr>
          <a:xfrm>
            <a:off x="9023350" y="1760141"/>
            <a:ext cx="406400" cy="406400"/>
          </a:xfrm>
          <a:prstGeom prst="roundRect">
            <a:avLst>
              <a:gd name="adj" fmla="val 50000"/>
            </a:avLst>
          </a:prstGeom>
          <a:solidFill>
            <a:srgbClr val="E8EFF8"/>
          </a:solidFill>
          <a:ln/>
        </p:spPr>
      </p:sp>
      <p:pic>
        <p:nvPicPr>
          <p:cNvPr id="25" name="Image 4" descr="box icon">    </p:cNvPr>
          <p:cNvPicPr>
            <a:picLocks noChangeAspect="1"/>
          </p:cNvPicPr>
          <p:nvPr/>
        </p:nvPicPr>
        <p:blipFill>
          <a:blip r:embed="rId5"/>
          <a:srcRect l="0" r="0" t="0" b="0"/>
          <a:stretch/>
        </p:blipFill>
        <p:spPr>
          <a:xfrm>
            <a:off x="9124950" y="1861741"/>
            <a:ext cx="203200" cy="203200"/>
          </a:xfrm>
          <a:prstGeom prst="rect">
            <a:avLst/>
          </a:prstGeom>
        </p:spPr>
      </p:pic>
      <p:sp>
        <p:nvSpPr>
          <p:cNvPr id="26" name="Text 19"/>
          <p:cNvSpPr/>
          <p:nvPr/>
        </p:nvSpPr>
        <p:spPr>
          <a:xfrm>
            <a:off x="10787459" y="1785541"/>
            <a:ext cx="401241"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04</a:t>
            </a:r>
            <a:endParaRPr lang="en-US" sz="2000" dirty="0"/>
          </a:p>
        </p:txBody>
      </p:sp>
      <p:sp>
        <p:nvSpPr>
          <p:cNvPr id="27" name="Text 20"/>
          <p:cNvSpPr/>
          <p:nvPr/>
        </p:nvSpPr>
        <p:spPr>
          <a:xfrm>
            <a:off x="9023350" y="225544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App control</a:t>
            </a:r>
            <a:endParaRPr lang="en-US" sz="1500" dirty="0"/>
          </a:p>
        </p:txBody>
      </p:sp>
      <p:sp>
        <p:nvSpPr>
          <p:cNvPr id="28" name="Text 21"/>
          <p:cNvSpPr/>
          <p:nvPr/>
        </p:nvSpPr>
        <p:spPr>
          <a:xfrm>
            <a:off x="9023350" y="257294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Only trusted software runs</a:t>
            </a:r>
            <a:endParaRPr lang="en-US" sz="1300" dirty="0"/>
          </a:p>
        </p:txBody>
      </p:sp>
      <p:sp>
        <p:nvSpPr>
          <p:cNvPr id="29" name="Shape 22"/>
          <p:cNvSpPr/>
          <p:nvPr/>
        </p:nvSpPr>
        <p:spPr>
          <a:xfrm>
            <a:off x="819150" y="3127871"/>
            <a:ext cx="2533650" cy="1412180"/>
          </a:xfrm>
          <a:prstGeom prst="roundRect">
            <a:avLst>
              <a:gd name="adj" fmla="val 8544"/>
            </a:avLst>
          </a:prstGeom>
          <a:solidFill>
            <a:srgbClr val="FFFFFF"/>
          </a:solidFill>
          <a:ln w="12700">
            <a:solidFill>
              <a:srgbClr val="E1E7EF"/>
            </a:solidFill>
            <a:prstDash val="solid"/>
          </a:ln>
        </p:spPr>
      </p:sp>
      <p:sp>
        <p:nvSpPr>
          <p:cNvPr id="30" name="Shape 23"/>
          <p:cNvSpPr/>
          <p:nvPr/>
        </p:nvSpPr>
        <p:spPr>
          <a:xfrm>
            <a:off x="1003300" y="3312021"/>
            <a:ext cx="406400" cy="406400"/>
          </a:xfrm>
          <a:prstGeom prst="roundRect">
            <a:avLst>
              <a:gd name="adj" fmla="val 50000"/>
            </a:avLst>
          </a:prstGeom>
          <a:solidFill>
            <a:srgbClr val="E8EFF8"/>
          </a:solidFill>
          <a:ln/>
        </p:spPr>
      </p:sp>
      <p:pic>
        <p:nvPicPr>
          <p:cNvPr id="31" name="Image 5" descr="lock icon">    </p:cNvPr>
          <p:cNvPicPr>
            <a:picLocks noChangeAspect="1"/>
          </p:cNvPicPr>
          <p:nvPr/>
        </p:nvPicPr>
        <p:blipFill>
          <a:blip r:embed="rId6"/>
          <a:srcRect l="0" r="0" t="0" b="0"/>
          <a:stretch/>
        </p:blipFill>
        <p:spPr>
          <a:xfrm>
            <a:off x="1104900" y="3413621"/>
            <a:ext cx="203200" cy="203200"/>
          </a:xfrm>
          <a:prstGeom prst="rect">
            <a:avLst/>
          </a:prstGeom>
        </p:spPr>
      </p:pic>
      <p:sp>
        <p:nvSpPr>
          <p:cNvPr id="32" name="Text 24"/>
          <p:cNvSpPr/>
          <p:nvPr/>
        </p:nvSpPr>
        <p:spPr>
          <a:xfrm>
            <a:off x="2777649" y="3337421"/>
            <a:ext cx="391001"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05</a:t>
            </a:r>
            <a:endParaRPr lang="en-US" sz="2000" dirty="0"/>
          </a:p>
        </p:txBody>
      </p:sp>
      <p:sp>
        <p:nvSpPr>
          <p:cNvPr id="33" name="Text 25"/>
          <p:cNvSpPr/>
          <p:nvPr/>
        </p:nvSpPr>
        <p:spPr>
          <a:xfrm>
            <a:off x="1003300" y="380732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Data protection</a:t>
            </a:r>
            <a:endParaRPr lang="en-US" sz="1500" dirty="0"/>
          </a:p>
        </p:txBody>
      </p:sp>
      <p:sp>
        <p:nvSpPr>
          <p:cNvPr id="34" name="Text 26"/>
          <p:cNvSpPr/>
          <p:nvPr/>
        </p:nvSpPr>
        <p:spPr>
          <a:xfrm>
            <a:off x="1003300" y="412482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Encryption and backups</a:t>
            </a:r>
            <a:endParaRPr lang="en-US" sz="1300" dirty="0"/>
          </a:p>
        </p:txBody>
      </p:sp>
      <p:sp>
        <p:nvSpPr>
          <p:cNvPr id="35" name="Shape 27"/>
          <p:cNvSpPr/>
          <p:nvPr/>
        </p:nvSpPr>
        <p:spPr>
          <a:xfrm>
            <a:off x="3492500" y="3127871"/>
            <a:ext cx="2533650" cy="1412180"/>
          </a:xfrm>
          <a:prstGeom prst="roundRect">
            <a:avLst>
              <a:gd name="adj" fmla="val 8544"/>
            </a:avLst>
          </a:prstGeom>
          <a:solidFill>
            <a:srgbClr val="FFFFFF"/>
          </a:solidFill>
          <a:ln w="12700">
            <a:solidFill>
              <a:srgbClr val="E1E7EF"/>
            </a:solidFill>
            <a:prstDash val="solid"/>
          </a:ln>
        </p:spPr>
      </p:sp>
      <p:sp>
        <p:nvSpPr>
          <p:cNvPr id="36" name="Shape 28"/>
          <p:cNvSpPr/>
          <p:nvPr/>
        </p:nvSpPr>
        <p:spPr>
          <a:xfrm>
            <a:off x="3676650" y="3312021"/>
            <a:ext cx="406400" cy="406400"/>
          </a:xfrm>
          <a:prstGeom prst="roundRect">
            <a:avLst>
              <a:gd name="adj" fmla="val 50000"/>
            </a:avLst>
          </a:prstGeom>
          <a:solidFill>
            <a:srgbClr val="E8EFF8"/>
          </a:solidFill>
          <a:ln/>
        </p:spPr>
      </p:sp>
      <p:pic>
        <p:nvPicPr>
          <p:cNvPr id="37" name="Image 6" descr="wifi icon">    </p:cNvPr>
          <p:cNvPicPr>
            <a:picLocks noChangeAspect="1"/>
          </p:cNvPicPr>
          <p:nvPr/>
        </p:nvPicPr>
        <p:blipFill>
          <a:blip r:embed="rId7"/>
          <a:srcRect l="0" r="0" t="0" b="0"/>
          <a:stretch/>
        </p:blipFill>
        <p:spPr>
          <a:xfrm>
            <a:off x="3778250" y="3413621"/>
            <a:ext cx="203200" cy="203200"/>
          </a:xfrm>
          <a:prstGeom prst="rect">
            <a:avLst/>
          </a:prstGeom>
        </p:spPr>
      </p:pic>
      <p:sp>
        <p:nvSpPr>
          <p:cNvPr id="38" name="Text 29"/>
          <p:cNvSpPr/>
          <p:nvPr/>
        </p:nvSpPr>
        <p:spPr>
          <a:xfrm>
            <a:off x="5446236" y="3337421"/>
            <a:ext cx="395764"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06</a:t>
            </a:r>
            <a:endParaRPr lang="en-US" sz="2000" dirty="0"/>
          </a:p>
        </p:txBody>
      </p:sp>
      <p:sp>
        <p:nvSpPr>
          <p:cNvPr id="39" name="Text 30"/>
          <p:cNvSpPr/>
          <p:nvPr/>
        </p:nvSpPr>
        <p:spPr>
          <a:xfrm>
            <a:off x="3676650" y="380732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Network</a:t>
            </a:r>
            <a:endParaRPr lang="en-US" sz="1500" dirty="0"/>
          </a:p>
        </p:txBody>
      </p:sp>
      <p:sp>
        <p:nvSpPr>
          <p:cNvPr id="40" name="Text 31"/>
          <p:cNvSpPr/>
          <p:nvPr/>
        </p:nvSpPr>
        <p:spPr>
          <a:xfrm>
            <a:off x="3676650" y="412482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Firewall and sharing off</a:t>
            </a:r>
            <a:endParaRPr lang="en-US" sz="1300" dirty="0"/>
          </a:p>
        </p:txBody>
      </p:sp>
      <p:sp>
        <p:nvSpPr>
          <p:cNvPr id="41" name="Shape 32"/>
          <p:cNvSpPr/>
          <p:nvPr/>
        </p:nvSpPr>
        <p:spPr>
          <a:xfrm>
            <a:off x="6165850" y="3127871"/>
            <a:ext cx="2533650" cy="1412180"/>
          </a:xfrm>
          <a:prstGeom prst="roundRect">
            <a:avLst>
              <a:gd name="adj" fmla="val 8544"/>
            </a:avLst>
          </a:prstGeom>
          <a:solidFill>
            <a:srgbClr val="FFFFFF"/>
          </a:solidFill>
          <a:ln w="12700">
            <a:solidFill>
              <a:srgbClr val="E1E7EF"/>
            </a:solidFill>
            <a:prstDash val="solid"/>
          </a:ln>
        </p:spPr>
      </p:sp>
      <p:sp>
        <p:nvSpPr>
          <p:cNvPr id="42" name="Shape 33"/>
          <p:cNvSpPr/>
          <p:nvPr/>
        </p:nvSpPr>
        <p:spPr>
          <a:xfrm>
            <a:off x="6350000" y="3312021"/>
            <a:ext cx="406400" cy="406400"/>
          </a:xfrm>
          <a:prstGeom prst="roundRect">
            <a:avLst>
              <a:gd name="adj" fmla="val 50000"/>
            </a:avLst>
          </a:prstGeom>
          <a:solidFill>
            <a:srgbClr val="E8EFF8"/>
          </a:solidFill>
          <a:ln/>
        </p:spPr>
      </p:sp>
      <p:pic>
        <p:nvPicPr>
          <p:cNvPr id="43" name="Image 7" descr="activity icon">    </p:cNvPr>
          <p:cNvPicPr>
            <a:picLocks noChangeAspect="1"/>
          </p:cNvPicPr>
          <p:nvPr/>
        </p:nvPicPr>
        <p:blipFill>
          <a:blip r:embed="rId8"/>
          <a:srcRect l="0" r="0" t="0" b="0"/>
          <a:stretch/>
        </p:blipFill>
        <p:spPr>
          <a:xfrm>
            <a:off x="6451600" y="3413621"/>
            <a:ext cx="203200" cy="203200"/>
          </a:xfrm>
          <a:prstGeom prst="rect">
            <a:avLst/>
          </a:prstGeom>
        </p:spPr>
      </p:pic>
      <p:sp>
        <p:nvSpPr>
          <p:cNvPr id="44" name="Text 34"/>
          <p:cNvSpPr/>
          <p:nvPr/>
        </p:nvSpPr>
        <p:spPr>
          <a:xfrm>
            <a:off x="8145542" y="3337421"/>
            <a:ext cx="369808" cy="381000"/>
          </a:xfrm>
          <a:prstGeom prst="rect">
            <a:avLst/>
          </a:prstGeom>
          <a:noFill/>
          <a:ln/>
        </p:spPr>
        <p:txBody>
          <a:bodyPr wrap="square" lIns="0" tIns="0" rIns="0" bIns="0" rtlCol="0" anchor="t">
            <a:normAutofit/>
          </a:bodyPr>
          <a:lstStyle/>
          <a:p>
            <a:pPr algn="r" indent="0" marL="0">
              <a:lnSpc>
                <a:spcPts val="2800"/>
              </a:lnSpc>
              <a:buNone/>
            </a:pPr>
            <a:r>
              <a:rPr lang="en-US" sz="2000" b="1" spc="-50" kern="0" dirty="0">
                <a:solidFill>
                  <a:srgbClr val="E1E7EF"/>
                </a:solidFill>
                <a:latin typeface="Inter" pitchFamily="34" charset="0"/>
                <a:ea typeface="Inter" pitchFamily="34" charset="-122"/>
                <a:cs typeface="Inter" pitchFamily="34" charset="-120"/>
              </a:rPr>
              <a:t>07</a:t>
            </a:r>
            <a:endParaRPr lang="en-US" sz="2000" dirty="0"/>
          </a:p>
        </p:txBody>
      </p:sp>
      <p:sp>
        <p:nvSpPr>
          <p:cNvPr id="45" name="Text 35"/>
          <p:cNvSpPr/>
          <p:nvPr/>
        </p:nvSpPr>
        <p:spPr>
          <a:xfrm>
            <a:off x="6350000" y="380732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Monitoring</a:t>
            </a:r>
            <a:endParaRPr lang="en-US" sz="1500" dirty="0"/>
          </a:p>
        </p:txBody>
      </p:sp>
      <p:sp>
        <p:nvSpPr>
          <p:cNvPr id="46" name="Text 36"/>
          <p:cNvSpPr/>
          <p:nvPr/>
        </p:nvSpPr>
        <p:spPr>
          <a:xfrm>
            <a:off x="6350000" y="4124821"/>
            <a:ext cx="223031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D"/>
                </a:solidFill>
                <a:latin typeface="Inter" pitchFamily="34" charset="0"/>
                <a:ea typeface="Inter" pitchFamily="34" charset="-122"/>
                <a:cs typeface="Inter" pitchFamily="34" charset="-120"/>
              </a:rPr>
              <a:t>Logging, EDR and alerts</a:t>
            </a:r>
            <a:endParaRPr lang="en-US" sz="1300" dirty="0"/>
          </a:p>
        </p:txBody>
      </p:sp>
      <p:sp>
        <p:nvSpPr>
          <p:cNvPr id="47" name="Shape 37"/>
          <p:cNvSpPr/>
          <p:nvPr/>
        </p:nvSpPr>
        <p:spPr>
          <a:xfrm>
            <a:off x="8832850" y="3121521"/>
            <a:ext cx="2546350" cy="1424880"/>
          </a:xfrm>
          <a:prstGeom prst="roundRect">
            <a:avLst>
              <a:gd name="adj" fmla="val 7130"/>
            </a:avLst>
          </a:prstGeom>
          <a:solidFill>
            <a:srgbClr val="1F5FA8"/>
          </a:solidFill>
          <a:ln/>
        </p:spPr>
      </p:sp>
      <p:sp>
        <p:nvSpPr>
          <p:cNvPr id="48" name="Text 38"/>
          <p:cNvSpPr/>
          <p:nvPr/>
        </p:nvSpPr>
        <p:spPr>
          <a:xfrm>
            <a:off x="9010650" y="3451027"/>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GOAL</a:t>
            </a:r>
            <a:endParaRPr lang="en-US" sz="1200" dirty="0"/>
          </a:p>
        </p:txBody>
      </p:sp>
      <p:sp>
        <p:nvSpPr>
          <p:cNvPr id="49" name="Text 39"/>
          <p:cNvSpPr/>
          <p:nvPr/>
        </p:nvSpPr>
        <p:spPr>
          <a:xfrm>
            <a:off x="9010650" y="3740547"/>
            <a:ext cx="2256473" cy="501650"/>
          </a:xfrm>
          <a:prstGeom prst="rect">
            <a:avLst/>
          </a:prstGeom>
          <a:noFill/>
          <a:ln/>
        </p:spPr>
        <p:txBody>
          <a:bodyPr wrap="square" lIns="0" tIns="0" rIns="0" bIns="0" rtlCol="0" anchor="t">
            <a:normAutofit/>
          </a:bodyPr>
          <a:lstStyle/>
          <a:p>
            <a:pPr algn="l" indent="0" marL="0">
              <a:lnSpc>
                <a:spcPts val="1875"/>
              </a:lnSpc>
              <a:buNone/>
            </a:pPr>
            <a:r>
              <a:rPr lang="en-US" sz="1500" b="1" spc="-50" kern="0" dirty="0">
                <a:solidFill>
                  <a:srgbClr val="FFFFFF"/>
                </a:solidFill>
                <a:latin typeface="Inter" pitchFamily="34" charset="0"/>
                <a:ea typeface="Inter" pitchFamily="34" charset="-122"/>
                <a:cs typeface="Inter" pitchFamily="34" charset="-120"/>
              </a:rPr>
              <a:t>Every Mac managed, verified and monitored</a:t>
            </a:r>
            <a:endParaRPr lang="en-US" sz="1500" dirty="0"/>
          </a:p>
        </p:txBody>
      </p:sp>
      <p:sp>
        <p:nvSpPr>
          <p:cNvPr id="50" name="Text 4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Aligned with CIS Benchmarks and NIST mSCP</a:t>
            </a:r>
            <a:endParaRPr lang="en-US" sz="1200" dirty="0"/>
          </a:p>
        </p:txBody>
      </p:sp>
      <p:sp>
        <p:nvSpPr>
          <p:cNvPr id="51" name="Text 41"/>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04 · DEVICE MANAGEMENT</a:t>
            </a:r>
            <a:endParaRPr lang="en-US" sz="1200" dirty="0"/>
          </a:p>
        </p:txBody>
      </p:sp>
      <p:sp>
        <p:nvSpPr>
          <p:cNvPr id="4" name="Text 1"/>
          <p:cNvSpPr/>
          <p:nvPr>
            <p:ph type="title"/>
          </p:nvPr>
        </p:nvSpPr>
        <p:spPr>
          <a:xfrm>
            <a:off x="812800" y="81280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Start with MDM: you can’t harden what you don’t manage</a:t>
            </a:r>
            <a:endParaRPr lang="en-US" sz="3600" dirty="0"/>
          </a:p>
        </p:txBody>
      </p:sp>
      <p:sp>
        <p:nvSpPr>
          <p:cNvPr id="5" name="Shape 2"/>
          <p:cNvSpPr/>
          <p:nvPr/>
        </p:nvSpPr>
        <p:spPr>
          <a:xfrm>
            <a:off x="819150" y="2078831"/>
            <a:ext cx="3407767" cy="1626791"/>
          </a:xfrm>
          <a:prstGeom prst="roundRect">
            <a:avLst>
              <a:gd name="adj" fmla="val 7416"/>
            </a:avLst>
          </a:prstGeom>
          <a:solidFill>
            <a:srgbClr val="FFFFFF"/>
          </a:solidFill>
          <a:ln w="12700">
            <a:solidFill>
              <a:srgbClr val="E1E7EF"/>
            </a:solidFill>
            <a:prstDash val="solid"/>
          </a:ln>
        </p:spPr>
      </p:sp>
      <p:sp>
        <p:nvSpPr>
          <p:cNvPr id="6" name="Shape 3"/>
          <p:cNvSpPr/>
          <p:nvPr/>
        </p:nvSpPr>
        <p:spPr>
          <a:xfrm>
            <a:off x="1028700" y="2262981"/>
            <a:ext cx="406400" cy="406400"/>
          </a:xfrm>
          <a:prstGeom prst="roundRect">
            <a:avLst>
              <a:gd name="adj" fmla="val 50000"/>
            </a:avLst>
          </a:prstGeom>
          <a:solidFill>
            <a:srgbClr val="E8EFF8"/>
          </a:solidFill>
          <a:ln/>
        </p:spPr>
      </p:sp>
      <p:pic>
        <p:nvPicPr>
          <p:cNvPr id="7" name="Image 1" descr="box icon">    </p:cNvPr>
          <p:cNvPicPr>
            <a:picLocks noChangeAspect="1"/>
          </p:cNvPicPr>
          <p:nvPr/>
        </p:nvPicPr>
        <p:blipFill>
          <a:blip r:embed="rId2"/>
          <a:srcRect l="0" r="0" t="0" b="0"/>
          <a:stretch/>
        </p:blipFill>
        <p:spPr>
          <a:xfrm>
            <a:off x="1130300" y="2364581"/>
            <a:ext cx="203200" cy="203200"/>
          </a:xfrm>
          <a:prstGeom prst="rect">
            <a:avLst/>
          </a:prstGeom>
        </p:spPr>
      </p:pic>
      <p:sp>
        <p:nvSpPr>
          <p:cNvPr id="8" name="Text 4"/>
          <p:cNvSpPr/>
          <p:nvPr/>
        </p:nvSpPr>
        <p:spPr>
          <a:xfrm>
            <a:off x="1028700" y="275828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Automated Device Enrollment</a:t>
            </a:r>
            <a:endParaRPr lang="en-US" sz="1500" dirty="0"/>
          </a:p>
        </p:txBody>
      </p:sp>
      <p:sp>
        <p:nvSpPr>
          <p:cNvPr id="9" name="Text 5"/>
          <p:cNvSpPr/>
          <p:nvPr/>
        </p:nvSpPr>
        <p:spPr>
          <a:xfrm>
            <a:off x="1028700" y="307578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Macs from Apple Business Manager enroll on first boot</a:t>
            </a:r>
            <a:endParaRPr lang="en-US" sz="1300" dirty="0"/>
          </a:p>
        </p:txBody>
      </p:sp>
      <p:sp>
        <p:nvSpPr>
          <p:cNvPr id="10" name="Shape 6"/>
          <p:cNvSpPr/>
          <p:nvPr/>
        </p:nvSpPr>
        <p:spPr>
          <a:xfrm>
            <a:off x="4392017" y="2078831"/>
            <a:ext cx="3407866" cy="1626791"/>
          </a:xfrm>
          <a:prstGeom prst="roundRect">
            <a:avLst>
              <a:gd name="adj" fmla="val 7416"/>
            </a:avLst>
          </a:prstGeom>
          <a:solidFill>
            <a:srgbClr val="FFFFFF"/>
          </a:solidFill>
          <a:ln w="12700">
            <a:solidFill>
              <a:srgbClr val="E1E7EF"/>
            </a:solidFill>
            <a:prstDash val="solid"/>
          </a:ln>
        </p:spPr>
      </p:sp>
      <p:sp>
        <p:nvSpPr>
          <p:cNvPr id="11" name="Shape 7"/>
          <p:cNvSpPr/>
          <p:nvPr/>
        </p:nvSpPr>
        <p:spPr>
          <a:xfrm>
            <a:off x="4601567" y="2262981"/>
            <a:ext cx="406400" cy="406400"/>
          </a:xfrm>
          <a:prstGeom prst="roundRect">
            <a:avLst>
              <a:gd name="adj" fmla="val 50000"/>
            </a:avLst>
          </a:prstGeom>
          <a:solidFill>
            <a:srgbClr val="E8EFF8"/>
          </a:solidFill>
          <a:ln/>
        </p:spPr>
      </p:sp>
      <p:pic>
        <p:nvPicPr>
          <p:cNvPr id="12" name="Image 2" descr="lock icon">    </p:cNvPr>
          <p:cNvPicPr>
            <a:picLocks noChangeAspect="1"/>
          </p:cNvPicPr>
          <p:nvPr/>
        </p:nvPicPr>
        <p:blipFill>
          <a:blip r:embed="rId3"/>
          <a:srcRect l="0" r="0" t="0" b="0"/>
          <a:stretch/>
        </p:blipFill>
        <p:spPr>
          <a:xfrm>
            <a:off x="4703167" y="2364581"/>
            <a:ext cx="203200" cy="203200"/>
          </a:xfrm>
          <a:prstGeom prst="rect">
            <a:avLst/>
          </a:prstGeom>
        </p:spPr>
      </p:pic>
      <p:sp>
        <p:nvSpPr>
          <p:cNvPr id="13" name="Text 8"/>
          <p:cNvSpPr/>
          <p:nvPr/>
        </p:nvSpPr>
        <p:spPr>
          <a:xfrm>
            <a:off x="4601567" y="275828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Non-removable MDM profile</a:t>
            </a:r>
            <a:endParaRPr lang="en-US" sz="1500" dirty="0"/>
          </a:p>
        </p:txBody>
      </p:sp>
      <p:sp>
        <p:nvSpPr>
          <p:cNvPr id="14" name="Text 9"/>
          <p:cNvSpPr/>
          <p:nvPr/>
        </p:nvSpPr>
        <p:spPr>
          <a:xfrm>
            <a:off x="4601567" y="307578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Users can't unenroll and escape policy</a:t>
            </a:r>
            <a:endParaRPr lang="en-US" sz="1300" dirty="0"/>
          </a:p>
        </p:txBody>
      </p:sp>
      <p:sp>
        <p:nvSpPr>
          <p:cNvPr id="15" name="Shape 10"/>
          <p:cNvSpPr/>
          <p:nvPr/>
        </p:nvSpPr>
        <p:spPr>
          <a:xfrm>
            <a:off x="7964984" y="2078831"/>
            <a:ext cx="3407866" cy="1626791"/>
          </a:xfrm>
          <a:prstGeom prst="roundRect">
            <a:avLst>
              <a:gd name="adj" fmla="val 7416"/>
            </a:avLst>
          </a:prstGeom>
          <a:solidFill>
            <a:srgbClr val="FFFFFF"/>
          </a:solidFill>
          <a:ln w="12700">
            <a:solidFill>
              <a:srgbClr val="E1E7EF"/>
            </a:solidFill>
            <a:prstDash val="solid"/>
          </a:ln>
        </p:spPr>
      </p:sp>
      <p:sp>
        <p:nvSpPr>
          <p:cNvPr id="16" name="Shape 11"/>
          <p:cNvSpPr/>
          <p:nvPr/>
        </p:nvSpPr>
        <p:spPr>
          <a:xfrm>
            <a:off x="8174534" y="2262981"/>
            <a:ext cx="406400" cy="406400"/>
          </a:xfrm>
          <a:prstGeom prst="roundRect">
            <a:avLst>
              <a:gd name="adj" fmla="val 50000"/>
            </a:avLst>
          </a:prstGeom>
          <a:solidFill>
            <a:srgbClr val="E8EFF8"/>
          </a:solidFill>
          <a:ln/>
        </p:spPr>
      </p:sp>
      <p:pic>
        <p:nvPicPr>
          <p:cNvPr id="17" name="Image 3" descr="sliders icon">    </p:cNvPr>
          <p:cNvPicPr>
            <a:picLocks noChangeAspect="1"/>
          </p:cNvPicPr>
          <p:nvPr/>
        </p:nvPicPr>
        <p:blipFill>
          <a:blip r:embed="rId4"/>
          <a:srcRect l="0" r="0" t="0" b="0"/>
          <a:stretch/>
        </p:blipFill>
        <p:spPr>
          <a:xfrm>
            <a:off x="8276134" y="2364581"/>
            <a:ext cx="203200" cy="203200"/>
          </a:xfrm>
          <a:prstGeom prst="rect">
            <a:avLst/>
          </a:prstGeom>
        </p:spPr>
      </p:pic>
      <p:sp>
        <p:nvSpPr>
          <p:cNvPr id="18" name="Text 12"/>
          <p:cNvSpPr/>
          <p:nvPr/>
        </p:nvSpPr>
        <p:spPr>
          <a:xfrm>
            <a:off x="8174534" y="275828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Configuration profiles</a:t>
            </a:r>
            <a:endParaRPr lang="en-US" sz="1500" dirty="0"/>
          </a:p>
        </p:txBody>
      </p:sp>
      <p:sp>
        <p:nvSpPr>
          <p:cNvPr id="19" name="Text 13"/>
          <p:cNvSpPr/>
          <p:nvPr/>
        </p:nvSpPr>
        <p:spPr>
          <a:xfrm>
            <a:off x="8174534" y="3075781"/>
            <a:ext cx="30784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Push security settings centrally</a:t>
            </a:r>
            <a:endParaRPr lang="en-US" sz="1300" dirty="0"/>
          </a:p>
        </p:txBody>
      </p:sp>
      <p:sp>
        <p:nvSpPr>
          <p:cNvPr id="20" name="Shape 14"/>
          <p:cNvSpPr/>
          <p:nvPr/>
        </p:nvSpPr>
        <p:spPr>
          <a:xfrm>
            <a:off x="819150" y="3870722"/>
            <a:ext cx="3407767" cy="1855391"/>
          </a:xfrm>
          <a:prstGeom prst="roundRect">
            <a:avLst>
              <a:gd name="adj" fmla="val 6503"/>
            </a:avLst>
          </a:prstGeom>
          <a:solidFill>
            <a:srgbClr val="FFFFFF"/>
          </a:solidFill>
          <a:ln w="12700">
            <a:solidFill>
              <a:srgbClr val="E1E7EF"/>
            </a:solidFill>
            <a:prstDash val="solid"/>
          </a:ln>
        </p:spPr>
      </p:sp>
      <p:sp>
        <p:nvSpPr>
          <p:cNvPr id="21" name="Shape 15"/>
          <p:cNvSpPr/>
          <p:nvPr/>
        </p:nvSpPr>
        <p:spPr>
          <a:xfrm>
            <a:off x="1028700" y="4054872"/>
            <a:ext cx="406400" cy="406400"/>
          </a:xfrm>
          <a:prstGeom prst="roundRect">
            <a:avLst>
              <a:gd name="adj" fmla="val 50000"/>
            </a:avLst>
          </a:prstGeom>
          <a:solidFill>
            <a:srgbClr val="E8EFF8"/>
          </a:solidFill>
          <a:ln/>
        </p:spPr>
      </p:sp>
      <p:pic>
        <p:nvPicPr>
          <p:cNvPr id="22" name="Image 4" descr="list icon">    </p:cNvPr>
          <p:cNvPicPr>
            <a:picLocks noChangeAspect="1"/>
          </p:cNvPicPr>
          <p:nvPr/>
        </p:nvPicPr>
        <p:blipFill>
          <a:blip r:embed="rId5"/>
          <a:srcRect l="0" r="0" t="0" b="0"/>
          <a:stretch/>
        </p:blipFill>
        <p:spPr>
          <a:xfrm>
            <a:off x="1130300" y="4156472"/>
            <a:ext cx="203200" cy="203200"/>
          </a:xfrm>
          <a:prstGeom prst="rect">
            <a:avLst/>
          </a:prstGeom>
        </p:spPr>
      </p:pic>
      <p:sp>
        <p:nvSpPr>
          <p:cNvPr id="23" name="Text 16"/>
          <p:cNvSpPr/>
          <p:nvPr/>
        </p:nvSpPr>
        <p:spPr>
          <a:xfrm>
            <a:off x="1028700" y="4550172"/>
            <a:ext cx="3078327"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Declarative Device Management</a:t>
            </a:r>
            <a:endParaRPr lang="en-US" sz="1500" dirty="0"/>
          </a:p>
        </p:txBody>
      </p:sp>
      <p:sp>
        <p:nvSpPr>
          <p:cNvPr id="24" name="Text 17"/>
          <p:cNvSpPr/>
          <p:nvPr/>
        </p:nvSpPr>
        <p:spPr>
          <a:xfrm>
            <a:off x="1028700" y="5096272"/>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Devices enforce and report their own state</a:t>
            </a:r>
            <a:endParaRPr lang="en-US" sz="1300" dirty="0"/>
          </a:p>
        </p:txBody>
      </p:sp>
      <p:sp>
        <p:nvSpPr>
          <p:cNvPr id="25" name="Shape 18"/>
          <p:cNvSpPr/>
          <p:nvPr/>
        </p:nvSpPr>
        <p:spPr>
          <a:xfrm>
            <a:off x="4392017" y="3870722"/>
            <a:ext cx="3407866" cy="1855391"/>
          </a:xfrm>
          <a:prstGeom prst="roundRect">
            <a:avLst>
              <a:gd name="adj" fmla="val 6503"/>
            </a:avLst>
          </a:prstGeom>
          <a:solidFill>
            <a:srgbClr val="FFFFFF"/>
          </a:solidFill>
          <a:ln w="12700">
            <a:solidFill>
              <a:srgbClr val="E1E7EF"/>
            </a:solidFill>
            <a:prstDash val="solid"/>
          </a:ln>
        </p:spPr>
      </p:sp>
      <p:sp>
        <p:nvSpPr>
          <p:cNvPr id="26" name="Shape 19"/>
          <p:cNvSpPr/>
          <p:nvPr/>
        </p:nvSpPr>
        <p:spPr>
          <a:xfrm>
            <a:off x="4601567" y="4054872"/>
            <a:ext cx="406400" cy="406400"/>
          </a:xfrm>
          <a:prstGeom prst="roundRect">
            <a:avLst>
              <a:gd name="adj" fmla="val 50000"/>
            </a:avLst>
          </a:prstGeom>
          <a:solidFill>
            <a:srgbClr val="E8EFF8"/>
          </a:solidFill>
          <a:ln/>
        </p:spPr>
      </p:sp>
      <p:pic>
        <p:nvPicPr>
          <p:cNvPr id="27" name="Image 5" descr="check icon">    </p:cNvPr>
          <p:cNvPicPr>
            <a:picLocks noChangeAspect="1"/>
          </p:cNvPicPr>
          <p:nvPr/>
        </p:nvPicPr>
        <p:blipFill>
          <a:blip r:embed="rId6"/>
          <a:srcRect l="0" r="0" t="0" b="0"/>
          <a:stretch/>
        </p:blipFill>
        <p:spPr>
          <a:xfrm>
            <a:off x="4703167" y="4156472"/>
            <a:ext cx="203200" cy="203200"/>
          </a:xfrm>
          <a:prstGeom prst="rect">
            <a:avLst/>
          </a:prstGeom>
        </p:spPr>
      </p:pic>
      <p:sp>
        <p:nvSpPr>
          <p:cNvPr id="28" name="Text 20"/>
          <p:cNvSpPr/>
          <p:nvPr/>
        </p:nvSpPr>
        <p:spPr>
          <a:xfrm>
            <a:off x="4601567" y="4550172"/>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Compliance checks</a:t>
            </a:r>
            <a:endParaRPr lang="en-US" sz="1500" dirty="0"/>
          </a:p>
        </p:txBody>
      </p:sp>
      <p:sp>
        <p:nvSpPr>
          <p:cNvPr id="29" name="Text 21"/>
          <p:cNvSpPr/>
          <p:nvPr/>
        </p:nvSpPr>
        <p:spPr>
          <a:xfrm>
            <a:off x="4601567" y="4867672"/>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Block access from non-compliant Macs</a:t>
            </a:r>
            <a:endParaRPr lang="en-US" sz="1300" dirty="0"/>
          </a:p>
        </p:txBody>
      </p:sp>
      <p:sp>
        <p:nvSpPr>
          <p:cNvPr id="30" name="Shape 22"/>
          <p:cNvSpPr/>
          <p:nvPr/>
        </p:nvSpPr>
        <p:spPr>
          <a:xfrm>
            <a:off x="7964984" y="3870722"/>
            <a:ext cx="3407866" cy="1855391"/>
          </a:xfrm>
          <a:prstGeom prst="roundRect">
            <a:avLst>
              <a:gd name="adj" fmla="val 6503"/>
            </a:avLst>
          </a:prstGeom>
          <a:solidFill>
            <a:srgbClr val="FFFFFF"/>
          </a:solidFill>
          <a:ln w="12700">
            <a:solidFill>
              <a:srgbClr val="E1E7EF"/>
            </a:solidFill>
            <a:prstDash val="solid"/>
          </a:ln>
        </p:spPr>
      </p:sp>
      <p:sp>
        <p:nvSpPr>
          <p:cNvPr id="31" name="Shape 23"/>
          <p:cNvSpPr/>
          <p:nvPr/>
        </p:nvSpPr>
        <p:spPr>
          <a:xfrm>
            <a:off x="8174534" y="4054872"/>
            <a:ext cx="406400" cy="406400"/>
          </a:xfrm>
          <a:prstGeom prst="roundRect">
            <a:avLst>
              <a:gd name="adj" fmla="val 50000"/>
            </a:avLst>
          </a:prstGeom>
          <a:solidFill>
            <a:srgbClr val="E8EFF8"/>
          </a:solidFill>
          <a:ln/>
        </p:spPr>
      </p:sp>
      <p:pic>
        <p:nvPicPr>
          <p:cNvPr id="32" name="Image 6" descr="logout icon">    </p:cNvPr>
          <p:cNvPicPr>
            <a:picLocks noChangeAspect="1"/>
          </p:cNvPicPr>
          <p:nvPr/>
        </p:nvPicPr>
        <p:blipFill>
          <a:blip r:embed="rId7"/>
          <a:srcRect l="0" r="0" t="0" b="0"/>
          <a:stretch/>
        </p:blipFill>
        <p:spPr>
          <a:xfrm>
            <a:off x="8276134" y="4156472"/>
            <a:ext cx="203200" cy="203200"/>
          </a:xfrm>
          <a:prstGeom prst="rect">
            <a:avLst/>
          </a:prstGeom>
        </p:spPr>
      </p:pic>
      <p:sp>
        <p:nvSpPr>
          <p:cNvPr id="33" name="Text 24"/>
          <p:cNvSpPr/>
          <p:nvPr/>
        </p:nvSpPr>
        <p:spPr>
          <a:xfrm>
            <a:off x="8174534" y="4550172"/>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Remote lock and wipe</a:t>
            </a:r>
            <a:endParaRPr lang="en-US" sz="1500" dirty="0"/>
          </a:p>
        </p:txBody>
      </p:sp>
      <p:sp>
        <p:nvSpPr>
          <p:cNvPr id="34" name="Text 25"/>
          <p:cNvSpPr/>
          <p:nvPr/>
        </p:nvSpPr>
        <p:spPr>
          <a:xfrm>
            <a:off x="8174534" y="4867672"/>
            <a:ext cx="30784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For lost, stolen or departing devices</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Apple Business Manager · MDM · Declarative Device Management</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05 · IDENTITY AND ACCOUNTS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Secure user and admin accounts</a:t>
            </a:r>
            <a:endParaRPr lang="en-US" sz="3600" dirty="0"/>
          </a:p>
        </p:txBody>
      </p:sp>
      <p:sp>
        <p:nvSpPr>
          <p:cNvPr id="5" name="Shape 2"/>
          <p:cNvSpPr/>
          <p:nvPr/>
        </p:nvSpPr>
        <p:spPr>
          <a:xfrm>
            <a:off x="819150" y="1575991"/>
            <a:ext cx="3407767" cy="1626791"/>
          </a:xfrm>
          <a:prstGeom prst="roundRect">
            <a:avLst>
              <a:gd name="adj" fmla="val 7416"/>
            </a:avLst>
          </a:prstGeom>
          <a:solidFill>
            <a:srgbClr val="FFFFFF"/>
          </a:solidFill>
          <a:ln w="12700">
            <a:solidFill>
              <a:srgbClr val="E1E7EF"/>
            </a:solidFill>
            <a:prstDash val="solid"/>
          </a:ln>
        </p:spPr>
      </p:sp>
      <p:sp>
        <p:nvSpPr>
          <p:cNvPr id="6" name="Shape 3"/>
          <p:cNvSpPr/>
          <p:nvPr/>
        </p:nvSpPr>
        <p:spPr>
          <a:xfrm>
            <a:off x="1028700" y="1760141"/>
            <a:ext cx="406400" cy="406400"/>
          </a:xfrm>
          <a:prstGeom prst="roundRect">
            <a:avLst>
              <a:gd name="adj" fmla="val 50000"/>
            </a:avLst>
          </a:prstGeom>
          <a:solidFill>
            <a:srgbClr val="E8EFF8"/>
          </a:solidFill>
          <a:ln/>
        </p:spPr>
      </p:sp>
      <p:pic>
        <p:nvPicPr>
          <p:cNvPr id="7" name="Image 1" descr="user icon">    </p:cNvPr>
          <p:cNvPicPr>
            <a:picLocks noChangeAspect="1"/>
          </p:cNvPicPr>
          <p:nvPr/>
        </p:nvPicPr>
        <p:blipFill>
          <a:blip r:embed="rId2"/>
          <a:srcRect l="0" r="0" t="0" b="0"/>
          <a:stretch/>
        </p:blipFill>
        <p:spPr>
          <a:xfrm>
            <a:off x="1130300" y="1861741"/>
            <a:ext cx="203200" cy="203200"/>
          </a:xfrm>
          <a:prstGeom prst="rect">
            <a:avLst/>
          </a:prstGeom>
        </p:spPr>
      </p:pic>
      <p:sp>
        <p:nvSpPr>
          <p:cNvPr id="8" name="Text 4"/>
          <p:cNvSpPr/>
          <p:nvPr/>
        </p:nvSpPr>
        <p:spPr>
          <a:xfrm>
            <a:off x="1028700" y="225544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Standard user accounts</a:t>
            </a:r>
            <a:endParaRPr lang="en-US" sz="1500" dirty="0"/>
          </a:p>
        </p:txBody>
      </p:sp>
      <p:sp>
        <p:nvSpPr>
          <p:cNvPr id="9" name="Text 5"/>
          <p:cNvSpPr/>
          <p:nvPr/>
        </p:nvSpPr>
        <p:spPr>
          <a:xfrm>
            <a:off x="1028700" y="2572941"/>
            <a:ext cx="30783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No everyday local admin rights</a:t>
            </a:r>
            <a:endParaRPr lang="en-US" sz="1300" dirty="0"/>
          </a:p>
        </p:txBody>
      </p:sp>
      <p:sp>
        <p:nvSpPr>
          <p:cNvPr id="10" name="Shape 6"/>
          <p:cNvSpPr/>
          <p:nvPr/>
        </p:nvSpPr>
        <p:spPr>
          <a:xfrm>
            <a:off x="4392017" y="1575991"/>
            <a:ext cx="3407866" cy="1626791"/>
          </a:xfrm>
          <a:prstGeom prst="roundRect">
            <a:avLst>
              <a:gd name="adj" fmla="val 7416"/>
            </a:avLst>
          </a:prstGeom>
          <a:solidFill>
            <a:srgbClr val="FFFFFF"/>
          </a:solidFill>
          <a:ln w="12700">
            <a:solidFill>
              <a:srgbClr val="E1E7EF"/>
            </a:solidFill>
            <a:prstDash val="solid"/>
          </a:ln>
        </p:spPr>
      </p:sp>
      <p:sp>
        <p:nvSpPr>
          <p:cNvPr id="11" name="Shape 7"/>
          <p:cNvSpPr/>
          <p:nvPr/>
        </p:nvSpPr>
        <p:spPr>
          <a:xfrm>
            <a:off x="4601567" y="1760141"/>
            <a:ext cx="406400" cy="406400"/>
          </a:xfrm>
          <a:prstGeom prst="roundRect">
            <a:avLst>
              <a:gd name="adj" fmla="val 50000"/>
            </a:avLst>
          </a:prstGeom>
          <a:solidFill>
            <a:srgbClr val="E8EFF8"/>
          </a:solidFill>
          <a:ln/>
        </p:spPr>
      </p:sp>
      <p:pic>
        <p:nvPicPr>
          <p:cNvPr id="12" name="Image 2" descr="zap icon">    </p:cNvPr>
          <p:cNvPicPr>
            <a:picLocks noChangeAspect="1"/>
          </p:cNvPicPr>
          <p:nvPr/>
        </p:nvPicPr>
        <p:blipFill>
          <a:blip r:embed="rId3"/>
          <a:srcRect l="0" r="0" t="0" b="0"/>
          <a:stretch/>
        </p:blipFill>
        <p:spPr>
          <a:xfrm>
            <a:off x="4703167" y="1861741"/>
            <a:ext cx="203200" cy="203200"/>
          </a:xfrm>
          <a:prstGeom prst="rect">
            <a:avLst/>
          </a:prstGeom>
        </p:spPr>
      </p:pic>
      <p:sp>
        <p:nvSpPr>
          <p:cNvPr id="13" name="Text 8"/>
          <p:cNvSpPr/>
          <p:nvPr/>
        </p:nvSpPr>
        <p:spPr>
          <a:xfrm>
            <a:off x="4601567"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Just-in-time admin</a:t>
            </a:r>
            <a:endParaRPr lang="en-US" sz="1500" dirty="0"/>
          </a:p>
        </p:txBody>
      </p:sp>
      <p:sp>
        <p:nvSpPr>
          <p:cNvPr id="14" name="Text 9"/>
          <p:cNvSpPr/>
          <p:nvPr/>
        </p:nvSpPr>
        <p:spPr>
          <a:xfrm>
            <a:off x="4601567"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Temporary elevation, approved and logged</a:t>
            </a:r>
            <a:endParaRPr lang="en-US" sz="1300" dirty="0"/>
          </a:p>
        </p:txBody>
      </p:sp>
      <p:sp>
        <p:nvSpPr>
          <p:cNvPr id="15" name="Shape 10"/>
          <p:cNvSpPr/>
          <p:nvPr/>
        </p:nvSpPr>
        <p:spPr>
          <a:xfrm>
            <a:off x="7964984" y="1575991"/>
            <a:ext cx="3407866" cy="1626791"/>
          </a:xfrm>
          <a:prstGeom prst="roundRect">
            <a:avLst>
              <a:gd name="adj" fmla="val 7416"/>
            </a:avLst>
          </a:prstGeom>
          <a:solidFill>
            <a:srgbClr val="FFFFFF"/>
          </a:solidFill>
          <a:ln w="12700">
            <a:solidFill>
              <a:srgbClr val="E1E7EF"/>
            </a:solidFill>
            <a:prstDash val="solid"/>
          </a:ln>
        </p:spPr>
      </p:sp>
      <p:sp>
        <p:nvSpPr>
          <p:cNvPr id="16" name="Shape 11"/>
          <p:cNvSpPr/>
          <p:nvPr/>
        </p:nvSpPr>
        <p:spPr>
          <a:xfrm>
            <a:off x="8174534" y="1760141"/>
            <a:ext cx="406400" cy="406400"/>
          </a:xfrm>
          <a:prstGeom prst="roundRect">
            <a:avLst>
              <a:gd name="adj" fmla="val 50000"/>
            </a:avLst>
          </a:prstGeom>
          <a:solidFill>
            <a:srgbClr val="E8EFF8"/>
          </a:solidFill>
          <a:ln/>
        </p:spPr>
      </p:sp>
      <p:pic>
        <p:nvPicPr>
          <p:cNvPr id="17" name="Image 3" descr="key icon">    </p:cNvPr>
          <p:cNvPicPr>
            <a:picLocks noChangeAspect="1"/>
          </p:cNvPicPr>
          <p:nvPr/>
        </p:nvPicPr>
        <p:blipFill>
          <a:blip r:embed="rId4"/>
          <a:srcRect l="0" r="0" t="0" b="0"/>
          <a:stretch/>
        </p:blipFill>
        <p:spPr>
          <a:xfrm>
            <a:off x="8276134" y="1861741"/>
            <a:ext cx="203200" cy="203200"/>
          </a:xfrm>
          <a:prstGeom prst="rect">
            <a:avLst/>
          </a:prstGeom>
        </p:spPr>
      </p:pic>
      <p:sp>
        <p:nvSpPr>
          <p:cNvPr id="18" name="Text 12"/>
          <p:cNvSpPr/>
          <p:nvPr/>
        </p:nvSpPr>
        <p:spPr>
          <a:xfrm>
            <a:off x="8174534"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Platform SSO</a:t>
            </a:r>
            <a:endParaRPr lang="en-US" sz="1500" dirty="0"/>
          </a:p>
        </p:txBody>
      </p:sp>
      <p:sp>
        <p:nvSpPr>
          <p:cNvPr id="19" name="Text 13"/>
          <p:cNvSpPr/>
          <p:nvPr/>
        </p:nvSpPr>
        <p:spPr>
          <a:xfrm>
            <a:off x="8174534"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Sign in with the company identity and MFA</a:t>
            </a:r>
            <a:endParaRPr lang="en-US" sz="1300" dirty="0"/>
          </a:p>
        </p:txBody>
      </p:sp>
      <p:sp>
        <p:nvSpPr>
          <p:cNvPr id="20" name="Shape 14"/>
          <p:cNvSpPr/>
          <p:nvPr/>
        </p:nvSpPr>
        <p:spPr>
          <a:xfrm>
            <a:off x="819150" y="3367881"/>
            <a:ext cx="3407767" cy="1626791"/>
          </a:xfrm>
          <a:prstGeom prst="roundRect">
            <a:avLst>
              <a:gd name="adj" fmla="val 7416"/>
            </a:avLst>
          </a:prstGeom>
          <a:solidFill>
            <a:srgbClr val="FFFFFF"/>
          </a:solidFill>
          <a:ln w="12700">
            <a:solidFill>
              <a:srgbClr val="E1E7EF"/>
            </a:solidFill>
            <a:prstDash val="solid"/>
          </a:ln>
        </p:spPr>
      </p:sp>
      <p:sp>
        <p:nvSpPr>
          <p:cNvPr id="21" name="Shape 15"/>
          <p:cNvSpPr/>
          <p:nvPr/>
        </p:nvSpPr>
        <p:spPr>
          <a:xfrm>
            <a:off x="1028700" y="3552031"/>
            <a:ext cx="406400" cy="406400"/>
          </a:xfrm>
          <a:prstGeom prst="roundRect">
            <a:avLst>
              <a:gd name="adj" fmla="val 50000"/>
            </a:avLst>
          </a:prstGeom>
          <a:solidFill>
            <a:srgbClr val="E8EFF8"/>
          </a:solidFill>
          <a:ln/>
        </p:spPr>
      </p:sp>
      <p:pic>
        <p:nvPicPr>
          <p:cNvPr id="22" name="Image 4" descr="clock icon">    </p:cNvPr>
          <p:cNvPicPr>
            <a:picLocks noChangeAspect="1"/>
          </p:cNvPicPr>
          <p:nvPr/>
        </p:nvPicPr>
        <p:blipFill>
          <a:blip r:embed="rId5"/>
          <a:srcRect l="0" r="0" t="0" b="0"/>
          <a:stretch/>
        </p:blipFill>
        <p:spPr>
          <a:xfrm>
            <a:off x="1130300" y="3653631"/>
            <a:ext cx="203200" cy="203200"/>
          </a:xfrm>
          <a:prstGeom prst="rect">
            <a:avLst/>
          </a:prstGeom>
        </p:spPr>
      </p:pic>
      <p:sp>
        <p:nvSpPr>
          <p:cNvPr id="23" name="Text 16"/>
          <p:cNvSpPr/>
          <p:nvPr/>
        </p:nvSpPr>
        <p:spPr>
          <a:xfrm>
            <a:off x="1028700" y="4047331"/>
            <a:ext cx="31918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Auto-lock and password policy</a:t>
            </a:r>
            <a:endParaRPr lang="en-US" sz="1500" dirty="0"/>
          </a:p>
        </p:txBody>
      </p:sp>
      <p:sp>
        <p:nvSpPr>
          <p:cNvPr id="24" name="Text 17"/>
          <p:cNvSpPr/>
          <p:nvPr/>
        </p:nvSpPr>
        <p:spPr>
          <a:xfrm>
            <a:off x="1028700" y="436483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Screen locks quickly; strong passwords</a:t>
            </a:r>
            <a:endParaRPr lang="en-US" sz="1300" dirty="0"/>
          </a:p>
        </p:txBody>
      </p:sp>
      <p:sp>
        <p:nvSpPr>
          <p:cNvPr id="25" name="Shape 18"/>
          <p:cNvSpPr/>
          <p:nvPr/>
        </p:nvSpPr>
        <p:spPr>
          <a:xfrm>
            <a:off x="4392017" y="3367881"/>
            <a:ext cx="3407866" cy="1626791"/>
          </a:xfrm>
          <a:prstGeom prst="roundRect">
            <a:avLst>
              <a:gd name="adj" fmla="val 7416"/>
            </a:avLst>
          </a:prstGeom>
          <a:solidFill>
            <a:srgbClr val="FFFFFF"/>
          </a:solidFill>
          <a:ln w="12700">
            <a:solidFill>
              <a:srgbClr val="E1E7EF"/>
            </a:solidFill>
            <a:prstDash val="solid"/>
          </a:ln>
        </p:spPr>
      </p:sp>
      <p:sp>
        <p:nvSpPr>
          <p:cNvPr id="26" name="Shape 19"/>
          <p:cNvSpPr/>
          <p:nvPr/>
        </p:nvSpPr>
        <p:spPr>
          <a:xfrm>
            <a:off x="4601567" y="3552031"/>
            <a:ext cx="406400" cy="406400"/>
          </a:xfrm>
          <a:prstGeom prst="roundRect">
            <a:avLst>
              <a:gd name="adj" fmla="val 50000"/>
            </a:avLst>
          </a:prstGeom>
          <a:solidFill>
            <a:srgbClr val="E8EFF8"/>
          </a:solidFill>
          <a:ln/>
        </p:spPr>
      </p:sp>
      <p:pic>
        <p:nvPicPr>
          <p:cNvPr id="27" name="Image 5" descr="ban icon">    </p:cNvPr>
          <p:cNvPicPr>
            <a:picLocks noChangeAspect="1"/>
          </p:cNvPicPr>
          <p:nvPr/>
        </p:nvPicPr>
        <p:blipFill>
          <a:blip r:embed="rId6"/>
          <a:srcRect l="0" r="0" t="0" b="0"/>
          <a:stretch/>
        </p:blipFill>
        <p:spPr>
          <a:xfrm>
            <a:off x="4703167" y="3653631"/>
            <a:ext cx="203200" cy="203200"/>
          </a:xfrm>
          <a:prstGeom prst="rect">
            <a:avLst/>
          </a:prstGeom>
        </p:spPr>
      </p:pic>
      <p:sp>
        <p:nvSpPr>
          <p:cNvPr id="28" name="Text 20"/>
          <p:cNvSpPr/>
          <p:nvPr/>
        </p:nvSpPr>
        <p:spPr>
          <a:xfrm>
            <a:off x="4601567"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Guest and auto-login off</a:t>
            </a:r>
            <a:endParaRPr lang="en-US" sz="1500" dirty="0"/>
          </a:p>
        </p:txBody>
      </p:sp>
      <p:sp>
        <p:nvSpPr>
          <p:cNvPr id="29" name="Text 21"/>
          <p:cNvSpPr/>
          <p:nvPr/>
        </p:nvSpPr>
        <p:spPr>
          <a:xfrm>
            <a:off x="4601567" y="4364831"/>
            <a:ext cx="30784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No anonymous or automatic access</a:t>
            </a:r>
            <a:endParaRPr lang="en-US" sz="1300" dirty="0"/>
          </a:p>
        </p:txBody>
      </p:sp>
      <p:sp>
        <p:nvSpPr>
          <p:cNvPr id="30" name="Shape 22"/>
          <p:cNvSpPr/>
          <p:nvPr/>
        </p:nvSpPr>
        <p:spPr>
          <a:xfrm>
            <a:off x="7964984" y="3367881"/>
            <a:ext cx="3407866" cy="1626791"/>
          </a:xfrm>
          <a:prstGeom prst="roundRect">
            <a:avLst>
              <a:gd name="adj" fmla="val 7416"/>
            </a:avLst>
          </a:prstGeom>
          <a:solidFill>
            <a:srgbClr val="FFFFFF"/>
          </a:solidFill>
          <a:ln w="12700">
            <a:solidFill>
              <a:srgbClr val="E1E7EF"/>
            </a:solidFill>
            <a:prstDash val="solid"/>
          </a:ln>
        </p:spPr>
      </p:sp>
      <p:sp>
        <p:nvSpPr>
          <p:cNvPr id="31" name="Shape 23"/>
          <p:cNvSpPr/>
          <p:nvPr/>
        </p:nvSpPr>
        <p:spPr>
          <a:xfrm>
            <a:off x="8174534" y="3552031"/>
            <a:ext cx="406400" cy="406400"/>
          </a:xfrm>
          <a:prstGeom prst="roundRect">
            <a:avLst>
              <a:gd name="adj" fmla="val 50000"/>
            </a:avLst>
          </a:prstGeom>
          <a:solidFill>
            <a:srgbClr val="E8EFF8"/>
          </a:solidFill>
          <a:ln/>
        </p:spPr>
      </p:sp>
      <p:pic>
        <p:nvPicPr>
          <p:cNvPr id="32" name="Image 6" descr="fingerprint icon">    </p:cNvPr>
          <p:cNvPicPr>
            <a:picLocks noChangeAspect="1"/>
          </p:cNvPicPr>
          <p:nvPr/>
        </p:nvPicPr>
        <p:blipFill>
          <a:blip r:embed="rId7"/>
          <a:srcRect l="0" r="0" t="0" b="0"/>
          <a:stretch/>
        </p:blipFill>
        <p:spPr>
          <a:xfrm>
            <a:off x="8276134" y="3653631"/>
            <a:ext cx="203200" cy="203200"/>
          </a:xfrm>
          <a:prstGeom prst="rect">
            <a:avLst/>
          </a:prstGeom>
        </p:spPr>
      </p:pic>
      <p:sp>
        <p:nvSpPr>
          <p:cNvPr id="33" name="Text 24"/>
          <p:cNvSpPr/>
          <p:nvPr/>
        </p:nvSpPr>
        <p:spPr>
          <a:xfrm>
            <a:off x="8174534"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Touch ID and passkeys</a:t>
            </a:r>
            <a:endParaRPr lang="en-US" sz="1500" dirty="0"/>
          </a:p>
        </p:txBody>
      </p:sp>
      <p:sp>
        <p:nvSpPr>
          <p:cNvPr id="34" name="Text 25"/>
          <p:cNvSpPr/>
          <p:nvPr/>
        </p:nvSpPr>
        <p:spPr>
          <a:xfrm>
            <a:off x="8174534" y="4364831"/>
            <a:ext cx="307842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Phishing-resistant sign-in</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Aligned with CIS Benchmarks for macOS</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06 · PATCH MANAGEMENT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Keep every Mac updated, on time</a:t>
            </a:r>
            <a:endParaRPr lang="en-US" sz="3600" dirty="0"/>
          </a:p>
        </p:txBody>
      </p:sp>
      <p:sp>
        <p:nvSpPr>
          <p:cNvPr id="5" name="Shape 2"/>
          <p:cNvSpPr/>
          <p:nvPr/>
        </p:nvSpPr>
        <p:spPr>
          <a:xfrm>
            <a:off x="819150" y="1575991"/>
            <a:ext cx="10553700" cy="647700"/>
          </a:xfrm>
          <a:prstGeom prst="roundRect">
            <a:avLst>
              <a:gd name="adj" fmla="val 18627"/>
            </a:avLst>
          </a:prstGeom>
          <a:solidFill>
            <a:srgbClr val="FFFFFF"/>
          </a:solidFill>
          <a:ln w="12700">
            <a:solidFill>
              <a:srgbClr val="E1E7EF"/>
            </a:solidFill>
            <a:prstDash val="solid"/>
          </a:ln>
        </p:spPr>
      </p:sp>
      <p:sp>
        <p:nvSpPr>
          <p:cNvPr id="6" name="Shape 3"/>
          <p:cNvSpPr/>
          <p:nvPr/>
        </p:nvSpPr>
        <p:spPr>
          <a:xfrm>
            <a:off x="1028700" y="1709341"/>
            <a:ext cx="381000" cy="381000"/>
          </a:xfrm>
          <a:prstGeom prst="roundRect">
            <a:avLst>
              <a:gd name="adj" fmla="val 50000"/>
            </a:avLst>
          </a:prstGeom>
          <a:solidFill>
            <a:srgbClr val="E8EFF8"/>
          </a:solidFill>
          <a:ln/>
        </p:spPr>
      </p:sp>
      <p:pic>
        <p:nvPicPr>
          <p:cNvPr id="7" name="Image 1" descr="refresh icon">    </p:cNvPr>
          <p:cNvPicPr>
            <a:picLocks noChangeAspect="1"/>
          </p:cNvPicPr>
          <p:nvPr/>
        </p:nvPicPr>
        <p:blipFill>
          <a:blip r:embed="rId2"/>
          <a:srcRect l="0" r="0" t="0" b="0"/>
          <a:stretch/>
        </p:blipFill>
        <p:spPr>
          <a:xfrm>
            <a:off x="1123950" y="1804591"/>
            <a:ext cx="190500" cy="190500"/>
          </a:xfrm>
          <a:prstGeom prst="rect">
            <a:avLst/>
          </a:prstGeom>
        </p:spPr>
      </p:pic>
      <p:sp>
        <p:nvSpPr>
          <p:cNvPr id="8" name="Text 4"/>
          <p:cNvSpPr/>
          <p:nvPr/>
        </p:nvSpPr>
        <p:spPr>
          <a:xfrm>
            <a:off x="1587500" y="17664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741"/>
                </a:solidFill>
                <a:latin typeface="Inter" pitchFamily="34" charset="0"/>
                <a:ea typeface="Inter" pitchFamily="34" charset="-122"/>
                <a:cs typeface="Inter" pitchFamily="34" charset="-120"/>
              </a:rPr>
              <a:t>Enforce OS updates</a:t>
            </a:r>
            <a:endParaRPr lang="en-US" sz="1500" dirty="0"/>
          </a:p>
        </p:txBody>
      </p:sp>
      <p:sp>
        <p:nvSpPr>
          <p:cNvPr id="9" name="Text 5"/>
          <p:cNvSpPr/>
          <p:nvPr/>
        </p:nvSpPr>
        <p:spPr>
          <a:xfrm>
            <a:off x="5067300" y="17754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Use DDM update deadlines, not just reminders</a:t>
            </a:r>
            <a:endParaRPr lang="en-US" sz="1400" dirty="0"/>
          </a:p>
        </p:txBody>
      </p:sp>
      <p:sp>
        <p:nvSpPr>
          <p:cNvPr id="10" name="Shape 6"/>
          <p:cNvSpPr/>
          <p:nvPr/>
        </p:nvSpPr>
        <p:spPr>
          <a:xfrm>
            <a:off x="819150" y="2337991"/>
            <a:ext cx="10553700" cy="647700"/>
          </a:xfrm>
          <a:prstGeom prst="roundRect">
            <a:avLst>
              <a:gd name="adj" fmla="val 18627"/>
            </a:avLst>
          </a:prstGeom>
          <a:solidFill>
            <a:srgbClr val="FFFFFF"/>
          </a:solidFill>
          <a:ln w="12700">
            <a:solidFill>
              <a:srgbClr val="E1E7EF"/>
            </a:solidFill>
            <a:prstDash val="solid"/>
          </a:ln>
        </p:spPr>
      </p:sp>
      <p:sp>
        <p:nvSpPr>
          <p:cNvPr id="11" name="Shape 7"/>
          <p:cNvSpPr/>
          <p:nvPr/>
        </p:nvSpPr>
        <p:spPr>
          <a:xfrm>
            <a:off x="1028700" y="2471341"/>
            <a:ext cx="381000" cy="381000"/>
          </a:xfrm>
          <a:prstGeom prst="roundRect">
            <a:avLst>
              <a:gd name="adj" fmla="val 50000"/>
            </a:avLst>
          </a:prstGeom>
          <a:solidFill>
            <a:srgbClr val="E8EFF8"/>
          </a:solidFill>
          <a:ln/>
        </p:spPr>
      </p:sp>
      <p:pic>
        <p:nvPicPr>
          <p:cNvPr id="12" name="Image 2" descr="zap icon">    </p:cNvPr>
          <p:cNvPicPr>
            <a:picLocks noChangeAspect="1"/>
          </p:cNvPicPr>
          <p:nvPr/>
        </p:nvPicPr>
        <p:blipFill>
          <a:blip r:embed="rId3"/>
          <a:srcRect l="0" r="0" t="0" b="0"/>
          <a:stretch/>
        </p:blipFill>
        <p:spPr>
          <a:xfrm>
            <a:off x="1123950" y="2566591"/>
            <a:ext cx="190500" cy="190500"/>
          </a:xfrm>
          <a:prstGeom prst="rect">
            <a:avLst/>
          </a:prstGeom>
        </p:spPr>
      </p:pic>
      <p:sp>
        <p:nvSpPr>
          <p:cNvPr id="13" name="Text 8"/>
          <p:cNvSpPr/>
          <p:nvPr/>
        </p:nvSpPr>
        <p:spPr>
          <a:xfrm>
            <a:off x="1587500" y="25284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741"/>
                </a:solidFill>
                <a:latin typeface="Inter" pitchFamily="34" charset="0"/>
                <a:ea typeface="Inter" pitchFamily="34" charset="-122"/>
                <a:cs typeface="Inter" pitchFamily="34" charset="-120"/>
              </a:rPr>
              <a:t>Fast security responses</a:t>
            </a:r>
            <a:endParaRPr lang="en-US" sz="1500" dirty="0"/>
          </a:p>
        </p:txBody>
      </p:sp>
      <p:sp>
        <p:nvSpPr>
          <p:cNvPr id="14" name="Text 9"/>
          <p:cNvSpPr/>
          <p:nvPr/>
        </p:nvSpPr>
        <p:spPr>
          <a:xfrm>
            <a:off x="5067300" y="25374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Allow background security updates to apply automatically</a:t>
            </a:r>
            <a:endParaRPr lang="en-US" sz="1400" dirty="0"/>
          </a:p>
        </p:txBody>
      </p:sp>
      <p:sp>
        <p:nvSpPr>
          <p:cNvPr id="15" name="Shape 10"/>
          <p:cNvSpPr/>
          <p:nvPr/>
        </p:nvSpPr>
        <p:spPr>
          <a:xfrm>
            <a:off x="819150" y="3099991"/>
            <a:ext cx="10553700" cy="647700"/>
          </a:xfrm>
          <a:prstGeom prst="roundRect">
            <a:avLst>
              <a:gd name="adj" fmla="val 18627"/>
            </a:avLst>
          </a:prstGeom>
          <a:solidFill>
            <a:srgbClr val="FFFFFF"/>
          </a:solidFill>
          <a:ln w="12700">
            <a:solidFill>
              <a:srgbClr val="E1E7EF"/>
            </a:solidFill>
            <a:prstDash val="solid"/>
          </a:ln>
        </p:spPr>
      </p:sp>
      <p:sp>
        <p:nvSpPr>
          <p:cNvPr id="16" name="Shape 11"/>
          <p:cNvSpPr/>
          <p:nvPr/>
        </p:nvSpPr>
        <p:spPr>
          <a:xfrm>
            <a:off x="1028700" y="3233341"/>
            <a:ext cx="381000" cy="381000"/>
          </a:xfrm>
          <a:prstGeom prst="roundRect">
            <a:avLst>
              <a:gd name="adj" fmla="val 50000"/>
            </a:avLst>
          </a:prstGeom>
          <a:solidFill>
            <a:srgbClr val="E8EFF8"/>
          </a:solidFill>
          <a:ln/>
        </p:spPr>
      </p:sp>
      <p:pic>
        <p:nvPicPr>
          <p:cNvPr id="17" name="Image 3" descr="shield icon">    </p:cNvPr>
          <p:cNvPicPr>
            <a:picLocks noChangeAspect="1"/>
          </p:cNvPicPr>
          <p:nvPr/>
        </p:nvPicPr>
        <p:blipFill>
          <a:blip r:embed="rId4"/>
          <a:srcRect l="0" r="0" t="0" b="0"/>
          <a:stretch/>
        </p:blipFill>
        <p:spPr>
          <a:xfrm>
            <a:off x="1123950" y="3328591"/>
            <a:ext cx="190500" cy="190500"/>
          </a:xfrm>
          <a:prstGeom prst="rect">
            <a:avLst/>
          </a:prstGeom>
        </p:spPr>
      </p:pic>
      <p:sp>
        <p:nvSpPr>
          <p:cNvPr id="18" name="Text 12"/>
          <p:cNvSpPr/>
          <p:nvPr/>
        </p:nvSpPr>
        <p:spPr>
          <a:xfrm>
            <a:off x="1587500" y="32904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741"/>
                </a:solidFill>
                <a:latin typeface="Inter" pitchFamily="34" charset="0"/>
                <a:ea typeface="Inter" pitchFamily="34" charset="-122"/>
                <a:cs typeface="Inter" pitchFamily="34" charset="-120"/>
              </a:rPr>
              <a:t>Keep XProtect current</a:t>
            </a:r>
            <a:endParaRPr lang="en-US" sz="1500" dirty="0"/>
          </a:p>
        </p:txBody>
      </p:sp>
      <p:sp>
        <p:nvSpPr>
          <p:cNvPr id="19" name="Text 13"/>
          <p:cNvSpPr/>
          <p:nvPr/>
        </p:nvSpPr>
        <p:spPr>
          <a:xfrm>
            <a:off x="5067300" y="32994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Automatic security data updates stay on</a:t>
            </a:r>
            <a:endParaRPr lang="en-US" sz="1400" dirty="0"/>
          </a:p>
        </p:txBody>
      </p:sp>
      <p:sp>
        <p:nvSpPr>
          <p:cNvPr id="20" name="Shape 14"/>
          <p:cNvSpPr/>
          <p:nvPr/>
        </p:nvSpPr>
        <p:spPr>
          <a:xfrm>
            <a:off x="819150" y="3861991"/>
            <a:ext cx="10553700" cy="647700"/>
          </a:xfrm>
          <a:prstGeom prst="roundRect">
            <a:avLst>
              <a:gd name="adj" fmla="val 18627"/>
            </a:avLst>
          </a:prstGeom>
          <a:solidFill>
            <a:srgbClr val="FFFFFF"/>
          </a:solidFill>
          <a:ln w="12700">
            <a:solidFill>
              <a:srgbClr val="E1E7EF"/>
            </a:solidFill>
            <a:prstDash val="solid"/>
          </a:ln>
        </p:spPr>
      </p:sp>
      <p:sp>
        <p:nvSpPr>
          <p:cNvPr id="21" name="Shape 15"/>
          <p:cNvSpPr/>
          <p:nvPr/>
        </p:nvSpPr>
        <p:spPr>
          <a:xfrm>
            <a:off x="1028700" y="3995341"/>
            <a:ext cx="381000" cy="381000"/>
          </a:xfrm>
          <a:prstGeom prst="roundRect">
            <a:avLst>
              <a:gd name="adj" fmla="val 50000"/>
            </a:avLst>
          </a:prstGeom>
          <a:solidFill>
            <a:srgbClr val="E8EFF8"/>
          </a:solidFill>
          <a:ln/>
        </p:spPr>
      </p:sp>
      <p:pic>
        <p:nvPicPr>
          <p:cNvPr id="22" name="Image 4" descr="box icon">    </p:cNvPr>
          <p:cNvPicPr>
            <a:picLocks noChangeAspect="1"/>
          </p:cNvPicPr>
          <p:nvPr/>
        </p:nvPicPr>
        <p:blipFill>
          <a:blip r:embed="rId5"/>
          <a:srcRect l="0" r="0" t="0" b="0"/>
          <a:stretch/>
        </p:blipFill>
        <p:spPr>
          <a:xfrm>
            <a:off x="1123950" y="4090591"/>
            <a:ext cx="190500" cy="190500"/>
          </a:xfrm>
          <a:prstGeom prst="rect">
            <a:avLst/>
          </a:prstGeom>
        </p:spPr>
      </p:pic>
      <p:sp>
        <p:nvSpPr>
          <p:cNvPr id="23" name="Text 16"/>
          <p:cNvSpPr/>
          <p:nvPr/>
        </p:nvSpPr>
        <p:spPr>
          <a:xfrm>
            <a:off x="1587500" y="40524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741"/>
                </a:solidFill>
                <a:latin typeface="Inter" pitchFamily="34" charset="0"/>
                <a:ea typeface="Inter" pitchFamily="34" charset="-122"/>
                <a:cs typeface="Inter" pitchFamily="34" charset="-120"/>
              </a:rPr>
              <a:t>Patch third-party apps</a:t>
            </a:r>
            <a:endParaRPr lang="en-US" sz="1500" dirty="0"/>
          </a:p>
        </p:txBody>
      </p:sp>
      <p:sp>
        <p:nvSpPr>
          <p:cNvPr id="24" name="Text 17"/>
          <p:cNvSpPr/>
          <p:nvPr/>
        </p:nvSpPr>
        <p:spPr>
          <a:xfrm>
            <a:off x="5067300" y="40614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Browsers, Office, Zoom, developer tools</a:t>
            </a:r>
            <a:endParaRPr lang="en-US" sz="1400" dirty="0"/>
          </a:p>
        </p:txBody>
      </p:sp>
      <p:sp>
        <p:nvSpPr>
          <p:cNvPr id="25" name="Shape 18"/>
          <p:cNvSpPr/>
          <p:nvPr/>
        </p:nvSpPr>
        <p:spPr>
          <a:xfrm>
            <a:off x="819150" y="4623991"/>
            <a:ext cx="10553700" cy="647700"/>
          </a:xfrm>
          <a:prstGeom prst="roundRect">
            <a:avLst>
              <a:gd name="adj" fmla="val 18627"/>
            </a:avLst>
          </a:prstGeom>
          <a:solidFill>
            <a:srgbClr val="FFFFFF"/>
          </a:solidFill>
          <a:ln w="12700">
            <a:solidFill>
              <a:srgbClr val="E1E7EF"/>
            </a:solidFill>
            <a:prstDash val="solid"/>
          </a:ln>
        </p:spPr>
      </p:sp>
      <p:sp>
        <p:nvSpPr>
          <p:cNvPr id="26" name="Shape 19"/>
          <p:cNvSpPr/>
          <p:nvPr/>
        </p:nvSpPr>
        <p:spPr>
          <a:xfrm>
            <a:off x="1028700" y="4757341"/>
            <a:ext cx="381000" cy="381000"/>
          </a:xfrm>
          <a:prstGeom prst="roundRect">
            <a:avLst>
              <a:gd name="adj" fmla="val 50000"/>
            </a:avLst>
          </a:prstGeom>
          <a:solidFill>
            <a:srgbClr val="E8EFF8"/>
          </a:solidFill>
          <a:ln/>
        </p:spPr>
      </p:sp>
      <p:pic>
        <p:nvPicPr>
          <p:cNvPr id="27" name="Image 5" descr="alert icon">    </p:cNvPr>
          <p:cNvPicPr>
            <a:picLocks noChangeAspect="1"/>
          </p:cNvPicPr>
          <p:nvPr/>
        </p:nvPicPr>
        <p:blipFill>
          <a:blip r:embed="rId6"/>
          <a:srcRect l="0" r="0" t="0" b="0"/>
          <a:stretch/>
        </p:blipFill>
        <p:spPr>
          <a:xfrm>
            <a:off x="1123950" y="4852591"/>
            <a:ext cx="190500" cy="190500"/>
          </a:xfrm>
          <a:prstGeom prst="rect">
            <a:avLst/>
          </a:prstGeom>
        </p:spPr>
      </p:pic>
      <p:sp>
        <p:nvSpPr>
          <p:cNvPr id="28" name="Text 20"/>
          <p:cNvSpPr/>
          <p:nvPr/>
        </p:nvSpPr>
        <p:spPr>
          <a:xfrm>
            <a:off x="1587500" y="4814491"/>
            <a:ext cx="34010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741"/>
                </a:solidFill>
                <a:latin typeface="Inter" pitchFamily="34" charset="0"/>
                <a:ea typeface="Inter" pitchFamily="34" charset="-122"/>
                <a:cs typeface="Inter" pitchFamily="34" charset="-120"/>
              </a:rPr>
              <a:t>Retire unsupported Macs</a:t>
            </a:r>
            <a:endParaRPr lang="en-US" sz="1500" dirty="0"/>
          </a:p>
        </p:txBody>
      </p:sp>
      <p:sp>
        <p:nvSpPr>
          <p:cNvPr id="29" name="Text 21"/>
          <p:cNvSpPr/>
          <p:nvPr/>
        </p:nvSpPr>
        <p:spPr>
          <a:xfrm>
            <a:off x="5067300" y="4823420"/>
            <a:ext cx="62788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No security updates means no protection</a:t>
            </a:r>
            <a:endParaRPr lang="en-US" sz="1400" dirty="0"/>
          </a:p>
        </p:txBody>
      </p:sp>
      <p:sp>
        <p:nvSpPr>
          <p:cNvPr id="30"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Apple software update management · CIS Benchmarks</a:t>
            </a:r>
            <a:endParaRPr lang="en-US" sz="1200" dirty="0"/>
          </a:p>
        </p:txBody>
      </p:sp>
      <p:sp>
        <p:nvSpPr>
          <p:cNvPr id="31" name="Text 23"/>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07 · CORE PROTECTIONS</a:t>
            </a:r>
            <a:endParaRPr lang="en-US" sz="1200" dirty="0"/>
          </a:p>
        </p:txBody>
      </p:sp>
      <p:sp>
        <p:nvSpPr>
          <p:cNvPr id="4" name="Text 1"/>
          <p:cNvSpPr/>
          <p:nvPr>
            <p:ph type="title"/>
          </p:nvPr>
        </p:nvSpPr>
        <p:spPr>
          <a:xfrm>
            <a:off x="812800" y="812800"/>
            <a:ext cx="10883392" cy="523974"/>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Keep the built-in protections on</a:t>
            </a:r>
            <a:endParaRPr lang="en-US" sz="3600" dirty="0"/>
          </a:p>
        </p:txBody>
      </p:sp>
      <p:sp>
        <p:nvSpPr>
          <p:cNvPr id="5" name="Shape 2"/>
          <p:cNvSpPr/>
          <p:nvPr/>
        </p:nvSpPr>
        <p:spPr>
          <a:xfrm>
            <a:off x="819150" y="1571724"/>
            <a:ext cx="10553700" cy="3428107"/>
          </a:xfrm>
          <a:prstGeom prst="roundRect">
            <a:avLst>
              <a:gd name="adj" fmla="val 3519"/>
            </a:avLst>
          </a:prstGeom>
          <a:solidFill>
            <a:srgbClr val="FFFFFF"/>
          </a:solidFill>
          <a:ln w="12700">
            <a:solidFill>
              <a:srgbClr val="E1E7EF"/>
            </a:solidFill>
            <a:prstDash val="solid"/>
          </a:ln>
        </p:spPr>
      </p:sp>
      <p:sp>
        <p:nvSpPr>
          <p:cNvPr id="6" name="Shape 3"/>
          <p:cNvSpPr/>
          <p:nvPr/>
        </p:nvSpPr>
        <p:spPr>
          <a:xfrm>
            <a:off x="1079500" y="2052042"/>
            <a:ext cx="10033000" cy="0"/>
          </a:xfrm>
          <a:prstGeom prst="line">
            <a:avLst/>
          </a:prstGeom>
          <a:noFill/>
          <a:ln w="19050">
            <a:solidFill>
              <a:srgbClr val="E1E7EF"/>
            </a:solidFill>
            <a:prstDash val="solid"/>
          </a:ln>
        </p:spPr>
      </p:sp>
      <p:sp>
        <p:nvSpPr>
          <p:cNvPr id="7" name="Text 4"/>
          <p:cNvSpPr/>
          <p:nvPr/>
        </p:nvSpPr>
        <p:spPr>
          <a:xfrm>
            <a:off x="1460500" y="1754485"/>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CONTROL</a:t>
            </a:r>
            <a:endParaRPr lang="en-US" sz="1200" dirty="0"/>
          </a:p>
        </p:txBody>
      </p:sp>
      <p:sp>
        <p:nvSpPr>
          <p:cNvPr id="8" name="Text 5"/>
          <p:cNvSpPr/>
          <p:nvPr/>
        </p:nvSpPr>
        <p:spPr>
          <a:xfrm>
            <a:off x="4305300" y="1754485"/>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REQUIRED STATE</a:t>
            </a:r>
            <a:endParaRPr lang="en-US" sz="1200" dirty="0"/>
          </a:p>
        </p:txBody>
      </p:sp>
      <p:sp>
        <p:nvSpPr>
          <p:cNvPr id="9" name="Text 6"/>
          <p:cNvSpPr/>
          <p:nvPr/>
        </p:nvSpPr>
        <p:spPr>
          <a:xfrm>
            <a:off x="7785100" y="1754485"/>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VERIFY WITH</a:t>
            </a:r>
            <a:endParaRPr lang="en-US" sz="1200" dirty="0"/>
          </a:p>
        </p:txBody>
      </p:sp>
      <p:sp>
        <p:nvSpPr>
          <p:cNvPr id="10" name="Shape 7"/>
          <p:cNvSpPr/>
          <p:nvPr/>
        </p:nvSpPr>
        <p:spPr>
          <a:xfrm>
            <a:off x="1079500" y="2581672"/>
            <a:ext cx="10033000" cy="0"/>
          </a:xfrm>
          <a:prstGeom prst="line">
            <a:avLst/>
          </a:prstGeom>
          <a:noFill/>
          <a:ln w="12700">
            <a:solidFill>
              <a:srgbClr val="E1E7EF"/>
            </a:solidFill>
            <a:prstDash val="solid"/>
          </a:ln>
        </p:spPr>
      </p:sp>
      <p:pic>
        <p:nvPicPr>
          <p:cNvPr id="11" name="Image 1" descr="check icon">    </p:cNvPr>
          <p:cNvPicPr>
            <a:picLocks noChangeAspect="1"/>
          </p:cNvPicPr>
          <p:nvPr/>
        </p:nvPicPr>
        <p:blipFill>
          <a:blip r:embed="rId2"/>
          <a:srcRect l="0" r="0" t="0" b="0"/>
          <a:stretch/>
        </p:blipFill>
        <p:spPr>
          <a:xfrm>
            <a:off x="1079500" y="2216845"/>
            <a:ext cx="203200" cy="203200"/>
          </a:xfrm>
          <a:prstGeom prst="rect">
            <a:avLst/>
          </a:prstGeom>
        </p:spPr>
      </p:pic>
      <p:sp>
        <p:nvSpPr>
          <p:cNvPr id="12" name="Text 8"/>
          <p:cNvSpPr/>
          <p:nvPr/>
        </p:nvSpPr>
        <p:spPr>
          <a:xfrm>
            <a:off x="1460500" y="2194024"/>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741"/>
                </a:solidFill>
                <a:latin typeface="Inter" pitchFamily="34" charset="0"/>
                <a:ea typeface="Inter" pitchFamily="34" charset="-122"/>
                <a:cs typeface="Inter" pitchFamily="34" charset="-120"/>
              </a:rPr>
              <a:t>System Integrity Protection</a:t>
            </a:r>
            <a:endParaRPr lang="en-US" sz="1400" dirty="0"/>
          </a:p>
        </p:txBody>
      </p:sp>
      <p:sp>
        <p:nvSpPr>
          <p:cNvPr id="13" name="Text 9"/>
          <p:cNvSpPr/>
          <p:nvPr/>
        </p:nvSpPr>
        <p:spPr>
          <a:xfrm>
            <a:off x="4305300" y="2194024"/>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Enabled</a:t>
            </a:r>
            <a:endParaRPr lang="en-US" sz="1400" dirty="0"/>
          </a:p>
        </p:txBody>
      </p:sp>
      <p:sp>
        <p:nvSpPr>
          <p:cNvPr id="14" name="Text 10"/>
          <p:cNvSpPr/>
          <p:nvPr/>
        </p:nvSpPr>
        <p:spPr>
          <a:xfrm>
            <a:off x="7785100" y="2160984"/>
            <a:ext cx="3327400" cy="314920"/>
          </a:xfrm>
          <a:prstGeom prst="roundRect">
            <a:avLst>
              <a:gd name="adj" fmla="val 16131"/>
            </a:avLst>
          </a:prstGeom>
          <a:solidFill>
            <a:srgbClr val="E8EFF8"/>
          </a:solidFill>
          <a:ln/>
        </p:spPr>
        <p:txBody>
          <a:bodyPr wrap="square" lIns="74021" tIns="35921" rIns="0" bIns="10521" rtlCol="0" anchor="t">
            <a:normAutofit/>
          </a:bodyPr>
          <a:lstStyle/>
          <a:p>
            <a:pPr algn="l" indent="0" marL="0">
              <a:lnSpc>
                <a:spcPts val="1680"/>
              </a:lnSpc>
              <a:buNone/>
            </a:pPr>
            <a:r>
              <a:rPr lang="en-US" sz="1200" dirty="0">
                <a:solidFill>
                  <a:srgbClr val="0F2741"/>
                </a:solidFill>
                <a:latin typeface="IBM Plex Mono" pitchFamily="49" charset="0"/>
                <a:ea typeface="IBM Plex Mono" pitchFamily="49" charset="-122"/>
                <a:cs typeface="IBM Plex Mono" pitchFamily="49" charset="-120"/>
              </a:rPr>
              <a:t>csrutil status</a:t>
            </a:r>
            <a:endParaRPr lang="en-US" sz="1200" dirty="0"/>
          </a:p>
        </p:txBody>
      </p:sp>
      <p:sp>
        <p:nvSpPr>
          <p:cNvPr id="15" name="Shape 11"/>
          <p:cNvSpPr/>
          <p:nvPr/>
        </p:nvSpPr>
        <p:spPr>
          <a:xfrm>
            <a:off x="1079500" y="3108226"/>
            <a:ext cx="10033000" cy="0"/>
          </a:xfrm>
          <a:prstGeom prst="line">
            <a:avLst/>
          </a:prstGeom>
          <a:noFill/>
          <a:ln w="12700">
            <a:solidFill>
              <a:srgbClr val="E1E7EF"/>
            </a:solidFill>
            <a:prstDash val="solid"/>
          </a:ln>
        </p:spPr>
      </p:sp>
      <p:pic>
        <p:nvPicPr>
          <p:cNvPr id="16" name="Image 2" descr="check icon">    </p:cNvPr>
          <p:cNvPicPr>
            <a:picLocks noChangeAspect="1"/>
          </p:cNvPicPr>
          <p:nvPr/>
        </p:nvPicPr>
        <p:blipFill>
          <a:blip r:embed="rId3"/>
          <a:srcRect l="0" r="0" t="0" b="0"/>
          <a:stretch/>
        </p:blipFill>
        <p:spPr>
          <a:xfrm>
            <a:off x="1079500" y="2743299"/>
            <a:ext cx="203200" cy="203200"/>
          </a:xfrm>
          <a:prstGeom prst="rect">
            <a:avLst/>
          </a:prstGeom>
        </p:spPr>
      </p:pic>
      <p:sp>
        <p:nvSpPr>
          <p:cNvPr id="17" name="Text 12"/>
          <p:cNvSpPr/>
          <p:nvPr/>
        </p:nvSpPr>
        <p:spPr>
          <a:xfrm>
            <a:off x="1460500" y="2720479"/>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741"/>
                </a:solidFill>
                <a:latin typeface="Inter" pitchFamily="34" charset="0"/>
                <a:ea typeface="Inter" pitchFamily="34" charset="-122"/>
                <a:cs typeface="Inter" pitchFamily="34" charset="-120"/>
              </a:rPr>
              <a:t>Gatekeeper</a:t>
            </a:r>
            <a:endParaRPr lang="en-US" sz="1400" dirty="0"/>
          </a:p>
        </p:txBody>
      </p:sp>
      <p:sp>
        <p:nvSpPr>
          <p:cNvPr id="18" name="Text 13"/>
          <p:cNvSpPr/>
          <p:nvPr/>
        </p:nvSpPr>
        <p:spPr>
          <a:xfrm>
            <a:off x="4305300" y="2720479"/>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App Store and identified developers</a:t>
            </a:r>
            <a:endParaRPr lang="en-US" sz="1400" dirty="0"/>
          </a:p>
        </p:txBody>
      </p:sp>
      <p:sp>
        <p:nvSpPr>
          <p:cNvPr id="19" name="Text 14"/>
          <p:cNvSpPr/>
          <p:nvPr/>
        </p:nvSpPr>
        <p:spPr>
          <a:xfrm>
            <a:off x="7785100" y="2687538"/>
            <a:ext cx="3327400" cy="314920"/>
          </a:xfrm>
          <a:prstGeom prst="roundRect">
            <a:avLst>
              <a:gd name="adj" fmla="val 16131"/>
            </a:avLst>
          </a:prstGeom>
          <a:solidFill>
            <a:srgbClr val="E8EFF8"/>
          </a:solidFill>
          <a:ln/>
        </p:spPr>
        <p:txBody>
          <a:bodyPr wrap="square" lIns="74021" tIns="35921" rIns="0" bIns="10521" rtlCol="0" anchor="t">
            <a:normAutofit/>
          </a:bodyPr>
          <a:lstStyle/>
          <a:p>
            <a:pPr algn="l" indent="0" marL="0">
              <a:lnSpc>
                <a:spcPts val="1680"/>
              </a:lnSpc>
              <a:buNone/>
            </a:pPr>
            <a:r>
              <a:rPr lang="en-US" sz="1200" dirty="0">
                <a:solidFill>
                  <a:srgbClr val="0F2741"/>
                </a:solidFill>
                <a:latin typeface="IBM Plex Mono" pitchFamily="49" charset="0"/>
                <a:ea typeface="IBM Plex Mono" pitchFamily="49" charset="-122"/>
                <a:cs typeface="IBM Plex Mono" pitchFamily="49" charset="-120"/>
              </a:rPr>
              <a:t>spctl --status</a:t>
            </a:r>
            <a:endParaRPr lang="en-US" sz="1200" dirty="0"/>
          </a:p>
        </p:txBody>
      </p:sp>
      <p:sp>
        <p:nvSpPr>
          <p:cNvPr id="20" name="Shape 15"/>
          <p:cNvSpPr/>
          <p:nvPr/>
        </p:nvSpPr>
        <p:spPr>
          <a:xfrm>
            <a:off x="1079500" y="3634780"/>
            <a:ext cx="10033000" cy="0"/>
          </a:xfrm>
          <a:prstGeom prst="line">
            <a:avLst/>
          </a:prstGeom>
          <a:noFill/>
          <a:ln w="12700">
            <a:solidFill>
              <a:srgbClr val="E1E7EF"/>
            </a:solidFill>
            <a:prstDash val="solid"/>
          </a:ln>
        </p:spPr>
      </p:sp>
      <p:pic>
        <p:nvPicPr>
          <p:cNvPr id="21" name="Image 3" descr="check icon">    </p:cNvPr>
          <p:cNvPicPr>
            <a:picLocks noChangeAspect="1"/>
          </p:cNvPicPr>
          <p:nvPr/>
        </p:nvPicPr>
        <p:blipFill>
          <a:blip r:embed="rId4"/>
          <a:srcRect l="0" r="0" t="0" b="0"/>
          <a:stretch/>
        </p:blipFill>
        <p:spPr>
          <a:xfrm>
            <a:off x="1079500" y="3269853"/>
            <a:ext cx="203200" cy="203200"/>
          </a:xfrm>
          <a:prstGeom prst="rect">
            <a:avLst/>
          </a:prstGeom>
        </p:spPr>
      </p:pic>
      <p:sp>
        <p:nvSpPr>
          <p:cNvPr id="22" name="Text 16"/>
          <p:cNvSpPr/>
          <p:nvPr/>
        </p:nvSpPr>
        <p:spPr>
          <a:xfrm>
            <a:off x="1460500" y="3247033"/>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741"/>
                </a:solidFill>
                <a:latin typeface="Inter" pitchFamily="34" charset="0"/>
                <a:ea typeface="Inter" pitchFamily="34" charset="-122"/>
                <a:cs typeface="Inter" pitchFamily="34" charset="-120"/>
              </a:rPr>
              <a:t>FileVault</a:t>
            </a:r>
            <a:endParaRPr lang="en-US" sz="1400" dirty="0"/>
          </a:p>
        </p:txBody>
      </p:sp>
      <p:sp>
        <p:nvSpPr>
          <p:cNvPr id="23" name="Text 17"/>
          <p:cNvSpPr/>
          <p:nvPr/>
        </p:nvSpPr>
        <p:spPr>
          <a:xfrm>
            <a:off x="4305300" y="3247033"/>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On, key escrowed to MDM</a:t>
            </a:r>
            <a:endParaRPr lang="en-US" sz="1400" dirty="0"/>
          </a:p>
        </p:txBody>
      </p:sp>
      <p:sp>
        <p:nvSpPr>
          <p:cNvPr id="24" name="Text 18"/>
          <p:cNvSpPr/>
          <p:nvPr/>
        </p:nvSpPr>
        <p:spPr>
          <a:xfrm>
            <a:off x="7785100" y="3214092"/>
            <a:ext cx="3327400" cy="314920"/>
          </a:xfrm>
          <a:prstGeom prst="roundRect">
            <a:avLst>
              <a:gd name="adj" fmla="val 16131"/>
            </a:avLst>
          </a:prstGeom>
          <a:solidFill>
            <a:srgbClr val="E8EFF8"/>
          </a:solidFill>
          <a:ln/>
        </p:spPr>
        <p:txBody>
          <a:bodyPr wrap="square" lIns="74021" tIns="35921" rIns="0" bIns="10521" rtlCol="0" anchor="t">
            <a:normAutofit/>
          </a:bodyPr>
          <a:lstStyle/>
          <a:p>
            <a:pPr algn="l" indent="0" marL="0">
              <a:lnSpc>
                <a:spcPts val="1680"/>
              </a:lnSpc>
              <a:buNone/>
            </a:pPr>
            <a:r>
              <a:rPr lang="en-US" sz="1200" dirty="0">
                <a:solidFill>
                  <a:srgbClr val="0F2741"/>
                </a:solidFill>
                <a:latin typeface="IBM Plex Mono" pitchFamily="49" charset="0"/>
                <a:ea typeface="IBM Plex Mono" pitchFamily="49" charset="-122"/>
                <a:cs typeface="IBM Plex Mono" pitchFamily="49" charset="-120"/>
              </a:rPr>
              <a:t>fdesetup status</a:t>
            </a:r>
            <a:endParaRPr lang="en-US" sz="1200" dirty="0"/>
          </a:p>
        </p:txBody>
      </p:sp>
      <p:sp>
        <p:nvSpPr>
          <p:cNvPr id="25" name="Shape 19"/>
          <p:cNvSpPr/>
          <p:nvPr/>
        </p:nvSpPr>
        <p:spPr>
          <a:xfrm>
            <a:off x="1079500" y="4161334"/>
            <a:ext cx="10033000" cy="0"/>
          </a:xfrm>
          <a:prstGeom prst="line">
            <a:avLst/>
          </a:prstGeom>
          <a:noFill/>
          <a:ln w="12700">
            <a:solidFill>
              <a:srgbClr val="E1E7EF"/>
            </a:solidFill>
            <a:prstDash val="solid"/>
          </a:ln>
        </p:spPr>
      </p:sp>
      <p:pic>
        <p:nvPicPr>
          <p:cNvPr id="26" name="Image 4" descr="check icon">    </p:cNvPr>
          <p:cNvPicPr>
            <a:picLocks noChangeAspect="1"/>
          </p:cNvPicPr>
          <p:nvPr/>
        </p:nvPicPr>
        <p:blipFill>
          <a:blip r:embed="rId5"/>
          <a:srcRect l="0" r="0" t="0" b="0"/>
          <a:stretch/>
        </p:blipFill>
        <p:spPr>
          <a:xfrm>
            <a:off x="1079500" y="3796407"/>
            <a:ext cx="203200" cy="203200"/>
          </a:xfrm>
          <a:prstGeom prst="rect">
            <a:avLst/>
          </a:prstGeom>
        </p:spPr>
      </p:pic>
      <p:sp>
        <p:nvSpPr>
          <p:cNvPr id="27" name="Text 20"/>
          <p:cNvSpPr/>
          <p:nvPr/>
        </p:nvSpPr>
        <p:spPr>
          <a:xfrm>
            <a:off x="1460500" y="3773587"/>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741"/>
                </a:solidFill>
                <a:latin typeface="Inter" pitchFamily="34" charset="0"/>
                <a:ea typeface="Inter" pitchFamily="34" charset="-122"/>
                <a:cs typeface="Inter" pitchFamily="34" charset="-120"/>
              </a:rPr>
              <a:t>Firewall</a:t>
            </a:r>
            <a:endParaRPr lang="en-US" sz="1400" dirty="0"/>
          </a:p>
        </p:txBody>
      </p:sp>
      <p:sp>
        <p:nvSpPr>
          <p:cNvPr id="28" name="Text 21"/>
          <p:cNvSpPr/>
          <p:nvPr/>
        </p:nvSpPr>
        <p:spPr>
          <a:xfrm>
            <a:off x="4305300" y="3773587"/>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On, with stealth mode</a:t>
            </a:r>
            <a:endParaRPr lang="en-US" sz="1400" dirty="0"/>
          </a:p>
        </p:txBody>
      </p:sp>
      <p:sp>
        <p:nvSpPr>
          <p:cNvPr id="29" name="Text 22"/>
          <p:cNvSpPr/>
          <p:nvPr/>
        </p:nvSpPr>
        <p:spPr>
          <a:xfrm>
            <a:off x="7785100" y="3740646"/>
            <a:ext cx="3327400" cy="314920"/>
          </a:xfrm>
          <a:prstGeom prst="roundRect">
            <a:avLst>
              <a:gd name="adj" fmla="val 16131"/>
            </a:avLst>
          </a:prstGeom>
          <a:solidFill>
            <a:srgbClr val="E8EFF8"/>
          </a:solidFill>
          <a:ln/>
        </p:spPr>
        <p:txBody>
          <a:bodyPr wrap="square" lIns="74021" tIns="35921" rIns="0" bIns="10521" rtlCol="0" anchor="t">
            <a:normAutofit/>
          </a:bodyPr>
          <a:lstStyle/>
          <a:p>
            <a:pPr algn="l" indent="0" marL="0">
              <a:lnSpc>
                <a:spcPts val="1680"/>
              </a:lnSpc>
              <a:buNone/>
            </a:pPr>
            <a:r>
              <a:rPr lang="en-US" sz="1200" dirty="0">
                <a:solidFill>
                  <a:srgbClr val="0F2741"/>
                </a:solidFill>
                <a:latin typeface="IBM Plex Mono" pitchFamily="49" charset="0"/>
                <a:ea typeface="IBM Plex Mono" pitchFamily="49" charset="-122"/>
                <a:cs typeface="IBM Plex Mono" pitchFamily="49" charset="-120"/>
              </a:rPr>
              <a:t>socketfilterfw --getglobalstate</a:t>
            </a:r>
            <a:endParaRPr lang="en-US" sz="1200" dirty="0"/>
          </a:p>
        </p:txBody>
      </p:sp>
      <p:pic>
        <p:nvPicPr>
          <p:cNvPr id="30" name="Image 5" descr="check icon">    </p:cNvPr>
          <p:cNvPicPr>
            <a:picLocks noChangeAspect="1"/>
          </p:cNvPicPr>
          <p:nvPr/>
        </p:nvPicPr>
        <p:blipFill>
          <a:blip r:embed="rId6"/>
          <a:srcRect l="0" r="0" t="0" b="0"/>
          <a:stretch/>
        </p:blipFill>
        <p:spPr>
          <a:xfrm>
            <a:off x="1079500" y="4428133"/>
            <a:ext cx="203200" cy="203200"/>
          </a:xfrm>
          <a:prstGeom prst="rect">
            <a:avLst/>
          </a:prstGeom>
        </p:spPr>
      </p:pic>
      <p:sp>
        <p:nvSpPr>
          <p:cNvPr id="31" name="Text 23"/>
          <p:cNvSpPr/>
          <p:nvPr/>
        </p:nvSpPr>
        <p:spPr>
          <a:xfrm>
            <a:off x="1460500" y="4405313"/>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741"/>
                </a:solidFill>
                <a:latin typeface="Inter" pitchFamily="34" charset="0"/>
                <a:ea typeface="Inter" pitchFamily="34" charset="-122"/>
                <a:cs typeface="Inter" pitchFamily="34" charset="-120"/>
              </a:rPr>
              <a:t>Lockdown Mode</a:t>
            </a:r>
            <a:endParaRPr lang="en-US" sz="1400" dirty="0"/>
          </a:p>
        </p:txBody>
      </p:sp>
      <p:sp>
        <p:nvSpPr>
          <p:cNvPr id="32" name="Text 24"/>
          <p:cNvSpPr/>
          <p:nvPr/>
        </p:nvSpPr>
        <p:spPr>
          <a:xfrm>
            <a:off x="4305300" y="4405313"/>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7D"/>
                </a:solidFill>
                <a:latin typeface="Inter" pitchFamily="34" charset="0"/>
                <a:ea typeface="Inter" pitchFamily="34" charset="-122"/>
                <a:cs typeface="Inter" pitchFamily="34" charset="-120"/>
              </a:rPr>
              <a:t>For high-risk users</a:t>
            </a:r>
            <a:endParaRPr lang="en-US" sz="1400" dirty="0"/>
          </a:p>
        </p:txBody>
      </p:sp>
      <p:sp>
        <p:nvSpPr>
          <p:cNvPr id="33" name="Text 25"/>
          <p:cNvSpPr/>
          <p:nvPr/>
        </p:nvSpPr>
        <p:spPr>
          <a:xfrm>
            <a:off x="7785100" y="4265712"/>
            <a:ext cx="3327400" cy="528241"/>
          </a:xfrm>
          <a:prstGeom prst="roundRect">
            <a:avLst>
              <a:gd name="adj" fmla="val 9617"/>
            </a:avLst>
          </a:prstGeom>
          <a:solidFill>
            <a:srgbClr val="E8EFF8"/>
          </a:solidFill>
          <a:ln/>
        </p:spPr>
        <p:txBody>
          <a:bodyPr wrap="square" lIns="74021" tIns="35921" rIns="0" bIns="10521" rtlCol="0" anchor="t">
            <a:normAutofit/>
          </a:bodyPr>
          <a:lstStyle/>
          <a:p>
            <a:pPr algn="l" indent="0" marL="0">
              <a:lnSpc>
                <a:spcPts val="1680"/>
              </a:lnSpc>
              <a:buNone/>
            </a:pPr>
            <a:r>
              <a:rPr lang="en-US" sz="1200" dirty="0">
                <a:solidFill>
                  <a:srgbClr val="0F2741"/>
                </a:solidFill>
                <a:latin typeface="IBM Plex Mono" pitchFamily="49" charset="0"/>
                <a:ea typeface="IBM Plex Mono" pitchFamily="49" charset="-122"/>
                <a:cs typeface="IBM Plex Mono" pitchFamily="49" charset="-120"/>
              </a:rPr>
              <a:t>System Settings, Privacy and Security</a:t>
            </a:r>
            <a:endParaRPr lang="en-US" sz="1200" dirty="0"/>
          </a:p>
        </p:txBody>
      </p:sp>
      <p:sp>
        <p:nvSpPr>
          <p:cNvPr id="34" name="Shape 26"/>
          <p:cNvSpPr/>
          <p:nvPr/>
        </p:nvSpPr>
        <p:spPr>
          <a:xfrm>
            <a:off x="812800" y="5260181"/>
            <a:ext cx="10566400" cy="581819"/>
          </a:xfrm>
          <a:prstGeom prst="roundRect">
            <a:avLst>
              <a:gd name="adj" fmla="val 17462"/>
            </a:avLst>
          </a:prstGeom>
          <a:solidFill>
            <a:srgbClr val="FBF0E4"/>
          </a:solidFill>
          <a:ln/>
        </p:spPr>
      </p:sp>
      <p:pic>
        <p:nvPicPr>
          <p:cNvPr id="35" name="Image 6" descr="alert icon">    </p:cNvPr>
          <p:cNvPicPr>
            <a:picLocks noChangeAspect="1"/>
          </p:cNvPicPr>
          <p:nvPr/>
        </p:nvPicPr>
        <p:blipFill>
          <a:blip r:embed="rId7"/>
          <a:srcRect l="0" r="0" t="0" b="0"/>
          <a:stretch/>
        </p:blipFill>
        <p:spPr>
          <a:xfrm>
            <a:off x="1016000" y="5411391"/>
            <a:ext cx="279400" cy="279400"/>
          </a:xfrm>
          <a:prstGeom prst="rect">
            <a:avLst/>
          </a:prstGeom>
        </p:spPr>
      </p:pic>
      <p:sp>
        <p:nvSpPr>
          <p:cNvPr id="36" name="Text 27"/>
          <p:cNvSpPr/>
          <p:nvPr/>
        </p:nvSpPr>
        <p:spPr>
          <a:xfrm>
            <a:off x="1447800" y="5426670"/>
            <a:ext cx="100200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741"/>
                </a:solidFill>
                <a:latin typeface="Inter" pitchFamily="34" charset="0"/>
                <a:ea typeface="Inter" pitchFamily="34" charset="-122"/>
                <a:cs typeface="Inter" pitchFamily="34" charset="-120"/>
              </a:rPr>
              <a:t>Enforce these through MDM, so users </a:t>
            </a:r>
            <a:r>
              <a:rPr lang="en-US" sz="1400" b="1" dirty="0">
                <a:solidFill>
                  <a:srgbClr val="0F2741"/>
                </a:solidFill>
                <a:latin typeface="Inter" pitchFamily="34" charset="0"/>
                <a:ea typeface="Inter" pitchFamily="34" charset="-122"/>
                <a:cs typeface="Inter" pitchFamily="34" charset="-120"/>
              </a:rPr>
              <a:t>can't switch them off</a:t>
            </a:r>
            <a:r>
              <a:rPr lang="en-US" sz="1400" dirty="0">
                <a:solidFill>
                  <a:srgbClr val="0F2741"/>
                </a:solidFill>
                <a:latin typeface="Inter" pitchFamily="34" charset="0"/>
                <a:ea typeface="Inter" pitchFamily="34" charset="-122"/>
                <a:cs typeface="Inter" pitchFamily="34" charset="-120"/>
              </a:rPr>
              <a:t>, and report their state centrally.</a:t>
            </a:r>
            <a:endParaRPr lang="en-US" sz="1400" dirty="0"/>
          </a:p>
        </p:txBody>
      </p:sp>
      <p:sp>
        <p:nvSpPr>
          <p:cNvPr id="37"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Verification commands run in Terminal · Apple Platform Security Guide</a:t>
            </a:r>
            <a:endParaRPr lang="en-US" sz="1200" dirty="0"/>
          </a:p>
        </p:txBody>
      </p:sp>
      <p:sp>
        <p:nvSpPr>
          <p:cNvPr id="38" name="Text 29"/>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08 · APP CONTROL AND PRIVACY</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Control what runs, and what it can access</a:t>
            </a:r>
            <a:endParaRPr lang="en-US" sz="3600" dirty="0"/>
          </a:p>
        </p:txBody>
      </p:sp>
      <p:sp>
        <p:nvSpPr>
          <p:cNvPr id="5" name="Shape 2"/>
          <p:cNvSpPr/>
          <p:nvPr/>
        </p:nvSpPr>
        <p:spPr>
          <a:xfrm>
            <a:off x="819150" y="1575991"/>
            <a:ext cx="3407767" cy="1626791"/>
          </a:xfrm>
          <a:prstGeom prst="roundRect">
            <a:avLst>
              <a:gd name="adj" fmla="val 7416"/>
            </a:avLst>
          </a:prstGeom>
          <a:solidFill>
            <a:srgbClr val="FFFFFF"/>
          </a:solidFill>
          <a:ln w="12700">
            <a:solidFill>
              <a:srgbClr val="E1E7EF"/>
            </a:solidFill>
            <a:prstDash val="solid"/>
          </a:ln>
        </p:spPr>
      </p:sp>
      <p:sp>
        <p:nvSpPr>
          <p:cNvPr id="6" name="Shape 3"/>
          <p:cNvSpPr/>
          <p:nvPr/>
        </p:nvSpPr>
        <p:spPr>
          <a:xfrm>
            <a:off x="1028700" y="1760141"/>
            <a:ext cx="406400" cy="406400"/>
          </a:xfrm>
          <a:prstGeom prst="roundRect">
            <a:avLst>
              <a:gd name="adj" fmla="val 50000"/>
            </a:avLst>
          </a:prstGeom>
          <a:solidFill>
            <a:srgbClr val="E8EFF8"/>
          </a:solidFill>
          <a:ln/>
        </p:spPr>
      </p:sp>
      <p:pic>
        <p:nvPicPr>
          <p:cNvPr id="7" name="Image 1" descr="box icon">    </p:cNvPr>
          <p:cNvPicPr>
            <a:picLocks noChangeAspect="1"/>
          </p:cNvPicPr>
          <p:nvPr/>
        </p:nvPicPr>
        <p:blipFill>
          <a:blip r:embed="rId2"/>
          <a:srcRect l="0" r="0" t="0" b="0"/>
          <a:stretch/>
        </p:blipFill>
        <p:spPr>
          <a:xfrm>
            <a:off x="1130300" y="1861741"/>
            <a:ext cx="203200" cy="203200"/>
          </a:xfrm>
          <a:prstGeom prst="rect">
            <a:avLst/>
          </a:prstGeom>
        </p:spPr>
      </p:pic>
      <p:sp>
        <p:nvSpPr>
          <p:cNvPr id="8" name="Text 4"/>
          <p:cNvSpPr/>
          <p:nvPr/>
        </p:nvSpPr>
        <p:spPr>
          <a:xfrm>
            <a:off x="1028700" y="225544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Gatekeeper and notarization</a:t>
            </a:r>
            <a:endParaRPr lang="en-US" sz="1500" dirty="0"/>
          </a:p>
        </p:txBody>
      </p:sp>
      <p:sp>
        <p:nvSpPr>
          <p:cNvPr id="9" name="Text 5"/>
          <p:cNvSpPr/>
          <p:nvPr/>
        </p:nvSpPr>
        <p:spPr>
          <a:xfrm>
            <a:off x="1028700" y="257294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Block unsigned and un-notarized apps</a:t>
            </a:r>
            <a:endParaRPr lang="en-US" sz="1300" dirty="0"/>
          </a:p>
        </p:txBody>
      </p:sp>
      <p:sp>
        <p:nvSpPr>
          <p:cNvPr id="10" name="Shape 6"/>
          <p:cNvSpPr/>
          <p:nvPr/>
        </p:nvSpPr>
        <p:spPr>
          <a:xfrm>
            <a:off x="4392017" y="1575991"/>
            <a:ext cx="3407866" cy="1626791"/>
          </a:xfrm>
          <a:prstGeom prst="roundRect">
            <a:avLst>
              <a:gd name="adj" fmla="val 7416"/>
            </a:avLst>
          </a:prstGeom>
          <a:solidFill>
            <a:srgbClr val="FFFFFF"/>
          </a:solidFill>
          <a:ln w="12700">
            <a:solidFill>
              <a:srgbClr val="E1E7EF"/>
            </a:solidFill>
            <a:prstDash val="solid"/>
          </a:ln>
        </p:spPr>
      </p:sp>
      <p:sp>
        <p:nvSpPr>
          <p:cNvPr id="11" name="Shape 7"/>
          <p:cNvSpPr/>
          <p:nvPr/>
        </p:nvSpPr>
        <p:spPr>
          <a:xfrm>
            <a:off x="4601567" y="1760141"/>
            <a:ext cx="406400" cy="406400"/>
          </a:xfrm>
          <a:prstGeom prst="roundRect">
            <a:avLst>
              <a:gd name="adj" fmla="val 50000"/>
            </a:avLst>
          </a:prstGeom>
          <a:solidFill>
            <a:srgbClr val="E8EFF8"/>
          </a:solidFill>
          <a:ln/>
        </p:spPr>
      </p:sp>
      <p:pic>
        <p:nvPicPr>
          <p:cNvPr id="12" name="Image 2" descr="list icon">    </p:cNvPr>
          <p:cNvPicPr>
            <a:picLocks noChangeAspect="1"/>
          </p:cNvPicPr>
          <p:nvPr/>
        </p:nvPicPr>
        <p:blipFill>
          <a:blip r:embed="rId3"/>
          <a:srcRect l="0" r="0" t="0" b="0"/>
          <a:stretch/>
        </p:blipFill>
        <p:spPr>
          <a:xfrm>
            <a:off x="4703167" y="1861741"/>
            <a:ext cx="203200" cy="203200"/>
          </a:xfrm>
          <a:prstGeom prst="rect">
            <a:avLst/>
          </a:prstGeom>
        </p:spPr>
      </p:pic>
      <p:sp>
        <p:nvSpPr>
          <p:cNvPr id="13" name="Text 8"/>
          <p:cNvSpPr/>
          <p:nvPr/>
        </p:nvSpPr>
        <p:spPr>
          <a:xfrm>
            <a:off x="4601567"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App allowlisting</a:t>
            </a:r>
            <a:endParaRPr lang="en-US" sz="1500" dirty="0"/>
          </a:p>
        </p:txBody>
      </p:sp>
      <p:sp>
        <p:nvSpPr>
          <p:cNvPr id="14" name="Text 9"/>
          <p:cNvSpPr/>
          <p:nvPr/>
        </p:nvSpPr>
        <p:spPr>
          <a:xfrm>
            <a:off x="4601567"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Approve apps via MDM; tools like Santa block the rest</a:t>
            </a:r>
            <a:endParaRPr lang="en-US" sz="1300" dirty="0"/>
          </a:p>
        </p:txBody>
      </p:sp>
      <p:sp>
        <p:nvSpPr>
          <p:cNvPr id="15" name="Shape 10"/>
          <p:cNvSpPr/>
          <p:nvPr/>
        </p:nvSpPr>
        <p:spPr>
          <a:xfrm>
            <a:off x="7964984" y="1575991"/>
            <a:ext cx="3407866" cy="1626791"/>
          </a:xfrm>
          <a:prstGeom prst="roundRect">
            <a:avLst>
              <a:gd name="adj" fmla="val 7416"/>
            </a:avLst>
          </a:prstGeom>
          <a:solidFill>
            <a:srgbClr val="FFFFFF"/>
          </a:solidFill>
          <a:ln w="12700">
            <a:solidFill>
              <a:srgbClr val="E1E7EF"/>
            </a:solidFill>
            <a:prstDash val="solid"/>
          </a:ln>
        </p:spPr>
      </p:sp>
      <p:sp>
        <p:nvSpPr>
          <p:cNvPr id="16" name="Shape 11"/>
          <p:cNvSpPr/>
          <p:nvPr/>
        </p:nvSpPr>
        <p:spPr>
          <a:xfrm>
            <a:off x="8174534" y="1760141"/>
            <a:ext cx="406400" cy="406400"/>
          </a:xfrm>
          <a:prstGeom prst="roundRect">
            <a:avLst>
              <a:gd name="adj" fmla="val 50000"/>
            </a:avLst>
          </a:prstGeom>
          <a:solidFill>
            <a:srgbClr val="E8EFF8"/>
          </a:solidFill>
          <a:ln/>
        </p:spPr>
      </p:sp>
      <p:pic>
        <p:nvPicPr>
          <p:cNvPr id="17" name="Image 3" descr="eye icon">    </p:cNvPr>
          <p:cNvPicPr>
            <a:picLocks noChangeAspect="1"/>
          </p:cNvPicPr>
          <p:nvPr/>
        </p:nvPicPr>
        <p:blipFill>
          <a:blip r:embed="rId4"/>
          <a:srcRect l="0" r="0" t="0" b="0"/>
          <a:stretch/>
        </p:blipFill>
        <p:spPr>
          <a:xfrm>
            <a:off x="8276134" y="1861741"/>
            <a:ext cx="203200" cy="203200"/>
          </a:xfrm>
          <a:prstGeom prst="rect">
            <a:avLst/>
          </a:prstGeom>
        </p:spPr>
      </p:pic>
      <p:sp>
        <p:nvSpPr>
          <p:cNvPr id="18" name="Text 12"/>
          <p:cNvSpPr/>
          <p:nvPr/>
        </p:nvSpPr>
        <p:spPr>
          <a:xfrm>
            <a:off x="8174534"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PPPC privacy profiles</a:t>
            </a:r>
            <a:endParaRPr lang="en-US" sz="1500" dirty="0"/>
          </a:p>
        </p:txBody>
      </p:sp>
      <p:sp>
        <p:nvSpPr>
          <p:cNvPr id="19" name="Text 13"/>
          <p:cNvSpPr/>
          <p:nvPr/>
        </p:nvSpPr>
        <p:spPr>
          <a:xfrm>
            <a:off x="8174534"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Control Full Disk Access, screen recording and accessibility</a:t>
            </a:r>
            <a:endParaRPr lang="en-US" sz="1300" dirty="0"/>
          </a:p>
        </p:txBody>
      </p:sp>
      <p:sp>
        <p:nvSpPr>
          <p:cNvPr id="20" name="Shape 14"/>
          <p:cNvSpPr/>
          <p:nvPr/>
        </p:nvSpPr>
        <p:spPr>
          <a:xfrm>
            <a:off x="819150" y="3367881"/>
            <a:ext cx="3407767" cy="1626791"/>
          </a:xfrm>
          <a:prstGeom prst="roundRect">
            <a:avLst>
              <a:gd name="adj" fmla="val 7416"/>
            </a:avLst>
          </a:prstGeom>
          <a:solidFill>
            <a:srgbClr val="FFFFFF"/>
          </a:solidFill>
          <a:ln w="12700">
            <a:solidFill>
              <a:srgbClr val="E1E7EF"/>
            </a:solidFill>
            <a:prstDash val="solid"/>
          </a:ln>
        </p:spPr>
      </p:sp>
      <p:sp>
        <p:nvSpPr>
          <p:cNvPr id="21" name="Shape 15"/>
          <p:cNvSpPr/>
          <p:nvPr/>
        </p:nvSpPr>
        <p:spPr>
          <a:xfrm>
            <a:off x="1028700" y="3552031"/>
            <a:ext cx="406400" cy="406400"/>
          </a:xfrm>
          <a:prstGeom prst="roundRect">
            <a:avLst>
              <a:gd name="adj" fmla="val 50000"/>
            </a:avLst>
          </a:prstGeom>
          <a:solidFill>
            <a:srgbClr val="E8EFF8"/>
          </a:solidFill>
          <a:ln/>
        </p:spPr>
      </p:sp>
      <p:pic>
        <p:nvPicPr>
          <p:cNvPr id="22" name="Image 4" descr="refresh icon">    </p:cNvPr>
          <p:cNvPicPr>
            <a:picLocks noChangeAspect="1"/>
          </p:cNvPicPr>
          <p:nvPr/>
        </p:nvPicPr>
        <p:blipFill>
          <a:blip r:embed="rId5"/>
          <a:srcRect l="0" r="0" t="0" b="0"/>
          <a:stretch/>
        </p:blipFill>
        <p:spPr>
          <a:xfrm>
            <a:off x="1130300" y="3653631"/>
            <a:ext cx="203200" cy="203200"/>
          </a:xfrm>
          <a:prstGeom prst="rect">
            <a:avLst/>
          </a:prstGeom>
        </p:spPr>
      </p:pic>
      <p:sp>
        <p:nvSpPr>
          <p:cNvPr id="23" name="Text 16"/>
          <p:cNvSpPr/>
          <p:nvPr/>
        </p:nvSpPr>
        <p:spPr>
          <a:xfrm>
            <a:off x="1028700" y="404733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Managed app deployment</a:t>
            </a:r>
            <a:endParaRPr lang="en-US" sz="1500" dirty="0"/>
          </a:p>
        </p:txBody>
      </p:sp>
      <p:sp>
        <p:nvSpPr>
          <p:cNvPr id="24" name="Text 17"/>
          <p:cNvSpPr/>
          <p:nvPr/>
        </p:nvSpPr>
        <p:spPr>
          <a:xfrm>
            <a:off x="1028700" y="436483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Install approved apps through MDM or the App Store</a:t>
            </a:r>
            <a:endParaRPr lang="en-US" sz="1300" dirty="0"/>
          </a:p>
        </p:txBody>
      </p:sp>
      <p:sp>
        <p:nvSpPr>
          <p:cNvPr id="25" name="Shape 18"/>
          <p:cNvSpPr/>
          <p:nvPr/>
        </p:nvSpPr>
        <p:spPr>
          <a:xfrm>
            <a:off x="4392017" y="3367881"/>
            <a:ext cx="3407866" cy="1626791"/>
          </a:xfrm>
          <a:prstGeom prst="roundRect">
            <a:avLst>
              <a:gd name="adj" fmla="val 7416"/>
            </a:avLst>
          </a:prstGeom>
          <a:solidFill>
            <a:srgbClr val="FFFFFF"/>
          </a:solidFill>
          <a:ln w="12700">
            <a:solidFill>
              <a:srgbClr val="E1E7EF"/>
            </a:solidFill>
            <a:prstDash val="solid"/>
          </a:ln>
        </p:spPr>
      </p:sp>
      <p:sp>
        <p:nvSpPr>
          <p:cNvPr id="26" name="Shape 19"/>
          <p:cNvSpPr/>
          <p:nvPr/>
        </p:nvSpPr>
        <p:spPr>
          <a:xfrm>
            <a:off x="4601567" y="3552031"/>
            <a:ext cx="406400" cy="406400"/>
          </a:xfrm>
          <a:prstGeom prst="roundRect">
            <a:avLst>
              <a:gd name="adj" fmla="val 50000"/>
            </a:avLst>
          </a:prstGeom>
          <a:solidFill>
            <a:srgbClr val="E8EFF8"/>
          </a:solidFill>
          <a:ln/>
        </p:spPr>
      </p:sp>
      <p:pic>
        <p:nvPicPr>
          <p:cNvPr id="27" name="Image 5" descr="terminal icon">    </p:cNvPr>
          <p:cNvPicPr>
            <a:picLocks noChangeAspect="1"/>
          </p:cNvPicPr>
          <p:nvPr/>
        </p:nvPicPr>
        <p:blipFill>
          <a:blip r:embed="rId6"/>
          <a:srcRect l="0" r="0" t="0" b="0"/>
          <a:stretch/>
        </p:blipFill>
        <p:spPr>
          <a:xfrm>
            <a:off x="4703167" y="3653631"/>
            <a:ext cx="203200" cy="203200"/>
          </a:xfrm>
          <a:prstGeom prst="rect">
            <a:avLst/>
          </a:prstGeom>
        </p:spPr>
      </p:pic>
      <p:sp>
        <p:nvSpPr>
          <p:cNvPr id="28" name="Text 20"/>
          <p:cNvSpPr/>
          <p:nvPr/>
        </p:nvSpPr>
        <p:spPr>
          <a:xfrm>
            <a:off x="4601567"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Watch scripts and Terminal</a:t>
            </a:r>
            <a:endParaRPr lang="en-US" sz="1500" dirty="0"/>
          </a:p>
        </p:txBody>
      </p:sp>
      <p:sp>
        <p:nvSpPr>
          <p:cNvPr id="29" name="Text 21"/>
          <p:cNvSpPr/>
          <p:nvPr/>
        </p:nvSpPr>
        <p:spPr>
          <a:xfrm>
            <a:off x="4601567" y="436483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Alert on osascript password prompts and curl-to-shell</a:t>
            </a:r>
            <a:endParaRPr lang="en-US" sz="1300" dirty="0"/>
          </a:p>
        </p:txBody>
      </p:sp>
      <p:sp>
        <p:nvSpPr>
          <p:cNvPr id="30" name="Shape 22"/>
          <p:cNvSpPr/>
          <p:nvPr/>
        </p:nvSpPr>
        <p:spPr>
          <a:xfrm>
            <a:off x="7964984" y="3367881"/>
            <a:ext cx="3407866" cy="1626791"/>
          </a:xfrm>
          <a:prstGeom prst="roundRect">
            <a:avLst>
              <a:gd name="adj" fmla="val 7416"/>
            </a:avLst>
          </a:prstGeom>
          <a:solidFill>
            <a:srgbClr val="FFFFFF"/>
          </a:solidFill>
          <a:ln w="12700">
            <a:solidFill>
              <a:srgbClr val="E1E7EF"/>
            </a:solidFill>
            <a:prstDash val="solid"/>
          </a:ln>
        </p:spPr>
      </p:sp>
      <p:sp>
        <p:nvSpPr>
          <p:cNvPr id="31" name="Shape 23"/>
          <p:cNvSpPr/>
          <p:nvPr/>
        </p:nvSpPr>
        <p:spPr>
          <a:xfrm>
            <a:off x="8174534" y="3552031"/>
            <a:ext cx="406400" cy="406400"/>
          </a:xfrm>
          <a:prstGeom prst="roundRect">
            <a:avLst>
              <a:gd name="adj" fmla="val 50000"/>
            </a:avLst>
          </a:prstGeom>
          <a:solidFill>
            <a:srgbClr val="E8EFF8"/>
          </a:solidFill>
          <a:ln/>
        </p:spPr>
      </p:sp>
      <p:pic>
        <p:nvPicPr>
          <p:cNvPr id="32" name="Image 6" descr="users icon">    </p:cNvPr>
          <p:cNvPicPr>
            <a:picLocks noChangeAspect="1"/>
          </p:cNvPicPr>
          <p:nvPr/>
        </p:nvPicPr>
        <p:blipFill>
          <a:blip r:embed="rId7"/>
          <a:srcRect l="0" r="0" t="0" b="0"/>
          <a:stretch/>
        </p:blipFill>
        <p:spPr>
          <a:xfrm>
            <a:off x="8276134" y="3653631"/>
            <a:ext cx="203200" cy="203200"/>
          </a:xfrm>
          <a:prstGeom prst="rect">
            <a:avLst/>
          </a:prstGeom>
        </p:spPr>
      </p:pic>
      <p:sp>
        <p:nvSpPr>
          <p:cNvPr id="33" name="Text 24"/>
          <p:cNvSpPr/>
          <p:nvPr/>
        </p:nvSpPr>
        <p:spPr>
          <a:xfrm>
            <a:off x="8174534"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Train users</a:t>
            </a:r>
            <a:endParaRPr lang="en-US" sz="1500" dirty="0"/>
          </a:p>
        </p:txBody>
      </p:sp>
      <p:sp>
        <p:nvSpPr>
          <p:cNvPr id="34" name="Text 25"/>
          <p:cNvSpPr/>
          <p:nvPr/>
        </p:nvSpPr>
        <p:spPr>
          <a:xfrm>
            <a:off x="8174534" y="436483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Never paste commands or enter passwords into pop-ups</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Santa: open-source binary authorization for macOS · PPPC = Privacy Preferences Policy Control</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09 · NETWORK HARDENING</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Reduce the network attack surface</a:t>
            </a:r>
            <a:endParaRPr lang="en-US" sz="3600" dirty="0"/>
          </a:p>
        </p:txBody>
      </p:sp>
      <p:sp>
        <p:nvSpPr>
          <p:cNvPr id="5" name="Shape 2"/>
          <p:cNvSpPr/>
          <p:nvPr/>
        </p:nvSpPr>
        <p:spPr>
          <a:xfrm>
            <a:off x="819150" y="1575991"/>
            <a:ext cx="5207000" cy="786110"/>
          </a:xfrm>
          <a:prstGeom prst="roundRect">
            <a:avLst>
              <a:gd name="adj" fmla="val 15348"/>
            </a:avLst>
          </a:prstGeom>
          <a:solidFill>
            <a:srgbClr val="FFFFFF"/>
          </a:solidFill>
          <a:ln w="12700">
            <a:solidFill>
              <a:srgbClr val="E1E7EF"/>
            </a:solidFill>
            <a:prstDash val="solid"/>
          </a:ln>
        </p:spPr>
      </p:sp>
      <p:sp>
        <p:nvSpPr>
          <p:cNvPr id="6" name="Shape 3"/>
          <p:cNvSpPr/>
          <p:nvPr/>
        </p:nvSpPr>
        <p:spPr>
          <a:xfrm>
            <a:off x="1003300" y="1765796"/>
            <a:ext cx="406400" cy="406400"/>
          </a:xfrm>
          <a:prstGeom prst="roundRect">
            <a:avLst>
              <a:gd name="adj" fmla="val 50000"/>
            </a:avLst>
          </a:prstGeom>
          <a:solidFill>
            <a:srgbClr val="E8EFF8"/>
          </a:solidFill>
          <a:ln/>
        </p:spPr>
      </p:sp>
      <p:pic>
        <p:nvPicPr>
          <p:cNvPr id="7" name="Image 1" descr="shield icon">    </p:cNvPr>
          <p:cNvPicPr>
            <a:picLocks noChangeAspect="1"/>
          </p:cNvPicPr>
          <p:nvPr/>
        </p:nvPicPr>
        <p:blipFill>
          <a:blip r:embed="rId2"/>
          <a:srcRect l="0" r="0" t="0" b="0"/>
          <a:stretch/>
        </p:blipFill>
        <p:spPr>
          <a:xfrm>
            <a:off x="1104900" y="1867396"/>
            <a:ext cx="203200" cy="203200"/>
          </a:xfrm>
          <a:prstGeom prst="rect">
            <a:avLst/>
          </a:prstGeom>
        </p:spPr>
      </p:pic>
      <p:sp>
        <p:nvSpPr>
          <p:cNvPr id="8" name="Text 4"/>
          <p:cNvSpPr/>
          <p:nvPr/>
        </p:nvSpPr>
        <p:spPr>
          <a:xfrm>
            <a:off x="1562100" y="173474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Firewall and stealth mode</a:t>
            </a:r>
            <a:endParaRPr lang="en-US" sz="1500" dirty="0"/>
          </a:p>
        </p:txBody>
      </p:sp>
      <p:sp>
        <p:nvSpPr>
          <p:cNvPr id="9" name="Text 5"/>
          <p:cNvSpPr/>
          <p:nvPr/>
        </p:nvSpPr>
        <p:spPr>
          <a:xfrm>
            <a:off x="1562100" y="198874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Block unsolicited inbound connections</a:t>
            </a:r>
            <a:endParaRPr lang="en-US" sz="1300" dirty="0"/>
          </a:p>
        </p:txBody>
      </p:sp>
      <p:sp>
        <p:nvSpPr>
          <p:cNvPr id="10" name="Shape 6"/>
          <p:cNvSpPr/>
          <p:nvPr/>
        </p:nvSpPr>
        <p:spPr>
          <a:xfrm>
            <a:off x="6165850" y="1575991"/>
            <a:ext cx="5207000" cy="786110"/>
          </a:xfrm>
          <a:prstGeom prst="roundRect">
            <a:avLst>
              <a:gd name="adj" fmla="val 15348"/>
            </a:avLst>
          </a:prstGeom>
          <a:solidFill>
            <a:srgbClr val="FFFFFF"/>
          </a:solidFill>
          <a:ln w="12700">
            <a:solidFill>
              <a:srgbClr val="E1E7EF"/>
            </a:solidFill>
            <a:prstDash val="solid"/>
          </a:ln>
        </p:spPr>
      </p:sp>
      <p:sp>
        <p:nvSpPr>
          <p:cNvPr id="11" name="Shape 7"/>
          <p:cNvSpPr/>
          <p:nvPr/>
        </p:nvSpPr>
        <p:spPr>
          <a:xfrm>
            <a:off x="6350000" y="1765796"/>
            <a:ext cx="406400" cy="406400"/>
          </a:xfrm>
          <a:prstGeom prst="roundRect">
            <a:avLst>
              <a:gd name="adj" fmla="val 50000"/>
            </a:avLst>
          </a:prstGeom>
          <a:solidFill>
            <a:srgbClr val="E8EFF8"/>
          </a:solidFill>
          <a:ln/>
        </p:spPr>
      </p:sp>
      <p:pic>
        <p:nvPicPr>
          <p:cNvPr id="12" name="Image 2" descr="ban icon">    </p:cNvPr>
          <p:cNvPicPr>
            <a:picLocks noChangeAspect="1"/>
          </p:cNvPicPr>
          <p:nvPr/>
        </p:nvPicPr>
        <p:blipFill>
          <a:blip r:embed="rId3"/>
          <a:srcRect l="0" r="0" t="0" b="0"/>
          <a:stretch/>
        </p:blipFill>
        <p:spPr>
          <a:xfrm>
            <a:off x="6451600" y="1867396"/>
            <a:ext cx="203200" cy="203200"/>
          </a:xfrm>
          <a:prstGeom prst="rect">
            <a:avLst/>
          </a:prstGeom>
        </p:spPr>
      </p:pic>
      <p:sp>
        <p:nvSpPr>
          <p:cNvPr id="13" name="Text 8"/>
          <p:cNvSpPr/>
          <p:nvPr/>
        </p:nvSpPr>
        <p:spPr>
          <a:xfrm>
            <a:off x="6908800" y="173474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Disable unused sharing</a:t>
            </a:r>
            <a:endParaRPr lang="en-US" sz="1500" dirty="0"/>
          </a:p>
        </p:txBody>
      </p:sp>
      <p:sp>
        <p:nvSpPr>
          <p:cNvPr id="14" name="Text 9"/>
          <p:cNvSpPr/>
          <p:nvPr/>
        </p:nvSpPr>
        <p:spPr>
          <a:xfrm>
            <a:off x="6908800" y="198874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Screen Sharing, Remote Login, File Sharing</a:t>
            </a:r>
            <a:endParaRPr lang="en-US" sz="1300" dirty="0"/>
          </a:p>
        </p:txBody>
      </p:sp>
      <p:sp>
        <p:nvSpPr>
          <p:cNvPr id="15" name="Shape 10"/>
          <p:cNvSpPr/>
          <p:nvPr/>
        </p:nvSpPr>
        <p:spPr>
          <a:xfrm>
            <a:off x="819150" y="2501801"/>
            <a:ext cx="5207000" cy="786110"/>
          </a:xfrm>
          <a:prstGeom prst="roundRect">
            <a:avLst>
              <a:gd name="adj" fmla="val 15348"/>
            </a:avLst>
          </a:prstGeom>
          <a:solidFill>
            <a:srgbClr val="FFFFFF"/>
          </a:solidFill>
          <a:ln w="12700">
            <a:solidFill>
              <a:srgbClr val="E1E7EF"/>
            </a:solidFill>
            <a:prstDash val="solid"/>
          </a:ln>
        </p:spPr>
      </p:sp>
      <p:sp>
        <p:nvSpPr>
          <p:cNvPr id="16" name="Shape 11"/>
          <p:cNvSpPr/>
          <p:nvPr/>
        </p:nvSpPr>
        <p:spPr>
          <a:xfrm>
            <a:off x="1003300" y="2691606"/>
            <a:ext cx="406400" cy="406400"/>
          </a:xfrm>
          <a:prstGeom prst="roundRect">
            <a:avLst>
              <a:gd name="adj" fmla="val 50000"/>
            </a:avLst>
          </a:prstGeom>
          <a:solidFill>
            <a:srgbClr val="E8EFF8"/>
          </a:solidFill>
          <a:ln/>
        </p:spPr>
      </p:sp>
      <p:pic>
        <p:nvPicPr>
          <p:cNvPr id="17" name="Image 3" descr="wifi icon">    </p:cNvPr>
          <p:cNvPicPr>
            <a:picLocks noChangeAspect="1"/>
          </p:cNvPicPr>
          <p:nvPr/>
        </p:nvPicPr>
        <p:blipFill>
          <a:blip r:embed="rId4"/>
          <a:srcRect l="0" r="0" t="0" b="0"/>
          <a:stretch/>
        </p:blipFill>
        <p:spPr>
          <a:xfrm>
            <a:off x="1104900" y="2793206"/>
            <a:ext cx="203200" cy="203200"/>
          </a:xfrm>
          <a:prstGeom prst="rect">
            <a:avLst/>
          </a:prstGeom>
        </p:spPr>
      </p:pic>
      <p:sp>
        <p:nvSpPr>
          <p:cNvPr id="18" name="Text 12"/>
          <p:cNvSpPr/>
          <p:nvPr/>
        </p:nvSpPr>
        <p:spPr>
          <a:xfrm>
            <a:off x="1562100" y="266055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Secure Wi-Fi profiles</a:t>
            </a:r>
            <a:endParaRPr lang="en-US" sz="1500" dirty="0"/>
          </a:p>
        </p:txBody>
      </p:sp>
      <p:sp>
        <p:nvSpPr>
          <p:cNvPr id="19" name="Text 13"/>
          <p:cNvSpPr/>
          <p:nvPr/>
        </p:nvSpPr>
        <p:spPr>
          <a:xfrm>
            <a:off x="1562100" y="291455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802.1X and certificate-based networks</a:t>
            </a:r>
            <a:endParaRPr lang="en-US" sz="1300" dirty="0"/>
          </a:p>
        </p:txBody>
      </p:sp>
      <p:sp>
        <p:nvSpPr>
          <p:cNvPr id="20" name="Shape 14"/>
          <p:cNvSpPr/>
          <p:nvPr/>
        </p:nvSpPr>
        <p:spPr>
          <a:xfrm>
            <a:off x="6165850" y="2501801"/>
            <a:ext cx="5207000" cy="786110"/>
          </a:xfrm>
          <a:prstGeom prst="roundRect">
            <a:avLst>
              <a:gd name="adj" fmla="val 15348"/>
            </a:avLst>
          </a:prstGeom>
          <a:solidFill>
            <a:srgbClr val="FFFFFF"/>
          </a:solidFill>
          <a:ln w="12700">
            <a:solidFill>
              <a:srgbClr val="E1E7EF"/>
            </a:solidFill>
            <a:prstDash val="solid"/>
          </a:ln>
        </p:spPr>
      </p:sp>
      <p:sp>
        <p:nvSpPr>
          <p:cNvPr id="21" name="Shape 15"/>
          <p:cNvSpPr/>
          <p:nvPr/>
        </p:nvSpPr>
        <p:spPr>
          <a:xfrm>
            <a:off x="6350000" y="2691606"/>
            <a:ext cx="406400" cy="406400"/>
          </a:xfrm>
          <a:prstGeom prst="roundRect">
            <a:avLst>
              <a:gd name="adj" fmla="val 50000"/>
            </a:avLst>
          </a:prstGeom>
          <a:solidFill>
            <a:srgbClr val="E8EFF8"/>
          </a:solidFill>
          <a:ln/>
        </p:spPr>
      </p:sp>
      <p:pic>
        <p:nvPicPr>
          <p:cNvPr id="22" name="Image 4" descr="globe icon">    </p:cNvPr>
          <p:cNvPicPr>
            <a:picLocks noChangeAspect="1"/>
          </p:cNvPicPr>
          <p:nvPr/>
        </p:nvPicPr>
        <p:blipFill>
          <a:blip r:embed="rId5"/>
          <a:srcRect l="0" r="0" t="0" b="0"/>
          <a:stretch/>
        </p:blipFill>
        <p:spPr>
          <a:xfrm>
            <a:off x="6451600" y="2793206"/>
            <a:ext cx="203200" cy="203200"/>
          </a:xfrm>
          <a:prstGeom prst="rect">
            <a:avLst/>
          </a:prstGeom>
        </p:spPr>
      </p:pic>
      <p:sp>
        <p:nvSpPr>
          <p:cNvPr id="23" name="Text 16"/>
          <p:cNvSpPr/>
          <p:nvPr/>
        </p:nvSpPr>
        <p:spPr>
          <a:xfrm>
            <a:off x="6908800" y="266055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DNS and web filtering</a:t>
            </a:r>
            <a:endParaRPr lang="en-US" sz="1500" dirty="0"/>
          </a:p>
        </p:txBody>
      </p:sp>
      <p:sp>
        <p:nvSpPr>
          <p:cNvPr id="24" name="Text 17"/>
          <p:cNvSpPr/>
          <p:nvPr/>
        </p:nvSpPr>
        <p:spPr>
          <a:xfrm>
            <a:off x="6908800" y="291455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Block malicious and newly registered domains</a:t>
            </a:r>
            <a:endParaRPr lang="en-US" sz="1300" dirty="0"/>
          </a:p>
        </p:txBody>
      </p:sp>
      <p:sp>
        <p:nvSpPr>
          <p:cNvPr id="25" name="Shape 18"/>
          <p:cNvSpPr/>
          <p:nvPr/>
        </p:nvSpPr>
        <p:spPr>
          <a:xfrm>
            <a:off x="819150" y="3427611"/>
            <a:ext cx="5207000" cy="786110"/>
          </a:xfrm>
          <a:prstGeom prst="roundRect">
            <a:avLst>
              <a:gd name="adj" fmla="val 15348"/>
            </a:avLst>
          </a:prstGeom>
          <a:solidFill>
            <a:srgbClr val="FFFFFF"/>
          </a:solidFill>
          <a:ln w="12700">
            <a:solidFill>
              <a:srgbClr val="E1E7EF"/>
            </a:solidFill>
            <a:prstDash val="solid"/>
          </a:ln>
        </p:spPr>
      </p:sp>
      <p:sp>
        <p:nvSpPr>
          <p:cNvPr id="26" name="Shape 19"/>
          <p:cNvSpPr/>
          <p:nvPr/>
        </p:nvSpPr>
        <p:spPr>
          <a:xfrm>
            <a:off x="1003300" y="3617416"/>
            <a:ext cx="406400" cy="406400"/>
          </a:xfrm>
          <a:prstGeom prst="roundRect">
            <a:avLst>
              <a:gd name="adj" fmla="val 50000"/>
            </a:avLst>
          </a:prstGeom>
          <a:solidFill>
            <a:srgbClr val="E8EFF8"/>
          </a:solidFill>
          <a:ln/>
        </p:spPr>
      </p:sp>
      <p:pic>
        <p:nvPicPr>
          <p:cNvPr id="27" name="Image 5" descr="lock icon">    </p:cNvPr>
          <p:cNvPicPr>
            <a:picLocks noChangeAspect="1"/>
          </p:cNvPicPr>
          <p:nvPr/>
        </p:nvPicPr>
        <p:blipFill>
          <a:blip r:embed="rId6"/>
          <a:srcRect l="0" r="0" t="0" b="0"/>
          <a:stretch/>
        </p:blipFill>
        <p:spPr>
          <a:xfrm>
            <a:off x="1104900" y="3719016"/>
            <a:ext cx="203200" cy="203200"/>
          </a:xfrm>
          <a:prstGeom prst="rect">
            <a:avLst/>
          </a:prstGeom>
        </p:spPr>
      </p:pic>
      <p:sp>
        <p:nvSpPr>
          <p:cNvPr id="28" name="Text 20"/>
          <p:cNvSpPr/>
          <p:nvPr/>
        </p:nvSpPr>
        <p:spPr>
          <a:xfrm>
            <a:off x="1562100" y="358636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VPN or Zero Trust access</a:t>
            </a:r>
            <a:endParaRPr lang="en-US" sz="1500" dirty="0"/>
          </a:p>
        </p:txBody>
      </p:sp>
      <p:sp>
        <p:nvSpPr>
          <p:cNvPr id="29" name="Text 21"/>
          <p:cNvSpPr/>
          <p:nvPr/>
        </p:nvSpPr>
        <p:spPr>
          <a:xfrm>
            <a:off x="1562100" y="384036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No direct exposure of internal apps</a:t>
            </a:r>
            <a:endParaRPr lang="en-US" sz="1300" dirty="0"/>
          </a:p>
        </p:txBody>
      </p:sp>
      <p:sp>
        <p:nvSpPr>
          <p:cNvPr id="30" name="Shape 22"/>
          <p:cNvSpPr/>
          <p:nvPr/>
        </p:nvSpPr>
        <p:spPr>
          <a:xfrm>
            <a:off x="6165850" y="3427611"/>
            <a:ext cx="5207000" cy="786110"/>
          </a:xfrm>
          <a:prstGeom prst="roundRect">
            <a:avLst>
              <a:gd name="adj" fmla="val 15348"/>
            </a:avLst>
          </a:prstGeom>
          <a:solidFill>
            <a:srgbClr val="FFFFFF"/>
          </a:solidFill>
          <a:ln w="12700">
            <a:solidFill>
              <a:srgbClr val="E1E7EF"/>
            </a:solidFill>
            <a:prstDash val="solid"/>
          </a:ln>
        </p:spPr>
      </p:sp>
      <p:sp>
        <p:nvSpPr>
          <p:cNvPr id="31" name="Shape 23"/>
          <p:cNvSpPr/>
          <p:nvPr/>
        </p:nvSpPr>
        <p:spPr>
          <a:xfrm>
            <a:off x="6350000" y="3617416"/>
            <a:ext cx="406400" cy="406400"/>
          </a:xfrm>
          <a:prstGeom prst="roundRect">
            <a:avLst>
              <a:gd name="adj" fmla="val 50000"/>
            </a:avLst>
          </a:prstGeom>
          <a:solidFill>
            <a:srgbClr val="E8EFF8"/>
          </a:solidFill>
          <a:ln/>
        </p:spPr>
      </p:sp>
      <p:pic>
        <p:nvPicPr>
          <p:cNvPr id="32" name="Image 6" descr="users icon">    </p:cNvPr>
          <p:cNvPicPr>
            <a:picLocks noChangeAspect="1"/>
          </p:cNvPicPr>
          <p:nvPr/>
        </p:nvPicPr>
        <p:blipFill>
          <a:blip r:embed="rId7"/>
          <a:srcRect l="0" r="0" t="0" b="0"/>
          <a:stretch/>
        </p:blipFill>
        <p:spPr>
          <a:xfrm>
            <a:off x="6451600" y="3719016"/>
            <a:ext cx="203200" cy="203200"/>
          </a:xfrm>
          <a:prstGeom prst="rect">
            <a:avLst/>
          </a:prstGeom>
        </p:spPr>
      </p:pic>
      <p:sp>
        <p:nvSpPr>
          <p:cNvPr id="33" name="Text 24"/>
          <p:cNvSpPr/>
          <p:nvPr/>
        </p:nvSpPr>
        <p:spPr>
          <a:xfrm>
            <a:off x="6908800" y="358636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AirDrop for contacts only</a:t>
            </a:r>
            <a:endParaRPr lang="en-US" sz="1500" dirty="0"/>
          </a:p>
        </p:txBody>
      </p:sp>
      <p:sp>
        <p:nvSpPr>
          <p:cNvPr id="34" name="Text 25"/>
          <p:cNvSpPr/>
          <p:nvPr/>
        </p:nvSpPr>
        <p:spPr>
          <a:xfrm>
            <a:off x="6908800" y="384036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Or off on managed Macs</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Aligned with CIS Benchmarks for macOS</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10 · LOGGING AND DETECTION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You can’t defend what you can’t see</a:t>
            </a:r>
            <a:endParaRPr lang="en-US" sz="3600" dirty="0"/>
          </a:p>
        </p:txBody>
      </p:sp>
      <p:sp>
        <p:nvSpPr>
          <p:cNvPr id="5" name="Shape 2"/>
          <p:cNvSpPr/>
          <p:nvPr/>
        </p:nvSpPr>
        <p:spPr>
          <a:xfrm>
            <a:off x="819150" y="1575991"/>
            <a:ext cx="5207000" cy="786110"/>
          </a:xfrm>
          <a:prstGeom prst="roundRect">
            <a:avLst>
              <a:gd name="adj" fmla="val 15348"/>
            </a:avLst>
          </a:prstGeom>
          <a:solidFill>
            <a:srgbClr val="FFFFFF"/>
          </a:solidFill>
          <a:ln w="12700">
            <a:solidFill>
              <a:srgbClr val="E1E7EF"/>
            </a:solidFill>
            <a:prstDash val="solid"/>
          </a:ln>
        </p:spPr>
      </p:sp>
      <p:sp>
        <p:nvSpPr>
          <p:cNvPr id="6" name="Shape 3"/>
          <p:cNvSpPr/>
          <p:nvPr/>
        </p:nvSpPr>
        <p:spPr>
          <a:xfrm>
            <a:off x="1003300" y="1765796"/>
            <a:ext cx="406400" cy="406400"/>
          </a:xfrm>
          <a:prstGeom prst="roundRect">
            <a:avLst>
              <a:gd name="adj" fmla="val 50000"/>
            </a:avLst>
          </a:prstGeom>
          <a:solidFill>
            <a:srgbClr val="E8EFF8"/>
          </a:solidFill>
          <a:ln/>
        </p:spPr>
      </p:sp>
      <p:pic>
        <p:nvPicPr>
          <p:cNvPr id="7" name="Image 1" descr="activity icon">    </p:cNvPr>
          <p:cNvPicPr>
            <a:picLocks noChangeAspect="1"/>
          </p:cNvPicPr>
          <p:nvPr/>
        </p:nvPicPr>
        <p:blipFill>
          <a:blip r:embed="rId2"/>
          <a:srcRect l="0" r="0" t="0" b="0"/>
          <a:stretch/>
        </p:blipFill>
        <p:spPr>
          <a:xfrm>
            <a:off x="1104900" y="1867396"/>
            <a:ext cx="203200" cy="203200"/>
          </a:xfrm>
          <a:prstGeom prst="rect">
            <a:avLst/>
          </a:prstGeom>
        </p:spPr>
      </p:pic>
      <p:sp>
        <p:nvSpPr>
          <p:cNvPr id="8" name="Text 4"/>
          <p:cNvSpPr/>
          <p:nvPr/>
        </p:nvSpPr>
        <p:spPr>
          <a:xfrm>
            <a:off x="1562100" y="173474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EDR on every Mac</a:t>
            </a:r>
            <a:endParaRPr lang="en-US" sz="1500" dirty="0"/>
          </a:p>
        </p:txBody>
      </p:sp>
      <p:sp>
        <p:nvSpPr>
          <p:cNvPr id="9" name="Text 5"/>
          <p:cNvSpPr/>
          <p:nvPr/>
        </p:nvSpPr>
        <p:spPr>
          <a:xfrm>
            <a:off x="1562100" y="198874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Built on Apple's Endpoint Security framework</a:t>
            </a:r>
            <a:endParaRPr lang="en-US" sz="1300" dirty="0"/>
          </a:p>
        </p:txBody>
      </p:sp>
      <p:sp>
        <p:nvSpPr>
          <p:cNvPr id="10" name="Shape 6"/>
          <p:cNvSpPr/>
          <p:nvPr/>
        </p:nvSpPr>
        <p:spPr>
          <a:xfrm>
            <a:off x="6165850" y="1575991"/>
            <a:ext cx="5207000" cy="786110"/>
          </a:xfrm>
          <a:prstGeom prst="roundRect">
            <a:avLst>
              <a:gd name="adj" fmla="val 15348"/>
            </a:avLst>
          </a:prstGeom>
          <a:solidFill>
            <a:srgbClr val="FFFFFF"/>
          </a:solidFill>
          <a:ln w="12700">
            <a:solidFill>
              <a:srgbClr val="E1E7EF"/>
            </a:solidFill>
            <a:prstDash val="solid"/>
          </a:ln>
        </p:spPr>
      </p:sp>
      <p:sp>
        <p:nvSpPr>
          <p:cNvPr id="11" name="Shape 7"/>
          <p:cNvSpPr/>
          <p:nvPr/>
        </p:nvSpPr>
        <p:spPr>
          <a:xfrm>
            <a:off x="6350000" y="1765796"/>
            <a:ext cx="406400" cy="406400"/>
          </a:xfrm>
          <a:prstGeom prst="roundRect">
            <a:avLst>
              <a:gd name="adj" fmla="val 50000"/>
            </a:avLst>
          </a:prstGeom>
          <a:solidFill>
            <a:srgbClr val="E8EFF8"/>
          </a:solidFill>
          <a:ln/>
        </p:spPr>
      </p:sp>
      <p:pic>
        <p:nvPicPr>
          <p:cNvPr id="12" name="Image 2" descr="list icon">    </p:cNvPr>
          <p:cNvPicPr>
            <a:picLocks noChangeAspect="1"/>
          </p:cNvPicPr>
          <p:nvPr/>
        </p:nvPicPr>
        <p:blipFill>
          <a:blip r:embed="rId3"/>
          <a:srcRect l="0" r="0" t="0" b="0"/>
          <a:stretch/>
        </p:blipFill>
        <p:spPr>
          <a:xfrm>
            <a:off x="6451600" y="1867396"/>
            <a:ext cx="203200" cy="203200"/>
          </a:xfrm>
          <a:prstGeom prst="rect">
            <a:avLst/>
          </a:prstGeom>
        </p:spPr>
      </p:pic>
      <p:sp>
        <p:nvSpPr>
          <p:cNvPr id="13" name="Text 8"/>
          <p:cNvSpPr/>
          <p:nvPr/>
        </p:nvSpPr>
        <p:spPr>
          <a:xfrm>
            <a:off x="6908800" y="173474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Unified logging to SIEM</a:t>
            </a:r>
            <a:endParaRPr lang="en-US" sz="1500" dirty="0"/>
          </a:p>
        </p:txBody>
      </p:sp>
      <p:sp>
        <p:nvSpPr>
          <p:cNvPr id="14" name="Text 9"/>
          <p:cNvSpPr/>
          <p:nvPr/>
        </p:nvSpPr>
        <p:spPr>
          <a:xfrm>
            <a:off x="6908800" y="198874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Forward key events centrally</a:t>
            </a:r>
            <a:endParaRPr lang="en-US" sz="1300" dirty="0"/>
          </a:p>
        </p:txBody>
      </p:sp>
      <p:sp>
        <p:nvSpPr>
          <p:cNvPr id="15" name="Shape 10"/>
          <p:cNvSpPr/>
          <p:nvPr/>
        </p:nvSpPr>
        <p:spPr>
          <a:xfrm>
            <a:off x="819150" y="2501801"/>
            <a:ext cx="5207000" cy="786110"/>
          </a:xfrm>
          <a:prstGeom prst="roundRect">
            <a:avLst>
              <a:gd name="adj" fmla="val 15348"/>
            </a:avLst>
          </a:prstGeom>
          <a:solidFill>
            <a:srgbClr val="FFFFFF"/>
          </a:solidFill>
          <a:ln w="12700">
            <a:solidFill>
              <a:srgbClr val="E1E7EF"/>
            </a:solidFill>
            <a:prstDash val="solid"/>
          </a:ln>
        </p:spPr>
      </p:sp>
      <p:sp>
        <p:nvSpPr>
          <p:cNvPr id="16" name="Shape 11"/>
          <p:cNvSpPr/>
          <p:nvPr/>
        </p:nvSpPr>
        <p:spPr>
          <a:xfrm>
            <a:off x="1003300" y="2691606"/>
            <a:ext cx="406400" cy="406400"/>
          </a:xfrm>
          <a:prstGeom prst="roundRect">
            <a:avLst>
              <a:gd name="adj" fmla="val 50000"/>
            </a:avLst>
          </a:prstGeom>
          <a:solidFill>
            <a:srgbClr val="E8EFF8"/>
          </a:solidFill>
          <a:ln/>
        </p:spPr>
      </p:sp>
      <p:pic>
        <p:nvPicPr>
          <p:cNvPr id="17" name="Image 3" descr="refresh icon">    </p:cNvPr>
          <p:cNvPicPr>
            <a:picLocks noChangeAspect="1"/>
          </p:cNvPicPr>
          <p:nvPr/>
        </p:nvPicPr>
        <p:blipFill>
          <a:blip r:embed="rId4"/>
          <a:srcRect l="0" r="0" t="0" b="0"/>
          <a:stretch/>
        </p:blipFill>
        <p:spPr>
          <a:xfrm>
            <a:off x="1104900" y="2793206"/>
            <a:ext cx="203200" cy="203200"/>
          </a:xfrm>
          <a:prstGeom prst="rect">
            <a:avLst/>
          </a:prstGeom>
        </p:spPr>
      </p:pic>
      <p:sp>
        <p:nvSpPr>
          <p:cNvPr id="18" name="Text 12"/>
          <p:cNvSpPr/>
          <p:nvPr/>
        </p:nvSpPr>
        <p:spPr>
          <a:xfrm>
            <a:off x="1562100" y="266055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New launch agents and daemons</a:t>
            </a:r>
            <a:endParaRPr lang="en-US" sz="1500" dirty="0"/>
          </a:p>
        </p:txBody>
      </p:sp>
      <p:sp>
        <p:nvSpPr>
          <p:cNvPr id="19" name="Text 13"/>
          <p:cNvSpPr/>
          <p:nvPr/>
        </p:nvSpPr>
        <p:spPr>
          <a:xfrm>
            <a:off x="1562100" y="291455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The most common Mac persistence method</a:t>
            </a:r>
            <a:endParaRPr lang="en-US" sz="1300" dirty="0"/>
          </a:p>
        </p:txBody>
      </p:sp>
      <p:sp>
        <p:nvSpPr>
          <p:cNvPr id="20" name="Shape 14"/>
          <p:cNvSpPr/>
          <p:nvPr/>
        </p:nvSpPr>
        <p:spPr>
          <a:xfrm>
            <a:off x="6165850" y="2501801"/>
            <a:ext cx="5207000" cy="786110"/>
          </a:xfrm>
          <a:prstGeom prst="roundRect">
            <a:avLst>
              <a:gd name="adj" fmla="val 15348"/>
            </a:avLst>
          </a:prstGeom>
          <a:solidFill>
            <a:srgbClr val="FFFFFF"/>
          </a:solidFill>
          <a:ln w="12700">
            <a:solidFill>
              <a:srgbClr val="E1E7EF"/>
            </a:solidFill>
            <a:prstDash val="solid"/>
          </a:ln>
        </p:spPr>
      </p:sp>
      <p:sp>
        <p:nvSpPr>
          <p:cNvPr id="21" name="Shape 15"/>
          <p:cNvSpPr/>
          <p:nvPr/>
        </p:nvSpPr>
        <p:spPr>
          <a:xfrm>
            <a:off x="6350000" y="2691606"/>
            <a:ext cx="406400" cy="406400"/>
          </a:xfrm>
          <a:prstGeom prst="roundRect">
            <a:avLst>
              <a:gd name="adj" fmla="val 50000"/>
            </a:avLst>
          </a:prstGeom>
          <a:solidFill>
            <a:srgbClr val="E8EFF8"/>
          </a:solidFill>
          <a:ln/>
        </p:spPr>
      </p:sp>
      <p:pic>
        <p:nvPicPr>
          <p:cNvPr id="22" name="Image 4" descr="eye icon">    </p:cNvPr>
          <p:cNvPicPr>
            <a:picLocks noChangeAspect="1"/>
          </p:cNvPicPr>
          <p:nvPr/>
        </p:nvPicPr>
        <p:blipFill>
          <a:blip r:embed="rId5"/>
          <a:srcRect l="0" r="0" t="0" b="0"/>
          <a:stretch/>
        </p:blipFill>
        <p:spPr>
          <a:xfrm>
            <a:off x="6451600" y="2793206"/>
            <a:ext cx="203200" cy="203200"/>
          </a:xfrm>
          <a:prstGeom prst="rect">
            <a:avLst/>
          </a:prstGeom>
        </p:spPr>
      </p:pic>
      <p:sp>
        <p:nvSpPr>
          <p:cNvPr id="23" name="Text 16"/>
          <p:cNvSpPr/>
          <p:nvPr/>
        </p:nvSpPr>
        <p:spPr>
          <a:xfrm>
            <a:off x="6908800" y="266055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Privacy permission changes</a:t>
            </a:r>
            <a:endParaRPr lang="en-US" sz="1500" dirty="0"/>
          </a:p>
        </p:txBody>
      </p:sp>
      <p:sp>
        <p:nvSpPr>
          <p:cNvPr id="24" name="Text 17"/>
          <p:cNvSpPr/>
          <p:nvPr/>
        </p:nvSpPr>
        <p:spPr>
          <a:xfrm>
            <a:off x="6908800" y="291455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New Full Disk Access or screen recording grants</a:t>
            </a:r>
            <a:endParaRPr lang="en-US" sz="1300" dirty="0"/>
          </a:p>
        </p:txBody>
      </p:sp>
      <p:sp>
        <p:nvSpPr>
          <p:cNvPr id="25" name="Shape 18"/>
          <p:cNvSpPr/>
          <p:nvPr/>
        </p:nvSpPr>
        <p:spPr>
          <a:xfrm>
            <a:off x="819150" y="3427611"/>
            <a:ext cx="5207000" cy="786110"/>
          </a:xfrm>
          <a:prstGeom prst="roundRect">
            <a:avLst>
              <a:gd name="adj" fmla="val 15348"/>
            </a:avLst>
          </a:prstGeom>
          <a:solidFill>
            <a:srgbClr val="FFFFFF"/>
          </a:solidFill>
          <a:ln w="12700">
            <a:solidFill>
              <a:srgbClr val="E1E7EF"/>
            </a:solidFill>
            <a:prstDash val="solid"/>
          </a:ln>
        </p:spPr>
      </p:sp>
      <p:sp>
        <p:nvSpPr>
          <p:cNvPr id="26" name="Shape 19"/>
          <p:cNvSpPr/>
          <p:nvPr/>
        </p:nvSpPr>
        <p:spPr>
          <a:xfrm>
            <a:off x="1003300" y="3617416"/>
            <a:ext cx="406400" cy="406400"/>
          </a:xfrm>
          <a:prstGeom prst="roundRect">
            <a:avLst>
              <a:gd name="adj" fmla="val 50000"/>
            </a:avLst>
          </a:prstGeom>
          <a:solidFill>
            <a:srgbClr val="E8EFF8"/>
          </a:solidFill>
          <a:ln/>
        </p:spPr>
      </p:sp>
      <p:pic>
        <p:nvPicPr>
          <p:cNvPr id="27" name="Image 5" descr="user icon">    </p:cNvPr>
          <p:cNvPicPr>
            <a:picLocks noChangeAspect="1"/>
          </p:cNvPicPr>
          <p:nvPr/>
        </p:nvPicPr>
        <p:blipFill>
          <a:blip r:embed="rId6"/>
          <a:srcRect l="0" r="0" t="0" b="0"/>
          <a:stretch/>
        </p:blipFill>
        <p:spPr>
          <a:xfrm>
            <a:off x="1104900" y="3719016"/>
            <a:ext cx="203200" cy="203200"/>
          </a:xfrm>
          <a:prstGeom prst="rect">
            <a:avLst/>
          </a:prstGeom>
        </p:spPr>
      </p:pic>
      <p:sp>
        <p:nvSpPr>
          <p:cNvPr id="28" name="Text 20"/>
          <p:cNvSpPr/>
          <p:nvPr/>
        </p:nvSpPr>
        <p:spPr>
          <a:xfrm>
            <a:off x="1562100" y="358636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Admin group changes</a:t>
            </a:r>
            <a:endParaRPr lang="en-US" sz="1500" dirty="0"/>
          </a:p>
        </p:txBody>
      </p:sp>
      <p:sp>
        <p:nvSpPr>
          <p:cNvPr id="29" name="Text 21"/>
          <p:cNvSpPr/>
          <p:nvPr/>
        </p:nvSpPr>
        <p:spPr>
          <a:xfrm>
            <a:off x="1562100" y="384036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New or unexpected administrators</a:t>
            </a:r>
            <a:endParaRPr lang="en-US" sz="1300" dirty="0"/>
          </a:p>
        </p:txBody>
      </p:sp>
      <p:sp>
        <p:nvSpPr>
          <p:cNvPr id="30" name="Shape 22"/>
          <p:cNvSpPr/>
          <p:nvPr/>
        </p:nvSpPr>
        <p:spPr>
          <a:xfrm>
            <a:off x="6165850" y="3427611"/>
            <a:ext cx="5207000" cy="786110"/>
          </a:xfrm>
          <a:prstGeom prst="roundRect">
            <a:avLst>
              <a:gd name="adj" fmla="val 15348"/>
            </a:avLst>
          </a:prstGeom>
          <a:solidFill>
            <a:srgbClr val="FFFFFF"/>
          </a:solidFill>
          <a:ln w="12700">
            <a:solidFill>
              <a:srgbClr val="E1E7EF"/>
            </a:solidFill>
            <a:prstDash val="solid"/>
          </a:ln>
        </p:spPr>
      </p:sp>
      <p:sp>
        <p:nvSpPr>
          <p:cNvPr id="31" name="Shape 23"/>
          <p:cNvSpPr/>
          <p:nvPr/>
        </p:nvSpPr>
        <p:spPr>
          <a:xfrm>
            <a:off x="6350000" y="3617416"/>
            <a:ext cx="406400" cy="406400"/>
          </a:xfrm>
          <a:prstGeom prst="roundRect">
            <a:avLst>
              <a:gd name="adj" fmla="val 50000"/>
            </a:avLst>
          </a:prstGeom>
          <a:solidFill>
            <a:srgbClr val="E8EFF8"/>
          </a:solidFill>
          <a:ln/>
        </p:spPr>
      </p:sp>
      <p:pic>
        <p:nvPicPr>
          <p:cNvPr id="32" name="Image 6" descr="alert icon">    </p:cNvPr>
          <p:cNvPicPr>
            <a:picLocks noChangeAspect="1"/>
          </p:cNvPicPr>
          <p:nvPr/>
        </p:nvPicPr>
        <p:blipFill>
          <a:blip r:embed="rId7"/>
          <a:srcRect l="0" r="0" t="0" b="0"/>
          <a:stretch/>
        </p:blipFill>
        <p:spPr>
          <a:xfrm>
            <a:off x="6451600" y="3719016"/>
            <a:ext cx="203200" cy="203200"/>
          </a:xfrm>
          <a:prstGeom prst="rect">
            <a:avLst/>
          </a:prstGeom>
        </p:spPr>
      </p:pic>
      <p:sp>
        <p:nvSpPr>
          <p:cNvPr id="33" name="Text 24"/>
          <p:cNvSpPr/>
          <p:nvPr/>
        </p:nvSpPr>
        <p:spPr>
          <a:xfrm>
            <a:off x="6908800" y="3586361"/>
            <a:ext cx="44082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Gatekeeper overrides</a:t>
            </a:r>
            <a:endParaRPr lang="en-US" sz="1500" dirty="0"/>
          </a:p>
        </p:txBody>
      </p:sp>
      <p:sp>
        <p:nvSpPr>
          <p:cNvPr id="34" name="Text 25"/>
          <p:cNvSpPr/>
          <p:nvPr/>
        </p:nvSpPr>
        <p:spPr>
          <a:xfrm>
            <a:off x="6908800" y="3840361"/>
            <a:ext cx="440829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A6B7D"/>
                </a:solidFill>
                <a:latin typeface="Inter" pitchFamily="34" charset="0"/>
                <a:ea typeface="Inter" pitchFamily="34" charset="-122"/>
                <a:cs typeface="Inter" pitchFamily="34" charset="-120"/>
              </a:rPr>
              <a:t>Users bypassing app security warnings</a:t>
            </a:r>
            <a:endParaRPr lang="en-US" sz="1300" dirty="0"/>
          </a:p>
        </p:txBody>
      </p:sp>
      <p:sp>
        <p:nvSpPr>
          <p:cNvPr id="35" name="Shape 26"/>
          <p:cNvSpPr/>
          <p:nvPr/>
        </p:nvSpPr>
        <p:spPr>
          <a:xfrm>
            <a:off x="812800" y="4474071"/>
            <a:ext cx="10566400" cy="660400"/>
          </a:xfrm>
          <a:prstGeom prst="roundRect">
            <a:avLst>
              <a:gd name="adj" fmla="val 15385"/>
            </a:avLst>
          </a:prstGeom>
          <a:solidFill>
            <a:srgbClr val="0F2741"/>
          </a:solidFill>
          <a:ln/>
        </p:spPr>
      </p:sp>
      <p:sp>
        <p:nvSpPr>
          <p:cNvPr id="36" name="Shape 27"/>
          <p:cNvSpPr/>
          <p:nvPr/>
        </p:nvSpPr>
        <p:spPr>
          <a:xfrm>
            <a:off x="1016000" y="4626471"/>
            <a:ext cx="355600" cy="355600"/>
          </a:xfrm>
          <a:prstGeom prst="roundRect">
            <a:avLst>
              <a:gd name="adj" fmla="val 50000"/>
            </a:avLst>
          </a:prstGeom>
          <a:solidFill>
            <a:srgbClr val="D9822B"/>
          </a:solidFill>
          <a:ln/>
        </p:spPr>
      </p:sp>
      <p:pic>
        <p:nvPicPr>
          <p:cNvPr id="37" name="Image 7" descr="bug icon">    </p:cNvPr>
          <p:cNvPicPr>
            <a:picLocks noChangeAspect="1"/>
          </p:cNvPicPr>
          <p:nvPr/>
        </p:nvPicPr>
        <p:blipFill>
          <a:blip r:embed="rId8"/>
          <a:srcRect l="0" r="0" t="0" b="0"/>
          <a:stretch/>
        </p:blipFill>
        <p:spPr>
          <a:xfrm>
            <a:off x="1104900" y="4715371"/>
            <a:ext cx="177800" cy="177800"/>
          </a:xfrm>
          <a:prstGeom prst="rect">
            <a:avLst/>
          </a:prstGeom>
        </p:spPr>
      </p:pic>
      <p:sp>
        <p:nvSpPr>
          <p:cNvPr id="38" name="Text 28"/>
          <p:cNvSpPr/>
          <p:nvPr/>
        </p:nvSpPr>
        <p:spPr>
          <a:xfrm>
            <a:off x="1524000" y="4679851"/>
            <a:ext cx="99415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Mac stealers often add a </a:t>
            </a:r>
            <a:r>
              <a:rPr lang="en-US" sz="1400" b="1" dirty="0">
                <a:solidFill>
                  <a:srgbClr val="E8B95C"/>
                </a:solidFill>
                <a:latin typeface="Inter" pitchFamily="34" charset="0"/>
                <a:ea typeface="Inter" pitchFamily="34" charset="-122"/>
                <a:cs typeface="Inter" pitchFamily="34" charset="-120"/>
              </a:rPr>
              <a:t>LaunchAgent</a:t>
            </a:r>
            <a:r>
              <a:rPr lang="en-US" sz="1400" dirty="0">
                <a:solidFill>
                  <a:srgbClr val="FFFFFF"/>
                </a:solidFill>
                <a:latin typeface="Inter" pitchFamily="34" charset="0"/>
                <a:ea typeface="Inter" pitchFamily="34" charset="-122"/>
                <a:cs typeface="Inter" pitchFamily="34" charset="-120"/>
              </a:rPr>
              <a:t> for persistence. Alert on it.</a:t>
            </a:r>
            <a:endParaRPr lang="en-US" sz="1400" dirty="0"/>
          </a:p>
        </p:txBody>
      </p:sp>
      <p:sp>
        <p:nvSpPr>
          <p:cNvPr id="39"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Apple Endpoint Security framework · Unified Logging</a:t>
            </a:r>
            <a:endParaRPr lang="en-US" sz="1200" dirty="0"/>
          </a:p>
        </p:txBody>
      </p:sp>
      <p:sp>
        <p:nvSpPr>
          <p:cNvPr id="40" name="Text 30"/>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11 · DATA PROTECTION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Protect the data, even if the Mac is lost</a:t>
            </a:r>
            <a:endParaRPr lang="en-US" sz="3600" dirty="0"/>
          </a:p>
        </p:txBody>
      </p:sp>
      <p:sp>
        <p:nvSpPr>
          <p:cNvPr id="5" name="Shape 2"/>
          <p:cNvSpPr/>
          <p:nvPr/>
        </p:nvSpPr>
        <p:spPr>
          <a:xfrm>
            <a:off x="819150" y="1575991"/>
            <a:ext cx="3407767" cy="1626791"/>
          </a:xfrm>
          <a:prstGeom prst="roundRect">
            <a:avLst>
              <a:gd name="adj" fmla="val 7416"/>
            </a:avLst>
          </a:prstGeom>
          <a:solidFill>
            <a:srgbClr val="FFFFFF"/>
          </a:solidFill>
          <a:ln w="12700">
            <a:solidFill>
              <a:srgbClr val="E1E7EF"/>
            </a:solidFill>
            <a:prstDash val="solid"/>
          </a:ln>
        </p:spPr>
      </p:sp>
      <p:sp>
        <p:nvSpPr>
          <p:cNvPr id="6" name="Shape 3"/>
          <p:cNvSpPr/>
          <p:nvPr/>
        </p:nvSpPr>
        <p:spPr>
          <a:xfrm>
            <a:off x="1028700" y="1760141"/>
            <a:ext cx="406400" cy="406400"/>
          </a:xfrm>
          <a:prstGeom prst="roundRect">
            <a:avLst>
              <a:gd name="adj" fmla="val 50000"/>
            </a:avLst>
          </a:prstGeom>
          <a:solidFill>
            <a:srgbClr val="E8EFF8"/>
          </a:solidFill>
          <a:ln/>
        </p:spPr>
      </p:sp>
      <p:pic>
        <p:nvPicPr>
          <p:cNvPr id="7" name="Image 1" descr="lock icon">    </p:cNvPr>
          <p:cNvPicPr>
            <a:picLocks noChangeAspect="1"/>
          </p:cNvPicPr>
          <p:nvPr/>
        </p:nvPicPr>
        <p:blipFill>
          <a:blip r:embed="rId2"/>
          <a:srcRect l="0" r="0" t="0" b="0"/>
          <a:stretch/>
        </p:blipFill>
        <p:spPr>
          <a:xfrm>
            <a:off x="1130300" y="1861741"/>
            <a:ext cx="203200" cy="203200"/>
          </a:xfrm>
          <a:prstGeom prst="rect">
            <a:avLst/>
          </a:prstGeom>
        </p:spPr>
      </p:pic>
      <p:sp>
        <p:nvSpPr>
          <p:cNvPr id="8" name="Text 4"/>
          <p:cNvSpPr/>
          <p:nvPr/>
        </p:nvSpPr>
        <p:spPr>
          <a:xfrm>
            <a:off x="1028700" y="225544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FileVault everywhere</a:t>
            </a:r>
            <a:endParaRPr lang="en-US" sz="1500" dirty="0"/>
          </a:p>
        </p:txBody>
      </p:sp>
      <p:sp>
        <p:nvSpPr>
          <p:cNvPr id="9" name="Text 5"/>
          <p:cNvSpPr/>
          <p:nvPr/>
        </p:nvSpPr>
        <p:spPr>
          <a:xfrm>
            <a:off x="1028700" y="257294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Full-disk encryption, recovery key escrowed in MDM</a:t>
            </a:r>
            <a:endParaRPr lang="en-US" sz="1300" dirty="0"/>
          </a:p>
        </p:txBody>
      </p:sp>
      <p:sp>
        <p:nvSpPr>
          <p:cNvPr id="10" name="Shape 6"/>
          <p:cNvSpPr/>
          <p:nvPr/>
        </p:nvSpPr>
        <p:spPr>
          <a:xfrm>
            <a:off x="4392017" y="1575991"/>
            <a:ext cx="3407866" cy="1626791"/>
          </a:xfrm>
          <a:prstGeom prst="roundRect">
            <a:avLst>
              <a:gd name="adj" fmla="val 7416"/>
            </a:avLst>
          </a:prstGeom>
          <a:solidFill>
            <a:srgbClr val="FFFFFF"/>
          </a:solidFill>
          <a:ln w="12700">
            <a:solidFill>
              <a:srgbClr val="E1E7EF"/>
            </a:solidFill>
            <a:prstDash val="solid"/>
          </a:ln>
        </p:spPr>
      </p:sp>
      <p:sp>
        <p:nvSpPr>
          <p:cNvPr id="11" name="Shape 7"/>
          <p:cNvSpPr/>
          <p:nvPr/>
        </p:nvSpPr>
        <p:spPr>
          <a:xfrm>
            <a:off x="4601567" y="1760141"/>
            <a:ext cx="406400" cy="406400"/>
          </a:xfrm>
          <a:prstGeom prst="roundRect">
            <a:avLst>
              <a:gd name="adj" fmla="val 50000"/>
            </a:avLst>
          </a:prstGeom>
          <a:solidFill>
            <a:srgbClr val="E8EFF8"/>
          </a:solidFill>
          <a:ln/>
        </p:spPr>
      </p:sp>
      <p:pic>
        <p:nvPicPr>
          <p:cNvPr id="12" name="Image 2" descr="phone icon">    </p:cNvPr>
          <p:cNvPicPr>
            <a:picLocks noChangeAspect="1"/>
          </p:cNvPicPr>
          <p:nvPr/>
        </p:nvPicPr>
        <p:blipFill>
          <a:blip r:embed="rId3"/>
          <a:srcRect l="0" r="0" t="0" b="0"/>
          <a:stretch/>
        </p:blipFill>
        <p:spPr>
          <a:xfrm>
            <a:off x="4703167" y="1861741"/>
            <a:ext cx="203200" cy="203200"/>
          </a:xfrm>
          <a:prstGeom prst="rect">
            <a:avLst/>
          </a:prstGeom>
        </p:spPr>
      </p:pic>
      <p:sp>
        <p:nvSpPr>
          <p:cNvPr id="13" name="Text 8"/>
          <p:cNvSpPr/>
          <p:nvPr/>
        </p:nvSpPr>
        <p:spPr>
          <a:xfrm>
            <a:off x="4601567"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Activation Lock managed</a:t>
            </a:r>
            <a:endParaRPr lang="en-US" sz="1500" dirty="0"/>
          </a:p>
        </p:txBody>
      </p:sp>
      <p:sp>
        <p:nvSpPr>
          <p:cNvPr id="14" name="Text 9"/>
          <p:cNvSpPr/>
          <p:nvPr/>
        </p:nvSpPr>
        <p:spPr>
          <a:xfrm>
            <a:off x="4601567"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Bypass codes stored in MDM for company Macs</a:t>
            </a:r>
            <a:endParaRPr lang="en-US" sz="1300" dirty="0"/>
          </a:p>
        </p:txBody>
      </p:sp>
      <p:sp>
        <p:nvSpPr>
          <p:cNvPr id="15" name="Shape 10"/>
          <p:cNvSpPr/>
          <p:nvPr/>
        </p:nvSpPr>
        <p:spPr>
          <a:xfrm>
            <a:off x="7964984" y="1575991"/>
            <a:ext cx="3407866" cy="1626791"/>
          </a:xfrm>
          <a:prstGeom prst="roundRect">
            <a:avLst>
              <a:gd name="adj" fmla="val 7416"/>
            </a:avLst>
          </a:prstGeom>
          <a:solidFill>
            <a:srgbClr val="FFFFFF"/>
          </a:solidFill>
          <a:ln w="12700">
            <a:solidFill>
              <a:srgbClr val="E1E7EF"/>
            </a:solidFill>
            <a:prstDash val="solid"/>
          </a:ln>
        </p:spPr>
      </p:sp>
      <p:sp>
        <p:nvSpPr>
          <p:cNvPr id="16" name="Shape 11"/>
          <p:cNvSpPr/>
          <p:nvPr/>
        </p:nvSpPr>
        <p:spPr>
          <a:xfrm>
            <a:off x="8174534" y="1760141"/>
            <a:ext cx="406400" cy="406400"/>
          </a:xfrm>
          <a:prstGeom prst="roundRect">
            <a:avLst>
              <a:gd name="adj" fmla="val 50000"/>
            </a:avLst>
          </a:prstGeom>
          <a:solidFill>
            <a:srgbClr val="E8EFF8"/>
          </a:solidFill>
          <a:ln/>
        </p:spPr>
      </p:sp>
      <p:pic>
        <p:nvPicPr>
          <p:cNvPr id="17" name="Image 3" descr="save icon">    </p:cNvPr>
          <p:cNvPicPr>
            <a:picLocks noChangeAspect="1"/>
          </p:cNvPicPr>
          <p:nvPr/>
        </p:nvPicPr>
        <p:blipFill>
          <a:blip r:embed="rId4"/>
          <a:srcRect l="0" r="0" t="0" b="0"/>
          <a:stretch/>
        </p:blipFill>
        <p:spPr>
          <a:xfrm>
            <a:off x="8276134" y="1861741"/>
            <a:ext cx="203200" cy="203200"/>
          </a:xfrm>
          <a:prstGeom prst="rect">
            <a:avLst/>
          </a:prstGeom>
        </p:spPr>
      </p:pic>
      <p:sp>
        <p:nvSpPr>
          <p:cNvPr id="18" name="Text 12"/>
          <p:cNvSpPr/>
          <p:nvPr/>
        </p:nvSpPr>
        <p:spPr>
          <a:xfrm>
            <a:off x="8174534" y="225544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Tested backups</a:t>
            </a:r>
            <a:endParaRPr lang="en-US" sz="1500" dirty="0"/>
          </a:p>
        </p:txBody>
      </p:sp>
      <p:sp>
        <p:nvSpPr>
          <p:cNvPr id="19" name="Text 13"/>
          <p:cNvSpPr/>
          <p:nvPr/>
        </p:nvSpPr>
        <p:spPr>
          <a:xfrm>
            <a:off x="8174534" y="257294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Encrypted Time Machine or approved cloud backup</a:t>
            </a:r>
            <a:endParaRPr lang="en-US" sz="1300" dirty="0"/>
          </a:p>
        </p:txBody>
      </p:sp>
      <p:sp>
        <p:nvSpPr>
          <p:cNvPr id="20" name="Shape 14"/>
          <p:cNvSpPr/>
          <p:nvPr/>
        </p:nvSpPr>
        <p:spPr>
          <a:xfrm>
            <a:off x="819150" y="3367881"/>
            <a:ext cx="3407767" cy="1626791"/>
          </a:xfrm>
          <a:prstGeom prst="roundRect">
            <a:avLst>
              <a:gd name="adj" fmla="val 7416"/>
            </a:avLst>
          </a:prstGeom>
          <a:solidFill>
            <a:srgbClr val="FFFFFF"/>
          </a:solidFill>
          <a:ln w="12700">
            <a:solidFill>
              <a:srgbClr val="E1E7EF"/>
            </a:solidFill>
            <a:prstDash val="solid"/>
          </a:ln>
        </p:spPr>
      </p:sp>
      <p:sp>
        <p:nvSpPr>
          <p:cNvPr id="21" name="Shape 15"/>
          <p:cNvSpPr/>
          <p:nvPr/>
        </p:nvSpPr>
        <p:spPr>
          <a:xfrm>
            <a:off x="1028700" y="3552031"/>
            <a:ext cx="406400" cy="406400"/>
          </a:xfrm>
          <a:prstGeom prst="roundRect">
            <a:avLst>
              <a:gd name="adj" fmla="val 50000"/>
            </a:avLst>
          </a:prstGeom>
          <a:solidFill>
            <a:srgbClr val="E8EFF8"/>
          </a:solidFill>
          <a:ln/>
        </p:spPr>
      </p:sp>
      <p:pic>
        <p:nvPicPr>
          <p:cNvPr id="22" name="Image 4" descr="usb icon">    </p:cNvPr>
          <p:cNvPicPr>
            <a:picLocks noChangeAspect="1"/>
          </p:cNvPicPr>
          <p:nvPr/>
        </p:nvPicPr>
        <p:blipFill>
          <a:blip r:embed="rId5"/>
          <a:srcRect l="0" r="0" t="0" b="0"/>
          <a:stretch/>
        </p:blipFill>
        <p:spPr>
          <a:xfrm>
            <a:off x="1130300" y="3653631"/>
            <a:ext cx="203200" cy="203200"/>
          </a:xfrm>
          <a:prstGeom prst="rect">
            <a:avLst/>
          </a:prstGeom>
        </p:spPr>
      </p:pic>
      <p:sp>
        <p:nvSpPr>
          <p:cNvPr id="23" name="Text 16"/>
          <p:cNvSpPr/>
          <p:nvPr/>
        </p:nvSpPr>
        <p:spPr>
          <a:xfrm>
            <a:off x="1028700" y="4047331"/>
            <a:ext cx="30783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Removable media control</a:t>
            </a:r>
            <a:endParaRPr lang="en-US" sz="1500" dirty="0"/>
          </a:p>
        </p:txBody>
      </p:sp>
      <p:sp>
        <p:nvSpPr>
          <p:cNvPr id="24" name="Text 17"/>
          <p:cNvSpPr/>
          <p:nvPr/>
        </p:nvSpPr>
        <p:spPr>
          <a:xfrm>
            <a:off x="1028700" y="4364831"/>
            <a:ext cx="30783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Restrict or block USB storage via MDM</a:t>
            </a:r>
            <a:endParaRPr lang="en-US" sz="1300" dirty="0"/>
          </a:p>
        </p:txBody>
      </p:sp>
      <p:sp>
        <p:nvSpPr>
          <p:cNvPr id="25" name="Shape 18"/>
          <p:cNvSpPr/>
          <p:nvPr/>
        </p:nvSpPr>
        <p:spPr>
          <a:xfrm>
            <a:off x="4392017" y="3367881"/>
            <a:ext cx="3407866" cy="1626791"/>
          </a:xfrm>
          <a:prstGeom prst="roundRect">
            <a:avLst>
              <a:gd name="adj" fmla="val 7416"/>
            </a:avLst>
          </a:prstGeom>
          <a:solidFill>
            <a:srgbClr val="FFFFFF"/>
          </a:solidFill>
          <a:ln w="12700">
            <a:solidFill>
              <a:srgbClr val="E1E7EF"/>
            </a:solidFill>
            <a:prstDash val="solid"/>
          </a:ln>
        </p:spPr>
      </p:sp>
      <p:sp>
        <p:nvSpPr>
          <p:cNvPr id="26" name="Shape 19"/>
          <p:cNvSpPr/>
          <p:nvPr/>
        </p:nvSpPr>
        <p:spPr>
          <a:xfrm>
            <a:off x="4601567" y="3552031"/>
            <a:ext cx="406400" cy="406400"/>
          </a:xfrm>
          <a:prstGeom prst="roundRect">
            <a:avLst>
              <a:gd name="adj" fmla="val 50000"/>
            </a:avLst>
          </a:prstGeom>
          <a:solidFill>
            <a:srgbClr val="E8EFF8"/>
          </a:solidFill>
          <a:ln/>
        </p:spPr>
      </p:sp>
      <p:pic>
        <p:nvPicPr>
          <p:cNvPr id="27" name="Image 5" descr="cloud icon">    </p:cNvPr>
          <p:cNvPicPr>
            <a:picLocks noChangeAspect="1"/>
          </p:cNvPicPr>
          <p:nvPr/>
        </p:nvPicPr>
        <p:blipFill>
          <a:blip r:embed="rId6"/>
          <a:srcRect l="0" r="0" t="0" b="0"/>
          <a:stretch/>
        </p:blipFill>
        <p:spPr>
          <a:xfrm>
            <a:off x="4703167" y="3653631"/>
            <a:ext cx="203200" cy="203200"/>
          </a:xfrm>
          <a:prstGeom prst="rect">
            <a:avLst/>
          </a:prstGeom>
        </p:spPr>
      </p:pic>
      <p:sp>
        <p:nvSpPr>
          <p:cNvPr id="28" name="Text 20"/>
          <p:cNvSpPr/>
          <p:nvPr/>
        </p:nvSpPr>
        <p:spPr>
          <a:xfrm>
            <a:off x="4601567"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Managed iCloud settings</a:t>
            </a:r>
            <a:endParaRPr lang="en-US" sz="1500" dirty="0"/>
          </a:p>
        </p:txBody>
      </p:sp>
      <p:sp>
        <p:nvSpPr>
          <p:cNvPr id="29" name="Text 21"/>
          <p:cNvSpPr/>
          <p:nvPr/>
        </p:nvSpPr>
        <p:spPr>
          <a:xfrm>
            <a:off x="4601567" y="436483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Limit personal iCloud sync of company data</a:t>
            </a:r>
            <a:endParaRPr lang="en-US" sz="1300" dirty="0"/>
          </a:p>
        </p:txBody>
      </p:sp>
      <p:sp>
        <p:nvSpPr>
          <p:cNvPr id="30" name="Shape 22"/>
          <p:cNvSpPr/>
          <p:nvPr/>
        </p:nvSpPr>
        <p:spPr>
          <a:xfrm>
            <a:off x="7964984" y="3367881"/>
            <a:ext cx="3407866" cy="1626791"/>
          </a:xfrm>
          <a:prstGeom prst="roundRect">
            <a:avLst>
              <a:gd name="adj" fmla="val 7416"/>
            </a:avLst>
          </a:prstGeom>
          <a:solidFill>
            <a:srgbClr val="FFFFFF"/>
          </a:solidFill>
          <a:ln w="12700">
            <a:solidFill>
              <a:srgbClr val="E1E7EF"/>
            </a:solidFill>
            <a:prstDash val="solid"/>
          </a:ln>
        </p:spPr>
      </p:sp>
      <p:sp>
        <p:nvSpPr>
          <p:cNvPr id="31" name="Shape 23"/>
          <p:cNvSpPr/>
          <p:nvPr/>
        </p:nvSpPr>
        <p:spPr>
          <a:xfrm>
            <a:off x="8174534" y="3552031"/>
            <a:ext cx="406400" cy="406400"/>
          </a:xfrm>
          <a:prstGeom prst="roundRect">
            <a:avLst>
              <a:gd name="adj" fmla="val 50000"/>
            </a:avLst>
          </a:prstGeom>
          <a:solidFill>
            <a:srgbClr val="E8EFF8"/>
          </a:solidFill>
          <a:ln/>
        </p:spPr>
      </p:sp>
      <p:pic>
        <p:nvPicPr>
          <p:cNvPr id="32" name="Image 6" descr="logout icon">    </p:cNvPr>
          <p:cNvPicPr>
            <a:picLocks noChangeAspect="1"/>
          </p:cNvPicPr>
          <p:nvPr/>
        </p:nvPicPr>
        <p:blipFill>
          <a:blip r:embed="rId7"/>
          <a:srcRect l="0" r="0" t="0" b="0"/>
          <a:stretch/>
        </p:blipFill>
        <p:spPr>
          <a:xfrm>
            <a:off x="8276134" y="3653631"/>
            <a:ext cx="203200" cy="203200"/>
          </a:xfrm>
          <a:prstGeom prst="rect">
            <a:avLst/>
          </a:prstGeom>
        </p:spPr>
      </p:pic>
      <p:sp>
        <p:nvSpPr>
          <p:cNvPr id="33" name="Text 24"/>
          <p:cNvSpPr/>
          <p:nvPr/>
        </p:nvSpPr>
        <p:spPr>
          <a:xfrm>
            <a:off x="8174534" y="4047331"/>
            <a:ext cx="30784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2741"/>
                </a:solidFill>
                <a:latin typeface="Inter" pitchFamily="34" charset="0"/>
                <a:ea typeface="Inter" pitchFamily="34" charset="-122"/>
                <a:cs typeface="Inter" pitchFamily="34" charset="-120"/>
              </a:rPr>
              <a:t>Secure decommissioning</a:t>
            </a:r>
            <a:endParaRPr lang="en-US" sz="1500" dirty="0"/>
          </a:p>
        </p:txBody>
      </p:sp>
      <p:sp>
        <p:nvSpPr>
          <p:cNvPr id="34" name="Text 25"/>
          <p:cNvSpPr/>
          <p:nvPr/>
        </p:nvSpPr>
        <p:spPr>
          <a:xfrm>
            <a:off x="8174534" y="4364831"/>
            <a:ext cx="307842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B7D"/>
                </a:solidFill>
                <a:latin typeface="Inter" pitchFamily="34" charset="0"/>
                <a:ea typeface="Inter" pitchFamily="34" charset="-122"/>
                <a:cs typeface="Inter" pitchFamily="34" charset="-120"/>
              </a:rPr>
              <a:t>Erase All Content and Settings before reuse</a:t>
            </a:r>
            <a:endParaRPr lang="en-US" sz="1300" dirty="0"/>
          </a:p>
        </p:txBody>
      </p:sp>
      <p:sp>
        <p:nvSpPr>
          <p:cNvPr id="35"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Apple Platform Security Guide</a:t>
            </a:r>
            <a:endParaRPr lang="en-US" sz="1200" dirty="0"/>
          </a:p>
        </p:txBody>
      </p:sp>
      <p:sp>
        <p:nvSpPr>
          <p:cNvPr id="36"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A8"/>
                </a:solidFill>
                <a:latin typeface="Inter" pitchFamily="34" charset="0"/>
                <a:ea typeface="Inter" pitchFamily="34" charset="-122"/>
                <a:cs typeface="Inter" pitchFamily="34" charset="-120"/>
              </a:rPr>
              <a:t>12 · ESSENTIAL BASELINE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0F2741"/>
                </a:solidFill>
                <a:latin typeface="Inter" pitchFamily="34" charset="0"/>
                <a:ea typeface="Inter" pitchFamily="34" charset="-122"/>
                <a:cs typeface="Inter" pitchFamily="34" charset="-120"/>
              </a:rPr>
              <a:t>macOS hardening checklist</a:t>
            </a:r>
            <a:endParaRPr lang="en-US" sz="3600" dirty="0"/>
          </a:p>
        </p:txBody>
      </p:sp>
      <p:sp>
        <p:nvSpPr>
          <p:cNvPr id="5" name="Shape 2"/>
          <p:cNvSpPr/>
          <p:nvPr/>
        </p:nvSpPr>
        <p:spPr>
          <a:xfrm>
            <a:off x="819150" y="1575991"/>
            <a:ext cx="1998960" cy="1193800"/>
          </a:xfrm>
          <a:prstGeom prst="roundRect">
            <a:avLst>
              <a:gd name="adj" fmla="val 10106"/>
            </a:avLst>
          </a:prstGeom>
          <a:solidFill>
            <a:srgbClr val="FFFFFF"/>
          </a:solidFill>
          <a:ln w="12700">
            <a:solidFill>
              <a:srgbClr val="E1E7EF"/>
            </a:solidFill>
            <a:prstDash val="solid"/>
          </a:ln>
        </p:spPr>
      </p:sp>
      <p:pic>
        <p:nvPicPr>
          <p:cNvPr id="6" name="Image 1" descr="check icon">    </p:cNvPr>
          <p:cNvPicPr>
            <a:picLocks noChangeAspect="1"/>
          </p:cNvPicPr>
          <p:nvPr/>
        </p:nvPicPr>
        <p:blipFill>
          <a:blip r:embed="rId2"/>
          <a:srcRect l="0" r="0" t="0" b="0"/>
          <a:stretch/>
        </p:blipFill>
        <p:spPr>
          <a:xfrm>
            <a:off x="977900" y="1760141"/>
            <a:ext cx="279400" cy="279400"/>
          </a:xfrm>
          <a:prstGeom prst="rect">
            <a:avLst/>
          </a:prstGeom>
        </p:spPr>
      </p:pic>
      <p:sp>
        <p:nvSpPr>
          <p:cNvPr id="7" name="Text 3"/>
          <p:cNvSpPr/>
          <p:nvPr/>
        </p:nvSpPr>
        <p:spPr>
          <a:xfrm>
            <a:off x="2411809" y="1775420"/>
            <a:ext cx="247551"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01</a:t>
            </a:r>
            <a:endParaRPr lang="en-US" sz="1400" dirty="0"/>
          </a:p>
        </p:txBody>
      </p:sp>
      <p:sp>
        <p:nvSpPr>
          <p:cNvPr id="8" name="Text 4"/>
          <p:cNvSpPr/>
          <p:nvPr/>
        </p:nvSpPr>
        <p:spPr>
          <a:xfrm>
            <a:off x="977900" y="2141141"/>
            <a:ext cx="173226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Enrolled in MDM</a:t>
            </a:r>
            <a:endParaRPr lang="en-US" sz="1400" dirty="0"/>
          </a:p>
        </p:txBody>
      </p:sp>
      <p:sp>
        <p:nvSpPr>
          <p:cNvPr id="9" name="Shape 5"/>
          <p:cNvSpPr/>
          <p:nvPr/>
        </p:nvSpPr>
        <p:spPr>
          <a:xfrm>
            <a:off x="2957810" y="1575991"/>
            <a:ext cx="1998960" cy="1193800"/>
          </a:xfrm>
          <a:prstGeom prst="roundRect">
            <a:avLst>
              <a:gd name="adj" fmla="val 10106"/>
            </a:avLst>
          </a:prstGeom>
          <a:solidFill>
            <a:srgbClr val="FFFFFF"/>
          </a:solidFill>
          <a:ln w="12700">
            <a:solidFill>
              <a:srgbClr val="E1E7EF"/>
            </a:solidFill>
            <a:prstDash val="solid"/>
          </a:ln>
        </p:spPr>
      </p:sp>
      <p:pic>
        <p:nvPicPr>
          <p:cNvPr id="10" name="Image 2" descr="check icon">    </p:cNvPr>
          <p:cNvPicPr>
            <a:picLocks noChangeAspect="1"/>
          </p:cNvPicPr>
          <p:nvPr/>
        </p:nvPicPr>
        <p:blipFill>
          <a:blip r:embed="rId3"/>
          <a:srcRect l="0" r="0" t="0" b="0"/>
          <a:stretch/>
        </p:blipFill>
        <p:spPr>
          <a:xfrm>
            <a:off x="3116560" y="1760141"/>
            <a:ext cx="279400" cy="279400"/>
          </a:xfrm>
          <a:prstGeom prst="rect">
            <a:avLst/>
          </a:prstGeom>
        </p:spPr>
      </p:pic>
      <p:sp>
        <p:nvSpPr>
          <p:cNvPr id="11" name="Text 6"/>
          <p:cNvSpPr/>
          <p:nvPr/>
        </p:nvSpPr>
        <p:spPr>
          <a:xfrm>
            <a:off x="4525466" y="1775420"/>
            <a:ext cx="272554"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02</a:t>
            </a:r>
            <a:endParaRPr lang="en-US" sz="1400" dirty="0"/>
          </a:p>
        </p:txBody>
      </p:sp>
      <p:sp>
        <p:nvSpPr>
          <p:cNvPr id="12" name="Text 7"/>
          <p:cNvSpPr/>
          <p:nvPr/>
        </p:nvSpPr>
        <p:spPr>
          <a:xfrm>
            <a:off x="3116560" y="21411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macOS fully patched</a:t>
            </a:r>
            <a:endParaRPr lang="en-US" sz="1400" dirty="0"/>
          </a:p>
        </p:txBody>
      </p:sp>
      <p:sp>
        <p:nvSpPr>
          <p:cNvPr id="13" name="Shape 8"/>
          <p:cNvSpPr/>
          <p:nvPr/>
        </p:nvSpPr>
        <p:spPr>
          <a:xfrm>
            <a:off x="5096470" y="1575991"/>
            <a:ext cx="1998960" cy="1193800"/>
          </a:xfrm>
          <a:prstGeom prst="roundRect">
            <a:avLst>
              <a:gd name="adj" fmla="val 10106"/>
            </a:avLst>
          </a:prstGeom>
          <a:solidFill>
            <a:srgbClr val="FFFFFF"/>
          </a:solidFill>
          <a:ln w="12700">
            <a:solidFill>
              <a:srgbClr val="E1E7EF"/>
            </a:solidFill>
            <a:prstDash val="solid"/>
          </a:ln>
        </p:spPr>
      </p:sp>
      <p:pic>
        <p:nvPicPr>
          <p:cNvPr id="14" name="Image 3" descr="check icon">    </p:cNvPr>
          <p:cNvPicPr>
            <a:picLocks noChangeAspect="1"/>
          </p:cNvPicPr>
          <p:nvPr/>
        </p:nvPicPr>
        <p:blipFill>
          <a:blip r:embed="rId4"/>
          <a:srcRect l="0" r="0" t="0" b="0"/>
          <a:stretch/>
        </p:blipFill>
        <p:spPr>
          <a:xfrm>
            <a:off x="5255220" y="1760141"/>
            <a:ext cx="279400" cy="279400"/>
          </a:xfrm>
          <a:prstGeom prst="rect">
            <a:avLst/>
          </a:prstGeom>
        </p:spPr>
      </p:pic>
      <p:sp>
        <p:nvSpPr>
          <p:cNvPr id="15" name="Text 9"/>
          <p:cNvSpPr/>
          <p:nvPr/>
        </p:nvSpPr>
        <p:spPr>
          <a:xfrm>
            <a:off x="6658967" y="1775420"/>
            <a:ext cx="277713"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03</a:t>
            </a:r>
            <a:endParaRPr lang="en-US" sz="1400" dirty="0"/>
          </a:p>
        </p:txBody>
      </p:sp>
      <p:sp>
        <p:nvSpPr>
          <p:cNvPr id="16" name="Text 10"/>
          <p:cNvSpPr/>
          <p:nvPr/>
        </p:nvSpPr>
        <p:spPr>
          <a:xfrm>
            <a:off x="5255220" y="21411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Standard user account</a:t>
            </a:r>
            <a:endParaRPr lang="en-US" sz="1400" dirty="0"/>
          </a:p>
        </p:txBody>
      </p:sp>
      <p:sp>
        <p:nvSpPr>
          <p:cNvPr id="17" name="Shape 11"/>
          <p:cNvSpPr/>
          <p:nvPr/>
        </p:nvSpPr>
        <p:spPr>
          <a:xfrm>
            <a:off x="7235130" y="1575991"/>
            <a:ext cx="1998960" cy="1193800"/>
          </a:xfrm>
          <a:prstGeom prst="roundRect">
            <a:avLst>
              <a:gd name="adj" fmla="val 10106"/>
            </a:avLst>
          </a:prstGeom>
          <a:solidFill>
            <a:srgbClr val="FFFFFF"/>
          </a:solidFill>
          <a:ln w="12700">
            <a:solidFill>
              <a:srgbClr val="E1E7EF"/>
            </a:solidFill>
            <a:prstDash val="solid"/>
          </a:ln>
        </p:spPr>
      </p:sp>
      <p:pic>
        <p:nvPicPr>
          <p:cNvPr id="18" name="Image 4" descr="check icon">    </p:cNvPr>
          <p:cNvPicPr>
            <a:picLocks noChangeAspect="1"/>
          </p:cNvPicPr>
          <p:nvPr/>
        </p:nvPicPr>
        <p:blipFill>
          <a:blip r:embed="rId5"/>
          <a:srcRect l="0" r="0" t="0" b="0"/>
          <a:stretch/>
        </p:blipFill>
        <p:spPr>
          <a:xfrm>
            <a:off x="7393880" y="1760141"/>
            <a:ext cx="279400" cy="279400"/>
          </a:xfrm>
          <a:prstGeom prst="rect">
            <a:avLst/>
          </a:prstGeom>
        </p:spPr>
      </p:pic>
      <p:sp>
        <p:nvSpPr>
          <p:cNvPr id="19" name="Text 12"/>
          <p:cNvSpPr/>
          <p:nvPr/>
        </p:nvSpPr>
        <p:spPr>
          <a:xfrm>
            <a:off x="8794254" y="1775420"/>
            <a:ext cx="281087"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04</a:t>
            </a:r>
            <a:endParaRPr lang="en-US" sz="1400" dirty="0"/>
          </a:p>
        </p:txBody>
      </p:sp>
      <p:sp>
        <p:nvSpPr>
          <p:cNvPr id="20" name="Text 13"/>
          <p:cNvSpPr/>
          <p:nvPr/>
        </p:nvSpPr>
        <p:spPr>
          <a:xfrm>
            <a:off x="7393880" y="2141141"/>
            <a:ext cx="173226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SIP enabled</a:t>
            </a:r>
            <a:endParaRPr lang="en-US" sz="1400" dirty="0"/>
          </a:p>
        </p:txBody>
      </p:sp>
      <p:sp>
        <p:nvSpPr>
          <p:cNvPr id="21" name="Shape 14"/>
          <p:cNvSpPr/>
          <p:nvPr/>
        </p:nvSpPr>
        <p:spPr>
          <a:xfrm>
            <a:off x="9373791" y="1575991"/>
            <a:ext cx="1998960" cy="1193800"/>
          </a:xfrm>
          <a:prstGeom prst="roundRect">
            <a:avLst>
              <a:gd name="adj" fmla="val 10106"/>
            </a:avLst>
          </a:prstGeom>
          <a:solidFill>
            <a:srgbClr val="FFFFFF"/>
          </a:solidFill>
          <a:ln w="12700">
            <a:solidFill>
              <a:srgbClr val="E1E7EF"/>
            </a:solidFill>
            <a:prstDash val="solid"/>
          </a:ln>
        </p:spPr>
      </p:sp>
      <p:pic>
        <p:nvPicPr>
          <p:cNvPr id="22" name="Image 5" descr="check icon">    </p:cNvPr>
          <p:cNvPicPr>
            <a:picLocks noChangeAspect="1"/>
          </p:cNvPicPr>
          <p:nvPr/>
        </p:nvPicPr>
        <p:blipFill>
          <a:blip r:embed="rId6"/>
          <a:srcRect l="0" r="0" t="0" b="0"/>
          <a:stretch/>
        </p:blipFill>
        <p:spPr>
          <a:xfrm>
            <a:off x="9532541" y="1760141"/>
            <a:ext cx="279400" cy="279400"/>
          </a:xfrm>
          <a:prstGeom prst="rect">
            <a:avLst/>
          </a:prstGeom>
        </p:spPr>
      </p:pic>
      <p:sp>
        <p:nvSpPr>
          <p:cNvPr id="23" name="Text 15"/>
          <p:cNvSpPr/>
          <p:nvPr/>
        </p:nvSpPr>
        <p:spPr>
          <a:xfrm>
            <a:off x="10938867" y="1775420"/>
            <a:ext cx="275134"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05</a:t>
            </a:r>
            <a:endParaRPr lang="en-US" sz="1400" dirty="0"/>
          </a:p>
        </p:txBody>
      </p:sp>
      <p:sp>
        <p:nvSpPr>
          <p:cNvPr id="24" name="Text 16"/>
          <p:cNvSpPr/>
          <p:nvPr/>
        </p:nvSpPr>
        <p:spPr>
          <a:xfrm>
            <a:off x="9532541" y="21411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Gatekeeper enforced</a:t>
            </a:r>
            <a:endParaRPr lang="en-US" sz="1400" dirty="0"/>
          </a:p>
        </p:txBody>
      </p:sp>
      <p:sp>
        <p:nvSpPr>
          <p:cNvPr id="25" name="Shape 17"/>
          <p:cNvSpPr/>
          <p:nvPr/>
        </p:nvSpPr>
        <p:spPr>
          <a:xfrm>
            <a:off x="819150" y="2909491"/>
            <a:ext cx="1998960" cy="1193800"/>
          </a:xfrm>
          <a:prstGeom prst="roundRect">
            <a:avLst>
              <a:gd name="adj" fmla="val 10106"/>
            </a:avLst>
          </a:prstGeom>
          <a:solidFill>
            <a:srgbClr val="FFFFFF"/>
          </a:solidFill>
          <a:ln w="12700">
            <a:solidFill>
              <a:srgbClr val="E1E7EF"/>
            </a:solidFill>
            <a:prstDash val="solid"/>
          </a:ln>
        </p:spPr>
      </p:sp>
      <p:pic>
        <p:nvPicPr>
          <p:cNvPr id="26" name="Image 6" descr="check icon">    </p:cNvPr>
          <p:cNvPicPr>
            <a:picLocks noChangeAspect="1"/>
          </p:cNvPicPr>
          <p:nvPr/>
        </p:nvPicPr>
        <p:blipFill>
          <a:blip r:embed="rId7"/>
          <a:srcRect l="0" r="0" t="0" b="0"/>
          <a:stretch/>
        </p:blipFill>
        <p:spPr>
          <a:xfrm>
            <a:off x="977900" y="3093641"/>
            <a:ext cx="279400" cy="279400"/>
          </a:xfrm>
          <a:prstGeom prst="rect">
            <a:avLst/>
          </a:prstGeom>
        </p:spPr>
      </p:pic>
      <p:sp>
        <p:nvSpPr>
          <p:cNvPr id="27" name="Text 18"/>
          <p:cNvSpPr/>
          <p:nvPr/>
        </p:nvSpPr>
        <p:spPr>
          <a:xfrm>
            <a:off x="2381448" y="3108920"/>
            <a:ext cx="277912"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06</a:t>
            </a:r>
            <a:endParaRPr lang="en-US" sz="1400" dirty="0"/>
          </a:p>
        </p:txBody>
      </p:sp>
      <p:sp>
        <p:nvSpPr>
          <p:cNvPr id="28" name="Text 19"/>
          <p:cNvSpPr/>
          <p:nvPr/>
        </p:nvSpPr>
        <p:spPr>
          <a:xfrm>
            <a:off x="977900" y="34746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FileVault on, key escrowed</a:t>
            </a:r>
            <a:endParaRPr lang="en-US" sz="1400" dirty="0"/>
          </a:p>
        </p:txBody>
      </p:sp>
      <p:sp>
        <p:nvSpPr>
          <p:cNvPr id="29" name="Shape 20"/>
          <p:cNvSpPr/>
          <p:nvPr/>
        </p:nvSpPr>
        <p:spPr>
          <a:xfrm>
            <a:off x="2957810" y="2909491"/>
            <a:ext cx="1998960" cy="1193800"/>
          </a:xfrm>
          <a:prstGeom prst="roundRect">
            <a:avLst>
              <a:gd name="adj" fmla="val 10106"/>
            </a:avLst>
          </a:prstGeom>
          <a:solidFill>
            <a:srgbClr val="FFFFFF"/>
          </a:solidFill>
          <a:ln w="12700">
            <a:solidFill>
              <a:srgbClr val="E1E7EF"/>
            </a:solidFill>
            <a:prstDash val="solid"/>
          </a:ln>
        </p:spPr>
      </p:sp>
      <p:pic>
        <p:nvPicPr>
          <p:cNvPr id="30" name="Image 7" descr="check icon">    </p:cNvPr>
          <p:cNvPicPr>
            <a:picLocks noChangeAspect="1"/>
          </p:cNvPicPr>
          <p:nvPr/>
        </p:nvPicPr>
        <p:blipFill>
          <a:blip r:embed="rId8"/>
          <a:srcRect l="0" r="0" t="0" b="0"/>
          <a:stretch/>
        </p:blipFill>
        <p:spPr>
          <a:xfrm>
            <a:off x="3116560" y="3093641"/>
            <a:ext cx="279400" cy="279400"/>
          </a:xfrm>
          <a:prstGeom prst="rect">
            <a:avLst/>
          </a:prstGeom>
        </p:spPr>
      </p:pic>
      <p:sp>
        <p:nvSpPr>
          <p:cNvPr id="31" name="Text 21"/>
          <p:cNvSpPr/>
          <p:nvPr/>
        </p:nvSpPr>
        <p:spPr>
          <a:xfrm>
            <a:off x="4535289" y="3108920"/>
            <a:ext cx="262731"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07</a:t>
            </a:r>
            <a:endParaRPr lang="en-US" sz="1400" dirty="0"/>
          </a:p>
        </p:txBody>
      </p:sp>
      <p:sp>
        <p:nvSpPr>
          <p:cNvPr id="32" name="Text 22"/>
          <p:cNvSpPr/>
          <p:nvPr/>
        </p:nvSpPr>
        <p:spPr>
          <a:xfrm>
            <a:off x="3116560" y="34746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Firewall and stealth mode on</a:t>
            </a:r>
            <a:endParaRPr lang="en-US" sz="1400" dirty="0"/>
          </a:p>
        </p:txBody>
      </p:sp>
      <p:sp>
        <p:nvSpPr>
          <p:cNvPr id="33" name="Shape 23"/>
          <p:cNvSpPr/>
          <p:nvPr/>
        </p:nvSpPr>
        <p:spPr>
          <a:xfrm>
            <a:off x="5096470" y="2909491"/>
            <a:ext cx="1998960" cy="1193800"/>
          </a:xfrm>
          <a:prstGeom prst="roundRect">
            <a:avLst>
              <a:gd name="adj" fmla="val 10106"/>
            </a:avLst>
          </a:prstGeom>
          <a:solidFill>
            <a:srgbClr val="FFFFFF"/>
          </a:solidFill>
          <a:ln w="12700">
            <a:solidFill>
              <a:srgbClr val="E1E7EF"/>
            </a:solidFill>
            <a:prstDash val="solid"/>
          </a:ln>
        </p:spPr>
      </p:sp>
      <p:pic>
        <p:nvPicPr>
          <p:cNvPr id="34" name="Image 8" descr="check icon">    </p:cNvPr>
          <p:cNvPicPr>
            <a:picLocks noChangeAspect="1"/>
          </p:cNvPicPr>
          <p:nvPr/>
        </p:nvPicPr>
        <p:blipFill>
          <a:blip r:embed="rId9"/>
          <a:srcRect l="0" r="0" t="0" b="0"/>
          <a:stretch/>
        </p:blipFill>
        <p:spPr>
          <a:xfrm>
            <a:off x="5255220" y="3093641"/>
            <a:ext cx="279400" cy="279400"/>
          </a:xfrm>
          <a:prstGeom prst="rect">
            <a:avLst/>
          </a:prstGeom>
        </p:spPr>
      </p:pic>
      <p:sp>
        <p:nvSpPr>
          <p:cNvPr id="35" name="Text 24"/>
          <p:cNvSpPr/>
          <p:nvPr/>
        </p:nvSpPr>
        <p:spPr>
          <a:xfrm>
            <a:off x="6658670" y="3108920"/>
            <a:ext cx="278011"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08</a:t>
            </a:r>
            <a:endParaRPr lang="en-US" sz="1400" dirty="0"/>
          </a:p>
        </p:txBody>
      </p:sp>
      <p:sp>
        <p:nvSpPr>
          <p:cNvPr id="36" name="Text 25"/>
          <p:cNvSpPr/>
          <p:nvPr/>
        </p:nvSpPr>
        <p:spPr>
          <a:xfrm>
            <a:off x="5255220" y="34746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Unused sharing disabled</a:t>
            </a:r>
            <a:endParaRPr lang="en-US" sz="1400" dirty="0"/>
          </a:p>
        </p:txBody>
      </p:sp>
      <p:sp>
        <p:nvSpPr>
          <p:cNvPr id="37" name="Shape 26"/>
          <p:cNvSpPr/>
          <p:nvPr/>
        </p:nvSpPr>
        <p:spPr>
          <a:xfrm>
            <a:off x="7235130" y="2909491"/>
            <a:ext cx="1998960" cy="1193800"/>
          </a:xfrm>
          <a:prstGeom prst="roundRect">
            <a:avLst>
              <a:gd name="adj" fmla="val 10106"/>
            </a:avLst>
          </a:prstGeom>
          <a:solidFill>
            <a:srgbClr val="FFFFFF"/>
          </a:solidFill>
          <a:ln w="12700">
            <a:solidFill>
              <a:srgbClr val="E1E7EF"/>
            </a:solidFill>
            <a:prstDash val="solid"/>
          </a:ln>
        </p:spPr>
      </p:sp>
      <p:pic>
        <p:nvPicPr>
          <p:cNvPr id="38" name="Image 9" descr="check icon">    </p:cNvPr>
          <p:cNvPicPr>
            <a:picLocks noChangeAspect="1"/>
          </p:cNvPicPr>
          <p:nvPr/>
        </p:nvPicPr>
        <p:blipFill>
          <a:blip r:embed="rId10"/>
          <a:srcRect l="0" r="0" t="0" b="0"/>
          <a:stretch/>
        </p:blipFill>
        <p:spPr>
          <a:xfrm>
            <a:off x="7393880" y="3093641"/>
            <a:ext cx="279400" cy="279400"/>
          </a:xfrm>
          <a:prstGeom prst="rect">
            <a:avLst/>
          </a:prstGeom>
        </p:spPr>
      </p:pic>
      <p:sp>
        <p:nvSpPr>
          <p:cNvPr id="39" name="Text 27"/>
          <p:cNvSpPr/>
          <p:nvPr/>
        </p:nvSpPr>
        <p:spPr>
          <a:xfrm>
            <a:off x="8797429" y="3108920"/>
            <a:ext cx="277912"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09</a:t>
            </a:r>
            <a:endParaRPr lang="en-US" sz="1400" dirty="0"/>
          </a:p>
        </p:txBody>
      </p:sp>
      <p:sp>
        <p:nvSpPr>
          <p:cNvPr id="40" name="Text 28"/>
          <p:cNvSpPr/>
          <p:nvPr/>
        </p:nvSpPr>
        <p:spPr>
          <a:xfrm>
            <a:off x="7393880" y="3474641"/>
            <a:ext cx="173226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EDR installed and reporting</a:t>
            </a:r>
            <a:endParaRPr lang="en-US" sz="1400" dirty="0"/>
          </a:p>
        </p:txBody>
      </p:sp>
      <p:sp>
        <p:nvSpPr>
          <p:cNvPr id="41" name="Shape 29"/>
          <p:cNvSpPr/>
          <p:nvPr/>
        </p:nvSpPr>
        <p:spPr>
          <a:xfrm>
            <a:off x="9373791" y="2909491"/>
            <a:ext cx="1998960" cy="1193800"/>
          </a:xfrm>
          <a:prstGeom prst="roundRect">
            <a:avLst>
              <a:gd name="adj" fmla="val 10106"/>
            </a:avLst>
          </a:prstGeom>
          <a:solidFill>
            <a:srgbClr val="FFFFFF"/>
          </a:solidFill>
          <a:ln w="12700">
            <a:solidFill>
              <a:srgbClr val="E1E7EF"/>
            </a:solidFill>
            <a:prstDash val="solid"/>
          </a:ln>
        </p:spPr>
      </p:sp>
      <p:pic>
        <p:nvPicPr>
          <p:cNvPr id="42" name="Image 10" descr="check icon">    </p:cNvPr>
          <p:cNvPicPr>
            <a:picLocks noChangeAspect="1"/>
          </p:cNvPicPr>
          <p:nvPr/>
        </p:nvPicPr>
        <p:blipFill>
          <a:blip r:embed="rId11"/>
          <a:srcRect l="0" r="0" t="0" b="0"/>
          <a:stretch/>
        </p:blipFill>
        <p:spPr>
          <a:xfrm>
            <a:off x="9532541" y="3093641"/>
            <a:ext cx="279400" cy="279400"/>
          </a:xfrm>
          <a:prstGeom prst="rect">
            <a:avLst/>
          </a:prstGeom>
        </p:spPr>
      </p:pic>
      <p:sp>
        <p:nvSpPr>
          <p:cNvPr id="43" name="Text 30"/>
          <p:cNvSpPr/>
          <p:nvPr/>
        </p:nvSpPr>
        <p:spPr>
          <a:xfrm>
            <a:off x="10966450" y="3108920"/>
            <a:ext cx="247551" cy="274241"/>
          </a:xfrm>
          <a:prstGeom prst="rect">
            <a:avLst/>
          </a:prstGeom>
          <a:noFill/>
          <a:ln/>
        </p:spPr>
        <p:txBody>
          <a:bodyPr wrap="square" lIns="0" tIns="0" rIns="0" bIns="0" rtlCol="0" anchor="t">
            <a:normAutofit/>
          </a:bodyPr>
          <a:lstStyle/>
          <a:p>
            <a:pPr algn="r" indent="0" marL="0">
              <a:lnSpc>
                <a:spcPts val="1960"/>
              </a:lnSpc>
              <a:buNone/>
            </a:pPr>
            <a:r>
              <a:rPr lang="en-US" sz="1400" b="1" spc="-50" kern="0" dirty="0">
                <a:solidFill>
                  <a:srgbClr val="E1E7EF"/>
                </a:solidFill>
                <a:latin typeface="Inter" pitchFamily="34" charset="0"/>
                <a:ea typeface="Inter" pitchFamily="34" charset="-122"/>
                <a:cs typeface="Inter" pitchFamily="34" charset="-120"/>
              </a:rPr>
              <a:t>10</a:t>
            </a:r>
            <a:endParaRPr lang="en-US" sz="1400" dirty="0"/>
          </a:p>
        </p:txBody>
      </p:sp>
      <p:sp>
        <p:nvSpPr>
          <p:cNvPr id="44" name="Text 31"/>
          <p:cNvSpPr/>
          <p:nvPr/>
        </p:nvSpPr>
        <p:spPr>
          <a:xfrm>
            <a:off x="9532541" y="3474641"/>
            <a:ext cx="173226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F2741"/>
                </a:solidFill>
                <a:latin typeface="Inter" pitchFamily="34" charset="0"/>
                <a:ea typeface="Inter" pitchFamily="34" charset="-122"/>
                <a:cs typeface="Inter" pitchFamily="34" charset="-120"/>
              </a:rPr>
              <a:t>Backups tested</a:t>
            </a:r>
            <a:endParaRPr lang="en-US" sz="1400" dirty="0"/>
          </a:p>
        </p:txBody>
      </p:sp>
      <p:sp>
        <p:nvSpPr>
          <p:cNvPr id="45" name="Shape 32"/>
          <p:cNvSpPr/>
          <p:nvPr/>
        </p:nvSpPr>
        <p:spPr>
          <a:xfrm>
            <a:off x="812800" y="4363641"/>
            <a:ext cx="10566400" cy="584200"/>
          </a:xfrm>
          <a:prstGeom prst="roundRect">
            <a:avLst>
              <a:gd name="adj" fmla="val 17391"/>
            </a:avLst>
          </a:prstGeom>
          <a:solidFill>
            <a:srgbClr val="E8EFF8"/>
          </a:solidFill>
          <a:ln/>
        </p:spPr>
      </p:sp>
      <p:pic>
        <p:nvPicPr>
          <p:cNvPr id="46" name="Image 11" descr="refresh icon">    </p:cNvPr>
          <p:cNvPicPr>
            <a:picLocks noChangeAspect="1"/>
          </p:cNvPicPr>
          <p:nvPr/>
        </p:nvPicPr>
        <p:blipFill>
          <a:blip r:embed="rId12"/>
          <a:srcRect l="0" r="0" t="0" b="0"/>
          <a:stretch/>
        </p:blipFill>
        <p:spPr>
          <a:xfrm>
            <a:off x="1016000" y="4516041"/>
            <a:ext cx="279400" cy="279400"/>
          </a:xfrm>
          <a:prstGeom prst="rect">
            <a:avLst/>
          </a:prstGeom>
        </p:spPr>
      </p:pic>
      <p:sp>
        <p:nvSpPr>
          <p:cNvPr id="47" name="Text 33"/>
          <p:cNvSpPr/>
          <p:nvPr/>
        </p:nvSpPr>
        <p:spPr>
          <a:xfrm>
            <a:off x="1447800" y="4531320"/>
            <a:ext cx="100200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741"/>
                </a:solidFill>
                <a:latin typeface="Inter" pitchFamily="34" charset="0"/>
                <a:ea typeface="Inter" pitchFamily="34" charset="-122"/>
                <a:cs typeface="Inter" pitchFamily="34" charset="-120"/>
              </a:rPr>
              <a:t>Automate checks with the </a:t>
            </a:r>
            <a:r>
              <a:rPr lang="en-US" sz="1400" b="1" dirty="0">
                <a:solidFill>
                  <a:srgbClr val="0F2741"/>
                </a:solidFill>
                <a:latin typeface="Inter" pitchFamily="34" charset="0"/>
                <a:ea typeface="Inter" pitchFamily="34" charset="-122"/>
                <a:cs typeface="Inter" pitchFamily="34" charset="-120"/>
              </a:rPr>
              <a:t>NIST macOS Security Compliance Project</a:t>
            </a:r>
            <a:r>
              <a:rPr lang="en-US" sz="1400" dirty="0">
                <a:solidFill>
                  <a:srgbClr val="0F2741"/>
                </a:solidFill>
                <a:latin typeface="Inter" pitchFamily="34" charset="0"/>
                <a:ea typeface="Inter" pitchFamily="34" charset="-122"/>
                <a:cs typeface="Inter" pitchFamily="34" charset="-120"/>
              </a:rPr>
              <a:t> and review after every major macOS release.</a:t>
            </a:r>
            <a:endParaRPr lang="en-US" sz="1400" dirty="0"/>
          </a:p>
        </p:txBody>
      </p:sp>
      <p:sp>
        <p:nvSpPr>
          <p:cNvPr id="48" name="Text 3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7D"/>
                </a:solidFill>
                <a:latin typeface="Inter" pitchFamily="34" charset="0"/>
                <a:ea typeface="Inter" pitchFamily="34" charset="-122"/>
                <a:cs typeface="Inter" pitchFamily="34" charset="-120"/>
              </a:rPr>
              <a:t>NIST mSCP · CIS Benchmarks for macOS</a:t>
            </a:r>
            <a:endParaRPr lang="en-US" sz="1200" dirty="0"/>
          </a:p>
        </p:txBody>
      </p:sp>
      <p:sp>
        <p:nvSpPr>
          <p:cNvPr id="49" name="Text 35"/>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7D"/>
                </a:solidFill>
                <a:latin typeface="Inter" pitchFamily="34" charset="0"/>
                <a:ea typeface="Inter" pitchFamily="34" charset="-122"/>
                <a:cs typeface="Inter" pitchFamily="34" charset="-120"/>
              </a:rPr>
              <a:t>ZNexora Tech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741"/>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Shape 0"/>
          <p:cNvSpPr/>
          <p:nvPr/>
        </p:nvSpPr>
        <p:spPr>
          <a:xfrm>
            <a:off x="812800" y="1269802"/>
            <a:ext cx="762000" cy="50800"/>
          </a:xfrm>
          <a:prstGeom prst="roundRect">
            <a:avLst>
              <a:gd name="adj" fmla="val 50000"/>
            </a:avLst>
          </a:prstGeom>
          <a:solidFill>
            <a:srgbClr val="D4AF5A"/>
          </a:solidFill>
          <a:ln/>
        </p:spPr>
      </p:sp>
      <p:sp>
        <p:nvSpPr>
          <p:cNvPr id="4" name="Text 1"/>
          <p:cNvSpPr/>
          <p:nvPr/>
        </p:nvSpPr>
        <p:spPr>
          <a:xfrm>
            <a:off x="812800" y="16254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4AF5A"/>
                </a:solidFill>
                <a:latin typeface="Inter" pitchFamily="34" charset="0"/>
                <a:ea typeface="Inter" pitchFamily="34" charset="-122"/>
                <a:cs typeface="Inter" pitchFamily="34" charset="-120"/>
              </a:rPr>
              <a:t>KEY TAKEAWAYS</a:t>
            </a:r>
            <a:endParaRPr lang="en-US" sz="1400" dirty="0"/>
          </a:p>
        </p:txBody>
      </p:sp>
      <p:sp>
        <p:nvSpPr>
          <p:cNvPr id="5" name="Text 2"/>
          <p:cNvSpPr/>
          <p:nvPr>
            <p:ph type="title"/>
          </p:nvPr>
        </p:nvSpPr>
        <p:spPr>
          <a:xfrm>
            <a:off x="812800" y="2179042"/>
            <a:ext cx="9810750" cy="1232297"/>
          </a:xfrm>
          <a:prstGeom prst="rect">
            <a:avLst/>
          </a:prstGeom>
          <a:noFill/>
          <a:ln/>
        </p:spPr>
        <p:txBody>
          <a:bodyPr wrap="square" lIns="0" tIns="0" rIns="0" bIns="0" rtlCol="0" anchor="t">
            <a:normAutofit/>
          </a:bodyPr>
          <a:lstStyle/>
          <a:p>
            <a:pPr algn="l" indent="0" marL="0">
              <a:lnSpc>
                <a:spcPts val="4752"/>
              </a:lnSpc>
              <a:buNone/>
            </a:pPr>
            <a:r>
              <a:rPr lang="en-US" sz="4400" b="1" i="0" spc="-50" kern="0" dirty="0">
                <a:solidFill>
                  <a:srgbClr val="FFFFFF"/>
                </a:solidFill>
                <a:latin typeface="Inter" pitchFamily="34" charset="0"/>
                <a:ea typeface="Inter" pitchFamily="34" charset="-122"/>
                <a:cs typeface="Inter" pitchFamily="34" charset="-120"/>
              </a:rPr>
              <a:t>Secure by default, only if it stays that way.</a:t>
            </a:r>
            <a:endParaRPr lang="en-US" sz="4400" dirty="0"/>
          </a:p>
        </p:txBody>
      </p:sp>
      <p:sp>
        <p:nvSpPr>
          <p:cNvPr id="6" name="Shape 3"/>
          <p:cNvSpPr/>
          <p:nvPr/>
        </p:nvSpPr>
        <p:spPr>
          <a:xfrm>
            <a:off x="812800" y="3690739"/>
            <a:ext cx="2011660" cy="1308100"/>
          </a:xfrm>
          <a:prstGeom prst="roundRect">
            <a:avLst>
              <a:gd name="adj" fmla="val 7767"/>
            </a:avLst>
          </a:prstGeom>
          <a:solidFill>
            <a:srgbClr val="1B3A5C"/>
          </a:solidFill>
          <a:ln/>
        </p:spPr>
      </p:sp>
      <p:sp>
        <p:nvSpPr>
          <p:cNvPr id="7" name="Shape 4"/>
          <p:cNvSpPr/>
          <p:nvPr/>
        </p:nvSpPr>
        <p:spPr>
          <a:xfrm>
            <a:off x="965200" y="3868539"/>
            <a:ext cx="406400" cy="406400"/>
          </a:xfrm>
          <a:prstGeom prst="roundRect">
            <a:avLst>
              <a:gd name="adj" fmla="val 50000"/>
            </a:avLst>
          </a:prstGeom>
          <a:solidFill>
            <a:srgbClr val="D4AF5A"/>
          </a:solidFill>
          <a:ln/>
        </p:spPr>
      </p:sp>
      <p:pic>
        <p:nvPicPr>
          <p:cNvPr id="8" name="Image 1" descr="sliders icon">    </p:cNvPr>
          <p:cNvPicPr>
            <a:picLocks noChangeAspect="1"/>
          </p:cNvPicPr>
          <p:nvPr/>
        </p:nvPicPr>
        <p:blipFill>
          <a:blip r:embed="rId2"/>
          <a:srcRect l="0" r="0" t="0" b="0"/>
          <a:stretch/>
        </p:blipFill>
        <p:spPr>
          <a:xfrm>
            <a:off x="1066800" y="3970139"/>
            <a:ext cx="203200" cy="203200"/>
          </a:xfrm>
          <a:prstGeom prst="rect">
            <a:avLst/>
          </a:prstGeom>
        </p:spPr>
      </p:pic>
      <p:sp>
        <p:nvSpPr>
          <p:cNvPr id="9" name="Text 5"/>
          <p:cNvSpPr/>
          <p:nvPr/>
        </p:nvSpPr>
        <p:spPr>
          <a:xfrm>
            <a:off x="965200" y="4376539"/>
            <a:ext cx="17580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Inter" pitchFamily="34" charset="0"/>
                <a:ea typeface="Inter" pitchFamily="34" charset="-122"/>
                <a:cs typeface="Inter" pitchFamily="34" charset="-120"/>
              </a:rPr>
              <a:t>Manage every Mac</a:t>
            </a:r>
            <a:endParaRPr lang="en-US" sz="1400" dirty="0"/>
          </a:p>
        </p:txBody>
      </p:sp>
      <p:sp>
        <p:nvSpPr>
          <p:cNvPr id="10" name="Shape 6"/>
          <p:cNvSpPr/>
          <p:nvPr/>
        </p:nvSpPr>
        <p:spPr>
          <a:xfrm>
            <a:off x="2951460" y="3690739"/>
            <a:ext cx="2011759" cy="1308100"/>
          </a:xfrm>
          <a:prstGeom prst="roundRect">
            <a:avLst>
              <a:gd name="adj" fmla="val 7767"/>
            </a:avLst>
          </a:prstGeom>
          <a:solidFill>
            <a:srgbClr val="1B3A5C"/>
          </a:solidFill>
          <a:ln/>
        </p:spPr>
      </p:sp>
      <p:sp>
        <p:nvSpPr>
          <p:cNvPr id="11" name="Shape 7"/>
          <p:cNvSpPr/>
          <p:nvPr/>
        </p:nvSpPr>
        <p:spPr>
          <a:xfrm>
            <a:off x="3103860" y="3868539"/>
            <a:ext cx="406400" cy="406400"/>
          </a:xfrm>
          <a:prstGeom prst="roundRect">
            <a:avLst>
              <a:gd name="adj" fmla="val 50000"/>
            </a:avLst>
          </a:prstGeom>
          <a:solidFill>
            <a:srgbClr val="D4AF5A"/>
          </a:solidFill>
          <a:ln/>
        </p:spPr>
      </p:sp>
      <p:pic>
        <p:nvPicPr>
          <p:cNvPr id="12" name="Image 2" descr="user icon">    </p:cNvPr>
          <p:cNvPicPr>
            <a:picLocks noChangeAspect="1"/>
          </p:cNvPicPr>
          <p:nvPr/>
        </p:nvPicPr>
        <p:blipFill>
          <a:blip r:embed="rId3"/>
          <a:srcRect l="0" r="0" t="0" b="0"/>
          <a:stretch/>
        </p:blipFill>
        <p:spPr>
          <a:xfrm>
            <a:off x="3205460" y="3970139"/>
            <a:ext cx="203200" cy="203200"/>
          </a:xfrm>
          <a:prstGeom prst="rect">
            <a:avLst/>
          </a:prstGeom>
        </p:spPr>
      </p:pic>
      <p:sp>
        <p:nvSpPr>
          <p:cNvPr id="13" name="Text 8"/>
          <p:cNvSpPr/>
          <p:nvPr/>
        </p:nvSpPr>
        <p:spPr>
          <a:xfrm>
            <a:off x="3103860" y="4376539"/>
            <a:ext cx="1758168"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Inter" pitchFamily="34" charset="0"/>
                <a:ea typeface="Inter" pitchFamily="34" charset="-122"/>
                <a:cs typeface="Inter" pitchFamily="34" charset="-120"/>
              </a:rPr>
              <a:t>Remove everyday admin rights</a:t>
            </a:r>
            <a:endParaRPr lang="en-US" sz="1400" dirty="0"/>
          </a:p>
        </p:txBody>
      </p:sp>
      <p:sp>
        <p:nvSpPr>
          <p:cNvPr id="14" name="Shape 9"/>
          <p:cNvSpPr/>
          <p:nvPr/>
        </p:nvSpPr>
        <p:spPr>
          <a:xfrm>
            <a:off x="5090220" y="3690739"/>
            <a:ext cx="2011660" cy="1308100"/>
          </a:xfrm>
          <a:prstGeom prst="roundRect">
            <a:avLst>
              <a:gd name="adj" fmla="val 7767"/>
            </a:avLst>
          </a:prstGeom>
          <a:solidFill>
            <a:srgbClr val="1B3A5C"/>
          </a:solidFill>
          <a:ln/>
        </p:spPr>
      </p:sp>
      <p:sp>
        <p:nvSpPr>
          <p:cNvPr id="15" name="Shape 10"/>
          <p:cNvSpPr/>
          <p:nvPr/>
        </p:nvSpPr>
        <p:spPr>
          <a:xfrm>
            <a:off x="5242620" y="3868539"/>
            <a:ext cx="406400" cy="406400"/>
          </a:xfrm>
          <a:prstGeom prst="roundRect">
            <a:avLst>
              <a:gd name="adj" fmla="val 50000"/>
            </a:avLst>
          </a:prstGeom>
          <a:solidFill>
            <a:srgbClr val="D4AF5A"/>
          </a:solidFill>
          <a:ln/>
        </p:spPr>
      </p:sp>
      <p:pic>
        <p:nvPicPr>
          <p:cNvPr id="16" name="Image 3" descr="refresh icon">    </p:cNvPr>
          <p:cNvPicPr>
            <a:picLocks noChangeAspect="1"/>
          </p:cNvPicPr>
          <p:nvPr/>
        </p:nvPicPr>
        <p:blipFill>
          <a:blip r:embed="rId4"/>
          <a:srcRect l="0" r="0" t="0" b="0"/>
          <a:stretch/>
        </p:blipFill>
        <p:spPr>
          <a:xfrm>
            <a:off x="5344220" y="3970139"/>
            <a:ext cx="203200" cy="203200"/>
          </a:xfrm>
          <a:prstGeom prst="rect">
            <a:avLst/>
          </a:prstGeom>
        </p:spPr>
      </p:pic>
      <p:sp>
        <p:nvSpPr>
          <p:cNvPr id="17" name="Text 11"/>
          <p:cNvSpPr/>
          <p:nvPr/>
        </p:nvSpPr>
        <p:spPr>
          <a:xfrm>
            <a:off x="5242620" y="4376539"/>
            <a:ext cx="17580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Inter" pitchFamily="34" charset="0"/>
                <a:ea typeface="Inter" pitchFamily="34" charset="-122"/>
                <a:cs typeface="Inter" pitchFamily="34" charset="-120"/>
              </a:rPr>
              <a:t>Enforce updates</a:t>
            </a:r>
            <a:endParaRPr lang="en-US" sz="1400" dirty="0"/>
          </a:p>
        </p:txBody>
      </p:sp>
      <p:sp>
        <p:nvSpPr>
          <p:cNvPr id="18" name="Shape 12"/>
          <p:cNvSpPr/>
          <p:nvPr/>
        </p:nvSpPr>
        <p:spPr>
          <a:xfrm>
            <a:off x="7228880" y="3690739"/>
            <a:ext cx="2011660" cy="1308100"/>
          </a:xfrm>
          <a:prstGeom prst="roundRect">
            <a:avLst>
              <a:gd name="adj" fmla="val 7767"/>
            </a:avLst>
          </a:prstGeom>
          <a:solidFill>
            <a:srgbClr val="1B3A5C"/>
          </a:solidFill>
          <a:ln/>
        </p:spPr>
      </p:sp>
      <p:sp>
        <p:nvSpPr>
          <p:cNvPr id="19" name="Shape 13"/>
          <p:cNvSpPr/>
          <p:nvPr/>
        </p:nvSpPr>
        <p:spPr>
          <a:xfrm>
            <a:off x="7381280" y="3868539"/>
            <a:ext cx="406400" cy="406400"/>
          </a:xfrm>
          <a:prstGeom prst="roundRect">
            <a:avLst>
              <a:gd name="adj" fmla="val 50000"/>
            </a:avLst>
          </a:prstGeom>
          <a:solidFill>
            <a:srgbClr val="D4AF5A"/>
          </a:solidFill>
          <a:ln/>
        </p:spPr>
      </p:sp>
      <p:pic>
        <p:nvPicPr>
          <p:cNvPr id="20" name="Image 4" descr="lock icon">    </p:cNvPr>
          <p:cNvPicPr>
            <a:picLocks noChangeAspect="1"/>
          </p:cNvPicPr>
          <p:nvPr/>
        </p:nvPicPr>
        <p:blipFill>
          <a:blip r:embed="rId5"/>
          <a:srcRect l="0" r="0" t="0" b="0"/>
          <a:stretch/>
        </p:blipFill>
        <p:spPr>
          <a:xfrm>
            <a:off x="7482880" y="3970139"/>
            <a:ext cx="203200" cy="203200"/>
          </a:xfrm>
          <a:prstGeom prst="rect">
            <a:avLst/>
          </a:prstGeom>
        </p:spPr>
      </p:pic>
      <p:sp>
        <p:nvSpPr>
          <p:cNvPr id="21" name="Text 14"/>
          <p:cNvSpPr/>
          <p:nvPr/>
        </p:nvSpPr>
        <p:spPr>
          <a:xfrm>
            <a:off x="7381280" y="4376539"/>
            <a:ext cx="175806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Inter" pitchFamily="34" charset="0"/>
                <a:ea typeface="Inter" pitchFamily="34" charset="-122"/>
                <a:cs typeface="Inter" pitchFamily="34" charset="-120"/>
              </a:rPr>
              <a:t>Keep protections on and verified</a:t>
            </a:r>
            <a:endParaRPr lang="en-US" sz="1400" dirty="0"/>
          </a:p>
        </p:txBody>
      </p:sp>
      <p:sp>
        <p:nvSpPr>
          <p:cNvPr id="22" name="Shape 15"/>
          <p:cNvSpPr/>
          <p:nvPr/>
        </p:nvSpPr>
        <p:spPr>
          <a:xfrm>
            <a:off x="9367540" y="3690739"/>
            <a:ext cx="2011660" cy="1308100"/>
          </a:xfrm>
          <a:prstGeom prst="roundRect">
            <a:avLst>
              <a:gd name="adj" fmla="val 7767"/>
            </a:avLst>
          </a:prstGeom>
          <a:solidFill>
            <a:srgbClr val="1B3A5C"/>
          </a:solidFill>
          <a:ln/>
        </p:spPr>
      </p:sp>
      <p:sp>
        <p:nvSpPr>
          <p:cNvPr id="23" name="Shape 16"/>
          <p:cNvSpPr/>
          <p:nvPr/>
        </p:nvSpPr>
        <p:spPr>
          <a:xfrm>
            <a:off x="9519940" y="3868539"/>
            <a:ext cx="406400" cy="406400"/>
          </a:xfrm>
          <a:prstGeom prst="roundRect">
            <a:avLst>
              <a:gd name="adj" fmla="val 50000"/>
            </a:avLst>
          </a:prstGeom>
          <a:solidFill>
            <a:srgbClr val="D4AF5A"/>
          </a:solidFill>
          <a:ln/>
        </p:spPr>
      </p:sp>
      <p:pic>
        <p:nvPicPr>
          <p:cNvPr id="24" name="Image 5" descr="activity icon">    </p:cNvPr>
          <p:cNvPicPr>
            <a:picLocks noChangeAspect="1"/>
          </p:cNvPicPr>
          <p:nvPr/>
        </p:nvPicPr>
        <p:blipFill>
          <a:blip r:embed="rId6"/>
          <a:srcRect l="0" r="0" t="0" b="0"/>
          <a:stretch/>
        </p:blipFill>
        <p:spPr>
          <a:xfrm>
            <a:off x="9621540" y="3970139"/>
            <a:ext cx="203200" cy="203200"/>
          </a:xfrm>
          <a:prstGeom prst="rect">
            <a:avLst/>
          </a:prstGeom>
        </p:spPr>
      </p:pic>
      <p:sp>
        <p:nvSpPr>
          <p:cNvPr id="25" name="Text 17"/>
          <p:cNvSpPr/>
          <p:nvPr/>
        </p:nvSpPr>
        <p:spPr>
          <a:xfrm>
            <a:off x="9519940" y="4376539"/>
            <a:ext cx="175806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Inter" pitchFamily="34" charset="0"/>
                <a:ea typeface="Inter" pitchFamily="34" charset="-122"/>
                <a:cs typeface="Inter" pitchFamily="34" charset="-120"/>
              </a:rPr>
              <a:t>Monitor for persistence</a:t>
            </a:r>
            <a:endParaRPr lang="en-US" sz="1400" dirty="0"/>
          </a:p>
        </p:txBody>
      </p:sp>
      <p:sp>
        <p:nvSpPr>
          <p:cNvPr id="26" name="Text 18"/>
          <p:cNvSpPr/>
          <p:nvPr/>
        </p:nvSpPr>
        <p:spPr>
          <a:xfrm>
            <a:off x="812800" y="530363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A8B8"/>
                </a:solidFill>
                <a:latin typeface="Inter" pitchFamily="34" charset="0"/>
                <a:ea typeface="Inter" pitchFamily="34" charset="-122"/>
                <a:cs typeface="Inter" pitchFamily="34" charset="-120"/>
              </a:rPr>
              <a:t>Thank you · Questions and discussion · Presented by ZNexora Tech</a:t>
            </a:r>
            <a:endParaRPr lang="en-US" sz="1600" dirty="0"/>
          </a:p>
        </p:txBody>
      </p:sp>
    </p:spTree>
  </p:cSld>
  <p:clrMapOvr>
    <a:masterClrMapping/>
  </p:clrMapOvr>
</p:sld>
</file>

<file path=ppt/theme/theme1.xml><?xml version="1.0" encoding="utf-8"?>
<a:theme xmlns:a="http://schemas.openxmlformats.org/drawingml/2006/main" name="macOS Security Hardening">
  <a:themeElements>
    <a:clrScheme name="macOS Security Hardening">
      <a:dk1>
        <a:srgbClr val="0F2741"/>
      </a:dk1>
      <a:lt1>
        <a:srgbClr val="F6F8FB"/>
      </a:lt1>
      <a:dk2>
        <a:srgbClr val="495B70"/>
      </a:dk2>
      <a:lt2>
        <a:srgbClr val="DFE3E8"/>
      </a:lt2>
      <a:accent1>
        <a:srgbClr val="1F5FA8"/>
      </a:accent1>
      <a:accent2>
        <a:srgbClr val="1B3A5C"/>
      </a:accent2>
      <a:accent3>
        <a:srgbClr val="D4AF5A"/>
      </a:accent3>
      <a:accent4>
        <a:srgbClr val="D9822B"/>
      </a:accent4>
      <a:accent5>
        <a:srgbClr val="24507A"/>
      </a:accent5>
      <a:accent6>
        <a:srgbClr val="1A4F8B"/>
      </a:accent6>
      <a:hlink>
        <a:srgbClr val="0563C1"/>
      </a:hlink>
      <a:folHlink>
        <a:srgbClr val="954F72"/>
      </a:folHlink>
    </a:clrScheme>
    <a:fontScheme name="macOS Security Hardening">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macOS Security Hardening</dc:title>
  <dc:subject/>
  <dc:creator/>
  <cp:lastModifiedBy/>
  <cp:revision>1</cp:revision>
  <dcterms:created xsi:type="dcterms:W3CDTF">2026-10-16T16:20:55Z</dcterms:created>
  <dcterms:modified xsi:type="dcterms:W3CDTF">2026-10-16T16:20:55Z</dcterms:modified>
</cp:coreProperties>
</file>