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I'm [Presenter] from ZNexora Tech. Today I want to share some of the latest global malware statistics for 2026. Numbers can feel abstract, so for each one I'll explain what it means in practice and what it means for us as a unit. These figures come from SentinelOne's 2026 malware statistics, and from major industry reports: Verizon's 2026 Data Breach Investigations Report, IBM's 2026 Cost of a Data Breach Report, and CrowdStrike's 2026 Global Threat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1:30] Let's start with the scale. According to SentinelOne, around 560,000 new and distinct malware threats are identified every single day, and around 500,000 malicious files are detected or blocked daily. Automated systems launch an attack roughly every 11 seconds. And the average organisation now faces about 2,086 cyber attacks every week, up almost 10 percent year on year. To put that into perspective: in the ten minutes of this briefing, automated attacks will strike around 55 times. Malware is not an occasional event. It's constant background pressure, and every one of us is part of the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2:40] How does malware get in? SentinelOne's data shows email is still the number one route: 41 percent of malware is delivered through email attachments or links. 23 percent comes from compromised websites, 17 percent from software vulnerabilities, 9 percent from removable media like USB drives, and 7 percent through the supply chain. Two trends stand out on the right. Incidents using fake CAPTCHA lures, the 'prove you're human' pages that trick people into running commands, rose by 563 percent. Hornetsecurity saw a 131 percent increase in malware-laden emails. And Verizon's 2026 report found that 31 percent of breaches now start with an exploited vulnerability, overtaking stolen credentials as the top entry route. So email, websites and unpatched software are where we need to be most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 3:30] Which types of malware are growing? Infostealers are now the most active type. More than 155,000 were detected in early 2026, with Agent Tesla, Formbook and Lumma the most common. Infostealers quietly harvest saved passwords, browser cookies and crypto wallets, and that stolen data is sold to other criminals. Remote access trojans, which give attackers hidden control of a device, rank second with over 72,000 detections. Targeted credential-stealer infections have grown by 220 percent, IoT malware attacks rose 124 percent, and 37 percent of new malware now uses AI to help it evade detection. The message is clear: attackers want our credentials more than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4:30] Ransomware remains the most damaging form of malware. Verizon's Data Breach Investigations Report shows how dramatically it has grown: ransomware was present in about 10 percent of breaches in 2021, 44 percent in the 2025 report, and 48 percent in the 2026 report. That's almost half of all breaches. There is some good news: 69 percent of victims refused to pay, up from 64 percent, and the median ransom payment fell to 139,875 dollars. That's thanks to better backups and recovery planning. The most active ransomware families in early 2026 include Qilin, Akira, Clop and The Gentlemen. For us, this means good backups and fast reporting are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5:30] Attackers are also getting much faster. CrowdStrike's 2026 Global Threat Report found that the average breakout time, how long it takes an attacker to move from their first foothold to other systems, fell to just 29 minutes. The fastest they observed was 27 seconds. At the same time, 82 percent of detections were malware-free. Attackers increasingly log in with stolen credentials and use trusted tools, instead of dropping obvious malicious files. And attacks by AI-enabled adversaries rose 89 percent. What this means for us: we can't rely on antivirus alone, and every minute matters. If something looks wrong, reporting it straight away gives our security team a chance to stop an attacker before they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 – 6:20] Who is being targeted? The honest answer is everyone. Manufacturing accounts for about 35 percent of malware incidents, and Verizon found that ransomware drives 61 percent of malware breaches in that sector. Healthcare has the highest breach costs of any industry, at 6.64 million dollars on average, for the thirteenth year running. Financial services is close behind at 6.29 million. Government and the public sector account for 19 percent of global malware incidents. And small and mid-size businesses are hit especially hard: ransomware appears in 88 percent of SMB breaches, compared with 39 percent at larger firms. No organisation is too small or too unimportant to be a target, and that includes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 7:20] What does all this cost? IBM's 2026 Cost of a Data Breach Report puts the global average at 4.99 million dollars per breach. That's up 12 percent in a year and the highest figure IBM has ever recorded. In the United States the average is 11.5 million. Breaches take an average of 247 days to identify and contain, and slower containment means higher costs. Phishing, including voice and SMS phishing, was the costliest entry point, at 5.29 million dollars on average. On the positive side, organisations using AI and automation in their security operations saved 1.93 million dollars per breach. Speed of detection and reporting directly reduces the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 – 7:50] If we step back from all these numbers, there's a common thread. Email is the top delivery route, fake CAPTCHA lures are surging, and 82 percent of attacks use stolen credentials rather than malware. Behind most of these statistics is one human moment: someone clicked a link, pasted a command, or reused a password. That's actually good news, because it means that moment is exactly where each of us can stop an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9:00] So what does this mean for our unit? Let's turn each statistic into an action. Email is the number one malware route, so pause before opening unexpected links and attachments. Fake CAPTCHA lures are up 563 percent, so never paste or run commands that a website gives you. 82 percent of detections are malware-free, so protect your logins with MFA and unique passwords. 31 percent of breaches start with an unpatched vulnerability, so install updates promptly and restart when asked. Ransomware appears in 48 percent of breaches, so save your work to backed-up storage, not just your desktop. And with an average breakout time of 29 minutes, report anything suspicious to IT immediately. Six simple actions that directly address the biggest risks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9:30] For anyone who wants to read further, here are the sources behind today's figures: SentinelOne's malware statistics for 2026, Verizon's 2026 Data Breach Investigations Report, IBM's 2026 Cost of a Data Breach Report, CrowdStrike's 2026 Global Threat Report, and Hornetsecurity's 2026 Cybersecurity Report. Note that some of SentinelOne's figures bring together research from other organisations, so exact numbers can vary between reports. But the trends are consistent across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10:00] To wrap up: malware attacks are constant, faster than ever, and increasingly built around stolen credentials. But every statistic we've seen today starts with a single moment, often one click. If we stay alert, protect our logins, and report fast, we take ourselves out of these statistics. Thank you for your time.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B1F33"/>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41"/>
            <a:ext cx="10566400" cy="4424759"/>
          </a:xfrm>
          <a:prstGeom prst="rect">
            <a:avLst/>
          </a:prstGeom>
          <a:noFill/>
          <a:ln/>
        </p:spPr>
        <p:txBody>
          <a:bodyPr wrap="square" lIns="0" tIns="0" rIns="0" bIns="0" rtlCol="0" anchor="t"/>
          <a:lstStyle>
            <a:lvl1pPr algn="l" indent="0" marL="0">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2.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Globe with malware attack paths converging on protected systems">    </p:cNvPr>
          <p:cNvPicPr>
            <a:picLocks noChangeAspect="1"/>
          </p:cNvPicPr>
          <p:nvPr/>
        </p:nvPicPr>
        <p:blipFill>
          <a:blip r:embed="rId2"/>
          <a:srcRect l="0" r="0" t="0" b="0"/>
          <a:stretch/>
        </p:blipFill>
        <p:spPr>
          <a:xfrm>
            <a:off x="7874000" y="1397000"/>
            <a:ext cx="3810000" cy="3810000"/>
          </a:xfrm>
          <a:prstGeom prst="rect">
            <a:avLst/>
          </a:prstGeom>
        </p:spPr>
      </p:pic>
      <p:pic>
        <p:nvPicPr>
          <p:cNvPr id="4" name="Image 2" descr="rect">    </p:cNvPr>
          <p:cNvPicPr>
            <a:picLocks noChangeAspect="1"/>
          </p:cNvPicPr>
          <p:nvPr/>
        </p:nvPicPr>
        <p:blipFill>
          <a:blip r:embed="rId3"/>
          <a:srcRect l="0" r="0" t="0" b="0"/>
          <a:stretch/>
        </p:blipFill>
        <p:spPr>
          <a:xfrm>
            <a:off x="0" y="0"/>
            <a:ext cx="152400" cy="6858000"/>
          </a:xfrm>
          <a:prstGeom prst="rect">
            <a:avLst/>
          </a:prstGeom>
        </p:spPr>
      </p:pic>
      <p:sp>
        <p:nvSpPr>
          <p:cNvPr id="5" name="Text 0"/>
          <p:cNvSpPr/>
          <p:nvPr/>
        </p:nvSpPr>
        <p:spPr>
          <a:xfrm>
            <a:off x="812800" y="171211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ZNEXORA TECH | SECURITY AWARENESS</a:t>
            </a:r>
            <a:endParaRPr lang="en-US" sz="1400" dirty="0"/>
          </a:p>
        </p:txBody>
      </p:sp>
      <p:sp>
        <p:nvSpPr>
          <p:cNvPr id="6" name="Text 1"/>
          <p:cNvSpPr/>
          <p:nvPr>
            <p:ph type="title"/>
          </p:nvPr>
        </p:nvSpPr>
        <p:spPr>
          <a:xfrm>
            <a:off x="812800" y="2214959"/>
            <a:ext cx="7063740" cy="14120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Global Malware Attack Statistics 2026</a:t>
            </a:r>
            <a:endParaRPr lang="en-US" sz="5200" dirty="0"/>
          </a:p>
        </p:txBody>
      </p:sp>
      <p:sp>
        <p:nvSpPr>
          <p:cNvPr id="7" name="Text 2"/>
          <p:cNvSpPr/>
          <p:nvPr/>
        </p:nvSpPr>
        <p:spPr>
          <a:xfrm>
            <a:off x="812800" y="3855641"/>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What this year's threat data means for our unit</a:t>
            </a:r>
            <a:endParaRPr lang="en-US" sz="2000" dirty="0"/>
          </a:p>
        </p:txBody>
      </p:sp>
      <p:sp>
        <p:nvSpPr>
          <p:cNvPr id="8" name="Text 3"/>
          <p:cNvSpPr/>
          <p:nvPr/>
        </p:nvSpPr>
        <p:spPr>
          <a:xfrm>
            <a:off x="812800" y="44652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FB3C8"/>
                </a:solidFill>
                <a:latin typeface="Calibri" pitchFamily="34" charset="0"/>
                <a:ea typeface="Calibri" pitchFamily="34" charset="-122"/>
                <a:cs typeface="Calibri" pitchFamily="34" charset="-120"/>
              </a:rPr>
              <a:t>BASED ON</a:t>
            </a:r>
            <a:endParaRPr lang="en-US" sz="1200" dirty="0"/>
          </a:p>
        </p:txBody>
      </p:sp>
      <p:sp>
        <p:nvSpPr>
          <p:cNvPr id="9" name="Text 4"/>
          <p:cNvSpPr/>
          <p:nvPr/>
        </p:nvSpPr>
        <p:spPr>
          <a:xfrm>
            <a:off x="819150" y="4786511"/>
            <a:ext cx="1156295" cy="353020"/>
          </a:xfrm>
          <a:prstGeom prst="roundRect">
            <a:avLst>
              <a:gd name="adj" fmla="val 48567"/>
            </a:avLst>
          </a:prstGeom>
          <a:solidFill>
            <a:srgbClr val="13294B"/>
          </a:solidFill>
          <a:ln w="12700">
            <a:solidFill>
              <a:srgbClr val="0078D4"/>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Calibri" pitchFamily="34" charset="0"/>
                <a:ea typeface="Calibri" pitchFamily="34" charset="-122"/>
                <a:cs typeface="Calibri" pitchFamily="34" charset="-120"/>
              </a:rPr>
              <a:t>SentinelOne</a:t>
            </a:r>
            <a:endParaRPr lang="en-US" sz="1200" dirty="0"/>
          </a:p>
        </p:txBody>
      </p:sp>
      <p:sp>
        <p:nvSpPr>
          <p:cNvPr id="10" name="Text 5"/>
          <p:cNvSpPr/>
          <p:nvPr/>
        </p:nvSpPr>
        <p:spPr>
          <a:xfrm>
            <a:off x="2089745" y="4786511"/>
            <a:ext cx="1232297" cy="353020"/>
          </a:xfrm>
          <a:prstGeom prst="roundRect">
            <a:avLst>
              <a:gd name="adj" fmla="val 48567"/>
            </a:avLst>
          </a:prstGeom>
          <a:solidFill>
            <a:srgbClr val="13294B"/>
          </a:solidFill>
          <a:ln w="12700">
            <a:solidFill>
              <a:srgbClr val="0078D4"/>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Calibri" pitchFamily="34" charset="0"/>
                <a:ea typeface="Calibri" pitchFamily="34" charset="-122"/>
                <a:cs typeface="Calibri" pitchFamily="34" charset="-120"/>
              </a:rPr>
              <a:t>Verizon DBIR</a:t>
            </a:r>
            <a:endParaRPr lang="en-US" sz="1200" dirty="0"/>
          </a:p>
        </p:txBody>
      </p:sp>
      <p:sp>
        <p:nvSpPr>
          <p:cNvPr id="11" name="Text 6"/>
          <p:cNvSpPr/>
          <p:nvPr/>
        </p:nvSpPr>
        <p:spPr>
          <a:xfrm>
            <a:off x="3436342" y="4786511"/>
            <a:ext cx="588466" cy="353020"/>
          </a:xfrm>
          <a:prstGeom prst="roundRect">
            <a:avLst>
              <a:gd name="adj" fmla="val 48567"/>
            </a:avLst>
          </a:prstGeom>
          <a:solidFill>
            <a:srgbClr val="13294B"/>
          </a:solidFill>
          <a:ln w="12700">
            <a:solidFill>
              <a:srgbClr val="0078D4"/>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Calibri" pitchFamily="34" charset="0"/>
                <a:ea typeface="Calibri" pitchFamily="34" charset="-122"/>
                <a:cs typeface="Calibri" pitchFamily="34" charset="-120"/>
              </a:rPr>
              <a:t>IBM</a:t>
            </a:r>
            <a:endParaRPr lang="en-US" sz="1200" dirty="0"/>
          </a:p>
        </p:txBody>
      </p:sp>
      <p:sp>
        <p:nvSpPr>
          <p:cNvPr id="12" name="Text 7"/>
          <p:cNvSpPr/>
          <p:nvPr/>
        </p:nvSpPr>
        <p:spPr>
          <a:xfrm>
            <a:off x="4139109" y="4786511"/>
            <a:ext cx="1147465" cy="353020"/>
          </a:xfrm>
          <a:prstGeom prst="roundRect">
            <a:avLst>
              <a:gd name="adj" fmla="val 48567"/>
            </a:avLst>
          </a:prstGeom>
          <a:solidFill>
            <a:srgbClr val="13294B"/>
          </a:solidFill>
          <a:ln w="12700">
            <a:solidFill>
              <a:srgbClr val="0078D4"/>
            </a:solidFill>
            <a:prstDash val="solid"/>
          </a:ln>
        </p:spPr>
        <p:txBody>
          <a:bodyPr wrap="none" lIns="0" tIns="0" rIns="0" bIns="0" rtlCol="0" anchor="ctr">
            <a:normAutofit/>
          </a:bodyPr>
          <a:lstStyle/>
          <a:p>
            <a:pPr algn="ctr" indent="0" marL="0">
              <a:lnSpc>
                <a:spcPts val="1680"/>
              </a:lnSpc>
              <a:buNone/>
            </a:pPr>
            <a:r>
              <a:rPr lang="en-US" sz="1200" dirty="0">
                <a:solidFill>
                  <a:srgbClr val="FFFFFF"/>
                </a:solidFill>
                <a:latin typeface="Calibri" pitchFamily="34" charset="0"/>
                <a:ea typeface="Calibri" pitchFamily="34" charset="-122"/>
                <a:cs typeface="Calibri" pitchFamily="34" charset="-120"/>
              </a:rPr>
              <a:t>CrowdStrike</a:t>
            </a:r>
            <a:endParaRPr lang="en-US" sz="1200" dirty="0"/>
          </a:p>
        </p:txBody>
      </p:sp>
      <p:sp>
        <p:nvSpPr>
          <p:cNvPr id="13"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a:solidFill>
                  <a:srgbClr val="FFFFFF"/>
                </a:solidFill>
                <a:latin typeface="Calibri" pitchFamily="34" charset="0"/>
                <a:ea typeface="Calibri" pitchFamily="34" charset="-122"/>
                <a:cs typeface="Calibri" pitchFamily="34" charset="-120"/>
              </a:rPr>
              <a:t>ZNexora Tech</a:t>
            </a:r>
            <a:r>
              <a:rPr lang="en-US" sz="1200" dirty="0">
                <a:solidFill>
                  <a:srgbClr val="9FB3C8"/>
                </a:solidFill>
                <a:latin typeface="Calibri" pitchFamily="34" charset="0"/>
                <a:ea typeface="Calibri" pitchFamily="34" charset="-122"/>
                <a:cs typeface="Calibri" pitchFamily="34" charset="-120"/>
              </a:rPr>
              <a:t> · [Presenter]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01 · THE SCALE OF THE THREAT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Malware never sleeps</a:t>
            </a:r>
            <a:endParaRPr lang="en-US" sz="3600" dirty="0"/>
          </a:p>
        </p:txBody>
      </p:sp>
      <p:sp>
        <p:nvSpPr>
          <p:cNvPr id="5" name="Shape 2"/>
          <p:cNvSpPr/>
          <p:nvPr/>
        </p:nvSpPr>
        <p:spPr>
          <a:xfrm>
            <a:off x="812800" y="1595041"/>
            <a:ext cx="2489200" cy="1643261"/>
          </a:xfrm>
          <a:prstGeom prst="roundRect">
            <a:avLst>
              <a:gd name="adj" fmla="val 6183"/>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812800" y="1595041"/>
            <a:ext cx="2489200" cy="1643261"/>
          </a:xfrm>
          <a:custGeom>
            <a:avLst/>
            <a:gdLst/>
            <a:ahLst/>
            <a:cxnLst/>
            <a:rect l="l" t="t" r="r" b="b"/>
            <a:pathLst>
              <a:path w="2489200" h="1643261">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0078D4"/>
          </a:solidFill>
          <a:ln/>
        </p:spPr>
      </p:sp>
      <p:sp>
        <p:nvSpPr>
          <p:cNvPr id="7" name="Text 4"/>
          <p:cNvSpPr/>
          <p:nvPr/>
        </p:nvSpPr>
        <p:spPr>
          <a:xfrm>
            <a:off x="1041400" y="1899841"/>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078D4"/>
                </a:solidFill>
                <a:latin typeface="Arial" pitchFamily="34" charset="0"/>
                <a:ea typeface="Arial" pitchFamily="34" charset="-122"/>
                <a:cs typeface="Arial" pitchFamily="34" charset="-120"/>
              </a:rPr>
              <a:t>560,000</a:t>
            </a:r>
            <a:endParaRPr lang="en-US" sz="3600" dirty="0"/>
          </a:p>
        </p:txBody>
      </p:sp>
      <p:sp>
        <p:nvSpPr>
          <p:cNvPr id="8" name="Text 5"/>
          <p:cNvSpPr/>
          <p:nvPr/>
        </p:nvSpPr>
        <p:spPr>
          <a:xfrm>
            <a:off x="1041400" y="2504281"/>
            <a:ext cx="20929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new malware threats identified every day</a:t>
            </a:r>
            <a:endParaRPr lang="en-US" sz="1400" dirty="0"/>
          </a:p>
        </p:txBody>
      </p:sp>
      <p:sp>
        <p:nvSpPr>
          <p:cNvPr id="9" name="Shape 6"/>
          <p:cNvSpPr/>
          <p:nvPr/>
        </p:nvSpPr>
        <p:spPr>
          <a:xfrm>
            <a:off x="3505200" y="1595041"/>
            <a:ext cx="2489200" cy="1643261"/>
          </a:xfrm>
          <a:prstGeom prst="roundRect">
            <a:avLst>
              <a:gd name="adj" fmla="val 6183"/>
            </a:avLst>
          </a:prstGeom>
          <a:solidFill>
            <a:srgbClr val="FFFFFF"/>
          </a:solidFill>
          <a:ln/>
          <a:effectLst>
            <a:outerShdw sx="100000" sy="100000" kx="0" ky="0" algn="bl" rotWithShape="0" blurRad="101600" dist="25400" dir="5400000">
              <a:srgbClr val="C9D6E3">
                <a:alpha val="100000"/>
              </a:srgbClr>
            </a:outerShdw>
          </a:effectLst>
        </p:spPr>
      </p:sp>
      <p:sp>
        <p:nvSpPr>
          <p:cNvPr id="10" name="Shape 7"/>
          <p:cNvSpPr/>
          <p:nvPr/>
        </p:nvSpPr>
        <p:spPr>
          <a:xfrm>
            <a:off x="3505200" y="1595041"/>
            <a:ext cx="2489200" cy="1643261"/>
          </a:xfrm>
          <a:custGeom>
            <a:avLst/>
            <a:gdLst/>
            <a:ahLst/>
            <a:cxnLst/>
            <a:rect l="l" t="t" r="r" b="b"/>
            <a:pathLst>
              <a:path w="2489200" h="1643261">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0078D4"/>
          </a:solidFill>
          <a:ln/>
        </p:spPr>
      </p:sp>
      <p:sp>
        <p:nvSpPr>
          <p:cNvPr id="11" name="Text 8"/>
          <p:cNvSpPr/>
          <p:nvPr/>
        </p:nvSpPr>
        <p:spPr>
          <a:xfrm>
            <a:off x="3733800" y="1899841"/>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078D4"/>
                </a:solidFill>
                <a:latin typeface="Arial" pitchFamily="34" charset="0"/>
                <a:ea typeface="Arial" pitchFamily="34" charset="-122"/>
                <a:cs typeface="Arial" pitchFamily="34" charset="-120"/>
              </a:rPr>
              <a:t>500,000</a:t>
            </a:r>
            <a:endParaRPr lang="en-US" sz="3600" dirty="0"/>
          </a:p>
        </p:txBody>
      </p:sp>
      <p:sp>
        <p:nvSpPr>
          <p:cNvPr id="12" name="Text 9"/>
          <p:cNvSpPr/>
          <p:nvPr/>
        </p:nvSpPr>
        <p:spPr>
          <a:xfrm>
            <a:off x="3733800" y="2504281"/>
            <a:ext cx="20929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malicious files detected or blocked daily</a:t>
            </a:r>
            <a:endParaRPr lang="en-US" sz="1400" dirty="0"/>
          </a:p>
        </p:txBody>
      </p:sp>
      <p:sp>
        <p:nvSpPr>
          <p:cNvPr id="13" name="Shape 10"/>
          <p:cNvSpPr/>
          <p:nvPr/>
        </p:nvSpPr>
        <p:spPr>
          <a:xfrm>
            <a:off x="6197600" y="1595041"/>
            <a:ext cx="2489200" cy="1643261"/>
          </a:xfrm>
          <a:prstGeom prst="roundRect">
            <a:avLst>
              <a:gd name="adj" fmla="val 6183"/>
            </a:avLst>
          </a:prstGeom>
          <a:solidFill>
            <a:srgbClr val="FFFFFF"/>
          </a:solidFill>
          <a:ln/>
          <a:effectLst>
            <a:outerShdw sx="100000" sy="100000" kx="0" ky="0" algn="bl" rotWithShape="0" blurRad="101600" dist="25400" dir="5400000">
              <a:srgbClr val="C9D6E3">
                <a:alpha val="100000"/>
              </a:srgbClr>
            </a:outerShdw>
          </a:effectLst>
        </p:spPr>
      </p:sp>
      <p:sp>
        <p:nvSpPr>
          <p:cNvPr id="14" name="Shape 11"/>
          <p:cNvSpPr/>
          <p:nvPr/>
        </p:nvSpPr>
        <p:spPr>
          <a:xfrm>
            <a:off x="6197600" y="1595041"/>
            <a:ext cx="2489200" cy="1643261"/>
          </a:xfrm>
          <a:custGeom>
            <a:avLst/>
            <a:gdLst/>
            <a:ahLst/>
            <a:cxnLst/>
            <a:rect l="l" t="t" r="r" b="b"/>
            <a:pathLst>
              <a:path w="2489200" h="1643261">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0078D4"/>
          </a:solidFill>
          <a:ln/>
        </p:spPr>
      </p:sp>
      <p:sp>
        <p:nvSpPr>
          <p:cNvPr id="15" name="Text 12"/>
          <p:cNvSpPr/>
          <p:nvPr/>
        </p:nvSpPr>
        <p:spPr>
          <a:xfrm>
            <a:off x="6426200" y="1899841"/>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078D4"/>
                </a:solidFill>
                <a:latin typeface="Arial" pitchFamily="34" charset="0"/>
                <a:ea typeface="Arial" pitchFamily="34" charset="-122"/>
                <a:cs typeface="Arial" pitchFamily="34" charset="-120"/>
              </a:rPr>
              <a:t>11 sec</a:t>
            </a:r>
            <a:endParaRPr lang="en-US" sz="3600" dirty="0"/>
          </a:p>
        </p:txBody>
      </p:sp>
      <p:sp>
        <p:nvSpPr>
          <p:cNvPr id="16" name="Text 13"/>
          <p:cNvSpPr/>
          <p:nvPr/>
        </p:nvSpPr>
        <p:spPr>
          <a:xfrm>
            <a:off x="6426200" y="2504281"/>
            <a:ext cx="20929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between automated attacks</a:t>
            </a:r>
            <a:endParaRPr lang="en-US" sz="1400" dirty="0"/>
          </a:p>
        </p:txBody>
      </p:sp>
      <p:sp>
        <p:nvSpPr>
          <p:cNvPr id="17" name="Shape 14"/>
          <p:cNvSpPr/>
          <p:nvPr/>
        </p:nvSpPr>
        <p:spPr>
          <a:xfrm>
            <a:off x="8890000" y="1595041"/>
            <a:ext cx="2489200" cy="1643261"/>
          </a:xfrm>
          <a:prstGeom prst="roundRect">
            <a:avLst>
              <a:gd name="adj" fmla="val 6183"/>
            </a:avLst>
          </a:prstGeom>
          <a:solidFill>
            <a:srgbClr val="FFFFFF"/>
          </a:solidFill>
          <a:ln/>
          <a:effectLst>
            <a:outerShdw sx="100000" sy="100000" kx="0" ky="0" algn="bl" rotWithShape="0" blurRad="101600" dist="25400" dir="5400000">
              <a:srgbClr val="C9D6E3">
                <a:alpha val="100000"/>
              </a:srgbClr>
            </a:outerShdw>
          </a:effectLst>
        </p:spPr>
      </p:sp>
      <p:sp>
        <p:nvSpPr>
          <p:cNvPr id="18" name="Shape 15"/>
          <p:cNvSpPr/>
          <p:nvPr/>
        </p:nvSpPr>
        <p:spPr>
          <a:xfrm>
            <a:off x="8890000" y="1595041"/>
            <a:ext cx="2489200" cy="1643261"/>
          </a:xfrm>
          <a:custGeom>
            <a:avLst/>
            <a:gdLst/>
            <a:ahLst/>
            <a:cxnLst/>
            <a:rect l="l" t="t" r="r" b="b"/>
            <a:pathLst>
              <a:path w="2489200" h="1643261">
                <a:moveTo>
                  <a:pt x="0" y="101600"/>
                </a:moveTo>
                <a:lnTo>
                  <a:pt x="0" y="101600"/>
                </a:lnTo>
                <a:arcTo hR="101600" wR="101600" stAng="10800000" swAng="5400000"/>
                <a:lnTo>
                  <a:pt x="2387600" y="0"/>
                </a:lnTo>
                <a:arcTo hR="101600" wR="101600" stAng="16200000" swAng="5400000"/>
                <a:lnTo>
                  <a:pt x="2489200" y="101600"/>
                </a:lnTo>
                <a:arcTo hR="50800" wR="101600" stAng="0" swAng="-5400000"/>
                <a:lnTo>
                  <a:pt x="101600" y="50800"/>
                </a:lnTo>
                <a:arcTo hR="50800" wR="101600" stAng="16200000" swAng="-5400000"/>
                <a:close/>
              </a:path>
            </a:pathLst>
          </a:custGeom>
          <a:solidFill>
            <a:srgbClr val="0078D4"/>
          </a:solidFill>
          <a:ln/>
        </p:spPr>
      </p:sp>
      <p:sp>
        <p:nvSpPr>
          <p:cNvPr id="19" name="Text 16"/>
          <p:cNvSpPr/>
          <p:nvPr/>
        </p:nvSpPr>
        <p:spPr>
          <a:xfrm>
            <a:off x="9118600" y="1899841"/>
            <a:ext cx="2092960"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078D4"/>
                </a:solidFill>
                <a:latin typeface="Arial" pitchFamily="34" charset="0"/>
                <a:ea typeface="Arial" pitchFamily="34" charset="-122"/>
                <a:cs typeface="Arial" pitchFamily="34" charset="-120"/>
              </a:rPr>
              <a:t>2,086</a:t>
            </a:r>
            <a:endParaRPr lang="en-US" sz="3600" dirty="0"/>
          </a:p>
        </p:txBody>
      </p:sp>
      <p:sp>
        <p:nvSpPr>
          <p:cNvPr id="20" name="Text 17"/>
          <p:cNvSpPr/>
          <p:nvPr/>
        </p:nvSpPr>
        <p:spPr>
          <a:xfrm>
            <a:off x="9118600" y="2504281"/>
            <a:ext cx="209296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attacks per organisation each week, up 9.6%</a:t>
            </a:r>
            <a:endParaRPr lang="en-US" sz="1400" dirty="0"/>
          </a:p>
        </p:txBody>
      </p:sp>
      <p:sp>
        <p:nvSpPr>
          <p:cNvPr id="21" name="Shape 18"/>
          <p:cNvSpPr/>
          <p:nvPr/>
        </p:nvSpPr>
        <p:spPr>
          <a:xfrm>
            <a:off x="812800" y="3517702"/>
            <a:ext cx="10566400" cy="863600"/>
          </a:xfrm>
          <a:prstGeom prst="roundRect">
            <a:avLst>
              <a:gd name="adj" fmla="val 11765"/>
            </a:avLst>
          </a:prstGeom>
          <a:solidFill>
            <a:srgbClr val="0A1628"/>
          </a:solidFill>
          <a:ln/>
        </p:spPr>
      </p:sp>
      <p:sp>
        <p:nvSpPr>
          <p:cNvPr id="22" name="Shape 19"/>
          <p:cNvSpPr/>
          <p:nvPr/>
        </p:nvSpPr>
        <p:spPr>
          <a:xfrm>
            <a:off x="1066800" y="3720902"/>
            <a:ext cx="457200" cy="457200"/>
          </a:xfrm>
          <a:prstGeom prst="roundRect">
            <a:avLst>
              <a:gd name="adj" fmla="val 50000"/>
            </a:avLst>
          </a:prstGeom>
          <a:solidFill>
            <a:srgbClr val="F7630C"/>
          </a:solidFill>
          <a:ln/>
        </p:spPr>
      </p:sp>
      <p:pic>
        <p:nvPicPr>
          <p:cNvPr id="23" name="Image 1" descr="clock icon">    </p:cNvPr>
          <p:cNvPicPr>
            <a:picLocks noChangeAspect="1"/>
          </p:cNvPicPr>
          <p:nvPr/>
        </p:nvPicPr>
        <p:blipFill>
          <a:blip r:embed="rId2"/>
          <a:srcRect l="0" r="0" t="0" b="0"/>
          <a:stretch/>
        </p:blipFill>
        <p:spPr>
          <a:xfrm>
            <a:off x="1181100" y="3835202"/>
            <a:ext cx="228600" cy="228600"/>
          </a:xfrm>
          <a:prstGeom prst="rect">
            <a:avLst/>
          </a:prstGeom>
        </p:spPr>
      </p:pic>
      <p:sp>
        <p:nvSpPr>
          <p:cNvPr id="24" name="Text 20"/>
          <p:cNvSpPr/>
          <p:nvPr/>
        </p:nvSpPr>
        <p:spPr>
          <a:xfrm>
            <a:off x="1701800" y="3807222"/>
            <a:ext cx="97061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Calibri" pitchFamily="34" charset="0"/>
                <a:ea typeface="Calibri" pitchFamily="34" charset="-122"/>
                <a:cs typeface="Calibri" pitchFamily="34" charset="-120"/>
              </a:rPr>
              <a:t>In the 10 minutes of this briefing, automated attacks will strike </a:t>
            </a:r>
            <a:r>
              <a:rPr lang="en-US" sz="1600" b="1" dirty="0">
                <a:solidFill>
                  <a:srgbClr val="FF9A5C"/>
                </a:solidFill>
                <a:latin typeface="Calibri" pitchFamily="34" charset="0"/>
                <a:ea typeface="Calibri" pitchFamily="34" charset="-122"/>
                <a:cs typeface="Calibri" pitchFamily="34" charset="-120"/>
              </a:rPr>
              <a:t>around 55 times</a:t>
            </a: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 SentinelOne, Malware Statistics 2026</a:t>
            </a:r>
            <a:endParaRPr lang="en-US" sz="1200" dirty="0"/>
          </a:p>
        </p:txBody>
      </p:sp>
      <p:sp>
        <p:nvSpPr>
          <p:cNvPr id="26" name="Text 22"/>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02 · HOW MALWARE GETS IN</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Top malware delivery routes</a:t>
            </a:r>
            <a:endParaRPr lang="en-US" sz="3600" dirty="0"/>
          </a:p>
        </p:txBody>
      </p:sp>
      <p:pic>
        <p:nvPicPr>
          <p:cNvPr id="5" name="Image 1" descr="mail icon">    </p:cNvPr>
          <p:cNvPicPr>
            <a:picLocks noChangeAspect="1"/>
          </p:cNvPicPr>
          <p:nvPr/>
        </p:nvPicPr>
        <p:blipFill>
          <a:blip r:embed="rId2"/>
          <a:srcRect l="0" r="0" t="0" b="0"/>
          <a:stretch/>
        </p:blipFill>
        <p:spPr>
          <a:xfrm>
            <a:off x="812800" y="1635621"/>
            <a:ext cx="203200" cy="203200"/>
          </a:xfrm>
          <a:prstGeom prst="rect">
            <a:avLst/>
          </a:prstGeom>
        </p:spPr>
      </p:pic>
      <p:sp>
        <p:nvSpPr>
          <p:cNvPr id="6" name="Text 2"/>
          <p:cNvSpPr/>
          <p:nvPr/>
        </p:nvSpPr>
        <p:spPr>
          <a:xfrm>
            <a:off x="1117600" y="1612801"/>
            <a:ext cx="478733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Email attachments and links</a:t>
            </a:r>
            <a:endParaRPr lang="en-US" sz="1400" dirty="0"/>
          </a:p>
        </p:txBody>
      </p:sp>
      <p:sp>
        <p:nvSpPr>
          <p:cNvPr id="7" name="Text 3"/>
          <p:cNvSpPr/>
          <p:nvPr/>
        </p:nvSpPr>
        <p:spPr>
          <a:xfrm>
            <a:off x="5867102" y="1595041"/>
            <a:ext cx="4880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78D4"/>
                </a:solidFill>
                <a:latin typeface="Arial" pitchFamily="34" charset="0"/>
                <a:ea typeface="Arial" pitchFamily="34" charset="-122"/>
                <a:cs typeface="Arial" pitchFamily="34" charset="-120"/>
              </a:rPr>
              <a:t>41%</a:t>
            </a:r>
            <a:endParaRPr lang="en-US" sz="1600" dirty="0"/>
          </a:p>
        </p:txBody>
      </p:sp>
      <p:sp>
        <p:nvSpPr>
          <p:cNvPr id="8" name="Shape 4"/>
          <p:cNvSpPr/>
          <p:nvPr/>
        </p:nvSpPr>
        <p:spPr>
          <a:xfrm>
            <a:off x="812800" y="1930301"/>
            <a:ext cx="5461000" cy="152400"/>
          </a:xfrm>
          <a:prstGeom prst="roundRect">
            <a:avLst>
              <a:gd name="adj" fmla="val 50000"/>
            </a:avLst>
          </a:prstGeom>
          <a:solidFill>
            <a:srgbClr val="EAF3FC"/>
          </a:solidFill>
          <a:ln/>
        </p:spPr>
      </p:sp>
      <p:sp>
        <p:nvSpPr>
          <p:cNvPr id="9" name="Shape 5"/>
          <p:cNvSpPr/>
          <p:nvPr/>
        </p:nvSpPr>
        <p:spPr>
          <a:xfrm>
            <a:off x="812800" y="1930301"/>
            <a:ext cx="4978400" cy="152400"/>
          </a:xfrm>
          <a:prstGeom prst="roundRect">
            <a:avLst>
              <a:gd name="adj" fmla="val 50000"/>
            </a:avLst>
          </a:prstGeom>
          <a:solidFill>
            <a:srgbClr val="0078D4"/>
          </a:solidFill>
          <a:ln/>
        </p:spPr>
      </p:sp>
      <p:pic>
        <p:nvPicPr>
          <p:cNvPr id="10" name="Image 2" descr="globe icon">    </p:cNvPr>
          <p:cNvPicPr>
            <a:picLocks noChangeAspect="1"/>
          </p:cNvPicPr>
          <p:nvPr/>
        </p:nvPicPr>
        <p:blipFill>
          <a:blip r:embed="rId3"/>
          <a:srcRect l="0" r="0" t="0" b="0"/>
          <a:stretch/>
        </p:blipFill>
        <p:spPr>
          <a:xfrm>
            <a:off x="812800" y="2275681"/>
            <a:ext cx="203200" cy="203200"/>
          </a:xfrm>
          <a:prstGeom prst="rect">
            <a:avLst/>
          </a:prstGeom>
        </p:spPr>
      </p:pic>
      <p:sp>
        <p:nvSpPr>
          <p:cNvPr id="11" name="Text 6"/>
          <p:cNvSpPr/>
          <p:nvPr/>
        </p:nvSpPr>
        <p:spPr>
          <a:xfrm>
            <a:off x="1117600" y="2252861"/>
            <a:ext cx="478733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Compromised websites</a:t>
            </a:r>
            <a:endParaRPr lang="en-US" sz="1400" dirty="0"/>
          </a:p>
        </p:txBody>
      </p:sp>
      <p:sp>
        <p:nvSpPr>
          <p:cNvPr id="12" name="Text 7"/>
          <p:cNvSpPr/>
          <p:nvPr/>
        </p:nvSpPr>
        <p:spPr>
          <a:xfrm>
            <a:off x="5867102" y="2235101"/>
            <a:ext cx="4880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78D4"/>
                </a:solidFill>
                <a:latin typeface="Arial" pitchFamily="34" charset="0"/>
                <a:ea typeface="Arial" pitchFamily="34" charset="-122"/>
                <a:cs typeface="Arial" pitchFamily="34" charset="-120"/>
              </a:rPr>
              <a:t>23%</a:t>
            </a:r>
            <a:endParaRPr lang="en-US" sz="1600" dirty="0"/>
          </a:p>
        </p:txBody>
      </p:sp>
      <p:sp>
        <p:nvSpPr>
          <p:cNvPr id="13" name="Shape 8"/>
          <p:cNvSpPr/>
          <p:nvPr/>
        </p:nvSpPr>
        <p:spPr>
          <a:xfrm>
            <a:off x="812800" y="2570361"/>
            <a:ext cx="5461000" cy="152400"/>
          </a:xfrm>
          <a:prstGeom prst="roundRect">
            <a:avLst>
              <a:gd name="adj" fmla="val 50000"/>
            </a:avLst>
          </a:prstGeom>
          <a:solidFill>
            <a:srgbClr val="EAF3FC"/>
          </a:solidFill>
          <a:ln/>
        </p:spPr>
      </p:sp>
      <p:sp>
        <p:nvSpPr>
          <p:cNvPr id="14" name="Shape 9"/>
          <p:cNvSpPr/>
          <p:nvPr/>
        </p:nvSpPr>
        <p:spPr>
          <a:xfrm>
            <a:off x="812800" y="2570361"/>
            <a:ext cx="2794000" cy="152400"/>
          </a:xfrm>
          <a:prstGeom prst="roundRect">
            <a:avLst>
              <a:gd name="adj" fmla="val 50000"/>
            </a:avLst>
          </a:prstGeom>
          <a:solidFill>
            <a:srgbClr val="5DA9E9"/>
          </a:solidFill>
          <a:ln/>
        </p:spPr>
      </p:sp>
      <p:pic>
        <p:nvPicPr>
          <p:cNvPr id="15" name="Image 3" descr="bug icon">    </p:cNvPr>
          <p:cNvPicPr>
            <a:picLocks noChangeAspect="1"/>
          </p:cNvPicPr>
          <p:nvPr/>
        </p:nvPicPr>
        <p:blipFill>
          <a:blip r:embed="rId4"/>
          <a:srcRect l="0" r="0" t="0" b="0"/>
          <a:stretch/>
        </p:blipFill>
        <p:spPr>
          <a:xfrm>
            <a:off x="812800" y="2915741"/>
            <a:ext cx="203200" cy="203200"/>
          </a:xfrm>
          <a:prstGeom prst="rect">
            <a:avLst/>
          </a:prstGeom>
        </p:spPr>
      </p:pic>
      <p:sp>
        <p:nvSpPr>
          <p:cNvPr id="16" name="Text 10"/>
          <p:cNvSpPr/>
          <p:nvPr/>
        </p:nvSpPr>
        <p:spPr>
          <a:xfrm>
            <a:off x="1117600" y="2892921"/>
            <a:ext cx="478733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Software vulnerabilities</a:t>
            </a:r>
            <a:endParaRPr lang="en-US" sz="1400" dirty="0"/>
          </a:p>
        </p:txBody>
      </p:sp>
      <p:sp>
        <p:nvSpPr>
          <p:cNvPr id="17" name="Text 11"/>
          <p:cNvSpPr/>
          <p:nvPr/>
        </p:nvSpPr>
        <p:spPr>
          <a:xfrm>
            <a:off x="5867102" y="2875161"/>
            <a:ext cx="4880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78D4"/>
                </a:solidFill>
                <a:latin typeface="Arial" pitchFamily="34" charset="0"/>
                <a:ea typeface="Arial" pitchFamily="34" charset="-122"/>
                <a:cs typeface="Arial" pitchFamily="34" charset="-120"/>
              </a:rPr>
              <a:t>17%</a:t>
            </a:r>
            <a:endParaRPr lang="en-US" sz="1600" dirty="0"/>
          </a:p>
        </p:txBody>
      </p:sp>
      <p:sp>
        <p:nvSpPr>
          <p:cNvPr id="18" name="Shape 12"/>
          <p:cNvSpPr/>
          <p:nvPr/>
        </p:nvSpPr>
        <p:spPr>
          <a:xfrm>
            <a:off x="812800" y="3210421"/>
            <a:ext cx="5461000" cy="152400"/>
          </a:xfrm>
          <a:prstGeom prst="roundRect">
            <a:avLst>
              <a:gd name="adj" fmla="val 50000"/>
            </a:avLst>
          </a:prstGeom>
          <a:solidFill>
            <a:srgbClr val="EAF3FC"/>
          </a:solidFill>
          <a:ln/>
        </p:spPr>
      </p:sp>
      <p:sp>
        <p:nvSpPr>
          <p:cNvPr id="19" name="Shape 13"/>
          <p:cNvSpPr/>
          <p:nvPr/>
        </p:nvSpPr>
        <p:spPr>
          <a:xfrm>
            <a:off x="812800" y="3210421"/>
            <a:ext cx="2063750" cy="152400"/>
          </a:xfrm>
          <a:prstGeom prst="roundRect">
            <a:avLst>
              <a:gd name="adj" fmla="val 50000"/>
            </a:avLst>
          </a:prstGeom>
          <a:solidFill>
            <a:srgbClr val="5DA9E9"/>
          </a:solidFill>
          <a:ln/>
        </p:spPr>
      </p:sp>
      <p:pic>
        <p:nvPicPr>
          <p:cNvPr id="20" name="Image 4" descr="usb icon">    </p:cNvPr>
          <p:cNvPicPr>
            <a:picLocks noChangeAspect="1"/>
          </p:cNvPicPr>
          <p:nvPr/>
        </p:nvPicPr>
        <p:blipFill>
          <a:blip r:embed="rId5"/>
          <a:srcRect l="0" r="0" t="0" b="0"/>
          <a:stretch/>
        </p:blipFill>
        <p:spPr>
          <a:xfrm>
            <a:off x="812800" y="3555802"/>
            <a:ext cx="203200" cy="203200"/>
          </a:xfrm>
          <a:prstGeom prst="rect">
            <a:avLst/>
          </a:prstGeom>
        </p:spPr>
      </p:pic>
      <p:sp>
        <p:nvSpPr>
          <p:cNvPr id="21" name="Text 14"/>
          <p:cNvSpPr/>
          <p:nvPr/>
        </p:nvSpPr>
        <p:spPr>
          <a:xfrm>
            <a:off x="1117600" y="3532981"/>
            <a:ext cx="4903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Removable media</a:t>
            </a:r>
            <a:endParaRPr lang="en-US" sz="1400" dirty="0"/>
          </a:p>
        </p:txBody>
      </p:sp>
      <p:sp>
        <p:nvSpPr>
          <p:cNvPr id="22" name="Text 15"/>
          <p:cNvSpPr/>
          <p:nvPr/>
        </p:nvSpPr>
        <p:spPr>
          <a:xfrm>
            <a:off x="5980113" y="3515221"/>
            <a:ext cx="35242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78D4"/>
                </a:solidFill>
                <a:latin typeface="Arial" pitchFamily="34" charset="0"/>
                <a:ea typeface="Arial" pitchFamily="34" charset="-122"/>
                <a:cs typeface="Arial" pitchFamily="34" charset="-120"/>
              </a:rPr>
              <a:t>9%</a:t>
            </a:r>
            <a:endParaRPr lang="en-US" sz="1600" dirty="0"/>
          </a:p>
        </p:txBody>
      </p:sp>
      <p:sp>
        <p:nvSpPr>
          <p:cNvPr id="23" name="Shape 16"/>
          <p:cNvSpPr/>
          <p:nvPr/>
        </p:nvSpPr>
        <p:spPr>
          <a:xfrm>
            <a:off x="812800" y="3850481"/>
            <a:ext cx="5461000" cy="152400"/>
          </a:xfrm>
          <a:prstGeom prst="roundRect">
            <a:avLst>
              <a:gd name="adj" fmla="val 50000"/>
            </a:avLst>
          </a:prstGeom>
          <a:solidFill>
            <a:srgbClr val="EAF3FC"/>
          </a:solidFill>
          <a:ln/>
        </p:spPr>
      </p:sp>
      <p:sp>
        <p:nvSpPr>
          <p:cNvPr id="24" name="Shape 17"/>
          <p:cNvSpPr/>
          <p:nvPr/>
        </p:nvSpPr>
        <p:spPr>
          <a:xfrm>
            <a:off x="812800" y="3850481"/>
            <a:ext cx="1092200" cy="152400"/>
          </a:xfrm>
          <a:prstGeom prst="roundRect">
            <a:avLst>
              <a:gd name="adj" fmla="val 50000"/>
            </a:avLst>
          </a:prstGeom>
          <a:solidFill>
            <a:srgbClr val="5DA9E9"/>
          </a:solidFill>
          <a:ln/>
        </p:spPr>
      </p:sp>
      <p:pic>
        <p:nvPicPr>
          <p:cNvPr id="25" name="Image 5" descr="link icon">    </p:cNvPr>
          <p:cNvPicPr>
            <a:picLocks noChangeAspect="1"/>
          </p:cNvPicPr>
          <p:nvPr/>
        </p:nvPicPr>
        <p:blipFill>
          <a:blip r:embed="rId6"/>
          <a:srcRect l="0" r="0" t="0" b="0"/>
          <a:stretch/>
        </p:blipFill>
        <p:spPr>
          <a:xfrm>
            <a:off x="812800" y="4195862"/>
            <a:ext cx="203200" cy="203200"/>
          </a:xfrm>
          <a:prstGeom prst="rect">
            <a:avLst/>
          </a:prstGeom>
        </p:spPr>
      </p:pic>
      <p:sp>
        <p:nvSpPr>
          <p:cNvPr id="26" name="Text 18"/>
          <p:cNvSpPr/>
          <p:nvPr/>
        </p:nvSpPr>
        <p:spPr>
          <a:xfrm>
            <a:off x="1117600" y="4173041"/>
            <a:ext cx="4903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Supply chain</a:t>
            </a:r>
            <a:endParaRPr lang="en-US" sz="1400" dirty="0"/>
          </a:p>
        </p:txBody>
      </p:sp>
      <p:sp>
        <p:nvSpPr>
          <p:cNvPr id="27" name="Text 19"/>
          <p:cNvSpPr/>
          <p:nvPr/>
        </p:nvSpPr>
        <p:spPr>
          <a:xfrm>
            <a:off x="5980113" y="4155281"/>
            <a:ext cx="35242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078D4"/>
                </a:solidFill>
                <a:latin typeface="Arial" pitchFamily="34" charset="0"/>
                <a:ea typeface="Arial" pitchFamily="34" charset="-122"/>
                <a:cs typeface="Arial" pitchFamily="34" charset="-120"/>
              </a:rPr>
              <a:t>7%</a:t>
            </a:r>
            <a:endParaRPr lang="en-US" sz="1600" dirty="0"/>
          </a:p>
        </p:txBody>
      </p:sp>
      <p:sp>
        <p:nvSpPr>
          <p:cNvPr id="28" name="Shape 20"/>
          <p:cNvSpPr/>
          <p:nvPr/>
        </p:nvSpPr>
        <p:spPr>
          <a:xfrm>
            <a:off x="812800" y="4490541"/>
            <a:ext cx="5461000" cy="152400"/>
          </a:xfrm>
          <a:prstGeom prst="roundRect">
            <a:avLst>
              <a:gd name="adj" fmla="val 50000"/>
            </a:avLst>
          </a:prstGeom>
          <a:solidFill>
            <a:srgbClr val="EAF3FC"/>
          </a:solidFill>
          <a:ln/>
        </p:spPr>
      </p:sp>
      <p:sp>
        <p:nvSpPr>
          <p:cNvPr id="29" name="Shape 21"/>
          <p:cNvSpPr/>
          <p:nvPr/>
        </p:nvSpPr>
        <p:spPr>
          <a:xfrm>
            <a:off x="812800" y="4490541"/>
            <a:ext cx="850900" cy="152400"/>
          </a:xfrm>
          <a:prstGeom prst="roundRect">
            <a:avLst>
              <a:gd name="adj" fmla="val 50000"/>
            </a:avLst>
          </a:prstGeom>
          <a:solidFill>
            <a:srgbClr val="5DA9E9"/>
          </a:solidFill>
          <a:ln/>
        </p:spPr>
      </p:sp>
      <p:sp>
        <p:nvSpPr>
          <p:cNvPr id="30" name="Shape 22"/>
          <p:cNvSpPr/>
          <p:nvPr/>
        </p:nvSpPr>
        <p:spPr>
          <a:xfrm>
            <a:off x="6731000" y="1595041"/>
            <a:ext cx="4648200" cy="758130"/>
          </a:xfrm>
          <a:prstGeom prst="roundRect">
            <a:avLst>
              <a:gd name="adj" fmla="val 13401"/>
            </a:avLst>
          </a:prstGeom>
          <a:solidFill>
            <a:srgbClr val="FFFFFF"/>
          </a:solidFill>
          <a:ln/>
          <a:effectLst>
            <a:outerShdw sx="100000" sy="100000" kx="0" ky="0" algn="bl" rotWithShape="0" blurRad="101600" dist="25400" dir="5400000">
              <a:srgbClr val="C9D6E3">
                <a:alpha val="100000"/>
              </a:srgbClr>
            </a:outerShdw>
          </a:effectLst>
        </p:spPr>
      </p:sp>
      <p:sp>
        <p:nvSpPr>
          <p:cNvPr id="31" name="Text 23"/>
          <p:cNvSpPr/>
          <p:nvPr/>
        </p:nvSpPr>
        <p:spPr>
          <a:xfrm>
            <a:off x="6908800" y="1796256"/>
            <a:ext cx="1130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7630C"/>
                </a:solidFill>
                <a:latin typeface="Arial" pitchFamily="34" charset="0"/>
                <a:ea typeface="Arial" pitchFamily="34" charset="-122"/>
                <a:cs typeface="Arial" pitchFamily="34" charset="-120"/>
              </a:rPr>
              <a:t>+563%</a:t>
            </a:r>
            <a:endParaRPr lang="en-US" sz="2000" dirty="0"/>
          </a:p>
        </p:txBody>
      </p:sp>
      <p:sp>
        <p:nvSpPr>
          <p:cNvPr id="32" name="Text 24"/>
          <p:cNvSpPr/>
          <p:nvPr/>
        </p:nvSpPr>
        <p:spPr>
          <a:xfrm>
            <a:off x="8140700" y="1747441"/>
            <a:ext cx="315252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1F33"/>
                </a:solidFill>
                <a:latin typeface="Calibri" pitchFamily="34" charset="0"/>
                <a:ea typeface="Calibri" pitchFamily="34" charset="-122"/>
                <a:cs typeface="Calibri" pitchFamily="34" charset="-120"/>
              </a:rPr>
              <a:t>fake CAPTCHA lure incidents</a:t>
            </a:r>
            <a:endParaRPr lang="en-US" sz="1300" dirty="0"/>
          </a:p>
        </p:txBody>
      </p:sp>
      <p:sp>
        <p:nvSpPr>
          <p:cNvPr id="33" name="Text 25"/>
          <p:cNvSpPr/>
          <p:nvPr/>
        </p:nvSpPr>
        <p:spPr>
          <a:xfrm>
            <a:off x="8140700" y="1987451"/>
            <a:ext cx="3152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SentinelOne</a:t>
            </a:r>
            <a:endParaRPr lang="en-US" sz="1200" dirty="0"/>
          </a:p>
        </p:txBody>
      </p:sp>
      <p:sp>
        <p:nvSpPr>
          <p:cNvPr id="34" name="Shape 26"/>
          <p:cNvSpPr/>
          <p:nvPr/>
        </p:nvSpPr>
        <p:spPr>
          <a:xfrm>
            <a:off x="6731000" y="2480171"/>
            <a:ext cx="4648200" cy="758130"/>
          </a:xfrm>
          <a:prstGeom prst="roundRect">
            <a:avLst>
              <a:gd name="adj" fmla="val 13401"/>
            </a:avLst>
          </a:prstGeom>
          <a:solidFill>
            <a:srgbClr val="FFFFFF"/>
          </a:solidFill>
          <a:ln/>
          <a:effectLst>
            <a:outerShdw sx="100000" sy="100000" kx="0" ky="0" algn="bl" rotWithShape="0" blurRad="101600" dist="25400" dir="5400000">
              <a:srgbClr val="C9D6E3">
                <a:alpha val="100000"/>
              </a:srgbClr>
            </a:outerShdw>
          </a:effectLst>
        </p:spPr>
      </p:sp>
      <p:sp>
        <p:nvSpPr>
          <p:cNvPr id="35" name="Text 27"/>
          <p:cNvSpPr/>
          <p:nvPr/>
        </p:nvSpPr>
        <p:spPr>
          <a:xfrm>
            <a:off x="6908800" y="2681387"/>
            <a:ext cx="1130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7630C"/>
                </a:solidFill>
                <a:latin typeface="Arial" pitchFamily="34" charset="0"/>
                <a:ea typeface="Arial" pitchFamily="34" charset="-122"/>
                <a:cs typeface="Arial" pitchFamily="34" charset="-120"/>
              </a:rPr>
              <a:t>+131%</a:t>
            </a:r>
            <a:endParaRPr lang="en-US" sz="2000" dirty="0"/>
          </a:p>
        </p:txBody>
      </p:sp>
      <p:sp>
        <p:nvSpPr>
          <p:cNvPr id="36" name="Text 28"/>
          <p:cNvSpPr/>
          <p:nvPr/>
        </p:nvSpPr>
        <p:spPr>
          <a:xfrm>
            <a:off x="8140700" y="2632571"/>
            <a:ext cx="3152521"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1F33"/>
                </a:solidFill>
                <a:latin typeface="Calibri" pitchFamily="34" charset="0"/>
                <a:ea typeface="Calibri" pitchFamily="34" charset="-122"/>
                <a:cs typeface="Calibri" pitchFamily="34" charset="-120"/>
              </a:rPr>
              <a:t>malware-laden emails</a:t>
            </a:r>
            <a:endParaRPr lang="en-US" sz="1300" dirty="0"/>
          </a:p>
        </p:txBody>
      </p:sp>
      <p:sp>
        <p:nvSpPr>
          <p:cNvPr id="37" name="Text 29"/>
          <p:cNvSpPr/>
          <p:nvPr/>
        </p:nvSpPr>
        <p:spPr>
          <a:xfrm>
            <a:off x="8140700" y="2872581"/>
            <a:ext cx="3152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Hornetsecurity</a:t>
            </a:r>
            <a:endParaRPr lang="en-US" sz="1200" dirty="0"/>
          </a:p>
        </p:txBody>
      </p:sp>
      <p:sp>
        <p:nvSpPr>
          <p:cNvPr id="38" name="Shape 30"/>
          <p:cNvSpPr/>
          <p:nvPr/>
        </p:nvSpPr>
        <p:spPr>
          <a:xfrm>
            <a:off x="6731000" y="3365302"/>
            <a:ext cx="4648200" cy="972741"/>
          </a:xfrm>
          <a:prstGeom prst="roundRect">
            <a:avLst>
              <a:gd name="adj" fmla="val 10445"/>
            </a:avLst>
          </a:prstGeom>
          <a:solidFill>
            <a:srgbClr val="FFFFFF"/>
          </a:solidFill>
          <a:ln/>
          <a:effectLst>
            <a:outerShdw sx="100000" sy="100000" kx="0" ky="0" algn="bl" rotWithShape="0" blurRad="101600" dist="25400" dir="5400000">
              <a:srgbClr val="C9D6E3">
                <a:alpha val="100000"/>
              </a:srgbClr>
            </a:outerShdw>
          </a:effectLst>
        </p:spPr>
      </p:sp>
      <p:sp>
        <p:nvSpPr>
          <p:cNvPr id="39" name="Text 31"/>
          <p:cNvSpPr/>
          <p:nvPr/>
        </p:nvSpPr>
        <p:spPr>
          <a:xfrm>
            <a:off x="6908800" y="3673872"/>
            <a:ext cx="11303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7630C"/>
                </a:solidFill>
                <a:latin typeface="Arial" pitchFamily="34" charset="0"/>
                <a:ea typeface="Arial" pitchFamily="34" charset="-122"/>
                <a:cs typeface="Arial" pitchFamily="34" charset="-120"/>
              </a:rPr>
              <a:t>31%</a:t>
            </a:r>
            <a:endParaRPr lang="en-US" sz="2000" dirty="0"/>
          </a:p>
        </p:txBody>
      </p:sp>
      <p:sp>
        <p:nvSpPr>
          <p:cNvPr id="40" name="Text 32"/>
          <p:cNvSpPr/>
          <p:nvPr/>
        </p:nvSpPr>
        <p:spPr>
          <a:xfrm>
            <a:off x="8140700" y="3517702"/>
            <a:ext cx="3152521"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0B1F33"/>
                </a:solidFill>
                <a:latin typeface="Calibri" pitchFamily="34" charset="0"/>
                <a:ea typeface="Calibri" pitchFamily="34" charset="-122"/>
                <a:cs typeface="Calibri" pitchFamily="34" charset="-120"/>
              </a:rPr>
              <a:t>of breaches start by exploiting a vulnerability, now the top entry route</a:t>
            </a:r>
            <a:endParaRPr lang="en-US" sz="1300" dirty="0"/>
          </a:p>
        </p:txBody>
      </p:sp>
      <p:sp>
        <p:nvSpPr>
          <p:cNvPr id="41" name="Text 33"/>
          <p:cNvSpPr/>
          <p:nvPr/>
        </p:nvSpPr>
        <p:spPr>
          <a:xfrm>
            <a:off x="8140700" y="3972322"/>
            <a:ext cx="31525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Verizon DBIR</a:t>
            </a:r>
            <a:endParaRPr lang="en-US" sz="1200" dirty="0"/>
          </a:p>
        </p:txBody>
      </p:sp>
      <p:sp>
        <p:nvSpPr>
          <p:cNvPr id="42" name="Text 3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SentinelOne 2026 · Hornetsecurity 2026 · Verizon DBIR 2026</a:t>
            </a:r>
            <a:endParaRPr lang="en-US" sz="1200" dirty="0"/>
          </a:p>
        </p:txBody>
      </p:sp>
      <p:sp>
        <p:nvSpPr>
          <p:cNvPr id="43" name="Text 35"/>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03 · MALWARE TYPES ON THE RISE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Infostealers lead the pack</a:t>
            </a:r>
            <a:endParaRPr lang="en-US" sz="3600" dirty="0"/>
          </a:p>
        </p:txBody>
      </p:sp>
      <p:sp>
        <p:nvSpPr>
          <p:cNvPr id="5" name="Shape 2"/>
          <p:cNvSpPr/>
          <p:nvPr/>
        </p:nvSpPr>
        <p:spPr>
          <a:xfrm>
            <a:off x="812800" y="1595041"/>
            <a:ext cx="3937000" cy="3314502"/>
          </a:xfrm>
          <a:prstGeom prst="roundRect">
            <a:avLst>
              <a:gd name="adj" fmla="val 3065"/>
            </a:avLst>
          </a:prstGeom>
          <a:solidFill>
            <a:srgbClr val="0A1628"/>
          </a:solidFill>
          <a:ln/>
        </p:spPr>
      </p:sp>
      <p:sp>
        <p:nvSpPr>
          <p:cNvPr id="6" name="Shape 3"/>
          <p:cNvSpPr/>
          <p:nvPr/>
        </p:nvSpPr>
        <p:spPr>
          <a:xfrm>
            <a:off x="1092200" y="1899841"/>
            <a:ext cx="609600" cy="609600"/>
          </a:xfrm>
          <a:prstGeom prst="roundRect">
            <a:avLst>
              <a:gd name="adj" fmla="val 50000"/>
            </a:avLst>
          </a:prstGeom>
          <a:solidFill>
            <a:srgbClr val="F7630C"/>
          </a:solidFill>
          <a:ln/>
        </p:spPr>
      </p:sp>
      <p:pic>
        <p:nvPicPr>
          <p:cNvPr id="7" name="Image 1" descr="key icon">    </p:cNvPr>
          <p:cNvPicPr>
            <a:picLocks noChangeAspect="1"/>
          </p:cNvPicPr>
          <p:nvPr/>
        </p:nvPicPr>
        <p:blipFill>
          <a:blip r:embed="rId2"/>
          <a:srcRect l="0" r="0" t="0" b="0"/>
          <a:stretch/>
        </p:blipFill>
        <p:spPr>
          <a:xfrm>
            <a:off x="1244600" y="2052241"/>
            <a:ext cx="304800" cy="304800"/>
          </a:xfrm>
          <a:prstGeom prst="rect">
            <a:avLst/>
          </a:prstGeom>
        </p:spPr>
      </p:pic>
      <p:sp>
        <p:nvSpPr>
          <p:cNvPr id="8" name="Text 4"/>
          <p:cNvSpPr/>
          <p:nvPr/>
        </p:nvSpPr>
        <p:spPr>
          <a:xfrm>
            <a:off x="1092200" y="2661841"/>
            <a:ext cx="347954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FFFF"/>
                </a:solidFill>
                <a:latin typeface="Arial" pitchFamily="34" charset="0"/>
                <a:ea typeface="Arial" pitchFamily="34" charset="-122"/>
                <a:cs typeface="Arial" pitchFamily="34" charset="-120"/>
              </a:rPr>
              <a:t>155,000+</a:t>
            </a:r>
            <a:endParaRPr lang="en-US" sz="4800" dirty="0"/>
          </a:p>
        </p:txBody>
      </p:sp>
      <p:sp>
        <p:nvSpPr>
          <p:cNvPr id="9" name="Text 5"/>
          <p:cNvSpPr/>
          <p:nvPr/>
        </p:nvSpPr>
        <p:spPr>
          <a:xfrm>
            <a:off x="1092200" y="3423841"/>
            <a:ext cx="3479546"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CADCFC"/>
                </a:solidFill>
                <a:latin typeface="Calibri" pitchFamily="34" charset="0"/>
                <a:ea typeface="Calibri" pitchFamily="34" charset="-122"/>
                <a:cs typeface="Calibri" pitchFamily="34" charset="-120"/>
              </a:rPr>
              <a:t>infostealer detections in early 2026, the most active malware type</a:t>
            </a:r>
            <a:endParaRPr lang="en-US" sz="1600" dirty="0"/>
          </a:p>
        </p:txBody>
      </p:sp>
      <p:sp>
        <p:nvSpPr>
          <p:cNvPr id="10" name="Text 6"/>
          <p:cNvSpPr/>
          <p:nvPr/>
        </p:nvSpPr>
        <p:spPr>
          <a:xfrm>
            <a:off x="1092200" y="4124722"/>
            <a:ext cx="347954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F9A5C"/>
                </a:solidFill>
                <a:latin typeface="Calibri" pitchFamily="34" charset="0"/>
                <a:ea typeface="Calibri" pitchFamily="34" charset="-122"/>
                <a:cs typeface="Calibri" pitchFamily="34" charset="-120"/>
              </a:rPr>
              <a:t>Most detected: Agent Tesla, Formbook and Lumma</a:t>
            </a:r>
            <a:endParaRPr lang="en-US" sz="1400" dirty="0"/>
          </a:p>
        </p:txBody>
      </p:sp>
      <p:sp>
        <p:nvSpPr>
          <p:cNvPr id="11" name="Shape 7"/>
          <p:cNvSpPr/>
          <p:nvPr/>
        </p:nvSpPr>
        <p:spPr>
          <a:xfrm>
            <a:off x="4953000" y="1595041"/>
            <a:ext cx="3136900" cy="1581051"/>
          </a:xfrm>
          <a:prstGeom prst="roundRect">
            <a:avLst>
              <a:gd name="adj" fmla="val 6426"/>
            </a:avLst>
          </a:prstGeom>
          <a:solidFill>
            <a:srgbClr val="FFFFFF"/>
          </a:solidFill>
          <a:ln/>
          <a:effectLst>
            <a:outerShdw sx="100000" sy="100000" kx="0" ky="0" algn="bl" rotWithShape="0" blurRad="101600" dist="25400" dir="5400000">
              <a:srgbClr val="C9D6E3">
                <a:alpha val="100000"/>
              </a:srgbClr>
            </a:outerShdw>
          </a:effectLst>
        </p:spPr>
      </p:sp>
      <p:sp>
        <p:nvSpPr>
          <p:cNvPr id="12" name="Text 8"/>
          <p:cNvSpPr/>
          <p:nvPr/>
        </p:nvSpPr>
        <p:spPr>
          <a:xfrm>
            <a:off x="5156200" y="1798241"/>
            <a:ext cx="281241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078D4"/>
                </a:solidFill>
                <a:latin typeface="Arial" pitchFamily="34" charset="0"/>
                <a:ea typeface="Arial" pitchFamily="34" charset="-122"/>
                <a:cs typeface="Arial" pitchFamily="34" charset="-120"/>
              </a:rPr>
              <a:t>72,000+</a:t>
            </a:r>
            <a:endParaRPr lang="en-US" sz="2800" dirty="0"/>
          </a:p>
        </p:txBody>
      </p:sp>
      <p:sp>
        <p:nvSpPr>
          <p:cNvPr id="13" name="Text 9"/>
          <p:cNvSpPr/>
          <p:nvPr/>
        </p:nvSpPr>
        <p:spPr>
          <a:xfrm>
            <a:off x="5156200" y="2265561"/>
            <a:ext cx="281241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Remote Access Trojan detections, #2 worldwide</a:t>
            </a:r>
            <a:endParaRPr lang="en-US" sz="1400" dirty="0"/>
          </a:p>
        </p:txBody>
      </p:sp>
      <p:sp>
        <p:nvSpPr>
          <p:cNvPr id="14" name="Shape 10"/>
          <p:cNvSpPr/>
          <p:nvPr/>
        </p:nvSpPr>
        <p:spPr>
          <a:xfrm>
            <a:off x="8242300" y="1595041"/>
            <a:ext cx="3136900" cy="1581051"/>
          </a:xfrm>
          <a:prstGeom prst="roundRect">
            <a:avLst>
              <a:gd name="adj" fmla="val 6426"/>
            </a:avLst>
          </a:prstGeom>
          <a:solidFill>
            <a:srgbClr val="FFFFFF"/>
          </a:solidFill>
          <a:ln/>
          <a:effectLst>
            <a:outerShdw sx="100000" sy="100000" kx="0" ky="0" algn="bl" rotWithShape="0" blurRad="101600" dist="25400" dir="5400000">
              <a:srgbClr val="C9D6E3">
                <a:alpha val="100000"/>
              </a:srgbClr>
            </a:outerShdw>
          </a:effectLst>
        </p:spPr>
      </p:sp>
      <p:sp>
        <p:nvSpPr>
          <p:cNvPr id="15" name="Text 11"/>
          <p:cNvSpPr/>
          <p:nvPr/>
        </p:nvSpPr>
        <p:spPr>
          <a:xfrm>
            <a:off x="8445500" y="1798241"/>
            <a:ext cx="281241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078D4"/>
                </a:solidFill>
                <a:latin typeface="Arial" pitchFamily="34" charset="0"/>
                <a:ea typeface="Arial" pitchFamily="34" charset="-122"/>
                <a:cs typeface="Arial" pitchFamily="34" charset="-120"/>
              </a:rPr>
              <a:t>+220%</a:t>
            </a:r>
            <a:endParaRPr lang="en-US" sz="2800" dirty="0"/>
          </a:p>
        </p:txBody>
      </p:sp>
      <p:sp>
        <p:nvSpPr>
          <p:cNvPr id="16" name="Text 12"/>
          <p:cNvSpPr/>
          <p:nvPr/>
        </p:nvSpPr>
        <p:spPr>
          <a:xfrm>
            <a:off x="8445500" y="2265561"/>
            <a:ext cx="281241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growth in targeted credential-stealer infections</a:t>
            </a:r>
            <a:endParaRPr lang="en-US" sz="1400" dirty="0"/>
          </a:p>
        </p:txBody>
      </p:sp>
      <p:sp>
        <p:nvSpPr>
          <p:cNvPr id="17" name="Shape 13"/>
          <p:cNvSpPr/>
          <p:nvPr/>
        </p:nvSpPr>
        <p:spPr>
          <a:xfrm>
            <a:off x="4953000" y="3328491"/>
            <a:ext cx="3136900" cy="1581051"/>
          </a:xfrm>
          <a:prstGeom prst="roundRect">
            <a:avLst>
              <a:gd name="adj" fmla="val 6426"/>
            </a:avLst>
          </a:prstGeom>
          <a:solidFill>
            <a:srgbClr val="FFFFFF"/>
          </a:solidFill>
          <a:ln/>
          <a:effectLst>
            <a:outerShdw sx="100000" sy="100000" kx="0" ky="0" algn="bl" rotWithShape="0" blurRad="101600" dist="25400" dir="5400000">
              <a:srgbClr val="C9D6E3">
                <a:alpha val="100000"/>
              </a:srgbClr>
            </a:outerShdw>
          </a:effectLst>
        </p:spPr>
      </p:sp>
      <p:sp>
        <p:nvSpPr>
          <p:cNvPr id="18" name="Text 14"/>
          <p:cNvSpPr/>
          <p:nvPr/>
        </p:nvSpPr>
        <p:spPr>
          <a:xfrm>
            <a:off x="5156200" y="3531691"/>
            <a:ext cx="281241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078D4"/>
                </a:solidFill>
                <a:latin typeface="Arial" pitchFamily="34" charset="0"/>
                <a:ea typeface="Arial" pitchFamily="34" charset="-122"/>
                <a:cs typeface="Arial" pitchFamily="34" charset="-120"/>
              </a:rPr>
              <a:t>+124%</a:t>
            </a:r>
            <a:endParaRPr lang="en-US" sz="2800" dirty="0"/>
          </a:p>
        </p:txBody>
      </p:sp>
      <p:sp>
        <p:nvSpPr>
          <p:cNvPr id="19" name="Text 15"/>
          <p:cNvSpPr/>
          <p:nvPr/>
        </p:nvSpPr>
        <p:spPr>
          <a:xfrm>
            <a:off x="5156200" y="3999012"/>
            <a:ext cx="281241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rise in IoT malware attacks</a:t>
            </a:r>
            <a:endParaRPr lang="en-US" sz="1400" dirty="0"/>
          </a:p>
        </p:txBody>
      </p:sp>
      <p:sp>
        <p:nvSpPr>
          <p:cNvPr id="20" name="Shape 16"/>
          <p:cNvSpPr/>
          <p:nvPr/>
        </p:nvSpPr>
        <p:spPr>
          <a:xfrm>
            <a:off x="8242300" y="3328491"/>
            <a:ext cx="3136900" cy="1581051"/>
          </a:xfrm>
          <a:prstGeom prst="roundRect">
            <a:avLst>
              <a:gd name="adj" fmla="val 6426"/>
            </a:avLst>
          </a:prstGeom>
          <a:solidFill>
            <a:srgbClr val="FFFFFF"/>
          </a:solidFill>
          <a:ln/>
          <a:effectLst>
            <a:outerShdw sx="100000" sy="100000" kx="0" ky="0" algn="bl" rotWithShape="0" blurRad="101600" dist="25400" dir="5400000">
              <a:srgbClr val="C9D6E3">
                <a:alpha val="100000"/>
              </a:srgbClr>
            </a:outerShdw>
          </a:effectLst>
        </p:spPr>
      </p:sp>
      <p:sp>
        <p:nvSpPr>
          <p:cNvPr id="21" name="Text 17"/>
          <p:cNvSpPr/>
          <p:nvPr/>
        </p:nvSpPr>
        <p:spPr>
          <a:xfrm>
            <a:off x="8445500" y="3531691"/>
            <a:ext cx="2812415"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078D4"/>
                </a:solidFill>
                <a:latin typeface="Arial" pitchFamily="34" charset="0"/>
                <a:ea typeface="Arial" pitchFamily="34" charset="-122"/>
                <a:cs typeface="Arial" pitchFamily="34" charset="-120"/>
              </a:rPr>
              <a:t>37%</a:t>
            </a:r>
            <a:endParaRPr lang="en-US" sz="2800" dirty="0"/>
          </a:p>
        </p:txBody>
      </p:sp>
      <p:sp>
        <p:nvSpPr>
          <p:cNvPr id="22" name="Text 18"/>
          <p:cNvSpPr/>
          <p:nvPr/>
        </p:nvSpPr>
        <p:spPr>
          <a:xfrm>
            <a:off x="8445500" y="3999012"/>
            <a:ext cx="281241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of new malware uses AI-enhanced evasion</a:t>
            </a:r>
            <a:endParaRPr lang="en-US" sz="1400" dirty="0"/>
          </a:p>
        </p:txBody>
      </p:sp>
      <p:sp>
        <p:nvSpPr>
          <p:cNvPr id="23"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 SentinelOne, Malware Statistics 2026</a:t>
            </a:r>
            <a:endParaRPr lang="en-US" sz="1200" dirty="0"/>
          </a:p>
        </p:txBody>
      </p:sp>
      <p:sp>
        <p:nvSpPr>
          <p:cNvPr id="24" name="Text 20"/>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04 · RANSOMWARE</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Ransomware in nearly half of breaches</a:t>
            </a:r>
            <a:endParaRPr lang="en-US" sz="3600" dirty="0"/>
          </a:p>
        </p:txBody>
      </p:sp>
      <p:sp>
        <p:nvSpPr>
          <p:cNvPr id="5" name="Shape 2"/>
          <p:cNvSpPr/>
          <p:nvPr/>
        </p:nvSpPr>
        <p:spPr>
          <a:xfrm>
            <a:off x="812800" y="1595041"/>
            <a:ext cx="4445000" cy="3656211"/>
          </a:xfrm>
          <a:prstGeom prst="roundRect">
            <a:avLst>
              <a:gd name="adj" fmla="val 2779"/>
            </a:avLst>
          </a:prstGeom>
          <a:solidFill>
            <a:srgbClr val="FFFFFF"/>
          </a:solidFill>
          <a:ln/>
          <a:effectLst>
            <a:outerShdw sx="100000" sy="100000" kx="0" ky="0" algn="bl" rotWithShape="0" blurRad="101600" dist="25400" dir="5400000">
              <a:srgbClr val="C9D6E3">
                <a:alpha val="100000"/>
              </a:srgbClr>
            </a:outerShdw>
          </a:effectLst>
        </p:spPr>
      </p:sp>
      <p:sp>
        <p:nvSpPr>
          <p:cNvPr id="6" name="Text 3"/>
          <p:cNvSpPr/>
          <p:nvPr/>
        </p:nvSpPr>
        <p:spPr>
          <a:xfrm>
            <a:off x="1066800" y="1798241"/>
            <a:ext cx="405511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RANSOMWARE SHARE OF BREACHES</a:t>
            </a:r>
            <a:endParaRPr lang="en-US" sz="1200" dirty="0"/>
          </a:p>
        </p:txBody>
      </p:sp>
      <p:sp>
        <p:nvSpPr>
          <p:cNvPr id="7" name="Shape 4"/>
          <p:cNvSpPr/>
          <p:nvPr/>
        </p:nvSpPr>
        <p:spPr>
          <a:xfrm>
            <a:off x="1066800" y="5038527"/>
            <a:ext cx="3937000" cy="0"/>
          </a:xfrm>
          <a:prstGeom prst="line">
            <a:avLst/>
          </a:prstGeom>
          <a:noFill/>
          <a:ln w="19050">
            <a:solidFill>
              <a:srgbClr val="D6E2EE"/>
            </a:solidFill>
            <a:prstDash val="solid"/>
          </a:ln>
        </p:spPr>
      </p:sp>
      <p:sp>
        <p:nvSpPr>
          <p:cNvPr id="8" name="Text 5"/>
          <p:cNvSpPr/>
          <p:nvPr/>
        </p:nvSpPr>
        <p:spPr>
          <a:xfrm>
            <a:off x="1434862" y="3821311"/>
            <a:ext cx="610076"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0078D4"/>
                </a:solidFill>
                <a:latin typeface="Arial" pitchFamily="34" charset="0"/>
                <a:ea typeface="Arial" pitchFamily="34" charset="-122"/>
                <a:cs typeface="Arial" pitchFamily="34" charset="-120"/>
              </a:rPr>
              <a:t>10%</a:t>
            </a:r>
            <a:endParaRPr lang="en-US" sz="2000" dirty="0"/>
          </a:p>
        </p:txBody>
      </p:sp>
      <p:sp>
        <p:nvSpPr>
          <p:cNvPr id="9" name="Shape 6"/>
          <p:cNvSpPr/>
          <p:nvPr/>
        </p:nvSpPr>
        <p:spPr>
          <a:xfrm>
            <a:off x="1358900" y="4253111"/>
            <a:ext cx="762000" cy="450850"/>
          </a:xfrm>
          <a:custGeom>
            <a:avLst/>
            <a:gdLst/>
            <a:ahLst/>
            <a:cxnLst/>
            <a:rect l="l" t="t" r="r" b="b"/>
            <a:pathLst>
              <a:path w="762000" h="450850">
                <a:moveTo>
                  <a:pt x="76200" y="0"/>
                </a:moveTo>
                <a:lnTo>
                  <a:pt x="685800" y="0"/>
                </a:lnTo>
                <a:arcTo hR="76200" wR="76200" stAng="16200000" swAng="5400000"/>
                <a:lnTo>
                  <a:pt x="762000" y="450850"/>
                </a:lnTo>
                <a:lnTo>
                  <a:pt x="0" y="450850"/>
                </a:lnTo>
                <a:lnTo>
                  <a:pt x="0" y="76200"/>
                </a:lnTo>
                <a:arcTo hR="76200" wR="76200" stAng="10800000" swAng="5400000"/>
                <a:close/>
              </a:path>
            </a:pathLst>
          </a:custGeom>
          <a:solidFill>
            <a:srgbClr val="0078D4"/>
          </a:solidFill>
          <a:ln/>
        </p:spPr>
      </p:sp>
      <p:sp>
        <p:nvSpPr>
          <p:cNvPr id="10" name="Text 7"/>
          <p:cNvSpPr/>
          <p:nvPr/>
        </p:nvSpPr>
        <p:spPr>
          <a:xfrm>
            <a:off x="1212106" y="4780161"/>
            <a:ext cx="1055489"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1F33"/>
                </a:solidFill>
                <a:latin typeface="Calibri" pitchFamily="34" charset="0"/>
                <a:ea typeface="Calibri" pitchFamily="34" charset="-122"/>
                <a:cs typeface="Calibri" pitchFamily="34" charset="-120"/>
              </a:rPr>
              <a:t>DBIR 2021</a:t>
            </a:r>
            <a:endParaRPr lang="en-US" sz="1400" dirty="0"/>
          </a:p>
        </p:txBody>
      </p:sp>
      <p:sp>
        <p:nvSpPr>
          <p:cNvPr id="11" name="Text 8"/>
          <p:cNvSpPr/>
          <p:nvPr/>
        </p:nvSpPr>
        <p:spPr>
          <a:xfrm>
            <a:off x="2730262" y="2290961"/>
            <a:ext cx="610076"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0078D4"/>
                </a:solidFill>
                <a:latin typeface="Arial" pitchFamily="34" charset="0"/>
                <a:ea typeface="Arial" pitchFamily="34" charset="-122"/>
                <a:cs typeface="Arial" pitchFamily="34" charset="-120"/>
              </a:rPr>
              <a:t>44%</a:t>
            </a:r>
            <a:endParaRPr lang="en-US" sz="2000" dirty="0"/>
          </a:p>
        </p:txBody>
      </p:sp>
      <p:sp>
        <p:nvSpPr>
          <p:cNvPr id="12" name="Shape 9"/>
          <p:cNvSpPr/>
          <p:nvPr/>
        </p:nvSpPr>
        <p:spPr>
          <a:xfrm>
            <a:off x="2654300" y="2722761"/>
            <a:ext cx="762000" cy="1981200"/>
          </a:xfrm>
          <a:custGeom>
            <a:avLst/>
            <a:gdLst/>
            <a:ahLst/>
            <a:cxnLst/>
            <a:rect l="l" t="t" r="r" b="b"/>
            <a:pathLst>
              <a:path w="762000" h="1981200">
                <a:moveTo>
                  <a:pt x="76200" y="0"/>
                </a:moveTo>
                <a:lnTo>
                  <a:pt x="685800" y="0"/>
                </a:lnTo>
                <a:arcTo hR="76200" wR="76200" stAng="16200000" swAng="5400000"/>
                <a:lnTo>
                  <a:pt x="762000" y="1981200"/>
                </a:lnTo>
                <a:lnTo>
                  <a:pt x="0" y="1981200"/>
                </a:lnTo>
                <a:lnTo>
                  <a:pt x="0" y="76200"/>
                </a:lnTo>
                <a:arcTo hR="76200" wR="76200" stAng="10800000" swAng="5400000"/>
                <a:close/>
              </a:path>
            </a:pathLst>
          </a:custGeom>
          <a:solidFill>
            <a:srgbClr val="0078D4"/>
          </a:solidFill>
          <a:ln/>
        </p:spPr>
      </p:sp>
      <p:sp>
        <p:nvSpPr>
          <p:cNvPr id="13" name="Text 10"/>
          <p:cNvSpPr/>
          <p:nvPr/>
        </p:nvSpPr>
        <p:spPr>
          <a:xfrm>
            <a:off x="2507506" y="4780161"/>
            <a:ext cx="1055489"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1F33"/>
                </a:solidFill>
                <a:latin typeface="Calibri" pitchFamily="34" charset="0"/>
                <a:ea typeface="Calibri" pitchFamily="34" charset="-122"/>
                <a:cs typeface="Calibri" pitchFamily="34" charset="-120"/>
              </a:rPr>
              <a:t>DBIR 2025</a:t>
            </a:r>
            <a:endParaRPr lang="en-US" sz="1400" dirty="0"/>
          </a:p>
        </p:txBody>
      </p:sp>
      <p:sp>
        <p:nvSpPr>
          <p:cNvPr id="14" name="Text 11"/>
          <p:cNvSpPr/>
          <p:nvPr/>
        </p:nvSpPr>
        <p:spPr>
          <a:xfrm>
            <a:off x="4025662" y="2113161"/>
            <a:ext cx="610076" cy="381000"/>
          </a:xfrm>
          <a:prstGeom prst="rect">
            <a:avLst/>
          </a:prstGeom>
          <a:noFill/>
          <a:ln/>
        </p:spPr>
        <p:txBody>
          <a:bodyPr wrap="square" lIns="0" tIns="0" rIns="0" bIns="0" rtlCol="0" anchor="t">
            <a:normAutofit/>
          </a:bodyPr>
          <a:lstStyle/>
          <a:p>
            <a:pPr algn="ctr" indent="0" marL="0">
              <a:lnSpc>
                <a:spcPts val="2800"/>
              </a:lnSpc>
              <a:buNone/>
            </a:pPr>
            <a:r>
              <a:rPr lang="en-US" sz="2000" b="1" dirty="0">
                <a:solidFill>
                  <a:srgbClr val="F7630C"/>
                </a:solidFill>
                <a:latin typeface="Arial" pitchFamily="34" charset="0"/>
                <a:ea typeface="Arial" pitchFamily="34" charset="-122"/>
                <a:cs typeface="Arial" pitchFamily="34" charset="-120"/>
              </a:rPr>
              <a:t>48%</a:t>
            </a:r>
            <a:endParaRPr lang="en-US" sz="2000" dirty="0"/>
          </a:p>
        </p:txBody>
      </p:sp>
      <p:sp>
        <p:nvSpPr>
          <p:cNvPr id="15" name="Shape 12"/>
          <p:cNvSpPr/>
          <p:nvPr/>
        </p:nvSpPr>
        <p:spPr>
          <a:xfrm>
            <a:off x="3949700" y="2544961"/>
            <a:ext cx="762000" cy="2159000"/>
          </a:xfrm>
          <a:custGeom>
            <a:avLst/>
            <a:gdLst/>
            <a:ahLst/>
            <a:cxnLst/>
            <a:rect l="l" t="t" r="r" b="b"/>
            <a:pathLst>
              <a:path w="762000" h="2159000">
                <a:moveTo>
                  <a:pt x="76200" y="0"/>
                </a:moveTo>
                <a:lnTo>
                  <a:pt x="685800" y="0"/>
                </a:lnTo>
                <a:arcTo hR="76200" wR="76200" stAng="16200000" swAng="5400000"/>
                <a:lnTo>
                  <a:pt x="762000" y="2159000"/>
                </a:lnTo>
                <a:lnTo>
                  <a:pt x="0" y="2159000"/>
                </a:lnTo>
                <a:lnTo>
                  <a:pt x="0" y="76200"/>
                </a:lnTo>
                <a:arcTo hR="76200" wR="76200" stAng="10800000" swAng="5400000"/>
                <a:close/>
              </a:path>
            </a:pathLst>
          </a:custGeom>
          <a:solidFill>
            <a:srgbClr val="F7630C"/>
          </a:solidFill>
          <a:ln/>
        </p:spPr>
      </p:sp>
      <p:sp>
        <p:nvSpPr>
          <p:cNvPr id="16" name="Text 13"/>
          <p:cNvSpPr/>
          <p:nvPr/>
        </p:nvSpPr>
        <p:spPr>
          <a:xfrm>
            <a:off x="3802906" y="4780161"/>
            <a:ext cx="1055489"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0B1F33"/>
                </a:solidFill>
                <a:latin typeface="Calibri" pitchFamily="34" charset="0"/>
                <a:ea typeface="Calibri" pitchFamily="34" charset="-122"/>
                <a:cs typeface="Calibri" pitchFamily="34" charset="-120"/>
              </a:rPr>
              <a:t>DBIR 2026</a:t>
            </a:r>
            <a:endParaRPr lang="en-US" sz="1400" dirty="0"/>
          </a:p>
        </p:txBody>
      </p:sp>
      <p:sp>
        <p:nvSpPr>
          <p:cNvPr id="17" name="Shape 14"/>
          <p:cNvSpPr/>
          <p:nvPr/>
        </p:nvSpPr>
        <p:spPr>
          <a:xfrm>
            <a:off x="5715000" y="1869281"/>
            <a:ext cx="5664200" cy="951210"/>
          </a:xfrm>
          <a:prstGeom prst="roundRect">
            <a:avLst>
              <a:gd name="adj" fmla="val 10681"/>
            </a:avLst>
          </a:prstGeom>
          <a:solidFill>
            <a:srgbClr val="FFFFFF"/>
          </a:solidFill>
          <a:ln/>
          <a:effectLst>
            <a:outerShdw sx="100000" sy="100000" kx="0" ky="0" algn="bl" rotWithShape="0" blurRad="101600" dist="25400" dir="5400000">
              <a:srgbClr val="C9D6E3">
                <a:alpha val="100000"/>
              </a:srgbClr>
            </a:outerShdw>
          </a:effectLst>
        </p:spPr>
      </p:sp>
      <p:sp>
        <p:nvSpPr>
          <p:cNvPr id="18" name="Shape 15"/>
          <p:cNvSpPr/>
          <p:nvPr/>
        </p:nvSpPr>
        <p:spPr>
          <a:xfrm>
            <a:off x="5918200" y="2116237"/>
            <a:ext cx="457200" cy="457200"/>
          </a:xfrm>
          <a:prstGeom prst="roundRect">
            <a:avLst>
              <a:gd name="adj" fmla="val 50000"/>
            </a:avLst>
          </a:prstGeom>
          <a:solidFill>
            <a:srgbClr val="EAF3FC"/>
          </a:solidFill>
          <a:ln/>
        </p:spPr>
      </p:sp>
      <p:pic>
        <p:nvPicPr>
          <p:cNvPr id="19" name="Image 1" descr="check icon">    </p:cNvPr>
          <p:cNvPicPr>
            <a:picLocks noChangeAspect="1"/>
          </p:cNvPicPr>
          <p:nvPr/>
        </p:nvPicPr>
        <p:blipFill>
          <a:blip r:embed="rId2"/>
          <a:srcRect l="0" r="0" t="0" b="0"/>
          <a:stretch/>
        </p:blipFill>
        <p:spPr>
          <a:xfrm>
            <a:off x="6032500" y="2230537"/>
            <a:ext cx="228600" cy="228600"/>
          </a:xfrm>
          <a:prstGeom prst="rect">
            <a:avLst/>
          </a:prstGeom>
        </p:spPr>
      </p:pic>
      <p:sp>
        <p:nvSpPr>
          <p:cNvPr id="20" name="Text 16"/>
          <p:cNvSpPr/>
          <p:nvPr/>
        </p:nvSpPr>
        <p:spPr>
          <a:xfrm>
            <a:off x="6527800" y="2047081"/>
            <a:ext cx="47876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1F33"/>
                </a:solidFill>
                <a:latin typeface="Arial" pitchFamily="34" charset="0"/>
                <a:ea typeface="Arial" pitchFamily="34" charset="-122"/>
                <a:cs typeface="Arial" pitchFamily="34" charset="-120"/>
              </a:rPr>
              <a:t>69%</a:t>
            </a:r>
            <a:endParaRPr lang="en-US" sz="2000" dirty="0"/>
          </a:p>
        </p:txBody>
      </p:sp>
      <p:sp>
        <p:nvSpPr>
          <p:cNvPr id="21" name="Text 17"/>
          <p:cNvSpPr/>
          <p:nvPr/>
        </p:nvSpPr>
        <p:spPr>
          <a:xfrm>
            <a:off x="6527800" y="2428081"/>
            <a:ext cx="478764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of victims refused to pay, up from 64%</a:t>
            </a:r>
            <a:endParaRPr lang="en-US" sz="1300" dirty="0"/>
          </a:p>
        </p:txBody>
      </p:sp>
      <p:sp>
        <p:nvSpPr>
          <p:cNvPr id="22" name="Shape 18"/>
          <p:cNvSpPr/>
          <p:nvPr/>
        </p:nvSpPr>
        <p:spPr>
          <a:xfrm>
            <a:off x="5715000" y="2947491"/>
            <a:ext cx="5664200" cy="951210"/>
          </a:xfrm>
          <a:prstGeom prst="roundRect">
            <a:avLst>
              <a:gd name="adj" fmla="val 10681"/>
            </a:avLst>
          </a:prstGeom>
          <a:solidFill>
            <a:srgbClr val="FFFFFF"/>
          </a:solidFill>
          <a:ln/>
          <a:effectLst>
            <a:outerShdw sx="100000" sy="100000" kx="0" ky="0" algn="bl" rotWithShape="0" blurRad="101600" dist="25400" dir="5400000">
              <a:srgbClr val="C9D6E3">
                <a:alpha val="100000"/>
              </a:srgbClr>
            </a:outerShdw>
          </a:effectLst>
        </p:spPr>
      </p:sp>
      <p:sp>
        <p:nvSpPr>
          <p:cNvPr id="23" name="Shape 19"/>
          <p:cNvSpPr/>
          <p:nvPr/>
        </p:nvSpPr>
        <p:spPr>
          <a:xfrm>
            <a:off x="5918200" y="3194447"/>
            <a:ext cx="457200" cy="457200"/>
          </a:xfrm>
          <a:prstGeom prst="roundRect">
            <a:avLst>
              <a:gd name="adj" fmla="val 50000"/>
            </a:avLst>
          </a:prstGeom>
          <a:solidFill>
            <a:srgbClr val="EAF3FC"/>
          </a:solidFill>
          <a:ln/>
        </p:spPr>
      </p:sp>
      <p:pic>
        <p:nvPicPr>
          <p:cNvPr id="24" name="Image 2" descr="bank icon">    </p:cNvPr>
          <p:cNvPicPr>
            <a:picLocks noChangeAspect="1"/>
          </p:cNvPicPr>
          <p:nvPr/>
        </p:nvPicPr>
        <p:blipFill>
          <a:blip r:embed="rId3"/>
          <a:srcRect l="0" r="0" t="0" b="0"/>
          <a:stretch/>
        </p:blipFill>
        <p:spPr>
          <a:xfrm>
            <a:off x="6032500" y="3308747"/>
            <a:ext cx="228600" cy="228600"/>
          </a:xfrm>
          <a:prstGeom prst="rect">
            <a:avLst/>
          </a:prstGeom>
        </p:spPr>
      </p:pic>
      <p:sp>
        <p:nvSpPr>
          <p:cNvPr id="25" name="Text 20"/>
          <p:cNvSpPr/>
          <p:nvPr/>
        </p:nvSpPr>
        <p:spPr>
          <a:xfrm>
            <a:off x="6527800" y="3125291"/>
            <a:ext cx="47876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1F33"/>
                </a:solidFill>
                <a:latin typeface="Arial" pitchFamily="34" charset="0"/>
                <a:ea typeface="Arial" pitchFamily="34" charset="-122"/>
                <a:cs typeface="Arial" pitchFamily="34" charset="-120"/>
              </a:rPr>
              <a:t>$139,875</a:t>
            </a:r>
            <a:endParaRPr lang="en-US" sz="2000" dirty="0"/>
          </a:p>
        </p:txBody>
      </p:sp>
      <p:sp>
        <p:nvSpPr>
          <p:cNvPr id="26" name="Text 21"/>
          <p:cNvSpPr/>
          <p:nvPr/>
        </p:nvSpPr>
        <p:spPr>
          <a:xfrm>
            <a:off x="6527800" y="3506291"/>
            <a:ext cx="478764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median ransom payment, down from $150,000</a:t>
            </a:r>
            <a:endParaRPr lang="en-US" sz="1300" dirty="0"/>
          </a:p>
        </p:txBody>
      </p:sp>
      <p:sp>
        <p:nvSpPr>
          <p:cNvPr id="27" name="Shape 22"/>
          <p:cNvSpPr/>
          <p:nvPr/>
        </p:nvSpPr>
        <p:spPr>
          <a:xfrm>
            <a:off x="5715000" y="4025702"/>
            <a:ext cx="5664200" cy="951210"/>
          </a:xfrm>
          <a:prstGeom prst="roundRect">
            <a:avLst>
              <a:gd name="adj" fmla="val 10681"/>
            </a:avLst>
          </a:prstGeom>
          <a:solidFill>
            <a:srgbClr val="FFFFFF"/>
          </a:solidFill>
          <a:ln/>
          <a:effectLst>
            <a:outerShdw sx="100000" sy="100000" kx="0" ky="0" algn="bl" rotWithShape="0" blurRad="101600" dist="25400" dir="5400000">
              <a:srgbClr val="C9D6E3">
                <a:alpha val="100000"/>
              </a:srgbClr>
            </a:outerShdw>
          </a:effectLst>
        </p:spPr>
      </p:sp>
      <p:sp>
        <p:nvSpPr>
          <p:cNvPr id="28" name="Shape 23"/>
          <p:cNvSpPr/>
          <p:nvPr/>
        </p:nvSpPr>
        <p:spPr>
          <a:xfrm>
            <a:off x="5918200" y="4272657"/>
            <a:ext cx="457200" cy="457200"/>
          </a:xfrm>
          <a:prstGeom prst="roundRect">
            <a:avLst>
              <a:gd name="adj" fmla="val 50000"/>
            </a:avLst>
          </a:prstGeom>
          <a:solidFill>
            <a:srgbClr val="EAF3FC"/>
          </a:solidFill>
          <a:ln/>
        </p:spPr>
      </p:sp>
      <p:pic>
        <p:nvPicPr>
          <p:cNvPr id="29" name="Image 3" descr="alert icon">    </p:cNvPr>
          <p:cNvPicPr>
            <a:picLocks noChangeAspect="1"/>
          </p:cNvPicPr>
          <p:nvPr/>
        </p:nvPicPr>
        <p:blipFill>
          <a:blip r:embed="rId4"/>
          <a:srcRect l="0" r="0" t="0" b="0"/>
          <a:stretch/>
        </p:blipFill>
        <p:spPr>
          <a:xfrm>
            <a:off x="6032500" y="4386957"/>
            <a:ext cx="228600" cy="228600"/>
          </a:xfrm>
          <a:prstGeom prst="rect">
            <a:avLst/>
          </a:prstGeom>
        </p:spPr>
      </p:pic>
      <p:sp>
        <p:nvSpPr>
          <p:cNvPr id="30" name="Text 24"/>
          <p:cNvSpPr/>
          <p:nvPr/>
        </p:nvSpPr>
        <p:spPr>
          <a:xfrm>
            <a:off x="6527800" y="4203502"/>
            <a:ext cx="47876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1F33"/>
                </a:solidFill>
                <a:latin typeface="Arial" pitchFamily="34" charset="0"/>
                <a:ea typeface="Arial" pitchFamily="34" charset="-122"/>
                <a:cs typeface="Arial" pitchFamily="34" charset="-120"/>
              </a:rPr>
              <a:t>Top 4</a:t>
            </a:r>
            <a:endParaRPr lang="en-US" sz="2000" dirty="0"/>
          </a:p>
        </p:txBody>
      </p:sp>
      <p:sp>
        <p:nvSpPr>
          <p:cNvPr id="31" name="Text 25"/>
          <p:cNvSpPr/>
          <p:nvPr/>
        </p:nvSpPr>
        <p:spPr>
          <a:xfrm>
            <a:off x="6527800" y="4584502"/>
            <a:ext cx="478764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active families early 2026: Qilin, Akira, Clop, The Gentlemen</a:t>
            </a:r>
            <a:endParaRPr lang="en-US" sz="1300" dirty="0"/>
          </a:p>
        </p:txBody>
      </p:sp>
      <p:sp>
        <p:nvSpPr>
          <p:cNvPr id="32" name="Text 2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Verizon DBIR 2021–2026 · SentinelOne 2026</a:t>
            </a:r>
            <a:endParaRPr lang="en-US" sz="1200" dirty="0"/>
          </a:p>
        </p:txBody>
      </p:sp>
      <p:sp>
        <p:nvSpPr>
          <p:cNvPr id="33" name="Text 27"/>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B7C3"/>
                </a:solidFill>
                <a:latin typeface="Calibri" pitchFamily="34" charset="0"/>
                <a:ea typeface="Calibri" pitchFamily="34" charset="-122"/>
                <a:cs typeface="Calibri" pitchFamily="34" charset="-120"/>
              </a:rPr>
              <a:t>05 · SPEED AND STEALTH</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Arial" pitchFamily="34" charset="0"/>
                <a:ea typeface="Arial" pitchFamily="34" charset="-122"/>
                <a:cs typeface="Arial" pitchFamily="34" charset="-120"/>
              </a:rPr>
              <a:t>Attackers move in minutes</a:t>
            </a:r>
            <a:endParaRPr lang="en-US" sz="3600" dirty="0"/>
          </a:p>
        </p:txBody>
      </p:sp>
      <p:sp>
        <p:nvSpPr>
          <p:cNvPr id="5" name="Shape 2"/>
          <p:cNvSpPr/>
          <p:nvPr/>
        </p:nvSpPr>
        <p:spPr>
          <a:xfrm>
            <a:off x="812800" y="1595041"/>
            <a:ext cx="2508250" cy="2202061"/>
          </a:xfrm>
          <a:prstGeom prst="roundRect">
            <a:avLst>
              <a:gd name="adj" fmla="val 4614"/>
            </a:avLst>
          </a:prstGeom>
          <a:solidFill>
            <a:srgbClr val="13294B"/>
          </a:solidFill>
          <a:ln/>
        </p:spPr>
      </p:sp>
      <p:sp>
        <p:nvSpPr>
          <p:cNvPr id="6" name="Shape 3"/>
          <p:cNvSpPr/>
          <p:nvPr/>
        </p:nvSpPr>
        <p:spPr>
          <a:xfrm>
            <a:off x="1041400" y="1849041"/>
            <a:ext cx="457200" cy="457200"/>
          </a:xfrm>
          <a:prstGeom prst="roundRect">
            <a:avLst>
              <a:gd name="adj" fmla="val 50000"/>
            </a:avLst>
          </a:prstGeom>
          <a:solidFill>
            <a:srgbClr val="F7630C"/>
          </a:solidFill>
          <a:ln/>
        </p:spPr>
      </p:sp>
      <p:pic>
        <p:nvPicPr>
          <p:cNvPr id="7" name="Image 1" descr="clock icon">    </p:cNvPr>
          <p:cNvPicPr>
            <a:picLocks noChangeAspect="1"/>
          </p:cNvPicPr>
          <p:nvPr/>
        </p:nvPicPr>
        <p:blipFill>
          <a:blip r:embed="rId2"/>
          <a:srcRect l="0" r="0" t="0" b="0"/>
          <a:stretch/>
        </p:blipFill>
        <p:spPr>
          <a:xfrm>
            <a:off x="1155700" y="1963341"/>
            <a:ext cx="228600" cy="228600"/>
          </a:xfrm>
          <a:prstGeom prst="rect">
            <a:avLst/>
          </a:prstGeom>
        </p:spPr>
      </p:pic>
      <p:sp>
        <p:nvSpPr>
          <p:cNvPr id="8" name="Text 4"/>
          <p:cNvSpPr/>
          <p:nvPr/>
        </p:nvSpPr>
        <p:spPr>
          <a:xfrm>
            <a:off x="1041400" y="2433241"/>
            <a:ext cx="211258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FFFF"/>
                </a:solidFill>
                <a:latin typeface="Arial" pitchFamily="34" charset="0"/>
                <a:ea typeface="Arial" pitchFamily="34" charset="-122"/>
                <a:cs typeface="Arial" pitchFamily="34" charset="-120"/>
              </a:rPr>
              <a:t>29 min</a:t>
            </a:r>
            <a:endParaRPr lang="en-US" sz="3600" dirty="0"/>
          </a:p>
        </p:txBody>
      </p:sp>
      <p:sp>
        <p:nvSpPr>
          <p:cNvPr id="9" name="Text 5"/>
          <p:cNvSpPr/>
          <p:nvPr/>
        </p:nvSpPr>
        <p:spPr>
          <a:xfrm>
            <a:off x="1041400" y="3063081"/>
            <a:ext cx="211258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ADCFC"/>
                </a:solidFill>
                <a:latin typeface="Calibri" pitchFamily="34" charset="0"/>
                <a:ea typeface="Calibri" pitchFamily="34" charset="-122"/>
                <a:cs typeface="Calibri" pitchFamily="34" charset="-120"/>
              </a:rPr>
              <a:t>average eCrime breakout time</a:t>
            </a:r>
            <a:endParaRPr lang="en-US" sz="1400" dirty="0"/>
          </a:p>
        </p:txBody>
      </p:sp>
      <p:sp>
        <p:nvSpPr>
          <p:cNvPr id="10" name="Shape 6"/>
          <p:cNvSpPr/>
          <p:nvPr/>
        </p:nvSpPr>
        <p:spPr>
          <a:xfrm>
            <a:off x="3498850" y="1595041"/>
            <a:ext cx="2508250" cy="2202061"/>
          </a:xfrm>
          <a:prstGeom prst="roundRect">
            <a:avLst>
              <a:gd name="adj" fmla="val 4614"/>
            </a:avLst>
          </a:prstGeom>
          <a:solidFill>
            <a:srgbClr val="13294B"/>
          </a:solidFill>
          <a:ln/>
        </p:spPr>
      </p:sp>
      <p:sp>
        <p:nvSpPr>
          <p:cNvPr id="11" name="Shape 7"/>
          <p:cNvSpPr/>
          <p:nvPr/>
        </p:nvSpPr>
        <p:spPr>
          <a:xfrm>
            <a:off x="3727450" y="1849041"/>
            <a:ext cx="457200" cy="457200"/>
          </a:xfrm>
          <a:prstGeom prst="roundRect">
            <a:avLst>
              <a:gd name="adj" fmla="val 50000"/>
            </a:avLst>
          </a:prstGeom>
          <a:solidFill>
            <a:srgbClr val="F7630C"/>
          </a:solidFill>
          <a:ln/>
        </p:spPr>
      </p:sp>
      <p:pic>
        <p:nvPicPr>
          <p:cNvPr id="12" name="Image 2" descr="zap icon">    </p:cNvPr>
          <p:cNvPicPr>
            <a:picLocks noChangeAspect="1"/>
          </p:cNvPicPr>
          <p:nvPr/>
        </p:nvPicPr>
        <p:blipFill>
          <a:blip r:embed="rId3"/>
          <a:srcRect l="0" r="0" t="0" b="0"/>
          <a:stretch/>
        </p:blipFill>
        <p:spPr>
          <a:xfrm>
            <a:off x="3841750" y="1963341"/>
            <a:ext cx="228600" cy="228600"/>
          </a:xfrm>
          <a:prstGeom prst="rect">
            <a:avLst/>
          </a:prstGeom>
        </p:spPr>
      </p:pic>
      <p:sp>
        <p:nvSpPr>
          <p:cNvPr id="13" name="Text 8"/>
          <p:cNvSpPr/>
          <p:nvPr/>
        </p:nvSpPr>
        <p:spPr>
          <a:xfrm>
            <a:off x="3727450" y="2433241"/>
            <a:ext cx="211258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FFFF"/>
                </a:solidFill>
                <a:latin typeface="Arial" pitchFamily="34" charset="0"/>
                <a:ea typeface="Arial" pitchFamily="34" charset="-122"/>
                <a:cs typeface="Arial" pitchFamily="34" charset="-120"/>
              </a:rPr>
              <a:t>27 sec</a:t>
            </a:r>
            <a:endParaRPr lang="en-US" sz="3600" dirty="0"/>
          </a:p>
        </p:txBody>
      </p:sp>
      <p:sp>
        <p:nvSpPr>
          <p:cNvPr id="14" name="Text 9"/>
          <p:cNvSpPr/>
          <p:nvPr/>
        </p:nvSpPr>
        <p:spPr>
          <a:xfrm>
            <a:off x="3727450" y="3063081"/>
            <a:ext cx="227965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ADCFC"/>
                </a:solidFill>
                <a:latin typeface="Calibri" pitchFamily="34" charset="0"/>
                <a:ea typeface="Calibri" pitchFamily="34" charset="-122"/>
                <a:cs typeface="Calibri" pitchFamily="34" charset="-120"/>
              </a:rPr>
              <a:t>fastest breakout observed</a:t>
            </a:r>
            <a:endParaRPr lang="en-US" sz="1400" dirty="0"/>
          </a:p>
        </p:txBody>
      </p:sp>
      <p:sp>
        <p:nvSpPr>
          <p:cNvPr id="15" name="Shape 10"/>
          <p:cNvSpPr/>
          <p:nvPr/>
        </p:nvSpPr>
        <p:spPr>
          <a:xfrm>
            <a:off x="6184900" y="1595041"/>
            <a:ext cx="2508250" cy="2202061"/>
          </a:xfrm>
          <a:prstGeom prst="roundRect">
            <a:avLst>
              <a:gd name="adj" fmla="val 4614"/>
            </a:avLst>
          </a:prstGeom>
          <a:solidFill>
            <a:srgbClr val="13294B"/>
          </a:solidFill>
          <a:ln/>
        </p:spPr>
      </p:sp>
      <p:sp>
        <p:nvSpPr>
          <p:cNvPr id="16" name="Shape 11"/>
          <p:cNvSpPr/>
          <p:nvPr/>
        </p:nvSpPr>
        <p:spPr>
          <a:xfrm>
            <a:off x="6413500" y="1849041"/>
            <a:ext cx="457200" cy="457200"/>
          </a:xfrm>
          <a:prstGeom prst="roundRect">
            <a:avLst>
              <a:gd name="adj" fmla="val 50000"/>
            </a:avLst>
          </a:prstGeom>
          <a:solidFill>
            <a:srgbClr val="00B7C3"/>
          </a:solidFill>
          <a:ln/>
        </p:spPr>
      </p:sp>
      <p:pic>
        <p:nvPicPr>
          <p:cNvPr id="17" name="Image 3" descr="key icon">    </p:cNvPr>
          <p:cNvPicPr>
            <a:picLocks noChangeAspect="1"/>
          </p:cNvPicPr>
          <p:nvPr/>
        </p:nvPicPr>
        <p:blipFill>
          <a:blip r:embed="rId4"/>
          <a:srcRect l="0" r="0" t="0" b="0"/>
          <a:stretch/>
        </p:blipFill>
        <p:spPr>
          <a:xfrm>
            <a:off x="6527800" y="1963341"/>
            <a:ext cx="228600" cy="228600"/>
          </a:xfrm>
          <a:prstGeom prst="rect">
            <a:avLst/>
          </a:prstGeom>
        </p:spPr>
      </p:pic>
      <p:sp>
        <p:nvSpPr>
          <p:cNvPr id="18" name="Text 12"/>
          <p:cNvSpPr/>
          <p:nvPr/>
        </p:nvSpPr>
        <p:spPr>
          <a:xfrm>
            <a:off x="6413500" y="2433241"/>
            <a:ext cx="211258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FFFF"/>
                </a:solidFill>
                <a:latin typeface="Arial" pitchFamily="34" charset="0"/>
                <a:ea typeface="Arial" pitchFamily="34" charset="-122"/>
                <a:cs typeface="Arial" pitchFamily="34" charset="-120"/>
              </a:rPr>
              <a:t>82%</a:t>
            </a:r>
            <a:endParaRPr lang="en-US" sz="3600" dirty="0"/>
          </a:p>
        </p:txBody>
      </p:sp>
      <p:sp>
        <p:nvSpPr>
          <p:cNvPr id="19" name="Text 13"/>
          <p:cNvSpPr/>
          <p:nvPr/>
        </p:nvSpPr>
        <p:spPr>
          <a:xfrm>
            <a:off x="6413500" y="3063081"/>
            <a:ext cx="211258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ADCFC"/>
                </a:solidFill>
                <a:latin typeface="Calibri" pitchFamily="34" charset="0"/>
                <a:ea typeface="Calibri" pitchFamily="34" charset="-122"/>
                <a:cs typeface="Calibri" pitchFamily="34" charset="-120"/>
              </a:rPr>
              <a:t>of detections were malware-free</a:t>
            </a:r>
            <a:endParaRPr lang="en-US" sz="1400" dirty="0"/>
          </a:p>
        </p:txBody>
      </p:sp>
      <p:sp>
        <p:nvSpPr>
          <p:cNvPr id="20" name="Shape 14"/>
          <p:cNvSpPr/>
          <p:nvPr/>
        </p:nvSpPr>
        <p:spPr>
          <a:xfrm>
            <a:off x="8870950" y="1595041"/>
            <a:ext cx="2508250" cy="2202061"/>
          </a:xfrm>
          <a:prstGeom prst="roundRect">
            <a:avLst>
              <a:gd name="adj" fmla="val 4614"/>
            </a:avLst>
          </a:prstGeom>
          <a:solidFill>
            <a:srgbClr val="13294B"/>
          </a:solidFill>
          <a:ln/>
        </p:spPr>
      </p:sp>
      <p:sp>
        <p:nvSpPr>
          <p:cNvPr id="21" name="Shape 15"/>
          <p:cNvSpPr/>
          <p:nvPr/>
        </p:nvSpPr>
        <p:spPr>
          <a:xfrm>
            <a:off x="9099550" y="1849041"/>
            <a:ext cx="457200" cy="457200"/>
          </a:xfrm>
          <a:prstGeom prst="roundRect">
            <a:avLst>
              <a:gd name="adj" fmla="val 50000"/>
            </a:avLst>
          </a:prstGeom>
          <a:solidFill>
            <a:srgbClr val="00B7C3"/>
          </a:solidFill>
          <a:ln/>
        </p:spPr>
      </p:sp>
      <p:pic>
        <p:nvPicPr>
          <p:cNvPr id="22" name="Image 4" descr="bot icon">    </p:cNvPr>
          <p:cNvPicPr>
            <a:picLocks noChangeAspect="1"/>
          </p:cNvPicPr>
          <p:nvPr/>
        </p:nvPicPr>
        <p:blipFill>
          <a:blip r:embed="rId5"/>
          <a:srcRect l="0" r="0" t="0" b="0"/>
          <a:stretch/>
        </p:blipFill>
        <p:spPr>
          <a:xfrm>
            <a:off x="9213850" y="1963341"/>
            <a:ext cx="228600" cy="228600"/>
          </a:xfrm>
          <a:prstGeom prst="rect">
            <a:avLst/>
          </a:prstGeom>
        </p:spPr>
      </p:pic>
      <p:sp>
        <p:nvSpPr>
          <p:cNvPr id="23" name="Text 16"/>
          <p:cNvSpPr/>
          <p:nvPr/>
        </p:nvSpPr>
        <p:spPr>
          <a:xfrm>
            <a:off x="9099550" y="2433241"/>
            <a:ext cx="2112582" cy="528241"/>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FFFF"/>
                </a:solidFill>
                <a:latin typeface="Arial" pitchFamily="34" charset="0"/>
                <a:ea typeface="Arial" pitchFamily="34" charset="-122"/>
                <a:cs typeface="Arial" pitchFamily="34" charset="-120"/>
              </a:rPr>
              <a:t>+89%</a:t>
            </a:r>
            <a:endParaRPr lang="en-US" sz="3600" dirty="0"/>
          </a:p>
        </p:txBody>
      </p:sp>
      <p:sp>
        <p:nvSpPr>
          <p:cNvPr id="24" name="Text 17"/>
          <p:cNvSpPr/>
          <p:nvPr/>
        </p:nvSpPr>
        <p:spPr>
          <a:xfrm>
            <a:off x="9099550" y="3063081"/>
            <a:ext cx="211258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CADCFC"/>
                </a:solidFill>
                <a:latin typeface="Calibri" pitchFamily="34" charset="0"/>
                <a:ea typeface="Calibri" pitchFamily="34" charset="-122"/>
                <a:cs typeface="Calibri" pitchFamily="34" charset="-120"/>
              </a:rPr>
              <a:t>attacks by AI-enabled adversaries</a:t>
            </a:r>
            <a:endParaRPr lang="en-US" sz="1400" dirty="0"/>
          </a:p>
        </p:txBody>
      </p:sp>
      <p:sp>
        <p:nvSpPr>
          <p:cNvPr id="25" name="Shape 18"/>
          <p:cNvSpPr/>
          <p:nvPr/>
        </p:nvSpPr>
        <p:spPr>
          <a:xfrm>
            <a:off x="819150" y="4082852"/>
            <a:ext cx="10553700" cy="942181"/>
          </a:xfrm>
          <a:prstGeom prst="roundRect">
            <a:avLst>
              <a:gd name="adj" fmla="val 10110"/>
            </a:avLst>
          </a:prstGeom>
          <a:noFill/>
          <a:ln w="12700">
            <a:solidFill>
              <a:srgbClr val="00B7C3"/>
            </a:solidFill>
            <a:prstDash val="solid"/>
          </a:ln>
        </p:spPr>
      </p:sp>
      <p:sp>
        <p:nvSpPr>
          <p:cNvPr id="26" name="Text 19"/>
          <p:cNvSpPr/>
          <p:nvPr/>
        </p:nvSpPr>
        <p:spPr>
          <a:xfrm>
            <a:off x="1054100" y="4267002"/>
            <a:ext cx="1038631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7C3"/>
                </a:solidFill>
                <a:latin typeface="Calibri" pitchFamily="34" charset="0"/>
                <a:ea typeface="Calibri" pitchFamily="34" charset="-122"/>
                <a:cs typeface="Calibri" pitchFamily="34" charset="-120"/>
              </a:rPr>
              <a:t>Breakout time</a:t>
            </a:r>
            <a:r>
              <a:rPr lang="en-US" sz="1400" dirty="0">
                <a:solidFill>
                  <a:srgbClr val="FFFFFF"/>
                </a:solidFill>
                <a:latin typeface="Calibri" pitchFamily="34" charset="0"/>
                <a:ea typeface="Calibri" pitchFamily="34" charset="-122"/>
                <a:cs typeface="Calibri" pitchFamily="34" charset="-120"/>
              </a:rPr>
              <a:t> is how long an attacker needs to move from first access to other systems.</a:t>
            </a:r>
            <a:endParaRPr lang="en-US" sz="1400" dirty="0"/>
          </a:p>
        </p:txBody>
      </p:sp>
      <p:sp>
        <p:nvSpPr>
          <p:cNvPr id="27" name="Text 20"/>
          <p:cNvSpPr/>
          <p:nvPr/>
        </p:nvSpPr>
        <p:spPr>
          <a:xfrm>
            <a:off x="1054100" y="4592042"/>
            <a:ext cx="1038631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0B7C3"/>
                </a:solidFill>
                <a:latin typeface="Calibri" pitchFamily="34" charset="0"/>
                <a:ea typeface="Calibri" pitchFamily="34" charset="-122"/>
                <a:cs typeface="Calibri" pitchFamily="34" charset="-120"/>
              </a:rPr>
              <a:t>Malware-free</a:t>
            </a:r>
            <a:r>
              <a:rPr lang="en-US" sz="1400" dirty="0">
                <a:solidFill>
                  <a:srgbClr val="FFFFFF"/>
                </a:solidFill>
                <a:latin typeface="Calibri" pitchFamily="34" charset="0"/>
                <a:ea typeface="Calibri" pitchFamily="34" charset="-122"/>
                <a:cs typeface="Calibri" pitchFamily="34" charset="-120"/>
              </a:rPr>
              <a:t> attacks use stolen logins and trusted tools instead of malicious files.</a:t>
            </a:r>
            <a:endParaRPr lang="en-US" sz="1400" dirty="0"/>
          </a:p>
        </p:txBody>
      </p:sp>
      <p:sp>
        <p:nvSpPr>
          <p:cNvPr id="28"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alibri" pitchFamily="34" charset="0"/>
                <a:ea typeface="Calibri" pitchFamily="34" charset="-122"/>
                <a:cs typeface="Calibri" pitchFamily="34" charset="-120"/>
              </a:rPr>
              <a:t>Source: CrowdStrike 2026 Global Threat Report</a:t>
            </a:r>
            <a:endParaRPr lang="en-US" sz="1200" dirty="0"/>
          </a:p>
        </p:txBody>
      </p:sp>
      <p:sp>
        <p:nvSpPr>
          <p:cNvPr id="29" name="Text 22"/>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3C8"/>
                </a:solidFill>
                <a:latin typeface="Calibri" pitchFamily="34" charset="0"/>
                <a:ea typeface="Calibri" pitchFamily="34" charset="-122"/>
                <a:cs typeface="Calibri"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06 · WHO IS TARGETED</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No sector is immune</a:t>
            </a:r>
            <a:endParaRPr lang="en-US" sz="3600" dirty="0"/>
          </a:p>
        </p:txBody>
      </p:sp>
      <p:sp>
        <p:nvSpPr>
          <p:cNvPr id="5" name="Shape 2"/>
          <p:cNvSpPr/>
          <p:nvPr/>
        </p:nvSpPr>
        <p:spPr>
          <a:xfrm>
            <a:off x="812800" y="1595041"/>
            <a:ext cx="10566400" cy="657820"/>
          </a:xfrm>
          <a:prstGeom prst="roundRect">
            <a:avLst>
              <a:gd name="adj" fmla="val 15445"/>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16000" y="1720751"/>
            <a:ext cx="406400" cy="406400"/>
          </a:xfrm>
          <a:prstGeom prst="roundRect">
            <a:avLst>
              <a:gd name="adj" fmla="val 50000"/>
            </a:avLst>
          </a:prstGeom>
          <a:solidFill>
            <a:srgbClr val="EAF3FC"/>
          </a:solidFill>
          <a:ln/>
        </p:spPr>
      </p:sp>
      <p:pic>
        <p:nvPicPr>
          <p:cNvPr id="7" name="Image 1" descr="factory icon">    </p:cNvPr>
          <p:cNvPicPr>
            <a:picLocks noChangeAspect="1"/>
          </p:cNvPicPr>
          <p:nvPr/>
        </p:nvPicPr>
        <p:blipFill>
          <a:blip r:embed="rId2"/>
          <a:srcRect l="0" r="0" t="0" b="0"/>
          <a:stretch/>
        </p:blipFill>
        <p:spPr>
          <a:xfrm>
            <a:off x="1117600" y="1822351"/>
            <a:ext cx="203200" cy="203200"/>
          </a:xfrm>
          <a:prstGeom prst="rect">
            <a:avLst/>
          </a:prstGeom>
        </p:spPr>
      </p:pic>
      <p:sp>
        <p:nvSpPr>
          <p:cNvPr id="8" name="Text 4"/>
          <p:cNvSpPr/>
          <p:nvPr/>
        </p:nvSpPr>
        <p:spPr>
          <a:xfrm>
            <a:off x="1625600" y="1790601"/>
            <a:ext cx="31394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Manufacturing</a:t>
            </a:r>
            <a:endParaRPr lang="en-US" sz="1500" dirty="0"/>
          </a:p>
        </p:txBody>
      </p:sp>
      <p:sp>
        <p:nvSpPr>
          <p:cNvPr id="9" name="Text 5"/>
          <p:cNvSpPr/>
          <p:nvPr/>
        </p:nvSpPr>
        <p:spPr>
          <a:xfrm>
            <a:off x="4876800" y="1746151"/>
            <a:ext cx="1320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78D4"/>
                </a:solidFill>
                <a:latin typeface="Arial" pitchFamily="34" charset="0"/>
                <a:ea typeface="Arial" pitchFamily="34" charset="-122"/>
                <a:cs typeface="Arial" pitchFamily="34" charset="-120"/>
              </a:rPr>
              <a:t>34.7%</a:t>
            </a:r>
            <a:endParaRPr lang="en-US" sz="2000" dirty="0"/>
          </a:p>
        </p:txBody>
      </p:sp>
      <p:sp>
        <p:nvSpPr>
          <p:cNvPr id="10" name="Text 6"/>
          <p:cNvSpPr/>
          <p:nvPr/>
        </p:nvSpPr>
        <p:spPr>
          <a:xfrm>
            <a:off x="6350000" y="1709341"/>
            <a:ext cx="497078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of malware incidents; ransomware drives 61% of its malware breaches</a:t>
            </a:r>
            <a:endParaRPr lang="en-US" sz="1300" dirty="0"/>
          </a:p>
        </p:txBody>
      </p:sp>
      <p:sp>
        <p:nvSpPr>
          <p:cNvPr id="11" name="Shape 7"/>
          <p:cNvSpPr/>
          <p:nvPr/>
        </p:nvSpPr>
        <p:spPr>
          <a:xfrm>
            <a:off x="812800" y="2354461"/>
            <a:ext cx="10566400" cy="635000"/>
          </a:xfrm>
          <a:prstGeom prst="roundRect">
            <a:avLst>
              <a:gd name="adj" fmla="val 16000"/>
            </a:avLst>
          </a:prstGeom>
          <a:solidFill>
            <a:srgbClr val="FFFFFF"/>
          </a:solidFill>
          <a:ln/>
          <a:effectLst>
            <a:outerShdw sx="100000" sy="100000" kx="0" ky="0" algn="bl" rotWithShape="0" blurRad="101600" dist="25400" dir="5400000">
              <a:srgbClr val="C9D6E3">
                <a:alpha val="100000"/>
              </a:srgbClr>
            </a:outerShdw>
          </a:effectLst>
        </p:spPr>
      </p:sp>
      <p:sp>
        <p:nvSpPr>
          <p:cNvPr id="12" name="Shape 8"/>
          <p:cNvSpPr/>
          <p:nvPr/>
        </p:nvSpPr>
        <p:spPr>
          <a:xfrm>
            <a:off x="1016000" y="2468761"/>
            <a:ext cx="406400" cy="406400"/>
          </a:xfrm>
          <a:prstGeom prst="roundRect">
            <a:avLst>
              <a:gd name="adj" fmla="val 50000"/>
            </a:avLst>
          </a:prstGeom>
          <a:solidFill>
            <a:srgbClr val="EAF3FC"/>
          </a:solidFill>
          <a:ln/>
        </p:spPr>
      </p:sp>
      <p:pic>
        <p:nvPicPr>
          <p:cNvPr id="13" name="Image 2" descr="heart icon">    </p:cNvPr>
          <p:cNvPicPr>
            <a:picLocks noChangeAspect="1"/>
          </p:cNvPicPr>
          <p:nvPr/>
        </p:nvPicPr>
        <p:blipFill>
          <a:blip r:embed="rId3"/>
          <a:srcRect l="0" r="0" t="0" b="0"/>
          <a:stretch/>
        </p:blipFill>
        <p:spPr>
          <a:xfrm>
            <a:off x="1117600" y="2570361"/>
            <a:ext cx="203200" cy="203200"/>
          </a:xfrm>
          <a:prstGeom prst="rect">
            <a:avLst/>
          </a:prstGeom>
        </p:spPr>
      </p:pic>
      <p:sp>
        <p:nvSpPr>
          <p:cNvPr id="14" name="Text 9"/>
          <p:cNvSpPr/>
          <p:nvPr/>
        </p:nvSpPr>
        <p:spPr>
          <a:xfrm>
            <a:off x="1625600" y="2538611"/>
            <a:ext cx="31394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Healthcare</a:t>
            </a:r>
            <a:endParaRPr lang="en-US" sz="1500" dirty="0"/>
          </a:p>
        </p:txBody>
      </p:sp>
      <p:sp>
        <p:nvSpPr>
          <p:cNvPr id="15" name="Text 10"/>
          <p:cNvSpPr/>
          <p:nvPr/>
        </p:nvSpPr>
        <p:spPr>
          <a:xfrm>
            <a:off x="4876800" y="2494161"/>
            <a:ext cx="1320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78D4"/>
                </a:solidFill>
                <a:latin typeface="Arial" pitchFamily="34" charset="0"/>
                <a:ea typeface="Arial" pitchFamily="34" charset="-122"/>
                <a:cs typeface="Arial" pitchFamily="34" charset="-120"/>
              </a:rPr>
              <a:t>$6.64M</a:t>
            </a:r>
            <a:endParaRPr lang="en-US" sz="2000" dirty="0"/>
          </a:p>
        </p:txBody>
      </p:sp>
      <p:sp>
        <p:nvSpPr>
          <p:cNvPr id="16" name="Text 11"/>
          <p:cNvSpPr/>
          <p:nvPr/>
        </p:nvSpPr>
        <p:spPr>
          <a:xfrm>
            <a:off x="6350000" y="2564606"/>
            <a:ext cx="497078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average breach cost, the highest of any sector for 13 years</a:t>
            </a:r>
            <a:endParaRPr lang="en-US" sz="1300" dirty="0"/>
          </a:p>
        </p:txBody>
      </p:sp>
      <p:sp>
        <p:nvSpPr>
          <p:cNvPr id="17" name="Shape 12"/>
          <p:cNvSpPr/>
          <p:nvPr/>
        </p:nvSpPr>
        <p:spPr>
          <a:xfrm>
            <a:off x="812800" y="3091061"/>
            <a:ext cx="10566400" cy="635000"/>
          </a:xfrm>
          <a:prstGeom prst="roundRect">
            <a:avLst>
              <a:gd name="adj" fmla="val 16000"/>
            </a:avLst>
          </a:prstGeom>
          <a:solidFill>
            <a:srgbClr val="FFFFFF"/>
          </a:solidFill>
          <a:ln/>
          <a:effectLst>
            <a:outerShdw sx="100000" sy="100000" kx="0" ky="0" algn="bl" rotWithShape="0" blurRad="101600" dist="25400" dir="5400000">
              <a:srgbClr val="C9D6E3">
                <a:alpha val="100000"/>
              </a:srgbClr>
            </a:outerShdw>
          </a:effectLst>
        </p:spPr>
      </p:sp>
      <p:sp>
        <p:nvSpPr>
          <p:cNvPr id="18" name="Shape 13"/>
          <p:cNvSpPr/>
          <p:nvPr/>
        </p:nvSpPr>
        <p:spPr>
          <a:xfrm>
            <a:off x="1016000" y="3205361"/>
            <a:ext cx="406400" cy="406400"/>
          </a:xfrm>
          <a:prstGeom prst="roundRect">
            <a:avLst>
              <a:gd name="adj" fmla="val 50000"/>
            </a:avLst>
          </a:prstGeom>
          <a:solidFill>
            <a:srgbClr val="EAF3FC"/>
          </a:solidFill>
          <a:ln/>
        </p:spPr>
      </p:sp>
      <p:pic>
        <p:nvPicPr>
          <p:cNvPr id="19" name="Image 3" descr="bank icon">    </p:cNvPr>
          <p:cNvPicPr>
            <a:picLocks noChangeAspect="1"/>
          </p:cNvPicPr>
          <p:nvPr/>
        </p:nvPicPr>
        <p:blipFill>
          <a:blip r:embed="rId4"/>
          <a:srcRect l="0" r="0" t="0" b="0"/>
          <a:stretch/>
        </p:blipFill>
        <p:spPr>
          <a:xfrm>
            <a:off x="1117600" y="3306961"/>
            <a:ext cx="203200" cy="203200"/>
          </a:xfrm>
          <a:prstGeom prst="rect">
            <a:avLst/>
          </a:prstGeom>
        </p:spPr>
      </p:pic>
      <p:sp>
        <p:nvSpPr>
          <p:cNvPr id="20" name="Text 14"/>
          <p:cNvSpPr/>
          <p:nvPr/>
        </p:nvSpPr>
        <p:spPr>
          <a:xfrm>
            <a:off x="1625600" y="3275211"/>
            <a:ext cx="31394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Financial services</a:t>
            </a:r>
            <a:endParaRPr lang="en-US" sz="1500" dirty="0"/>
          </a:p>
        </p:txBody>
      </p:sp>
      <p:sp>
        <p:nvSpPr>
          <p:cNvPr id="21" name="Text 15"/>
          <p:cNvSpPr/>
          <p:nvPr/>
        </p:nvSpPr>
        <p:spPr>
          <a:xfrm>
            <a:off x="4876800" y="3230761"/>
            <a:ext cx="1320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78D4"/>
                </a:solidFill>
                <a:latin typeface="Arial" pitchFamily="34" charset="0"/>
                <a:ea typeface="Arial" pitchFamily="34" charset="-122"/>
                <a:cs typeface="Arial" pitchFamily="34" charset="-120"/>
              </a:rPr>
              <a:t>$6.29M</a:t>
            </a:r>
            <a:endParaRPr lang="en-US" sz="2000" dirty="0"/>
          </a:p>
        </p:txBody>
      </p:sp>
      <p:sp>
        <p:nvSpPr>
          <p:cNvPr id="22" name="Text 16"/>
          <p:cNvSpPr/>
          <p:nvPr/>
        </p:nvSpPr>
        <p:spPr>
          <a:xfrm>
            <a:off x="6350000" y="3301206"/>
            <a:ext cx="497078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average breach cost, up from $5.56M</a:t>
            </a:r>
            <a:endParaRPr lang="en-US" sz="1300" dirty="0"/>
          </a:p>
        </p:txBody>
      </p:sp>
      <p:sp>
        <p:nvSpPr>
          <p:cNvPr id="23" name="Shape 17"/>
          <p:cNvSpPr/>
          <p:nvPr/>
        </p:nvSpPr>
        <p:spPr>
          <a:xfrm>
            <a:off x="812800" y="3827661"/>
            <a:ext cx="10566400" cy="635000"/>
          </a:xfrm>
          <a:prstGeom prst="roundRect">
            <a:avLst>
              <a:gd name="adj" fmla="val 16000"/>
            </a:avLst>
          </a:prstGeom>
          <a:solidFill>
            <a:srgbClr val="FFFFFF"/>
          </a:solidFill>
          <a:ln/>
          <a:effectLst>
            <a:outerShdw sx="100000" sy="100000" kx="0" ky="0" algn="bl" rotWithShape="0" blurRad="101600" dist="25400" dir="5400000">
              <a:srgbClr val="C9D6E3">
                <a:alpha val="100000"/>
              </a:srgbClr>
            </a:outerShdw>
          </a:effectLst>
        </p:spPr>
      </p:sp>
      <p:sp>
        <p:nvSpPr>
          <p:cNvPr id="24" name="Shape 18"/>
          <p:cNvSpPr/>
          <p:nvPr/>
        </p:nvSpPr>
        <p:spPr>
          <a:xfrm>
            <a:off x="1016000" y="3941961"/>
            <a:ext cx="406400" cy="406400"/>
          </a:xfrm>
          <a:prstGeom prst="roundRect">
            <a:avLst>
              <a:gd name="adj" fmla="val 50000"/>
            </a:avLst>
          </a:prstGeom>
          <a:solidFill>
            <a:srgbClr val="EAF3FC"/>
          </a:solidFill>
          <a:ln/>
        </p:spPr>
      </p:sp>
      <p:pic>
        <p:nvPicPr>
          <p:cNvPr id="25" name="Image 4" descr="landmark icon">    </p:cNvPr>
          <p:cNvPicPr>
            <a:picLocks noChangeAspect="1"/>
          </p:cNvPicPr>
          <p:nvPr/>
        </p:nvPicPr>
        <p:blipFill>
          <a:blip r:embed="rId5"/>
          <a:srcRect l="0" r="0" t="0" b="0"/>
          <a:stretch/>
        </p:blipFill>
        <p:spPr>
          <a:xfrm>
            <a:off x="1117600" y="4043561"/>
            <a:ext cx="203200" cy="203200"/>
          </a:xfrm>
          <a:prstGeom prst="rect">
            <a:avLst/>
          </a:prstGeom>
        </p:spPr>
      </p:pic>
      <p:sp>
        <p:nvSpPr>
          <p:cNvPr id="26" name="Text 19"/>
          <p:cNvSpPr/>
          <p:nvPr/>
        </p:nvSpPr>
        <p:spPr>
          <a:xfrm>
            <a:off x="1625600" y="4011811"/>
            <a:ext cx="31394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Government and public sector</a:t>
            </a:r>
            <a:endParaRPr lang="en-US" sz="1500" dirty="0"/>
          </a:p>
        </p:txBody>
      </p:sp>
      <p:sp>
        <p:nvSpPr>
          <p:cNvPr id="27" name="Text 20"/>
          <p:cNvSpPr/>
          <p:nvPr/>
        </p:nvSpPr>
        <p:spPr>
          <a:xfrm>
            <a:off x="4876800" y="3967361"/>
            <a:ext cx="1320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78D4"/>
                </a:solidFill>
                <a:latin typeface="Arial" pitchFamily="34" charset="0"/>
                <a:ea typeface="Arial" pitchFamily="34" charset="-122"/>
                <a:cs typeface="Arial" pitchFamily="34" charset="-120"/>
              </a:rPr>
              <a:t>19%</a:t>
            </a:r>
            <a:endParaRPr lang="en-US" sz="2000" dirty="0"/>
          </a:p>
        </p:txBody>
      </p:sp>
      <p:sp>
        <p:nvSpPr>
          <p:cNvPr id="28" name="Text 21"/>
          <p:cNvSpPr/>
          <p:nvPr/>
        </p:nvSpPr>
        <p:spPr>
          <a:xfrm>
            <a:off x="6350000" y="4037806"/>
            <a:ext cx="497078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of global malware incidents</a:t>
            </a:r>
            <a:endParaRPr lang="en-US" sz="1300" dirty="0"/>
          </a:p>
        </p:txBody>
      </p:sp>
      <p:sp>
        <p:nvSpPr>
          <p:cNvPr id="29" name="Shape 22"/>
          <p:cNvSpPr/>
          <p:nvPr/>
        </p:nvSpPr>
        <p:spPr>
          <a:xfrm>
            <a:off x="812800" y="4564261"/>
            <a:ext cx="10566400" cy="635000"/>
          </a:xfrm>
          <a:prstGeom prst="roundRect">
            <a:avLst>
              <a:gd name="adj" fmla="val 16000"/>
            </a:avLst>
          </a:prstGeom>
          <a:solidFill>
            <a:srgbClr val="FFFFFF"/>
          </a:solidFill>
          <a:ln/>
          <a:effectLst>
            <a:outerShdw sx="100000" sy="100000" kx="0" ky="0" algn="bl" rotWithShape="0" blurRad="101600" dist="25400" dir="5400000">
              <a:srgbClr val="C9D6E3">
                <a:alpha val="100000"/>
              </a:srgbClr>
            </a:outerShdw>
          </a:effectLst>
        </p:spPr>
      </p:sp>
      <p:sp>
        <p:nvSpPr>
          <p:cNvPr id="30" name="Shape 23"/>
          <p:cNvSpPr/>
          <p:nvPr/>
        </p:nvSpPr>
        <p:spPr>
          <a:xfrm>
            <a:off x="1016000" y="4678561"/>
            <a:ext cx="406400" cy="406400"/>
          </a:xfrm>
          <a:prstGeom prst="roundRect">
            <a:avLst>
              <a:gd name="adj" fmla="val 50000"/>
            </a:avLst>
          </a:prstGeom>
          <a:solidFill>
            <a:srgbClr val="EAF3FC"/>
          </a:solidFill>
          <a:ln/>
        </p:spPr>
      </p:sp>
      <p:pic>
        <p:nvPicPr>
          <p:cNvPr id="31" name="Image 5" descr="store icon">    </p:cNvPr>
          <p:cNvPicPr>
            <a:picLocks noChangeAspect="1"/>
          </p:cNvPicPr>
          <p:nvPr/>
        </p:nvPicPr>
        <p:blipFill>
          <a:blip r:embed="rId6"/>
          <a:srcRect l="0" r="0" t="0" b="0"/>
          <a:stretch/>
        </p:blipFill>
        <p:spPr>
          <a:xfrm>
            <a:off x="1117600" y="4780161"/>
            <a:ext cx="203200" cy="203200"/>
          </a:xfrm>
          <a:prstGeom prst="rect">
            <a:avLst/>
          </a:prstGeom>
        </p:spPr>
      </p:pic>
      <p:sp>
        <p:nvSpPr>
          <p:cNvPr id="32" name="Text 24"/>
          <p:cNvSpPr/>
          <p:nvPr/>
        </p:nvSpPr>
        <p:spPr>
          <a:xfrm>
            <a:off x="1625600" y="4748411"/>
            <a:ext cx="31394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Small and mid-size businesses</a:t>
            </a:r>
            <a:endParaRPr lang="en-US" sz="1500" dirty="0"/>
          </a:p>
        </p:txBody>
      </p:sp>
      <p:sp>
        <p:nvSpPr>
          <p:cNvPr id="33" name="Text 25"/>
          <p:cNvSpPr/>
          <p:nvPr/>
        </p:nvSpPr>
        <p:spPr>
          <a:xfrm>
            <a:off x="4876800" y="4703961"/>
            <a:ext cx="13208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078D4"/>
                </a:solidFill>
                <a:latin typeface="Arial" pitchFamily="34" charset="0"/>
                <a:ea typeface="Arial" pitchFamily="34" charset="-122"/>
                <a:cs typeface="Arial" pitchFamily="34" charset="-120"/>
              </a:rPr>
              <a:t>88%</a:t>
            </a:r>
            <a:endParaRPr lang="en-US" sz="2000" dirty="0"/>
          </a:p>
        </p:txBody>
      </p:sp>
      <p:sp>
        <p:nvSpPr>
          <p:cNvPr id="34" name="Text 26"/>
          <p:cNvSpPr/>
          <p:nvPr/>
        </p:nvSpPr>
        <p:spPr>
          <a:xfrm>
            <a:off x="6350000" y="4774406"/>
            <a:ext cx="497078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4A5A6B"/>
                </a:solidFill>
                <a:latin typeface="Calibri" pitchFamily="34" charset="0"/>
                <a:ea typeface="Calibri" pitchFamily="34" charset="-122"/>
                <a:cs typeface="Calibri" pitchFamily="34" charset="-120"/>
              </a:rPr>
              <a:t>of SMB breaches involve ransomware, vs 39% at large firms</a:t>
            </a:r>
            <a:endParaRPr lang="en-US" sz="1300" dirty="0"/>
          </a:p>
        </p:txBody>
      </p:sp>
      <p:sp>
        <p:nvSpPr>
          <p:cNvPr id="35" name="Text 2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SentinelOne 2026 · Verizon DBIR 2026 · IBM Cost of a Data Breach 2026</a:t>
            </a:r>
            <a:endParaRPr lang="en-US" sz="1200" dirty="0"/>
          </a:p>
        </p:txBody>
      </p:sp>
      <p:sp>
        <p:nvSpPr>
          <p:cNvPr id="36" name="Text 28"/>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07 · THE COST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What a breach costs in 2026</a:t>
            </a:r>
            <a:endParaRPr lang="en-US" sz="3600" dirty="0"/>
          </a:p>
        </p:txBody>
      </p:sp>
      <p:sp>
        <p:nvSpPr>
          <p:cNvPr id="5" name="Shape 2"/>
          <p:cNvSpPr/>
          <p:nvPr/>
        </p:nvSpPr>
        <p:spPr>
          <a:xfrm>
            <a:off x="812800" y="1595041"/>
            <a:ext cx="3810000" cy="2859881"/>
          </a:xfrm>
          <a:prstGeom prst="roundRect">
            <a:avLst>
              <a:gd name="adj" fmla="val 3553"/>
            </a:avLst>
          </a:prstGeom>
          <a:solidFill>
            <a:srgbClr val="0078D4"/>
          </a:solidFill>
          <a:ln/>
        </p:spPr>
      </p:sp>
      <p:sp>
        <p:nvSpPr>
          <p:cNvPr id="6" name="Text 3"/>
          <p:cNvSpPr/>
          <p:nvPr/>
        </p:nvSpPr>
        <p:spPr>
          <a:xfrm>
            <a:off x="1092200" y="2029420"/>
            <a:ext cx="3348736"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FFFF"/>
                </a:solidFill>
                <a:latin typeface="Calibri" pitchFamily="34" charset="0"/>
                <a:ea typeface="Calibri" pitchFamily="34" charset="-122"/>
                <a:cs typeface="Calibri" pitchFamily="34" charset="-120"/>
              </a:rPr>
              <a:t>GLOBAL AVERAGE COST OF A BREACH</a:t>
            </a:r>
            <a:endParaRPr lang="en-US" sz="1200" dirty="0"/>
          </a:p>
        </p:txBody>
      </p:sp>
      <p:sp>
        <p:nvSpPr>
          <p:cNvPr id="7" name="Text 4"/>
          <p:cNvSpPr/>
          <p:nvPr/>
        </p:nvSpPr>
        <p:spPr>
          <a:xfrm>
            <a:off x="1092200" y="2583061"/>
            <a:ext cx="3348736"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FFFFF"/>
                </a:solidFill>
                <a:latin typeface="Arial" pitchFamily="34" charset="0"/>
                <a:ea typeface="Arial" pitchFamily="34" charset="-122"/>
                <a:cs typeface="Arial" pitchFamily="34" charset="-120"/>
              </a:rPr>
              <a:t>$4.99M</a:t>
            </a:r>
            <a:endParaRPr lang="en-US" sz="6000" dirty="0"/>
          </a:p>
        </p:txBody>
      </p:sp>
      <p:sp>
        <p:nvSpPr>
          <p:cNvPr id="8" name="Text 5"/>
          <p:cNvSpPr/>
          <p:nvPr/>
        </p:nvSpPr>
        <p:spPr>
          <a:xfrm>
            <a:off x="1092200" y="3472061"/>
            <a:ext cx="3348736"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FFFFF"/>
                </a:solidFill>
                <a:latin typeface="Calibri" pitchFamily="34" charset="0"/>
                <a:ea typeface="Calibri" pitchFamily="34" charset="-122"/>
                <a:cs typeface="Calibri" pitchFamily="34" charset="-120"/>
              </a:rPr>
              <a:t>Up 12% in a year, the highest IBM has ever recorded</a:t>
            </a:r>
            <a:endParaRPr lang="en-US" sz="1600" dirty="0"/>
          </a:p>
        </p:txBody>
      </p:sp>
      <p:sp>
        <p:nvSpPr>
          <p:cNvPr id="9" name="Shape 6"/>
          <p:cNvSpPr/>
          <p:nvPr/>
        </p:nvSpPr>
        <p:spPr>
          <a:xfrm>
            <a:off x="4826000" y="1595041"/>
            <a:ext cx="3200400" cy="1113730"/>
          </a:xfrm>
          <a:prstGeom prst="roundRect">
            <a:avLst>
              <a:gd name="adj" fmla="val 9122"/>
            </a:avLst>
          </a:prstGeom>
          <a:solidFill>
            <a:srgbClr val="FFFFFF"/>
          </a:solidFill>
          <a:ln/>
          <a:effectLst>
            <a:outerShdw sx="100000" sy="100000" kx="0" ky="0" algn="bl" rotWithShape="0" blurRad="101600" dist="25400" dir="5400000">
              <a:srgbClr val="C9D6E3">
                <a:alpha val="100000"/>
              </a:srgbClr>
            </a:outerShdw>
          </a:effectLst>
        </p:spPr>
      </p:sp>
      <p:sp>
        <p:nvSpPr>
          <p:cNvPr id="10" name="Text 7"/>
          <p:cNvSpPr/>
          <p:nvPr/>
        </p:nvSpPr>
        <p:spPr>
          <a:xfrm>
            <a:off x="5029200" y="1798241"/>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078D4"/>
                </a:solidFill>
                <a:latin typeface="Arial" pitchFamily="34" charset="0"/>
                <a:ea typeface="Arial" pitchFamily="34" charset="-122"/>
                <a:cs typeface="Arial" pitchFamily="34" charset="-120"/>
              </a:rPr>
              <a:t>$11.5M</a:t>
            </a:r>
            <a:endParaRPr lang="en-US" sz="2800" dirty="0"/>
          </a:p>
        </p:txBody>
      </p:sp>
      <p:sp>
        <p:nvSpPr>
          <p:cNvPr id="11" name="Text 8"/>
          <p:cNvSpPr/>
          <p:nvPr/>
        </p:nvSpPr>
        <p:spPr>
          <a:xfrm>
            <a:off x="5029200" y="2265561"/>
            <a:ext cx="28778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average breach cost in the US</a:t>
            </a:r>
            <a:endParaRPr lang="en-US" sz="1400" dirty="0"/>
          </a:p>
        </p:txBody>
      </p:sp>
      <p:sp>
        <p:nvSpPr>
          <p:cNvPr id="12" name="Shape 9"/>
          <p:cNvSpPr/>
          <p:nvPr/>
        </p:nvSpPr>
        <p:spPr>
          <a:xfrm>
            <a:off x="8178800" y="1595041"/>
            <a:ext cx="3200400" cy="1113730"/>
          </a:xfrm>
          <a:prstGeom prst="roundRect">
            <a:avLst>
              <a:gd name="adj" fmla="val 9122"/>
            </a:avLst>
          </a:prstGeom>
          <a:solidFill>
            <a:srgbClr val="FFFFFF"/>
          </a:solidFill>
          <a:ln/>
          <a:effectLst>
            <a:outerShdw sx="100000" sy="100000" kx="0" ky="0" algn="bl" rotWithShape="0" blurRad="101600" dist="25400" dir="5400000">
              <a:srgbClr val="C9D6E3">
                <a:alpha val="100000"/>
              </a:srgbClr>
            </a:outerShdw>
          </a:effectLst>
        </p:spPr>
      </p:sp>
      <p:sp>
        <p:nvSpPr>
          <p:cNvPr id="13" name="Text 10"/>
          <p:cNvSpPr/>
          <p:nvPr/>
        </p:nvSpPr>
        <p:spPr>
          <a:xfrm>
            <a:off x="8382000" y="1798241"/>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078D4"/>
                </a:solidFill>
                <a:latin typeface="Arial" pitchFamily="34" charset="0"/>
                <a:ea typeface="Arial" pitchFamily="34" charset="-122"/>
                <a:cs typeface="Arial" pitchFamily="34" charset="-120"/>
              </a:rPr>
              <a:t>247 days</a:t>
            </a:r>
            <a:endParaRPr lang="en-US" sz="2800" dirty="0"/>
          </a:p>
        </p:txBody>
      </p:sp>
      <p:sp>
        <p:nvSpPr>
          <p:cNvPr id="14" name="Text 11"/>
          <p:cNvSpPr/>
          <p:nvPr/>
        </p:nvSpPr>
        <p:spPr>
          <a:xfrm>
            <a:off x="8382000" y="2265561"/>
            <a:ext cx="28778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to identify and contain a breach</a:t>
            </a:r>
            <a:endParaRPr lang="en-US" sz="1400" dirty="0"/>
          </a:p>
        </p:txBody>
      </p:sp>
      <p:sp>
        <p:nvSpPr>
          <p:cNvPr id="15" name="Shape 12"/>
          <p:cNvSpPr/>
          <p:nvPr/>
        </p:nvSpPr>
        <p:spPr>
          <a:xfrm>
            <a:off x="4826000" y="2861171"/>
            <a:ext cx="3200400" cy="1593751"/>
          </a:xfrm>
          <a:prstGeom prst="roundRect">
            <a:avLst>
              <a:gd name="adj" fmla="val 6375"/>
            </a:avLst>
          </a:prstGeom>
          <a:solidFill>
            <a:srgbClr val="FFFFFF"/>
          </a:solidFill>
          <a:ln/>
          <a:effectLst>
            <a:outerShdw sx="100000" sy="100000" kx="0" ky="0" algn="bl" rotWithShape="0" blurRad="101600" dist="25400" dir="5400000">
              <a:srgbClr val="C9D6E3">
                <a:alpha val="100000"/>
              </a:srgbClr>
            </a:outerShdw>
          </a:effectLst>
        </p:spPr>
      </p:sp>
      <p:sp>
        <p:nvSpPr>
          <p:cNvPr id="16" name="Text 13"/>
          <p:cNvSpPr/>
          <p:nvPr/>
        </p:nvSpPr>
        <p:spPr>
          <a:xfrm>
            <a:off x="5029200" y="3064371"/>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7630C"/>
                </a:solidFill>
                <a:latin typeface="Arial" pitchFamily="34" charset="0"/>
                <a:ea typeface="Arial" pitchFamily="34" charset="-122"/>
                <a:cs typeface="Arial" pitchFamily="34" charset="-120"/>
              </a:rPr>
              <a:t>$5.29M</a:t>
            </a:r>
            <a:endParaRPr lang="en-US" sz="2800" dirty="0"/>
          </a:p>
        </p:txBody>
      </p:sp>
      <p:sp>
        <p:nvSpPr>
          <p:cNvPr id="17" name="Text 14"/>
          <p:cNvSpPr/>
          <p:nvPr/>
        </p:nvSpPr>
        <p:spPr>
          <a:xfrm>
            <a:off x="5029200" y="3531691"/>
            <a:ext cx="287782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average cost when phishing, vishing or smishing is the entry point</a:t>
            </a:r>
            <a:endParaRPr lang="en-US" sz="1400" dirty="0"/>
          </a:p>
        </p:txBody>
      </p:sp>
      <p:sp>
        <p:nvSpPr>
          <p:cNvPr id="18" name="Shape 15"/>
          <p:cNvSpPr/>
          <p:nvPr/>
        </p:nvSpPr>
        <p:spPr>
          <a:xfrm>
            <a:off x="8178800" y="2861171"/>
            <a:ext cx="3200400" cy="1593751"/>
          </a:xfrm>
          <a:prstGeom prst="roundRect">
            <a:avLst>
              <a:gd name="adj" fmla="val 6375"/>
            </a:avLst>
          </a:prstGeom>
          <a:solidFill>
            <a:srgbClr val="FFFFFF"/>
          </a:solidFill>
          <a:ln/>
          <a:effectLst>
            <a:outerShdw sx="100000" sy="100000" kx="0" ky="0" algn="bl" rotWithShape="0" blurRad="101600" dist="25400" dir="5400000">
              <a:srgbClr val="C9D6E3">
                <a:alpha val="100000"/>
              </a:srgbClr>
            </a:outerShdw>
          </a:effectLst>
        </p:spPr>
      </p:sp>
      <p:sp>
        <p:nvSpPr>
          <p:cNvPr id="19" name="Text 16"/>
          <p:cNvSpPr/>
          <p:nvPr/>
        </p:nvSpPr>
        <p:spPr>
          <a:xfrm>
            <a:off x="8382000" y="3064371"/>
            <a:ext cx="287782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0078D4"/>
                </a:solidFill>
                <a:latin typeface="Arial" pitchFamily="34" charset="0"/>
                <a:ea typeface="Arial" pitchFamily="34" charset="-122"/>
                <a:cs typeface="Arial" pitchFamily="34" charset="-120"/>
              </a:rPr>
              <a:t>$1.93M</a:t>
            </a:r>
            <a:endParaRPr lang="en-US" sz="2800" dirty="0"/>
          </a:p>
        </p:txBody>
      </p:sp>
      <p:sp>
        <p:nvSpPr>
          <p:cNvPr id="20" name="Text 17"/>
          <p:cNvSpPr/>
          <p:nvPr/>
        </p:nvSpPr>
        <p:spPr>
          <a:xfrm>
            <a:off x="8382000" y="3531691"/>
            <a:ext cx="287782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A6B"/>
                </a:solidFill>
                <a:latin typeface="Calibri" pitchFamily="34" charset="0"/>
                <a:ea typeface="Calibri" pitchFamily="34" charset="-122"/>
                <a:cs typeface="Calibri" pitchFamily="34" charset="-120"/>
              </a:rPr>
              <a:t>saved per breach with AI and automation in security</a:t>
            </a:r>
            <a:endParaRPr lang="en-US" sz="1400" dirty="0"/>
          </a:p>
        </p:txBody>
      </p:sp>
      <p:sp>
        <p:nvSpPr>
          <p:cNvPr id="21"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 IBM Cost of a Data Breach Report 2026</a:t>
            </a:r>
            <a:endParaRPr lang="en-US" sz="1200" dirty="0"/>
          </a:p>
        </p:txBody>
      </p:sp>
      <p:sp>
        <p:nvSpPr>
          <p:cNvPr id="22" name="Text 19"/>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78D4"/>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Three icons: a pointer clicking, a terminal command and a key">    </p:cNvPr>
          <p:cNvPicPr>
            <a:picLocks noChangeAspect="1"/>
          </p:cNvPicPr>
          <p:nvPr/>
        </p:nvPicPr>
        <p:blipFill>
          <a:blip r:embed="rId2"/>
          <a:srcRect l="0" r="0" t="0" b="0"/>
          <a:stretch/>
        </p:blipFill>
        <p:spPr>
          <a:xfrm>
            <a:off x="8255000" y="1524000"/>
            <a:ext cx="3302000" cy="3810000"/>
          </a:xfrm>
          <a:prstGeom prst="rect">
            <a:avLst/>
          </a:prstGeom>
        </p:spPr>
      </p:pic>
      <p:sp>
        <p:nvSpPr>
          <p:cNvPr id="4" name="Text 0"/>
          <p:cNvSpPr/>
          <p:nvPr/>
        </p:nvSpPr>
        <p:spPr>
          <a:xfrm>
            <a:off x="812800" y="16434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FFFFF"/>
                </a:solidFill>
                <a:latin typeface="Calibri" pitchFamily="34" charset="0"/>
                <a:ea typeface="Calibri" pitchFamily="34" charset="-122"/>
                <a:cs typeface="Calibri" pitchFamily="34" charset="-120"/>
              </a:rPr>
              <a:t>THE COMMON THREAD</a:t>
            </a:r>
            <a:endParaRPr lang="en-US" sz="1400" dirty="0"/>
          </a:p>
        </p:txBody>
      </p:sp>
      <p:sp>
        <p:nvSpPr>
          <p:cNvPr id="5" name="Text 1"/>
          <p:cNvSpPr/>
          <p:nvPr>
            <p:ph type="title"/>
          </p:nvPr>
        </p:nvSpPr>
        <p:spPr>
          <a:xfrm>
            <a:off x="812800" y="2146300"/>
            <a:ext cx="7194550" cy="2484041"/>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FFFFF"/>
                </a:solidFill>
                <a:latin typeface="Arial" pitchFamily="34" charset="0"/>
                <a:ea typeface="Arial" pitchFamily="34" charset="-122"/>
                <a:cs typeface="Arial" pitchFamily="34" charset="-120"/>
              </a:rPr>
              <a:t>Behind most statistics is one moment: a click, a paste or a reused password.</a:t>
            </a:r>
            <a:endParaRPr lang="en-US" sz="4400" dirty="0"/>
          </a:p>
        </p:txBody>
      </p:sp>
      <p:sp>
        <p:nvSpPr>
          <p:cNvPr id="6" name="Text 2"/>
          <p:cNvSpPr/>
          <p:nvPr/>
        </p:nvSpPr>
        <p:spPr>
          <a:xfrm>
            <a:off x="812800" y="4858941"/>
            <a:ext cx="693293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FFF"/>
                </a:solidFill>
                <a:latin typeface="Calibri" pitchFamily="34" charset="0"/>
                <a:ea typeface="Calibri" pitchFamily="34" charset="-122"/>
                <a:cs typeface="Calibri" pitchFamily="34" charset="-120"/>
              </a:rPr>
              <a:t>That moment is where each of us can stop an attack.</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08 · WHAT THIS MEANS FOR OUR UNIT</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From statistics to action</a:t>
            </a:r>
            <a:endParaRPr lang="en-US" sz="3600" dirty="0"/>
          </a:p>
        </p:txBody>
      </p:sp>
      <p:sp>
        <p:nvSpPr>
          <p:cNvPr id="5" name="Shape 2"/>
          <p:cNvSpPr/>
          <p:nvPr/>
        </p:nvSpPr>
        <p:spPr>
          <a:xfrm>
            <a:off x="812800" y="1595041"/>
            <a:ext cx="10566400" cy="3160514"/>
          </a:xfrm>
          <a:prstGeom prst="roundRect">
            <a:avLst>
              <a:gd name="adj" fmla="val 3215"/>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66800" y="2046486"/>
            <a:ext cx="10058400" cy="0"/>
          </a:xfrm>
          <a:prstGeom prst="line">
            <a:avLst/>
          </a:prstGeom>
          <a:noFill/>
          <a:ln w="19050">
            <a:solidFill>
              <a:srgbClr val="D6E2EE"/>
            </a:solidFill>
            <a:prstDash val="solid"/>
          </a:ln>
        </p:spPr>
      </p:sp>
      <p:sp>
        <p:nvSpPr>
          <p:cNvPr id="7" name="Text 4"/>
          <p:cNvSpPr/>
          <p:nvPr/>
        </p:nvSpPr>
        <p:spPr>
          <a:xfrm>
            <a:off x="1066800" y="1747441"/>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7630C"/>
                </a:solidFill>
                <a:latin typeface="Calibri" pitchFamily="34" charset="0"/>
                <a:ea typeface="Calibri" pitchFamily="34" charset="-122"/>
                <a:cs typeface="Calibri" pitchFamily="34" charset="-120"/>
              </a:rPr>
              <a:t>THE STATISTIC</a:t>
            </a:r>
            <a:endParaRPr lang="en-US" sz="1200" dirty="0"/>
          </a:p>
        </p:txBody>
      </p:sp>
      <p:sp>
        <p:nvSpPr>
          <p:cNvPr id="8" name="Text 5"/>
          <p:cNvSpPr/>
          <p:nvPr/>
        </p:nvSpPr>
        <p:spPr>
          <a:xfrm>
            <a:off x="5842000" y="1747441"/>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OUR ACTION</a:t>
            </a:r>
            <a:endParaRPr lang="en-US" sz="1200" dirty="0"/>
          </a:p>
        </p:txBody>
      </p:sp>
      <p:sp>
        <p:nvSpPr>
          <p:cNvPr id="9" name="Shape 6"/>
          <p:cNvSpPr/>
          <p:nvPr/>
        </p:nvSpPr>
        <p:spPr>
          <a:xfrm>
            <a:off x="1066800" y="2489002"/>
            <a:ext cx="10058400" cy="0"/>
          </a:xfrm>
          <a:prstGeom prst="line">
            <a:avLst/>
          </a:prstGeom>
          <a:noFill/>
          <a:ln w="12700">
            <a:solidFill>
              <a:srgbClr val="D6E2EE"/>
            </a:solidFill>
            <a:prstDash val="solid"/>
          </a:ln>
        </p:spPr>
      </p:sp>
      <p:pic>
        <p:nvPicPr>
          <p:cNvPr id="10" name="Image 1" descr="alert icon">    </p:cNvPr>
          <p:cNvPicPr>
            <a:picLocks noChangeAspect="1"/>
          </p:cNvPicPr>
          <p:nvPr/>
        </p:nvPicPr>
        <p:blipFill>
          <a:blip r:embed="rId2"/>
          <a:srcRect l="0" r="0" t="0" b="0"/>
          <a:stretch/>
        </p:blipFill>
        <p:spPr>
          <a:xfrm>
            <a:off x="1066800" y="2167731"/>
            <a:ext cx="203200" cy="203200"/>
          </a:xfrm>
          <a:prstGeom prst="rect">
            <a:avLst/>
          </a:prstGeom>
        </p:spPr>
      </p:pic>
      <p:sp>
        <p:nvSpPr>
          <p:cNvPr id="11" name="Text 7"/>
          <p:cNvSpPr/>
          <p:nvPr/>
        </p:nvSpPr>
        <p:spPr>
          <a:xfrm>
            <a:off x="1473200" y="2144911"/>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Email is the #1 malware route (41%)</a:t>
            </a:r>
            <a:endParaRPr lang="en-US" sz="1400" dirty="0"/>
          </a:p>
        </p:txBody>
      </p:sp>
      <p:pic>
        <p:nvPicPr>
          <p:cNvPr id="12" name="Image 2" descr="mail icon">    </p:cNvPr>
          <p:cNvPicPr>
            <a:picLocks noChangeAspect="1"/>
          </p:cNvPicPr>
          <p:nvPr/>
        </p:nvPicPr>
        <p:blipFill>
          <a:blip r:embed="rId3"/>
          <a:srcRect l="0" r="0" t="0" b="0"/>
          <a:stretch/>
        </p:blipFill>
        <p:spPr>
          <a:xfrm>
            <a:off x="5740400" y="2167731"/>
            <a:ext cx="203200" cy="203200"/>
          </a:xfrm>
          <a:prstGeom prst="rect">
            <a:avLst/>
          </a:prstGeom>
        </p:spPr>
      </p:pic>
      <p:sp>
        <p:nvSpPr>
          <p:cNvPr id="13" name="Text 8"/>
          <p:cNvSpPr/>
          <p:nvPr/>
        </p:nvSpPr>
        <p:spPr>
          <a:xfrm>
            <a:off x="6146800" y="2144911"/>
            <a:ext cx="51277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Pause before opening unexpected links and attachments</a:t>
            </a:r>
            <a:endParaRPr lang="en-US" sz="1400" dirty="0"/>
          </a:p>
        </p:txBody>
      </p:sp>
      <p:sp>
        <p:nvSpPr>
          <p:cNvPr id="14" name="Shape 9"/>
          <p:cNvSpPr/>
          <p:nvPr/>
        </p:nvSpPr>
        <p:spPr>
          <a:xfrm>
            <a:off x="1066800" y="2928342"/>
            <a:ext cx="10058400" cy="0"/>
          </a:xfrm>
          <a:prstGeom prst="line">
            <a:avLst/>
          </a:prstGeom>
          <a:noFill/>
          <a:ln w="12700">
            <a:solidFill>
              <a:srgbClr val="D6E2EE"/>
            </a:solidFill>
            <a:prstDash val="solid"/>
          </a:ln>
        </p:spPr>
      </p:sp>
      <p:pic>
        <p:nvPicPr>
          <p:cNvPr id="15" name="Image 3" descr="alert icon">    </p:cNvPr>
          <p:cNvPicPr>
            <a:picLocks noChangeAspect="1"/>
          </p:cNvPicPr>
          <p:nvPr/>
        </p:nvPicPr>
        <p:blipFill>
          <a:blip r:embed="rId4"/>
          <a:srcRect l="0" r="0" t="0" b="0"/>
          <a:stretch/>
        </p:blipFill>
        <p:spPr>
          <a:xfrm>
            <a:off x="1066800" y="2607072"/>
            <a:ext cx="203200" cy="203200"/>
          </a:xfrm>
          <a:prstGeom prst="rect">
            <a:avLst/>
          </a:prstGeom>
        </p:spPr>
      </p:pic>
      <p:sp>
        <p:nvSpPr>
          <p:cNvPr id="16" name="Text 10"/>
          <p:cNvSpPr/>
          <p:nvPr/>
        </p:nvSpPr>
        <p:spPr>
          <a:xfrm>
            <a:off x="1473200" y="2584252"/>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Fake CAPTCHA lures up 563%</a:t>
            </a:r>
            <a:endParaRPr lang="en-US" sz="1400" dirty="0"/>
          </a:p>
        </p:txBody>
      </p:sp>
      <p:pic>
        <p:nvPicPr>
          <p:cNvPr id="17" name="Image 4" descr="terminal icon">    </p:cNvPr>
          <p:cNvPicPr>
            <a:picLocks noChangeAspect="1"/>
          </p:cNvPicPr>
          <p:nvPr/>
        </p:nvPicPr>
        <p:blipFill>
          <a:blip r:embed="rId5"/>
          <a:srcRect l="0" r="0" t="0" b="0"/>
          <a:stretch/>
        </p:blipFill>
        <p:spPr>
          <a:xfrm>
            <a:off x="5740400" y="2607072"/>
            <a:ext cx="203200" cy="203200"/>
          </a:xfrm>
          <a:prstGeom prst="rect">
            <a:avLst/>
          </a:prstGeom>
        </p:spPr>
      </p:pic>
      <p:sp>
        <p:nvSpPr>
          <p:cNvPr id="18" name="Text 11"/>
          <p:cNvSpPr/>
          <p:nvPr/>
        </p:nvSpPr>
        <p:spPr>
          <a:xfrm>
            <a:off x="6146800" y="2584252"/>
            <a:ext cx="51277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Never paste or run commands a website gives you</a:t>
            </a:r>
            <a:endParaRPr lang="en-US" sz="1400" dirty="0"/>
          </a:p>
        </p:txBody>
      </p:sp>
      <p:sp>
        <p:nvSpPr>
          <p:cNvPr id="19" name="Shape 12"/>
          <p:cNvSpPr/>
          <p:nvPr/>
        </p:nvSpPr>
        <p:spPr>
          <a:xfrm>
            <a:off x="1066800" y="3367683"/>
            <a:ext cx="10058400" cy="0"/>
          </a:xfrm>
          <a:prstGeom prst="line">
            <a:avLst/>
          </a:prstGeom>
          <a:noFill/>
          <a:ln w="12700">
            <a:solidFill>
              <a:srgbClr val="D6E2EE"/>
            </a:solidFill>
            <a:prstDash val="solid"/>
          </a:ln>
        </p:spPr>
      </p:sp>
      <p:pic>
        <p:nvPicPr>
          <p:cNvPr id="20" name="Image 5" descr="alert icon">    </p:cNvPr>
          <p:cNvPicPr>
            <a:picLocks noChangeAspect="1"/>
          </p:cNvPicPr>
          <p:nvPr/>
        </p:nvPicPr>
        <p:blipFill>
          <a:blip r:embed="rId6"/>
          <a:srcRect l="0" r="0" t="0" b="0"/>
          <a:stretch/>
        </p:blipFill>
        <p:spPr>
          <a:xfrm>
            <a:off x="1066800" y="3046413"/>
            <a:ext cx="203200" cy="203200"/>
          </a:xfrm>
          <a:prstGeom prst="rect">
            <a:avLst/>
          </a:prstGeom>
        </p:spPr>
      </p:pic>
      <p:sp>
        <p:nvSpPr>
          <p:cNvPr id="21" name="Text 13"/>
          <p:cNvSpPr/>
          <p:nvPr/>
        </p:nvSpPr>
        <p:spPr>
          <a:xfrm>
            <a:off x="1473200" y="3023592"/>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82% of detections are malware-free</a:t>
            </a:r>
            <a:endParaRPr lang="en-US" sz="1400" dirty="0"/>
          </a:p>
        </p:txBody>
      </p:sp>
      <p:pic>
        <p:nvPicPr>
          <p:cNvPr id="22" name="Image 6" descr="key icon">    </p:cNvPr>
          <p:cNvPicPr>
            <a:picLocks noChangeAspect="1"/>
          </p:cNvPicPr>
          <p:nvPr/>
        </p:nvPicPr>
        <p:blipFill>
          <a:blip r:embed="rId7"/>
          <a:srcRect l="0" r="0" t="0" b="0"/>
          <a:stretch/>
        </p:blipFill>
        <p:spPr>
          <a:xfrm>
            <a:off x="5740400" y="3046413"/>
            <a:ext cx="203200" cy="203200"/>
          </a:xfrm>
          <a:prstGeom prst="rect">
            <a:avLst/>
          </a:prstGeom>
        </p:spPr>
      </p:pic>
      <p:sp>
        <p:nvSpPr>
          <p:cNvPr id="23" name="Text 14"/>
          <p:cNvSpPr/>
          <p:nvPr/>
        </p:nvSpPr>
        <p:spPr>
          <a:xfrm>
            <a:off x="6146800" y="3023592"/>
            <a:ext cx="51277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Protect your logins: MFA and unique passwords</a:t>
            </a:r>
            <a:endParaRPr lang="en-US" sz="1400" dirty="0"/>
          </a:p>
        </p:txBody>
      </p:sp>
      <p:sp>
        <p:nvSpPr>
          <p:cNvPr id="24" name="Shape 15"/>
          <p:cNvSpPr/>
          <p:nvPr/>
        </p:nvSpPr>
        <p:spPr>
          <a:xfrm>
            <a:off x="1066800" y="3807023"/>
            <a:ext cx="10058400" cy="0"/>
          </a:xfrm>
          <a:prstGeom prst="line">
            <a:avLst/>
          </a:prstGeom>
          <a:noFill/>
          <a:ln w="12700">
            <a:solidFill>
              <a:srgbClr val="D6E2EE"/>
            </a:solidFill>
            <a:prstDash val="solid"/>
          </a:ln>
        </p:spPr>
      </p:sp>
      <p:pic>
        <p:nvPicPr>
          <p:cNvPr id="25" name="Image 7" descr="alert icon">    </p:cNvPr>
          <p:cNvPicPr>
            <a:picLocks noChangeAspect="1"/>
          </p:cNvPicPr>
          <p:nvPr/>
        </p:nvPicPr>
        <p:blipFill>
          <a:blip r:embed="rId8"/>
          <a:srcRect l="0" r="0" t="0" b="0"/>
          <a:stretch/>
        </p:blipFill>
        <p:spPr>
          <a:xfrm>
            <a:off x="1066800" y="3485753"/>
            <a:ext cx="203200" cy="203200"/>
          </a:xfrm>
          <a:prstGeom prst="rect">
            <a:avLst/>
          </a:prstGeom>
        </p:spPr>
      </p:pic>
      <p:sp>
        <p:nvSpPr>
          <p:cNvPr id="26" name="Text 16"/>
          <p:cNvSpPr/>
          <p:nvPr/>
        </p:nvSpPr>
        <p:spPr>
          <a:xfrm>
            <a:off x="1473200" y="3462933"/>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31% of breaches start with a vulnerability</a:t>
            </a:r>
            <a:endParaRPr lang="en-US" sz="1400" dirty="0"/>
          </a:p>
        </p:txBody>
      </p:sp>
      <p:pic>
        <p:nvPicPr>
          <p:cNvPr id="27" name="Image 8" descr="refresh icon">    </p:cNvPr>
          <p:cNvPicPr>
            <a:picLocks noChangeAspect="1"/>
          </p:cNvPicPr>
          <p:nvPr/>
        </p:nvPicPr>
        <p:blipFill>
          <a:blip r:embed="rId9"/>
          <a:srcRect l="0" r="0" t="0" b="0"/>
          <a:stretch/>
        </p:blipFill>
        <p:spPr>
          <a:xfrm>
            <a:off x="5740400" y="3485753"/>
            <a:ext cx="203200" cy="203200"/>
          </a:xfrm>
          <a:prstGeom prst="rect">
            <a:avLst/>
          </a:prstGeom>
        </p:spPr>
      </p:pic>
      <p:sp>
        <p:nvSpPr>
          <p:cNvPr id="28" name="Text 17"/>
          <p:cNvSpPr/>
          <p:nvPr/>
        </p:nvSpPr>
        <p:spPr>
          <a:xfrm>
            <a:off x="6146800" y="3462933"/>
            <a:ext cx="51277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Install updates promptly and restart when asked</a:t>
            </a:r>
            <a:endParaRPr lang="en-US" sz="1400" dirty="0"/>
          </a:p>
        </p:txBody>
      </p:sp>
      <p:sp>
        <p:nvSpPr>
          <p:cNvPr id="29" name="Shape 18"/>
          <p:cNvSpPr/>
          <p:nvPr/>
        </p:nvSpPr>
        <p:spPr>
          <a:xfrm>
            <a:off x="1066800" y="4246364"/>
            <a:ext cx="10058400" cy="0"/>
          </a:xfrm>
          <a:prstGeom prst="line">
            <a:avLst/>
          </a:prstGeom>
          <a:noFill/>
          <a:ln w="12700">
            <a:solidFill>
              <a:srgbClr val="D6E2EE"/>
            </a:solidFill>
            <a:prstDash val="solid"/>
          </a:ln>
        </p:spPr>
      </p:sp>
      <p:pic>
        <p:nvPicPr>
          <p:cNvPr id="30" name="Image 9" descr="alert icon">    </p:cNvPr>
          <p:cNvPicPr>
            <a:picLocks noChangeAspect="1"/>
          </p:cNvPicPr>
          <p:nvPr/>
        </p:nvPicPr>
        <p:blipFill>
          <a:blip r:embed="rId10"/>
          <a:srcRect l="0" r="0" t="0" b="0"/>
          <a:stretch/>
        </p:blipFill>
        <p:spPr>
          <a:xfrm>
            <a:off x="1066800" y="3925094"/>
            <a:ext cx="203200" cy="203200"/>
          </a:xfrm>
          <a:prstGeom prst="rect">
            <a:avLst/>
          </a:prstGeom>
        </p:spPr>
      </p:pic>
      <p:sp>
        <p:nvSpPr>
          <p:cNvPr id="31" name="Text 19"/>
          <p:cNvSpPr/>
          <p:nvPr/>
        </p:nvSpPr>
        <p:spPr>
          <a:xfrm>
            <a:off x="1473200" y="3902273"/>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Ransomware in 48% of breaches</a:t>
            </a:r>
            <a:endParaRPr lang="en-US" sz="1400" dirty="0"/>
          </a:p>
        </p:txBody>
      </p:sp>
      <p:pic>
        <p:nvPicPr>
          <p:cNvPr id="32" name="Image 10" descr="save icon">    </p:cNvPr>
          <p:cNvPicPr>
            <a:picLocks noChangeAspect="1"/>
          </p:cNvPicPr>
          <p:nvPr/>
        </p:nvPicPr>
        <p:blipFill>
          <a:blip r:embed="rId11"/>
          <a:srcRect l="0" r="0" t="0" b="0"/>
          <a:stretch/>
        </p:blipFill>
        <p:spPr>
          <a:xfrm>
            <a:off x="5740400" y="3925094"/>
            <a:ext cx="203200" cy="203200"/>
          </a:xfrm>
          <a:prstGeom prst="rect">
            <a:avLst/>
          </a:prstGeom>
        </p:spPr>
      </p:pic>
      <p:sp>
        <p:nvSpPr>
          <p:cNvPr id="33" name="Text 20"/>
          <p:cNvSpPr/>
          <p:nvPr/>
        </p:nvSpPr>
        <p:spPr>
          <a:xfrm>
            <a:off x="6146800" y="3902273"/>
            <a:ext cx="51277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Save work to backed-up storage, not just your desktop</a:t>
            </a:r>
            <a:endParaRPr lang="en-US" sz="1400" dirty="0"/>
          </a:p>
        </p:txBody>
      </p:sp>
      <p:pic>
        <p:nvPicPr>
          <p:cNvPr id="34" name="Image 11" descr="alert icon">    </p:cNvPr>
          <p:cNvPicPr>
            <a:picLocks noChangeAspect="1"/>
          </p:cNvPicPr>
          <p:nvPr/>
        </p:nvPicPr>
        <p:blipFill>
          <a:blip r:embed="rId12"/>
          <a:srcRect l="0" r="0" t="0" b="0"/>
          <a:stretch/>
        </p:blipFill>
        <p:spPr>
          <a:xfrm>
            <a:off x="1066800" y="4364434"/>
            <a:ext cx="203200" cy="203200"/>
          </a:xfrm>
          <a:prstGeom prst="rect">
            <a:avLst/>
          </a:prstGeom>
        </p:spPr>
      </p:pic>
      <p:sp>
        <p:nvSpPr>
          <p:cNvPr id="35" name="Text 21"/>
          <p:cNvSpPr/>
          <p:nvPr/>
        </p:nvSpPr>
        <p:spPr>
          <a:xfrm>
            <a:off x="1473200" y="4341614"/>
            <a:ext cx="41859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B1F33"/>
                </a:solidFill>
                <a:latin typeface="Calibri" pitchFamily="34" charset="0"/>
                <a:ea typeface="Calibri" pitchFamily="34" charset="-122"/>
                <a:cs typeface="Calibri" pitchFamily="34" charset="-120"/>
              </a:rPr>
              <a:t>29-minute average breakout</a:t>
            </a:r>
            <a:endParaRPr lang="en-US" sz="1400" dirty="0"/>
          </a:p>
        </p:txBody>
      </p:sp>
      <p:pic>
        <p:nvPicPr>
          <p:cNvPr id="36" name="Image 12" descr="megaphone icon">    </p:cNvPr>
          <p:cNvPicPr>
            <a:picLocks noChangeAspect="1"/>
          </p:cNvPicPr>
          <p:nvPr/>
        </p:nvPicPr>
        <p:blipFill>
          <a:blip r:embed="rId13"/>
          <a:srcRect l="0" r="0" t="0" b="0"/>
          <a:stretch/>
        </p:blipFill>
        <p:spPr>
          <a:xfrm>
            <a:off x="5740400" y="4364434"/>
            <a:ext cx="203200" cy="203200"/>
          </a:xfrm>
          <a:prstGeom prst="rect">
            <a:avLst/>
          </a:prstGeom>
        </p:spPr>
      </p:pic>
      <p:sp>
        <p:nvSpPr>
          <p:cNvPr id="37" name="Text 22"/>
          <p:cNvSpPr/>
          <p:nvPr/>
        </p:nvSpPr>
        <p:spPr>
          <a:xfrm>
            <a:off x="6146800" y="4341614"/>
            <a:ext cx="512775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1F33"/>
                </a:solidFill>
                <a:latin typeface="Calibri" pitchFamily="34" charset="0"/>
                <a:ea typeface="Calibri" pitchFamily="34" charset="-122"/>
                <a:cs typeface="Calibri" pitchFamily="34" charset="-120"/>
              </a:rPr>
              <a:t>Report anything suspicious to IT immediately</a:t>
            </a:r>
            <a:endParaRPr lang="en-US" sz="1400" dirty="0"/>
          </a:p>
        </p:txBody>
      </p:sp>
      <p:sp>
        <p:nvSpPr>
          <p:cNvPr id="38"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Sources: SentinelOne · Verizon DBIR · CrowdStrike, all 2026</a:t>
            </a:r>
            <a:endParaRPr lang="en-US" sz="1200" dirty="0"/>
          </a:p>
        </p:txBody>
      </p:sp>
      <p:sp>
        <p:nvSpPr>
          <p:cNvPr id="39" name="Text 24"/>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78D4"/>
                </a:solidFill>
                <a:latin typeface="Calibri" pitchFamily="34" charset="0"/>
                <a:ea typeface="Calibri" pitchFamily="34" charset="-122"/>
                <a:cs typeface="Calibri" pitchFamily="34" charset="-120"/>
              </a:rPr>
              <a:t>09 · REFERENCES</a:t>
            </a:r>
            <a:endParaRPr lang="en-US" sz="1200" dirty="0"/>
          </a:p>
        </p:txBody>
      </p:sp>
      <p:sp>
        <p:nvSpPr>
          <p:cNvPr id="4" name="Text 1"/>
          <p:cNvSpPr/>
          <p:nvPr>
            <p:ph type="title"/>
          </p:nvPr>
        </p:nvSpPr>
        <p:spPr>
          <a:xfrm>
            <a:off x="812800" y="8128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B1F33"/>
                </a:solidFill>
                <a:latin typeface="Arial" pitchFamily="34" charset="0"/>
                <a:ea typeface="Arial" pitchFamily="34" charset="-122"/>
                <a:cs typeface="Arial" pitchFamily="34" charset="-120"/>
              </a:rPr>
              <a:t>Sources</a:t>
            </a:r>
            <a:endParaRPr lang="en-US" sz="3600" dirty="0"/>
          </a:p>
        </p:txBody>
      </p:sp>
      <p:sp>
        <p:nvSpPr>
          <p:cNvPr id="5" name="Shape 2"/>
          <p:cNvSpPr/>
          <p:nvPr/>
        </p:nvSpPr>
        <p:spPr>
          <a:xfrm>
            <a:off x="812800" y="1595041"/>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6" name="Shape 3"/>
          <p:cNvSpPr/>
          <p:nvPr/>
        </p:nvSpPr>
        <p:spPr>
          <a:xfrm>
            <a:off x="1016000" y="1722041"/>
            <a:ext cx="355600" cy="355600"/>
          </a:xfrm>
          <a:prstGeom prst="roundRect">
            <a:avLst>
              <a:gd name="adj" fmla="val 50000"/>
            </a:avLst>
          </a:prstGeom>
          <a:solidFill>
            <a:srgbClr val="EAF3FC"/>
          </a:solidFill>
          <a:ln/>
        </p:spPr>
      </p:sp>
      <p:pic>
        <p:nvPicPr>
          <p:cNvPr id="7" name="Image 1" descr="book icon">    </p:cNvPr>
          <p:cNvPicPr>
            <a:picLocks noChangeAspect="1"/>
          </p:cNvPicPr>
          <p:nvPr/>
        </p:nvPicPr>
        <p:blipFill>
          <a:blip r:embed="rId2"/>
          <a:srcRect l="0" r="0" t="0" b="0"/>
          <a:stretch/>
        </p:blipFill>
        <p:spPr>
          <a:xfrm>
            <a:off x="1104900" y="1810941"/>
            <a:ext cx="177800" cy="177800"/>
          </a:xfrm>
          <a:prstGeom prst="rect">
            <a:avLst/>
          </a:prstGeom>
        </p:spPr>
      </p:pic>
      <p:sp>
        <p:nvSpPr>
          <p:cNvPr id="8" name="Text 4"/>
          <p:cNvSpPr/>
          <p:nvPr/>
        </p:nvSpPr>
        <p:spPr>
          <a:xfrm>
            <a:off x="1549400" y="17664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SentinelOne</a:t>
            </a:r>
            <a:endParaRPr lang="en-US" sz="1500" dirty="0"/>
          </a:p>
        </p:txBody>
      </p:sp>
      <p:sp>
        <p:nvSpPr>
          <p:cNvPr id="9" name="Text 5"/>
          <p:cNvSpPr/>
          <p:nvPr/>
        </p:nvSpPr>
        <p:spPr>
          <a:xfrm>
            <a:off x="3886200" y="1775420"/>
            <a:ext cx="75084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Malware Statistics for 2026, updated 7 May 2026</a:t>
            </a:r>
            <a:endParaRPr lang="en-US" sz="1400" dirty="0"/>
          </a:p>
        </p:txBody>
      </p:sp>
      <p:sp>
        <p:nvSpPr>
          <p:cNvPr id="10" name="Shape 6"/>
          <p:cNvSpPr/>
          <p:nvPr/>
        </p:nvSpPr>
        <p:spPr>
          <a:xfrm>
            <a:off x="812800" y="2306241"/>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11" name="Shape 7"/>
          <p:cNvSpPr/>
          <p:nvPr/>
        </p:nvSpPr>
        <p:spPr>
          <a:xfrm>
            <a:off x="1016000" y="2433241"/>
            <a:ext cx="355600" cy="355600"/>
          </a:xfrm>
          <a:prstGeom prst="roundRect">
            <a:avLst>
              <a:gd name="adj" fmla="val 50000"/>
            </a:avLst>
          </a:prstGeom>
          <a:solidFill>
            <a:srgbClr val="EAF3FC"/>
          </a:solidFill>
          <a:ln/>
        </p:spPr>
      </p:sp>
      <p:pic>
        <p:nvPicPr>
          <p:cNvPr id="12" name="Image 2" descr="book icon">    </p:cNvPr>
          <p:cNvPicPr>
            <a:picLocks noChangeAspect="1"/>
          </p:cNvPicPr>
          <p:nvPr/>
        </p:nvPicPr>
        <p:blipFill>
          <a:blip r:embed="rId3"/>
          <a:srcRect l="0" r="0" t="0" b="0"/>
          <a:stretch/>
        </p:blipFill>
        <p:spPr>
          <a:xfrm>
            <a:off x="1104900" y="2522141"/>
            <a:ext cx="177800" cy="177800"/>
          </a:xfrm>
          <a:prstGeom prst="rect">
            <a:avLst/>
          </a:prstGeom>
        </p:spPr>
      </p:pic>
      <p:sp>
        <p:nvSpPr>
          <p:cNvPr id="13" name="Text 8"/>
          <p:cNvSpPr/>
          <p:nvPr/>
        </p:nvSpPr>
        <p:spPr>
          <a:xfrm>
            <a:off x="1549400" y="24776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Verizon</a:t>
            </a:r>
            <a:endParaRPr lang="en-US" sz="1500" dirty="0"/>
          </a:p>
        </p:txBody>
      </p:sp>
      <p:sp>
        <p:nvSpPr>
          <p:cNvPr id="14" name="Text 9"/>
          <p:cNvSpPr/>
          <p:nvPr/>
        </p:nvSpPr>
        <p:spPr>
          <a:xfrm>
            <a:off x="3886200" y="2486620"/>
            <a:ext cx="75084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2026 Data Breach Investigations Report</a:t>
            </a:r>
            <a:endParaRPr lang="en-US" sz="1400" dirty="0"/>
          </a:p>
        </p:txBody>
      </p:sp>
      <p:sp>
        <p:nvSpPr>
          <p:cNvPr id="15" name="Shape 10"/>
          <p:cNvSpPr/>
          <p:nvPr/>
        </p:nvSpPr>
        <p:spPr>
          <a:xfrm>
            <a:off x="812800" y="3017441"/>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16" name="Shape 11"/>
          <p:cNvSpPr/>
          <p:nvPr/>
        </p:nvSpPr>
        <p:spPr>
          <a:xfrm>
            <a:off x="1016000" y="3144441"/>
            <a:ext cx="355600" cy="355600"/>
          </a:xfrm>
          <a:prstGeom prst="roundRect">
            <a:avLst>
              <a:gd name="adj" fmla="val 50000"/>
            </a:avLst>
          </a:prstGeom>
          <a:solidFill>
            <a:srgbClr val="EAF3FC"/>
          </a:solidFill>
          <a:ln/>
        </p:spPr>
      </p:sp>
      <p:pic>
        <p:nvPicPr>
          <p:cNvPr id="17" name="Image 3" descr="book icon">    </p:cNvPr>
          <p:cNvPicPr>
            <a:picLocks noChangeAspect="1"/>
          </p:cNvPicPr>
          <p:nvPr/>
        </p:nvPicPr>
        <p:blipFill>
          <a:blip r:embed="rId4"/>
          <a:srcRect l="0" r="0" t="0" b="0"/>
          <a:stretch/>
        </p:blipFill>
        <p:spPr>
          <a:xfrm>
            <a:off x="1104900" y="3233341"/>
            <a:ext cx="177800" cy="177800"/>
          </a:xfrm>
          <a:prstGeom prst="rect">
            <a:avLst/>
          </a:prstGeom>
        </p:spPr>
      </p:pic>
      <p:sp>
        <p:nvSpPr>
          <p:cNvPr id="18" name="Text 12"/>
          <p:cNvSpPr/>
          <p:nvPr/>
        </p:nvSpPr>
        <p:spPr>
          <a:xfrm>
            <a:off x="1549400" y="31888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IBM</a:t>
            </a:r>
            <a:endParaRPr lang="en-US" sz="1500" dirty="0"/>
          </a:p>
        </p:txBody>
      </p:sp>
      <p:sp>
        <p:nvSpPr>
          <p:cNvPr id="19" name="Text 13"/>
          <p:cNvSpPr/>
          <p:nvPr/>
        </p:nvSpPr>
        <p:spPr>
          <a:xfrm>
            <a:off x="3886200" y="3197820"/>
            <a:ext cx="75084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Cost of a Data Breach Report 2026</a:t>
            </a:r>
            <a:endParaRPr lang="en-US" sz="1400" dirty="0"/>
          </a:p>
        </p:txBody>
      </p:sp>
      <p:sp>
        <p:nvSpPr>
          <p:cNvPr id="20" name="Shape 14"/>
          <p:cNvSpPr/>
          <p:nvPr/>
        </p:nvSpPr>
        <p:spPr>
          <a:xfrm>
            <a:off x="812800" y="3728641"/>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21" name="Shape 15"/>
          <p:cNvSpPr/>
          <p:nvPr/>
        </p:nvSpPr>
        <p:spPr>
          <a:xfrm>
            <a:off x="1016000" y="3855641"/>
            <a:ext cx="355600" cy="355600"/>
          </a:xfrm>
          <a:prstGeom prst="roundRect">
            <a:avLst>
              <a:gd name="adj" fmla="val 50000"/>
            </a:avLst>
          </a:prstGeom>
          <a:solidFill>
            <a:srgbClr val="EAF3FC"/>
          </a:solidFill>
          <a:ln/>
        </p:spPr>
      </p:sp>
      <p:pic>
        <p:nvPicPr>
          <p:cNvPr id="22" name="Image 4" descr="book icon">    </p:cNvPr>
          <p:cNvPicPr>
            <a:picLocks noChangeAspect="1"/>
          </p:cNvPicPr>
          <p:nvPr/>
        </p:nvPicPr>
        <p:blipFill>
          <a:blip r:embed="rId5"/>
          <a:srcRect l="0" r="0" t="0" b="0"/>
          <a:stretch/>
        </p:blipFill>
        <p:spPr>
          <a:xfrm>
            <a:off x="1104900" y="3944541"/>
            <a:ext cx="177800" cy="177800"/>
          </a:xfrm>
          <a:prstGeom prst="rect">
            <a:avLst/>
          </a:prstGeom>
        </p:spPr>
      </p:pic>
      <p:sp>
        <p:nvSpPr>
          <p:cNvPr id="23" name="Text 16"/>
          <p:cNvSpPr/>
          <p:nvPr/>
        </p:nvSpPr>
        <p:spPr>
          <a:xfrm>
            <a:off x="1549400" y="39000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CrowdStrike</a:t>
            </a:r>
            <a:endParaRPr lang="en-US" sz="1500" dirty="0"/>
          </a:p>
        </p:txBody>
      </p:sp>
      <p:sp>
        <p:nvSpPr>
          <p:cNvPr id="24" name="Text 17"/>
          <p:cNvSpPr/>
          <p:nvPr/>
        </p:nvSpPr>
        <p:spPr>
          <a:xfrm>
            <a:off x="3886200" y="3909020"/>
            <a:ext cx="75084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2026 Global Threat Report</a:t>
            </a:r>
            <a:endParaRPr lang="en-US" sz="1400" dirty="0"/>
          </a:p>
        </p:txBody>
      </p:sp>
      <p:sp>
        <p:nvSpPr>
          <p:cNvPr id="25" name="Shape 18"/>
          <p:cNvSpPr/>
          <p:nvPr/>
        </p:nvSpPr>
        <p:spPr>
          <a:xfrm>
            <a:off x="812800" y="4439841"/>
            <a:ext cx="10566400" cy="609600"/>
          </a:xfrm>
          <a:prstGeom prst="roundRect">
            <a:avLst>
              <a:gd name="adj" fmla="val 16667"/>
            </a:avLst>
          </a:prstGeom>
          <a:solidFill>
            <a:srgbClr val="FFFFFF"/>
          </a:solidFill>
          <a:ln/>
          <a:effectLst>
            <a:outerShdw sx="100000" sy="100000" kx="0" ky="0" algn="bl" rotWithShape="0" blurRad="101600" dist="25400" dir="5400000">
              <a:srgbClr val="C9D6E3">
                <a:alpha val="100000"/>
              </a:srgbClr>
            </a:outerShdw>
          </a:effectLst>
        </p:spPr>
      </p:sp>
      <p:sp>
        <p:nvSpPr>
          <p:cNvPr id="26" name="Shape 19"/>
          <p:cNvSpPr/>
          <p:nvPr/>
        </p:nvSpPr>
        <p:spPr>
          <a:xfrm>
            <a:off x="1016000" y="4566841"/>
            <a:ext cx="355600" cy="355600"/>
          </a:xfrm>
          <a:prstGeom prst="roundRect">
            <a:avLst>
              <a:gd name="adj" fmla="val 50000"/>
            </a:avLst>
          </a:prstGeom>
          <a:solidFill>
            <a:srgbClr val="EAF3FC"/>
          </a:solidFill>
          <a:ln/>
        </p:spPr>
      </p:sp>
      <p:pic>
        <p:nvPicPr>
          <p:cNvPr id="27" name="Image 5" descr="book icon">    </p:cNvPr>
          <p:cNvPicPr>
            <a:picLocks noChangeAspect="1"/>
          </p:cNvPicPr>
          <p:nvPr/>
        </p:nvPicPr>
        <p:blipFill>
          <a:blip r:embed="rId6"/>
          <a:srcRect l="0" r="0" t="0" b="0"/>
          <a:stretch/>
        </p:blipFill>
        <p:spPr>
          <a:xfrm>
            <a:off x="1104900" y="4655741"/>
            <a:ext cx="177800" cy="177800"/>
          </a:xfrm>
          <a:prstGeom prst="rect">
            <a:avLst/>
          </a:prstGeom>
        </p:spPr>
      </p:pic>
      <p:sp>
        <p:nvSpPr>
          <p:cNvPr id="28" name="Text 20"/>
          <p:cNvSpPr/>
          <p:nvPr/>
        </p:nvSpPr>
        <p:spPr>
          <a:xfrm>
            <a:off x="1549400" y="4611291"/>
            <a:ext cx="222377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F33"/>
                </a:solidFill>
                <a:latin typeface="Calibri" pitchFamily="34" charset="0"/>
                <a:ea typeface="Calibri" pitchFamily="34" charset="-122"/>
                <a:cs typeface="Calibri" pitchFamily="34" charset="-120"/>
              </a:rPr>
              <a:t>Hornetsecurity</a:t>
            </a:r>
            <a:endParaRPr lang="en-US" sz="1500" dirty="0"/>
          </a:p>
        </p:txBody>
      </p:sp>
      <p:sp>
        <p:nvSpPr>
          <p:cNvPr id="29" name="Text 21"/>
          <p:cNvSpPr/>
          <p:nvPr/>
        </p:nvSpPr>
        <p:spPr>
          <a:xfrm>
            <a:off x="3886200" y="4620220"/>
            <a:ext cx="750849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6B"/>
                </a:solidFill>
                <a:latin typeface="Calibri" pitchFamily="34" charset="0"/>
                <a:ea typeface="Calibri" pitchFamily="34" charset="-122"/>
                <a:cs typeface="Calibri" pitchFamily="34" charset="-120"/>
              </a:rPr>
              <a:t>Cybersecurity Report 2026</a:t>
            </a:r>
            <a:endParaRPr lang="en-US" sz="1400" dirty="0"/>
          </a:p>
        </p:txBody>
      </p:sp>
      <p:sp>
        <p:nvSpPr>
          <p:cNvPr id="30" name="Text 22"/>
          <p:cNvSpPr/>
          <p:nvPr/>
        </p:nvSpPr>
        <p:spPr>
          <a:xfrm>
            <a:off x="812800" y="5328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Figures are as published by each source. Some SentinelOne figures aggregate third-party research.</a:t>
            </a:r>
            <a:endParaRPr lang="en-US" sz="1200" dirty="0"/>
          </a:p>
        </p:txBody>
      </p:sp>
      <p:sp>
        <p:nvSpPr>
          <p:cNvPr id="31"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A6B"/>
                </a:solidFill>
                <a:latin typeface="Calibri" pitchFamily="34" charset="0"/>
                <a:ea typeface="Calibri" pitchFamily="34" charset="-122"/>
                <a:cs typeface="Calibri" pitchFamily="34" charset="-120"/>
              </a:rPr>
              <a:t>Global Malware Attack Statistics 2026</a:t>
            </a:r>
            <a:endParaRPr lang="en-US" sz="1200" dirty="0"/>
          </a:p>
        </p:txBody>
      </p:sp>
      <p:sp>
        <p:nvSpPr>
          <p:cNvPr id="32" name="Text 24"/>
          <p:cNvSpPr/>
          <p:nvPr/>
        </p:nvSpPr>
        <p:spPr>
          <a:xfrm>
            <a:off x="9855200" y="6238280"/>
            <a:ext cx="15240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A6B"/>
                </a:solidFill>
                <a:latin typeface="Calibri" pitchFamily="34" charset="0"/>
                <a:ea typeface="Calibri" pitchFamily="34" charset="-122"/>
                <a:cs typeface="Calibri" pitchFamily="34" charset="-120"/>
              </a:rPr>
              <a:t>ZNexora Tech · 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pic>
        <p:nvPicPr>
          <p:cNvPr id="2" name="Image 0" descr="ZNexora Tech logo">    </p:cNvPr>
          <p:cNvPicPr>
            <a:picLocks noChangeAspect="1"/>
          </p:cNvPicPr>
          <p:nvPr/>
        </p:nvPicPr>
        <p:blipFill>
          <a:blip r:embed="rId1"/>
          <a:srcRect l="-106" r="-106" t="0" b="0"/>
          <a:stretch/>
        </p:blipFill>
        <p:spPr>
          <a:xfrm>
            <a:off x="10414000" y="114300"/>
            <a:ext cx="1473200" cy="762000"/>
          </a:xfrm>
          <a:prstGeom prst="rect">
            <a:avLst/>
          </a:prstGeom>
        </p:spPr>
      </p:pic>
      <p:pic>
        <p:nvPicPr>
          <p:cNvPr id="3" name="Image 1" descr="rect">    </p:cNvPr>
          <p:cNvPicPr>
            <a:picLocks noChangeAspect="1"/>
          </p:cNvPicPr>
          <p:nvPr/>
        </p:nvPicPr>
        <p:blipFill>
          <a:blip r:embed="rId2"/>
          <a:srcRect l="0" r="0" t="0" b="0"/>
          <a:stretch/>
        </p:blipFill>
        <p:spPr>
          <a:xfrm>
            <a:off x="0" y="0"/>
            <a:ext cx="152400" cy="6858000"/>
          </a:xfrm>
          <a:prstGeom prst="rect">
            <a:avLst/>
          </a:prstGeom>
        </p:spPr>
      </p:pic>
      <p:pic>
        <p:nvPicPr>
          <p:cNvPr id="4" name="Image 2" descr="Shield with a check mark">    </p:cNvPr>
          <p:cNvPicPr>
            <a:picLocks noChangeAspect="1"/>
          </p:cNvPicPr>
          <p:nvPr/>
        </p:nvPicPr>
        <p:blipFill>
          <a:blip r:embed="rId3"/>
          <a:srcRect l="0" r="0" t="0" b="0"/>
          <a:stretch/>
        </p:blipFill>
        <p:spPr>
          <a:xfrm>
            <a:off x="8001000" y="1524000"/>
            <a:ext cx="3556000" cy="3810000"/>
          </a:xfrm>
          <a:prstGeom prst="rect">
            <a:avLst/>
          </a:prstGeom>
        </p:spPr>
      </p:pic>
      <p:sp>
        <p:nvSpPr>
          <p:cNvPr id="5" name="Text 0"/>
          <p:cNvSpPr/>
          <p:nvPr/>
        </p:nvSpPr>
        <p:spPr>
          <a:xfrm>
            <a:off x="812800" y="1910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00B7C3"/>
                </a:solidFill>
                <a:latin typeface="Calibri" pitchFamily="34" charset="0"/>
                <a:ea typeface="Calibri" pitchFamily="34" charset="-122"/>
                <a:cs typeface="Calibri" pitchFamily="34" charset="-120"/>
              </a:rPr>
              <a:t>QUESTIONS AND DISCUSSION</a:t>
            </a:r>
            <a:endParaRPr lang="en-US" sz="1400" dirty="0"/>
          </a:p>
        </p:txBody>
      </p:sp>
      <p:sp>
        <p:nvSpPr>
          <p:cNvPr id="6" name="Text 1"/>
          <p:cNvSpPr/>
          <p:nvPr>
            <p:ph type="title"/>
          </p:nvPr>
        </p:nvSpPr>
        <p:spPr>
          <a:xfrm>
            <a:off x="812800" y="2413000"/>
            <a:ext cx="6932930" cy="14120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FFFFF"/>
                </a:solidFill>
                <a:latin typeface="Arial" pitchFamily="34" charset="0"/>
                <a:ea typeface="Arial" pitchFamily="34" charset="-122"/>
                <a:cs typeface="Arial" pitchFamily="34" charset="-120"/>
              </a:rPr>
              <a:t>Every statistic starts with one click.</a:t>
            </a:r>
            <a:endParaRPr lang="en-US" sz="5200" dirty="0"/>
          </a:p>
        </p:txBody>
      </p:sp>
      <p:sp>
        <p:nvSpPr>
          <p:cNvPr id="7" name="Text 2"/>
          <p:cNvSpPr/>
          <p:nvPr/>
        </p:nvSpPr>
        <p:spPr>
          <a:xfrm>
            <a:off x="812800" y="4053681"/>
            <a:ext cx="65405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ADCFC"/>
                </a:solidFill>
                <a:latin typeface="Calibri" pitchFamily="34" charset="0"/>
                <a:ea typeface="Calibri" pitchFamily="34" charset="-122"/>
                <a:cs typeface="Calibri" pitchFamily="34" charset="-120"/>
              </a:rPr>
              <a:t>Stay alert. Protect your logins. Report fast.</a:t>
            </a:r>
            <a:endParaRPr lang="en-US" sz="2000" dirty="0"/>
          </a:p>
        </p:txBody>
      </p:sp>
      <p:sp>
        <p:nvSpPr>
          <p:cNvPr id="8" name="Text 3"/>
          <p:cNvSpPr/>
          <p:nvPr/>
        </p:nvSpPr>
        <p:spPr>
          <a:xfrm>
            <a:off x="812800" y="46632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ZNexora Tech</a:t>
            </a:r>
            <a:endParaRPr lang="en-US" sz="1600" dirty="0"/>
          </a:p>
        </p:txBody>
      </p:sp>
    </p:spTree>
  </p:cSld>
  <p:clrMapOvr>
    <a:masterClrMapping/>
  </p:clrMapOvr>
</p:sld>
</file>

<file path=ppt/theme/theme1.xml><?xml version="1.0" encoding="utf-8"?>
<a:theme xmlns:a="http://schemas.openxmlformats.org/drawingml/2006/main" name="Global Malware Attack Statistics 2026">
  <a:themeElements>
    <a:clrScheme name="Global Malware Attack Statistics 2026">
      <a:dk1>
        <a:srgbClr val="0B1F33"/>
      </a:dk1>
      <a:lt1>
        <a:srgbClr val="F4F7FB"/>
      </a:lt1>
      <a:dk2>
        <a:srgbClr val="455565"/>
      </a:dk2>
      <a:lt2>
        <a:srgbClr val="DDE1E7"/>
      </a:lt2>
      <a:accent1>
        <a:srgbClr val="0078D4"/>
      </a:accent1>
      <a:accent2>
        <a:srgbClr val="F7630C"/>
      </a:accent2>
      <a:accent3>
        <a:srgbClr val="CADCFC"/>
      </a:accent3>
      <a:accent4>
        <a:srgbClr val="00B7C3"/>
      </a:accent4>
      <a:accent5>
        <a:srgbClr val="9FB3C8"/>
      </a:accent5>
      <a:accent6>
        <a:srgbClr val="5DA9E9"/>
      </a:accent6>
      <a:hlink>
        <a:srgbClr val="0563C1"/>
      </a:hlink>
      <a:folHlink>
        <a:srgbClr val="954F72"/>
      </a:folHlink>
    </a:clrScheme>
    <a:fontScheme name="Global Malware Attack Statistics 2026">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Malware Attack Statistics 2026</dc:title>
  <dc:subject/>
  <dc:creator/>
  <cp:lastModifiedBy/>
  <cp:revision>1</cp:revision>
  <dcterms:created xsi:type="dcterms:W3CDTF">2026-10-13T15:07:17Z</dcterms:created>
  <dcterms:modified xsi:type="dcterms:W3CDTF">2026-10-13T15:07:17Z</dcterms:modified>
</cp:coreProperties>
</file>