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Good [morning/afternoon], everyone. I'm [Presenter] from ZNexora Tech. Today we're looking at the top 10 malware families that security teams are seeing most often in 2026. For each one, I'll explain how it behaves, the impact it can have, how to remediate it if it hits us, and how to prevent it in the first place. You'll notice three types come up again and again: infostealers, remote access trojans, and loaders.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1:40] Here's our top 10. This ranking comes from ANY.RUN's sandbox telemetry, which shows the malware samples that security analysts uploaded most often for investigation during the week of 20 to 26 July 2026. Vidar, AsyncRAT and XWorm lead, followed by Remcos, StealC, Lumma, Formbook, Quasar, Agent Tesla and DonutLoader. Rankings shift week to week, but other 2026 reports, such as Recorded Future's H1 2026 review and AhnLab's monthly trend reports, name the same families again and again. Notice the pattern: half of this list are infostealers that steal our logins and data, four are remote access trojans that give attackers control of a device, and one is a loader that delivers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2:30] Before we look at each family, let's see how they get in, because the routes are shared. Phishing emails with fake invoices, quotes and shipping notices. Fake software: cracks, key generators and fake installers. Malvertising: poisoned ads and search results. Fake CAPTCHA pages, the ClickFix trick. And loaders, where one infection quietly installs another. One important point: these aren't isolated threats. Microsoft describes a specialised criminal supply chain where infostealer operators harvest logins and session tokens and sell them to access brokers, who sell them on to ransomware crews. So a 'small' infostealer infection today can become a ransomware attack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3:35] Number one is Vidar, an infostealer sold as a service since 2018. It steals saved browser passwords, cookies and autofill data, grabs crypto wallets, authenticator data and screenshots, and it can also download and run additional malware, so it often acts as the first stage of a bigger attack. The impact is account takeover through stolen sessions, and stolen data being sold on to other criminals, including ransomware groups. To remediate: isolate and reimage the device, reset passwords and revoke all sessions from a clean device, and check for any other malware it installed. To prevent it: block cracked software and fake installers, don't save passwords in your browser, and combine EDR with phishing-resistant MFA.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 – 4:40] Number two is AsyncRAT, a remote access trojan whose source code is freely available online, which is why it's so widely abused. Once installed, it gives attackers full remote control of the computer: they can log keystrokes, capture the screen, transfer files and run commands, and it survives reboots using startup entries and scheduled tasks. The impact is serious, because the attacker can watch and steal everything, and use the machine as a launch point for ransomware or to move across the network. Remediation: isolate the host, block its command-and-control addresses, remove persistence or reimage, and reset credentials used on the machine. Prevention: block script attachments like VBS, JavaScript, HTA and shortcut files, restrict PowerShell and script hosts, and monitor for unusual outbound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5:45] Number three is XWorm, a modular remote access trojan sold on criminal forums. Beyond remote control, keylogging and webcam access, it can hijack your clipboard: when you copy a crypto wallet address, it silently swaps in the attacker's address. It can also spread through USB drives, and plugins add extras such as ransomware and DDoS modules. The impact ranges from crypto theft and credential loss to ransomware and infections spreading to other devices. Remediation: isolate and reimage infected devices, scan any USB drives that were connected, reset passwords and check wallets and accounts. Prevention: disable autorun and control USB devices, block archive and script attachments, and keep EDR behaviour rules up to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 6:50] Number four is Remcos. It's marketed as legitimate remote administration software, but criminals widely abuse it as a spying tool. It records keystrokes, the screen, the webcam and the microphone, steals saved credentials, and hides inside legitimate Windows processes to avoid detection. It usually arrives through phishing emails with malicious Office documents or archives. The impact is full surveillance of the victim, business email and data compromise, and a foothold for further attacks. Remediation: isolate the device, collect EDR evidence, reimage, reset credentials and block known Remcos infrastructure. Prevention: block Office macros in files from the internet, sandbox email attachments, and only allow approved remote-access tools in our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 – 7:55] Number five is StealC, a modular infostealer sold as a service since 2023. It targets browsers, email clients, messaging apps, gaming platforms and crypto wallets, and its version 2 encrypts the stolen data before sending it, making it harder to spot on the network. It's mostly spread through fake software, cracks and loaders. The impact is account takeover and fraud, corporate credentials sold to initial access brokers, and loss of crypto and gaming assets. Remediation: reimage the device, reset passwords from a clean device, revoke sessions and API tokens, and monitor for leaked credentials. Prevention: get software only from official sources, block malvertising and newly registered domains, and use a password manager with MFA.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[7:55 – 9:00] Number six is Lumma, which we covered in detail in a previous briefing. It's famous for the ClickFix trick: a fake CAPTCHA page that tells you to press Windows and R, paste and press Enter, which installs the malware. It steals passwords, session cookies and crypto wallets, and now runs in memory through loaders like CastleLoader. Despite a global takedown in 2025, it's still active. The impact: stolen session cookies can bypass MFA, and the data is sold as logs for account takeover and ransomware access. Remediation: disconnect and report immediately, revoke all sessions, not just passwords, and reimage. Prevention: never paste commands a website gives you, restrict the Run dialog and PowerShell, and use short session lifetimes with token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10:05] Number seven is Formbook, a veteran infostealer sold as a service since 2016. As the name suggests, it grabs data typed into web forms, such as logins and payment details, and also logs keystrokes, clipboard contents and screenshots. It usually arrives as an email attachment, often an archive or document disguised as an invoice or order. The impact: stolen logins for banking and business apps, business email compromise, and it can download other malware. Remediation: isolate and reimage, reset passwords used on the device, and search mailboxes for the same phishing email so other recipients are protected. Prevention: filter archive and Office attachments, train staff on invoice-themed lures, and keep Office and email security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[10:05 – 11:10] Number eight is Quasar, an open-source remote access trojan used by both criminals and state-backed groups. It provides a remote shell, file manager and keylogger, and recovers saved passwords from applications. A 2026 variant has been reported stealing developer credentials for Git, npm and PyPI, which creates supply chain risk: attackers could tamper with software that others depend on. It's often delivered as files with double extensions, like invoice.pdf.exe. Remediation: isolate and reimage, rotate Git, package-registry and cloud tokens, and review repositories for unauthorised changes. Prevention: block double-extension files, turn on 'show file extensions' in Windows, and protect developer tokens with MFA.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[11:10 – 12:15] Number nine is Agent Tesla, a keylogger and infostealer that has been active since 2014. It logs keystrokes, takes screenshots and steals logins from browsers, email clients, FTP and VPN applications, then sends the data out by email, FTP or Telegram. It's almost always delivered through fake business emails, such as invoices, quotes or shipping notices. The impact: email account takeover and business email compromise fraud, stolen VPN logins giving attackers network access, and sensitive documents exposed. Remediation: isolate and reimage, reset email, VPN and app passwords, and check mailbox rules for hidden forwarding the attacker may have set up. Prevention: treat unexpected invoices and quotes with care, block risky attachment types, and monitor unusual outbound email and Telegram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 13:20] And number ten is DonutLoader. Rather than stealing data itself, it's a delivery tool. It's built on an open-source tool called Donut that turns programs into shellcode, which lets attackers run RATs and stealers, like the ones we've just covered, directly in memory, leaving very few files on disk for antivirus to scan. The impact is that it delivers other malware, evades traditional file-based antivirus, and is often the first stage of a larger attack. Remediation: rely on EDR memory and behaviour telemetry, make sure you find and remove the final payload it delivered, and reimage when in doubt. Prevention: use EDR with memory scanning and AMSI, application control with AppLocker or WDAC, and block script and shortcut attachments.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 – 14:10] Whichever of these ten we face, the remediation playbook is similar. One, isolate: disconnect the device and isolate it with EDR. Two, report: tell IT and Security on [contact] at once. Three, scope: find out what ran, what was stolen, and which accounts and systems are affected. Four, revoke: reset passwords, revoke active sessions and rotate tokens and API keys. Five, rebuild: reimage the device and make sure every payload is removed, remembering that loaders and stealers often install other malware. And six, monitor: watch affected accounts, add new indicators to blocklists, and share the lessons. The key point: a password reset alone is not enough. Stolen sessions must be revoked and the device rebuilt.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 – 15:00] The good news is that the same defences stop all ten. For everyone: pause before opening unexpected attachments and links, never paste commands a website gives you, get software only from official sources, use a password manager and MFA instead of saving passwords in your browser, and report anything suspicious straight away. For IT and security teams: EDR with behaviour and memory scanning, blocking risky attachments like scripts, shortcut files, archives and macros, application control with AppLocker or WDAC, restricting PowerShell and the Run dialog for standard users, and short session lifetimes with phishing-resistant MFA.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 – 15:20] Here are the sources for today's briefing: ANY.RUN's weekly sandbox telemetry, Recorded Future's H1 2026 malware trends, AhnLab's 2026 infostealer reports, Microsoft's Digital Defense Report, and IBM's X-Force Threat Intelligence Index. Rankings change week to week, but the same families keep appearing across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 15:40] To wrap up: ten different malware families, but most of them rely on the same thing, a person opening, clicking or running something. So the habit that protects us is the same: think before you click, protect your logins, and report fast. Thank you.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1778000" y="812800"/>
            <a:ext cx="2277996" cy="502907"/>
          </a:xfrm>
          <a:prstGeom prst="rect">
            <a:avLst/>
          </a:prstGeom>
          <a:noFill/>
          <a:ln/>
        </p:spPr>
        <p:txBody>
          <a:bodyPr wrap="square" lIns="0" tIns="0" rIns="0" bIns="0" rtlCol="0" anchor="t"/>
          <a:lstStyle>
            <a:lvl1pPr algn="l" indent="0" marL="0">
              <a:lnSpc>
                <a:spcPct val="115000"/>
              </a:lnSpc>
              <a:buNone/>
              <a:defRPr lang="en-US" sz="3600" dirty="0">
                <a:solidFill>
                  <a:srgbClr val="0B1F33"/>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1778000" y="1620507"/>
            <a:ext cx="9601200" cy="4424693"/>
          </a:xfrm>
          <a:prstGeom prst="rect">
            <a:avLst/>
          </a:prstGeom>
          <a:noFill/>
          <a:ln/>
        </p:spPr>
        <p:txBody>
          <a:bodyPr wrap="square" lIns="0" tIns="0" rIns="0" bIns="0" rtlCol="0" anchor="t"/>
          <a:lstStyle>
            <a:lvl1pPr algn="l" indent="0" marL="0">
              <a:lnSpc>
                <a:spcPct val="140000"/>
              </a:lnSpc>
              <a:buNone/>
              <a:defRPr lang="en-US" sz="1600" dirty="0">
                <a:solidFill>
                  <a:srgbClr val="4A5A6B"/>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1778000" y="812800"/>
            <a:ext cx="2277996" cy="502907"/>
          </a:xfrm>
          <a:prstGeom prst="rect">
            <a:avLst/>
          </a:prstGeom>
          <a:noFill/>
          <a:ln/>
        </p:spPr>
        <p:txBody>
          <a:bodyPr wrap="square" lIns="0" tIns="0" rIns="0" bIns="0" rtlCol="0" anchor="t"/>
          <a:lstStyle>
            <a:lvl1pPr algn="l" indent="0" marL="0">
              <a:lnSpc>
                <a:spcPct val="115000"/>
              </a:lnSpc>
              <a:buNone/>
              <a:defRPr lang="en-US" sz="3600" dirty="0">
                <a:solidFill>
                  <a:srgbClr val="0B1F33"/>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1778000" y="1620507"/>
            <a:ext cx="9601200" cy="4424693"/>
          </a:xfrm>
          <a:prstGeom prst="rect">
            <a:avLst/>
          </a:prstGeom>
          <a:noFill/>
          <a:ln/>
        </p:spPr>
        <p:txBody>
          <a:bodyPr wrap="square" lIns="0" tIns="0" rIns="0" bIns="0" rtlCol="0" anchor="t"/>
          <a:lstStyle>
            <a:lvl1pPr algn="l" indent="0" marL="0">
              <a:lnSpc>
                <a:spcPct val="140000"/>
              </a:lnSpc>
              <a:buNone/>
              <a:defRPr lang="en-US" sz="1600" dirty="0">
                <a:solidFill>
                  <a:srgbClr val="4A5A6B"/>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slideLayout" Target="../slideLayouts/slideLayout2.xml"/><Relationship Id="rI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rect">    </p:cNvPr>
          <p:cNvPicPr>
            <a:picLocks noChangeAspect="1"/>
          </p:cNvPicPr>
          <p:nvPr/>
        </p:nvPicPr>
        <p:blipFill>
          <a:blip r:embed="rId2"/>
          <a:srcRect l="0" r="0" t="0" b="0"/>
          <a:stretch/>
        </p:blipFill>
        <p:spPr>
          <a:xfrm>
            <a:off x="0" y="0"/>
            <a:ext cx="152400" cy="6858000"/>
          </a:xfrm>
          <a:prstGeom prst="rect">
            <a:avLst/>
          </a:prstGeom>
        </p:spPr>
      </p:pic>
      <p:pic>
        <p:nvPicPr>
          <p:cNvPr id="4" name="Image 2" descr="Ten malware threat icons orbiting a shield">    </p:cNvPr>
          <p:cNvPicPr>
            <a:picLocks noChangeAspect="1"/>
          </p:cNvPicPr>
          <p:nvPr/>
        </p:nvPicPr>
        <p:blipFill>
          <a:blip r:embed="rId3"/>
          <a:srcRect l="0" r="0" t="0" b="0"/>
          <a:stretch/>
        </p:blipFill>
        <p:spPr>
          <a:xfrm>
            <a:off x="7874000" y="1397000"/>
            <a:ext cx="3810000" cy="3810000"/>
          </a:xfrm>
          <a:prstGeom prst="rect">
            <a:avLst/>
          </a:prstGeom>
        </p:spPr>
      </p:pic>
      <p:sp>
        <p:nvSpPr>
          <p:cNvPr id="5" name="Text 0"/>
          <p:cNvSpPr/>
          <p:nvPr/>
        </p:nvSpPr>
        <p:spPr>
          <a:xfrm>
            <a:off x="812800" y="186948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0B7C3"/>
                </a:solidFill>
                <a:latin typeface="Calibri" pitchFamily="34" charset="0"/>
                <a:ea typeface="Calibri" pitchFamily="34" charset="-122"/>
                <a:cs typeface="Calibri" pitchFamily="34" charset="-120"/>
              </a:rPr>
              <a:t>ZNEXORA TECH | THREAT BRIEFING</a:t>
            </a:r>
            <a:endParaRPr lang="en-US" sz="1400" dirty="0"/>
          </a:p>
        </p:txBody>
      </p:sp>
      <p:sp>
        <p:nvSpPr>
          <p:cNvPr id="6" name="Text 1"/>
          <p:cNvSpPr/>
          <p:nvPr>
            <p:ph type="title"/>
          </p:nvPr>
        </p:nvSpPr>
        <p:spPr>
          <a:xfrm>
            <a:off x="812800" y="2372387"/>
            <a:ext cx="7063740" cy="1412214"/>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FFFFF"/>
                </a:solidFill>
                <a:latin typeface="Arial" pitchFamily="34" charset="0"/>
                <a:ea typeface="Arial" pitchFamily="34" charset="-122"/>
                <a:cs typeface="Arial" pitchFamily="34" charset="-120"/>
              </a:rPr>
              <a:t>Top 10 Malware of 2026</a:t>
            </a:r>
            <a:endParaRPr lang="en-US" sz="5200" dirty="0"/>
          </a:p>
        </p:txBody>
      </p:sp>
      <p:sp>
        <p:nvSpPr>
          <p:cNvPr id="7" name="Text 2"/>
          <p:cNvSpPr/>
          <p:nvPr/>
        </p:nvSpPr>
        <p:spPr>
          <a:xfrm>
            <a:off x="812800" y="4013200"/>
            <a:ext cx="65405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Behaviour, impact, remediation and prevention</a:t>
            </a:r>
            <a:endParaRPr lang="en-US" sz="2000" dirty="0"/>
          </a:p>
        </p:txBody>
      </p:sp>
      <p:sp>
        <p:nvSpPr>
          <p:cNvPr id="8" name="Text 3"/>
          <p:cNvSpPr/>
          <p:nvPr/>
        </p:nvSpPr>
        <p:spPr>
          <a:xfrm>
            <a:off x="819150" y="4629150"/>
            <a:ext cx="1035844" cy="353020"/>
          </a:xfrm>
          <a:prstGeom prst="roundRect">
            <a:avLst>
              <a:gd name="adj" fmla="val 48567"/>
            </a:avLst>
          </a:prstGeom>
          <a:solidFill>
            <a:srgbClr val="13294B"/>
          </a:solidFill>
          <a:ln w="12700">
            <a:solidFill>
              <a:srgbClr val="F7630C"/>
            </a:solidFill>
            <a:prstDash val="solid"/>
          </a:ln>
        </p:spPr>
        <p:txBody>
          <a:bodyPr wrap="none" lIns="0" tIns="0" rIns="0" bIns="0" rtlCol="0" anchor="ctr">
            <a:normAutofit/>
          </a:bodyPr>
          <a:lstStyle/>
          <a:p>
            <a:pPr algn="ctr" indent="0" marL="0">
              <a:lnSpc>
                <a:spcPts val="1680"/>
              </a:lnSpc>
              <a:buNone/>
            </a:pPr>
            <a:r>
              <a:rPr lang="en-US" sz="1200" dirty="0">
                <a:solidFill>
                  <a:srgbClr val="FFFFFF"/>
                </a:solidFill>
                <a:latin typeface="Calibri" pitchFamily="34" charset="0"/>
                <a:ea typeface="Calibri" pitchFamily="34" charset="-122"/>
                <a:cs typeface="Calibri" pitchFamily="34" charset="-120"/>
              </a:rPr>
              <a:t>Infostealers</a:t>
            </a:r>
            <a:endParaRPr lang="en-US" sz="1200" dirty="0"/>
          </a:p>
        </p:txBody>
      </p:sp>
      <p:sp>
        <p:nvSpPr>
          <p:cNvPr id="9" name="Text 4"/>
          <p:cNvSpPr/>
          <p:nvPr/>
        </p:nvSpPr>
        <p:spPr>
          <a:xfrm>
            <a:off x="1969294" y="4629150"/>
            <a:ext cx="1697831" cy="353020"/>
          </a:xfrm>
          <a:prstGeom prst="roundRect">
            <a:avLst>
              <a:gd name="adj" fmla="val 48567"/>
            </a:avLst>
          </a:prstGeom>
          <a:solidFill>
            <a:srgbClr val="13294B"/>
          </a:solidFill>
          <a:ln w="12700">
            <a:solidFill>
              <a:srgbClr val="0078D4"/>
            </a:solidFill>
            <a:prstDash val="solid"/>
          </a:ln>
        </p:spPr>
        <p:txBody>
          <a:bodyPr wrap="none" lIns="0" tIns="0" rIns="0" bIns="0" rtlCol="0" anchor="ctr">
            <a:normAutofit/>
          </a:bodyPr>
          <a:lstStyle/>
          <a:p>
            <a:pPr algn="ctr" indent="0" marL="0">
              <a:lnSpc>
                <a:spcPts val="1680"/>
              </a:lnSpc>
              <a:buNone/>
            </a:pPr>
            <a:r>
              <a:rPr lang="en-US" sz="1200" dirty="0">
                <a:solidFill>
                  <a:srgbClr val="FFFFFF"/>
                </a:solidFill>
                <a:latin typeface="Calibri" pitchFamily="34" charset="0"/>
                <a:ea typeface="Calibri" pitchFamily="34" charset="-122"/>
                <a:cs typeface="Calibri" pitchFamily="34" charset="-120"/>
              </a:rPr>
              <a:t>Remote access trojans</a:t>
            </a:r>
            <a:endParaRPr lang="en-US" sz="1200" dirty="0"/>
          </a:p>
        </p:txBody>
      </p:sp>
      <p:sp>
        <p:nvSpPr>
          <p:cNvPr id="10" name="Text 5"/>
          <p:cNvSpPr/>
          <p:nvPr/>
        </p:nvSpPr>
        <p:spPr>
          <a:xfrm>
            <a:off x="3781425" y="4629150"/>
            <a:ext cx="801026" cy="353020"/>
          </a:xfrm>
          <a:prstGeom prst="roundRect">
            <a:avLst>
              <a:gd name="adj" fmla="val 48567"/>
            </a:avLst>
          </a:prstGeom>
          <a:solidFill>
            <a:srgbClr val="13294B"/>
          </a:solidFill>
          <a:ln w="12700">
            <a:solidFill>
              <a:srgbClr val="00B7C3"/>
            </a:solidFill>
            <a:prstDash val="solid"/>
          </a:ln>
        </p:spPr>
        <p:txBody>
          <a:bodyPr wrap="none" lIns="0" tIns="0" rIns="0" bIns="0" rtlCol="0" anchor="ctr">
            <a:normAutofit/>
          </a:bodyPr>
          <a:lstStyle/>
          <a:p>
            <a:pPr algn="ctr" indent="0" marL="0">
              <a:lnSpc>
                <a:spcPts val="1680"/>
              </a:lnSpc>
              <a:buNone/>
            </a:pPr>
            <a:r>
              <a:rPr lang="en-US" sz="1200" dirty="0">
                <a:solidFill>
                  <a:srgbClr val="FFFFFF"/>
                </a:solidFill>
                <a:latin typeface="Calibri" pitchFamily="34" charset="0"/>
                <a:ea typeface="Calibri" pitchFamily="34" charset="-122"/>
                <a:cs typeface="Calibri" pitchFamily="34" charset="-120"/>
              </a:rPr>
              <a:t>Loaders</a:t>
            </a:r>
            <a:endParaRPr lang="en-US" sz="1200" dirty="0"/>
          </a:p>
        </p:txBody>
      </p:sp>
      <p:sp>
        <p:nvSpPr>
          <p:cNvPr id="11"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Presented by: </a:t>
            </a:r>
            <a:r>
              <a:rPr lang="en-US" sz="1200" b="1" dirty="0">
                <a:solidFill>
                  <a:srgbClr val="FFFFFF"/>
                </a:solidFill>
                <a:latin typeface="Calibri" pitchFamily="34" charset="0"/>
                <a:ea typeface="Calibri" pitchFamily="34" charset="-122"/>
                <a:cs typeface="Calibri" pitchFamily="34" charset="-120"/>
              </a:rPr>
              <a:t>ZNexora Tech</a:t>
            </a:r>
            <a:r>
              <a:rPr lang="en-US" sz="1200" dirty="0">
                <a:solidFill>
                  <a:srgbClr val="9FB3C8"/>
                </a:solidFill>
                <a:latin typeface="Calibri" pitchFamily="34" charset="0"/>
                <a:ea typeface="Calibri" pitchFamily="34" charset="-122"/>
                <a:cs typeface="Calibri" pitchFamily="34" charset="-120"/>
              </a:rPr>
              <a:t> · [Presenter]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01 · AT A GLANCE</a:t>
            </a:r>
            <a:endParaRPr lang="en-US" sz="1200" dirty="0"/>
          </a:p>
        </p:txBody>
      </p:sp>
      <p:sp>
        <p:nvSpPr>
          <p:cNvPr id="4" name="Text 1"/>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The top 10 in 2026</a:t>
            </a:r>
            <a:endParaRPr lang="en-US" sz="3600" dirty="0"/>
          </a:p>
        </p:txBody>
      </p:sp>
      <p:sp>
        <p:nvSpPr>
          <p:cNvPr id="5" name="Shape 2"/>
          <p:cNvSpPr/>
          <p:nvPr/>
        </p:nvSpPr>
        <p:spPr>
          <a:xfrm>
            <a:off x="812800" y="1569707"/>
            <a:ext cx="10566400" cy="3997788"/>
          </a:xfrm>
          <a:prstGeom prst="roundRect">
            <a:avLst>
              <a:gd name="adj" fmla="val 2541"/>
            </a:avLst>
          </a:prstGeom>
          <a:solidFill>
            <a:srgbClr val="FFFFFF"/>
          </a:solidFill>
          <a:ln/>
          <a:effectLst>
            <a:outerShdw sx="100000" sy="100000" kx="0" ky="0" algn="bl" rotWithShape="0" blurRad="101600" dist="25400" dir="5400000">
              <a:srgbClr val="C9D6E3">
                <a:alpha val="100000"/>
              </a:srgbClr>
            </a:outerShdw>
          </a:effectLst>
        </p:spPr>
      </p:sp>
      <p:sp>
        <p:nvSpPr>
          <p:cNvPr id="6" name="Text 3"/>
          <p:cNvSpPr/>
          <p:nvPr/>
        </p:nvSpPr>
        <p:spPr>
          <a:xfrm>
            <a:off x="1066800" y="1772907"/>
            <a:ext cx="450619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SANDBOX UPLOADS, WEEK OF 20–26 JULY 2026</a:t>
            </a:r>
            <a:endParaRPr lang="en-US" sz="1200" dirty="0"/>
          </a:p>
        </p:txBody>
      </p:sp>
      <p:sp>
        <p:nvSpPr>
          <p:cNvPr id="7" name="Shape 4"/>
          <p:cNvSpPr/>
          <p:nvPr/>
        </p:nvSpPr>
        <p:spPr>
          <a:xfrm>
            <a:off x="7713332" y="1803334"/>
            <a:ext cx="152400" cy="152400"/>
          </a:xfrm>
          <a:prstGeom prst="roundRect">
            <a:avLst>
              <a:gd name="adj" fmla="val 25000"/>
            </a:avLst>
          </a:prstGeom>
          <a:solidFill>
            <a:srgbClr val="F7630C"/>
          </a:solidFill>
          <a:ln/>
        </p:spPr>
      </p:sp>
      <p:sp>
        <p:nvSpPr>
          <p:cNvPr id="8" name="Text 5"/>
          <p:cNvSpPr/>
          <p:nvPr/>
        </p:nvSpPr>
        <p:spPr>
          <a:xfrm>
            <a:off x="7929232" y="1772907"/>
            <a:ext cx="793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33"/>
                </a:solidFill>
                <a:latin typeface="Calibri" pitchFamily="34" charset="0"/>
                <a:ea typeface="Calibri" pitchFamily="34" charset="-122"/>
                <a:cs typeface="Calibri" pitchFamily="34" charset="-120"/>
              </a:rPr>
              <a:t>Infostealer</a:t>
            </a:r>
            <a:endParaRPr lang="en-US" sz="1200" dirty="0"/>
          </a:p>
        </p:txBody>
      </p:sp>
      <p:sp>
        <p:nvSpPr>
          <p:cNvPr id="9" name="Shape 6"/>
          <p:cNvSpPr/>
          <p:nvPr/>
        </p:nvSpPr>
        <p:spPr>
          <a:xfrm>
            <a:off x="8768358" y="1803334"/>
            <a:ext cx="152400" cy="152400"/>
          </a:xfrm>
          <a:prstGeom prst="roundRect">
            <a:avLst>
              <a:gd name="adj" fmla="val 25000"/>
            </a:avLst>
          </a:prstGeom>
          <a:solidFill>
            <a:srgbClr val="0078D4"/>
          </a:solidFill>
          <a:ln/>
        </p:spPr>
      </p:sp>
      <p:sp>
        <p:nvSpPr>
          <p:cNvPr id="10" name="Text 7"/>
          <p:cNvSpPr/>
          <p:nvPr/>
        </p:nvSpPr>
        <p:spPr>
          <a:xfrm>
            <a:off x="8984258" y="1772907"/>
            <a:ext cx="14985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33"/>
                </a:solidFill>
                <a:latin typeface="Calibri" pitchFamily="34" charset="0"/>
                <a:ea typeface="Calibri" pitchFamily="34" charset="-122"/>
                <a:cs typeface="Calibri" pitchFamily="34" charset="-120"/>
              </a:rPr>
              <a:t>Remote access trojan</a:t>
            </a:r>
            <a:endParaRPr lang="en-US" sz="1200" dirty="0"/>
          </a:p>
        </p:txBody>
      </p:sp>
      <p:sp>
        <p:nvSpPr>
          <p:cNvPr id="11" name="Shape 8"/>
          <p:cNvSpPr/>
          <p:nvPr/>
        </p:nvSpPr>
        <p:spPr>
          <a:xfrm>
            <a:off x="10482792" y="1803334"/>
            <a:ext cx="152400" cy="152400"/>
          </a:xfrm>
          <a:prstGeom prst="roundRect">
            <a:avLst>
              <a:gd name="adj" fmla="val 25000"/>
            </a:avLst>
          </a:prstGeom>
          <a:solidFill>
            <a:srgbClr val="13294B"/>
          </a:solidFill>
          <a:ln/>
        </p:spPr>
      </p:sp>
      <p:sp>
        <p:nvSpPr>
          <p:cNvPr id="12" name="Text 9"/>
          <p:cNvSpPr/>
          <p:nvPr/>
        </p:nvSpPr>
        <p:spPr>
          <a:xfrm>
            <a:off x="10698692" y="1772907"/>
            <a:ext cx="5118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33"/>
                </a:solidFill>
                <a:latin typeface="Calibri" pitchFamily="34" charset="0"/>
                <a:ea typeface="Calibri" pitchFamily="34" charset="-122"/>
                <a:cs typeface="Calibri" pitchFamily="34" charset="-120"/>
              </a:rPr>
              <a:t>Loader</a:t>
            </a:r>
            <a:endParaRPr lang="en-US" sz="1200" dirty="0"/>
          </a:p>
        </p:txBody>
      </p:sp>
      <p:sp>
        <p:nvSpPr>
          <p:cNvPr id="13" name="Text 10"/>
          <p:cNvSpPr/>
          <p:nvPr/>
        </p:nvSpPr>
        <p:spPr>
          <a:xfrm>
            <a:off x="1066800" y="2075128"/>
            <a:ext cx="406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B"/>
                </a:solidFill>
                <a:latin typeface="Arial" pitchFamily="34" charset="0"/>
                <a:ea typeface="Arial" pitchFamily="34" charset="-122"/>
                <a:cs typeface="Arial" pitchFamily="34" charset="-120"/>
              </a:rPr>
              <a:t>1</a:t>
            </a:r>
            <a:endParaRPr lang="en-US" sz="1400" dirty="0"/>
          </a:p>
        </p:txBody>
      </p:sp>
      <p:sp>
        <p:nvSpPr>
          <p:cNvPr id="14" name="Text 11"/>
          <p:cNvSpPr/>
          <p:nvPr/>
        </p:nvSpPr>
        <p:spPr>
          <a:xfrm>
            <a:off x="1549400" y="2075128"/>
            <a:ext cx="1447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Vidar</a:t>
            </a:r>
            <a:endParaRPr lang="en-US" sz="1400" dirty="0"/>
          </a:p>
        </p:txBody>
      </p:sp>
      <p:sp>
        <p:nvSpPr>
          <p:cNvPr id="15" name="Shape 12"/>
          <p:cNvSpPr/>
          <p:nvPr/>
        </p:nvSpPr>
        <p:spPr>
          <a:xfrm>
            <a:off x="3073400" y="2110648"/>
            <a:ext cx="4826000" cy="177800"/>
          </a:xfrm>
          <a:prstGeom prst="roundRect">
            <a:avLst>
              <a:gd name="adj" fmla="val 28571"/>
            </a:avLst>
          </a:prstGeom>
          <a:solidFill>
            <a:srgbClr val="F7630C"/>
          </a:solidFill>
          <a:ln/>
        </p:spPr>
      </p:sp>
      <p:sp>
        <p:nvSpPr>
          <p:cNvPr id="16" name="Text 13"/>
          <p:cNvSpPr/>
          <p:nvPr/>
        </p:nvSpPr>
        <p:spPr>
          <a:xfrm>
            <a:off x="8026400" y="2083991"/>
            <a:ext cx="6223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235</a:t>
            </a:r>
            <a:endParaRPr lang="en-US" sz="1300" dirty="0"/>
          </a:p>
        </p:txBody>
      </p:sp>
      <p:sp>
        <p:nvSpPr>
          <p:cNvPr id="17" name="Text 14"/>
          <p:cNvSpPr/>
          <p:nvPr/>
        </p:nvSpPr>
        <p:spPr>
          <a:xfrm>
            <a:off x="8724900" y="2083991"/>
            <a:ext cx="247230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Infostealer</a:t>
            </a:r>
            <a:endParaRPr lang="en-US" sz="1300" dirty="0"/>
          </a:p>
        </p:txBody>
      </p:sp>
      <p:sp>
        <p:nvSpPr>
          <p:cNvPr id="18" name="Text 15"/>
          <p:cNvSpPr/>
          <p:nvPr/>
        </p:nvSpPr>
        <p:spPr>
          <a:xfrm>
            <a:off x="1066800" y="2412934"/>
            <a:ext cx="406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B"/>
                </a:solidFill>
                <a:latin typeface="Arial" pitchFamily="34" charset="0"/>
                <a:ea typeface="Arial" pitchFamily="34" charset="-122"/>
                <a:cs typeface="Arial" pitchFamily="34" charset="-120"/>
              </a:rPr>
              <a:t>2</a:t>
            </a:r>
            <a:endParaRPr lang="en-US" sz="1400" dirty="0"/>
          </a:p>
        </p:txBody>
      </p:sp>
      <p:sp>
        <p:nvSpPr>
          <p:cNvPr id="19" name="Text 16"/>
          <p:cNvSpPr/>
          <p:nvPr/>
        </p:nvSpPr>
        <p:spPr>
          <a:xfrm>
            <a:off x="1549400" y="2412934"/>
            <a:ext cx="1447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AsyncRAT</a:t>
            </a:r>
            <a:endParaRPr lang="en-US" sz="1400" dirty="0"/>
          </a:p>
        </p:txBody>
      </p:sp>
      <p:sp>
        <p:nvSpPr>
          <p:cNvPr id="20" name="Shape 17"/>
          <p:cNvSpPr/>
          <p:nvPr/>
        </p:nvSpPr>
        <p:spPr>
          <a:xfrm>
            <a:off x="3073400" y="2448454"/>
            <a:ext cx="4394200" cy="177800"/>
          </a:xfrm>
          <a:prstGeom prst="roundRect">
            <a:avLst>
              <a:gd name="adj" fmla="val 28571"/>
            </a:avLst>
          </a:prstGeom>
          <a:solidFill>
            <a:srgbClr val="0078D4"/>
          </a:solidFill>
          <a:ln/>
        </p:spPr>
      </p:sp>
      <p:sp>
        <p:nvSpPr>
          <p:cNvPr id="21" name="Text 18"/>
          <p:cNvSpPr/>
          <p:nvPr/>
        </p:nvSpPr>
        <p:spPr>
          <a:xfrm>
            <a:off x="8026400" y="2421798"/>
            <a:ext cx="6223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214</a:t>
            </a:r>
            <a:endParaRPr lang="en-US" sz="1300" dirty="0"/>
          </a:p>
        </p:txBody>
      </p:sp>
      <p:sp>
        <p:nvSpPr>
          <p:cNvPr id="22" name="Text 19"/>
          <p:cNvSpPr/>
          <p:nvPr/>
        </p:nvSpPr>
        <p:spPr>
          <a:xfrm>
            <a:off x="8724900" y="2421798"/>
            <a:ext cx="247230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Remote access trojan</a:t>
            </a:r>
            <a:endParaRPr lang="en-US" sz="1300" dirty="0"/>
          </a:p>
        </p:txBody>
      </p:sp>
      <p:sp>
        <p:nvSpPr>
          <p:cNvPr id="23" name="Text 20"/>
          <p:cNvSpPr/>
          <p:nvPr/>
        </p:nvSpPr>
        <p:spPr>
          <a:xfrm>
            <a:off x="1066800" y="2750741"/>
            <a:ext cx="406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B"/>
                </a:solidFill>
                <a:latin typeface="Arial" pitchFamily="34" charset="0"/>
                <a:ea typeface="Arial" pitchFamily="34" charset="-122"/>
                <a:cs typeface="Arial" pitchFamily="34" charset="-120"/>
              </a:rPr>
              <a:t>3</a:t>
            </a:r>
            <a:endParaRPr lang="en-US" sz="1400" dirty="0"/>
          </a:p>
        </p:txBody>
      </p:sp>
      <p:sp>
        <p:nvSpPr>
          <p:cNvPr id="24" name="Text 21"/>
          <p:cNvSpPr/>
          <p:nvPr/>
        </p:nvSpPr>
        <p:spPr>
          <a:xfrm>
            <a:off x="1549400" y="2750741"/>
            <a:ext cx="1447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XWorm</a:t>
            </a:r>
            <a:endParaRPr lang="en-US" sz="1400" dirty="0"/>
          </a:p>
        </p:txBody>
      </p:sp>
      <p:sp>
        <p:nvSpPr>
          <p:cNvPr id="25" name="Shape 22"/>
          <p:cNvSpPr/>
          <p:nvPr/>
        </p:nvSpPr>
        <p:spPr>
          <a:xfrm>
            <a:off x="3073400" y="2786261"/>
            <a:ext cx="4210050" cy="177800"/>
          </a:xfrm>
          <a:prstGeom prst="roundRect">
            <a:avLst>
              <a:gd name="adj" fmla="val 28571"/>
            </a:avLst>
          </a:prstGeom>
          <a:solidFill>
            <a:srgbClr val="0078D4"/>
          </a:solidFill>
          <a:ln/>
        </p:spPr>
      </p:sp>
      <p:sp>
        <p:nvSpPr>
          <p:cNvPr id="26" name="Text 23"/>
          <p:cNvSpPr/>
          <p:nvPr/>
        </p:nvSpPr>
        <p:spPr>
          <a:xfrm>
            <a:off x="8026400" y="2759604"/>
            <a:ext cx="6223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205</a:t>
            </a:r>
            <a:endParaRPr lang="en-US" sz="1300" dirty="0"/>
          </a:p>
        </p:txBody>
      </p:sp>
      <p:sp>
        <p:nvSpPr>
          <p:cNvPr id="27" name="Text 24"/>
          <p:cNvSpPr/>
          <p:nvPr/>
        </p:nvSpPr>
        <p:spPr>
          <a:xfrm>
            <a:off x="8724900" y="2759604"/>
            <a:ext cx="247230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Remote access trojan</a:t>
            </a:r>
            <a:endParaRPr lang="en-US" sz="1300" dirty="0"/>
          </a:p>
        </p:txBody>
      </p:sp>
      <p:sp>
        <p:nvSpPr>
          <p:cNvPr id="28" name="Text 25"/>
          <p:cNvSpPr/>
          <p:nvPr/>
        </p:nvSpPr>
        <p:spPr>
          <a:xfrm>
            <a:off x="1066800" y="3088548"/>
            <a:ext cx="406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B"/>
                </a:solidFill>
                <a:latin typeface="Arial" pitchFamily="34" charset="0"/>
                <a:ea typeface="Arial" pitchFamily="34" charset="-122"/>
                <a:cs typeface="Arial" pitchFamily="34" charset="-120"/>
              </a:rPr>
              <a:t>4</a:t>
            </a:r>
            <a:endParaRPr lang="en-US" sz="1400" dirty="0"/>
          </a:p>
        </p:txBody>
      </p:sp>
      <p:sp>
        <p:nvSpPr>
          <p:cNvPr id="29" name="Text 26"/>
          <p:cNvSpPr/>
          <p:nvPr/>
        </p:nvSpPr>
        <p:spPr>
          <a:xfrm>
            <a:off x="1549400" y="3088548"/>
            <a:ext cx="1447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Remcos</a:t>
            </a:r>
            <a:endParaRPr lang="en-US" sz="1400" dirty="0"/>
          </a:p>
        </p:txBody>
      </p:sp>
      <p:sp>
        <p:nvSpPr>
          <p:cNvPr id="30" name="Shape 27"/>
          <p:cNvSpPr/>
          <p:nvPr/>
        </p:nvSpPr>
        <p:spPr>
          <a:xfrm>
            <a:off x="3073400" y="3124068"/>
            <a:ext cx="3244850" cy="177800"/>
          </a:xfrm>
          <a:prstGeom prst="roundRect">
            <a:avLst>
              <a:gd name="adj" fmla="val 28571"/>
            </a:avLst>
          </a:prstGeom>
          <a:solidFill>
            <a:srgbClr val="0078D4"/>
          </a:solidFill>
          <a:ln/>
        </p:spPr>
      </p:sp>
      <p:sp>
        <p:nvSpPr>
          <p:cNvPr id="31" name="Text 28"/>
          <p:cNvSpPr/>
          <p:nvPr/>
        </p:nvSpPr>
        <p:spPr>
          <a:xfrm>
            <a:off x="8026400" y="3097411"/>
            <a:ext cx="6223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158</a:t>
            </a:r>
            <a:endParaRPr lang="en-US" sz="1300" dirty="0"/>
          </a:p>
        </p:txBody>
      </p:sp>
      <p:sp>
        <p:nvSpPr>
          <p:cNvPr id="32" name="Text 29"/>
          <p:cNvSpPr/>
          <p:nvPr/>
        </p:nvSpPr>
        <p:spPr>
          <a:xfrm>
            <a:off x="8724900" y="3097411"/>
            <a:ext cx="247230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RAT and surveillanceware</a:t>
            </a:r>
            <a:endParaRPr lang="en-US" sz="1300" dirty="0"/>
          </a:p>
        </p:txBody>
      </p:sp>
      <p:sp>
        <p:nvSpPr>
          <p:cNvPr id="33" name="Text 30"/>
          <p:cNvSpPr/>
          <p:nvPr/>
        </p:nvSpPr>
        <p:spPr>
          <a:xfrm>
            <a:off x="1066800" y="3426354"/>
            <a:ext cx="406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B"/>
                </a:solidFill>
                <a:latin typeface="Arial" pitchFamily="34" charset="0"/>
                <a:ea typeface="Arial" pitchFamily="34" charset="-122"/>
                <a:cs typeface="Arial" pitchFamily="34" charset="-120"/>
              </a:rPr>
              <a:t>5</a:t>
            </a:r>
            <a:endParaRPr lang="en-US" sz="1400" dirty="0"/>
          </a:p>
        </p:txBody>
      </p:sp>
      <p:sp>
        <p:nvSpPr>
          <p:cNvPr id="34" name="Text 31"/>
          <p:cNvSpPr/>
          <p:nvPr/>
        </p:nvSpPr>
        <p:spPr>
          <a:xfrm>
            <a:off x="1549400" y="3426354"/>
            <a:ext cx="1447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StealC</a:t>
            </a:r>
            <a:endParaRPr lang="en-US" sz="1400" dirty="0"/>
          </a:p>
        </p:txBody>
      </p:sp>
      <p:sp>
        <p:nvSpPr>
          <p:cNvPr id="35" name="Shape 32"/>
          <p:cNvSpPr/>
          <p:nvPr/>
        </p:nvSpPr>
        <p:spPr>
          <a:xfrm>
            <a:off x="3073400" y="3461875"/>
            <a:ext cx="2584450" cy="177800"/>
          </a:xfrm>
          <a:prstGeom prst="roundRect">
            <a:avLst>
              <a:gd name="adj" fmla="val 28571"/>
            </a:avLst>
          </a:prstGeom>
          <a:solidFill>
            <a:srgbClr val="F7630C"/>
          </a:solidFill>
          <a:ln/>
        </p:spPr>
      </p:sp>
      <p:sp>
        <p:nvSpPr>
          <p:cNvPr id="36" name="Text 33"/>
          <p:cNvSpPr/>
          <p:nvPr/>
        </p:nvSpPr>
        <p:spPr>
          <a:xfrm>
            <a:off x="8026400" y="3435218"/>
            <a:ext cx="6223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126</a:t>
            </a:r>
            <a:endParaRPr lang="en-US" sz="1300" dirty="0"/>
          </a:p>
        </p:txBody>
      </p:sp>
      <p:sp>
        <p:nvSpPr>
          <p:cNvPr id="37" name="Text 34"/>
          <p:cNvSpPr/>
          <p:nvPr/>
        </p:nvSpPr>
        <p:spPr>
          <a:xfrm>
            <a:off x="8724900" y="3435218"/>
            <a:ext cx="247230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Infostealer</a:t>
            </a:r>
            <a:endParaRPr lang="en-US" sz="1300" dirty="0"/>
          </a:p>
        </p:txBody>
      </p:sp>
      <p:sp>
        <p:nvSpPr>
          <p:cNvPr id="38" name="Text 35"/>
          <p:cNvSpPr/>
          <p:nvPr/>
        </p:nvSpPr>
        <p:spPr>
          <a:xfrm>
            <a:off x="1066800" y="3764161"/>
            <a:ext cx="406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B"/>
                </a:solidFill>
                <a:latin typeface="Arial" pitchFamily="34" charset="0"/>
                <a:ea typeface="Arial" pitchFamily="34" charset="-122"/>
                <a:cs typeface="Arial" pitchFamily="34" charset="-120"/>
              </a:rPr>
              <a:t>6</a:t>
            </a:r>
            <a:endParaRPr lang="en-US" sz="1400" dirty="0"/>
          </a:p>
        </p:txBody>
      </p:sp>
      <p:sp>
        <p:nvSpPr>
          <p:cNvPr id="39" name="Text 36"/>
          <p:cNvSpPr/>
          <p:nvPr/>
        </p:nvSpPr>
        <p:spPr>
          <a:xfrm>
            <a:off x="1549400" y="3764161"/>
            <a:ext cx="1447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Lumma</a:t>
            </a:r>
            <a:endParaRPr lang="en-US" sz="1400" dirty="0"/>
          </a:p>
        </p:txBody>
      </p:sp>
      <p:sp>
        <p:nvSpPr>
          <p:cNvPr id="40" name="Shape 37"/>
          <p:cNvSpPr/>
          <p:nvPr/>
        </p:nvSpPr>
        <p:spPr>
          <a:xfrm>
            <a:off x="3073400" y="3799681"/>
            <a:ext cx="2482850" cy="177800"/>
          </a:xfrm>
          <a:prstGeom prst="roundRect">
            <a:avLst>
              <a:gd name="adj" fmla="val 28571"/>
            </a:avLst>
          </a:prstGeom>
          <a:solidFill>
            <a:srgbClr val="F7630C"/>
          </a:solidFill>
          <a:ln/>
        </p:spPr>
      </p:sp>
      <p:sp>
        <p:nvSpPr>
          <p:cNvPr id="41" name="Text 38"/>
          <p:cNvSpPr/>
          <p:nvPr/>
        </p:nvSpPr>
        <p:spPr>
          <a:xfrm>
            <a:off x="8026400" y="3773025"/>
            <a:ext cx="6223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121</a:t>
            </a:r>
            <a:endParaRPr lang="en-US" sz="1300" dirty="0"/>
          </a:p>
        </p:txBody>
      </p:sp>
      <p:sp>
        <p:nvSpPr>
          <p:cNvPr id="42" name="Text 39"/>
          <p:cNvSpPr/>
          <p:nvPr/>
        </p:nvSpPr>
        <p:spPr>
          <a:xfrm>
            <a:off x="8724900" y="3773025"/>
            <a:ext cx="247230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Infostealer</a:t>
            </a:r>
            <a:endParaRPr lang="en-US" sz="1300" dirty="0"/>
          </a:p>
        </p:txBody>
      </p:sp>
      <p:sp>
        <p:nvSpPr>
          <p:cNvPr id="43" name="Text 40"/>
          <p:cNvSpPr/>
          <p:nvPr/>
        </p:nvSpPr>
        <p:spPr>
          <a:xfrm>
            <a:off x="1066800" y="4101968"/>
            <a:ext cx="406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B"/>
                </a:solidFill>
                <a:latin typeface="Arial" pitchFamily="34" charset="0"/>
                <a:ea typeface="Arial" pitchFamily="34" charset="-122"/>
                <a:cs typeface="Arial" pitchFamily="34" charset="-120"/>
              </a:rPr>
              <a:t>7</a:t>
            </a:r>
            <a:endParaRPr lang="en-US" sz="1400" dirty="0"/>
          </a:p>
        </p:txBody>
      </p:sp>
      <p:sp>
        <p:nvSpPr>
          <p:cNvPr id="44" name="Text 41"/>
          <p:cNvSpPr/>
          <p:nvPr/>
        </p:nvSpPr>
        <p:spPr>
          <a:xfrm>
            <a:off x="1549400" y="4101968"/>
            <a:ext cx="1447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Formbook</a:t>
            </a:r>
            <a:endParaRPr lang="en-US" sz="1400" dirty="0"/>
          </a:p>
        </p:txBody>
      </p:sp>
      <p:sp>
        <p:nvSpPr>
          <p:cNvPr id="45" name="Shape 42"/>
          <p:cNvSpPr/>
          <p:nvPr/>
        </p:nvSpPr>
        <p:spPr>
          <a:xfrm>
            <a:off x="3073400" y="4137489"/>
            <a:ext cx="2317750" cy="177800"/>
          </a:xfrm>
          <a:prstGeom prst="roundRect">
            <a:avLst>
              <a:gd name="adj" fmla="val 28571"/>
            </a:avLst>
          </a:prstGeom>
          <a:solidFill>
            <a:srgbClr val="F7630C"/>
          </a:solidFill>
          <a:ln/>
        </p:spPr>
      </p:sp>
      <p:sp>
        <p:nvSpPr>
          <p:cNvPr id="46" name="Text 43"/>
          <p:cNvSpPr/>
          <p:nvPr/>
        </p:nvSpPr>
        <p:spPr>
          <a:xfrm>
            <a:off x="8026400" y="4110831"/>
            <a:ext cx="6223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113</a:t>
            </a:r>
            <a:endParaRPr lang="en-US" sz="1300" dirty="0"/>
          </a:p>
        </p:txBody>
      </p:sp>
      <p:sp>
        <p:nvSpPr>
          <p:cNvPr id="47" name="Text 44"/>
          <p:cNvSpPr/>
          <p:nvPr/>
        </p:nvSpPr>
        <p:spPr>
          <a:xfrm>
            <a:off x="8724900" y="4110831"/>
            <a:ext cx="247230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Infostealer and form grabber</a:t>
            </a:r>
            <a:endParaRPr lang="en-US" sz="1300" dirty="0"/>
          </a:p>
        </p:txBody>
      </p:sp>
      <p:sp>
        <p:nvSpPr>
          <p:cNvPr id="48" name="Text 45"/>
          <p:cNvSpPr/>
          <p:nvPr/>
        </p:nvSpPr>
        <p:spPr>
          <a:xfrm>
            <a:off x="1066800" y="4439775"/>
            <a:ext cx="406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B"/>
                </a:solidFill>
                <a:latin typeface="Arial" pitchFamily="34" charset="0"/>
                <a:ea typeface="Arial" pitchFamily="34" charset="-122"/>
                <a:cs typeface="Arial" pitchFamily="34" charset="-120"/>
              </a:rPr>
              <a:t>8</a:t>
            </a:r>
            <a:endParaRPr lang="en-US" sz="1400" dirty="0"/>
          </a:p>
        </p:txBody>
      </p:sp>
      <p:sp>
        <p:nvSpPr>
          <p:cNvPr id="49" name="Text 46"/>
          <p:cNvSpPr/>
          <p:nvPr/>
        </p:nvSpPr>
        <p:spPr>
          <a:xfrm>
            <a:off x="1549400" y="4439775"/>
            <a:ext cx="1447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Quasar</a:t>
            </a:r>
            <a:endParaRPr lang="en-US" sz="1400" dirty="0"/>
          </a:p>
        </p:txBody>
      </p:sp>
      <p:sp>
        <p:nvSpPr>
          <p:cNvPr id="50" name="Shape 47"/>
          <p:cNvSpPr/>
          <p:nvPr/>
        </p:nvSpPr>
        <p:spPr>
          <a:xfrm>
            <a:off x="3073400" y="4475295"/>
            <a:ext cx="2241550" cy="177800"/>
          </a:xfrm>
          <a:prstGeom prst="roundRect">
            <a:avLst>
              <a:gd name="adj" fmla="val 28571"/>
            </a:avLst>
          </a:prstGeom>
          <a:solidFill>
            <a:srgbClr val="0078D4"/>
          </a:solidFill>
          <a:ln/>
        </p:spPr>
      </p:sp>
      <p:sp>
        <p:nvSpPr>
          <p:cNvPr id="51" name="Text 48"/>
          <p:cNvSpPr/>
          <p:nvPr/>
        </p:nvSpPr>
        <p:spPr>
          <a:xfrm>
            <a:off x="8026400" y="4448639"/>
            <a:ext cx="6223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109</a:t>
            </a:r>
            <a:endParaRPr lang="en-US" sz="1300" dirty="0"/>
          </a:p>
        </p:txBody>
      </p:sp>
      <p:sp>
        <p:nvSpPr>
          <p:cNvPr id="52" name="Text 49"/>
          <p:cNvSpPr/>
          <p:nvPr/>
        </p:nvSpPr>
        <p:spPr>
          <a:xfrm>
            <a:off x="8724900" y="4448639"/>
            <a:ext cx="247230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Remote access trojan</a:t>
            </a:r>
            <a:endParaRPr lang="en-US" sz="1300" dirty="0"/>
          </a:p>
        </p:txBody>
      </p:sp>
      <p:sp>
        <p:nvSpPr>
          <p:cNvPr id="53" name="Text 50"/>
          <p:cNvSpPr/>
          <p:nvPr/>
        </p:nvSpPr>
        <p:spPr>
          <a:xfrm>
            <a:off x="1066800" y="4777581"/>
            <a:ext cx="406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B"/>
                </a:solidFill>
                <a:latin typeface="Arial" pitchFamily="34" charset="0"/>
                <a:ea typeface="Arial" pitchFamily="34" charset="-122"/>
                <a:cs typeface="Arial" pitchFamily="34" charset="-120"/>
              </a:rPr>
              <a:t>9</a:t>
            </a:r>
            <a:endParaRPr lang="en-US" sz="1400" dirty="0"/>
          </a:p>
        </p:txBody>
      </p:sp>
      <p:sp>
        <p:nvSpPr>
          <p:cNvPr id="54" name="Text 51"/>
          <p:cNvSpPr/>
          <p:nvPr/>
        </p:nvSpPr>
        <p:spPr>
          <a:xfrm>
            <a:off x="1549400" y="4777581"/>
            <a:ext cx="1447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Agent Tesla</a:t>
            </a:r>
            <a:endParaRPr lang="en-US" sz="1400" dirty="0"/>
          </a:p>
        </p:txBody>
      </p:sp>
      <p:sp>
        <p:nvSpPr>
          <p:cNvPr id="55" name="Shape 52"/>
          <p:cNvSpPr/>
          <p:nvPr/>
        </p:nvSpPr>
        <p:spPr>
          <a:xfrm>
            <a:off x="3073400" y="4813102"/>
            <a:ext cx="2216150" cy="177800"/>
          </a:xfrm>
          <a:prstGeom prst="roundRect">
            <a:avLst>
              <a:gd name="adj" fmla="val 28571"/>
            </a:avLst>
          </a:prstGeom>
          <a:solidFill>
            <a:srgbClr val="F7630C"/>
          </a:solidFill>
          <a:ln/>
        </p:spPr>
      </p:sp>
      <p:sp>
        <p:nvSpPr>
          <p:cNvPr id="56" name="Text 53"/>
          <p:cNvSpPr/>
          <p:nvPr/>
        </p:nvSpPr>
        <p:spPr>
          <a:xfrm>
            <a:off x="8026400" y="4786445"/>
            <a:ext cx="6223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108</a:t>
            </a:r>
            <a:endParaRPr lang="en-US" sz="1300" dirty="0"/>
          </a:p>
        </p:txBody>
      </p:sp>
      <p:sp>
        <p:nvSpPr>
          <p:cNvPr id="57" name="Text 54"/>
          <p:cNvSpPr/>
          <p:nvPr/>
        </p:nvSpPr>
        <p:spPr>
          <a:xfrm>
            <a:off x="8724900" y="4786445"/>
            <a:ext cx="247230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Infostealer and keylogger</a:t>
            </a:r>
            <a:endParaRPr lang="en-US" sz="1300" dirty="0"/>
          </a:p>
        </p:txBody>
      </p:sp>
      <p:sp>
        <p:nvSpPr>
          <p:cNvPr id="58" name="Text 55"/>
          <p:cNvSpPr/>
          <p:nvPr/>
        </p:nvSpPr>
        <p:spPr>
          <a:xfrm>
            <a:off x="1066800" y="5115389"/>
            <a:ext cx="406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B"/>
                </a:solidFill>
                <a:latin typeface="Arial" pitchFamily="34" charset="0"/>
                <a:ea typeface="Arial" pitchFamily="34" charset="-122"/>
                <a:cs typeface="Arial" pitchFamily="34" charset="-120"/>
              </a:rPr>
              <a:t>10</a:t>
            </a:r>
            <a:endParaRPr lang="en-US" sz="1400" dirty="0"/>
          </a:p>
        </p:txBody>
      </p:sp>
      <p:sp>
        <p:nvSpPr>
          <p:cNvPr id="59" name="Text 56"/>
          <p:cNvSpPr/>
          <p:nvPr/>
        </p:nvSpPr>
        <p:spPr>
          <a:xfrm>
            <a:off x="1549400" y="5115389"/>
            <a:ext cx="1447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DonutLoader</a:t>
            </a:r>
            <a:endParaRPr lang="en-US" sz="1400" dirty="0"/>
          </a:p>
        </p:txBody>
      </p:sp>
      <p:sp>
        <p:nvSpPr>
          <p:cNvPr id="60" name="Shape 57"/>
          <p:cNvSpPr/>
          <p:nvPr/>
        </p:nvSpPr>
        <p:spPr>
          <a:xfrm>
            <a:off x="3073400" y="5150909"/>
            <a:ext cx="2032000" cy="177800"/>
          </a:xfrm>
          <a:prstGeom prst="roundRect">
            <a:avLst>
              <a:gd name="adj" fmla="val 28571"/>
            </a:avLst>
          </a:prstGeom>
          <a:solidFill>
            <a:srgbClr val="13294B"/>
          </a:solidFill>
          <a:ln/>
        </p:spPr>
      </p:sp>
      <p:sp>
        <p:nvSpPr>
          <p:cNvPr id="61" name="Text 58"/>
          <p:cNvSpPr/>
          <p:nvPr/>
        </p:nvSpPr>
        <p:spPr>
          <a:xfrm>
            <a:off x="8026400" y="5124252"/>
            <a:ext cx="6223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99</a:t>
            </a:r>
            <a:endParaRPr lang="en-US" sz="1300" dirty="0"/>
          </a:p>
        </p:txBody>
      </p:sp>
      <p:sp>
        <p:nvSpPr>
          <p:cNvPr id="62" name="Text 59"/>
          <p:cNvSpPr/>
          <p:nvPr/>
        </p:nvSpPr>
        <p:spPr>
          <a:xfrm>
            <a:off x="8724900" y="5124252"/>
            <a:ext cx="247230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Loader</a:t>
            </a:r>
            <a:endParaRPr lang="en-US" sz="1300" dirty="0"/>
          </a:p>
        </p:txBody>
      </p:sp>
      <p:sp>
        <p:nvSpPr>
          <p:cNvPr id="63" name="Text 6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 ANY.RUN sandbox telemetry, via Cyber Security News (July 2026)</a:t>
            </a:r>
            <a:endParaRPr lang="en-US" sz="1200" dirty="0"/>
          </a:p>
        </p:txBody>
      </p:sp>
      <p:sp>
        <p:nvSpPr>
          <p:cNvPr id="64" name="Text 61"/>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02 · HOW THEY GET IN</a:t>
            </a:r>
            <a:endParaRPr lang="en-US" sz="1200" dirty="0"/>
          </a:p>
        </p:txBody>
      </p:sp>
      <p:sp>
        <p:nvSpPr>
          <p:cNvPr id="4" name="Text 1"/>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Five common delivery routes</a:t>
            </a:r>
            <a:endParaRPr lang="en-US" sz="3600" dirty="0"/>
          </a:p>
        </p:txBody>
      </p:sp>
      <p:sp>
        <p:nvSpPr>
          <p:cNvPr id="5" name="Shape 2"/>
          <p:cNvSpPr/>
          <p:nvPr/>
        </p:nvSpPr>
        <p:spPr>
          <a:xfrm>
            <a:off x="812800" y="1569707"/>
            <a:ext cx="1991320" cy="2050918"/>
          </a:xfrm>
          <a:prstGeom prst="roundRect">
            <a:avLst>
              <a:gd name="adj" fmla="val 5102"/>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812800" y="1569707"/>
            <a:ext cx="1991320" cy="2050918"/>
          </a:xfrm>
          <a:custGeom>
            <a:avLst/>
            <a:gdLst/>
            <a:ahLst/>
            <a:cxnLst/>
            <a:rect l="l" t="t" r="r" b="b"/>
            <a:pathLst>
              <a:path w="1991320" h="2050918">
                <a:moveTo>
                  <a:pt x="0" y="101600"/>
                </a:moveTo>
                <a:lnTo>
                  <a:pt x="0" y="101600"/>
                </a:lnTo>
                <a:arcTo hR="101600" wR="101600" stAng="10800000" swAng="5400000"/>
                <a:lnTo>
                  <a:pt x="1889720" y="0"/>
                </a:lnTo>
                <a:arcTo hR="101600" wR="101600" stAng="16200000" swAng="5400000"/>
                <a:lnTo>
                  <a:pt x="1991320" y="101600"/>
                </a:lnTo>
                <a:arcTo hR="50800" wR="101600" stAng="0" swAng="-5400000"/>
                <a:lnTo>
                  <a:pt x="101600" y="50800"/>
                </a:lnTo>
                <a:arcTo hR="50800" wR="101600" stAng="16200000" swAng="-5400000"/>
                <a:close/>
              </a:path>
            </a:pathLst>
          </a:custGeom>
          <a:solidFill>
            <a:srgbClr val="0078D4"/>
          </a:solidFill>
          <a:ln/>
        </p:spPr>
      </p:sp>
      <p:sp>
        <p:nvSpPr>
          <p:cNvPr id="7" name="Shape 4"/>
          <p:cNvSpPr/>
          <p:nvPr/>
        </p:nvSpPr>
        <p:spPr>
          <a:xfrm>
            <a:off x="990600" y="1823707"/>
            <a:ext cx="457200" cy="457200"/>
          </a:xfrm>
          <a:prstGeom prst="roundRect">
            <a:avLst>
              <a:gd name="adj" fmla="val 50000"/>
            </a:avLst>
          </a:prstGeom>
          <a:solidFill>
            <a:srgbClr val="EAF3FC"/>
          </a:solidFill>
          <a:ln/>
        </p:spPr>
      </p:sp>
      <p:pic>
        <p:nvPicPr>
          <p:cNvPr id="8" name="Image 1" descr="mail icon">    </p:cNvPr>
          <p:cNvPicPr>
            <a:picLocks noChangeAspect="1"/>
          </p:cNvPicPr>
          <p:nvPr/>
        </p:nvPicPr>
        <p:blipFill>
          <a:blip r:embed="rId2"/>
          <a:srcRect l="0" r="0" t="0" b="0"/>
          <a:stretch/>
        </p:blipFill>
        <p:spPr>
          <a:xfrm>
            <a:off x="1104900" y="1938007"/>
            <a:ext cx="228600" cy="228600"/>
          </a:xfrm>
          <a:prstGeom prst="rect">
            <a:avLst/>
          </a:prstGeom>
        </p:spPr>
      </p:pic>
      <p:sp>
        <p:nvSpPr>
          <p:cNvPr id="9" name="Text 5"/>
          <p:cNvSpPr/>
          <p:nvPr/>
        </p:nvSpPr>
        <p:spPr>
          <a:xfrm>
            <a:off x="990600" y="2382507"/>
            <a:ext cx="16865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Phishing emails</a:t>
            </a:r>
            <a:endParaRPr lang="en-US" sz="1600" dirty="0"/>
          </a:p>
        </p:txBody>
      </p:sp>
      <p:sp>
        <p:nvSpPr>
          <p:cNvPr id="10" name="Text 6"/>
          <p:cNvSpPr/>
          <p:nvPr/>
        </p:nvSpPr>
        <p:spPr>
          <a:xfrm>
            <a:off x="990600" y="2727920"/>
            <a:ext cx="168652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Fake invoices, quotes and shipping notices</a:t>
            </a:r>
            <a:endParaRPr lang="en-US" sz="1300" dirty="0"/>
          </a:p>
        </p:txBody>
      </p:sp>
      <p:sp>
        <p:nvSpPr>
          <p:cNvPr id="11" name="Shape 7"/>
          <p:cNvSpPr/>
          <p:nvPr/>
        </p:nvSpPr>
        <p:spPr>
          <a:xfrm>
            <a:off x="2956520" y="1569707"/>
            <a:ext cx="1991387" cy="2050918"/>
          </a:xfrm>
          <a:prstGeom prst="roundRect">
            <a:avLst>
              <a:gd name="adj" fmla="val 5102"/>
            </a:avLst>
          </a:prstGeom>
          <a:solidFill>
            <a:srgbClr val="FFFFFF"/>
          </a:solidFill>
          <a:ln/>
          <a:effectLst>
            <a:outerShdw sx="100000" sy="100000" kx="0" ky="0" algn="bl" rotWithShape="0" blurRad="101600" dist="25400" dir="5400000">
              <a:srgbClr val="C9D6E3">
                <a:alpha val="100000"/>
              </a:srgbClr>
            </a:outerShdw>
          </a:effectLst>
        </p:spPr>
      </p:sp>
      <p:sp>
        <p:nvSpPr>
          <p:cNvPr id="12" name="Shape 8"/>
          <p:cNvSpPr/>
          <p:nvPr/>
        </p:nvSpPr>
        <p:spPr>
          <a:xfrm>
            <a:off x="2956520" y="1569707"/>
            <a:ext cx="1991387" cy="2050918"/>
          </a:xfrm>
          <a:custGeom>
            <a:avLst/>
            <a:gdLst/>
            <a:ahLst/>
            <a:cxnLst/>
            <a:rect l="l" t="t" r="r" b="b"/>
            <a:pathLst>
              <a:path w="1991387" h="2050918">
                <a:moveTo>
                  <a:pt x="0" y="101600"/>
                </a:moveTo>
                <a:lnTo>
                  <a:pt x="0" y="101600"/>
                </a:lnTo>
                <a:arcTo hR="101600" wR="101600" stAng="10800000" swAng="5400000"/>
                <a:lnTo>
                  <a:pt x="1889787" y="0"/>
                </a:lnTo>
                <a:arcTo hR="101600" wR="101600" stAng="16200000" swAng="5400000"/>
                <a:lnTo>
                  <a:pt x="1991387" y="101600"/>
                </a:lnTo>
                <a:arcTo hR="50800" wR="101600" stAng="0" swAng="-5400000"/>
                <a:lnTo>
                  <a:pt x="101600" y="50800"/>
                </a:lnTo>
                <a:arcTo hR="50800" wR="101600" stAng="16200000" swAng="-5400000"/>
                <a:close/>
              </a:path>
            </a:pathLst>
          </a:custGeom>
          <a:solidFill>
            <a:srgbClr val="0078D4"/>
          </a:solidFill>
          <a:ln/>
        </p:spPr>
      </p:sp>
      <p:sp>
        <p:nvSpPr>
          <p:cNvPr id="13" name="Shape 9"/>
          <p:cNvSpPr/>
          <p:nvPr/>
        </p:nvSpPr>
        <p:spPr>
          <a:xfrm>
            <a:off x="3134320" y="1823707"/>
            <a:ext cx="457200" cy="457200"/>
          </a:xfrm>
          <a:prstGeom prst="roundRect">
            <a:avLst>
              <a:gd name="adj" fmla="val 50000"/>
            </a:avLst>
          </a:prstGeom>
          <a:solidFill>
            <a:srgbClr val="EAF3FC"/>
          </a:solidFill>
          <a:ln/>
        </p:spPr>
      </p:sp>
      <p:pic>
        <p:nvPicPr>
          <p:cNvPr id="14" name="Image 2" descr="download icon">    </p:cNvPr>
          <p:cNvPicPr>
            <a:picLocks noChangeAspect="1"/>
          </p:cNvPicPr>
          <p:nvPr/>
        </p:nvPicPr>
        <p:blipFill>
          <a:blip r:embed="rId3"/>
          <a:srcRect l="0" r="0" t="0" b="0"/>
          <a:stretch/>
        </p:blipFill>
        <p:spPr>
          <a:xfrm>
            <a:off x="3248620" y="1938007"/>
            <a:ext cx="228600" cy="228600"/>
          </a:xfrm>
          <a:prstGeom prst="rect">
            <a:avLst/>
          </a:prstGeom>
        </p:spPr>
      </p:pic>
      <p:sp>
        <p:nvSpPr>
          <p:cNvPr id="15" name="Text 10"/>
          <p:cNvSpPr/>
          <p:nvPr/>
        </p:nvSpPr>
        <p:spPr>
          <a:xfrm>
            <a:off x="3134320" y="2382507"/>
            <a:ext cx="168658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Fake software</a:t>
            </a:r>
            <a:endParaRPr lang="en-US" sz="1600" dirty="0"/>
          </a:p>
        </p:txBody>
      </p:sp>
      <p:sp>
        <p:nvSpPr>
          <p:cNvPr id="16" name="Text 11"/>
          <p:cNvSpPr/>
          <p:nvPr/>
        </p:nvSpPr>
        <p:spPr>
          <a:xfrm>
            <a:off x="3134320" y="2727920"/>
            <a:ext cx="168658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Cracks, keygens and fake installers</a:t>
            </a:r>
            <a:endParaRPr lang="en-US" sz="1300" dirty="0"/>
          </a:p>
        </p:txBody>
      </p:sp>
      <p:sp>
        <p:nvSpPr>
          <p:cNvPr id="17" name="Shape 12"/>
          <p:cNvSpPr/>
          <p:nvPr/>
        </p:nvSpPr>
        <p:spPr>
          <a:xfrm>
            <a:off x="5100307" y="1569707"/>
            <a:ext cx="1991320" cy="2050918"/>
          </a:xfrm>
          <a:prstGeom prst="roundRect">
            <a:avLst>
              <a:gd name="adj" fmla="val 5102"/>
            </a:avLst>
          </a:prstGeom>
          <a:solidFill>
            <a:srgbClr val="FFFFFF"/>
          </a:solidFill>
          <a:ln/>
          <a:effectLst>
            <a:outerShdw sx="100000" sy="100000" kx="0" ky="0" algn="bl" rotWithShape="0" blurRad="101600" dist="25400" dir="5400000">
              <a:srgbClr val="C9D6E3">
                <a:alpha val="100000"/>
              </a:srgbClr>
            </a:outerShdw>
          </a:effectLst>
        </p:spPr>
      </p:sp>
      <p:sp>
        <p:nvSpPr>
          <p:cNvPr id="18" name="Shape 13"/>
          <p:cNvSpPr/>
          <p:nvPr/>
        </p:nvSpPr>
        <p:spPr>
          <a:xfrm>
            <a:off x="5100307" y="1569707"/>
            <a:ext cx="1991320" cy="2050918"/>
          </a:xfrm>
          <a:custGeom>
            <a:avLst/>
            <a:gdLst/>
            <a:ahLst/>
            <a:cxnLst/>
            <a:rect l="l" t="t" r="r" b="b"/>
            <a:pathLst>
              <a:path w="1991320" h="2050918">
                <a:moveTo>
                  <a:pt x="0" y="101600"/>
                </a:moveTo>
                <a:lnTo>
                  <a:pt x="0" y="101600"/>
                </a:lnTo>
                <a:arcTo hR="101600" wR="101600" stAng="10800000" swAng="5400000"/>
                <a:lnTo>
                  <a:pt x="1889720" y="0"/>
                </a:lnTo>
                <a:arcTo hR="101600" wR="101600" stAng="16200000" swAng="5400000"/>
                <a:lnTo>
                  <a:pt x="1991320" y="101600"/>
                </a:lnTo>
                <a:arcTo hR="50800" wR="101600" stAng="0" swAng="-5400000"/>
                <a:lnTo>
                  <a:pt x="101600" y="50800"/>
                </a:lnTo>
                <a:arcTo hR="50800" wR="101600" stAng="16200000" swAng="-5400000"/>
                <a:close/>
              </a:path>
            </a:pathLst>
          </a:custGeom>
          <a:solidFill>
            <a:srgbClr val="0078D4"/>
          </a:solidFill>
          <a:ln/>
        </p:spPr>
      </p:sp>
      <p:sp>
        <p:nvSpPr>
          <p:cNvPr id="19" name="Shape 14"/>
          <p:cNvSpPr/>
          <p:nvPr/>
        </p:nvSpPr>
        <p:spPr>
          <a:xfrm>
            <a:off x="5278107" y="1823707"/>
            <a:ext cx="457200" cy="457200"/>
          </a:xfrm>
          <a:prstGeom prst="roundRect">
            <a:avLst>
              <a:gd name="adj" fmla="val 50000"/>
            </a:avLst>
          </a:prstGeom>
          <a:solidFill>
            <a:srgbClr val="EAF3FC"/>
          </a:solidFill>
          <a:ln/>
        </p:spPr>
      </p:sp>
      <p:pic>
        <p:nvPicPr>
          <p:cNvPr id="20" name="Image 3" descr="search icon">    </p:cNvPr>
          <p:cNvPicPr>
            <a:picLocks noChangeAspect="1"/>
          </p:cNvPicPr>
          <p:nvPr/>
        </p:nvPicPr>
        <p:blipFill>
          <a:blip r:embed="rId4"/>
          <a:srcRect l="0" r="0" t="0" b="0"/>
          <a:stretch/>
        </p:blipFill>
        <p:spPr>
          <a:xfrm>
            <a:off x="5392407" y="1938007"/>
            <a:ext cx="228600" cy="228600"/>
          </a:xfrm>
          <a:prstGeom prst="rect">
            <a:avLst/>
          </a:prstGeom>
        </p:spPr>
      </p:pic>
      <p:sp>
        <p:nvSpPr>
          <p:cNvPr id="21" name="Text 15"/>
          <p:cNvSpPr/>
          <p:nvPr/>
        </p:nvSpPr>
        <p:spPr>
          <a:xfrm>
            <a:off x="5278107" y="2382507"/>
            <a:ext cx="16865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Malvertising</a:t>
            </a:r>
            <a:endParaRPr lang="en-US" sz="1600" dirty="0"/>
          </a:p>
        </p:txBody>
      </p:sp>
      <p:sp>
        <p:nvSpPr>
          <p:cNvPr id="22" name="Text 16"/>
          <p:cNvSpPr/>
          <p:nvPr/>
        </p:nvSpPr>
        <p:spPr>
          <a:xfrm>
            <a:off x="5278107" y="2727920"/>
            <a:ext cx="168652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Poisoned ads and search results</a:t>
            </a:r>
            <a:endParaRPr lang="en-US" sz="1300" dirty="0"/>
          </a:p>
        </p:txBody>
      </p:sp>
      <p:sp>
        <p:nvSpPr>
          <p:cNvPr id="23" name="Shape 17"/>
          <p:cNvSpPr/>
          <p:nvPr/>
        </p:nvSpPr>
        <p:spPr>
          <a:xfrm>
            <a:off x="7244028" y="1569707"/>
            <a:ext cx="1991387" cy="2050918"/>
          </a:xfrm>
          <a:prstGeom prst="roundRect">
            <a:avLst>
              <a:gd name="adj" fmla="val 5102"/>
            </a:avLst>
          </a:prstGeom>
          <a:solidFill>
            <a:srgbClr val="FFFFFF"/>
          </a:solidFill>
          <a:ln/>
          <a:effectLst>
            <a:outerShdw sx="100000" sy="100000" kx="0" ky="0" algn="bl" rotWithShape="0" blurRad="101600" dist="25400" dir="5400000">
              <a:srgbClr val="C9D6E3">
                <a:alpha val="100000"/>
              </a:srgbClr>
            </a:outerShdw>
          </a:effectLst>
        </p:spPr>
      </p:sp>
      <p:sp>
        <p:nvSpPr>
          <p:cNvPr id="24" name="Shape 18"/>
          <p:cNvSpPr/>
          <p:nvPr/>
        </p:nvSpPr>
        <p:spPr>
          <a:xfrm>
            <a:off x="7244028" y="1569707"/>
            <a:ext cx="1991387" cy="2050918"/>
          </a:xfrm>
          <a:custGeom>
            <a:avLst/>
            <a:gdLst/>
            <a:ahLst/>
            <a:cxnLst/>
            <a:rect l="l" t="t" r="r" b="b"/>
            <a:pathLst>
              <a:path w="1991387" h="2050918">
                <a:moveTo>
                  <a:pt x="0" y="101600"/>
                </a:moveTo>
                <a:lnTo>
                  <a:pt x="0" y="101600"/>
                </a:lnTo>
                <a:arcTo hR="101600" wR="101600" stAng="10800000" swAng="5400000"/>
                <a:lnTo>
                  <a:pt x="1889787" y="0"/>
                </a:lnTo>
                <a:arcTo hR="101600" wR="101600" stAng="16200000" swAng="5400000"/>
                <a:lnTo>
                  <a:pt x="1991387" y="101600"/>
                </a:lnTo>
                <a:arcTo hR="50800" wR="101600" stAng="0" swAng="-5400000"/>
                <a:lnTo>
                  <a:pt x="101600" y="50800"/>
                </a:lnTo>
                <a:arcTo hR="50800" wR="101600" stAng="16200000" swAng="-5400000"/>
                <a:close/>
              </a:path>
            </a:pathLst>
          </a:custGeom>
          <a:solidFill>
            <a:srgbClr val="0078D4"/>
          </a:solidFill>
          <a:ln/>
        </p:spPr>
      </p:sp>
      <p:sp>
        <p:nvSpPr>
          <p:cNvPr id="25" name="Shape 19"/>
          <p:cNvSpPr/>
          <p:nvPr/>
        </p:nvSpPr>
        <p:spPr>
          <a:xfrm>
            <a:off x="7421828" y="1823707"/>
            <a:ext cx="457200" cy="457200"/>
          </a:xfrm>
          <a:prstGeom prst="roundRect">
            <a:avLst>
              <a:gd name="adj" fmla="val 50000"/>
            </a:avLst>
          </a:prstGeom>
          <a:solidFill>
            <a:srgbClr val="EAF3FC"/>
          </a:solidFill>
          <a:ln/>
        </p:spPr>
      </p:sp>
      <p:pic>
        <p:nvPicPr>
          <p:cNvPr id="26" name="Image 4" descr="robot icon">    </p:cNvPr>
          <p:cNvPicPr>
            <a:picLocks noChangeAspect="1"/>
          </p:cNvPicPr>
          <p:nvPr/>
        </p:nvPicPr>
        <p:blipFill>
          <a:blip r:embed="rId5"/>
          <a:srcRect l="0" r="0" t="0" b="0"/>
          <a:stretch/>
        </p:blipFill>
        <p:spPr>
          <a:xfrm>
            <a:off x="7536128" y="1938007"/>
            <a:ext cx="228600" cy="228600"/>
          </a:xfrm>
          <a:prstGeom prst="rect">
            <a:avLst/>
          </a:prstGeom>
        </p:spPr>
      </p:pic>
      <p:sp>
        <p:nvSpPr>
          <p:cNvPr id="27" name="Text 20"/>
          <p:cNvSpPr/>
          <p:nvPr/>
        </p:nvSpPr>
        <p:spPr>
          <a:xfrm>
            <a:off x="7421828" y="2382507"/>
            <a:ext cx="1686587"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Fake CAPTCHA pages</a:t>
            </a:r>
            <a:endParaRPr lang="en-US" sz="1600" dirty="0"/>
          </a:p>
        </p:txBody>
      </p:sp>
      <p:sp>
        <p:nvSpPr>
          <p:cNvPr id="28" name="Text 21"/>
          <p:cNvSpPr/>
          <p:nvPr/>
        </p:nvSpPr>
        <p:spPr>
          <a:xfrm>
            <a:off x="7421828" y="2971735"/>
            <a:ext cx="168658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ClickFix tricks to paste and run commands</a:t>
            </a:r>
            <a:endParaRPr lang="en-US" sz="1300" dirty="0"/>
          </a:p>
        </p:txBody>
      </p:sp>
      <p:sp>
        <p:nvSpPr>
          <p:cNvPr id="29" name="Shape 22"/>
          <p:cNvSpPr/>
          <p:nvPr/>
        </p:nvSpPr>
        <p:spPr>
          <a:xfrm>
            <a:off x="9387814" y="1569707"/>
            <a:ext cx="1991387" cy="2050918"/>
          </a:xfrm>
          <a:prstGeom prst="roundRect">
            <a:avLst>
              <a:gd name="adj" fmla="val 5102"/>
            </a:avLst>
          </a:prstGeom>
          <a:solidFill>
            <a:srgbClr val="FFFFFF"/>
          </a:solidFill>
          <a:ln/>
          <a:effectLst>
            <a:outerShdw sx="100000" sy="100000" kx="0" ky="0" algn="bl" rotWithShape="0" blurRad="101600" dist="25400" dir="5400000">
              <a:srgbClr val="C9D6E3">
                <a:alpha val="100000"/>
              </a:srgbClr>
            </a:outerShdw>
          </a:effectLst>
        </p:spPr>
      </p:sp>
      <p:sp>
        <p:nvSpPr>
          <p:cNvPr id="30" name="Shape 23"/>
          <p:cNvSpPr/>
          <p:nvPr/>
        </p:nvSpPr>
        <p:spPr>
          <a:xfrm>
            <a:off x="9387814" y="1569707"/>
            <a:ext cx="1991387" cy="2050918"/>
          </a:xfrm>
          <a:custGeom>
            <a:avLst/>
            <a:gdLst/>
            <a:ahLst/>
            <a:cxnLst/>
            <a:rect l="l" t="t" r="r" b="b"/>
            <a:pathLst>
              <a:path w="1991387" h="2050918">
                <a:moveTo>
                  <a:pt x="0" y="101600"/>
                </a:moveTo>
                <a:lnTo>
                  <a:pt x="0" y="101600"/>
                </a:lnTo>
                <a:arcTo hR="101600" wR="101600" stAng="10800000" swAng="5400000"/>
                <a:lnTo>
                  <a:pt x="1889787" y="0"/>
                </a:lnTo>
                <a:arcTo hR="101600" wR="101600" stAng="16200000" swAng="5400000"/>
                <a:lnTo>
                  <a:pt x="1991387" y="101600"/>
                </a:lnTo>
                <a:arcTo hR="50800" wR="101600" stAng="0" swAng="-5400000"/>
                <a:lnTo>
                  <a:pt x="101600" y="50800"/>
                </a:lnTo>
                <a:arcTo hR="50800" wR="101600" stAng="16200000" swAng="-5400000"/>
                <a:close/>
              </a:path>
            </a:pathLst>
          </a:custGeom>
          <a:solidFill>
            <a:srgbClr val="0078D4"/>
          </a:solidFill>
          <a:ln/>
        </p:spPr>
      </p:sp>
      <p:sp>
        <p:nvSpPr>
          <p:cNvPr id="31" name="Shape 24"/>
          <p:cNvSpPr/>
          <p:nvPr/>
        </p:nvSpPr>
        <p:spPr>
          <a:xfrm>
            <a:off x="9565614" y="1823707"/>
            <a:ext cx="457200" cy="457200"/>
          </a:xfrm>
          <a:prstGeom prst="roundRect">
            <a:avLst>
              <a:gd name="adj" fmla="val 50000"/>
            </a:avLst>
          </a:prstGeom>
          <a:solidFill>
            <a:srgbClr val="EAF3FC"/>
          </a:solidFill>
          <a:ln/>
        </p:spPr>
      </p:sp>
      <p:pic>
        <p:nvPicPr>
          <p:cNvPr id="32" name="Image 5" descr="layers icon">    </p:cNvPr>
          <p:cNvPicPr>
            <a:picLocks noChangeAspect="1"/>
          </p:cNvPicPr>
          <p:nvPr/>
        </p:nvPicPr>
        <p:blipFill>
          <a:blip r:embed="rId6"/>
          <a:srcRect l="0" r="0" t="0" b="0"/>
          <a:stretch/>
        </p:blipFill>
        <p:spPr>
          <a:xfrm>
            <a:off x="9679914" y="1938007"/>
            <a:ext cx="228600" cy="228600"/>
          </a:xfrm>
          <a:prstGeom prst="rect">
            <a:avLst/>
          </a:prstGeom>
        </p:spPr>
      </p:pic>
      <p:sp>
        <p:nvSpPr>
          <p:cNvPr id="33" name="Text 25"/>
          <p:cNvSpPr/>
          <p:nvPr/>
        </p:nvSpPr>
        <p:spPr>
          <a:xfrm>
            <a:off x="9565614" y="2382507"/>
            <a:ext cx="168658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Loaders</a:t>
            </a:r>
            <a:endParaRPr lang="en-US" sz="1600" dirty="0"/>
          </a:p>
        </p:txBody>
      </p:sp>
      <p:sp>
        <p:nvSpPr>
          <p:cNvPr id="34" name="Text 26"/>
          <p:cNvSpPr/>
          <p:nvPr/>
        </p:nvSpPr>
        <p:spPr>
          <a:xfrm>
            <a:off x="9565614" y="2727920"/>
            <a:ext cx="168658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One infection quietly installs another</a:t>
            </a:r>
            <a:endParaRPr lang="en-US" sz="1300" dirty="0"/>
          </a:p>
        </p:txBody>
      </p:sp>
      <p:sp>
        <p:nvSpPr>
          <p:cNvPr id="35" name="Shape 27"/>
          <p:cNvSpPr/>
          <p:nvPr/>
        </p:nvSpPr>
        <p:spPr>
          <a:xfrm>
            <a:off x="812800" y="3874626"/>
            <a:ext cx="10566400" cy="863600"/>
          </a:xfrm>
          <a:prstGeom prst="roundRect">
            <a:avLst>
              <a:gd name="adj" fmla="val 11765"/>
            </a:avLst>
          </a:prstGeom>
          <a:solidFill>
            <a:srgbClr val="0A1628"/>
          </a:solidFill>
          <a:ln/>
        </p:spPr>
      </p:sp>
      <p:sp>
        <p:nvSpPr>
          <p:cNvPr id="36" name="Shape 28"/>
          <p:cNvSpPr/>
          <p:nvPr/>
        </p:nvSpPr>
        <p:spPr>
          <a:xfrm>
            <a:off x="1066800" y="4077826"/>
            <a:ext cx="457200" cy="457200"/>
          </a:xfrm>
          <a:prstGeom prst="roundRect">
            <a:avLst>
              <a:gd name="adj" fmla="val 50000"/>
            </a:avLst>
          </a:prstGeom>
          <a:solidFill>
            <a:srgbClr val="F7630C"/>
          </a:solidFill>
          <a:ln/>
        </p:spPr>
      </p:sp>
      <p:pic>
        <p:nvPicPr>
          <p:cNvPr id="37" name="Image 6" descr="link icon">    </p:cNvPr>
          <p:cNvPicPr>
            <a:picLocks noChangeAspect="1"/>
          </p:cNvPicPr>
          <p:nvPr/>
        </p:nvPicPr>
        <p:blipFill>
          <a:blip r:embed="rId7"/>
          <a:srcRect l="0" r="0" t="0" b="0"/>
          <a:stretch/>
        </p:blipFill>
        <p:spPr>
          <a:xfrm>
            <a:off x="1181100" y="4192126"/>
            <a:ext cx="228600" cy="228600"/>
          </a:xfrm>
          <a:prstGeom prst="rect">
            <a:avLst/>
          </a:prstGeom>
        </p:spPr>
      </p:pic>
      <p:sp>
        <p:nvSpPr>
          <p:cNvPr id="38" name="Text 29"/>
          <p:cNvSpPr/>
          <p:nvPr/>
        </p:nvSpPr>
        <p:spPr>
          <a:xfrm>
            <a:off x="1701800" y="4169239"/>
            <a:ext cx="9706102" cy="29970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FFFFF"/>
                </a:solidFill>
                <a:latin typeface="Calibri" pitchFamily="34" charset="0"/>
                <a:ea typeface="Calibri" pitchFamily="34" charset="-122"/>
                <a:cs typeface="Calibri" pitchFamily="34" charset="-120"/>
              </a:rPr>
              <a:t>Infostealers feed ransomware: stolen logins and session tokens are </a:t>
            </a:r>
            <a:r>
              <a:rPr lang="en-US" sz="1600" b="1" dirty="0">
                <a:solidFill>
                  <a:srgbClr val="FF9A5C"/>
                </a:solidFill>
                <a:latin typeface="Calibri" pitchFamily="34" charset="0"/>
                <a:ea typeface="Calibri" pitchFamily="34" charset="-122"/>
                <a:cs typeface="Calibri" pitchFamily="34" charset="-120"/>
              </a:rPr>
              <a:t>sold to access brokers and ransomware crews</a:t>
            </a: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39" name="Text 3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Microsoft Digital Defense Report 2025</a:t>
            </a:r>
            <a:endParaRPr lang="en-US" sz="1200" dirty="0"/>
          </a:p>
        </p:txBody>
      </p:sp>
      <p:sp>
        <p:nvSpPr>
          <p:cNvPr id="40" name="Text 31"/>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TOP 10 · #1 OF 10</a:t>
            </a:r>
            <a:endParaRPr lang="en-US" sz="1200" dirty="0"/>
          </a:p>
        </p:txBody>
      </p:sp>
      <p:sp>
        <p:nvSpPr>
          <p:cNvPr id="4" name="Text 1"/>
          <p:cNvSpPr/>
          <p:nvPr/>
        </p:nvSpPr>
        <p:spPr>
          <a:xfrm>
            <a:off x="812800" y="833107"/>
            <a:ext cx="762000" cy="762000"/>
          </a:xfrm>
          <a:prstGeom prst="roundRect">
            <a:avLst>
              <a:gd name="adj" fmla="val 20000"/>
            </a:avLst>
          </a:prstGeom>
          <a:solidFill>
            <a:srgbClr val="0A1628"/>
          </a:solidFill>
          <a:ln/>
        </p:spPr>
        <p:txBody>
          <a:bodyPr wrap="square" lIns="0" tIns="0" rIns="0" bIns="0" rtlCol="0" anchor="ctr">
            <a:normAutofit/>
          </a:bodyPr>
          <a:lstStyle/>
          <a:p>
            <a:pPr algn="ctr" indent="0" marL="0">
              <a:lnSpc>
                <a:spcPts val="3920"/>
              </a:lnSpc>
              <a:buNone/>
            </a:pPr>
            <a:r>
              <a:rPr lang="en-US" sz="2800" b="1" dirty="0">
                <a:solidFill>
                  <a:srgbClr val="00B7C3"/>
                </a:solidFill>
                <a:latin typeface="Arial" pitchFamily="34" charset="0"/>
                <a:ea typeface="Arial" pitchFamily="34" charset="-122"/>
                <a:cs typeface="Arial" pitchFamily="34" charset="-120"/>
              </a:rPr>
              <a:t>1</a:t>
            </a:r>
            <a:endParaRPr lang="en-US" sz="2800" dirty="0"/>
          </a:p>
        </p:txBody>
      </p:sp>
      <p:sp>
        <p:nvSpPr>
          <p:cNvPr id="5" name="Text 2"/>
          <p:cNvSpPr/>
          <p:nvPr>
            <p:ph type="title"/>
          </p:nvPr>
        </p:nvSpPr>
        <p:spPr>
          <a:xfrm>
            <a:off x="1778000" y="812800"/>
            <a:ext cx="1287595"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Vidar</a:t>
            </a:r>
            <a:endParaRPr lang="en-US" sz="3600" dirty="0"/>
          </a:p>
        </p:txBody>
      </p:sp>
      <p:sp>
        <p:nvSpPr>
          <p:cNvPr id="6" name="Text 3"/>
          <p:cNvSpPr/>
          <p:nvPr/>
        </p:nvSpPr>
        <p:spPr>
          <a:xfrm>
            <a:off x="3075120" y="912085"/>
            <a:ext cx="948597" cy="304337"/>
          </a:xfrm>
          <a:prstGeom prst="roundRect">
            <a:avLst>
              <a:gd name="adj" fmla="val 50000"/>
            </a:avLst>
          </a:prstGeom>
          <a:noFill/>
          <a:ln w="19050">
            <a:solidFill>
              <a:srgbClr val="F7630C"/>
            </a:solidFill>
            <a:prstDash val="solid"/>
          </a:ln>
        </p:spPr>
        <p:txBody>
          <a:bodyPr wrap="none" lIns="0" tIns="0" rIns="0" bIns="0" rtlCol="0" anchor="ctr">
            <a:normAutofit/>
          </a:bodyPr>
          <a:lstStyle/>
          <a:p>
            <a:pPr algn="ctr" indent="0" marL="0">
              <a:lnSpc>
                <a:spcPts val="1680"/>
              </a:lnSpc>
              <a:buNone/>
            </a:pPr>
            <a:r>
              <a:rPr lang="en-US" sz="1200" b="1" dirty="0">
                <a:solidFill>
                  <a:srgbClr val="C24E06"/>
                </a:solidFill>
                <a:latin typeface="Calibri" pitchFamily="34" charset="0"/>
                <a:ea typeface="Calibri" pitchFamily="34" charset="-122"/>
                <a:cs typeface="Calibri" pitchFamily="34" charset="-120"/>
              </a:rPr>
              <a:t>Infostealer</a:t>
            </a:r>
            <a:endParaRPr lang="en-US" sz="1200" dirty="0"/>
          </a:p>
        </p:txBody>
      </p:sp>
      <p:sp>
        <p:nvSpPr>
          <p:cNvPr id="7" name="Text 4"/>
          <p:cNvSpPr/>
          <p:nvPr/>
        </p:nvSpPr>
        <p:spPr>
          <a:xfrm>
            <a:off x="1778000" y="1366507"/>
            <a:ext cx="98892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 long-running stealer that also downloads more malware</a:t>
            </a:r>
            <a:endParaRPr lang="en-US" sz="1400" dirty="0"/>
          </a:p>
        </p:txBody>
      </p:sp>
      <p:sp>
        <p:nvSpPr>
          <p:cNvPr id="8" name="Shape 5"/>
          <p:cNvSpPr/>
          <p:nvPr/>
        </p:nvSpPr>
        <p:spPr>
          <a:xfrm>
            <a:off x="812800" y="1818615"/>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9" name="Shape 6"/>
          <p:cNvSpPr/>
          <p:nvPr/>
        </p:nvSpPr>
        <p:spPr>
          <a:xfrm>
            <a:off x="812800" y="1818615"/>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78D4"/>
          </a:solidFill>
          <a:ln/>
        </p:spPr>
      </p:sp>
      <p:sp>
        <p:nvSpPr>
          <p:cNvPr id="10" name="Shape 7"/>
          <p:cNvSpPr/>
          <p:nvPr/>
        </p:nvSpPr>
        <p:spPr>
          <a:xfrm>
            <a:off x="1016000" y="2009115"/>
            <a:ext cx="330200" cy="330200"/>
          </a:xfrm>
          <a:prstGeom prst="roundRect">
            <a:avLst>
              <a:gd name="adj" fmla="val 50000"/>
            </a:avLst>
          </a:prstGeom>
          <a:solidFill>
            <a:srgbClr val="EAF3FC"/>
          </a:solidFill>
          <a:ln/>
        </p:spPr>
      </p:sp>
      <p:pic>
        <p:nvPicPr>
          <p:cNvPr id="11" name="Image 1" descr="cpu icon">    </p:cNvPr>
          <p:cNvPicPr>
            <a:picLocks noChangeAspect="1"/>
          </p:cNvPicPr>
          <p:nvPr/>
        </p:nvPicPr>
        <p:blipFill>
          <a:blip r:embed="rId2"/>
          <a:srcRect l="0" r="0" t="0" b="0"/>
          <a:stretch/>
        </p:blipFill>
        <p:spPr>
          <a:xfrm>
            <a:off x="1092200" y="2085315"/>
            <a:ext cx="177800" cy="177800"/>
          </a:xfrm>
          <a:prstGeom prst="rect">
            <a:avLst/>
          </a:prstGeom>
        </p:spPr>
      </p:pic>
      <p:sp>
        <p:nvSpPr>
          <p:cNvPr id="12" name="Text 8"/>
          <p:cNvSpPr/>
          <p:nvPr/>
        </p:nvSpPr>
        <p:spPr>
          <a:xfrm>
            <a:off x="1447800" y="2067520"/>
            <a:ext cx="1269127"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BEHAVIOUR</a:t>
            </a:r>
            <a:endParaRPr lang="en-US" sz="1400" dirty="0"/>
          </a:p>
        </p:txBody>
      </p:sp>
      <p:sp>
        <p:nvSpPr>
          <p:cNvPr id="13" name="Text 9"/>
          <p:cNvSpPr/>
          <p:nvPr/>
        </p:nvSpPr>
        <p:spPr>
          <a:xfrm>
            <a:off x="1086358" y="2428215"/>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Steals browser passwords, cookies and autofill</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Grabs crypto wallets, 2FA apps and screenshots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Can download and run extra malware</a:t>
            </a:r>
            <a:endParaRPr lang="en-US" sz="1600" dirty="0"/>
          </a:p>
        </p:txBody>
      </p:sp>
      <p:sp>
        <p:nvSpPr>
          <p:cNvPr id="14" name="Shape 10"/>
          <p:cNvSpPr/>
          <p:nvPr/>
        </p:nvSpPr>
        <p:spPr>
          <a:xfrm>
            <a:off x="6172200" y="1818615"/>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15" name="Shape 11"/>
          <p:cNvSpPr/>
          <p:nvPr/>
        </p:nvSpPr>
        <p:spPr>
          <a:xfrm>
            <a:off x="6172200" y="1818615"/>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F7630C"/>
          </a:solidFill>
          <a:ln/>
        </p:spPr>
      </p:sp>
      <p:sp>
        <p:nvSpPr>
          <p:cNvPr id="16" name="Shape 12"/>
          <p:cNvSpPr/>
          <p:nvPr/>
        </p:nvSpPr>
        <p:spPr>
          <a:xfrm>
            <a:off x="6375400" y="2009115"/>
            <a:ext cx="330200" cy="330200"/>
          </a:xfrm>
          <a:prstGeom prst="roundRect">
            <a:avLst>
              <a:gd name="adj" fmla="val 50000"/>
            </a:avLst>
          </a:prstGeom>
          <a:solidFill>
            <a:srgbClr val="FDEBDD"/>
          </a:solidFill>
          <a:ln/>
        </p:spPr>
      </p:sp>
      <p:pic>
        <p:nvPicPr>
          <p:cNvPr id="17" name="Image 2" descr="alert icon">    </p:cNvPr>
          <p:cNvPicPr>
            <a:picLocks noChangeAspect="1"/>
          </p:cNvPicPr>
          <p:nvPr/>
        </p:nvPicPr>
        <p:blipFill>
          <a:blip r:embed="rId3"/>
          <a:srcRect l="0" r="0" t="0" b="0"/>
          <a:stretch/>
        </p:blipFill>
        <p:spPr>
          <a:xfrm>
            <a:off x="6451600" y="2085315"/>
            <a:ext cx="177800" cy="177800"/>
          </a:xfrm>
          <a:prstGeom prst="rect">
            <a:avLst/>
          </a:prstGeom>
        </p:spPr>
      </p:pic>
      <p:sp>
        <p:nvSpPr>
          <p:cNvPr id="18" name="Text 13"/>
          <p:cNvSpPr/>
          <p:nvPr/>
        </p:nvSpPr>
        <p:spPr>
          <a:xfrm>
            <a:off x="6807200" y="2067520"/>
            <a:ext cx="826056"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F7630C"/>
                </a:solidFill>
                <a:latin typeface="Calibri" pitchFamily="34" charset="0"/>
                <a:ea typeface="Calibri" pitchFamily="34" charset="-122"/>
                <a:cs typeface="Calibri" pitchFamily="34" charset="-120"/>
              </a:rPr>
              <a:t>IMPACT</a:t>
            </a:r>
            <a:endParaRPr lang="en-US" sz="1400" dirty="0"/>
          </a:p>
        </p:txBody>
      </p:sp>
      <p:sp>
        <p:nvSpPr>
          <p:cNvPr id="19" name="Text 14"/>
          <p:cNvSpPr/>
          <p:nvPr/>
        </p:nvSpPr>
        <p:spPr>
          <a:xfrm>
            <a:off x="6445758" y="2428215"/>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Account takeover through stolen sessions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Stolen logs sold to ransomware groups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Crypto and financial theft</a:t>
            </a:r>
            <a:endParaRPr lang="en-US" sz="1600" dirty="0"/>
          </a:p>
        </p:txBody>
      </p:sp>
      <p:sp>
        <p:nvSpPr>
          <p:cNvPr id="20" name="Shape 15"/>
          <p:cNvSpPr/>
          <p:nvPr/>
        </p:nvSpPr>
        <p:spPr>
          <a:xfrm>
            <a:off x="812800" y="3586296"/>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6"/>
          <p:cNvSpPr/>
          <p:nvPr/>
        </p:nvSpPr>
        <p:spPr>
          <a:xfrm>
            <a:off x="812800" y="3586296"/>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B7C3"/>
          </a:solidFill>
          <a:ln/>
        </p:spPr>
      </p:sp>
      <p:sp>
        <p:nvSpPr>
          <p:cNvPr id="22" name="Shape 17"/>
          <p:cNvSpPr/>
          <p:nvPr/>
        </p:nvSpPr>
        <p:spPr>
          <a:xfrm>
            <a:off x="1016000" y="3776796"/>
            <a:ext cx="330200" cy="330200"/>
          </a:xfrm>
          <a:prstGeom prst="roundRect">
            <a:avLst>
              <a:gd name="adj" fmla="val 50000"/>
            </a:avLst>
          </a:prstGeom>
          <a:solidFill>
            <a:srgbClr val="DDF5F7"/>
          </a:solidFill>
          <a:ln/>
        </p:spPr>
      </p:sp>
      <p:pic>
        <p:nvPicPr>
          <p:cNvPr id="23" name="Image 3" descr="wrench icon">    </p:cNvPr>
          <p:cNvPicPr>
            <a:picLocks noChangeAspect="1"/>
          </p:cNvPicPr>
          <p:nvPr/>
        </p:nvPicPr>
        <p:blipFill>
          <a:blip r:embed="rId4"/>
          <a:srcRect l="0" r="0" t="0" b="0"/>
          <a:stretch/>
        </p:blipFill>
        <p:spPr>
          <a:xfrm>
            <a:off x="1092200" y="3852996"/>
            <a:ext cx="177800" cy="177800"/>
          </a:xfrm>
          <a:prstGeom prst="rect">
            <a:avLst/>
          </a:prstGeom>
        </p:spPr>
      </p:pic>
      <p:sp>
        <p:nvSpPr>
          <p:cNvPr id="24" name="Text 18"/>
          <p:cNvSpPr/>
          <p:nvPr/>
        </p:nvSpPr>
        <p:spPr>
          <a:xfrm>
            <a:off x="1447800" y="3835202"/>
            <a:ext cx="151757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C85"/>
                </a:solidFill>
                <a:latin typeface="Calibri" pitchFamily="34" charset="0"/>
                <a:ea typeface="Calibri" pitchFamily="34" charset="-122"/>
                <a:cs typeface="Calibri" pitchFamily="34" charset="-120"/>
              </a:rPr>
              <a:t>REMEDIATION</a:t>
            </a:r>
            <a:endParaRPr lang="en-US" sz="1400" dirty="0"/>
          </a:p>
        </p:txBody>
      </p:sp>
      <p:sp>
        <p:nvSpPr>
          <p:cNvPr id="25" name="Text 19"/>
          <p:cNvSpPr/>
          <p:nvPr/>
        </p:nvSpPr>
        <p:spPr>
          <a:xfrm>
            <a:off x="1086358" y="4195896"/>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Isolate the device and reimage it</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Reset passwords and revoke all sessions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Check for follow-on malware it installed</a:t>
            </a:r>
            <a:endParaRPr lang="en-US" sz="1600" dirty="0"/>
          </a:p>
        </p:txBody>
      </p:sp>
      <p:sp>
        <p:nvSpPr>
          <p:cNvPr id="26" name="Shape 20"/>
          <p:cNvSpPr/>
          <p:nvPr/>
        </p:nvSpPr>
        <p:spPr>
          <a:xfrm>
            <a:off x="6172200" y="3586296"/>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7" name="Shape 21"/>
          <p:cNvSpPr/>
          <p:nvPr/>
        </p:nvSpPr>
        <p:spPr>
          <a:xfrm>
            <a:off x="6172200" y="3586296"/>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13294B"/>
          </a:solidFill>
          <a:ln/>
        </p:spPr>
      </p:sp>
      <p:sp>
        <p:nvSpPr>
          <p:cNvPr id="28" name="Shape 22"/>
          <p:cNvSpPr/>
          <p:nvPr/>
        </p:nvSpPr>
        <p:spPr>
          <a:xfrm>
            <a:off x="6375400" y="3776796"/>
            <a:ext cx="330200" cy="330200"/>
          </a:xfrm>
          <a:prstGeom prst="roundRect">
            <a:avLst>
              <a:gd name="adj" fmla="val 50000"/>
            </a:avLst>
          </a:prstGeom>
          <a:solidFill>
            <a:srgbClr val="EAF3FC"/>
          </a:solidFill>
          <a:ln/>
        </p:spPr>
      </p:sp>
      <p:pic>
        <p:nvPicPr>
          <p:cNvPr id="29" name="Image 4" descr="shield icon">    </p:cNvPr>
          <p:cNvPicPr>
            <a:picLocks noChangeAspect="1"/>
          </p:cNvPicPr>
          <p:nvPr/>
        </p:nvPicPr>
        <p:blipFill>
          <a:blip r:embed="rId5"/>
          <a:srcRect l="0" r="0" t="0" b="0"/>
          <a:stretch/>
        </p:blipFill>
        <p:spPr>
          <a:xfrm>
            <a:off x="6451600" y="3852996"/>
            <a:ext cx="177800" cy="177800"/>
          </a:xfrm>
          <a:prstGeom prst="rect">
            <a:avLst/>
          </a:prstGeom>
        </p:spPr>
      </p:pic>
      <p:sp>
        <p:nvSpPr>
          <p:cNvPr id="30" name="Text 23"/>
          <p:cNvSpPr/>
          <p:nvPr/>
        </p:nvSpPr>
        <p:spPr>
          <a:xfrm>
            <a:off x="6807200" y="3835202"/>
            <a:ext cx="1384538"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PREVENTION</a:t>
            </a:r>
            <a:endParaRPr lang="en-US" sz="1400" dirty="0"/>
          </a:p>
        </p:txBody>
      </p:sp>
      <p:sp>
        <p:nvSpPr>
          <p:cNvPr id="31" name="Text 24"/>
          <p:cNvSpPr/>
          <p:nvPr/>
        </p:nvSpPr>
        <p:spPr>
          <a:xfrm>
            <a:off x="6445758" y="4195896"/>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Block cracked software and fake installers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Don't save passwords in the browser</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EDR plus phishing-resistant MFA</a:t>
            </a:r>
            <a:endParaRPr lang="en-US" sz="1600" dirty="0"/>
          </a:p>
        </p:txBody>
      </p:sp>
      <p:sp>
        <p:nvSpPr>
          <p:cNvPr id="32"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vendor threat research</a:t>
            </a:r>
            <a:endParaRPr lang="en-US" sz="1200" dirty="0"/>
          </a:p>
        </p:txBody>
      </p:sp>
      <p:sp>
        <p:nvSpPr>
          <p:cNvPr id="33"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TOP 10 · #2 OF 10</a:t>
            </a:r>
            <a:endParaRPr lang="en-US" sz="1200" dirty="0"/>
          </a:p>
        </p:txBody>
      </p:sp>
      <p:sp>
        <p:nvSpPr>
          <p:cNvPr id="4" name="Text 1"/>
          <p:cNvSpPr/>
          <p:nvPr/>
        </p:nvSpPr>
        <p:spPr>
          <a:xfrm>
            <a:off x="812800" y="833109"/>
            <a:ext cx="762000" cy="762000"/>
          </a:xfrm>
          <a:prstGeom prst="roundRect">
            <a:avLst>
              <a:gd name="adj" fmla="val 20000"/>
            </a:avLst>
          </a:prstGeom>
          <a:solidFill>
            <a:srgbClr val="0A1628"/>
          </a:solidFill>
          <a:ln/>
        </p:spPr>
        <p:txBody>
          <a:bodyPr wrap="square" lIns="0" tIns="0" rIns="0" bIns="0" rtlCol="0" anchor="ctr">
            <a:normAutofit/>
          </a:bodyPr>
          <a:lstStyle/>
          <a:p>
            <a:pPr algn="ctr" indent="0" marL="0">
              <a:lnSpc>
                <a:spcPts val="3920"/>
              </a:lnSpc>
              <a:buNone/>
            </a:pPr>
            <a:r>
              <a:rPr lang="en-US" sz="2800" b="1" dirty="0">
                <a:solidFill>
                  <a:srgbClr val="00B7C3"/>
                </a:solidFill>
                <a:latin typeface="Arial" pitchFamily="34" charset="0"/>
                <a:ea typeface="Arial" pitchFamily="34" charset="-122"/>
                <a:cs typeface="Arial" pitchFamily="34" charset="-120"/>
              </a:rPr>
              <a:t>2</a:t>
            </a:r>
            <a:endParaRPr lang="en-US" sz="2800" dirty="0"/>
          </a:p>
        </p:txBody>
      </p:sp>
      <p:sp>
        <p:nvSpPr>
          <p:cNvPr id="5" name="Text 2"/>
          <p:cNvSpPr/>
          <p:nvPr>
            <p:ph type="title"/>
          </p:nvPr>
        </p:nvSpPr>
        <p:spPr>
          <a:xfrm>
            <a:off x="1778000" y="812800"/>
            <a:ext cx="2430397"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AsyncRAT</a:t>
            </a:r>
            <a:endParaRPr lang="en-US" sz="3600" dirty="0"/>
          </a:p>
        </p:txBody>
      </p:sp>
      <p:sp>
        <p:nvSpPr>
          <p:cNvPr id="6" name="Text 3"/>
          <p:cNvSpPr/>
          <p:nvPr/>
        </p:nvSpPr>
        <p:spPr>
          <a:xfrm>
            <a:off x="4217922" y="912087"/>
            <a:ext cx="1615744" cy="304337"/>
          </a:xfrm>
          <a:prstGeom prst="roundRect">
            <a:avLst>
              <a:gd name="adj" fmla="val 50000"/>
            </a:avLst>
          </a:prstGeom>
          <a:noFill/>
          <a:ln w="19050">
            <a:solidFill>
              <a:srgbClr val="0078D4"/>
            </a:solidFill>
            <a:prstDash val="solid"/>
          </a:ln>
        </p:spPr>
        <p:txBody>
          <a:bodyPr wrap="none" lIns="0" tIns="0" rIns="1" bIns="0" rtlCol="0" anchor="ctr">
            <a:normAutofit/>
          </a:bodyPr>
          <a:lstStyle/>
          <a:p>
            <a:pPr algn="ctr" indent="0" marL="0">
              <a:lnSpc>
                <a:spcPts val="1680"/>
              </a:lnSpc>
              <a:buNone/>
            </a:pPr>
            <a:r>
              <a:rPr lang="en-US" sz="1200" b="1" dirty="0">
                <a:solidFill>
                  <a:srgbClr val="0078D4"/>
                </a:solidFill>
                <a:latin typeface="Calibri" pitchFamily="34" charset="0"/>
                <a:ea typeface="Calibri" pitchFamily="34" charset="-122"/>
                <a:cs typeface="Calibri" pitchFamily="34" charset="-120"/>
              </a:rPr>
              <a:t>Remote access trojan</a:t>
            </a:r>
            <a:endParaRPr lang="en-US" sz="1200" dirty="0"/>
          </a:p>
        </p:txBody>
      </p:sp>
      <p:sp>
        <p:nvSpPr>
          <p:cNvPr id="7" name="Text 4"/>
          <p:cNvSpPr/>
          <p:nvPr/>
        </p:nvSpPr>
        <p:spPr>
          <a:xfrm>
            <a:off x="1778000" y="1366509"/>
            <a:ext cx="98892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Freely available remote-control malware, heavily abused</a:t>
            </a:r>
            <a:endParaRPr lang="en-US" sz="1400" dirty="0"/>
          </a:p>
        </p:txBody>
      </p:sp>
      <p:sp>
        <p:nvSpPr>
          <p:cNvPr id="8" name="Shape 5"/>
          <p:cNvSpPr/>
          <p:nvPr/>
        </p:nvSpPr>
        <p:spPr>
          <a:xfrm>
            <a:off x="812800" y="1818615"/>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9" name="Shape 6"/>
          <p:cNvSpPr/>
          <p:nvPr/>
        </p:nvSpPr>
        <p:spPr>
          <a:xfrm>
            <a:off x="812800" y="1818615"/>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78D4"/>
          </a:solidFill>
          <a:ln/>
        </p:spPr>
      </p:sp>
      <p:sp>
        <p:nvSpPr>
          <p:cNvPr id="10" name="Shape 7"/>
          <p:cNvSpPr/>
          <p:nvPr/>
        </p:nvSpPr>
        <p:spPr>
          <a:xfrm>
            <a:off x="1016000" y="2009115"/>
            <a:ext cx="330200" cy="330200"/>
          </a:xfrm>
          <a:prstGeom prst="roundRect">
            <a:avLst>
              <a:gd name="adj" fmla="val 50000"/>
            </a:avLst>
          </a:prstGeom>
          <a:solidFill>
            <a:srgbClr val="EAF3FC"/>
          </a:solidFill>
          <a:ln/>
        </p:spPr>
      </p:sp>
      <p:pic>
        <p:nvPicPr>
          <p:cNvPr id="11" name="Image 1" descr="cpu icon">    </p:cNvPr>
          <p:cNvPicPr>
            <a:picLocks noChangeAspect="1"/>
          </p:cNvPicPr>
          <p:nvPr/>
        </p:nvPicPr>
        <p:blipFill>
          <a:blip r:embed="rId2"/>
          <a:srcRect l="0" r="0" t="0" b="0"/>
          <a:stretch/>
        </p:blipFill>
        <p:spPr>
          <a:xfrm>
            <a:off x="1092200" y="2085315"/>
            <a:ext cx="177800" cy="177800"/>
          </a:xfrm>
          <a:prstGeom prst="rect">
            <a:avLst/>
          </a:prstGeom>
        </p:spPr>
      </p:pic>
      <p:sp>
        <p:nvSpPr>
          <p:cNvPr id="12" name="Text 8"/>
          <p:cNvSpPr/>
          <p:nvPr/>
        </p:nvSpPr>
        <p:spPr>
          <a:xfrm>
            <a:off x="1447800" y="2067520"/>
            <a:ext cx="1269127"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BEHAVIOUR</a:t>
            </a:r>
            <a:endParaRPr lang="en-US" sz="1400" dirty="0"/>
          </a:p>
        </p:txBody>
      </p:sp>
      <p:sp>
        <p:nvSpPr>
          <p:cNvPr id="13" name="Text 9"/>
          <p:cNvSpPr/>
          <p:nvPr/>
        </p:nvSpPr>
        <p:spPr>
          <a:xfrm>
            <a:off x="1086358" y="2428215"/>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Gives attackers full remote control of the PC</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Logs keystrokes and captures the screen</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Persists through startup entries and tasks</a:t>
            </a:r>
            <a:endParaRPr lang="en-US" sz="1600" dirty="0"/>
          </a:p>
        </p:txBody>
      </p:sp>
      <p:sp>
        <p:nvSpPr>
          <p:cNvPr id="14" name="Shape 10"/>
          <p:cNvSpPr/>
          <p:nvPr/>
        </p:nvSpPr>
        <p:spPr>
          <a:xfrm>
            <a:off x="6172200" y="1818615"/>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15" name="Shape 11"/>
          <p:cNvSpPr/>
          <p:nvPr/>
        </p:nvSpPr>
        <p:spPr>
          <a:xfrm>
            <a:off x="6172200" y="1818615"/>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F7630C"/>
          </a:solidFill>
          <a:ln/>
        </p:spPr>
      </p:sp>
      <p:sp>
        <p:nvSpPr>
          <p:cNvPr id="16" name="Shape 12"/>
          <p:cNvSpPr/>
          <p:nvPr/>
        </p:nvSpPr>
        <p:spPr>
          <a:xfrm>
            <a:off x="6375400" y="2009115"/>
            <a:ext cx="330200" cy="330200"/>
          </a:xfrm>
          <a:prstGeom prst="roundRect">
            <a:avLst>
              <a:gd name="adj" fmla="val 50000"/>
            </a:avLst>
          </a:prstGeom>
          <a:solidFill>
            <a:srgbClr val="FDEBDD"/>
          </a:solidFill>
          <a:ln/>
        </p:spPr>
      </p:sp>
      <p:pic>
        <p:nvPicPr>
          <p:cNvPr id="17" name="Image 2" descr="alert icon">    </p:cNvPr>
          <p:cNvPicPr>
            <a:picLocks noChangeAspect="1"/>
          </p:cNvPicPr>
          <p:nvPr/>
        </p:nvPicPr>
        <p:blipFill>
          <a:blip r:embed="rId3"/>
          <a:srcRect l="0" r="0" t="0" b="0"/>
          <a:stretch/>
        </p:blipFill>
        <p:spPr>
          <a:xfrm>
            <a:off x="6451600" y="2085315"/>
            <a:ext cx="177800" cy="177800"/>
          </a:xfrm>
          <a:prstGeom prst="rect">
            <a:avLst/>
          </a:prstGeom>
        </p:spPr>
      </p:pic>
      <p:sp>
        <p:nvSpPr>
          <p:cNvPr id="18" name="Text 13"/>
          <p:cNvSpPr/>
          <p:nvPr/>
        </p:nvSpPr>
        <p:spPr>
          <a:xfrm>
            <a:off x="6807200" y="2067520"/>
            <a:ext cx="826056"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F7630C"/>
                </a:solidFill>
                <a:latin typeface="Calibri" pitchFamily="34" charset="0"/>
                <a:ea typeface="Calibri" pitchFamily="34" charset="-122"/>
                <a:cs typeface="Calibri" pitchFamily="34" charset="-120"/>
              </a:rPr>
              <a:t>IMPACT</a:t>
            </a:r>
            <a:endParaRPr lang="en-US" sz="1400" dirty="0"/>
          </a:p>
        </p:txBody>
      </p:sp>
      <p:sp>
        <p:nvSpPr>
          <p:cNvPr id="19" name="Text 14"/>
          <p:cNvSpPr/>
          <p:nvPr/>
        </p:nvSpPr>
        <p:spPr>
          <a:xfrm>
            <a:off x="6445758" y="2428215"/>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Attackers watch and steal everything</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Launch point for ransomware and lateral movement</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Data and credential theft</a:t>
            </a:r>
            <a:endParaRPr lang="en-US" sz="1600" dirty="0"/>
          </a:p>
        </p:txBody>
      </p:sp>
      <p:sp>
        <p:nvSpPr>
          <p:cNvPr id="20" name="Shape 15"/>
          <p:cNvSpPr/>
          <p:nvPr/>
        </p:nvSpPr>
        <p:spPr>
          <a:xfrm>
            <a:off x="812800" y="3586296"/>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6"/>
          <p:cNvSpPr/>
          <p:nvPr/>
        </p:nvSpPr>
        <p:spPr>
          <a:xfrm>
            <a:off x="812800" y="3586296"/>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B7C3"/>
          </a:solidFill>
          <a:ln/>
        </p:spPr>
      </p:sp>
      <p:sp>
        <p:nvSpPr>
          <p:cNvPr id="22" name="Shape 17"/>
          <p:cNvSpPr/>
          <p:nvPr/>
        </p:nvSpPr>
        <p:spPr>
          <a:xfrm>
            <a:off x="1016000" y="3776796"/>
            <a:ext cx="330200" cy="330200"/>
          </a:xfrm>
          <a:prstGeom prst="roundRect">
            <a:avLst>
              <a:gd name="adj" fmla="val 50000"/>
            </a:avLst>
          </a:prstGeom>
          <a:solidFill>
            <a:srgbClr val="DDF5F7"/>
          </a:solidFill>
          <a:ln/>
        </p:spPr>
      </p:sp>
      <p:pic>
        <p:nvPicPr>
          <p:cNvPr id="23" name="Image 3" descr="wrench icon">    </p:cNvPr>
          <p:cNvPicPr>
            <a:picLocks noChangeAspect="1"/>
          </p:cNvPicPr>
          <p:nvPr/>
        </p:nvPicPr>
        <p:blipFill>
          <a:blip r:embed="rId4"/>
          <a:srcRect l="0" r="0" t="0" b="0"/>
          <a:stretch/>
        </p:blipFill>
        <p:spPr>
          <a:xfrm>
            <a:off x="1092200" y="3852996"/>
            <a:ext cx="177800" cy="177800"/>
          </a:xfrm>
          <a:prstGeom prst="rect">
            <a:avLst/>
          </a:prstGeom>
        </p:spPr>
      </p:pic>
      <p:sp>
        <p:nvSpPr>
          <p:cNvPr id="24" name="Text 18"/>
          <p:cNvSpPr/>
          <p:nvPr/>
        </p:nvSpPr>
        <p:spPr>
          <a:xfrm>
            <a:off x="1447800" y="3835202"/>
            <a:ext cx="151757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C85"/>
                </a:solidFill>
                <a:latin typeface="Calibri" pitchFamily="34" charset="0"/>
                <a:ea typeface="Calibri" pitchFamily="34" charset="-122"/>
                <a:cs typeface="Calibri" pitchFamily="34" charset="-120"/>
              </a:rPr>
              <a:t>REMEDIATION</a:t>
            </a:r>
            <a:endParaRPr lang="en-US" sz="1400" dirty="0"/>
          </a:p>
        </p:txBody>
      </p:sp>
      <p:sp>
        <p:nvSpPr>
          <p:cNvPr id="25" name="Text 19"/>
          <p:cNvSpPr/>
          <p:nvPr/>
        </p:nvSpPr>
        <p:spPr>
          <a:xfrm>
            <a:off x="1086358" y="4195896"/>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Isolate the host and block its C2 addresses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Remove persistence, or reimage the device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Reset credentials used on the machine</a:t>
            </a:r>
            <a:endParaRPr lang="en-US" sz="1600" dirty="0"/>
          </a:p>
        </p:txBody>
      </p:sp>
      <p:sp>
        <p:nvSpPr>
          <p:cNvPr id="26" name="Shape 20"/>
          <p:cNvSpPr/>
          <p:nvPr/>
        </p:nvSpPr>
        <p:spPr>
          <a:xfrm>
            <a:off x="6172200" y="3586296"/>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7" name="Shape 21"/>
          <p:cNvSpPr/>
          <p:nvPr/>
        </p:nvSpPr>
        <p:spPr>
          <a:xfrm>
            <a:off x="6172200" y="3586296"/>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13294B"/>
          </a:solidFill>
          <a:ln/>
        </p:spPr>
      </p:sp>
      <p:sp>
        <p:nvSpPr>
          <p:cNvPr id="28" name="Shape 22"/>
          <p:cNvSpPr/>
          <p:nvPr/>
        </p:nvSpPr>
        <p:spPr>
          <a:xfrm>
            <a:off x="6375400" y="3776796"/>
            <a:ext cx="330200" cy="330200"/>
          </a:xfrm>
          <a:prstGeom prst="roundRect">
            <a:avLst>
              <a:gd name="adj" fmla="val 50000"/>
            </a:avLst>
          </a:prstGeom>
          <a:solidFill>
            <a:srgbClr val="EAF3FC"/>
          </a:solidFill>
          <a:ln/>
        </p:spPr>
      </p:sp>
      <p:pic>
        <p:nvPicPr>
          <p:cNvPr id="29" name="Image 4" descr="shield icon">    </p:cNvPr>
          <p:cNvPicPr>
            <a:picLocks noChangeAspect="1"/>
          </p:cNvPicPr>
          <p:nvPr/>
        </p:nvPicPr>
        <p:blipFill>
          <a:blip r:embed="rId5"/>
          <a:srcRect l="0" r="0" t="0" b="0"/>
          <a:stretch/>
        </p:blipFill>
        <p:spPr>
          <a:xfrm>
            <a:off x="6451600" y="3852996"/>
            <a:ext cx="177800" cy="177800"/>
          </a:xfrm>
          <a:prstGeom prst="rect">
            <a:avLst/>
          </a:prstGeom>
        </p:spPr>
      </p:pic>
      <p:sp>
        <p:nvSpPr>
          <p:cNvPr id="30" name="Text 23"/>
          <p:cNvSpPr/>
          <p:nvPr/>
        </p:nvSpPr>
        <p:spPr>
          <a:xfrm>
            <a:off x="6807200" y="3835202"/>
            <a:ext cx="1384538"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PREVENTION</a:t>
            </a:r>
            <a:endParaRPr lang="en-US" sz="1400" dirty="0"/>
          </a:p>
        </p:txBody>
      </p:sp>
      <p:sp>
        <p:nvSpPr>
          <p:cNvPr id="31" name="Text 24"/>
          <p:cNvSpPr/>
          <p:nvPr/>
        </p:nvSpPr>
        <p:spPr>
          <a:xfrm>
            <a:off x="6445758" y="4195896"/>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Block script attachments (VBS, JS, HTA, LNK)</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Restrict PowerShell and script hosts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Monitor unusual outbound connections</a:t>
            </a:r>
            <a:endParaRPr lang="en-US" sz="1600" dirty="0"/>
          </a:p>
        </p:txBody>
      </p:sp>
      <p:sp>
        <p:nvSpPr>
          <p:cNvPr id="32"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vendor threat research</a:t>
            </a:r>
            <a:endParaRPr lang="en-US" sz="1200" dirty="0"/>
          </a:p>
        </p:txBody>
      </p:sp>
      <p:sp>
        <p:nvSpPr>
          <p:cNvPr id="33"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TOP 10 · #3 OF 10</a:t>
            </a:r>
            <a:endParaRPr lang="en-US" sz="1200" dirty="0"/>
          </a:p>
        </p:txBody>
      </p:sp>
      <p:sp>
        <p:nvSpPr>
          <p:cNvPr id="4" name="Text 1"/>
          <p:cNvSpPr/>
          <p:nvPr/>
        </p:nvSpPr>
        <p:spPr>
          <a:xfrm>
            <a:off x="812800" y="833109"/>
            <a:ext cx="762000" cy="762000"/>
          </a:xfrm>
          <a:prstGeom prst="roundRect">
            <a:avLst>
              <a:gd name="adj" fmla="val 20000"/>
            </a:avLst>
          </a:prstGeom>
          <a:solidFill>
            <a:srgbClr val="0A1628"/>
          </a:solidFill>
          <a:ln/>
        </p:spPr>
        <p:txBody>
          <a:bodyPr wrap="square" lIns="0" tIns="0" rIns="0" bIns="0" rtlCol="0" anchor="ctr">
            <a:normAutofit/>
          </a:bodyPr>
          <a:lstStyle/>
          <a:p>
            <a:pPr algn="ctr" indent="0" marL="0">
              <a:lnSpc>
                <a:spcPts val="3920"/>
              </a:lnSpc>
              <a:buNone/>
            </a:pPr>
            <a:r>
              <a:rPr lang="en-US" sz="2800" b="1" dirty="0">
                <a:solidFill>
                  <a:srgbClr val="00B7C3"/>
                </a:solidFill>
                <a:latin typeface="Arial" pitchFamily="34" charset="0"/>
                <a:ea typeface="Arial" pitchFamily="34" charset="-122"/>
                <a:cs typeface="Arial" pitchFamily="34" charset="-120"/>
              </a:rPr>
              <a:t>3</a:t>
            </a:r>
            <a:endParaRPr lang="en-US" sz="2800" dirty="0"/>
          </a:p>
        </p:txBody>
      </p:sp>
      <p:sp>
        <p:nvSpPr>
          <p:cNvPr id="5" name="Text 2"/>
          <p:cNvSpPr/>
          <p:nvPr>
            <p:ph type="title"/>
          </p:nvPr>
        </p:nvSpPr>
        <p:spPr>
          <a:xfrm>
            <a:off x="1778000" y="812800"/>
            <a:ext cx="1744398"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XWorm</a:t>
            </a:r>
            <a:endParaRPr lang="en-US" sz="3600" dirty="0"/>
          </a:p>
        </p:txBody>
      </p:sp>
      <p:sp>
        <p:nvSpPr>
          <p:cNvPr id="6" name="Text 3"/>
          <p:cNvSpPr/>
          <p:nvPr/>
        </p:nvSpPr>
        <p:spPr>
          <a:xfrm>
            <a:off x="3531923" y="912087"/>
            <a:ext cx="1615744" cy="304337"/>
          </a:xfrm>
          <a:prstGeom prst="roundRect">
            <a:avLst>
              <a:gd name="adj" fmla="val 50000"/>
            </a:avLst>
          </a:prstGeom>
          <a:noFill/>
          <a:ln w="19050">
            <a:solidFill>
              <a:srgbClr val="0078D4"/>
            </a:solidFill>
            <a:prstDash val="solid"/>
          </a:ln>
        </p:spPr>
        <p:txBody>
          <a:bodyPr wrap="none" lIns="0" tIns="0" rIns="1" bIns="0" rtlCol="0" anchor="ctr">
            <a:normAutofit/>
          </a:bodyPr>
          <a:lstStyle/>
          <a:p>
            <a:pPr algn="ctr" indent="0" marL="0">
              <a:lnSpc>
                <a:spcPts val="1680"/>
              </a:lnSpc>
              <a:buNone/>
            </a:pPr>
            <a:r>
              <a:rPr lang="en-US" sz="1200" b="1" dirty="0">
                <a:solidFill>
                  <a:srgbClr val="0078D4"/>
                </a:solidFill>
                <a:latin typeface="Calibri" pitchFamily="34" charset="0"/>
                <a:ea typeface="Calibri" pitchFamily="34" charset="-122"/>
                <a:cs typeface="Calibri" pitchFamily="34" charset="-120"/>
              </a:rPr>
              <a:t>Remote access trojan</a:t>
            </a:r>
            <a:endParaRPr lang="en-US" sz="1200" dirty="0"/>
          </a:p>
        </p:txBody>
      </p:sp>
      <p:sp>
        <p:nvSpPr>
          <p:cNvPr id="7" name="Text 4"/>
          <p:cNvSpPr/>
          <p:nvPr/>
        </p:nvSpPr>
        <p:spPr>
          <a:xfrm>
            <a:off x="1778000" y="1366509"/>
            <a:ext cx="98892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 modular RAT with spying, theft and ransomware add-ons</a:t>
            </a:r>
            <a:endParaRPr lang="en-US" sz="1400" dirty="0"/>
          </a:p>
        </p:txBody>
      </p:sp>
      <p:sp>
        <p:nvSpPr>
          <p:cNvPr id="8" name="Shape 5"/>
          <p:cNvSpPr/>
          <p:nvPr/>
        </p:nvSpPr>
        <p:spPr>
          <a:xfrm>
            <a:off x="812800" y="1818615"/>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9" name="Shape 6"/>
          <p:cNvSpPr/>
          <p:nvPr/>
        </p:nvSpPr>
        <p:spPr>
          <a:xfrm>
            <a:off x="812800" y="1818615"/>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78D4"/>
          </a:solidFill>
          <a:ln/>
        </p:spPr>
      </p:sp>
      <p:sp>
        <p:nvSpPr>
          <p:cNvPr id="10" name="Shape 7"/>
          <p:cNvSpPr/>
          <p:nvPr/>
        </p:nvSpPr>
        <p:spPr>
          <a:xfrm>
            <a:off x="1016000" y="2009115"/>
            <a:ext cx="330200" cy="330200"/>
          </a:xfrm>
          <a:prstGeom prst="roundRect">
            <a:avLst>
              <a:gd name="adj" fmla="val 50000"/>
            </a:avLst>
          </a:prstGeom>
          <a:solidFill>
            <a:srgbClr val="EAF3FC"/>
          </a:solidFill>
          <a:ln/>
        </p:spPr>
      </p:sp>
      <p:pic>
        <p:nvPicPr>
          <p:cNvPr id="11" name="Image 1" descr="cpu icon">    </p:cNvPr>
          <p:cNvPicPr>
            <a:picLocks noChangeAspect="1"/>
          </p:cNvPicPr>
          <p:nvPr/>
        </p:nvPicPr>
        <p:blipFill>
          <a:blip r:embed="rId2"/>
          <a:srcRect l="0" r="0" t="0" b="0"/>
          <a:stretch/>
        </p:blipFill>
        <p:spPr>
          <a:xfrm>
            <a:off x="1092200" y="2085315"/>
            <a:ext cx="177800" cy="177800"/>
          </a:xfrm>
          <a:prstGeom prst="rect">
            <a:avLst/>
          </a:prstGeom>
        </p:spPr>
      </p:pic>
      <p:sp>
        <p:nvSpPr>
          <p:cNvPr id="12" name="Text 8"/>
          <p:cNvSpPr/>
          <p:nvPr/>
        </p:nvSpPr>
        <p:spPr>
          <a:xfrm>
            <a:off x="1447800" y="2067520"/>
            <a:ext cx="1269127"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BEHAVIOUR</a:t>
            </a:r>
            <a:endParaRPr lang="en-US" sz="1400" dirty="0"/>
          </a:p>
        </p:txBody>
      </p:sp>
      <p:sp>
        <p:nvSpPr>
          <p:cNvPr id="13" name="Text 9"/>
          <p:cNvSpPr/>
          <p:nvPr/>
        </p:nvSpPr>
        <p:spPr>
          <a:xfrm>
            <a:off x="1086358" y="2428215"/>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Remote control, keylogging and webcam access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Swaps copied crypto addresses (clipboard hijack)</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Spreads through USB drives; plugins add features</a:t>
            </a:r>
            <a:endParaRPr lang="en-US" sz="1600" dirty="0"/>
          </a:p>
        </p:txBody>
      </p:sp>
      <p:sp>
        <p:nvSpPr>
          <p:cNvPr id="14" name="Shape 10"/>
          <p:cNvSpPr/>
          <p:nvPr/>
        </p:nvSpPr>
        <p:spPr>
          <a:xfrm>
            <a:off x="6172200" y="1818615"/>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15" name="Shape 11"/>
          <p:cNvSpPr/>
          <p:nvPr/>
        </p:nvSpPr>
        <p:spPr>
          <a:xfrm>
            <a:off x="6172200" y="1818615"/>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F7630C"/>
          </a:solidFill>
          <a:ln/>
        </p:spPr>
      </p:sp>
      <p:sp>
        <p:nvSpPr>
          <p:cNvPr id="16" name="Shape 12"/>
          <p:cNvSpPr/>
          <p:nvPr/>
        </p:nvSpPr>
        <p:spPr>
          <a:xfrm>
            <a:off x="6375400" y="2009115"/>
            <a:ext cx="330200" cy="330200"/>
          </a:xfrm>
          <a:prstGeom prst="roundRect">
            <a:avLst>
              <a:gd name="adj" fmla="val 50000"/>
            </a:avLst>
          </a:prstGeom>
          <a:solidFill>
            <a:srgbClr val="FDEBDD"/>
          </a:solidFill>
          <a:ln/>
        </p:spPr>
      </p:sp>
      <p:pic>
        <p:nvPicPr>
          <p:cNvPr id="17" name="Image 2" descr="alert icon">    </p:cNvPr>
          <p:cNvPicPr>
            <a:picLocks noChangeAspect="1"/>
          </p:cNvPicPr>
          <p:nvPr/>
        </p:nvPicPr>
        <p:blipFill>
          <a:blip r:embed="rId3"/>
          <a:srcRect l="0" r="0" t="0" b="0"/>
          <a:stretch/>
        </p:blipFill>
        <p:spPr>
          <a:xfrm>
            <a:off x="6451600" y="2085315"/>
            <a:ext cx="177800" cy="177800"/>
          </a:xfrm>
          <a:prstGeom prst="rect">
            <a:avLst/>
          </a:prstGeom>
        </p:spPr>
      </p:pic>
      <p:sp>
        <p:nvSpPr>
          <p:cNvPr id="18" name="Text 13"/>
          <p:cNvSpPr/>
          <p:nvPr/>
        </p:nvSpPr>
        <p:spPr>
          <a:xfrm>
            <a:off x="6807200" y="2067520"/>
            <a:ext cx="826056"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F7630C"/>
                </a:solidFill>
                <a:latin typeface="Calibri" pitchFamily="34" charset="0"/>
                <a:ea typeface="Calibri" pitchFamily="34" charset="-122"/>
                <a:cs typeface="Calibri" pitchFamily="34" charset="-120"/>
              </a:rPr>
              <a:t>IMPACT</a:t>
            </a:r>
            <a:endParaRPr lang="en-US" sz="1400" dirty="0"/>
          </a:p>
        </p:txBody>
      </p:sp>
      <p:sp>
        <p:nvSpPr>
          <p:cNvPr id="19" name="Text 14"/>
          <p:cNvSpPr/>
          <p:nvPr/>
        </p:nvSpPr>
        <p:spPr>
          <a:xfrm>
            <a:off x="6445758" y="2428215"/>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Crypto theft and credential loss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Can deploy ransomware or DDoS modules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Infection spreads to other devices</a:t>
            </a:r>
            <a:endParaRPr lang="en-US" sz="1600" dirty="0"/>
          </a:p>
        </p:txBody>
      </p:sp>
      <p:sp>
        <p:nvSpPr>
          <p:cNvPr id="20" name="Shape 15"/>
          <p:cNvSpPr/>
          <p:nvPr/>
        </p:nvSpPr>
        <p:spPr>
          <a:xfrm>
            <a:off x="812800" y="3586296"/>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6"/>
          <p:cNvSpPr/>
          <p:nvPr/>
        </p:nvSpPr>
        <p:spPr>
          <a:xfrm>
            <a:off x="812800" y="3586296"/>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B7C3"/>
          </a:solidFill>
          <a:ln/>
        </p:spPr>
      </p:sp>
      <p:sp>
        <p:nvSpPr>
          <p:cNvPr id="22" name="Shape 17"/>
          <p:cNvSpPr/>
          <p:nvPr/>
        </p:nvSpPr>
        <p:spPr>
          <a:xfrm>
            <a:off x="1016000" y="3776796"/>
            <a:ext cx="330200" cy="330200"/>
          </a:xfrm>
          <a:prstGeom prst="roundRect">
            <a:avLst>
              <a:gd name="adj" fmla="val 50000"/>
            </a:avLst>
          </a:prstGeom>
          <a:solidFill>
            <a:srgbClr val="DDF5F7"/>
          </a:solidFill>
          <a:ln/>
        </p:spPr>
      </p:sp>
      <p:pic>
        <p:nvPicPr>
          <p:cNvPr id="23" name="Image 3" descr="wrench icon">    </p:cNvPr>
          <p:cNvPicPr>
            <a:picLocks noChangeAspect="1"/>
          </p:cNvPicPr>
          <p:nvPr/>
        </p:nvPicPr>
        <p:blipFill>
          <a:blip r:embed="rId4"/>
          <a:srcRect l="0" r="0" t="0" b="0"/>
          <a:stretch/>
        </p:blipFill>
        <p:spPr>
          <a:xfrm>
            <a:off x="1092200" y="3852996"/>
            <a:ext cx="177800" cy="177800"/>
          </a:xfrm>
          <a:prstGeom prst="rect">
            <a:avLst/>
          </a:prstGeom>
        </p:spPr>
      </p:pic>
      <p:sp>
        <p:nvSpPr>
          <p:cNvPr id="24" name="Text 18"/>
          <p:cNvSpPr/>
          <p:nvPr/>
        </p:nvSpPr>
        <p:spPr>
          <a:xfrm>
            <a:off x="1447800" y="3835202"/>
            <a:ext cx="151757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C85"/>
                </a:solidFill>
                <a:latin typeface="Calibri" pitchFamily="34" charset="0"/>
                <a:ea typeface="Calibri" pitchFamily="34" charset="-122"/>
                <a:cs typeface="Calibri" pitchFamily="34" charset="-120"/>
              </a:rPr>
              <a:t>REMEDIATION</a:t>
            </a:r>
            <a:endParaRPr lang="en-US" sz="1400" dirty="0"/>
          </a:p>
        </p:txBody>
      </p:sp>
      <p:sp>
        <p:nvSpPr>
          <p:cNvPr id="25" name="Text 19"/>
          <p:cNvSpPr/>
          <p:nvPr/>
        </p:nvSpPr>
        <p:spPr>
          <a:xfrm>
            <a:off x="1086358" y="4195896"/>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Isolate and reimage infected devices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Scan USB drives connected to the PC</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Reset passwords; check wallets and accounts</a:t>
            </a:r>
            <a:endParaRPr lang="en-US" sz="1600" dirty="0"/>
          </a:p>
        </p:txBody>
      </p:sp>
      <p:sp>
        <p:nvSpPr>
          <p:cNvPr id="26" name="Shape 20"/>
          <p:cNvSpPr/>
          <p:nvPr/>
        </p:nvSpPr>
        <p:spPr>
          <a:xfrm>
            <a:off x="6172200" y="3586296"/>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7" name="Shape 21"/>
          <p:cNvSpPr/>
          <p:nvPr/>
        </p:nvSpPr>
        <p:spPr>
          <a:xfrm>
            <a:off x="6172200" y="3586296"/>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13294B"/>
          </a:solidFill>
          <a:ln/>
        </p:spPr>
      </p:sp>
      <p:sp>
        <p:nvSpPr>
          <p:cNvPr id="28" name="Shape 22"/>
          <p:cNvSpPr/>
          <p:nvPr/>
        </p:nvSpPr>
        <p:spPr>
          <a:xfrm>
            <a:off x="6375400" y="3776796"/>
            <a:ext cx="330200" cy="330200"/>
          </a:xfrm>
          <a:prstGeom prst="roundRect">
            <a:avLst>
              <a:gd name="adj" fmla="val 50000"/>
            </a:avLst>
          </a:prstGeom>
          <a:solidFill>
            <a:srgbClr val="EAF3FC"/>
          </a:solidFill>
          <a:ln/>
        </p:spPr>
      </p:sp>
      <p:pic>
        <p:nvPicPr>
          <p:cNvPr id="29" name="Image 4" descr="shield icon">    </p:cNvPr>
          <p:cNvPicPr>
            <a:picLocks noChangeAspect="1"/>
          </p:cNvPicPr>
          <p:nvPr/>
        </p:nvPicPr>
        <p:blipFill>
          <a:blip r:embed="rId5"/>
          <a:srcRect l="0" r="0" t="0" b="0"/>
          <a:stretch/>
        </p:blipFill>
        <p:spPr>
          <a:xfrm>
            <a:off x="6451600" y="3852996"/>
            <a:ext cx="177800" cy="177800"/>
          </a:xfrm>
          <a:prstGeom prst="rect">
            <a:avLst/>
          </a:prstGeom>
        </p:spPr>
      </p:pic>
      <p:sp>
        <p:nvSpPr>
          <p:cNvPr id="30" name="Text 23"/>
          <p:cNvSpPr/>
          <p:nvPr/>
        </p:nvSpPr>
        <p:spPr>
          <a:xfrm>
            <a:off x="6807200" y="3835202"/>
            <a:ext cx="1384538"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PREVENTION</a:t>
            </a:r>
            <a:endParaRPr lang="en-US" sz="1400" dirty="0"/>
          </a:p>
        </p:txBody>
      </p:sp>
      <p:sp>
        <p:nvSpPr>
          <p:cNvPr id="31" name="Text 24"/>
          <p:cNvSpPr/>
          <p:nvPr/>
        </p:nvSpPr>
        <p:spPr>
          <a:xfrm>
            <a:off x="6445758" y="4195896"/>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Disable autorun and control USB devices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Block archive and script attachments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Keep EDR behaviour rules up to date</a:t>
            </a:r>
            <a:endParaRPr lang="en-US" sz="1600" dirty="0"/>
          </a:p>
        </p:txBody>
      </p:sp>
      <p:sp>
        <p:nvSpPr>
          <p:cNvPr id="32"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vendor threat research</a:t>
            </a:r>
            <a:endParaRPr lang="en-US" sz="1200" dirty="0"/>
          </a:p>
        </p:txBody>
      </p:sp>
      <p:sp>
        <p:nvSpPr>
          <p:cNvPr id="33"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TOP 10 · #4 OF 10</a:t>
            </a:r>
            <a:endParaRPr lang="en-US" sz="1200" dirty="0"/>
          </a:p>
        </p:txBody>
      </p:sp>
      <p:sp>
        <p:nvSpPr>
          <p:cNvPr id="4" name="Text 1"/>
          <p:cNvSpPr/>
          <p:nvPr/>
        </p:nvSpPr>
        <p:spPr>
          <a:xfrm>
            <a:off x="812800" y="833109"/>
            <a:ext cx="762000" cy="762000"/>
          </a:xfrm>
          <a:prstGeom prst="roundRect">
            <a:avLst>
              <a:gd name="adj" fmla="val 20000"/>
            </a:avLst>
          </a:prstGeom>
          <a:solidFill>
            <a:srgbClr val="0A1628"/>
          </a:solidFill>
          <a:ln/>
        </p:spPr>
        <p:txBody>
          <a:bodyPr wrap="square" lIns="0" tIns="0" rIns="0" bIns="0" rtlCol="0" anchor="ctr">
            <a:normAutofit/>
          </a:bodyPr>
          <a:lstStyle/>
          <a:p>
            <a:pPr algn="ctr" indent="0" marL="0">
              <a:lnSpc>
                <a:spcPts val="3920"/>
              </a:lnSpc>
              <a:buNone/>
            </a:pPr>
            <a:r>
              <a:rPr lang="en-US" sz="2800" b="1" dirty="0">
                <a:solidFill>
                  <a:srgbClr val="00B7C3"/>
                </a:solidFill>
                <a:latin typeface="Arial" pitchFamily="34" charset="0"/>
                <a:ea typeface="Arial" pitchFamily="34" charset="-122"/>
                <a:cs typeface="Arial" pitchFamily="34" charset="-120"/>
              </a:rPr>
              <a:t>4</a:t>
            </a:r>
            <a:endParaRPr lang="en-US" sz="2800" dirty="0"/>
          </a:p>
        </p:txBody>
      </p:sp>
      <p:sp>
        <p:nvSpPr>
          <p:cNvPr id="5" name="Text 2"/>
          <p:cNvSpPr/>
          <p:nvPr>
            <p:ph type="title"/>
          </p:nvPr>
        </p:nvSpPr>
        <p:spPr>
          <a:xfrm>
            <a:off x="1778000" y="812800"/>
            <a:ext cx="1931194"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Remcos</a:t>
            </a:r>
            <a:endParaRPr lang="en-US" sz="3600" dirty="0"/>
          </a:p>
        </p:txBody>
      </p:sp>
      <p:sp>
        <p:nvSpPr>
          <p:cNvPr id="6" name="Text 3"/>
          <p:cNvSpPr/>
          <p:nvPr/>
        </p:nvSpPr>
        <p:spPr>
          <a:xfrm>
            <a:off x="3718719" y="912087"/>
            <a:ext cx="1889125" cy="304337"/>
          </a:xfrm>
          <a:prstGeom prst="roundRect">
            <a:avLst>
              <a:gd name="adj" fmla="val 50000"/>
            </a:avLst>
          </a:prstGeom>
          <a:noFill/>
          <a:ln w="19050">
            <a:solidFill>
              <a:srgbClr val="0078D4"/>
            </a:solidFill>
            <a:prstDash val="solid"/>
          </a:ln>
        </p:spPr>
        <p:txBody>
          <a:bodyPr wrap="none" lIns="0" tIns="0" rIns="0" bIns="0" rtlCol="0" anchor="ctr">
            <a:normAutofit/>
          </a:bodyPr>
          <a:lstStyle/>
          <a:p>
            <a:pPr algn="ctr" indent="0" marL="0">
              <a:lnSpc>
                <a:spcPts val="1680"/>
              </a:lnSpc>
              <a:buNone/>
            </a:pPr>
            <a:r>
              <a:rPr lang="en-US" sz="1200" b="1" dirty="0">
                <a:solidFill>
                  <a:srgbClr val="0078D4"/>
                </a:solidFill>
                <a:latin typeface="Calibri" pitchFamily="34" charset="0"/>
                <a:ea typeface="Calibri" pitchFamily="34" charset="-122"/>
                <a:cs typeface="Calibri" pitchFamily="34" charset="-120"/>
              </a:rPr>
              <a:t>RAT and surveillanceware</a:t>
            </a:r>
            <a:endParaRPr lang="en-US" sz="1200" dirty="0"/>
          </a:p>
        </p:txBody>
      </p:sp>
      <p:sp>
        <p:nvSpPr>
          <p:cNvPr id="7" name="Text 4"/>
          <p:cNvSpPr/>
          <p:nvPr/>
        </p:nvSpPr>
        <p:spPr>
          <a:xfrm>
            <a:off x="1778000" y="1366509"/>
            <a:ext cx="98892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Commercial remote-access software abused for spying</a:t>
            </a:r>
            <a:endParaRPr lang="en-US" sz="1400" dirty="0"/>
          </a:p>
        </p:txBody>
      </p:sp>
      <p:sp>
        <p:nvSpPr>
          <p:cNvPr id="8" name="Shape 5"/>
          <p:cNvSpPr/>
          <p:nvPr/>
        </p:nvSpPr>
        <p:spPr>
          <a:xfrm>
            <a:off x="812800" y="1818615"/>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9" name="Shape 6"/>
          <p:cNvSpPr/>
          <p:nvPr/>
        </p:nvSpPr>
        <p:spPr>
          <a:xfrm>
            <a:off x="812800" y="1818615"/>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78D4"/>
          </a:solidFill>
          <a:ln/>
        </p:spPr>
      </p:sp>
      <p:sp>
        <p:nvSpPr>
          <p:cNvPr id="10" name="Shape 7"/>
          <p:cNvSpPr/>
          <p:nvPr/>
        </p:nvSpPr>
        <p:spPr>
          <a:xfrm>
            <a:off x="1016000" y="2009115"/>
            <a:ext cx="330200" cy="330200"/>
          </a:xfrm>
          <a:prstGeom prst="roundRect">
            <a:avLst>
              <a:gd name="adj" fmla="val 50000"/>
            </a:avLst>
          </a:prstGeom>
          <a:solidFill>
            <a:srgbClr val="EAF3FC"/>
          </a:solidFill>
          <a:ln/>
        </p:spPr>
      </p:sp>
      <p:pic>
        <p:nvPicPr>
          <p:cNvPr id="11" name="Image 1" descr="cpu icon">    </p:cNvPr>
          <p:cNvPicPr>
            <a:picLocks noChangeAspect="1"/>
          </p:cNvPicPr>
          <p:nvPr/>
        </p:nvPicPr>
        <p:blipFill>
          <a:blip r:embed="rId2"/>
          <a:srcRect l="0" r="0" t="0" b="0"/>
          <a:stretch/>
        </p:blipFill>
        <p:spPr>
          <a:xfrm>
            <a:off x="1092200" y="2085315"/>
            <a:ext cx="177800" cy="177800"/>
          </a:xfrm>
          <a:prstGeom prst="rect">
            <a:avLst/>
          </a:prstGeom>
        </p:spPr>
      </p:pic>
      <p:sp>
        <p:nvSpPr>
          <p:cNvPr id="12" name="Text 8"/>
          <p:cNvSpPr/>
          <p:nvPr/>
        </p:nvSpPr>
        <p:spPr>
          <a:xfrm>
            <a:off x="1447800" y="2067520"/>
            <a:ext cx="1269127"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BEHAVIOUR</a:t>
            </a:r>
            <a:endParaRPr lang="en-US" sz="1400" dirty="0"/>
          </a:p>
        </p:txBody>
      </p:sp>
      <p:sp>
        <p:nvSpPr>
          <p:cNvPr id="13" name="Text 9"/>
          <p:cNvSpPr/>
          <p:nvPr/>
        </p:nvSpPr>
        <p:spPr>
          <a:xfrm>
            <a:off x="1086358" y="2428215"/>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Records keystrokes, screen, webcam and mic</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Steals saved credentials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Hides inside legitimate processes</a:t>
            </a:r>
            <a:endParaRPr lang="en-US" sz="1600" dirty="0"/>
          </a:p>
        </p:txBody>
      </p:sp>
      <p:sp>
        <p:nvSpPr>
          <p:cNvPr id="14" name="Shape 10"/>
          <p:cNvSpPr/>
          <p:nvPr/>
        </p:nvSpPr>
        <p:spPr>
          <a:xfrm>
            <a:off x="6172200" y="1818615"/>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15" name="Shape 11"/>
          <p:cNvSpPr/>
          <p:nvPr/>
        </p:nvSpPr>
        <p:spPr>
          <a:xfrm>
            <a:off x="6172200" y="1818615"/>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F7630C"/>
          </a:solidFill>
          <a:ln/>
        </p:spPr>
      </p:sp>
      <p:sp>
        <p:nvSpPr>
          <p:cNvPr id="16" name="Shape 12"/>
          <p:cNvSpPr/>
          <p:nvPr/>
        </p:nvSpPr>
        <p:spPr>
          <a:xfrm>
            <a:off x="6375400" y="2009115"/>
            <a:ext cx="330200" cy="330200"/>
          </a:xfrm>
          <a:prstGeom prst="roundRect">
            <a:avLst>
              <a:gd name="adj" fmla="val 50000"/>
            </a:avLst>
          </a:prstGeom>
          <a:solidFill>
            <a:srgbClr val="FDEBDD"/>
          </a:solidFill>
          <a:ln/>
        </p:spPr>
      </p:sp>
      <p:pic>
        <p:nvPicPr>
          <p:cNvPr id="17" name="Image 2" descr="alert icon">    </p:cNvPr>
          <p:cNvPicPr>
            <a:picLocks noChangeAspect="1"/>
          </p:cNvPicPr>
          <p:nvPr/>
        </p:nvPicPr>
        <p:blipFill>
          <a:blip r:embed="rId3"/>
          <a:srcRect l="0" r="0" t="0" b="0"/>
          <a:stretch/>
        </p:blipFill>
        <p:spPr>
          <a:xfrm>
            <a:off x="6451600" y="2085315"/>
            <a:ext cx="177800" cy="177800"/>
          </a:xfrm>
          <a:prstGeom prst="rect">
            <a:avLst/>
          </a:prstGeom>
        </p:spPr>
      </p:pic>
      <p:sp>
        <p:nvSpPr>
          <p:cNvPr id="18" name="Text 13"/>
          <p:cNvSpPr/>
          <p:nvPr/>
        </p:nvSpPr>
        <p:spPr>
          <a:xfrm>
            <a:off x="6807200" y="2067520"/>
            <a:ext cx="826056"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F7630C"/>
                </a:solidFill>
                <a:latin typeface="Calibri" pitchFamily="34" charset="0"/>
                <a:ea typeface="Calibri" pitchFamily="34" charset="-122"/>
                <a:cs typeface="Calibri" pitchFamily="34" charset="-120"/>
              </a:rPr>
              <a:t>IMPACT</a:t>
            </a:r>
            <a:endParaRPr lang="en-US" sz="1400" dirty="0"/>
          </a:p>
        </p:txBody>
      </p:sp>
      <p:sp>
        <p:nvSpPr>
          <p:cNvPr id="19" name="Text 14"/>
          <p:cNvSpPr/>
          <p:nvPr/>
        </p:nvSpPr>
        <p:spPr>
          <a:xfrm>
            <a:off x="6445758" y="2428215"/>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Full surveillance of the victim</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Business email and data compromise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Foothold for further attacks</a:t>
            </a:r>
            <a:endParaRPr lang="en-US" sz="1600" dirty="0"/>
          </a:p>
        </p:txBody>
      </p:sp>
      <p:sp>
        <p:nvSpPr>
          <p:cNvPr id="20" name="Shape 15"/>
          <p:cNvSpPr/>
          <p:nvPr/>
        </p:nvSpPr>
        <p:spPr>
          <a:xfrm>
            <a:off x="812800" y="3586296"/>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6"/>
          <p:cNvSpPr/>
          <p:nvPr/>
        </p:nvSpPr>
        <p:spPr>
          <a:xfrm>
            <a:off x="812800" y="3586296"/>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B7C3"/>
          </a:solidFill>
          <a:ln/>
        </p:spPr>
      </p:sp>
      <p:sp>
        <p:nvSpPr>
          <p:cNvPr id="22" name="Shape 17"/>
          <p:cNvSpPr/>
          <p:nvPr/>
        </p:nvSpPr>
        <p:spPr>
          <a:xfrm>
            <a:off x="1016000" y="3776796"/>
            <a:ext cx="330200" cy="330200"/>
          </a:xfrm>
          <a:prstGeom prst="roundRect">
            <a:avLst>
              <a:gd name="adj" fmla="val 50000"/>
            </a:avLst>
          </a:prstGeom>
          <a:solidFill>
            <a:srgbClr val="DDF5F7"/>
          </a:solidFill>
          <a:ln/>
        </p:spPr>
      </p:sp>
      <p:pic>
        <p:nvPicPr>
          <p:cNvPr id="23" name="Image 3" descr="wrench icon">    </p:cNvPr>
          <p:cNvPicPr>
            <a:picLocks noChangeAspect="1"/>
          </p:cNvPicPr>
          <p:nvPr/>
        </p:nvPicPr>
        <p:blipFill>
          <a:blip r:embed="rId4"/>
          <a:srcRect l="0" r="0" t="0" b="0"/>
          <a:stretch/>
        </p:blipFill>
        <p:spPr>
          <a:xfrm>
            <a:off x="1092200" y="3852996"/>
            <a:ext cx="177800" cy="177800"/>
          </a:xfrm>
          <a:prstGeom prst="rect">
            <a:avLst/>
          </a:prstGeom>
        </p:spPr>
      </p:pic>
      <p:sp>
        <p:nvSpPr>
          <p:cNvPr id="24" name="Text 18"/>
          <p:cNvSpPr/>
          <p:nvPr/>
        </p:nvSpPr>
        <p:spPr>
          <a:xfrm>
            <a:off x="1447800" y="3835202"/>
            <a:ext cx="151757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C85"/>
                </a:solidFill>
                <a:latin typeface="Calibri" pitchFamily="34" charset="0"/>
                <a:ea typeface="Calibri" pitchFamily="34" charset="-122"/>
                <a:cs typeface="Calibri" pitchFamily="34" charset="-120"/>
              </a:rPr>
              <a:t>REMEDIATION</a:t>
            </a:r>
            <a:endParaRPr lang="en-US" sz="1400" dirty="0"/>
          </a:p>
        </p:txBody>
      </p:sp>
      <p:sp>
        <p:nvSpPr>
          <p:cNvPr id="25" name="Text 19"/>
          <p:cNvSpPr/>
          <p:nvPr/>
        </p:nvSpPr>
        <p:spPr>
          <a:xfrm>
            <a:off x="1086358" y="4195896"/>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Isolate the device and collect EDR evidence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Reimage and reset credentials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Block known Remcos C2 infrastructure</a:t>
            </a:r>
            <a:endParaRPr lang="en-US" sz="1600" dirty="0"/>
          </a:p>
        </p:txBody>
      </p:sp>
      <p:sp>
        <p:nvSpPr>
          <p:cNvPr id="26" name="Shape 20"/>
          <p:cNvSpPr/>
          <p:nvPr/>
        </p:nvSpPr>
        <p:spPr>
          <a:xfrm>
            <a:off x="6172200" y="3586296"/>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7" name="Shape 21"/>
          <p:cNvSpPr/>
          <p:nvPr/>
        </p:nvSpPr>
        <p:spPr>
          <a:xfrm>
            <a:off x="6172200" y="3586296"/>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13294B"/>
          </a:solidFill>
          <a:ln/>
        </p:spPr>
      </p:sp>
      <p:sp>
        <p:nvSpPr>
          <p:cNvPr id="28" name="Shape 22"/>
          <p:cNvSpPr/>
          <p:nvPr/>
        </p:nvSpPr>
        <p:spPr>
          <a:xfrm>
            <a:off x="6375400" y="3776796"/>
            <a:ext cx="330200" cy="330200"/>
          </a:xfrm>
          <a:prstGeom prst="roundRect">
            <a:avLst>
              <a:gd name="adj" fmla="val 50000"/>
            </a:avLst>
          </a:prstGeom>
          <a:solidFill>
            <a:srgbClr val="EAF3FC"/>
          </a:solidFill>
          <a:ln/>
        </p:spPr>
      </p:sp>
      <p:pic>
        <p:nvPicPr>
          <p:cNvPr id="29" name="Image 4" descr="shield icon">    </p:cNvPr>
          <p:cNvPicPr>
            <a:picLocks noChangeAspect="1"/>
          </p:cNvPicPr>
          <p:nvPr/>
        </p:nvPicPr>
        <p:blipFill>
          <a:blip r:embed="rId5"/>
          <a:srcRect l="0" r="0" t="0" b="0"/>
          <a:stretch/>
        </p:blipFill>
        <p:spPr>
          <a:xfrm>
            <a:off x="6451600" y="3852996"/>
            <a:ext cx="177800" cy="177800"/>
          </a:xfrm>
          <a:prstGeom prst="rect">
            <a:avLst/>
          </a:prstGeom>
        </p:spPr>
      </p:pic>
      <p:sp>
        <p:nvSpPr>
          <p:cNvPr id="30" name="Text 23"/>
          <p:cNvSpPr/>
          <p:nvPr/>
        </p:nvSpPr>
        <p:spPr>
          <a:xfrm>
            <a:off x="6807200" y="3835202"/>
            <a:ext cx="1384538"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PREVENTION</a:t>
            </a:r>
            <a:endParaRPr lang="en-US" sz="1400" dirty="0"/>
          </a:p>
        </p:txBody>
      </p:sp>
      <p:sp>
        <p:nvSpPr>
          <p:cNvPr id="31" name="Text 24"/>
          <p:cNvSpPr/>
          <p:nvPr/>
        </p:nvSpPr>
        <p:spPr>
          <a:xfrm>
            <a:off x="6445758" y="4195896"/>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Block Office macros in files from the internet</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Sandbox email attachments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Allow only approved remote-access tools</a:t>
            </a:r>
            <a:endParaRPr lang="en-US" sz="1600" dirty="0"/>
          </a:p>
        </p:txBody>
      </p:sp>
      <p:sp>
        <p:nvSpPr>
          <p:cNvPr id="32"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vendor threat research</a:t>
            </a:r>
            <a:endParaRPr lang="en-US" sz="1200" dirty="0"/>
          </a:p>
        </p:txBody>
      </p:sp>
      <p:sp>
        <p:nvSpPr>
          <p:cNvPr id="33"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TOP 10 · #5 OF 10</a:t>
            </a:r>
            <a:endParaRPr lang="en-US" sz="1200" dirty="0"/>
          </a:p>
        </p:txBody>
      </p:sp>
      <p:sp>
        <p:nvSpPr>
          <p:cNvPr id="4" name="Text 1"/>
          <p:cNvSpPr/>
          <p:nvPr/>
        </p:nvSpPr>
        <p:spPr>
          <a:xfrm>
            <a:off x="812800" y="833109"/>
            <a:ext cx="762000" cy="762000"/>
          </a:xfrm>
          <a:prstGeom prst="roundRect">
            <a:avLst>
              <a:gd name="adj" fmla="val 20000"/>
            </a:avLst>
          </a:prstGeom>
          <a:solidFill>
            <a:srgbClr val="0A1628"/>
          </a:solidFill>
          <a:ln/>
        </p:spPr>
        <p:txBody>
          <a:bodyPr wrap="square" lIns="0" tIns="0" rIns="0" bIns="0" rtlCol="0" anchor="ctr">
            <a:normAutofit/>
          </a:bodyPr>
          <a:lstStyle/>
          <a:p>
            <a:pPr algn="ctr" indent="0" marL="0">
              <a:lnSpc>
                <a:spcPts val="3920"/>
              </a:lnSpc>
              <a:buNone/>
            </a:pPr>
            <a:r>
              <a:rPr lang="en-US" sz="2800" b="1" dirty="0">
                <a:solidFill>
                  <a:srgbClr val="00B7C3"/>
                </a:solidFill>
                <a:latin typeface="Arial" pitchFamily="34" charset="0"/>
                <a:ea typeface="Arial" pitchFamily="34" charset="-122"/>
                <a:cs typeface="Arial" pitchFamily="34" charset="-120"/>
              </a:rPr>
              <a:t>5</a:t>
            </a:r>
            <a:endParaRPr lang="en-US" sz="2800" dirty="0"/>
          </a:p>
        </p:txBody>
      </p:sp>
      <p:sp>
        <p:nvSpPr>
          <p:cNvPr id="5" name="Text 2"/>
          <p:cNvSpPr/>
          <p:nvPr>
            <p:ph type="title"/>
          </p:nvPr>
        </p:nvSpPr>
        <p:spPr>
          <a:xfrm>
            <a:off x="1778000" y="812800"/>
            <a:ext cx="1575395"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StealC</a:t>
            </a:r>
            <a:endParaRPr lang="en-US" sz="3600" dirty="0"/>
          </a:p>
        </p:txBody>
      </p:sp>
      <p:sp>
        <p:nvSpPr>
          <p:cNvPr id="6" name="Text 3"/>
          <p:cNvSpPr/>
          <p:nvPr/>
        </p:nvSpPr>
        <p:spPr>
          <a:xfrm>
            <a:off x="3362920" y="912087"/>
            <a:ext cx="948597" cy="304337"/>
          </a:xfrm>
          <a:prstGeom prst="roundRect">
            <a:avLst>
              <a:gd name="adj" fmla="val 50000"/>
            </a:avLst>
          </a:prstGeom>
          <a:noFill/>
          <a:ln w="19050">
            <a:solidFill>
              <a:srgbClr val="F7630C"/>
            </a:solidFill>
            <a:prstDash val="solid"/>
          </a:ln>
        </p:spPr>
        <p:txBody>
          <a:bodyPr wrap="none" lIns="0" tIns="0" rIns="0" bIns="0" rtlCol="0" anchor="ctr">
            <a:normAutofit/>
          </a:bodyPr>
          <a:lstStyle/>
          <a:p>
            <a:pPr algn="ctr" indent="0" marL="0">
              <a:lnSpc>
                <a:spcPts val="1680"/>
              </a:lnSpc>
              <a:buNone/>
            </a:pPr>
            <a:r>
              <a:rPr lang="en-US" sz="1200" b="1" dirty="0">
                <a:solidFill>
                  <a:srgbClr val="C24E06"/>
                </a:solidFill>
                <a:latin typeface="Calibri" pitchFamily="34" charset="0"/>
                <a:ea typeface="Calibri" pitchFamily="34" charset="-122"/>
                <a:cs typeface="Calibri" pitchFamily="34" charset="-120"/>
              </a:rPr>
              <a:t>Infostealer</a:t>
            </a:r>
            <a:endParaRPr lang="en-US" sz="1200" dirty="0"/>
          </a:p>
        </p:txBody>
      </p:sp>
      <p:sp>
        <p:nvSpPr>
          <p:cNvPr id="7" name="Text 4"/>
          <p:cNvSpPr/>
          <p:nvPr/>
        </p:nvSpPr>
        <p:spPr>
          <a:xfrm>
            <a:off x="1778000" y="1366509"/>
            <a:ext cx="98892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 fast, modular stealer spread through fake software</a:t>
            </a:r>
            <a:endParaRPr lang="en-US" sz="1400" dirty="0"/>
          </a:p>
        </p:txBody>
      </p:sp>
      <p:sp>
        <p:nvSpPr>
          <p:cNvPr id="8" name="Shape 5"/>
          <p:cNvSpPr/>
          <p:nvPr/>
        </p:nvSpPr>
        <p:spPr>
          <a:xfrm>
            <a:off x="812800" y="1818615"/>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9" name="Shape 6"/>
          <p:cNvSpPr/>
          <p:nvPr/>
        </p:nvSpPr>
        <p:spPr>
          <a:xfrm>
            <a:off x="812800" y="1818615"/>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78D4"/>
          </a:solidFill>
          <a:ln/>
        </p:spPr>
      </p:sp>
      <p:sp>
        <p:nvSpPr>
          <p:cNvPr id="10" name="Shape 7"/>
          <p:cNvSpPr/>
          <p:nvPr/>
        </p:nvSpPr>
        <p:spPr>
          <a:xfrm>
            <a:off x="1016000" y="2009115"/>
            <a:ext cx="330200" cy="330200"/>
          </a:xfrm>
          <a:prstGeom prst="roundRect">
            <a:avLst>
              <a:gd name="adj" fmla="val 50000"/>
            </a:avLst>
          </a:prstGeom>
          <a:solidFill>
            <a:srgbClr val="EAF3FC"/>
          </a:solidFill>
          <a:ln/>
        </p:spPr>
      </p:sp>
      <p:pic>
        <p:nvPicPr>
          <p:cNvPr id="11" name="Image 1" descr="cpu icon">    </p:cNvPr>
          <p:cNvPicPr>
            <a:picLocks noChangeAspect="1"/>
          </p:cNvPicPr>
          <p:nvPr/>
        </p:nvPicPr>
        <p:blipFill>
          <a:blip r:embed="rId2"/>
          <a:srcRect l="0" r="0" t="0" b="0"/>
          <a:stretch/>
        </p:blipFill>
        <p:spPr>
          <a:xfrm>
            <a:off x="1092200" y="2085315"/>
            <a:ext cx="177800" cy="177800"/>
          </a:xfrm>
          <a:prstGeom prst="rect">
            <a:avLst/>
          </a:prstGeom>
        </p:spPr>
      </p:pic>
      <p:sp>
        <p:nvSpPr>
          <p:cNvPr id="12" name="Text 8"/>
          <p:cNvSpPr/>
          <p:nvPr/>
        </p:nvSpPr>
        <p:spPr>
          <a:xfrm>
            <a:off x="1447800" y="2067520"/>
            <a:ext cx="1269127"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BEHAVIOUR</a:t>
            </a:r>
            <a:endParaRPr lang="en-US" sz="1400" dirty="0"/>
          </a:p>
        </p:txBody>
      </p:sp>
      <p:sp>
        <p:nvSpPr>
          <p:cNvPr id="13" name="Text 9"/>
          <p:cNvSpPr/>
          <p:nvPr/>
        </p:nvSpPr>
        <p:spPr>
          <a:xfrm>
            <a:off x="1086358" y="2428215"/>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Steals from browsers, email and messaging apps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Targets crypto wallets and gaming accounts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Encrypts stolen data before sending it (v2)</a:t>
            </a:r>
            <a:endParaRPr lang="en-US" sz="1600" dirty="0"/>
          </a:p>
        </p:txBody>
      </p:sp>
      <p:sp>
        <p:nvSpPr>
          <p:cNvPr id="14" name="Shape 10"/>
          <p:cNvSpPr/>
          <p:nvPr/>
        </p:nvSpPr>
        <p:spPr>
          <a:xfrm>
            <a:off x="6172200" y="1818615"/>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15" name="Shape 11"/>
          <p:cNvSpPr/>
          <p:nvPr/>
        </p:nvSpPr>
        <p:spPr>
          <a:xfrm>
            <a:off x="6172200" y="1818615"/>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F7630C"/>
          </a:solidFill>
          <a:ln/>
        </p:spPr>
      </p:sp>
      <p:sp>
        <p:nvSpPr>
          <p:cNvPr id="16" name="Shape 12"/>
          <p:cNvSpPr/>
          <p:nvPr/>
        </p:nvSpPr>
        <p:spPr>
          <a:xfrm>
            <a:off x="6375400" y="2009115"/>
            <a:ext cx="330200" cy="330200"/>
          </a:xfrm>
          <a:prstGeom prst="roundRect">
            <a:avLst>
              <a:gd name="adj" fmla="val 50000"/>
            </a:avLst>
          </a:prstGeom>
          <a:solidFill>
            <a:srgbClr val="FDEBDD"/>
          </a:solidFill>
          <a:ln/>
        </p:spPr>
      </p:sp>
      <p:pic>
        <p:nvPicPr>
          <p:cNvPr id="17" name="Image 2" descr="alert icon">    </p:cNvPr>
          <p:cNvPicPr>
            <a:picLocks noChangeAspect="1"/>
          </p:cNvPicPr>
          <p:nvPr/>
        </p:nvPicPr>
        <p:blipFill>
          <a:blip r:embed="rId3"/>
          <a:srcRect l="0" r="0" t="0" b="0"/>
          <a:stretch/>
        </p:blipFill>
        <p:spPr>
          <a:xfrm>
            <a:off x="6451600" y="2085315"/>
            <a:ext cx="177800" cy="177800"/>
          </a:xfrm>
          <a:prstGeom prst="rect">
            <a:avLst/>
          </a:prstGeom>
        </p:spPr>
      </p:pic>
      <p:sp>
        <p:nvSpPr>
          <p:cNvPr id="18" name="Text 13"/>
          <p:cNvSpPr/>
          <p:nvPr/>
        </p:nvSpPr>
        <p:spPr>
          <a:xfrm>
            <a:off x="6807200" y="2067520"/>
            <a:ext cx="826056"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F7630C"/>
                </a:solidFill>
                <a:latin typeface="Calibri" pitchFamily="34" charset="0"/>
                <a:ea typeface="Calibri" pitchFamily="34" charset="-122"/>
                <a:cs typeface="Calibri" pitchFamily="34" charset="-120"/>
              </a:rPr>
              <a:t>IMPACT</a:t>
            </a:r>
            <a:endParaRPr lang="en-US" sz="1400" dirty="0"/>
          </a:p>
        </p:txBody>
      </p:sp>
      <p:sp>
        <p:nvSpPr>
          <p:cNvPr id="19" name="Text 14"/>
          <p:cNvSpPr/>
          <p:nvPr/>
        </p:nvSpPr>
        <p:spPr>
          <a:xfrm>
            <a:off x="6445758" y="2428215"/>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Account takeover and fraud</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Corporate credentials sold to access brokers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Loss of crypto and game assets</a:t>
            </a:r>
            <a:endParaRPr lang="en-US" sz="1600" dirty="0"/>
          </a:p>
        </p:txBody>
      </p:sp>
      <p:sp>
        <p:nvSpPr>
          <p:cNvPr id="20" name="Shape 15"/>
          <p:cNvSpPr/>
          <p:nvPr/>
        </p:nvSpPr>
        <p:spPr>
          <a:xfrm>
            <a:off x="812800" y="3586296"/>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6"/>
          <p:cNvSpPr/>
          <p:nvPr/>
        </p:nvSpPr>
        <p:spPr>
          <a:xfrm>
            <a:off x="812800" y="3586296"/>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B7C3"/>
          </a:solidFill>
          <a:ln/>
        </p:spPr>
      </p:sp>
      <p:sp>
        <p:nvSpPr>
          <p:cNvPr id="22" name="Shape 17"/>
          <p:cNvSpPr/>
          <p:nvPr/>
        </p:nvSpPr>
        <p:spPr>
          <a:xfrm>
            <a:off x="1016000" y="3776796"/>
            <a:ext cx="330200" cy="330200"/>
          </a:xfrm>
          <a:prstGeom prst="roundRect">
            <a:avLst>
              <a:gd name="adj" fmla="val 50000"/>
            </a:avLst>
          </a:prstGeom>
          <a:solidFill>
            <a:srgbClr val="DDF5F7"/>
          </a:solidFill>
          <a:ln/>
        </p:spPr>
      </p:sp>
      <p:pic>
        <p:nvPicPr>
          <p:cNvPr id="23" name="Image 3" descr="wrench icon">    </p:cNvPr>
          <p:cNvPicPr>
            <a:picLocks noChangeAspect="1"/>
          </p:cNvPicPr>
          <p:nvPr/>
        </p:nvPicPr>
        <p:blipFill>
          <a:blip r:embed="rId4"/>
          <a:srcRect l="0" r="0" t="0" b="0"/>
          <a:stretch/>
        </p:blipFill>
        <p:spPr>
          <a:xfrm>
            <a:off x="1092200" y="3852996"/>
            <a:ext cx="177800" cy="177800"/>
          </a:xfrm>
          <a:prstGeom prst="rect">
            <a:avLst/>
          </a:prstGeom>
        </p:spPr>
      </p:pic>
      <p:sp>
        <p:nvSpPr>
          <p:cNvPr id="24" name="Text 18"/>
          <p:cNvSpPr/>
          <p:nvPr/>
        </p:nvSpPr>
        <p:spPr>
          <a:xfrm>
            <a:off x="1447800" y="3835202"/>
            <a:ext cx="151757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C85"/>
                </a:solidFill>
                <a:latin typeface="Calibri" pitchFamily="34" charset="0"/>
                <a:ea typeface="Calibri" pitchFamily="34" charset="-122"/>
                <a:cs typeface="Calibri" pitchFamily="34" charset="-120"/>
              </a:rPr>
              <a:t>REMEDIATION</a:t>
            </a:r>
            <a:endParaRPr lang="en-US" sz="1400" dirty="0"/>
          </a:p>
        </p:txBody>
      </p:sp>
      <p:sp>
        <p:nvSpPr>
          <p:cNvPr id="25" name="Text 19"/>
          <p:cNvSpPr/>
          <p:nvPr/>
        </p:nvSpPr>
        <p:spPr>
          <a:xfrm>
            <a:off x="10863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Reimage; reset passwords from a clean device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Revoke sessions and API tokens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Monitor for leaked credentials</a:t>
            </a:r>
            <a:endParaRPr lang="en-US" sz="1600" dirty="0"/>
          </a:p>
        </p:txBody>
      </p:sp>
      <p:sp>
        <p:nvSpPr>
          <p:cNvPr id="26" name="Shape 20"/>
          <p:cNvSpPr/>
          <p:nvPr/>
        </p:nvSpPr>
        <p:spPr>
          <a:xfrm>
            <a:off x="6172200" y="3586296"/>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7" name="Shape 21"/>
          <p:cNvSpPr/>
          <p:nvPr/>
        </p:nvSpPr>
        <p:spPr>
          <a:xfrm>
            <a:off x="6172200" y="3586296"/>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13294B"/>
          </a:solidFill>
          <a:ln/>
        </p:spPr>
      </p:sp>
      <p:sp>
        <p:nvSpPr>
          <p:cNvPr id="28" name="Shape 22"/>
          <p:cNvSpPr/>
          <p:nvPr/>
        </p:nvSpPr>
        <p:spPr>
          <a:xfrm>
            <a:off x="6375400" y="3776796"/>
            <a:ext cx="330200" cy="330200"/>
          </a:xfrm>
          <a:prstGeom prst="roundRect">
            <a:avLst>
              <a:gd name="adj" fmla="val 50000"/>
            </a:avLst>
          </a:prstGeom>
          <a:solidFill>
            <a:srgbClr val="EAF3FC"/>
          </a:solidFill>
          <a:ln/>
        </p:spPr>
      </p:sp>
      <p:pic>
        <p:nvPicPr>
          <p:cNvPr id="29" name="Image 4" descr="shield icon">    </p:cNvPr>
          <p:cNvPicPr>
            <a:picLocks noChangeAspect="1"/>
          </p:cNvPicPr>
          <p:nvPr/>
        </p:nvPicPr>
        <p:blipFill>
          <a:blip r:embed="rId5"/>
          <a:srcRect l="0" r="0" t="0" b="0"/>
          <a:stretch/>
        </p:blipFill>
        <p:spPr>
          <a:xfrm>
            <a:off x="6451600" y="3852996"/>
            <a:ext cx="177800" cy="177800"/>
          </a:xfrm>
          <a:prstGeom prst="rect">
            <a:avLst/>
          </a:prstGeom>
        </p:spPr>
      </p:pic>
      <p:sp>
        <p:nvSpPr>
          <p:cNvPr id="30" name="Text 23"/>
          <p:cNvSpPr/>
          <p:nvPr/>
        </p:nvSpPr>
        <p:spPr>
          <a:xfrm>
            <a:off x="6807200" y="3835202"/>
            <a:ext cx="1384538"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PREVENTION</a:t>
            </a:r>
            <a:endParaRPr lang="en-US" sz="1400" dirty="0"/>
          </a:p>
        </p:txBody>
      </p:sp>
      <p:sp>
        <p:nvSpPr>
          <p:cNvPr id="31" name="Text 24"/>
          <p:cNvSpPr/>
          <p:nvPr/>
        </p:nvSpPr>
        <p:spPr>
          <a:xfrm>
            <a:off x="64457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Get software only from official sources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Block malvertising and newly registered domains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Use a password manager with MFA</a:t>
            </a:r>
            <a:endParaRPr lang="en-US" sz="1600" dirty="0"/>
          </a:p>
        </p:txBody>
      </p:sp>
      <p:sp>
        <p:nvSpPr>
          <p:cNvPr id="32"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vendor threat research</a:t>
            </a:r>
            <a:endParaRPr lang="en-US" sz="1200" dirty="0"/>
          </a:p>
        </p:txBody>
      </p:sp>
      <p:sp>
        <p:nvSpPr>
          <p:cNvPr id="33"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TOP 10 · #6 OF 10</a:t>
            </a:r>
            <a:endParaRPr lang="en-US" sz="1200" dirty="0"/>
          </a:p>
        </p:txBody>
      </p:sp>
      <p:sp>
        <p:nvSpPr>
          <p:cNvPr id="4" name="Text 1"/>
          <p:cNvSpPr/>
          <p:nvPr/>
        </p:nvSpPr>
        <p:spPr>
          <a:xfrm>
            <a:off x="812800" y="833109"/>
            <a:ext cx="762000" cy="762000"/>
          </a:xfrm>
          <a:prstGeom prst="roundRect">
            <a:avLst>
              <a:gd name="adj" fmla="val 20000"/>
            </a:avLst>
          </a:prstGeom>
          <a:solidFill>
            <a:srgbClr val="0A1628"/>
          </a:solidFill>
          <a:ln/>
        </p:spPr>
        <p:txBody>
          <a:bodyPr wrap="square" lIns="0" tIns="0" rIns="0" bIns="0" rtlCol="0" anchor="ctr">
            <a:normAutofit/>
          </a:bodyPr>
          <a:lstStyle/>
          <a:p>
            <a:pPr algn="ctr" indent="0" marL="0">
              <a:lnSpc>
                <a:spcPts val="3920"/>
              </a:lnSpc>
              <a:buNone/>
            </a:pPr>
            <a:r>
              <a:rPr lang="en-US" sz="2800" b="1" dirty="0">
                <a:solidFill>
                  <a:srgbClr val="00B7C3"/>
                </a:solidFill>
                <a:latin typeface="Arial" pitchFamily="34" charset="0"/>
                <a:ea typeface="Arial" pitchFamily="34" charset="-122"/>
                <a:cs typeface="Arial" pitchFamily="34" charset="-120"/>
              </a:rPr>
              <a:t>6</a:t>
            </a:r>
            <a:endParaRPr lang="en-US" sz="2800" dirty="0"/>
          </a:p>
        </p:txBody>
      </p:sp>
      <p:sp>
        <p:nvSpPr>
          <p:cNvPr id="5" name="Text 2"/>
          <p:cNvSpPr/>
          <p:nvPr>
            <p:ph type="title"/>
          </p:nvPr>
        </p:nvSpPr>
        <p:spPr>
          <a:xfrm>
            <a:off x="1778000" y="812800"/>
            <a:ext cx="1778331"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Lumma</a:t>
            </a:r>
            <a:endParaRPr lang="en-US" sz="3600" dirty="0"/>
          </a:p>
        </p:txBody>
      </p:sp>
      <p:sp>
        <p:nvSpPr>
          <p:cNvPr id="6" name="Text 3"/>
          <p:cNvSpPr/>
          <p:nvPr/>
        </p:nvSpPr>
        <p:spPr>
          <a:xfrm>
            <a:off x="3565856" y="912087"/>
            <a:ext cx="948597" cy="304337"/>
          </a:xfrm>
          <a:prstGeom prst="roundRect">
            <a:avLst>
              <a:gd name="adj" fmla="val 50000"/>
            </a:avLst>
          </a:prstGeom>
          <a:noFill/>
          <a:ln w="19050">
            <a:solidFill>
              <a:srgbClr val="F7630C"/>
            </a:solidFill>
            <a:prstDash val="solid"/>
          </a:ln>
        </p:spPr>
        <p:txBody>
          <a:bodyPr wrap="none" lIns="0" tIns="0" rIns="1" bIns="0" rtlCol="0" anchor="ctr">
            <a:normAutofit/>
          </a:bodyPr>
          <a:lstStyle/>
          <a:p>
            <a:pPr algn="ctr" indent="0" marL="0">
              <a:lnSpc>
                <a:spcPts val="1680"/>
              </a:lnSpc>
              <a:buNone/>
            </a:pPr>
            <a:r>
              <a:rPr lang="en-US" sz="1200" b="1" dirty="0">
                <a:solidFill>
                  <a:srgbClr val="C24E06"/>
                </a:solidFill>
                <a:latin typeface="Calibri" pitchFamily="34" charset="0"/>
                <a:ea typeface="Calibri" pitchFamily="34" charset="-122"/>
                <a:cs typeface="Calibri" pitchFamily="34" charset="-120"/>
              </a:rPr>
              <a:t>Infostealer</a:t>
            </a:r>
            <a:endParaRPr lang="en-US" sz="1200" dirty="0"/>
          </a:p>
        </p:txBody>
      </p:sp>
      <p:sp>
        <p:nvSpPr>
          <p:cNvPr id="7" name="Text 4"/>
          <p:cNvSpPr/>
          <p:nvPr/>
        </p:nvSpPr>
        <p:spPr>
          <a:xfrm>
            <a:off x="1778000" y="1366509"/>
            <a:ext cx="98892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The ClickFix favourite that survived a global takedown</a:t>
            </a:r>
            <a:endParaRPr lang="en-US" sz="1400" dirty="0"/>
          </a:p>
        </p:txBody>
      </p:sp>
      <p:sp>
        <p:nvSpPr>
          <p:cNvPr id="8" name="Shape 5"/>
          <p:cNvSpPr/>
          <p:nvPr/>
        </p:nvSpPr>
        <p:spPr>
          <a:xfrm>
            <a:off x="812800" y="1818618"/>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9" name="Shape 6"/>
          <p:cNvSpPr/>
          <p:nvPr/>
        </p:nvSpPr>
        <p:spPr>
          <a:xfrm>
            <a:off x="812800" y="1818618"/>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78D4"/>
          </a:solidFill>
          <a:ln/>
        </p:spPr>
      </p:sp>
      <p:sp>
        <p:nvSpPr>
          <p:cNvPr id="10" name="Shape 7"/>
          <p:cNvSpPr/>
          <p:nvPr/>
        </p:nvSpPr>
        <p:spPr>
          <a:xfrm>
            <a:off x="1016000" y="2009118"/>
            <a:ext cx="330200" cy="330200"/>
          </a:xfrm>
          <a:prstGeom prst="roundRect">
            <a:avLst>
              <a:gd name="adj" fmla="val 50000"/>
            </a:avLst>
          </a:prstGeom>
          <a:solidFill>
            <a:srgbClr val="EAF3FC"/>
          </a:solidFill>
          <a:ln/>
        </p:spPr>
      </p:sp>
      <p:pic>
        <p:nvPicPr>
          <p:cNvPr id="11" name="Image 1" descr="cpu icon">    </p:cNvPr>
          <p:cNvPicPr>
            <a:picLocks noChangeAspect="1"/>
          </p:cNvPicPr>
          <p:nvPr/>
        </p:nvPicPr>
        <p:blipFill>
          <a:blip r:embed="rId2"/>
          <a:srcRect l="0" r="0" t="0" b="0"/>
          <a:stretch/>
        </p:blipFill>
        <p:spPr>
          <a:xfrm>
            <a:off x="1092200" y="2085318"/>
            <a:ext cx="177800" cy="177800"/>
          </a:xfrm>
          <a:prstGeom prst="rect">
            <a:avLst/>
          </a:prstGeom>
        </p:spPr>
      </p:pic>
      <p:sp>
        <p:nvSpPr>
          <p:cNvPr id="12" name="Text 8"/>
          <p:cNvSpPr/>
          <p:nvPr/>
        </p:nvSpPr>
        <p:spPr>
          <a:xfrm>
            <a:off x="1447800" y="2067520"/>
            <a:ext cx="1269127"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BEHAVIOUR</a:t>
            </a:r>
            <a:endParaRPr lang="en-US" sz="1400" dirty="0"/>
          </a:p>
        </p:txBody>
      </p:sp>
      <p:sp>
        <p:nvSpPr>
          <p:cNvPr id="13" name="Text 9"/>
          <p:cNvSpPr/>
          <p:nvPr/>
        </p:nvSpPr>
        <p:spPr>
          <a:xfrm>
            <a:off x="1086358" y="2428218"/>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Spreads through fake CAPTCHA (ClickFix) pages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Steals passwords, cookies and crypto wallets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Runs in memory through loaders like CastleLoader</a:t>
            </a:r>
            <a:endParaRPr lang="en-US" sz="1600" dirty="0"/>
          </a:p>
        </p:txBody>
      </p:sp>
      <p:sp>
        <p:nvSpPr>
          <p:cNvPr id="14" name="Shape 10"/>
          <p:cNvSpPr/>
          <p:nvPr/>
        </p:nvSpPr>
        <p:spPr>
          <a:xfrm>
            <a:off x="6172200" y="1818618"/>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15" name="Shape 11"/>
          <p:cNvSpPr/>
          <p:nvPr/>
        </p:nvSpPr>
        <p:spPr>
          <a:xfrm>
            <a:off x="6172200" y="1818618"/>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F7630C"/>
          </a:solidFill>
          <a:ln/>
        </p:spPr>
      </p:sp>
      <p:sp>
        <p:nvSpPr>
          <p:cNvPr id="16" name="Shape 12"/>
          <p:cNvSpPr/>
          <p:nvPr/>
        </p:nvSpPr>
        <p:spPr>
          <a:xfrm>
            <a:off x="6375400" y="2009118"/>
            <a:ext cx="330200" cy="330200"/>
          </a:xfrm>
          <a:prstGeom prst="roundRect">
            <a:avLst>
              <a:gd name="adj" fmla="val 50000"/>
            </a:avLst>
          </a:prstGeom>
          <a:solidFill>
            <a:srgbClr val="FDEBDD"/>
          </a:solidFill>
          <a:ln/>
        </p:spPr>
      </p:sp>
      <p:pic>
        <p:nvPicPr>
          <p:cNvPr id="17" name="Image 2" descr="alert icon">    </p:cNvPr>
          <p:cNvPicPr>
            <a:picLocks noChangeAspect="1"/>
          </p:cNvPicPr>
          <p:nvPr/>
        </p:nvPicPr>
        <p:blipFill>
          <a:blip r:embed="rId3"/>
          <a:srcRect l="0" r="0" t="0" b="0"/>
          <a:stretch/>
        </p:blipFill>
        <p:spPr>
          <a:xfrm>
            <a:off x="6451600" y="2085318"/>
            <a:ext cx="177800" cy="177800"/>
          </a:xfrm>
          <a:prstGeom prst="rect">
            <a:avLst/>
          </a:prstGeom>
        </p:spPr>
      </p:pic>
      <p:sp>
        <p:nvSpPr>
          <p:cNvPr id="18" name="Text 13"/>
          <p:cNvSpPr/>
          <p:nvPr/>
        </p:nvSpPr>
        <p:spPr>
          <a:xfrm>
            <a:off x="6807200" y="2067520"/>
            <a:ext cx="826056"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F7630C"/>
                </a:solidFill>
                <a:latin typeface="Calibri" pitchFamily="34" charset="0"/>
                <a:ea typeface="Calibri" pitchFamily="34" charset="-122"/>
                <a:cs typeface="Calibri" pitchFamily="34" charset="-120"/>
              </a:rPr>
              <a:t>IMPACT</a:t>
            </a:r>
            <a:endParaRPr lang="en-US" sz="1400" dirty="0"/>
          </a:p>
        </p:txBody>
      </p:sp>
      <p:sp>
        <p:nvSpPr>
          <p:cNvPr id="19" name="Text 14"/>
          <p:cNvSpPr/>
          <p:nvPr/>
        </p:nvSpPr>
        <p:spPr>
          <a:xfrm>
            <a:off x="6445758" y="2428218"/>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MFA bypass with stolen session cookies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Data sold as “logs” for account takeover</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Initial access for ransomware</a:t>
            </a:r>
            <a:endParaRPr lang="en-US" sz="1600" dirty="0"/>
          </a:p>
        </p:txBody>
      </p:sp>
      <p:sp>
        <p:nvSpPr>
          <p:cNvPr id="20" name="Shape 15"/>
          <p:cNvSpPr/>
          <p:nvPr/>
        </p:nvSpPr>
        <p:spPr>
          <a:xfrm>
            <a:off x="812800" y="3586299"/>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6"/>
          <p:cNvSpPr/>
          <p:nvPr/>
        </p:nvSpPr>
        <p:spPr>
          <a:xfrm>
            <a:off x="812800" y="3586299"/>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B7C3"/>
          </a:solidFill>
          <a:ln/>
        </p:spPr>
      </p:sp>
      <p:sp>
        <p:nvSpPr>
          <p:cNvPr id="22" name="Shape 17"/>
          <p:cNvSpPr/>
          <p:nvPr/>
        </p:nvSpPr>
        <p:spPr>
          <a:xfrm>
            <a:off x="1016000" y="3776799"/>
            <a:ext cx="330200" cy="330200"/>
          </a:xfrm>
          <a:prstGeom prst="roundRect">
            <a:avLst>
              <a:gd name="adj" fmla="val 50000"/>
            </a:avLst>
          </a:prstGeom>
          <a:solidFill>
            <a:srgbClr val="DDF5F7"/>
          </a:solidFill>
          <a:ln/>
        </p:spPr>
      </p:sp>
      <p:pic>
        <p:nvPicPr>
          <p:cNvPr id="23" name="Image 3" descr="wrench icon">    </p:cNvPr>
          <p:cNvPicPr>
            <a:picLocks noChangeAspect="1"/>
          </p:cNvPicPr>
          <p:nvPr/>
        </p:nvPicPr>
        <p:blipFill>
          <a:blip r:embed="rId4"/>
          <a:srcRect l="0" r="0" t="0" b="0"/>
          <a:stretch/>
        </p:blipFill>
        <p:spPr>
          <a:xfrm>
            <a:off x="1092200" y="3852999"/>
            <a:ext cx="177800" cy="177800"/>
          </a:xfrm>
          <a:prstGeom prst="rect">
            <a:avLst/>
          </a:prstGeom>
        </p:spPr>
      </p:pic>
      <p:sp>
        <p:nvSpPr>
          <p:cNvPr id="24" name="Text 18"/>
          <p:cNvSpPr/>
          <p:nvPr/>
        </p:nvSpPr>
        <p:spPr>
          <a:xfrm>
            <a:off x="1447800" y="3835202"/>
            <a:ext cx="151757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C85"/>
                </a:solidFill>
                <a:latin typeface="Calibri" pitchFamily="34" charset="0"/>
                <a:ea typeface="Calibri" pitchFamily="34" charset="-122"/>
                <a:cs typeface="Calibri" pitchFamily="34" charset="-120"/>
              </a:rPr>
              <a:t>REMEDIATION</a:t>
            </a:r>
            <a:endParaRPr lang="en-US" sz="1400" dirty="0"/>
          </a:p>
        </p:txBody>
      </p:sp>
      <p:sp>
        <p:nvSpPr>
          <p:cNvPr id="25" name="Text 19"/>
          <p:cNvSpPr/>
          <p:nvPr/>
        </p:nvSpPr>
        <p:spPr>
          <a:xfrm>
            <a:off x="10863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Disconnect and report immediately</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Revoke all sessions, not just passwords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Reimage the device</a:t>
            </a:r>
            <a:endParaRPr lang="en-US" sz="1600" dirty="0"/>
          </a:p>
        </p:txBody>
      </p:sp>
      <p:sp>
        <p:nvSpPr>
          <p:cNvPr id="26" name="Shape 20"/>
          <p:cNvSpPr/>
          <p:nvPr/>
        </p:nvSpPr>
        <p:spPr>
          <a:xfrm>
            <a:off x="6172200" y="3586299"/>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7" name="Shape 21"/>
          <p:cNvSpPr/>
          <p:nvPr/>
        </p:nvSpPr>
        <p:spPr>
          <a:xfrm>
            <a:off x="6172200" y="3586299"/>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13294B"/>
          </a:solidFill>
          <a:ln/>
        </p:spPr>
      </p:sp>
      <p:sp>
        <p:nvSpPr>
          <p:cNvPr id="28" name="Shape 22"/>
          <p:cNvSpPr/>
          <p:nvPr/>
        </p:nvSpPr>
        <p:spPr>
          <a:xfrm>
            <a:off x="6375400" y="3776799"/>
            <a:ext cx="330200" cy="330200"/>
          </a:xfrm>
          <a:prstGeom prst="roundRect">
            <a:avLst>
              <a:gd name="adj" fmla="val 50000"/>
            </a:avLst>
          </a:prstGeom>
          <a:solidFill>
            <a:srgbClr val="EAF3FC"/>
          </a:solidFill>
          <a:ln/>
        </p:spPr>
      </p:sp>
      <p:pic>
        <p:nvPicPr>
          <p:cNvPr id="29" name="Image 4" descr="shield icon">    </p:cNvPr>
          <p:cNvPicPr>
            <a:picLocks noChangeAspect="1"/>
          </p:cNvPicPr>
          <p:nvPr/>
        </p:nvPicPr>
        <p:blipFill>
          <a:blip r:embed="rId5"/>
          <a:srcRect l="0" r="0" t="0" b="0"/>
          <a:stretch/>
        </p:blipFill>
        <p:spPr>
          <a:xfrm>
            <a:off x="6451600" y="3852999"/>
            <a:ext cx="177800" cy="177800"/>
          </a:xfrm>
          <a:prstGeom prst="rect">
            <a:avLst/>
          </a:prstGeom>
        </p:spPr>
      </p:pic>
      <p:sp>
        <p:nvSpPr>
          <p:cNvPr id="30" name="Text 23"/>
          <p:cNvSpPr/>
          <p:nvPr/>
        </p:nvSpPr>
        <p:spPr>
          <a:xfrm>
            <a:off x="6807200" y="3835202"/>
            <a:ext cx="1384538"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PREVENTION</a:t>
            </a:r>
            <a:endParaRPr lang="en-US" sz="1400" dirty="0"/>
          </a:p>
        </p:txBody>
      </p:sp>
      <p:sp>
        <p:nvSpPr>
          <p:cNvPr id="31" name="Text 24"/>
          <p:cNvSpPr/>
          <p:nvPr/>
        </p:nvSpPr>
        <p:spPr>
          <a:xfrm>
            <a:off x="64457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Never paste commands a website gives you</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Restrict the Run dialog and PowerShell</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Short session lifetimes and token protection</a:t>
            </a:r>
            <a:endParaRPr lang="en-US" sz="1600" dirty="0"/>
          </a:p>
        </p:txBody>
      </p:sp>
      <p:sp>
        <p:nvSpPr>
          <p:cNvPr id="32"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vendor threat research</a:t>
            </a:r>
            <a:endParaRPr lang="en-US" sz="1200" dirty="0"/>
          </a:p>
        </p:txBody>
      </p:sp>
      <p:sp>
        <p:nvSpPr>
          <p:cNvPr id="33"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TOP 10 · #7 OF 10</a:t>
            </a:r>
            <a:endParaRPr lang="en-US" sz="1200" dirty="0"/>
          </a:p>
        </p:txBody>
      </p:sp>
      <p:sp>
        <p:nvSpPr>
          <p:cNvPr id="4" name="Text 1"/>
          <p:cNvSpPr/>
          <p:nvPr/>
        </p:nvSpPr>
        <p:spPr>
          <a:xfrm>
            <a:off x="812800" y="833109"/>
            <a:ext cx="762000" cy="762000"/>
          </a:xfrm>
          <a:prstGeom prst="roundRect">
            <a:avLst>
              <a:gd name="adj" fmla="val 20000"/>
            </a:avLst>
          </a:prstGeom>
          <a:solidFill>
            <a:srgbClr val="0A1628"/>
          </a:solidFill>
          <a:ln/>
        </p:spPr>
        <p:txBody>
          <a:bodyPr wrap="square" lIns="0" tIns="0" rIns="0" bIns="0" rtlCol="0" anchor="ctr">
            <a:normAutofit/>
          </a:bodyPr>
          <a:lstStyle/>
          <a:p>
            <a:pPr algn="ctr" indent="0" marL="0">
              <a:lnSpc>
                <a:spcPts val="3920"/>
              </a:lnSpc>
              <a:buNone/>
            </a:pPr>
            <a:r>
              <a:rPr lang="en-US" sz="2800" b="1" dirty="0">
                <a:solidFill>
                  <a:srgbClr val="00B7C3"/>
                </a:solidFill>
                <a:latin typeface="Arial" pitchFamily="34" charset="0"/>
                <a:ea typeface="Arial" pitchFamily="34" charset="-122"/>
                <a:cs typeface="Arial" pitchFamily="34" charset="-120"/>
              </a:rPr>
              <a:t>7</a:t>
            </a:r>
            <a:endParaRPr lang="en-US" sz="2800" dirty="0"/>
          </a:p>
        </p:txBody>
      </p:sp>
      <p:sp>
        <p:nvSpPr>
          <p:cNvPr id="5" name="Text 2"/>
          <p:cNvSpPr/>
          <p:nvPr>
            <p:ph type="title"/>
          </p:nvPr>
        </p:nvSpPr>
        <p:spPr>
          <a:xfrm>
            <a:off x="1778000" y="812800"/>
            <a:ext cx="2387534"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Formbook</a:t>
            </a:r>
            <a:endParaRPr lang="en-US" sz="3600" dirty="0"/>
          </a:p>
        </p:txBody>
      </p:sp>
      <p:sp>
        <p:nvSpPr>
          <p:cNvPr id="6" name="Text 3"/>
          <p:cNvSpPr/>
          <p:nvPr/>
        </p:nvSpPr>
        <p:spPr>
          <a:xfrm>
            <a:off x="4175059" y="912087"/>
            <a:ext cx="2089547" cy="304337"/>
          </a:xfrm>
          <a:prstGeom prst="roundRect">
            <a:avLst>
              <a:gd name="adj" fmla="val 50000"/>
            </a:avLst>
          </a:prstGeom>
          <a:noFill/>
          <a:ln w="19050">
            <a:solidFill>
              <a:srgbClr val="F7630C"/>
            </a:solidFill>
            <a:prstDash val="solid"/>
          </a:ln>
        </p:spPr>
        <p:txBody>
          <a:bodyPr wrap="none" lIns="0" tIns="0" rIns="0" bIns="0" rtlCol="0" anchor="ctr">
            <a:normAutofit/>
          </a:bodyPr>
          <a:lstStyle/>
          <a:p>
            <a:pPr algn="ctr" indent="0" marL="0">
              <a:lnSpc>
                <a:spcPts val="1680"/>
              </a:lnSpc>
              <a:buNone/>
            </a:pPr>
            <a:r>
              <a:rPr lang="en-US" sz="1200" b="1" dirty="0">
                <a:solidFill>
                  <a:srgbClr val="C24E06"/>
                </a:solidFill>
                <a:latin typeface="Calibri" pitchFamily="34" charset="0"/>
                <a:ea typeface="Calibri" pitchFamily="34" charset="-122"/>
                <a:cs typeface="Calibri" pitchFamily="34" charset="-120"/>
              </a:rPr>
              <a:t>Infostealer and form grabber</a:t>
            </a:r>
            <a:endParaRPr lang="en-US" sz="1200" dirty="0"/>
          </a:p>
        </p:txBody>
      </p:sp>
      <p:sp>
        <p:nvSpPr>
          <p:cNvPr id="7" name="Text 4"/>
          <p:cNvSpPr/>
          <p:nvPr/>
        </p:nvSpPr>
        <p:spPr>
          <a:xfrm>
            <a:off x="1778000" y="1366509"/>
            <a:ext cx="98892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 veteran stealer that captures what you type into forms</a:t>
            </a:r>
            <a:endParaRPr lang="en-US" sz="1400" dirty="0"/>
          </a:p>
        </p:txBody>
      </p:sp>
      <p:sp>
        <p:nvSpPr>
          <p:cNvPr id="8" name="Shape 5"/>
          <p:cNvSpPr/>
          <p:nvPr/>
        </p:nvSpPr>
        <p:spPr>
          <a:xfrm>
            <a:off x="812800" y="1818618"/>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9" name="Shape 6"/>
          <p:cNvSpPr/>
          <p:nvPr/>
        </p:nvSpPr>
        <p:spPr>
          <a:xfrm>
            <a:off x="812800" y="1818618"/>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78D4"/>
          </a:solidFill>
          <a:ln/>
        </p:spPr>
      </p:sp>
      <p:sp>
        <p:nvSpPr>
          <p:cNvPr id="10" name="Shape 7"/>
          <p:cNvSpPr/>
          <p:nvPr/>
        </p:nvSpPr>
        <p:spPr>
          <a:xfrm>
            <a:off x="1016000" y="2009118"/>
            <a:ext cx="330200" cy="330200"/>
          </a:xfrm>
          <a:prstGeom prst="roundRect">
            <a:avLst>
              <a:gd name="adj" fmla="val 50000"/>
            </a:avLst>
          </a:prstGeom>
          <a:solidFill>
            <a:srgbClr val="EAF3FC"/>
          </a:solidFill>
          <a:ln/>
        </p:spPr>
      </p:sp>
      <p:pic>
        <p:nvPicPr>
          <p:cNvPr id="11" name="Image 1" descr="cpu icon">    </p:cNvPr>
          <p:cNvPicPr>
            <a:picLocks noChangeAspect="1"/>
          </p:cNvPicPr>
          <p:nvPr/>
        </p:nvPicPr>
        <p:blipFill>
          <a:blip r:embed="rId2"/>
          <a:srcRect l="0" r="0" t="0" b="0"/>
          <a:stretch/>
        </p:blipFill>
        <p:spPr>
          <a:xfrm>
            <a:off x="1092200" y="2085318"/>
            <a:ext cx="177800" cy="177800"/>
          </a:xfrm>
          <a:prstGeom prst="rect">
            <a:avLst/>
          </a:prstGeom>
        </p:spPr>
      </p:pic>
      <p:sp>
        <p:nvSpPr>
          <p:cNvPr id="12" name="Text 8"/>
          <p:cNvSpPr/>
          <p:nvPr/>
        </p:nvSpPr>
        <p:spPr>
          <a:xfrm>
            <a:off x="1447800" y="2067520"/>
            <a:ext cx="1269127"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BEHAVIOUR</a:t>
            </a:r>
            <a:endParaRPr lang="en-US" sz="1400" dirty="0"/>
          </a:p>
        </p:txBody>
      </p:sp>
      <p:sp>
        <p:nvSpPr>
          <p:cNvPr id="13" name="Text 9"/>
          <p:cNvSpPr/>
          <p:nvPr/>
        </p:nvSpPr>
        <p:spPr>
          <a:xfrm>
            <a:off x="1086358" y="2428218"/>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Grabs data typed into web forms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Logs keystrokes, clipboard and screenshots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Arrives as email attachments (archives, documents)</a:t>
            </a:r>
            <a:endParaRPr lang="en-US" sz="1600" dirty="0"/>
          </a:p>
        </p:txBody>
      </p:sp>
      <p:sp>
        <p:nvSpPr>
          <p:cNvPr id="14" name="Shape 10"/>
          <p:cNvSpPr/>
          <p:nvPr/>
        </p:nvSpPr>
        <p:spPr>
          <a:xfrm>
            <a:off x="6172200" y="1818618"/>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15" name="Shape 11"/>
          <p:cNvSpPr/>
          <p:nvPr/>
        </p:nvSpPr>
        <p:spPr>
          <a:xfrm>
            <a:off x="6172200" y="1818618"/>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F7630C"/>
          </a:solidFill>
          <a:ln/>
        </p:spPr>
      </p:sp>
      <p:sp>
        <p:nvSpPr>
          <p:cNvPr id="16" name="Shape 12"/>
          <p:cNvSpPr/>
          <p:nvPr/>
        </p:nvSpPr>
        <p:spPr>
          <a:xfrm>
            <a:off x="6375400" y="2009118"/>
            <a:ext cx="330200" cy="330200"/>
          </a:xfrm>
          <a:prstGeom prst="roundRect">
            <a:avLst>
              <a:gd name="adj" fmla="val 50000"/>
            </a:avLst>
          </a:prstGeom>
          <a:solidFill>
            <a:srgbClr val="FDEBDD"/>
          </a:solidFill>
          <a:ln/>
        </p:spPr>
      </p:sp>
      <p:pic>
        <p:nvPicPr>
          <p:cNvPr id="17" name="Image 2" descr="alert icon">    </p:cNvPr>
          <p:cNvPicPr>
            <a:picLocks noChangeAspect="1"/>
          </p:cNvPicPr>
          <p:nvPr/>
        </p:nvPicPr>
        <p:blipFill>
          <a:blip r:embed="rId3"/>
          <a:srcRect l="0" r="0" t="0" b="0"/>
          <a:stretch/>
        </p:blipFill>
        <p:spPr>
          <a:xfrm>
            <a:off x="6451600" y="2085318"/>
            <a:ext cx="177800" cy="177800"/>
          </a:xfrm>
          <a:prstGeom prst="rect">
            <a:avLst/>
          </a:prstGeom>
        </p:spPr>
      </p:pic>
      <p:sp>
        <p:nvSpPr>
          <p:cNvPr id="18" name="Text 13"/>
          <p:cNvSpPr/>
          <p:nvPr/>
        </p:nvSpPr>
        <p:spPr>
          <a:xfrm>
            <a:off x="6807200" y="2067520"/>
            <a:ext cx="826056"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F7630C"/>
                </a:solidFill>
                <a:latin typeface="Calibri" pitchFamily="34" charset="0"/>
                <a:ea typeface="Calibri" pitchFamily="34" charset="-122"/>
                <a:cs typeface="Calibri" pitchFamily="34" charset="-120"/>
              </a:rPr>
              <a:t>IMPACT</a:t>
            </a:r>
            <a:endParaRPr lang="en-US" sz="1400" dirty="0"/>
          </a:p>
        </p:txBody>
      </p:sp>
      <p:sp>
        <p:nvSpPr>
          <p:cNvPr id="19" name="Text 14"/>
          <p:cNvSpPr/>
          <p:nvPr/>
        </p:nvSpPr>
        <p:spPr>
          <a:xfrm>
            <a:off x="6445758" y="2428218"/>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Stolen logins for banking and business apps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Business email compromise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Can download and run other malware</a:t>
            </a:r>
            <a:endParaRPr lang="en-US" sz="1600" dirty="0"/>
          </a:p>
        </p:txBody>
      </p:sp>
      <p:sp>
        <p:nvSpPr>
          <p:cNvPr id="20" name="Shape 15"/>
          <p:cNvSpPr/>
          <p:nvPr/>
        </p:nvSpPr>
        <p:spPr>
          <a:xfrm>
            <a:off x="812800" y="3586299"/>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6"/>
          <p:cNvSpPr/>
          <p:nvPr/>
        </p:nvSpPr>
        <p:spPr>
          <a:xfrm>
            <a:off x="812800" y="3586299"/>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B7C3"/>
          </a:solidFill>
          <a:ln/>
        </p:spPr>
      </p:sp>
      <p:sp>
        <p:nvSpPr>
          <p:cNvPr id="22" name="Shape 17"/>
          <p:cNvSpPr/>
          <p:nvPr/>
        </p:nvSpPr>
        <p:spPr>
          <a:xfrm>
            <a:off x="1016000" y="3776799"/>
            <a:ext cx="330200" cy="330200"/>
          </a:xfrm>
          <a:prstGeom prst="roundRect">
            <a:avLst>
              <a:gd name="adj" fmla="val 50000"/>
            </a:avLst>
          </a:prstGeom>
          <a:solidFill>
            <a:srgbClr val="DDF5F7"/>
          </a:solidFill>
          <a:ln/>
        </p:spPr>
      </p:sp>
      <p:pic>
        <p:nvPicPr>
          <p:cNvPr id="23" name="Image 3" descr="wrench icon">    </p:cNvPr>
          <p:cNvPicPr>
            <a:picLocks noChangeAspect="1"/>
          </p:cNvPicPr>
          <p:nvPr/>
        </p:nvPicPr>
        <p:blipFill>
          <a:blip r:embed="rId4"/>
          <a:srcRect l="0" r="0" t="0" b="0"/>
          <a:stretch/>
        </p:blipFill>
        <p:spPr>
          <a:xfrm>
            <a:off x="1092200" y="3852999"/>
            <a:ext cx="177800" cy="177800"/>
          </a:xfrm>
          <a:prstGeom prst="rect">
            <a:avLst/>
          </a:prstGeom>
        </p:spPr>
      </p:pic>
      <p:sp>
        <p:nvSpPr>
          <p:cNvPr id="24" name="Text 18"/>
          <p:cNvSpPr/>
          <p:nvPr/>
        </p:nvSpPr>
        <p:spPr>
          <a:xfrm>
            <a:off x="1447800" y="3835202"/>
            <a:ext cx="151757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C85"/>
                </a:solidFill>
                <a:latin typeface="Calibri" pitchFamily="34" charset="0"/>
                <a:ea typeface="Calibri" pitchFamily="34" charset="-122"/>
                <a:cs typeface="Calibri" pitchFamily="34" charset="-120"/>
              </a:rPr>
              <a:t>REMEDIATION</a:t>
            </a:r>
            <a:endParaRPr lang="en-US" sz="1400" dirty="0"/>
          </a:p>
        </p:txBody>
      </p:sp>
      <p:sp>
        <p:nvSpPr>
          <p:cNvPr id="25" name="Text 19"/>
          <p:cNvSpPr/>
          <p:nvPr/>
        </p:nvSpPr>
        <p:spPr>
          <a:xfrm>
            <a:off x="10863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Isolate and reimage the device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Reset passwords used on the device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Search mailboxes for the same phishing email</a:t>
            </a:r>
            <a:endParaRPr lang="en-US" sz="1600" dirty="0"/>
          </a:p>
        </p:txBody>
      </p:sp>
      <p:sp>
        <p:nvSpPr>
          <p:cNvPr id="26" name="Shape 20"/>
          <p:cNvSpPr/>
          <p:nvPr/>
        </p:nvSpPr>
        <p:spPr>
          <a:xfrm>
            <a:off x="6172200" y="3586299"/>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7" name="Shape 21"/>
          <p:cNvSpPr/>
          <p:nvPr/>
        </p:nvSpPr>
        <p:spPr>
          <a:xfrm>
            <a:off x="6172200" y="3586299"/>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13294B"/>
          </a:solidFill>
          <a:ln/>
        </p:spPr>
      </p:sp>
      <p:sp>
        <p:nvSpPr>
          <p:cNvPr id="28" name="Shape 22"/>
          <p:cNvSpPr/>
          <p:nvPr/>
        </p:nvSpPr>
        <p:spPr>
          <a:xfrm>
            <a:off x="6375400" y="3776799"/>
            <a:ext cx="330200" cy="330200"/>
          </a:xfrm>
          <a:prstGeom prst="roundRect">
            <a:avLst>
              <a:gd name="adj" fmla="val 50000"/>
            </a:avLst>
          </a:prstGeom>
          <a:solidFill>
            <a:srgbClr val="EAF3FC"/>
          </a:solidFill>
          <a:ln/>
        </p:spPr>
      </p:sp>
      <p:pic>
        <p:nvPicPr>
          <p:cNvPr id="29" name="Image 4" descr="shield icon">    </p:cNvPr>
          <p:cNvPicPr>
            <a:picLocks noChangeAspect="1"/>
          </p:cNvPicPr>
          <p:nvPr/>
        </p:nvPicPr>
        <p:blipFill>
          <a:blip r:embed="rId5"/>
          <a:srcRect l="0" r="0" t="0" b="0"/>
          <a:stretch/>
        </p:blipFill>
        <p:spPr>
          <a:xfrm>
            <a:off x="6451600" y="3852999"/>
            <a:ext cx="177800" cy="177800"/>
          </a:xfrm>
          <a:prstGeom prst="rect">
            <a:avLst/>
          </a:prstGeom>
        </p:spPr>
      </p:pic>
      <p:sp>
        <p:nvSpPr>
          <p:cNvPr id="30" name="Text 23"/>
          <p:cNvSpPr/>
          <p:nvPr/>
        </p:nvSpPr>
        <p:spPr>
          <a:xfrm>
            <a:off x="6807200" y="3835202"/>
            <a:ext cx="1384538"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PREVENTION</a:t>
            </a:r>
            <a:endParaRPr lang="en-US" sz="1400" dirty="0"/>
          </a:p>
        </p:txBody>
      </p:sp>
      <p:sp>
        <p:nvSpPr>
          <p:cNvPr id="31" name="Text 24"/>
          <p:cNvSpPr/>
          <p:nvPr/>
        </p:nvSpPr>
        <p:spPr>
          <a:xfrm>
            <a:off x="64457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Filter archive and Office attachments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Train staff on invoice-themed lures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Keep Office and email security updated</a:t>
            </a:r>
            <a:endParaRPr lang="en-US" sz="1600" dirty="0"/>
          </a:p>
        </p:txBody>
      </p:sp>
      <p:sp>
        <p:nvSpPr>
          <p:cNvPr id="32"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vendor threat research</a:t>
            </a:r>
            <a:endParaRPr lang="en-US" sz="1200" dirty="0"/>
          </a:p>
        </p:txBody>
      </p:sp>
      <p:sp>
        <p:nvSpPr>
          <p:cNvPr id="33"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TOP 10 · #8 OF 10</a:t>
            </a:r>
            <a:endParaRPr lang="en-US" sz="1200" dirty="0"/>
          </a:p>
        </p:txBody>
      </p:sp>
      <p:sp>
        <p:nvSpPr>
          <p:cNvPr id="4" name="Text 1"/>
          <p:cNvSpPr/>
          <p:nvPr/>
        </p:nvSpPr>
        <p:spPr>
          <a:xfrm>
            <a:off x="812800" y="833109"/>
            <a:ext cx="762000" cy="762000"/>
          </a:xfrm>
          <a:prstGeom prst="roundRect">
            <a:avLst>
              <a:gd name="adj" fmla="val 20000"/>
            </a:avLst>
          </a:prstGeom>
          <a:solidFill>
            <a:srgbClr val="0A1628"/>
          </a:solidFill>
          <a:ln/>
        </p:spPr>
        <p:txBody>
          <a:bodyPr wrap="square" lIns="0" tIns="0" rIns="0" bIns="0" rtlCol="0" anchor="ctr">
            <a:normAutofit/>
          </a:bodyPr>
          <a:lstStyle/>
          <a:p>
            <a:pPr algn="ctr" indent="0" marL="0">
              <a:lnSpc>
                <a:spcPts val="3920"/>
              </a:lnSpc>
              <a:buNone/>
            </a:pPr>
            <a:r>
              <a:rPr lang="en-US" sz="2800" b="1" dirty="0">
                <a:solidFill>
                  <a:srgbClr val="00B7C3"/>
                </a:solidFill>
                <a:latin typeface="Arial" pitchFamily="34" charset="0"/>
                <a:ea typeface="Arial" pitchFamily="34" charset="-122"/>
                <a:cs typeface="Arial" pitchFamily="34" charset="-120"/>
              </a:rPr>
              <a:t>8</a:t>
            </a:r>
            <a:endParaRPr lang="en-US" sz="2800" dirty="0"/>
          </a:p>
        </p:txBody>
      </p:sp>
      <p:sp>
        <p:nvSpPr>
          <p:cNvPr id="5" name="Text 2"/>
          <p:cNvSpPr/>
          <p:nvPr>
            <p:ph type="title"/>
          </p:nvPr>
        </p:nvSpPr>
        <p:spPr>
          <a:xfrm>
            <a:off x="1778000" y="812800"/>
            <a:ext cx="1728060"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Quasar</a:t>
            </a:r>
            <a:endParaRPr lang="en-US" sz="3600" dirty="0"/>
          </a:p>
        </p:txBody>
      </p:sp>
      <p:sp>
        <p:nvSpPr>
          <p:cNvPr id="6" name="Text 3"/>
          <p:cNvSpPr/>
          <p:nvPr/>
        </p:nvSpPr>
        <p:spPr>
          <a:xfrm>
            <a:off x="3515585" y="912087"/>
            <a:ext cx="1615744" cy="304337"/>
          </a:xfrm>
          <a:prstGeom prst="roundRect">
            <a:avLst>
              <a:gd name="adj" fmla="val 50000"/>
            </a:avLst>
          </a:prstGeom>
          <a:noFill/>
          <a:ln w="19050">
            <a:solidFill>
              <a:srgbClr val="0078D4"/>
            </a:solidFill>
            <a:prstDash val="solid"/>
          </a:ln>
        </p:spPr>
        <p:txBody>
          <a:bodyPr wrap="none" lIns="0" tIns="0" rIns="0" bIns="0" rtlCol="0" anchor="ctr">
            <a:normAutofit/>
          </a:bodyPr>
          <a:lstStyle/>
          <a:p>
            <a:pPr algn="ctr" indent="0" marL="0">
              <a:lnSpc>
                <a:spcPts val="1680"/>
              </a:lnSpc>
              <a:buNone/>
            </a:pPr>
            <a:r>
              <a:rPr lang="en-US" sz="1200" b="1" dirty="0">
                <a:solidFill>
                  <a:srgbClr val="0078D4"/>
                </a:solidFill>
                <a:latin typeface="Calibri" pitchFamily="34" charset="0"/>
                <a:ea typeface="Calibri" pitchFamily="34" charset="-122"/>
                <a:cs typeface="Calibri" pitchFamily="34" charset="-120"/>
              </a:rPr>
              <a:t>Remote access trojan</a:t>
            </a:r>
            <a:endParaRPr lang="en-US" sz="1200" dirty="0"/>
          </a:p>
        </p:txBody>
      </p:sp>
      <p:sp>
        <p:nvSpPr>
          <p:cNvPr id="7" name="Text 4"/>
          <p:cNvSpPr/>
          <p:nvPr/>
        </p:nvSpPr>
        <p:spPr>
          <a:xfrm>
            <a:off x="1778000" y="1366509"/>
            <a:ext cx="98892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Open-source RAT used by criminals and state actors alike</a:t>
            </a:r>
            <a:endParaRPr lang="en-US" sz="1400" dirty="0"/>
          </a:p>
        </p:txBody>
      </p:sp>
      <p:sp>
        <p:nvSpPr>
          <p:cNvPr id="8" name="Shape 5"/>
          <p:cNvSpPr/>
          <p:nvPr/>
        </p:nvSpPr>
        <p:spPr>
          <a:xfrm>
            <a:off x="812800" y="1818618"/>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9" name="Shape 6"/>
          <p:cNvSpPr/>
          <p:nvPr/>
        </p:nvSpPr>
        <p:spPr>
          <a:xfrm>
            <a:off x="812800" y="1818618"/>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78D4"/>
          </a:solidFill>
          <a:ln/>
        </p:spPr>
      </p:sp>
      <p:sp>
        <p:nvSpPr>
          <p:cNvPr id="10" name="Shape 7"/>
          <p:cNvSpPr/>
          <p:nvPr/>
        </p:nvSpPr>
        <p:spPr>
          <a:xfrm>
            <a:off x="1016000" y="2009118"/>
            <a:ext cx="330200" cy="330200"/>
          </a:xfrm>
          <a:prstGeom prst="roundRect">
            <a:avLst>
              <a:gd name="adj" fmla="val 50000"/>
            </a:avLst>
          </a:prstGeom>
          <a:solidFill>
            <a:srgbClr val="EAF3FC"/>
          </a:solidFill>
          <a:ln/>
        </p:spPr>
      </p:sp>
      <p:pic>
        <p:nvPicPr>
          <p:cNvPr id="11" name="Image 1" descr="cpu icon">    </p:cNvPr>
          <p:cNvPicPr>
            <a:picLocks noChangeAspect="1"/>
          </p:cNvPicPr>
          <p:nvPr/>
        </p:nvPicPr>
        <p:blipFill>
          <a:blip r:embed="rId2"/>
          <a:srcRect l="0" r="0" t="0" b="0"/>
          <a:stretch/>
        </p:blipFill>
        <p:spPr>
          <a:xfrm>
            <a:off x="1092200" y="2085318"/>
            <a:ext cx="177800" cy="177800"/>
          </a:xfrm>
          <a:prstGeom prst="rect">
            <a:avLst/>
          </a:prstGeom>
        </p:spPr>
      </p:pic>
      <p:sp>
        <p:nvSpPr>
          <p:cNvPr id="12" name="Text 8"/>
          <p:cNvSpPr/>
          <p:nvPr/>
        </p:nvSpPr>
        <p:spPr>
          <a:xfrm>
            <a:off x="1447800" y="2067520"/>
            <a:ext cx="1269127"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BEHAVIOUR</a:t>
            </a:r>
            <a:endParaRPr lang="en-US" sz="1400" dirty="0"/>
          </a:p>
        </p:txBody>
      </p:sp>
      <p:sp>
        <p:nvSpPr>
          <p:cNvPr id="13" name="Text 9"/>
          <p:cNvSpPr/>
          <p:nvPr/>
        </p:nvSpPr>
        <p:spPr>
          <a:xfrm>
            <a:off x="1086358" y="2428218"/>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Remote shell, file manager and keylogger</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Recovers saved passwords from apps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2026 variant steals Git, npm and PyPI credentials</a:t>
            </a:r>
            <a:endParaRPr lang="en-US" sz="1600" dirty="0"/>
          </a:p>
        </p:txBody>
      </p:sp>
      <p:sp>
        <p:nvSpPr>
          <p:cNvPr id="14" name="Shape 10"/>
          <p:cNvSpPr/>
          <p:nvPr/>
        </p:nvSpPr>
        <p:spPr>
          <a:xfrm>
            <a:off x="6172200" y="1818618"/>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15" name="Shape 11"/>
          <p:cNvSpPr/>
          <p:nvPr/>
        </p:nvSpPr>
        <p:spPr>
          <a:xfrm>
            <a:off x="6172200" y="1818618"/>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F7630C"/>
          </a:solidFill>
          <a:ln/>
        </p:spPr>
      </p:sp>
      <p:sp>
        <p:nvSpPr>
          <p:cNvPr id="16" name="Shape 12"/>
          <p:cNvSpPr/>
          <p:nvPr/>
        </p:nvSpPr>
        <p:spPr>
          <a:xfrm>
            <a:off x="6375400" y="2009118"/>
            <a:ext cx="330200" cy="330200"/>
          </a:xfrm>
          <a:prstGeom prst="roundRect">
            <a:avLst>
              <a:gd name="adj" fmla="val 50000"/>
            </a:avLst>
          </a:prstGeom>
          <a:solidFill>
            <a:srgbClr val="FDEBDD"/>
          </a:solidFill>
          <a:ln/>
        </p:spPr>
      </p:sp>
      <p:pic>
        <p:nvPicPr>
          <p:cNvPr id="17" name="Image 2" descr="alert icon">    </p:cNvPr>
          <p:cNvPicPr>
            <a:picLocks noChangeAspect="1"/>
          </p:cNvPicPr>
          <p:nvPr/>
        </p:nvPicPr>
        <p:blipFill>
          <a:blip r:embed="rId3"/>
          <a:srcRect l="0" r="0" t="0" b="0"/>
          <a:stretch/>
        </p:blipFill>
        <p:spPr>
          <a:xfrm>
            <a:off x="6451600" y="2085318"/>
            <a:ext cx="177800" cy="177800"/>
          </a:xfrm>
          <a:prstGeom prst="rect">
            <a:avLst/>
          </a:prstGeom>
        </p:spPr>
      </p:pic>
      <p:sp>
        <p:nvSpPr>
          <p:cNvPr id="18" name="Text 13"/>
          <p:cNvSpPr/>
          <p:nvPr/>
        </p:nvSpPr>
        <p:spPr>
          <a:xfrm>
            <a:off x="6807200" y="2067520"/>
            <a:ext cx="826056"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F7630C"/>
                </a:solidFill>
                <a:latin typeface="Calibri" pitchFamily="34" charset="0"/>
                <a:ea typeface="Calibri" pitchFamily="34" charset="-122"/>
                <a:cs typeface="Calibri" pitchFamily="34" charset="-120"/>
              </a:rPr>
              <a:t>IMPACT</a:t>
            </a:r>
            <a:endParaRPr lang="en-US" sz="1400" dirty="0"/>
          </a:p>
        </p:txBody>
      </p:sp>
      <p:sp>
        <p:nvSpPr>
          <p:cNvPr id="19" name="Text 14"/>
          <p:cNvSpPr/>
          <p:nvPr/>
        </p:nvSpPr>
        <p:spPr>
          <a:xfrm>
            <a:off x="6445758" y="2428218"/>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Full device compromise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Supply chain risk through stolen developer tokens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Espionage and data exfiltration</a:t>
            </a:r>
            <a:endParaRPr lang="en-US" sz="1600" dirty="0"/>
          </a:p>
        </p:txBody>
      </p:sp>
      <p:sp>
        <p:nvSpPr>
          <p:cNvPr id="20" name="Shape 15"/>
          <p:cNvSpPr/>
          <p:nvPr/>
        </p:nvSpPr>
        <p:spPr>
          <a:xfrm>
            <a:off x="812800" y="3586299"/>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6"/>
          <p:cNvSpPr/>
          <p:nvPr/>
        </p:nvSpPr>
        <p:spPr>
          <a:xfrm>
            <a:off x="812800" y="3586299"/>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B7C3"/>
          </a:solidFill>
          <a:ln/>
        </p:spPr>
      </p:sp>
      <p:sp>
        <p:nvSpPr>
          <p:cNvPr id="22" name="Shape 17"/>
          <p:cNvSpPr/>
          <p:nvPr/>
        </p:nvSpPr>
        <p:spPr>
          <a:xfrm>
            <a:off x="1016000" y="3776799"/>
            <a:ext cx="330200" cy="330200"/>
          </a:xfrm>
          <a:prstGeom prst="roundRect">
            <a:avLst>
              <a:gd name="adj" fmla="val 50000"/>
            </a:avLst>
          </a:prstGeom>
          <a:solidFill>
            <a:srgbClr val="DDF5F7"/>
          </a:solidFill>
          <a:ln/>
        </p:spPr>
      </p:sp>
      <p:pic>
        <p:nvPicPr>
          <p:cNvPr id="23" name="Image 3" descr="wrench icon">    </p:cNvPr>
          <p:cNvPicPr>
            <a:picLocks noChangeAspect="1"/>
          </p:cNvPicPr>
          <p:nvPr/>
        </p:nvPicPr>
        <p:blipFill>
          <a:blip r:embed="rId4"/>
          <a:srcRect l="0" r="0" t="0" b="0"/>
          <a:stretch/>
        </p:blipFill>
        <p:spPr>
          <a:xfrm>
            <a:off x="1092200" y="3852999"/>
            <a:ext cx="177800" cy="177800"/>
          </a:xfrm>
          <a:prstGeom prst="rect">
            <a:avLst/>
          </a:prstGeom>
        </p:spPr>
      </p:pic>
      <p:sp>
        <p:nvSpPr>
          <p:cNvPr id="24" name="Text 18"/>
          <p:cNvSpPr/>
          <p:nvPr/>
        </p:nvSpPr>
        <p:spPr>
          <a:xfrm>
            <a:off x="1447800" y="3835202"/>
            <a:ext cx="151757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C85"/>
                </a:solidFill>
                <a:latin typeface="Calibri" pitchFamily="34" charset="0"/>
                <a:ea typeface="Calibri" pitchFamily="34" charset="-122"/>
                <a:cs typeface="Calibri" pitchFamily="34" charset="-120"/>
              </a:rPr>
              <a:t>REMEDIATION</a:t>
            </a:r>
            <a:endParaRPr lang="en-US" sz="1400" dirty="0"/>
          </a:p>
        </p:txBody>
      </p:sp>
      <p:sp>
        <p:nvSpPr>
          <p:cNvPr id="25" name="Text 19"/>
          <p:cNvSpPr/>
          <p:nvPr/>
        </p:nvSpPr>
        <p:spPr>
          <a:xfrm>
            <a:off x="10863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Isolate and reimage the device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Rotate Git, npm, PyPI and cloud tokens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Review repositories for unauthorised changes</a:t>
            </a:r>
            <a:endParaRPr lang="en-US" sz="1600" dirty="0"/>
          </a:p>
        </p:txBody>
      </p:sp>
      <p:sp>
        <p:nvSpPr>
          <p:cNvPr id="26" name="Shape 20"/>
          <p:cNvSpPr/>
          <p:nvPr/>
        </p:nvSpPr>
        <p:spPr>
          <a:xfrm>
            <a:off x="6172200" y="3586299"/>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7" name="Shape 21"/>
          <p:cNvSpPr/>
          <p:nvPr/>
        </p:nvSpPr>
        <p:spPr>
          <a:xfrm>
            <a:off x="6172200" y="3586299"/>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13294B"/>
          </a:solidFill>
          <a:ln/>
        </p:spPr>
      </p:sp>
      <p:sp>
        <p:nvSpPr>
          <p:cNvPr id="28" name="Shape 22"/>
          <p:cNvSpPr/>
          <p:nvPr/>
        </p:nvSpPr>
        <p:spPr>
          <a:xfrm>
            <a:off x="6375400" y="3776799"/>
            <a:ext cx="330200" cy="330200"/>
          </a:xfrm>
          <a:prstGeom prst="roundRect">
            <a:avLst>
              <a:gd name="adj" fmla="val 50000"/>
            </a:avLst>
          </a:prstGeom>
          <a:solidFill>
            <a:srgbClr val="EAF3FC"/>
          </a:solidFill>
          <a:ln/>
        </p:spPr>
      </p:sp>
      <p:pic>
        <p:nvPicPr>
          <p:cNvPr id="29" name="Image 4" descr="shield icon">    </p:cNvPr>
          <p:cNvPicPr>
            <a:picLocks noChangeAspect="1"/>
          </p:cNvPicPr>
          <p:nvPr/>
        </p:nvPicPr>
        <p:blipFill>
          <a:blip r:embed="rId5"/>
          <a:srcRect l="0" r="0" t="0" b="0"/>
          <a:stretch/>
        </p:blipFill>
        <p:spPr>
          <a:xfrm>
            <a:off x="6451600" y="3852999"/>
            <a:ext cx="177800" cy="177800"/>
          </a:xfrm>
          <a:prstGeom prst="rect">
            <a:avLst/>
          </a:prstGeom>
        </p:spPr>
      </p:pic>
      <p:sp>
        <p:nvSpPr>
          <p:cNvPr id="30" name="Text 23"/>
          <p:cNvSpPr/>
          <p:nvPr/>
        </p:nvSpPr>
        <p:spPr>
          <a:xfrm>
            <a:off x="6807200" y="3835202"/>
            <a:ext cx="1384538"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PREVENTION</a:t>
            </a:r>
            <a:endParaRPr lang="en-US" sz="1400" dirty="0"/>
          </a:p>
        </p:txBody>
      </p:sp>
      <p:sp>
        <p:nvSpPr>
          <p:cNvPr id="31" name="Text 24"/>
          <p:cNvSpPr/>
          <p:nvPr/>
        </p:nvSpPr>
        <p:spPr>
          <a:xfrm>
            <a:off x="64457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Block double-extension files (e.g. .pdf.exe)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Show file extensions in Windows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Protect developer tokens with MFA</a:t>
            </a:r>
            <a:endParaRPr lang="en-US" sz="1600" dirty="0"/>
          </a:p>
        </p:txBody>
      </p:sp>
      <p:sp>
        <p:nvSpPr>
          <p:cNvPr id="32"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vendor threat research</a:t>
            </a:r>
            <a:endParaRPr lang="en-US" sz="1200" dirty="0"/>
          </a:p>
        </p:txBody>
      </p:sp>
      <p:sp>
        <p:nvSpPr>
          <p:cNvPr id="33"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TOP 10 · #9 OF 10</a:t>
            </a:r>
            <a:endParaRPr lang="en-US" sz="1200" dirty="0"/>
          </a:p>
        </p:txBody>
      </p:sp>
      <p:sp>
        <p:nvSpPr>
          <p:cNvPr id="4" name="Text 1"/>
          <p:cNvSpPr/>
          <p:nvPr/>
        </p:nvSpPr>
        <p:spPr>
          <a:xfrm>
            <a:off x="812800" y="833109"/>
            <a:ext cx="762000" cy="762000"/>
          </a:xfrm>
          <a:prstGeom prst="roundRect">
            <a:avLst>
              <a:gd name="adj" fmla="val 20000"/>
            </a:avLst>
          </a:prstGeom>
          <a:solidFill>
            <a:srgbClr val="0A1628"/>
          </a:solidFill>
          <a:ln/>
        </p:spPr>
        <p:txBody>
          <a:bodyPr wrap="square" lIns="0" tIns="0" rIns="0" bIns="0" rtlCol="0" anchor="ctr">
            <a:normAutofit/>
          </a:bodyPr>
          <a:lstStyle/>
          <a:p>
            <a:pPr algn="ctr" indent="0" marL="0">
              <a:lnSpc>
                <a:spcPts val="3920"/>
              </a:lnSpc>
              <a:buNone/>
            </a:pPr>
            <a:r>
              <a:rPr lang="en-US" sz="2800" b="1" dirty="0">
                <a:solidFill>
                  <a:srgbClr val="00B7C3"/>
                </a:solidFill>
                <a:latin typeface="Arial" pitchFamily="34" charset="0"/>
                <a:ea typeface="Arial" pitchFamily="34" charset="-122"/>
                <a:cs typeface="Arial" pitchFamily="34" charset="-120"/>
              </a:rPr>
              <a:t>9</a:t>
            </a:r>
            <a:endParaRPr lang="en-US" sz="2800" dirty="0"/>
          </a:p>
        </p:txBody>
      </p:sp>
      <p:sp>
        <p:nvSpPr>
          <p:cNvPr id="5" name="Text 2"/>
          <p:cNvSpPr/>
          <p:nvPr>
            <p:ph type="title"/>
          </p:nvPr>
        </p:nvSpPr>
        <p:spPr>
          <a:xfrm>
            <a:off x="1778000" y="812800"/>
            <a:ext cx="2709863"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Agent Tesla</a:t>
            </a:r>
            <a:endParaRPr lang="en-US" sz="3600" dirty="0"/>
          </a:p>
        </p:txBody>
      </p:sp>
      <p:sp>
        <p:nvSpPr>
          <p:cNvPr id="6" name="Text 3"/>
          <p:cNvSpPr/>
          <p:nvPr/>
        </p:nvSpPr>
        <p:spPr>
          <a:xfrm>
            <a:off x="4497388" y="912087"/>
            <a:ext cx="1867165" cy="304337"/>
          </a:xfrm>
          <a:prstGeom prst="roundRect">
            <a:avLst>
              <a:gd name="adj" fmla="val 50000"/>
            </a:avLst>
          </a:prstGeom>
          <a:noFill/>
          <a:ln w="19050">
            <a:solidFill>
              <a:srgbClr val="F7630C"/>
            </a:solidFill>
            <a:prstDash val="solid"/>
          </a:ln>
        </p:spPr>
        <p:txBody>
          <a:bodyPr wrap="none" lIns="0" tIns="0" rIns="0" bIns="0" rtlCol="0" anchor="ctr">
            <a:normAutofit/>
          </a:bodyPr>
          <a:lstStyle/>
          <a:p>
            <a:pPr algn="ctr" indent="0" marL="0">
              <a:lnSpc>
                <a:spcPts val="1680"/>
              </a:lnSpc>
              <a:buNone/>
            </a:pPr>
            <a:r>
              <a:rPr lang="en-US" sz="1200" b="1" dirty="0">
                <a:solidFill>
                  <a:srgbClr val="C24E06"/>
                </a:solidFill>
                <a:latin typeface="Calibri" pitchFamily="34" charset="0"/>
                <a:ea typeface="Calibri" pitchFamily="34" charset="-122"/>
                <a:cs typeface="Calibri" pitchFamily="34" charset="-120"/>
              </a:rPr>
              <a:t>Infostealer and keylogger</a:t>
            </a:r>
            <a:endParaRPr lang="en-US" sz="1200" dirty="0"/>
          </a:p>
        </p:txBody>
      </p:sp>
      <p:sp>
        <p:nvSpPr>
          <p:cNvPr id="7" name="Text 4"/>
          <p:cNvSpPr/>
          <p:nvPr/>
        </p:nvSpPr>
        <p:spPr>
          <a:xfrm>
            <a:off x="1778000" y="1366509"/>
            <a:ext cx="98892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 long-running keylogger hidden in fake business emails</a:t>
            </a:r>
            <a:endParaRPr lang="en-US" sz="1400" dirty="0"/>
          </a:p>
        </p:txBody>
      </p:sp>
      <p:sp>
        <p:nvSpPr>
          <p:cNvPr id="8" name="Shape 5"/>
          <p:cNvSpPr/>
          <p:nvPr/>
        </p:nvSpPr>
        <p:spPr>
          <a:xfrm>
            <a:off x="812800" y="1818618"/>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9" name="Shape 6"/>
          <p:cNvSpPr/>
          <p:nvPr/>
        </p:nvSpPr>
        <p:spPr>
          <a:xfrm>
            <a:off x="812800" y="1818618"/>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78D4"/>
          </a:solidFill>
          <a:ln/>
        </p:spPr>
      </p:sp>
      <p:sp>
        <p:nvSpPr>
          <p:cNvPr id="10" name="Shape 7"/>
          <p:cNvSpPr/>
          <p:nvPr/>
        </p:nvSpPr>
        <p:spPr>
          <a:xfrm>
            <a:off x="1016000" y="2009118"/>
            <a:ext cx="330200" cy="330200"/>
          </a:xfrm>
          <a:prstGeom prst="roundRect">
            <a:avLst>
              <a:gd name="adj" fmla="val 50000"/>
            </a:avLst>
          </a:prstGeom>
          <a:solidFill>
            <a:srgbClr val="EAF3FC"/>
          </a:solidFill>
          <a:ln/>
        </p:spPr>
      </p:sp>
      <p:pic>
        <p:nvPicPr>
          <p:cNvPr id="11" name="Image 1" descr="cpu icon">    </p:cNvPr>
          <p:cNvPicPr>
            <a:picLocks noChangeAspect="1"/>
          </p:cNvPicPr>
          <p:nvPr/>
        </p:nvPicPr>
        <p:blipFill>
          <a:blip r:embed="rId2"/>
          <a:srcRect l="0" r="0" t="0" b="0"/>
          <a:stretch/>
        </p:blipFill>
        <p:spPr>
          <a:xfrm>
            <a:off x="1092200" y="2085318"/>
            <a:ext cx="177800" cy="177800"/>
          </a:xfrm>
          <a:prstGeom prst="rect">
            <a:avLst/>
          </a:prstGeom>
        </p:spPr>
      </p:pic>
      <p:sp>
        <p:nvSpPr>
          <p:cNvPr id="12" name="Text 8"/>
          <p:cNvSpPr/>
          <p:nvPr/>
        </p:nvSpPr>
        <p:spPr>
          <a:xfrm>
            <a:off x="1447800" y="2067520"/>
            <a:ext cx="1269127"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BEHAVIOUR</a:t>
            </a:r>
            <a:endParaRPr lang="en-US" sz="1400" dirty="0"/>
          </a:p>
        </p:txBody>
      </p:sp>
      <p:sp>
        <p:nvSpPr>
          <p:cNvPr id="13" name="Text 9"/>
          <p:cNvSpPr/>
          <p:nvPr/>
        </p:nvSpPr>
        <p:spPr>
          <a:xfrm>
            <a:off x="1086358" y="2428218"/>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Logs keystrokes and captures screenshots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Steals logins from browsers, email, FTP and VPN</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Sends data out by email, FTP or Telegram</a:t>
            </a:r>
            <a:endParaRPr lang="en-US" sz="1600" dirty="0"/>
          </a:p>
        </p:txBody>
      </p:sp>
      <p:sp>
        <p:nvSpPr>
          <p:cNvPr id="14" name="Shape 10"/>
          <p:cNvSpPr/>
          <p:nvPr/>
        </p:nvSpPr>
        <p:spPr>
          <a:xfrm>
            <a:off x="6172200" y="1818618"/>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15" name="Shape 11"/>
          <p:cNvSpPr/>
          <p:nvPr/>
        </p:nvSpPr>
        <p:spPr>
          <a:xfrm>
            <a:off x="6172200" y="1818618"/>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F7630C"/>
          </a:solidFill>
          <a:ln/>
        </p:spPr>
      </p:sp>
      <p:sp>
        <p:nvSpPr>
          <p:cNvPr id="16" name="Shape 12"/>
          <p:cNvSpPr/>
          <p:nvPr/>
        </p:nvSpPr>
        <p:spPr>
          <a:xfrm>
            <a:off x="6375400" y="2009118"/>
            <a:ext cx="330200" cy="330200"/>
          </a:xfrm>
          <a:prstGeom prst="roundRect">
            <a:avLst>
              <a:gd name="adj" fmla="val 50000"/>
            </a:avLst>
          </a:prstGeom>
          <a:solidFill>
            <a:srgbClr val="FDEBDD"/>
          </a:solidFill>
          <a:ln/>
        </p:spPr>
      </p:sp>
      <p:pic>
        <p:nvPicPr>
          <p:cNvPr id="17" name="Image 2" descr="alert icon">    </p:cNvPr>
          <p:cNvPicPr>
            <a:picLocks noChangeAspect="1"/>
          </p:cNvPicPr>
          <p:nvPr/>
        </p:nvPicPr>
        <p:blipFill>
          <a:blip r:embed="rId3"/>
          <a:srcRect l="0" r="0" t="0" b="0"/>
          <a:stretch/>
        </p:blipFill>
        <p:spPr>
          <a:xfrm>
            <a:off x="6451600" y="2085318"/>
            <a:ext cx="177800" cy="177800"/>
          </a:xfrm>
          <a:prstGeom prst="rect">
            <a:avLst/>
          </a:prstGeom>
        </p:spPr>
      </p:pic>
      <p:sp>
        <p:nvSpPr>
          <p:cNvPr id="18" name="Text 13"/>
          <p:cNvSpPr/>
          <p:nvPr/>
        </p:nvSpPr>
        <p:spPr>
          <a:xfrm>
            <a:off x="6807200" y="2067520"/>
            <a:ext cx="826056"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F7630C"/>
                </a:solidFill>
                <a:latin typeface="Calibri" pitchFamily="34" charset="0"/>
                <a:ea typeface="Calibri" pitchFamily="34" charset="-122"/>
                <a:cs typeface="Calibri" pitchFamily="34" charset="-120"/>
              </a:rPr>
              <a:t>IMPACT</a:t>
            </a:r>
            <a:endParaRPr lang="en-US" sz="1400" dirty="0"/>
          </a:p>
        </p:txBody>
      </p:sp>
      <p:sp>
        <p:nvSpPr>
          <p:cNvPr id="19" name="Text 14"/>
          <p:cNvSpPr/>
          <p:nvPr/>
        </p:nvSpPr>
        <p:spPr>
          <a:xfrm>
            <a:off x="6445758" y="2428218"/>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Email account takeover and BEC fraud</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Stolen VPN logins give network access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Sensitive documents exposed</a:t>
            </a:r>
            <a:endParaRPr lang="en-US" sz="1600" dirty="0"/>
          </a:p>
        </p:txBody>
      </p:sp>
      <p:sp>
        <p:nvSpPr>
          <p:cNvPr id="20" name="Shape 15"/>
          <p:cNvSpPr/>
          <p:nvPr/>
        </p:nvSpPr>
        <p:spPr>
          <a:xfrm>
            <a:off x="812800" y="3586299"/>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6"/>
          <p:cNvSpPr/>
          <p:nvPr/>
        </p:nvSpPr>
        <p:spPr>
          <a:xfrm>
            <a:off x="812800" y="3586299"/>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B7C3"/>
          </a:solidFill>
          <a:ln/>
        </p:spPr>
      </p:sp>
      <p:sp>
        <p:nvSpPr>
          <p:cNvPr id="22" name="Shape 17"/>
          <p:cNvSpPr/>
          <p:nvPr/>
        </p:nvSpPr>
        <p:spPr>
          <a:xfrm>
            <a:off x="1016000" y="3776799"/>
            <a:ext cx="330200" cy="330200"/>
          </a:xfrm>
          <a:prstGeom prst="roundRect">
            <a:avLst>
              <a:gd name="adj" fmla="val 50000"/>
            </a:avLst>
          </a:prstGeom>
          <a:solidFill>
            <a:srgbClr val="DDF5F7"/>
          </a:solidFill>
          <a:ln/>
        </p:spPr>
      </p:sp>
      <p:pic>
        <p:nvPicPr>
          <p:cNvPr id="23" name="Image 3" descr="wrench icon">    </p:cNvPr>
          <p:cNvPicPr>
            <a:picLocks noChangeAspect="1"/>
          </p:cNvPicPr>
          <p:nvPr/>
        </p:nvPicPr>
        <p:blipFill>
          <a:blip r:embed="rId4"/>
          <a:srcRect l="0" r="0" t="0" b="0"/>
          <a:stretch/>
        </p:blipFill>
        <p:spPr>
          <a:xfrm>
            <a:off x="1092200" y="3852999"/>
            <a:ext cx="177800" cy="177800"/>
          </a:xfrm>
          <a:prstGeom prst="rect">
            <a:avLst/>
          </a:prstGeom>
        </p:spPr>
      </p:pic>
      <p:sp>
        <p:nvSpPr>
          <p:cNvPr id="24" name="Text 18"/>
          <p:cNvSpPr/>
          <p:nvPr/>
        </p:nvSpPr>
        <p:spPr>
          <a:xfrm>
            <a:off x="1447800" y="3835202"/>
            <a:ext cx="151757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C85"/>
                </a:solidFill>
                <a:latin typeface="Calibri" pitchFamily="34" charset="0"/>
                <a:ea typeface="Calibri" pitchFamily="34" charset="-122"/>
                <a:cs typeface="Calibri" pitchFamily="34" charset="-120"/>
              </a:rPr>
              <a:t>REMEDIATION</a:t>
            </a:r>
            <a:endParaRPr lang="en-US" sz="1400" dirty="0"/>
          </a:p>
        </p:txBody>
      </p:sp>
      <p:sp>
        <p:nvSpPr>
          <p:cNvPr id="25" name="Text 19"/>
          <p:cNvSpPr/>
          <p:nvPr/>
        </p:nvSpPr>
        <p:spPr>
          <a:xfrm>
            <a:off x="10863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Isolate and reimage the device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Reset email, VPN and app passwords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Check mailbox rules for hidden forwarding</a:t>
            </a:r>
            <a:endParaRPr lang="en-US" sz="1600" dirty="0"/>
          </a:p>
        </p:txBody>
      </p:sp>
      <p:sp>
        <p:nvSpPr>
          <p:cNvPr id="26" name="Shape 20"/>
          <p:cNvSpPr/>
          <p:nvPr/>
        </p:nvSpPr>
        <p:spPr>
          <a:xfrm>
            <a:off x="6172200" y="3586299"/>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7" name="Shape 21"/>
          <p:cNvSpPr/>
          <p:nvPr/>
        </p:nvSpPr>
        <p:spPr>
          <a:xfrm>
            <a:off x="6172200" y="3586299"/>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13294B"/>
          </a:solidFill>
          <a:ln/>
        </p:spPr>
      </p:sp>
      <p:sp>
        <p:nvSpPr>
          <p:cNvPr id="28" name="Shape 22"/>
          <p:cNvSpPr/>
          <p:nvPr/>
        </p:nvSpPr>
        <p:spPr>
          <a:xfrm>
            <a:off x="6375400" y="3776799"/>
            <a:ext cx="330200" cy="330200"/>
          </a:xfrm>
          <a:prstGeom prst="roundRect">
            <a:avLst>
              <a:gd name="adj" fmla="val 50000"/>
            </a:avLst>
          </a:prstGeom>
          <a:solidFill>
            <a:srgbClr val="EAF3FC"/>
          </a:solidFill>
          <a:ln/>
        </p:spPr>
      </p:sp>
      <p:pic>
        <p:nvPicPr>
          <p:cNvPr id="29" name="Image 4" descr="shield icon">    </p:cNvPr>
          <p:cNvPicPr>
            <a:picLocks noChangeAspect="1"/>
          </p:cNvPicPr>
          <p:nvPr/>
        </p:nvPicPr>
        <p:blipFill>
          <a:blip r:embed="rId5"/>
          <a:srcRect l="0" r="0" t="0" b="0"/>
          <a:stretch/>
        </p:blipFill>
        <p:spPr>
          <a:xfrm>
            <a:off x="6451600" y="3852999"/>
            <a:ext cx="177800" cy="177800"/>
          </a:xfrm>
          <a:prstGeom prst="rect">
            <a:avLst/>
          </a:prstGeom>
        </p:spPr>
      </p:pic>
      <p:sp>
        <p:nvSpPr>
          <p:cNvPr id="30" name="Text 23"/>
          <p:cNvSpPr/>
          <p:nvPr/>
        </p:nvSpPr>
        <p:spPr>
          <a:xfrm>
            <a:off x="6807200" y="3835202"/>
            <a:ext cx="1384538"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PREVENTION</a:t>
            </a:r>
            <a:endParaRPr lang="en-US" sz="1400" dirty="0"/>
          </a:p>
        </p:txBody>
      </p:sp>
      <p:sp>
        <p:nvSpPr>
          <p:cNvPr id="31" name="Text 24"/>
          <p:cNvSpPr/>
          <p:nvPr/>
        </p:nvSpPr>
        <p:spPr>
          <a:xfrm>
            <a:off x="64457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Treat unexpected invoices and quotes with care</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Block risky attachment types at the gateway</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Monitor unusual outbound SMTP and Telegram</a:t>
            </a:r>
            <a:endParaRPr lang="en-US" sz="1600" dirty="0"/>
          </a:p>
        </p:txBody>
      </p:sp>
      <p:sp>
        <p:nvSpPr>
          <p:cNvPr id="32"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vendor threat research</a:t>
            </a:r>
            <a:endParaRPr lang="en-US" sz="1200" dirty="0"/>
          </a:p>
        </p:txBody>
      </p:sp>
      <p:sp>
        <p:nvSpPr>
          <p:cNvPr id="33"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TOP 10 · #10 OF 10</a:t>
            </a:r>
            <a:endParaRPr lang="en-US" sz="1200" dirty="0"/>
          </a:p>
        </p:txBody>
      </p:sp>
      <p:sp>
        <p:nvSpPr>
          <p:cNvPr id="4" name="Text 1"/>
          <p:cNvSpPr/>
          <p:nvPr/>
        </p:nvSpPr>
        <p:spPr>
          <a:xfrm>
            <a:off x="812800" y="833109"/>
            <a:ext cx="762000" cy="762000"/>
          </a:xfrm>
          <a:prstGeom prst="roundRect">
            <a:avLst>
              <a:gd name="adj" fmla="val 20000"/>
            </a:avLst>
          </a:prstGeom>
          <a:solidFill>
            <a:srgbClr val="0A1628"/>
          </a:solidFill>
          <a:ln/>
        </p:spPr>
        <p:txBody>
          <a:bodyPr wrap="square" lIns="0" tIns="0" rIns="0" bIns="0" rtlCol="0" anchor="ctr">
            <a:normAutofit/>
          </a:bodyPr>
          <a:lstStyle/>
          <a:p>
            <a:pPr algn="ctr" indent="0" marL="0">
              <a:lnSpc>
                <a:spcPts val="3920"/>
              </a:lnSpc>
              <a:buNone/>
            </a:pPr>
            <a:r>
              <a:rPr lang="en-US" sz="2800" b="1" dirty="0">
                <a:solidFill>
                  <a:srgbClr val="00B7C3"/>
                </a:solidFill>
                <a:latin typeface="Arial" pitchFamily="34" charset="0"/>
                <a:ea typeface="Arial" pitchFamily="34" charset="-122"/>
                <a:cs typeface="Arial" pitchFamily="34" charset="-120"/>
              </a:rPr>
              <a:t>10</a:t>
            </a:r>
            <a:endParaRPr lang="en-US" sz="2800" dirty="0"/>
          </a:p>
        </p:txBody>
      </p:sp>
      <p:sp>
        <p:nvSpPr>
          <p:cNvPr id="5" name="Text 2"/>
          <p:cNvSpPr/>
          <p:nvPr>
            <p:ph type="title"/>
          </p:nvPr>
        </p:nvSpPr>
        <p:spPr>
          <a:xfrm>
            <a:off x="1778000" y="812800"/>
            <a:ext cx="299700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DonutLoader</a:t>
            </a:r>
            <a:endParaRPr lang="en-US" sz="3600" dirty="0"/>
          </a:p>
        </p:txBody>
      </p:sp>
      <p:sp>
        <p:nvSpPr>
          <p:cNvPr id="6" name="Text 3"/>
          <p:cNvSpPr/>
          <p:nvPr/>
        </p:nvSpPr>
        <p:spPr>
          <a:xfrm>
            <a:off x="4784527" y="912087"/>
            <a:ext cx="703130" cy="304337"/>
          </a:xfrm>
          <a:prstGeom prst="roundRect">
            <a:avLst>
              <a:gd name="adj" fmla="val 50000"/>
            </a:avLst>
          </a:prstGeom>
          <a:noFill/>
          <a:ln w="19050">
            <a:solidFill>
              <a:srgbClr val="13294B"/>
            </a:solidFill>
            <a:prstDash val="solid"/>
          </a:ln>
        </p:spPr>
        <p:txBody>
          <a:bodyPr wrap="none" lIns="0" tIns="0" rIns="0" bIns="0" rtlCol="0" anchor="ctr">
            <a:normAutofit/>
          </a:bodyPr>
          <a:lstStyle/>
          <a:p>
            <a:pPr algn="ctr" indent="0" marL="0">
              <a:lnSpc>
                <a:spcPts val="1680"/>
              </a:lnSpc>
              <a:buNone/>
            </a:pPr>
            <a:r>
              <a:rPr lang="en-US" sz="1200" b="1" dirty="0">
                <a:solidFill>
                  <a:srgbClr val="13294B"/>
                </a:solidFill>
                <a:latin typeface="Calibri" pitchFamily="34" charset="0"/>
                <a:ea typeface="Calibri" pitchFamily="34" charset="-122"/>
                <a:cs typeface="Calibri" pitchFamily="34" charset="-120"/>
              </a:rPr>
              <a:t>Loader</a:t>
            </a:r>
            <a:endParaRPr lang="en-US" sz="1200" dirty="0"/>
          </a:p>
        </p:txBody>
      </p:sp>
      <p:sp>
        <p:nvSpPr>
          <p:cNvPr id="7" name="Text 4"/>
          <p:cNvSpPr/>
          <p:nvPr/>
        </p:nvSpPr>
        <p:spPr>
          <a:xfrm>
            <a:off x="1778000" y="1366509"/>
            <a:ext cx="98892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 loader that runs other malware directly in memory</a:t>
            </a:r>
            <a:endParaRPr lang="en-US" sz="1400" dirty="0"/>
          </a:p>
        </p:txBody>
      </p:sp>
      <p:sp>
        <p:nvSpPr>
          <p:cNvPr id="8" name="Shape 5"/>
          <p:cNvSpPr/>
          <p:nvPr/>
        </p:nvSpPr>
        <p:spPr>
          <a:xfrm>
            <a:off x="812800" y="1818618"/>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9" name="Shape 6"/>
          <p:cNvSpPr/>
          <p:nvPr/>
        </p:nvSpPr>
        <p:spPr>
          <a:xfrm>
            <a:off x="812800" y="1818618"/>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78D4"/>
          </a:solidFill>
          <a:ln/>
        </p:spPr>
      </p:sp>
      <p:sp>
        <p:nvSpPr>
          <p:cNvPr id="10" name="Shape 7"/>
          <p:cNvSpPr/>
          <p:nvPr/>
        </p:nvSpPr>
        <p:spPr>
          <a:xfrm>
            <a:off x="1016000" y="2009118"/>
            <a:ext cx="330200" cy="330200"/>
          </a:xfrm>
          <a:prstGeom prst="roundRect">
            <a:avLst>
              <a:gd name="adj" fmla="val 50000"/>
            </a:avLst>
          </a:prstGeom>
          <a:solidFill>
            <a:srgbClr val="EAF3FC"/>
          </a:solidFill>
          <a:ln/>
        </p:spPr>
      </p:sp>
      <p:pic>
        <p:nvPicPr>
          <p:cNvPr id="11" name="Image 1" descr="cpu icon">    </p:cNvPr>
          <p:cNvPicPr>
            <a:picLocks noChangeAspect="1"/>
          </p:cNvPicPr>
          <p:nvPr/>
        </p:nvPicPr>
        <p:blipFill>
          <a:blip r:embed="rId2"/>
          <a:srcRect l="0" r="0" t="0" b="0"/>
          <a:stretch/>
        </p:blipFill>
        <p:spPr>
          <a:xfrm>
            <a:off x="1092200" y="2085318"/>
            <a:ext cx="177800" cy="177800"/>
          </a:xfrm>
          <a:prstGeom prst="rect">
            <a:avLst/>
          </a:prstGeom>
        </p:spPr>
      </p:pic>
      <p:sp>
        <p:nvSpPr>
          <p:cNvPr id="12" name="Text 8"/>
          <p:cNvSpPr/>
          <p:nvPr/>
        </p:nvSpPr>
        <p:spPr>
          <a:xfrm>
            <a:off x="1447800" y="2067520"/>
            <a:ext cx="1269127"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BEHAVIOUR</a:t>
            </a:r>
            <a:endParaRPr lang="en-US" sz="1400" dirty="0"/>
          </a:p>
        </p:txBody>
      </p:sp>
      <p:sp>
        <p:nvSpPr>
          <p:cNvPr id="13" name="Text 9"/>
          <p:cNvSpPr/>
          <p:nvPr/>
        </p:nvSpPr>
        <p:spPr>
          <a:xfrm>
            <a:off x="1086358" y="2428218"/>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Built on the open-source Donut shellcode tool</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Loads RATs and stealers straight into memory</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Leaves few files on disk to scan</a:t>
            </a:r>
            <a:endParaRPr lang="en-US" sz="1600" dirty="0"/>
          </a:p>
        </p:txBody>
      </p:sp>
      <p:sp>
        <p:nvSpPr>
          <p:cNvPr id="14" name="Shape 10"/>
          <p:cNvSpPr/>
          <p:nvPr/>
        </p:nvSpPr>
        <p:spPr>
          <a:xfrm>
            <a:off x="6172200" y="1818618"/>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15" name="Shape 11"/>
          <p:cNvSpPr/>
          <p:nvPr/>
        </p:nvSpPr>
        <p:spPr>
          <a:xfrm>
            <a:off x="6172200" y="1818618"/>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F7630C"/>
          </a:solidFill>
          <a:ln/>
        </p:spPr>
      </p:sp>
      <p:sp>
        <p:nvSpPr>
          <p:cNvPr id="16" name="Shape 12"/>
          <p:cNvSpPr/>
          <p:nvPr/>
        </p:nvSpPr>
        <p:spPr>
          <a:xfrm>
            <a:off x="6375400" y="2009118"/>
            <a:ext cx="330200" cy="330200"/>
          </a:xfrm>
          <a:prstGeom prst="roundRect">
            <a:avLst>
              <a:gd name="adj" fmla="val 50000"/>
            </a:avLst>
          </a:prstGeom>
          <a:solidFill>
            <a:srgbClr val="FDEBDD"/>
          </a:solidFill>
          <a:ln/>
        </p:spPr>
      </p:sp>
      <p:pic>
        <p:nvPicPr>
          <p:cNvPr id="17" name="Image 2" descr="alert icon">    </p:cNvPr>
          <p:cNvPicPr>
            <a:picLocks noChangeAspect="1"/>
          </p:cNvPicPr>
          <p:nvPr/>
        </p:nvPicPr>
        <p:blipFill>
          <a:blip r:embed="rId3"/>
          <a:srcRect l="0" r="0" t="0" b="0"/>
          <a:stretch/>
        </p:blipFill>
        <p:spPr>
          <a:xfrm>
            <a:off x="6451600" y="2085318"/>
            <a:ext cx="177800" cy="177800"/>
          </a:xfrm>
          <a:prstGeom prst="rect">
            <a:avLst/>
          </a:prstGeom>
        </p:spPr>
      </p:pic>
      <p:sp>
        <p:nvSpPr>
          <p:cNvPr id="18" name="Text 13"/>
          <p:cNvSpPr/>
          <p:nvPr/>
        </p:nvSpPr>
        <p:spPr>
          <a:xfrm>
            <a:off x="6807200" y="2067520"/>
            <a:ext cx="826056"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F7630C"/>
                </a:solidFill>
                <a:latin typeface="Calibri" pitchFamily="34" charset="0"/>
                <a:ea typeface="Calibri" pitchFamily="34" charset="-122"/>
                <a:cs typeface="Calibri" pitchFamily="34" charset="-120"/>
              </a:rPr>
              <a:t>IMPACT</a:t>
            </a:r>
            <a:endParaRPr lang="en-US" sz="1400" dirty="0"/>
          </a:p>
        </p:txBody>
      </p:sp>
      <p:sp>
        <p:nvSpPr>
          <p:cNvPr id="19" name="Text 14"/>
          <p:cNvSpPr/>
          <p:nvPr/>
        </p:nvSpPr>
        <p:spPr>
          <a:xfrm>
            <a:off x="6445758" y="2428218"/>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Delivers other malware on this list</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Evades file-based antivirus</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Often the first stage of a larger attack</a:t>
            </a:r>
            <a:endParaRPr lang="en-US" sz="1600" dirty="0"/>
          </a:p>
        </p:txBody>
      </p:sp>
      <p:sp>
        <p:nvSpPr>
          <p:cNvPr id="20" name="Shape 15"/>
          <p:cNvSpPr/>
          <p:nvPr/>
        </p:nvSpPr>
        <p:spPr>
          <a:xfrm>
            <a:off x="812800" y="3586299"/>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6"/>
          <p:cNvSpPr/>
          <p:nvPr/>
        </p:nvSpPr>
        <p:spPr>
          <a:xfrm>
            <a:off x="812800" y="3586299"/>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00B7C3"/>
          </a:solidFill>
          <a:ln/>
        </p:spPr>
      </p:sp>
      <p:sp>
        <p:nvSpPr>
          <p:cNvPr id="22" name="Shape 17"/>
          <p:cNvSpPr/>
          <p:nvPr/>
        </p:nvSpPr>
        <p:spPr>
          <a:xfrm>
            <a:off x="1016000" y="3776799"/>
            <a:ext cx="330200" cy="330200"/>
          </a:xfrm>
          <a:prstGeom prst="roundRect">
            <a:avLst>
              <a:gd name="adj" fmla="val 50000"/>
            </a:avLst>
          </a:prstGeom>
          <a:solidFill>
            <a:srgbClr val="DDF5F7"/>
          </a:solidFill>
          <a:ln/>
        </p:spPr>
      </p:sp>
      <p:pic>
        <p:nvPicPr>
          <p:cNvPr id="23" name="Image 3" descr="wrench icon">    </p:cNvPr>
          <p:cNvPicPr>
            <a:picLocks noChangeAspect="1"/>
          </p:cNvPicPr>
          <p:nvPr/>
        </p:nvPicPr>
        <p:blipFill>
          <a:blip r:embed="rId4"/>
          <a:srcRect l="0" r="0" t="0" b="0"/>
          <a:stretch/>
        </p:blipFill>
        <p:spPr>
          <a:xfrm>
            <a:off x="1092200" y="3852999"/>
            <a:ext cx="177800" cy="177800"/>
          </a:xfrm>
          <a:prstGeom prst="rect">
            <a:avLst/>
          </a:prstGeom>
        </p:spPr>
      </p:pic>
      <p:sp>
        <p:nvSpPr>
          <p:cNvPr id="24" name="Text 18"/>
          <p:cNvSpPr/>
          <p:nvPr/>
        </p:nvSpPr>
        <p:spPr>
          <a:xfrm>
            <a:off x="1447800" y="3835202"/>
            <a:ext cx="151757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C85"/>
                </a:solidFill>
                <a:latin typeface="Calibri" pitchFamily="34" charset="0"/>
                <a:ea typeface="Calibri" pitchFamily="34" charset="-122"/>
                <a:cs typeface="Calibri" pitchFamily="34" charset="-120"/>
              </a:rPr>
              <a:t>REMEDIATION</a:t>
            </a:r>
            <a:endParaRPr lang="en-US" sz="1400" dirty="0"/>
          </a:p>
        </p:txBody>
      </p:sp>
      <p:sp>
        <p:nvSpPr>
          <p:cNvPr id="25" name="Text 19"/>
          <p:cNvSpPr/>
          <p:nvPr/>
        </p:nvSpPr>
        <p:spPr>
          <a:xfrm>
            <a:off x="10863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Use EDR memory and behaviour telemetry</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Find and remove the final payload too</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Reimage when in doubt</a:t>
            </a:r>
            <a:endParaRPr lang="en-US" sz="1600" dirty="0"/>
          </a:p>
        </p:txBody>
      </p:sp>
      <p:sp>
        <p:nvSpPr>
          <p:cNvPr id="26" name="Shape 20"/>
          <p:cNvSpPr/>
          <p:nvPr/>
        </p:nvSpPr>
        <p:spPr>
          <a:xfrm>
            <a:off x="6172200" y="3586299"/>
            <a:ext cx="5207000" cy="1615281"/>
          </a:xfrm>
          <a:prstGeom prst="roundRect">
            <a:avLst>
              <a:gd name="adj" fmla="val 6290"/>
            </a:avLst>
          </a:prstGeom>
          <a:solidFill>
            <a:srgbClr val="FFFFFF"/>
          </a:solidFill>
          <a:ln/>
          <a:effectLst>
            <a:outerShdw sx="100000" sy="100000" kx="0" ky="0" algn="bl" rotWithShape="0" blurRad="101600" dist="25400" dir="5400000">
              <a:srgbClr val="C9D6E3">
                <a:alpha val="100000"/>
              </a:srgbClr>
            </a:outerShdw>
          </a:effectLst>
        </p:spPr>
      </p:sp>
      <p:sp>
        <p:nvSpPr>
          <p:cNvPr id="27" name="Shape 21"/>
          <p:cNvSpPr/>
          <p:nvPr/>
        </p:nvSpPr>
        <p:spPr>
          <a:xfrm>
            <a:off x="6172200" y="3586299"/>
            <a:ext cx="5207000" cy="1615281"/>
          </a:xfrm>
          <a:custGeom>
            <a:avLst/>
            <a:gdLst/>
            <a:ahLst/>
            <a:cxnLst/>
            <a:rect l="l" t="t" r="r" b="b"/>
            <a:pathLst>
              <a:path w="5207000" h="1615281">
                <a:moveTo>
                  <a:pt x="0" y="101600"/>
                </a:moveTo>
                <a:lnTo>
                  <a:pt x="0" y="101600"/>
                </a:lnTo>
                <a:arcTo hR="101600" wR="101600" stAng="10800000" swAng="5400000"/>
                <a:lnTo>
                  <a:pt x="5105400" y="0"/>
                </a:lnTo>
                <a:arcTo hR="101600" wR="101600" stAng="16200000" swAng="5400000"/>
                <a:lnTo>
                  <a:pt x="5207000" y="101600"/>
                </a:lnTo>
                <a:arcTo hR="63500" wR="101600" stAng="0" swAng="-5400000"/>
                <a:lnTo>
                  <a:pt x="101600" y="38100"/>
                </a:lnTo>
                <a:arcTo hR="63500" wR="101600" stAng="16200000" swAng="-5400000"/>
                <a:close/>
              </a:path>
            </a:pathLst>
          </a:custGeom>
          <a:solidFill>
            <a:srgbClr val="13294B"/>
          </a:solidFill>
          <a:ln/>
        </p:spPr>
      </p:sp>
      <p:sp>
        <p:nvSpPr>
          <p:cNvPr id="28" name="Shape 22"/>
          <p:cNvSpPr/>
          <p:nvPr/>
        </p:nvSpPr>
        <p:spPr>
          <a:xfrm>
            <a:off x="6375400" y="3776799"/>
            <a:ext cx="330200" cy="330200"/>
          </a:xfrm>
          <a:prstGeom prst="roundRect">
            <a:avLst>
              <a:gd name="adj" fmla="val 50000"/>
            </a:avLst>
          </a:prstGeom>
          <a:solidFill>
            <a:srgbClr val="EAF3FC"/>
          </a:solidFill>
          <a:ln/>
        </p:spPr>
      </p:sp>
      <p:pic>
        <p:nvPicPr>
          <p:cNvPr id="29" name="Image 4" descr="shield icon">    </p:cNvPr>
          <p:cNvPicPr>
            <a:picLocks noChangeAspect="1"/>
          </p:cNvPicPr>
          <p:nvPr/>
        </p:nvPicPr>
        <p:blipFill>
          <a:blip r:embed="rId5"/>
          <a:srcRect l="0" r="0" t="0" b="0"/>
          <a:stretch/>
        </p:blipFill>
        <p:spPr>
          <a:xfrm>
            <a:off x="6451600" y="3852999"/>
            <a:ext cx="177800" cy="177800"/>
          </a:xfrm>
          <a:prstGeom prst="rect">
            <a:avLst/>
          </a:prstGeom>
        </p:spPr>
      </p:pic>
      <p:sp>
        <p:nvSpPr>
          <p:cNvPr id="30" name="Text 23"/>
          <p:cNvSpPr/>
          <p:nvPr/>
        </p:nvSpPr>
        <p:spPr>
          <a:xfrm>
            <a:off x="6807200" y="3835202"/>
            <a:ext cx="1384538"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PREVENTION</a:t>
            </a:r>
            <a:endParaRPr lang="en-US" sz="1400" dirty="0"/>
          </a:p>
        </p:txBody>
      </p:sp>
      <p:sp>
        <p:nvSpPr>
          <p:cNvPr id="31" name="Text 24"/>
          <p:cNvSpPr/>
          <p:nvPr/>
        </p:nvSpPr>
        <p:spPr>
          <a:xfrm>
            <a:off x="6445758" y="4195899"/>
            <a:ext cx="4866640" cy="878681"/>
          </a:xfrm>
          <a:prstGeom prst="rect">
            <a:avLst/>
          </a:prstGeom>
          <a:noFill/>
          <a:ln/>
        </p:spPr>
        <p:txBody>
          <a:bodyPr wrap="square" lIns="0" tIns="0" rIns="0" bIns="0" rtlCol="0" anchor="t">
            <a:normAutofit/>
          </a:bodyPr>
          <a:lstStyle/>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EDR with memory scanning and AMSI</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Application control (AppLocker or WDAC)</a:t>
            </a:r>
            <a:endParaRPr lang="en-US" sz="1600" dirty="0"/>
          </a:p>
          <a:p>
            <a:pPr algn="l" marL="183642" indent="-183642">
              <a:lnSpc>
                <a:spcPts val="2240"/>
              </a:lnSpc>
              <a:buSzPct val="100000"/>
              <a:buChar char="•"/>
            </a:pPr>
            <a:r>
              <a:rPr lang="en-US" sz="1600" dirty="0">
                <a:solidFill>
                  <a:srgbClr val="0B1F33"/>
                </a:solidFill>
                <a:latin typeface="Calibri" pitchFamily="34" charset="0"/>
                <a:ea typeface="Calibri" pitchFamily="34" charset="-122"/>
                <a:cs typeface="Calibri" pitchFamily="34" charset="-120"/>
              </a:rPr>
              <a:t>Block script and shortcut attachments</a:t>
            </a:r>
            <a:endParaRPr lang="en-US" sz="1600" dirty="0"/>
          </a:p>
        </p:txBody>
      </p:sp>
      <p:sp>
        <p:nvSpPr>
          <p:cNvPr id="32"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ANY.RUN 2026 · vendor threat research</a:t>
            </a:r>
            <a:endParaRPr lang="en-US" sz="1200" dirty="0"/>
          </a:p>
        </p:txBody>
      </p:sp>
      <p:sp>
        <p:nvSpPr>
          <p:cNvPr id="33"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03 · IF WE ARE INFECTED</a:t>
            </a:r>
            <a:endParaRPr lang="en-US" sz="1200" dirty="0"/>
          </a:p>
        </p:txBody>
      </p:sp>
      <p:sp>
        <p:nvSpPr>
          <p:cNvPr id="4" name="Text 1"/>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Common remediation playbook</a:t>
            </a:r>
            <a:endParaRPr lang="en-US" sz="3600" dirty="0"/>
          </a:p>
        </p:txBody>
      </p:sp>
      <p:sp>
        <p:nvSpPr>
          <p:cNvPr id="5" name="Shape 2"/>
          <p:cNvSpPr/>
          <p:nvPr/>
        </p:nvSpPr>
        <p:spPr>
          <a:xfrm>
            <a:off x="812800" y="1569709"/>
            <a:ext cx="3420533" cy="1502304"/>
          </a:xfrm>
          <a:prstGeom prst="roundRect">
            <a:avLst>
              <a:gd name="adj" fmla="val 6763"/>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1016000" y="1722109"/>
            <a:ext cx="355600" cy="355600"/>
          </a:xfrm>
          <a:prstGeom prst="roundRect">
            <a:avLst>
              <a:gd name="adj" fmla="val 50000"/>
            </a:avLst>
          </a:prstGeom>
          <a:solidFill>
            <a:srgbClr val="0078D4"/>
          </a:solidFill>
          <a:ln/>
        </p:spPr>
      </p:sp>
      <p:pic>
        <p:nvPicPr>
          <p:cNvPr id="7" name="Image 1" descr="plug icon">    </p:cNvPr>
          <p:cNvPicPr>
            <a:picLocks noChangeAspect="1"/>
          </p:cNvPicPr>
          <p:nvPr/>
        </p:nvPicPr>
        <p:blipFill>
          <a:blip r:embed="rId2"/>
          <a:srcRect l="0" r="0" t="0" b="0"/>
          <a:stretch/>
        </p:blipFill>
        <p:spPr>
          <a:xfrm>
            <a:off x="1104900" y="1811009"/>
            <a:ext cx="177800" cy="177800"/>
          </a:xfrm>
          <a:prstGeom prst="rect">
            <a:avLst/>
          </a:prstGeom>
        </p:spPr>
      </p:pic>
      <p:sp>
        <p:nvSpPr>
          <p:cNvPr id="8" name="Text 4"/>
          <p:cNvSpPr/>
          <p:nvPr/>
        </p:nvSpPr>
        <p:spPr>
          <a:xfrm>
            <a:off x="3691043" y="1722109"/>
            <a:ext cx="33909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D6E2EE"/>
                </a:solidFill>
                <a:latin typeface="Arial" pitchFamily="34" charset="0"/>
                <a:ea typeface="Arial" pitchFamily="34" charset="-122"/>
                <a:cs typeface="Arial" pitchFamily="34" charset="-120"/>
              </a:rPr>
              <a:t>01</a:t>
            </a:r>
            <a:endParaRPr lang="en-US" sz="2000" dirty="0"/>
          </a:p>
        </p:txBody>
      </p:sp>
      <p:sp>
        <p:nvSpPr>
          <p:cNvPr id="9" name="Text 5"/>
          <p:cNvSpPr/>
          <p:nvPr/>
        </p:nvSpPr>
        <p:spPr>
          <a:xfrm>
            <a:off x="1016000" y="2153909"/>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Isolate</a:t>
            </a:r>
            <a:endParaRPr lang="en-US" sz="1600" dirty="0"/>
          </a:p>
        </p:txBody>
      </p:sp>
      <p:sp>
        <p:nvSpPr>
          <p:cNvPr id="10" name="Text 6"/>
          <p:cNvSpPr/>
          <p:nvPr/>
        </p:nvSpPr>
        <p:spPr>
          <a:xfrm>
            <a:off x="1016000" y="2473920"/>
            <a:ext cx="3104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Disconnect the device; isolate it with EDR.</a:t>
            </a:r>
            <a:endParaRPr lang="en-US" sz="1300" dirty="0"/>
          </a:p>
        </p:txBody>
      </p:sp>
      <p:sp>
        <p:nvSpPr>
          <p:cNvPr id="11" name="Shape 7"/>
          <p:cNvSpPr/>
          <p:nvPr/>
        </p:nvSpPr>
        <p:spPr>
          <a:xfrm>
            <a:off x="4385733" y="1569709"/>
            <a:ext cx="3420533" cy="1502304"/>
          </a:xfrm>
          <a:prstGeom prst="roundRect">
            <a:avLst>
              <a:gd name="adj" fmla="val 6763"/>
            </a:avLst>
          </a:prstGeom>
          <a:solidFill>
            <a:srgbClr val="FFFFFF"/>
          </a:solidFill>
          <a:ln/>
          <a:effectLst>
            <a:outerShdw sx="100000" sy="100000" kx="0" ky="0" algn="bl" rotWithShape="0" blurRad="101600" dist="25400" dir="5400000">
              <a:srgbClr val="C9D6E3">
                <a:alpha val="100000"/>
              </a:srgbClr>
            </a:outerShdw>
          </a:effectLst>
        </p:spPr>
      </p:sp>
      <p:sp>
        <p:nvSpPr>
          <p:cNvPr id="12" name="Shape 8"/>
          <p:cNvSpPr/>
          <p:nvPr/>
        </p:nvSpPr>
        <p:spPr>
          <a:xfrm>
            <a:off x="4588933" y="1722109"/>
            <a:ext cx="355600" cy="355600"/>
          </a:xfrm>
          <a:prstGeom prst="roundRect">
            <a:avLst>
              <a:gd name="adj" fmla="val 50000"/>
            </a:avLst>
          </a:prstGeom>
          <a:solidFill>
            <a:srgbClr val="0078D4"/>
          </a:solidFill>
          <a:ln/>
        </p:spPr>
      </p:sp>
      <p:pic>
        <p:nvPicPr>
          <p:cNvPr id="13" name="Image 2" descr="megaphone icon">    </p:cNvPr>
          <p:cNvPicPr>
            <a:picLocks noChangeAspect="1"/>
          </p:cNvPicPr>
          <p:nvPr/>
        </p:nvPicPr>
        <p:blipFill>
          <a:blip r:embed="rId3"/>
          <a:srcRect l="0" r="0" t="0" b="0"/>
          <a:stretch/>
        </p:blipFill>
        <p:spPr>
          <a:xfrm>
            <a:off x="4677833" y="1811009"/>
            <a:ext cx="177800" cy="177800"/>
          </a:xfrm>
          <a:prstGeom prst="rect">
            <a:avLst/>
          </a:prstGeom>
        </p:spPr>
      </p:pic>
      <p:sp>
        <p:nvSpPr>
          <p:cNvPr id="14" name="Text 9"/>
          <p:cNvSpPr/>
          <p:nvPr/>
        </p:nvSpPr>
        <p:spPr>
          <a:xfrm>
            <a:off x="7263977" y="1722109"/>
            <a:ext cx="33909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D6E2EE"/>
                </a:solidFill>
                <a:latin typeface="Arial" pitchFamily="34" charset="0"/>
                <a:ea typeface="Arial" pitchFamily="34" charset="-122"/>
                <a:cs typeface="Arial" pitchFamily="34" charset="-120"/>
              </a:rPr>
              <a:t>02</a:t>
            </a:r>
            <a:endParaRPr lang="en-US" sz="2000" dirty="0"/>
          </a:p>
        </p:txBody>
      </p:sp>
      <p:sp>
        <p:nvSpPr>
          <p:cNvPr id="15" name="Text 10"/>
          <p:cNvSpPr/>
          <p:nvPr/>
        </p:nvSpPr>
        <p:spPr>
          <a:xfrm>
            <a:off x="4588933" y="2153909"/>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Report</a:t>
            </a:r>
            <a:endParaRPr lang="en-US" sz="1600" dirty="0"/>
          </a:p>
        </p:txBody>
      </p:sp>
      <p:sp>
        <p:nvSpPr>
          <p:cNvPr id="16" name="Text 11"/>
          <p:cNvSpPr/>
          <p:nvPr/>
        </p:nvSpPr>
        <p:spPr>
          <a:xfrm>
            <a:off x="4588933" y="2473920"/>
            <a:ext cx="3104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Tell IT and Security on [contact] at once.</a:t>
            </a:r>
            <a:endParaRPr lang="en-US" sz="1300" dirty="0"/>
          </a:p>
        </p:txBody>
      </p:sp>
      <p:sp>
        <p:nvSpPr>
          <p:cNvPr id="17" name="Shape 12"/>
          <p:cNvSpPr/>
          <p:nvPr/>
        </p:nvSpPr>
        <p:spPr>
          <a:xfrm>
            <a:off x="7958667" y="1569709"/>
            <a:ext cx="3420533" cy="1502304"/>
          </a:xfrm>
          <a:prstGeom prst="roundRect">
            <a:avLst>
              <a:gd name="adj" fmla="val 6763"/>
            </a:avLst>
          </a:prstGeom>
          <a:solidFill>
            <a:srgbClr val="FFFFFF"/>
          </a:solidFill>
          <a:ln/>
          <a:effectLst>
            <a:outerShdw sx="100000" sy="100000" kx="0" ky="0" algn="bl" rotWithShape="0" blurRad="101600" dist="25400" dir="5400000">
              <a:srgbClr val="C9D6E3">
                <a:alpha val="100000"/>
              </a:srgbClr>
            </a:outerShdw>
          </a:effectLst>
        </p:spPr>
      </p:sp>
      <p:sp>
        <p:nvSpPr>
          <p:cNvPr id="18" name="Shape 13"/>
          <p:cNvSpPr/>
          <p:nvPr/>
        </p:nvSpPr>
        <p:spPr>
          <a:xfrm>
            <a:off x="8161867" y="1722109"/>
            <a:ext cx="355600" cy="355600"/>
          </a:xfrm>
          <a:prstGeom prst="roundRect">
            <a:avLst>
              <a:gd name="adj" fmla="val 50000"/>
            </a:avLst>
          </a:prstGeom>
          <a:solidFill>
            <a:srgbClr val="0078D4"/>
          </a:solidFill>
          <a:ln/>
        </p:spPr>
      </p:sp>
      <p:pic>
        <p:nvPicPr>
          <p:cNvPr id="19" name="Image 3" descr="search icon">    </p:cNvPr>
          <p:cNvPicPr>
            <a:picLocks noChangeAspect="1"/>
          </p:cNvPicPr>
          <p:nvPr/>
        </p:nvPicPr>
        <p:blipFill>
          <a:blip r:embed="rId4"/>
          <a:srcRect l="0" r="0" t="0" b="0"/>
          <a:stretch/>
        </p:blipFill>
        <p:spPr>
          <a:xfrm>
            <a:off x="8250767" y="1811009"/>
            <a:ext cx="177800" cy="177800"/>
          </a:xfrm>
          <a:prstGeom prst="rect">
            <a:avLst/>
          </a:prstGeom>
        </p:spPr>
      </p:pic>
      <p:sp>
        <p:nvSpPr>
          <p:cNvPr id="20" name="Text 14"/>
          <p:cNvSpPr/>
          <p:nvPr/>
        </p:nvSpPr>
        <p:spPr>
          <a:xfrm>
            <a:off x="10836910" y="1722109"/>
            <a:ext cx="33909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D6E2EE"/>
                </a:solidFill>
                <a:latin typeface="Arial" pitchFamily="34" charset="0"/>
                <a:ea typeface="Arial" pitchFamily="34" charset="-122"/>
                <a:cs typeface="Arial" pitchFamily="34" charset="-120"/>
              </a:rPr>
              <a:t>03</a:t>
            </a:r>
            <a:endParaRPr lang="en-US" sz="2000" dirty="0"/>
          </a:p>
        </p:txBody>
      </p:sp>
      <p:sp>
        <p:nvSpPr>
          <p:cNvPr id="21" name="Text 15"/>
          <p:cNvSpPr/>
          <p:nvPr/>
        </p:nvSpPr>
        <p:spPr>
          <a:xfrm>
            <a:off x="8161867" y="2153909"/>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Scope</a:t>
            </a:r>
            <a:endParaRPr lang="en-US" sz="1600" dirty="0"/>
          </a:p>
        </p:txBody>
      </p:sp>
      <p:sp>
        <p:nvSpPr>
          <p:cNvPr id="22" name="Text 16"/>
          <p:cNvSpPr/>
          <p:nvPr/>
        </p:nvSpPr>
        <p:spPr>
          <a:xfrm>
            <a:off x="8161867" y="2473920"/>
            <a:ext cx="310455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Find what ran, what was stolen and who is affected.</a:t>
            </a:r>
            <a:endParaRPr lang="en-US" sz="1300" dirty="0"/>
          </a:p>
        </p:txBody>
      </p:sp>
      <p:sp>
        <p:nvSpPr>
          <p:cNvPr id="23" name="Shape 17"/>
          <p:cNvSpPr/>
          <p:nvPr/>
        </p:nvSpPr>
        <p:spPr>
          <a:xfrm>
            <a:off x="812800" y="3224411"/>
            <a:ext cx="3420533" cy="1502304"/>
          </a:xfrm>
          <a:prstGeom prst="roundRect">
            <a:avLst>
              <a:gd name="adj" fmla="val 6763"/>
            </a:avLst>
          </a:prstGeom>
          <a:solidFill>
            <a:srgbClr val="FFFFFF"/>
          </a:solidFill>
          <a:ln/>
          <a:effectLst>
            <a:outerShdw sx="100000" sy="100000" kx="0" ky="0" algn="bl" rotWithShape="0" blurRad="101600" dist="25400" dir="5400000">
              <a:srgbClr val="C9D6E3">
                <a:alpha val="100000"/>
              </a:srgbClr>
            </a:outerShdw>
          </a:effectLst>
        </p:spPr>
      </p:sp>
      <p:sp>
        <p:nvSpPr>
          <p:cNvPr id="24" name="Shape 18"/>
          <p:cNvSpPr/>
          <p:nvPr/>
        </p:nvSpPr>
        <p:spPr>
          <a:xfrm>
            <a:off x="1016000" y="3376811"/>
            <a:ext cx="355600" cy="355600"/>
          </a:xfrm>
          <a:prstGeom prst="roundRect">
            <a:avLst>
              <a:gd name="adj" fmla="val 50000"/>
            </a:avLst>
          </a:prstGeom>
          <a:solidFill>
            <a:srgbClr val="0078D4"/>
          </a:solidFill>
          <a:ln/>
        </p:spPr>
      </p:sp>
      <p:pic>
        <p:nvPicPr>
          <p:cNvPr id="25" name="Image 4" descr="key icon">    </p:cNvPr>
          <p:cNvPicPr>
            <a:picLocks noChangeAspect="1"/>
          </p:cNvPicPr>
          <p:nvPr/>
        </p:nvPicPr>
        <p:blipFill>
          <a:blip r:embed="rId5"/>
          <a:srcRect l="0" r="0" t="0" b="0"/>
          <a:stretch/>
        </p:blipFill>
        <p:spPr>
          <a:xfrm>
            <a:off x="1104900" y="3465711"/>
            <a:ext cx="177800" cy="177800"/>
          </a:xfrm>
          <a:prstGeom prst="rect">
            <a:avLst/>
          </a:prstGeom>
        </p:spPr>
      </p:pic>
      <p:sp>
        <p:nvSpPr>
          <p:cNvPr id="26" name="Text 19"/>
          <p:cNvSpPr/>
          <p:nvPr/>
        </p:nvSpPr>
        <p:spPr>
          <a:xfrm>
            <a:off x="3691043" y="3376811"/>
            <a:ext cx="33909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D6E2EE"/>
                </a:solidFill>
                <a:latin typeface="Arial" pitchFamily="34" charset="0"/>
                <a:ea typeface="Arial" pitchFamily="34" charset="-122"/>
                <a:cs typeface="Arial" pitchFamily="34" charset="-120"/>
              </a:rPr>
              <a:t>04</a:t>
            </a:r>
            <a:endParaRPr lang="en-US" sz="2000" dirty="0"/>
          </a:p>
        </p:txBody>
      </p:sp>
      <p:sp>
        <p:nvSpPr>
          <p:cNvPr id="27" name="Text 20"/>
          <p:cNvSpPr/>
          <p:nvPr/>
        </p:nvSpPr>
        <p:spPr>
          <a:xfrm>
            <a:off x="1016000" y="3808611"/>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Revoke</a:t>
            </a:r>
            <a:endParaRPr lang="en-US" sz="1600" dirty="0"/>
          </a:p>
        </p:txBody>
      </p:sp>
      <p:sp>
        <p:nvSpPr>
          <p:cNvPr id="28" name="Text 21"/>
          <p:cNvSpPr/>
          <p:nvPr/>
        </p:nvSpPr>
        <p:spPr>
          <a:xfrm>
            <a:off x="1016000" y="4128629"/>
            <a:ext cx="310455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Reset passwords, revoke sessions, rotate tokens.</a:t>
            </a:r>
            <a:endParaRPr lang="en-US" sz="1300" dirty="0"/>
          </a:p>
        </p:txBody>
      </p:sp>
      <p:sp>
        <p:nvSpPr>
          <p:cNvPr id="29" name="Shape 22"/>
          <p:cNvSpPr/>
          <p:nvPr/>
        </p:nvSpPr>
        <p:spPr>
          <a:xfrm>
            <a:off x="4385733" y="3224411"/>
            <a:ext cx="3420533" cy="1502304"/>
          </a:xfrm>
          <a:prstGeom prst="roundRect">
            <a:avLst>
              <a:gd name="adj" fmla="val 6763"/>
            </a:avLst>
          </a:prstGeom>
          <a:solidFill>
            <a:srgbClr val="FFFFFF"/>
          </a:solidFill>
          <a:ln/>
          <a:effectLst>
            <a:outerShdw sx="100000" sy="100000" kx="0" ky="0" algn="bl" rotWithShape="0" blurRad="101600" dist="25400" dir="5400000">
              <a:srgbClr val="C9D6E3">
                <a:alpha val="100000"/>
              </a:srgbClr>
            </a:outerShdw>
          </a:effectLst>
        </p:spPr>
      </p:sp>
      <p:sp>
        <p:nvSpPr>
          <p:cNvPr id="30" name="Shape 23"/>
          <p:cNvSpPr/>
          <p:nvPr/>
        </p:nvSpPr>
        <p:spPr>
          <a:xfrm>
            <a:off x="4588933" y="3376811"/>
            <a:ext cx="355600" cy="355600"/>
          </a:xfrm>
          <a:prstGeom prst="roundRect">
            <a:avLst>
              <a:gd name="adj" fmla="val 50000"/>
            </a:avLst>
          </a:prstGeom>
          <a:solidFill>
            <a:srgbClr val="0078D4"/>
          </a:solidFill>
          <a:ln/>
        </p:spPr>
      </p:sp>
      <p:pic>
        <p:nvPicPr>
          <p:cNvPr id="31" name="Image 5" descr="refresh icon">    </p:cNvPr>
          <p:cNvPicPr>
            <a:picLocks noChangeAspect="1"/>
          </p:cNvPicPr>
          <p:nvPr/>
        </p:nvPicPr>
        <p:blipFill>
          <a:blip r:embed="rId6"/>
          <a:srcRect l="0" r="0" t="0" b="0"/>
          <a:stretch/>
        </p:blipFill>
        <p:spPr>
          <a:xfrm>
            <a:off x="4677833" y="3465711"/>
            <a:ext cx="177800" cy="177800"/>
          </a:xfrm>
          <a:prstGeom prst="rect">
            <a:avLst/>
          </a:prstGeom>
        </p:spPr>
      </p:pic>
      <p:sp>
        <p:nvSpPr>
          <p:cNvPr id="32" name="Text 24"/>
          <p:cNvSpPr/>
          <p:nvPr/>
        </p:nvSpPr>
        <p:spPr>
          <a:xfrm>
            <a:off x="7263977" y="3376811"/>
            <a:ext cx="33909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D6E2EE"/>
                </a:solidFill>
                <a:latin typeface="Arial" pitchFamily="34" charset="0"/>
                <a:ea typeface="Arial" pitchFamily="34" charset="-122"/>
                <a:cs typeface="Arial" pitchFamily="34" charset="-120"/>
              </a:rPr>
              <a:t>05</a:t>
            </a:r>
            <a:endParaRPr lang="en-US" sz="2000" dirty="0"/>
          </a:p>
        </p:txBody>
      </p:sp>
      <p:sp>
        <p:nvSpPr>
          <p:cNvPr id="33" name="Text 25"/>
          <p:cNvSpPr/>
          <p:nvPr/>
        </p:nvSpPr>
        <p:spPr>
          <a:xfrm>
            <a:off x="4588933" y="3808611"/>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Rebuild</a:t>
            </a:r>
            <a:endParaRPr lang="en-US" sz="1600" dirty="0"/>
          </a:p>
        </p:txBody>
      </p:sp>
      <p:sp>
        <p:nvSpPr>
          <p:cNvPr id="34" name="Text 26"/>
          <p:cNvSpPr/>
          <p:nvPr/>
        </p:nvSpPr>
        <p:spPr>
          <a:xfrm>
            <a:off x="4588933" y="4128629"/>
            <a:ext cx="3104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Reimage the device; remove all payloads.</a:t>
            </a:r>
            <a:endParaRPr lang="en-US" sz="1300" dirty="0"/>
          </a:p>
        </p:txBody>
      </p:sp>
      <p:sp>
        <p:nvSpPr>
          <p:cNvPr id="35" name="Shape 27"/>
          <p:cNvSpPr/>
          <p:nvPr/>
        </p:nvSpPr>
        <p:spPr>
          <a:xfrm>
            <a:off x="7958667" y="3224411"/>
            <a:ext cx="3420533" cy="1502304"/>
          </a:xfrm>
          <a:prstGeom prst="roundRect">
            <a:avLst>
              <a:gd name="adj" fmla="val 6763"/>
            </a:avLst>
          </a:prstGeom>
          <a:solidFill>
            <a:srgbClr val="FFFFFF"/>
          </a:solidFill>
          <a:ln/>
          <a:effectLst>
            <a:outerShdw sx="100000" sy="100000" kx="0" ky="0" algn="bl" rotWithShape="0" blurRad="101600" dist="25400" dir="5400000">
              <a:srgbClr val="C9D6E3">
                <a:alpha val="100000"/>
              </a:srgbClr>
            </a:outerShdw>
          </a:effectLst>
        </p:spPr>
      </p:sp>
      <p:sp>
        <p:nvSpPr>
          <p:cNvPr id="36" name="Shape 28"/>
          <p:cNvSpPr/>
          <p:nvPr/>
        </p:nvSpPr>
        <p:spPr>
          <a:xfrm>
            <a:off x="8161867" y="3376811"/>
            <a:ext cx="355600" cy="355600"/>
          </a:xfrm>
          <a:prstGeom prst="roundRect">
            <a:avLst>
              <a:gd name="adj" fmla="val 50000"/>
            </a:avLst>
          </a:prstGeom>
          <a:solidFill>
            <a:srgbClr val="0078D4"/>
          </a:solidFill>
          <a:ln/>
        </p:spPr>
      </p:sp>
      <p:pic>
        <p:nvPicPr>
          <p:cNvPr id="37" name="Image 6" descr="eye icon">    </p:cNvPr>
          <p:cNvPicPr>
            <a:picLocks noChangeAspect="1"/>
          </p:cNvPicPr>
          <p:nvPr/>
        </p:nvPicPr>
        <p:blipFill>
          <a:blip r:embed="rId7"/>
          <a:srcRect l="0" r="0" t="0" b="0"/>
          <a:stretch/>
        </p:blipFill>
        <p:spPr>
          <a:xfrm>
            <a:off x="8250767" y="3465711"/>
            <a:ext cx="177800" cy="177800"/>
          </a:xfrm>
          <a:prstGeom prst="rect">
            <a:avLst/>
          </a:prstGeom>
        </p:spPr>
      </p:pic>
      <p:sp>
        <p:nvSpPr>
          <p:cNvPr id="38" name="Text 29"/>
          <p:cNvSpPr/>
          <p:nvPr/>
        </p:nvSpPr>
        <p:spPr>
          <a:xfrm>
            <a:off x="10836910" y="3376811"/>
            <a:ext cx="339090" cy="381000"/>
          </a:xfrm>
          <a:prstGeom prst="rect">
            <a:avLst/>
          </a:prstGeom>
          <a:noFill/>
          <a:ln/>
        </p:spPr>
        <p:txBody>
          <a:bodyPr wrap="square" lIns="0" tIns="0" rIns="0" bIns="0" rtlCol="0" anchor="t">
            <a:normAutofit/>
          </a:bodyPr>
          <a:lstStyle/>
          <a:p>
            <a:pPr algn="r" indent="0" marL="0">
              <a:lnSpc>
                <a:spcPts val="2800"/>
              </a:lnSpc>
              <a:buNone/>
            </a:pPr>
            <a:r>
              <a:rPr lang="en-US" sz="2000" b="1" dirty="0">
                <a:solidFill>
                  <a:srgbClr val="D6E2EE"/>
                </a:solidFill>
                <a:latin typeface="Arial" pitchFamily="34" charset="0"/>
                <a:ea typeface="Arial" pitchFamily="34" charset="-122"/>
                <a:cs typeface="Arial" pitchFamily="34" charset="-120"/>
              </a:rPr>
              <a:t>06</a:t>
            </a:r>
            <a:endParaRPr lang="en-US" sz="2000" dirty="0"/>
          </a:p>
        </p:txBody>
      </p:sp>
      <p:sp>
        <p:nvSpPr>
          <p:cNvPr id="39" name="Text 30"/>
          <p:cNvSpPr/>
          <p:nvPr/>
        </p:nvSpPr>
        <p:spPr>
          <a:xfrm>
            <a:off x="8161867" y="3808611"/>
            <a:ext cx="31045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F33"/>
                </a:solidFill>
                <a:latin typeface="Calibri" pitchFamily="34" charset="0"/>
                <a:ea typeface="Calibri" pitchFamily="34" charset="-122"/>
                <a:cs typeface="Calibri" pitchFamily="34" charset="-120"/>
              </a:rPr>
              <a:t>Monitor</a:t>
            </a:r>
            <a:endParaRPr lang="en-US" sz="1600" dirty="0"/>
          </a:p>
        </p:txBody>
      </p:sp>
      <p:sp>
        <p:nvSpPr>
          <p:cNvPr id="40" name="Text 31"/>
          <p:cNvSpPr/>
          <p:nvPr/>
        </p:nvSpPr>
        <p:spPr>
          <a:xfrm>
            <a:off x="8161867" y="4128629"/>
            <a:ext cx="3104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Watch accounts; update blocklists; learn.</a:t>
            </a:r>
            <a:endParaRPr lang="en-US" sz="1300" dirty="0"/>
          </a:p>
        </p:txBody>
      </p:sp>
      <p:sp>
        <p:nvSpPr>
          <p:cNvPr id="41" name="Shape 32"/>
          <p:cNvSpPr/>
          <p:nvPr/>
        </p:nvSpPr>
        <p:spPr>
          <a:xfrm>
            <a:off x="812800" y="4980719"/>
            <a:ext cx="10566400" cy="762000"/>
          </a:xfrm>
          <a:prstGeom prst="roundRect">
            <a:avLst>
              <a:gd name="adj" fmla="val 13333"/>
            </a:avLst>
          </a:prstGeom>
          <a:solidFill>
            <a:srgbClr val="0A1628"/>
          </a:solidFill>
          <a:ln/>
        </p:spPr>
      </p:sp>
      <p:sp>
        <p:nvSpPr>
          <p:cNvPr id="42" name="Shape 33"/>
          <p:cNvSpPr/>
          <p:nvPr/>
        </p:nvSpPr>
        <p:spPr>
          <a:xfrm>
            <a:off x="1041400" y="5158519"/>
            <a:ext cx="406400" cy="406400"/>
          </a:xfrm>
          <a:prstGeom prst="roundRect">
            <a:avLst>
              <a:gd name="adj" fmla="val 50000"/>
            </a:avLst>
          </a:prstGeom>
          <a:solidFill>
            <a:srgbClr val="F7630C"/>
          </a:solidFill>
          <a:ln/>
        </p:spPr>
      </p:sp>
      <p:pic>
        <p:nvPicPr>
          <p:cNvPr id="43" name="Image 7" descr="alert icon">    </p:cNvPr>
          <p:cNvPicPr>
            <a:picLocks noChangeAspect="1"/>
          </p:cNvPicPr>
          <p:nvPr/>
        </p:nvPicPr>
        <p:blipFill>
          <a:blip r:embed="rId8"/>
          <a:srcRect l="0" r="0" t="0" b="0"/>
          <a:stretch/>
        </p:blipFill>
        <p:spPr>
          <a:xfrm>
            <a:off x="1143000" y="5260119"/>
            <a:ext cx="203200" cy="203200"/>
          </a:xfrm>
          <a:prstGeom prst="rect">
            <a:avLst/>
          </a:prstGeom>
        </p:spPr>
      </p:pic>
      <p:sp>
        <p:nvSpPr>
          <p:cNvPr id="44" name="Text 34"/>
          <p:cNvSpPr/>
          <p:nvPr/>
        </p:nvSpPr>
        <p:spPr>
          <a:xfrm>
            <a:off x="1600200" y="5228369"/>
            <a:ext cx="98369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Calibri" pitchFamily="34" charset="0"/>
                <a:ea typeface="Calibri" pitchFamily="34" charset="-122"/>
                <a:cs typeface="Calibri" pitchFamily="34" charset="-120"/>
              </a:rPr>
              <a:t>A password reset alone is not enough: </a:t>
            </a:r>
            <a:r>
              <a:rPr lang="en-US" sz="1500" b="1" dirty="0">
                <a:solidFill>
                  <a:srgbClr val="FF9A5C"/>
                </a:solidFill>
                <a:latin typeface="Calibri" pitchFamily="34" charset="0"/>
                <a:ea typeface="Calibri" pitchFamily="34" charset="-122"/>
                <a:cs typeface="Calibri" pitchFamily="34" charset="-120"/>
              </a:rPr>
              <a:t>revoke sessions</a:t>
            </a:r>
            <a:r>
              <a:rPr lang="en-US" sz="1500" dirty="0">
                <a:solidFill>
                  <a:srgbClr val="FFFFFF"/>
                </a:solidFill>
                <a:latin typeface="Calibri" pitchFamily="34" charset="0"/>
                <a:ea typeface="Calibri" pitchFamily="34" charset="-122"/>
                <a:cs typeface="Calibri" pitchFamily="34" charset="-120"/>
              </a:rPr>
              <a:t> and </a:t>
            </a:r>
            <a:r>
              <a:rPr lang="en-US" sz="1500" b="1" dirty="0">
                <a:solidFill>
                  <a:srgbClr val="FF9A5C"/>
                </a:solidFill>
                <a:latin typeface="Calibri" pitchFamily="34" charset="0"/>
                <a:ea typeface="Calibri" pitchFamily="34" charset="-122"/>
                <a:cs typeface="Calibri" pitchFamily="34" charset="-120"/>
              </a:rPr>
              <a:t>reimage</a:t>
            </a: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45" name="Text 3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incident guidance</a:t>
            </a:r>
            <a:endParaRPr lang="en-US" sz="1200" dirty="0"/>
          </a:p>
        </p:txBody>
      </p:sp>
      <p:sp>
        <p:nvSpPr>
          <p:cNvPr id="46" name="Text 3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04 · PREVENTION</a:t>
            </a:r>
            <a:endParaRPr lang="en-US" sz="1200" dirty="0"/>
          </a:p>
        </p:txBody>
      </p:sp>
      <p:sp>
        <p:nvSpPr>
          <p:cNvPr id="4" name="Text 1"/>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Shared defences that stop all ten</a:t>
            </a:r>
            <a:endParaRPr lang="en-US" sz="3600" dirty="0"/>
          </a:p>
        </p:txBody>
      </p:sp>
      <p:sp>
        <p:nvSpPr>
          <p:cNvPr id="5" name="Shape 2"/>
          <p:cNvSpPr/>
          <p:nvPr/>
        </p:nvSpPr>
        <p:spPr>
          <a:xfrm>
            <a:off x="812800" y="1569709"/>
            <a:ext cx="5181600" cy="2958968"/>
          </a:xfrm>
          <a:prstGeom prst="roundRect">
            <a:avLst>
              <a:gd name="adj" fmla="val 3434"/>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1041400" y="1772909"/>
            <a:ext cx="381000" cy="381000"/>
          </a:xfrm>
          <a:prstGeom prst="roundRect">
            <a:avLst>
              <a:gd name="adj" fmla="val 50000"/>
            </a:avLst>
          </a:prstGeom>
          <a:solidFill>
            <a:srgbClr val="0078D4"/>
          </a:solidFill>
          <a:ln/>
        </p:spPr>
      </p:sp>
      <p:pic>
        <p:nvPicPr>
          <p:cNvPr id="7" name="Image 1" descr="users icon">    </p:cNvPr>
          <p:cNvPicPr>
            <a:picLocks noChangeAspect="1"/>
          </p:cNvPicPr>
          <p:nvPr/>
        </p:nvPicPr>
        <p:blipFill>
          <a:blip r:embed="rId2"/>
          <a:srcRect l="0" r="0" t="0" b="0"/>
          <a:stretch/>
        </p:blipFill>
        <p:spPr>
          <a:xfrm>
            <a:off x="1136650" y="1868159"/>
            <a:ext cx="190500" cy="190500"/>
          </a:xfrm>
          <a:prstGeom prst="rect">
            <a:avLst/>
          </a:prstGeom>
        </p:spPr>
      </p:pic>
      <p:sp>
        <p:nvSpPr>
          <p:cNvPr id="8" name="Text 4"/>
          <p:cNvSpPr/>
          <p:nvPr/>
        </p:nvSpPr>
        <p:spPr>
          <a:xfrm>
            <a:off x="1524000" y="1856718"/>
            <a:ext cx="1125141"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0078D4"/>
                </a:solidFill>
                <a:latin typeface="Calibri" pitchFamily="34" charset="0"/>
                <a:ea typeface="Calibri" pitchFamily="34" charset="-122"/>
                <a:cs typeface="Calibri" pitchFamily="34" charset="-120"/>
              </a:rPr>
              <a:t>EVERYONE</a:t>
            </a:r>
            <a:endParaRPr lang="en-US" sz="1400" dirty="0"/>
          </a:p>
        </p:txBody>
      </p:sp>
      <p:sp>
        <p:nvSpPr>
          <p:cNvPr id="9" name="Shape 5"/>
          <p:cNvSpPr/>
          <p:nvPr/>
        </p:nvSpPr>
        <p:spPr>
          <a:xfrm>
            <a:off x="1041400" y="2261859"/>
            <a:ext cx="4724400" cy="0"/>
          </a:xfrm>
          <a:prstGeom prst="line">
            <a:avLst/>
          </a:prstGeom>
          <a:noFill/>
          <a:ln w="12700">
            <a:solidFill>
              <a:srgbClr val="D6E2EE"/>
            </a:solidFill>
            <a:prstDash val="solid"/>
          </a:ln>
        </p:spPr>
      </p:sp>
      <p:pic>
        <p:nvPicPr>
          <p:cNvPr id="10" name="Image 2" descr="check icon">    </p:cNvPr>
          <p:cNvPicPr>
            <a:picLocks noChangeAspect="1"/>
          </p:cNvPicPr>
          <p:nvPr/>
        </p:nvPicPr>
        <p:blipFill>
          <a:blip r:embed="rId3"/>
          <a:srcRect l="0" r="0" t="0" b="0"/>
          <a:stretch/>
        </p:blipFill>
        <p:spPr>
          <a:xfrm>
            <a:off x="1041400" y="2371068"/>
            <a:ext cx="203200" cy="203200"/>
          </a:xfrm>
          <a:prstGeom prst="rect">
            <a:avLst/>
          </a:prstGeom>
        </p:spPr>
      </p:pic>
      <p:sp>
        <p:nvSpPr>
          <p:cNvPr id="11" name="Text 6"/>
          <p:cNvSpPr/>
          <p:nvPr/>
        </p:nvSpPr>
        <p:spPr>
          <a:xfrm>
            <a:off x="1346200" y="2357109"/>
            <a:ext cx="45521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33"/>
                </a:solidFill>
                <a:latin typeface="Calibri" pitchFamily="34" charset="0"/>
                <a:ea typeface="Calibri" pitchFamily="34" charset="-122"/>
                <a:cs typeface="Calibri" pitchFamily="34" charset="-120"/>
              </a:rPr>
              <a:t>Pause before opening unexpected attachments and links</a:t>
            </a:r>
            <a:endParaRPr lang="en-US" sz="1300" dirty="0"/>
          </a:p>
        </p:txBody>
      </p:sp>
      <p:sp>
        <p:nvSpPr>
          <p:cNvPr id="12" name="Shape 7"/>
          <p:cNvSpPr/>
          <p:nvPr/>
        </p:nvSpPr>
        <p:spPr>
          <a:xfrm>
            <a:off x="1041400" y="2696170"/>
            <a:ext cx="4724400" cy="0"/>
          </a:xfrm>
          <a:prstGeom prst="line">
            <a:avLst/>
          </a:prstGeom>
          <a:noFill/>
          <a:ln w="12700">
            <a:solidFill>
              <a:srgbClr val="D6E2EE"/>
            </a:solidFill>
            <a:prstDash val="solid"/>
          </a:ln>
        </p:spPr>
      </p:sp>
      <p:pic>
        <p:nvPicPr>
          <p:cNvPr id="13" name="Image 3" descr="check icon">    </p:cNvPr>
          <p:cNvPicPr>
            <a:picLocks noChangeAspect="1"/>
          </p:cNvPicPr>
          <p:nvPr/>
        </p:nvPicPr>
        <p:blipFill>
          <a:blip r:embed="rId4"/>
          <a:srcRect l="0" r="0" t="0" b="0"/>
          <a:stretch/>
        </p:blipFill>
        <p:spPr>
          <a:xfrm>
            <a:off x="1041400" y="2805379"/>
            <a:ext cx="203200" cy="203200"/>
          </a:xfrm>
          <a:prstGeom prst="rect">
            <a:avLst/>
          </a:prstGeom>
        </p:spPr>
      </p:pic>
      <p:sp>
        <p:nvSpPr>
          <p:cNvPr id="14" name="Text 8"/>
          <p:cNvSpPr/>
          <p:nvPr/>
        </p:nvSpPr>
        <p:spPr>
          <a:xfrm>
            <a:off x="1346200" y="2791420"/>
            <a:ext cx="45521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33"/>
                </a:solidFill>
                <a:latin typeface="Calibri" pitchFamily="34" charset="0"/>
                <a:ea typeface="Calibri" pitchFamily="34" charset="-122"/>
                <a:cs typeface="Calibri" pitchFamily="34" charset="-120"/>
              </a:rPr>
              <a:t>Never paste commands a website gives you</a:t>
            </a:r>
            <a:endParaRPr lang="en-US" sz="1300" dirty="0"/>
          </a:p>
        </p:txBody>
      </p:sp>
      <p:sp>
        <p:nvSpPr>
          <p:cNvPr id="15" name="Shape 9"/>
          <p:cNvSpPr/>
          <p:nvPr/>
        </p:nvSpPr>
        <p:spPr>
          <a:xfrm>
            <a:off x="1041400" y="3130488"/>
            <a:ext cx="4724400" cy="0"/>
          </a:xfrm>
          <a:prstGeom prst="line">
            <a:avLst/>
          </a:prstGeom>
          <a:noFill/>
          <a:ln w="12700">
            <a:solidFill>
              <a:srgbClr val="D6E2EE"/>
            </a:solidFill>
            <a:prstDash val="solid"/>
          </a:ln>
        </p:spPr>
      </p:sp>
      <p:pic>
        <p:nvPicPr>
          <p:cNvPr id="16" name="Image 4" descr="check icon">    </p:cNvPr>
          <p:cNvPicPr>
            <a:picLocks noChangeAspect="1"/>
          </p:cNvPicPr>
          <p:nvPr/>
        </p:nvPicPr>
        <p:blipFill>
          <a:blip r:embed="rId5"/>
          <a:srcRect l="0" r="0" t="0" b="0"/>
          <a:stretch/>
        </p:blipFill>
        <p:spPr>
          <a:xfrm>
            <a:off x="1041400" y="3239691"/>
            <a:ext cx="203200" cy="203200"/>
          </a:xfrm>
          <a:prstGeom prst="rect">
            <a:avLst/>
          </a:prstGeom>
        </p:spPr>
      </p:pic>
      <p:sp>
        <p:nvSpPr>
          <p:cNvPr id="17" name="Text 10"/>
          <p:cNvSpPr/>
          <p:nvPr/>
        </p:nvSpPr>
        <p:spPr>
          <a:xfrm>
            <a:off x="1346200" y="3225738"/>
            <a:ext cx="45521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33"/>
                </a:solidFill>
                <a:latin typeface="Calibri" pitchFamily="34" charset="0"/>
                <a:ea typeface="Calibri" pitchFamily="34" charset="-122"/>
                <a:cs typeface="Calibri" pitchFamily="34" charset="-120"/>
              </a:rPr>
              <a:t>Get software only from official sources</a:t>
            </a:r>
            <a:endParaRPr lang="en-US" sz="1300" dirty="0"/>
          </a:p>
        </p:txBody>
      </p:sp>
      <p:sp>
        <p:nvSpPr>
          <p:cNvPr id="18" name="Shape 11"/>
          <p:cNvSpPr/>
          <p:nvPr/>
        </p:nvSpPr>
        <p:spPr>
          <a:xfrm>
            <a:off x="1041400" y="3564799"/>
            <a:ext cx="4724400" cy="0"/>
          </a:xfrm>
          <a:prstGeom prst="line">
            <a:avLst/>
          </a:prstGeom>
          <a:noFill/>
          <a:ln w="12700">
            <a:solidFill>
              <a:srgbClr val="D6E2EE"/>
            </a:solidFill>
            <a:prstDash val="solid"/>
          </a:ln>
        </p:spPr>
      </p:sp>
      <p:pic>
        <p:nvPicPr>
          <p:cNvPr id="19" name="Image 5" descr="check icon">    </p:cNvPr>
          <p:cNvPicPr>
            <a:picLocks noChangeAspect="1"/>
          </p:cNvPicPr>
          <p:nvPr/>
        </p:nvPicPr>
        <p:blipFill>
          <a:blip r:embed="rId6"/>
          <a:srcRect l="0" r="0" t="0" b="0"/>
          <a:stretch/>
        </p:blipFill>
        <p:spPr>
          <a:xfrm>
            <a:off x="1041400" y="3674008"/>
            <a:ext cx="203200" cy="203200"/>
          </a:xfrm>
          <a:prstGeom prst="rect">
            <a:avLst/>
          </a:prstGeom>
        </p:spPr>
      </p:pic>
      <p:sp>
        <p:nvSpPr>
          <p:cNvPr id="20" name="Text 12"/>
          <p:cNvSpPr/>
          <p:nvPr/>
        </p:nvSpPr>
        <p:spPr>
          <a:xfrm>
            <a:off x="1346200" y="3660049"/>
            <a:ext cx="45521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33"/>
                </a:solidFill>
                <a:latin typeface="Calibri" pitchFamily="34" charset="0"/>
                <a:ea typeface="Calibri" pitchFamily="34" charset="-122"/>
                <a:cs typeface="Calibri" pitchFamily="34" charset="-120"/>
              </a:rPr>
              <a:t>Use a password manager and MFA, not the browser</a:t>
            </a:r>
            <a:endParaRPr lang="en-US" sz="1300" dirty="0"/>
          </a:p>
        </p:txBody>
      </p:sp>
      <p:sp>
        <p:nvSpPr>
          <p:cNvPr id="21" name="Shape 13"/>
          <p:cNvSpPr/>
          <p:nvPr/>
        </p:nvSpPr>
        <p:spPr>
          <a:xfrm>
            <a:off x="1041400" y="3999111"/>
            <a:ext cx="4724400" cy="0"/>
          </a:xfrm>
          <a:prstGeom prst="line">
            <a:avLst/>
          </a:prstGeom>
          <a:noFill/>
          <a:ln w="12700">
            <a:solidFill>
              <a:srgbClr val="D6E2EE"/>
            </a:solidFill>
            <a:prstDash val="solid"/>
          </a:ln>
        </p:spPr>
      </p:sp>
      <p:pic>
        <p:nvPicPr>
          <p:cNvPr id="22" name="Image 6" descr="check icon">    </p:cNvPr>
          <p:cNvPicPr>
            <a:picLocks noChangeAspect="1"/>
          </p:cNvPicPr>
          <p:nvPr/>
        </p:nvPicPr>
        <p:blipFill>
          <a:blip r:embed="rId7"/>
          <a:srcRect l="0" r="0" t="0" b="0"/>
          <a:stretch/>
        </p:blipFill>
        <p:spPr>
          <a:xfrm>
            <a:off x="1041400" y="4108320"/>
            <a:ext cx="203200" cy="203200"/>
          </a:xfrm>
          <a:prstGeom prst="rect">
            <a:avLst/>
          </a:prstGeom>
        </p:spPr>
      </p:pic>
      <p:sp>
        <p:nvSpPr>
          <p:cNvPr id="23" name="Text 14"/>
          <p:cNvSpPr/>
          <p:nvPr/>
        </p:nvSpPr>
        <p:spPr>
          <a:xfrm>
            <a:off x="1346200" y="4094361"/>
            <a:ext cx="45521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33"/>
                </a:solidFill>
                <a:latin typeface="Calibri" pitchFamily="34" charset="0"/>
                <a:ea typeface="Calibri" pitchFamily="34" charset="-122"/>
                <a:cs typeface="Calibri" pitchFamily="34" charset="-120"/>
              </a:rPr>
              <a:t>Report anything suspicious straight away</a:t>
            </a:r>
            <a:endParaRPr lang="en-US" sz="1300" dirty="0"/>
          </a:p>
        </p:txBody>
      </p:sp>
      <p:sp>
        <p:nvSpPr>
          <p:cNvPr id="24" name="Shape 15"/>
          <p:cNvSpPr/>
          <p:nvPr/>
        </p:nvSpPr>
        <p:spPr>
          <a:xfrm>
            <a:off x="6197600" y="1569709"/>
            <a:ext cx="5181600" cy="2958968"/>
          </a:xfrm>
          <a:prstGeom prst="roundRect">
            <a:avLst>
              <a:gd name="adj" fmla="val 3434"/>
            </a:avLst>
          </a:prstGeom>
          <a:solidFill>
            <a:srgbClr val="FFFFFF"/>
          </a:solidFill>
          <a:ln/>
          <a:effectLst>
            <a:outerShdw sx="100000" sy="100000" kx="0" ky="0" algn="bl" rotWithShape="0" blurRad="101600" dist="25400" dir="5400000">
              <a:srgbClr val="C9D6E3">
                <a:alpha val="100000"/>
              </a:srgbClr>
            </a:outerShdw>
          </a:effectLst>
        </p:spPr>
      </p:sp>
      <p:sp>
        <p:nvSpPr>
          <p:cNvPr id="25" name="Shape 16"/>
          <p:cNvSpPr/>
          <p:nvPr/>
        </p:nvSpPr>
        <p:spPr>
          <a:xfrm>
            <a:off x="6426200" y="1772909"/>
            <a:ext cx="381000" cy="381000"/>
          </a:xfrm>
          <a:prstGeom prst="roundRect">
            <a:avLst>
              <a:gd name="adj" fmla="val 50000"/>
            </a:avLst>
          </a:prstGeom>
          <a:solidFill>
            <a:srgbClr val="13294B"/>
          </a:solidFill>
          <a:ln/>
        </p:spPr>
      </p:sp>
      <p:pic>
        <p:nvPicPr>
          <p:cNvPr id="26" name="Image 7" descr="shield icon">    </p:cNvPr>
          <p:cNvPicPr>
            <a:picLocks noChangeAspect="1"/>
          </p:cNvPicPr>
          <p:nvPr/>
        </p:nvPicPr>
        <p:blipFill>
          <a:blip r:embed="rId8"/>
          <a:srcRect l="0" r="0" t="0" b="0"/>
          <a:stretch/>
        </p:blipFill>
        <p:spPr>
          <a:xfrm>
            <a:off x="6521450" y="1868159"/>
            <a:ext cx="190500" cy="190500"/>
          </a:xfrm>
          <a:prstGeom prst="rect">
            <a:avLst/>
          </a:prstGeom>
        </p:spPr>
      </p:pic>
      <p:sp>
        <p:nvSpPr>
          <p:cNvPr id="27" name="Text 17"/>
          <p:cNvSpPr/>
          <p:nvPr/>
        </p:nvSpPr>
        <p:spPr>
          <a:xfrm>
            <a:off x="6908800" y="1856718"/>
            <a:ext cx="2662873" cy="238720"/>
          </a:xfrm>
          <a:prstGeom prst="rect">
            <a:avLst/>
          </a:prstGeom>
          <a:noFill/>
          <a:ln/>
        </p:spPr>
        <p:txBody>
          <a:bodyPr wrap="square" lIns="0" tIns="0" rIns="0" bIns="0" rtlCol="0" anchor="t">
            <a:normAutofit/>
          </a:bodyPr>
          <a:lstStyle/>
          <a:p>
            <a:pPr algn="l" indent="0" marL="0">
              <a:lnSpc>
                <a:spcPts val="1680"/>
              </a:lnSpc>
              <a:buNone/>
            </a:pPr>
            <a:r>
              <a:rPr lang="en-US" sz="1400" b="1" spc="150" kern="0" dirty="0">
                <a:solidFill>
                  <a:srgbClr val="13294B"/>
                </a:solidFill>
                <a:latin typeface="Calibri" pitchFamily="34" charset="0"/>
                <a:ea typeface="Calibri" pitchFamily="34" charset="-122"/>
                <a:cs typeface="Calibri" pitchFamily="34" charset="-120"/>
              </a:rPr>
              <a:t>IT AND SECURITY TEAMS</a:t>
            </a:r>
            <a:endParaRPr lang="en-US" sz="1400" dirty="0"/>
          </a:p>
        </p:txBody>
      </p:sp>
      <p:sp>
        <p:nvSpPr>
          <p:cNvPr id="28" name="Shape 18"/>
          <p:cNvSpPr/>
          <p:nvPr/>
        </p:nvSpPr>
        <p:spPr>
          <a:xfrm>
            <a:off x="6426200" y="2261859"/>
            <a:ext cx="4724400" cy="0"/>
          </a:xfrm>
          <a:prstGeom prst="line">
            <a:avLst/>
          </a:prstGeom>
          <a:noFill/>
          <a:ln w="12700">
            <a:solidFill>
              <a:srgbClr val="D6E2EE"/>
            </a:solidFill>
            <a:prstDash val="solid"/>
          </a:ln>
        </p:spPr>
      </p:sp>
      <p:pic>
        <p:nvPicPr>
          <p:cNvPr id="29" name="Image 8" descr="check icon">    </p:cNvPr>
          <p:cNvPicPr>
            <a:picLocks noChangeAspect="1"/>
          </p:cNvPicPr>
          <p:nvPr/>
        </p:nvPicPr>
        <p:blipFill>
          <a:blip r:embed="rId9"/>
          <a:srcRect l="0" r="0" t="0" b="0"/>
          <a:stretch/>
        </p:blipFill>
        <p:spPr>
          <a:xfrm>
            <a:off x="6426200" y="2371068"/>
            <a:ext cx="203200" cy="203200"/>
          </a:xfrm>
          <a:prstGeom prst="rect">
            <a:avLst/>
          </a:prstGeom>
        </p:spPr>
      </p:pic>
      <p:sp>
        <p:nvSpPr>
          <p:cNvPr id="30" name="Text 19"/>
          <p:cNvSpPr/>
          <p:nvPr/>
        </p:nvSpPr>
        <p:spPr>
          <a:xfrm>
            <a:off x="6731000" y="2357109"/>
            <a:ext cx="45521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33"/>
                </a:solidFill>
                <a:latin typeface="Calibri" pitchFamily="34" charset="0"/>
                <a:ea typeface="Calibri" pitchFamily="34" charset="-122"/>
                <a:cs typeface="Calibri" pitchFamily="34" charset="-120"/>
              </a:rPr>
              <a:t>EDR with behaviour and memory scanning</a:t>
            </a:r>
            <a:endParaRPr lang="en-US" sz="1300" dirty="0"/>
          </a:p>
        </p:txBody>
      </p:sp>
      <p:sp>
        <p:nvSpPr>
          <p:cNvPr id="31" name="Shape 20"/>
          <p:cNvSpPr/>
          <p:nvPr/>
        </p:nvSpPr>
        <p:spPr>
          <a:xfrm>
            <a:off x="6426200" y="2696170"/>
            <a:ext cx="4724400" cy="0"/>
          </a:xfrm>
          <a:prstGeom prst="line">
            <a:avLst/>
          </a:prstGeom>
          <a:noFill/>
          <a:ln w="12700">
            <a:solidFill>
              <a:srgbClr val="D6E2EE"/>
            </a:solidFill>
            <a:prstDash val="solid"/>
          </a:ln>
        </p:spPr>
      </p:sp>
      <p:pic>
        <p:nvPicPr>
          <p:cNvPr id="32" name="Image 9" descr="check icon">    </p:cNvPr>
          <p:cNvPicPr>
            <a:picLocks noChangeAspect="1"/>
          </p:cNvPicPr>
          <p:nvPr/>
        </p:nvPicPr>
        <p:blipFill>
          <a:blip r:embed="rId10"/>
          <a:srcRect l="0" r="0" t="0" b="0"/>
          <a:stretch/>
        </p:blipFill>
        <p:spPr>
          <a:xfrm>
            <a:off x="6426200" y="2805379"/>
            <a:ext cx="203200" cy="203200"/>
          </a:xfrm>
          <a:prstGeom prst="rect">
            <a:avLst/>
          </a:prstGeom>
        </p:spPr>
      </p:pic>
      <p:sp>
        <p:nvSpPr>
          <p:cNvPr id="33" name="Text 21"/>
          <p:cNvSpPr/>
          <p:nvPr/>
        </p:nvSpPr>
        <p:spPr>
          <a:xfrm>
            <a:off x="6731000" y="2791420"/>
            <a:ext cx="45521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33"/>
                </a:solidFill>
                <a:latin typeface="Calibri" pitchFamily="34" charset="0"/>
                <a:ea typeface="Calibri" pitchFamily="34" charset="-122"/>
                <a:cs typeface="Calibri" pitchFamily="34" charset="-120"/>
              </a:rPr>
              <a:t>Block risky attachments: scripts, LNK, archives, macros</a:t>
            </a:r>
            <a:endParaRPr lang="en-US" sz="1300" dirty="0"/>
          </a:p>
        </p:txBody>
      </p:sp>
      <p:sp>
        <p:nvSpPr>
          <p:cNvPr id="34" name="Shape 22"/>
          <p:cNvSpPr/>
          <p:nvPr/>
        </p:nvSpPr>
        <p:spPr>
          <a:xfrm>
            <a:off x="6426200" y="3130488"/>
            <a:ext cx="4724400" cy="0"/>
          </a:xfrm>
          <a:prstGeom prst="line">
            <a:avLst/>
          </a:prstGeom>
          <a:noFill/>
          <a:ln w="12700">
            <a:solidFill>
              <a:srgbClr val="D6E2EE"/>
            </a:solidFill>
            <a:prstDash val="solid"/>
          </a:ln>
        </p:spPr>
      </p:sp>
      <p:pic>
        <p:nvPicPr>
          <p:cNvPr id="35" name="Image 10" descr="check icon">    </p:cNvPr>
          <p:cNvPicPr>
            <a:picLocks noChangeAspect="1"/>
          </p:cNvPicPr>
          <p:nvPr/>
        </p:nvPicPr>
        <p:blipFill>
          <a:blip r:embed="rId11"/>
          <a:srcRect l="0" r="0" t="0" b="0"/>
          <a:stretch/>
        </p:blipFill>
        <p:spPr>
          <a:xfrm>
            <a:off x="6426200" y="3239691"/>
            <a:ext cx="203200" cy="203200"/>
          </a:xfrm>
          <a:prstGeom prst="rect">
            <a:avLst/>
          </a:prstGeom>
        </p:spPr>
      </p:pic>
      <p:sp>
        <p:nvSpPr>
          <p:cNvPr id="36" name="Text 23"/>
          <p:cNvSpPr/>
          <p:nvPr/>
        </p:nvSpPr>
        <p:spPr>
          <a:xfrm>
            <a:off x="6731000" y="3225738"/>
            <a:ext cx="45521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33"/>
                </a:solidFill>
                <a:latin typeface="Calibri" pitchFamily="34" charset="0"/>
                <a:ea typeface="Calibri" pitchFamily="34" charset="-122"/>
                <a:cs typeface="Calibri" pitchFamily="34" charset="-120"/>
              </a:rPr>
              <a:t>Application control: AppLocker or WDAC</a:t>
            </a:r>
            <a:endParaRPr lang="en-US" sz="1300" dirty="0"/>
          </a:p>
        </p:txBody>
      </p:sp>
      <p:sp>
        <p:nvSpPr>
          <p:cNvPr id="37" name="Shape 24"/>
          <p:cNvSpPr/>
          <p:nvPr/>
        </p:nvSpPr>
        <p:spPr>
          <a:xfrm>
            <a:off x="6426200" y="3564799"/>
            <a:ext cx="4724400" cy="0"/>
          </a:xfrm>
          <a:prstGeom prst="line">
            <a:avLst/>
          </a:prstGeom>
          <a:noFill/>
          <a:ln w="12700">
            <a:solidFill>
              <a:srgbClr val="D6E2EE"/>
            </a:solidFill>
            <a:prstDash val="solid"/>
          </a:ln>
        </p:spPr>
      </p:sp>
      <p:pic>
        <p:nvPicPr>
          <p:cNvPr id="38" name="Image 11" descr="check icon">    </p:cNvPr>
          <p:cNvPicPr>
            <a:picLocks noChangeAspect="1"/>
          </p:cNvPicPr>
          <p:nvPr/>
        </p:nvPicPr>
        <p:blipFill>
          <a:blip r:embed="rId12"/>
          <a:srcRect l="0" r="0" t="0" b="0"/>
          <a:stretch/>
        </p:blipFill>
        <p:spPr>
          <a:xfrm>
            <a:off x="6426200" y="3674008"/>
            <a:ext cx="203200" cy="203200"/>
          </a:xfrm>
          <a:prstGeom prst="rect">
            <a:avLst/>
          </a:prstGeom>
        </p:spPr>
      </p:pic>
      <p:sp>
        <p:nvSpPr>
          <p:cNvPr id="39" name="Text 25"/>
          <p:cNvSpPr/>
          <p:nvPr/>
        </p:nvSpPr>
        <p:spPr>
          <a:xfrm>
            <a:off x="6731000" y="3660049"/>
            <a:ext cx="45521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33"/>
                </a:solidFill>
                <a:latin typeface="Calibri" pitchFamily="34" charset="0"/>
                <a:ea typeface="Calibri" pitchFamily="34" charset="-122"/>
                <a:cs typeface="Calibri" pitchFamily="34" charset="-120"/>
              </a:rPr>
              <a:t>Restrict PowerShell and the Run dialog for users</a:t>
            </a:r>
            <a:endParaRPr lang="en-US" sz="1300" dirty="0"/>
          </a:p>
        </p:txBody>
      </p:sp>
      <p:sp>
        <p:nvSpPr>
          <p:cNvPr id="40" name="Shape 26"/>
          <p:cNvSpPr/>
          <p:nvPr/>
        </p:nvSpPr>
        <p:spPr>
          <a:xfrm>
            <a:off x="6426200" y="3999111"/>
            <a:ext cx="4724400" cy="0"/>
          </a:xfrm>
          <a:prstGeom prst="line">
            <a:avLst/>
          </a:prstGeom>
          <a:noFill/>
          <a:ln w="12700">
            <a:solidFill>
              <a:srgbClr val="D6E2EE"/>
            </a:solidFill>
            <a:prstDash val="solid"/>
          </a:ln>
        </p:spPr>
      </p:sp>
      <p:pic>
        <p:nvPicPr>
          <p:cNvPr id="41" name="Image 12" descr="check icon">    </p:cNvPr>
          <p:cNvPicPr>
            <a:picLocks noChangeAspect="1"/>
          </p:cNvPicPr>
          <p:nvPr/>
        </p:nvPicPr>
        <p:blipFill>
          <a:blip r:embed="rId13"/>
          <a:srcRect l="0" r="0" t="0" b="0"/>
          <a:stretch/>
        </p:blipFill>
        <p:spPr>
          <a:xfrm>
            <a:off x="6426200" y="4108320"/>
            <a:ext cx="203200" cy="203200"/>
          </a:xfrm>
          <a:prstGeom prst="rect">
            <a:avLst/>
          </a:prstGeom>
        </p:spPr>
      </p:pic>
      <p:sp>
        <p:nvSpPr>
          <p:cNvPr id="42" name="Text 27"/>
          <p:cNvSpPr/>
          <p:nvPr/>
        </p:nvSpPr>
        <p:spPr>
          <a:xfrm>
            <a:off x="6731000" y="4094361"/>
            <a:ext cx="45521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F33"/>
                </a:solidFill>
                <a:latin typeface="Calibri" pitchFamily="34" charset="0"/>
                <a:ea typeface="Calibri" pitchFamily="34" charset="-122"/>
                <a:cs typeface="Calibri" pitchFamily="34" charset="-120"/>
              </a:rPr>
              <a:t>Short session lifetimes and phishing-resistant MFA</a:t>
            </a:r>
            <a:endParaRPr lang="en-US" sz="1300" dirty="0"/>
          </a:p>
        </p:txBody>
      </p:sp>
      <p:sp>
        <p:nvSpPr>
          <p:cNvPr id="43" name="Text 2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security guidance</a:t>
            </a:r>
            <a:endParaRPr lang="en-US" sz="1200" dirty="0"/>
          </a:p>
        </p:txBody>
      </p:sp>
      <p:sp>
        <p:nvSpPr>
          <p:cNvPr id="44" name="Text 29"/>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05 · REFERENCES</a:t>
            </a:r>
            <a:endParaRPr lang="en-US" sz="1200" dirty="0"/>
          </a:p>
        </p:txBody>
      </p:sp>
      <p:sp>
        <p:nvSpPr>
          <p:cNvPr id="4" name="Text 1"/>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Sources</a:t>
            </a:r>
            <a:endParaRPr lang="en-US" sz="3600" dirty="0"/>
          </a:p>
        </p:txBody>
      </p:sp>
      <p:sp>
        <p:nvSpPr>
          <p:cNvPr id="5" name="Shape 2"/>
          <p:cNvSpPr/>
          <p:nvPr/>
        </p:nvSpPr>
        <p:spPr>
          <a:xfrm>
            <a:off x="812800" y="1569715"/>
            <a:ext cx="10566400" cy="609600"/>
          </a:xfrm>
          <a:prstGeom prst="roundRect">
            <a:avLst>
              <a:gd name="adj" fmla="val 16667"/>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1016000" y="1696715"/>
            <a:ext cx="355600" cy="355600"/>
          </a:xfrm>
          <a:prstGeom prst="roundRect">
            <a:avLst>
              <a:gd name="adj" fmla="val 50000"/>
            </a:avLst>
          </a:prstGeom>
          <a:solidFill>
            <a:srgbClr val="EAF3FC"/>
          </a:solidFill>
          <a:ln/>
        </p:spPr>
      </p:sp>
      <p:pic>
        <p:nvPicPr>
          <p:cNvPr id="7" name="Image 1" descr="book icon">    </p:cNvPr>
          <p:cNvPicPr>
            <a:picLocks noChangeAspect="1"/>
          </p:cNvPicPr>
          <p:nvPr/>
        </p:nvPicPr>
        <p:blipFill>
          <a:blip r:embed="rId2"/>
          <a:srcRect l="0" r="0" t="0" b="0"/>
          <a:stretch/>
        </p:blipFill>
        <p:spPr>
          <a:xfrm>
            <a:off x="1104900" y="1785615"/>
            <a:ext cx="177800" cy="177800"/>
          </a:xfrm>
          <a:prstGeom prst="rect">
            <a:avLst/>
          </a:prstGeom>
        </p:spPr>
      </p:pic>
      <p:sp>
        <p:nvSpPr>
          <p:cNvPr id="8" name="Text 4"/>
          <p:cNvSpPr/>
          <p:nvPr/>
        </p:nvSpPr>
        <p:spPr>
          <a:xfrm>
            <a:off x="1549400" y="1741165"/>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ANY.RUN</a:t>
            </a:r>
            <a:endParaRPr lang="en-US" sz="1500" dirty="0"/>
          </a:p>
        </p:txBody>
      </p:sp>
      <p:sp>
        <p:nvSpPr>
          <p:cNvPr id="9" name="Text 5"/>
          <p:cNvSpPr/>
          <p:nvPr/>
        </p:nvSpPr>
        <p:spPr>
          <a:xfrm>
            <a:off x="3886200" y="1750020"/>
            <a:ext cx="750849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Weekly sandbox telemetry, 20–26 July 2026 (via Cyber Security News)</a:t>
            </a:r>
            <a:endParaRPr lang="en-US" sz="1400" dirty="0"/>
          </a:p>
        </p:txBody>
      </p:sp>
      <p:sp>
        <p:nvSpPr>
          <p:cNvPr id="10" name="Shape 6"/>
          <p:cNvSpPr/>
          <p:nvPr/>
        </p:nvSpPr>
        <p:spPr>
          <a:xfrm>
            <a:off x="812800" y="2280915"/>
            <a:ext cx="10566400" cy="609600"/>
          </a:xfrm>
          <a:prstGeom prst="roundRect">
            <a:avLst>
              <a:gd name="adj" fmla="val 16667"/>
            </a:avLst>
          </a:prstGeom>
          <a:solidFill>
            <a:srgbClr val="FFFFFF"/>
          </a:solidFill>
          <a:ln/>
          <a:effectLst>
            <a:outerShdw sx="100000" sy="100000" kx="0" ky="0" algn="bl" rotWithShape="0" blurRad="101600" dist="25400" dir="5400000">
              <a:srgbClr val="C9D6E3">
                <a:alpha val="100000"/>
              </a:srgbClr>
            </a:outerShdw>
          </a:effectLst>
        </p:spPr>
      </p:sp>
      <p:sp>
        <p:nvSpPr>
          <p:cNvPr id="11" name="Shape 7"/>
          <p:cNvSpPr/>
          <p:nvPr/>
        </p:nvSpPr>
        <p:spPr>
          <a:xfrm>
            <a:off x="1016000" y="2407915"/>
            <a:ext cx="355600" cy="355600"/>
          </a:xfrm>
          <a:prstGeom prst="roundRect">
            <a:avLst>
              <a:gd name="adj" fmla="val 50000"/>
            </a:avLst>
          </a:prstGeom>
          <a:solidFill>
            <a:srgbClr val="EAF3FC"/>
          </a:solidFill>
          <a:ln/>
        </p:spPr>
      </p:sp>
      <p:pic>
        <p:nvPicPr>
          <p:cNvPr id="12" name="Image 2" descr="book icon">    </p:cNvPr>
          <p:cNvPicPr>
            <a:picLocks noChangeAspect="1"/>
          </p:cNvPicPr>
          <p:nvPr/>
        </p:nvPicPr>
        <p:blipFill>
          <a:blip r:embed="rId3"/>
          <a:srcRect l="0" r="0" t="0" b="0"/>
          <a:stretch/>
        </p:blipFill>
        <p:spPr>
          <a:xfrm>
            <a:off x="1104900" y="2496815"/>
            <a:ext cx="177800" cy="177800"/>
          </a:xfrm>
          <a:prstGeom prst="rect">
            <a:avLst/>
          </a:prstGeom>
        </p:spPr>
      </p:pic>
      <p:sp>
        <p:nvSpPr>
          <p:cNvPr id="13" name="Text 8"/>
          <p:cNvSpPr/>
          <p:nvPr/>
        </p:nvSpPr>
        <p:spPr>
          <a:xfrm>
            <a:off x="1549400" y="2452365"/>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Recorded Future</a:t>
            </a:r>
            <a:endParaRPr lang="en-US" sz="1500" dirty="0"/>
          </a:p>
        </p:txBody>
      </p:sp>
      <p:sp>
        <p:nvSpPr>
          <p:cNvPr id="14" name="Text 9"/>
          <p:cNvSpPr/>
          <p:nvPr/>
        </p:nvSpPr>
        <p:spPr>
          <a:xfrm>
            <a:off x="3886200" y="2461220"/>
            <a:ext cx="750849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Insikt Group, H1 2026 Malware and Vulnerability Trends</a:t>
            </a:r>
            <a:endParaRPr lang="en-US" sz="1400" dirty="0"/>
          </a:p>
        </p:txBody>
      </p:sp>
      <p:sp>
        <p:nvSpPr>
          <p:cNvPr id="15" name="Shape 10"/>
          <p:cNvSpPr/>
          <p:nvPr/>
        </p:nvSpPr>
        <p:spPr>
          <a:xfrm>
            <a:off x="812800" y="2992115"/>
            <a:ext cx="10566400" cy="609600"/>
          </a:xfrm>
          <a:prstGeom prst="roundRect">
            <a:avLst>
              <a:gd name="adj" fmla="val 16667"/>
            </a:avLst>
          </a:prstGeom>
          <a:solidFill>
            <a:srgbClr val="FFFFFF"/>
          </a:solidFill>
          <a:ln/>
          <a:effectLst>
            <a:outerShdw sx="100000" sy="100000" kx="0" ky="0" algn="bl" rotWithShape="0" blurRad="101600" dist="25400" dir="5400000">
              <a:srgbClr val="C9D6E3">
                <a:alpha val="100000"/>
              </a:srgbClr>
            </a:outerShdw>
          </a:effectLst>
        </p:spPr>
      </p:sp>
      <p:sp>
        <p:nvSpPr>
          <p:cNvPr id="16" name="Shape 11"/>
          <p:cNvSpPr/>
          <p:nvPr/>
        </p:nvSpPr>
        <p:spPr>
          <a:xfrm>
            <a:off x="1016000" y="3119115"/>
            <a:ext cx="355600" cy="355600"/>
          </a:xfrm>
          <a:prstGeom prst="roundRect">
            <a:avLst>
              <a:gd name="adj" fmla="val 50000"/>
            </a:avLst>
          </a:prstGeom>
          <a:solidFill>
            <a:srgbClr val="EAF3FC"/>
          </a:solidFill>
          <a:ln/>
        </p:spPr>
      </p:sp>
      <p:pic>
        <p:nvPicPr>
          <p:cNvPr id="17" name="Image 3" descr="book icon">    </p:cNvPr>
          <p:cNvPicPr>
            <a:picLocks noChangeAspect="1"/>
          </p:cNvPicPr>
          <p:nvPr/>
        </p:nvPicPr>
        <p:blipFill>
          <a:blip r:embed="rId4"/>
          <a:srcRect l="0" r="0" t="0" b="0"/>
          <a:stretch/>
        </p:blipFill>
        <p:spPr>
          <a:xfrm>
            <a:off x="1104900" y="3208015"/>
            <a:ext cx="177800" cy="177800"/>
          </a:xfrm>
          <a:prstGeom prst="rect">
            <a:avLst/>
          </a:prstGeom>
        </p:spPr>
      </p:pic>
      <p:sp>
        <p:nvSpPr>
          <p:cNvPr id="18" name="Text 12"/>
          <p:cNvSpPr/>
          <p:nvPr/>
        </p:nvSpPr>
        <p:spPr>
          <a:xfrm>
            <a:off x="1549400" y="3163565"/>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AhnLab ASEC</a:t>
            </a:r>
            <a:endParaRPr lang="en-US" sz="1500" dirty="0"/>
          </a:p>
        </p:txBody>
      </p:sp>
      <p:sp>
        <p:nvSpPr>
          <p:cNvPr id="19" name="Text 13"/>
          <p:cNvSpPr/>
          <p:nvPr/>
        </p:nvSpPr>
        <p:spPr>
          <a:xfrm>
            <a:off x="3886200" y="3172420"/>
            <a:ext cx="750849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Infostealer trend reports, 2026</a:t>
            </a:r>
            <a:endParaRPr lang="en-US" sz="1400" dirty="0"/>
          </a:p>
        </p:txBody>
      </p:sp>
      <p:sp>
        <p:nvSpPr>
          <p:cNvPr id="20" name="Shape 14"/>
          <p:cNvSpPr/>
          <p:nvPr/>
        </p:nvSpPr>
        <p:spPr>
          <a:xfrm>
            <a:off x="812800" y="3703315"/>
            <a:ext cx="10566400" cy="609600"/>
          </a:xfrm>
          <a:prstGeom prst="roundRect">
            <a:avLst>
              <a:gd name="adj" fmla="val 16667"/>
            </a:avLst>
          </a:prstGeom>
          <a:solidFill>
            <a:srgbClr val="FFFFFF"/>
          </a:solidFill>
          <a:ln/>
          <a:effectLst>
            <a:outerShdw sx="100000" sy="100000" kx="0" ky="0" algn="bl" rotWithShape="0" blurRad="101600" dist="25400" dir="5400000">
              <a:srgbClr val="C9D6E3">
                <a:alpha val="100000"/>
              </a:srgbClr>
            </a:outerShdw>
          </a:effectLst>
        </p:spPr>
      </p:sp>
      <p:sp>
        <p:nvSpPr>
          <p:cNvPr id="21" name="Shape 15"/>
          <p:cNvSpPr/>
          <p:nvPr/>
        </p:nvSpPr>
        <p:spPr>
          <a:xfrm>
            <a:off x="1016000" y="3830315"/>
            <a:ext cx="355600" cy="355600"/>
          </a:xfrm>
          <a:prstGeom prst="roundRect">
            <a:avLst>
              <a:gd name="adj" fmla="val 50000"/>
            </a:avLst>
          </a:prstGeom>
          <a:solidFill>
            <a:srgbClr val="EAF3FC"/>
          </a:solidFill>
          <a:ln/>
        </p:spPr>
      </p:sp>
      <p:pic>
        <p:nvPicPr>
          <p:cNvPr id="22" name="Image 4" descr="book icon">    </p:cNvPr>
          <p:cNvPicPr>
            <a:picLocks noChangeAspect="1"/>
          </p:cNvPicPr>
          <p:nvPr/>
        </p:nvPicPr>
        <p:blipFill>
          <a:blip r:embed="rId5"/>
          <a:srcRect l="0" r="0" t="0" b="0"/>
          <a:stretch/>
        </p:blipFill>
        <p:spPr>
          <a:xfrm>
            <a:off x="1104900" y="3919215"/>
            <a:ext cx="177800" cy="177800"/>
          </a:xfrm>
          <a:prstGeom prst="rect">
            <a:avLst/>
          </a:prstGeom>
        </p:spPr>
      </p:pic>
      <p:sp>
        <p:nvSpPr>
          <p:cNvPr id="23" name="Text 16"/>
          <p:cNvSpPr/>
          <p:nvPr/>
        </p:nvSpPr>
        <p:spPr>
          <a:xfrm>
            <a:off x="1549400" y="3874765"/>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Microsoft</a:t>
            </a:r>
            <a:endParaRPr lang="en-US" sz="1500" dirty="0"/>
          </a:p>
        </p:txBody>
      </p:sp>
      <p:sp>
        <p:nvSpPr>
          <p:cNvPr id="24" name="Text 17"/>
          <p:cNvSpPr/>
          <p:nvPr/>
        </p:nvSpPr>
        <p:spPr>
          <a:xfrm>
            <a:off x="3886200" y="3883620"/>
            <a:ext cx="750849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Digital Defense Report 2025</a:t>
            </a:r>
            <a:endParaRPr lang="en-US" sz="1400" dirty="0"/>
          </a:p>
        </p:txBody>
      </p:sp>
      <p:sp>
        <p:nvSpPr>
          <p:cNvPr id="25" name="Shape 18"/>
          <p:cNvSpPr/>
          <p:nvPr/>
        </p:nvSpPr>
        <p:spPr>
          <a:xfrm>
            <a:off x="812800" y="4414515"/>
            <a:ext cx="10566400" cy="609600"/>
          </a:xfrm>
          <a:prstGeom prst="roundRect">
            <a:avLst>
              <a:gd name="adj" fmla="val 16667"/>
            </a:avLst>
          </a:prstGeom>
          <a:solidFill>
            <a:srgbClr val="FFFFFF"/>
          </a:solidFill>
          <a:ln/>
          <a:effectLst>
            <a:outerShdw sx="100000" sy="100000" kx="0" ky="0" algn="bl" rotWithShape="0" blurRad="101600" dist="25400" dir="5400000">
              <a:srgbClr val="C9D6E3">
                <a:alpha val="100000"/>
              </a:srgbClr>
            </a:outerShdw>
          </a:effectLst>
        </p:spPr>
      </p:sp>
      <p:sp>
        <p:nvSpPr>
          <p:cNvPr id="26" name="Shape 19"/>
          <p:cNvSpPr/>
          <p:nvPr/>
        </p:nvSpPr>
        <p:spPr>
          <a:xfrm>
            <a:off x="1016000" y="4541515"/>
            <a:ext cx="355600" cy="355600"/>
          </a:xfrm>
          <a:prstGeom prst="roundRect">
            <a:avLst>
              <a:gd name="adj" fmla="val 50000"/>
            </a:avLst>
          </a:prstGeom>
          <a:solidFill>
            <a:srgbClr val="EAF3FC"/>
          </a:solidFill>
          <a:ln/>
        </p:spPr>
      </p:sp>
      <p:pic>
        <p:nvPicPr>
          <p:cNvPr id="27" name="Image 5" descr="book icon">    </p:cNvPr>
          <p:cNvPicPr>
            <a:picLocks noChangeAspect="1"/>
          </p:cNvPicPr>
          <p:nvPr/>
        </p:nvPicPr>
        <p:blipFill>
          <a:blip r:embed="rId6"/>
          <a:srcRect l="0" r="0" t="0" b="0"/>
          <a:stretch/>
        </p:blipFill>
        <p:spPr>
          <a:xfrm>
            <a:off x="1104900" y="4630415"/>
            <a:ext cx="177800" cy="177800"/>
          </a:xfrm>
          <a:prstGeom prst="rect">
            <a:avLst/>
          </a:prstGeom>
        </p:spPr>
      </p:pic>
      <p:sp>
        <p:nvSpPr>
          <p:cNvPr id="28" name="Text 20"/>
          <p:cNvSpPr/>
          <p:nvPr/>
        </p:nvSpPr>
        <p:spPr>
          <a:xfrm>
            <a:off x="1549400" y="4585965"/>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IBM</a:t>
            </a:r>
            <a:endParaRPr lang="en-US" sz="1500" dirty="0"/>
          </a:p>
        </p:txBody>
      </p:sp>
      <p:sp>
        <p:nvSpPr>
          <p:cNvPr id="29" name="Text 21"/>
          <p:cNvSpPr/>
          <p:nvPr/>
        </p:nvSpPr>
        <p:spPr>
          <a:xfrm>
            <a:off x="3886200" y="4594820"/>
            <a:ext cx="750849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X-Force Threat Intelligence Index 2026</a:t>
            </a:r>
            <a:endParaRPr lang="en-US" sz="1400" dirty="0"/>
          </a:p>
        </p:txBody>
      </p:sp>
      <p:sp>
        <p:nvSpPr>
          <p:cNvPr id="30" name="Text 22"/>
          <p:cNvSpPr/>
          <p:nvPr/>
        </p:nvSpPr>
        <p:spPr>
          <a:xfrm>
            <a:off x="812800" y="527811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Rankings change weekly. Behaviour details summarise public threat research on each family.</a:t>
            </a:r>
            <a:endParaRPr lang="en-US" sz="1200" dirty="0"/>
          </a:p>
        </p:txBody>
      </p:sp>
      <p:sp>
        <p:nvSpPr>
          <p:cNvPr id="31" name="Text 2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Top 10 Malware of 2026</a:t>
            </a:r>
            <a:endParaRPr lang="en-US" sz="1200" dirty="0"/>
          </a:p>
        </p:txBody>
      </p:sp>
      <p:sp>
        <p:nvSpPr>
          <p:cNvPr id="32" name="Text 24"/>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rect">    </p:cNvPr>
          <p:cNvPicPr>
            <a:picLocks noChangeAspect="1"/>
          </p:cNvPicPr>
          <p:nvPr/>
        </p:nvPicPr>
        <p:blipFill>
          <a:blip r:embed="rId2"/>
          <a:srcRect l="0" r="0" t="0" b="0"/>
          <a:stretch/>
        </p:blipFill>
        <p:spPr>
          <a:xfrm>
            <a:off x="0" y="0"/>
            <a:ext cx="152400" cy="6858000"/>
          </a:xfrm>
          <a:prstGeom prst="rect">
            <a:avLst/>
          </a:prstGeom>
        </p:spPr>
      </p:pic>
      <p:pic>
        <p:nvPicPr>
          <p:cNvPr id="4" name="Image 2" descr="Shield with a check mark">    </p:cNvPr>
          <p:cNvPicPr>
            <a:picLocks noChangeAspect="1"/>
          </p:cNvPicPr>
          <p:nvPr/>
        </p:nvPicPr>
        <p:blipFill>
          <a:blip r:embed="rId3"/>
          <a:srcRect l="0" r="0" t="0" b="0"/>
          <a:stretch/>
        </p:blipFill>
        <p:spPr>
          <a:xfrm>
            <a:off x="8001000" y="1524000"/>
            <a:ext cx="3556000" cy="3810000"/>
          </a:xfrm>
          <a:prstGeom prst="rect">
            <a:avLst/>
          </a:prstGeom>
        </p:spPr>
      </p:pic>
      <p:sp>
        <p:nvSpPr>
          <p:cNvPr id="5" name="Text 0"/>
          <p:cNvSpPr/>
          <p:nvPr/>
        </p:nvSpPr>
        <p:spPr>
          <a:xfrm>
            <a:off x="812800" y="1910097"/>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0B7C3"/>
                </a:solidFill>
                <a:latin typeface="Calibri" pitchFamily="34" charset="0"/>
                <a:ea typeface="Calibri" pitchFamily="34" charset="-122"/>
                <a:cs typeface="Calibri" pitchFamily="34" charset="-120"/>
              </a:rPr>
              <a:t>QUESTIONS AND DISCUSSION</a:t>
            </a:r>
            <a:endParaRPr lang="en-US" sz="1400" dirty="0"/>
          </a:p>
        </p:txBody>
      </p:sp>
      <p:sp>
        <p:nvSpPr>
          <p:cNvPr id="6" name="Text 1"/>
          <p:cNvSpPr/>
          <p:nvPr>
            <p:ph type="title"/>
          </p:nvPr>
        </p:nvSpPr>
        <p:spPr>
          <a:xfrm>
            <a:off x="812800" y="2413000"/>
            <a:ext cx="6932930" cy="1412214"/>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FFFFF"/>
                </a:solidFill>
                <a:latin typeface="Arial" pitchFamily="34" charset="0"/>
                <a:ea typeface="Arial" pitchFamily="34" charset="-122"/>
                <a:cs typeface="Arial" pitchFamily="34" charset="-120"/>
              </a:rPr>
              <a:t>Ten threats. One habit.</a:t>
            </a:r>
            <a:endParaRPr lang="en-US" sz="5200" dirty="0"/>
          </a:p>
        </p:txBody>
      </p:sp>
      <p:sp>
        <p:nvSpPr>
          <p:cNvPr id="7" name="Text 2"/>
          <p:cNvSpPr/>
          <p:nvPr/>
        </p:nvSpPr>
        <p:spPr>
          <a:xfrm>
            <a:off x="812800" y="4053818"/>
            <a:ext cx="65405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Think before you click, protect your logins, report fast.</a:t>
            </a:r>
            <a:endParaRPr lang="en-US" sz="2000" dirty="0"/>
          </a:p>
        </p:txBody>
      </p:sp>
      <p:sp>
        <p:nvSpPr>
          <p:cNvPr id="8" name="Text 3"/>
          <p:cNvSpPr/>
          <p:nvPr/>
        </p:nvSpPr>
        <p:spPr>
          <a:xfrm>
            <a:off x="812800" y="4663418"/>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3C8"/>
                </a:solidFill>
                <a:latin typeface="Calibri" pitchFamily="34" charset="0"/>
                <a:ea typeface="Calibri" pitchFamily="34" charset="-122"/>
                <a:cs typeface="Calibri" pitchFamily="34" charset="-120"/>
              </a:rPr>
              <a:t>Thank you · Presented by ZNexora Tech</a:t>
            </a:r>
            <a:endParaRPr lang="en-US" sz="1600" dirty="0"/>
          </a:p>
        </p:txBody>
      </p:sp>
    </p:spTree>
  </p:cSld>
  <p:clrMapOvr>
    <a:masterClrMapping/>
  </p:clrMapOvr>
</p:sld>
</file>

<file path=ppt/theme/theme1.xml><?xml version="1.0" encoding="utf-8"?>
<a:theme xmlns:a="http://schemas.openxmlformats.org/drawingml/2006/main" name="Top 10 Malware of 2026">
  <a:themeElements>
    <a:clrScheme name="Top 10 Malware of 2026">
      <a:dk1>
        <a:srgbClr val="4A5A6B"/>
      </a:dk1>
      <a:lt1>
        <a:srgbClr val="F4F7FB"/>
      </a:lt1>
      <a:dk2>
        <a:srgbClr val="75818F"/>
      </a:dk2>
      <a:lt2>
        <a:srgbClr val="E3E7ED"/>
      </a:lt2>
      <a:accent1>
        <a:srgbClr val="0B1F33"/>
      </a:accent1>
      <a:accent2>
        <a:srgbClr val="0078D4"/>
      </a:accent2>
      <a:accent3>
        <a:srgbClr val="F7630C"/>
      </a:accent3>
      <a:accent4>
        <a:srgbClr val="13294B"/>
      </a:accent4>
      <a:accent5>
        <a:srgbClr val="00B7C3"/>
      </a:accent5>
      <a:accent6>
        <a:srgbClr val="007C85"/>
      </a:accent6>
      <a:hlink>
        <a:srgbClr val="0563C1"/>
      </a:hlink>
      <a:folHlink>
        <a:srgbClr val="954F72"/>
      </a:folHlink>
    </a:clrScheme>
    <a:fontScheme name="Top 10 Malware of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10 Malware of 2026</dc:title>
  <dc:subject/>
  <dc:creator/>
  <cp:lastModifiedBy/>
  <cp:revision>1</cp:revision>
  <dcterms:created xsi:type="dcterms:W3CDTF">2026-10-14T02:44:46Z</dcterms:created>
  <dcterms:modified xsi:type="dcterms:W3CDTF">2026-10-14T02:44:46Z</dcterms:modified>
</cp:coreProperties>
</file>